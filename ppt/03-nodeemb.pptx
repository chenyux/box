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4056" y="1348740"/>
            <a:ext cx="8755887" cy="1973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563" y="1769364"/>
            <a:ext cx="8018780" cy="4573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hyperlink" Target="http://cs224w.stanford.edu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hyperlink" Target="http://cs224w.stanford.edu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Relationship Id="rId4" Type="http://schemas.openxmlformats.org/officeDocument/2006/relationships/hyperlink" Target="http://cs224w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hyperlink" Target="http://cs224w.stanford.edu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hyperlink" Target="http://cs224w.stanford.edu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hyperlink" Target="http://cs224w.stanford.edu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hyperlink" Target="http://cs224w.stanford.edu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hyperlink" Target="http://cs224w.stanford.edu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hyperlink" Target="http://cs224w.stanford.edu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hyperlink" Target="http://cs224w.stanford.edu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hyperlink" Target="http://cs224w.stanford.edu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37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hyperlink" Target="http://cs224w.stanford.edu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hyperlink" Target="http://cs224w.stanford.edu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hyperlink" Target="http://cs224w.stanford.edu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hyperlink" Target="http://cs224w.stanford.edu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hyperlink" Target="http://cs224w.stanford.edu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hyperlink" Target="http://cs224w.stanford.edu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hyperlink" Target="http://cs224w.stanford.edu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hyperlink" Target="http://cs224w.stanford.edu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hyperlink" Target="http://cs224w.stanford.edu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hyperlink" Target="http://cs224w.stanford.edu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Relationship Id="rId16" Type="http://schemas.openxmlformats.org/officeDocument/2006/relationships/image" Target="../media/image81.png"/><Relationship Id="rId17" Type="http://schemas.openxmlformats.org/officeDocument/2006/relationships/image" Target="../media/image82.png"/><Relationship Id="rId18" Type="http://schemas.openxmlformats.org/officeDocument/2006/relationships/image" Target="../media/image83.png"/><Relationship Id="rId19" Type="http://schemas.openxmlformats.org/officeDocument/2006/relationships/image" Target="../media/image84.png"/><Relationship Id="rId20" Type="http://schemas.openxmlformats.org/officeDocument/2006/relationships/image" Target="../media/image85.png"/><Relationship Id="rId21" Type="http://schemas.openxmlformats.org/officeDocument/2006/relationships/image" Target="../media/image86.png"/><Relationship Id="rId22" Type="http://schemas.openxmlformats.org/officeDocument/2006/relationships/image" Target="../media/image87.png"/><Relationship Id="rId23" Type="http://schemas.openxmlformats.org/officeDocument/2006/relationships/image" Target="../media/image88.png"/><Relationship Id="rId24" Type="http://schemas.openxmlformats.org/officeDocument/2006/relationships/image" Target="../media/image89.png"/><Relationship Id="rId25" Type="http://schemas.openxmlformats.org/officeDocument/2006/relationships/image" Target="../media/image90.png"/><Relationship Id="rId26" Type="http://schemas.openxmlformats.org/officeDocument/2006/relationships/image" Target="../media/image91.png"/><Relationship Id="rId27" Type="http://schemas.openxmlformats.org/officeDocument/2006/relationships/image" Target="../media/image92.png"/><Relationship Id="rId28" Type="http://schemas.openxmlformats.org/officeDocument/2006/relationships/hyperlink" Target="http://cs224w.stanford.edu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Relationship Id="rId16" Type="http://schemas.openxmlformats.org/officeDocument/2006/relationships/image" Target="../media/image107.png"/><Relationship Id="rId17" Type="http://schemas.openxmlformats.org/officeDocument/2006/relationships/image" Target="../media/image108.png"/><Relationship Id="rId18" Type="http://schemas.openxmlformats.org/officeDocument/2006/relationships/image" Target="../media/image109.png"/><Relationship Id="rId19" Type="http://schemas.openxmlformats.org/officeDocument/2006/relationships/image" Target="../media/image110.png"/><Relationship Id="rId20" Type="http://schemas.openxmlformats.org/officeDocument/2006/relationships/image" Target="../media/image111.png"/><Relationship Id="rId21" Type="http://schemas.openxmlformats.org/officeDocument/2006/relationships/image" Target="../media/image112.png"/><Relationship Id="rId22" Type="http://schemas.openxmlformats.org/officeDocument/2006/relationships/image" Target="../media/image113.png"/><Relationship Id="rId23" Type="http://schemas.openxmlformats.org/officeDocument/2006/relationships/image" Target="../media/image114.png"/><Relationship Id="rId24" Type="http://schemas.openxmlformats.org/officeDocument/2006/relationships/image" Target="../media/image115.png"/><Relationship Id="rId25" Type="http://schemas.openxmlformats.org/officeDocument/2006/relationships/image" Target="../media/image116.png"/><Relationship Id="rId26" Type="http://schemas.openxmlformats.org/officeDocument/2006/relationships/image" Target="../media/image117.png"/><Relationship Id="rId27" Type="http://schemas.openxmlformats.org/officeDocument/2006/relationships/image" Target="../media/image118.png"/><Relationship Id="rId28" Type="http://schemas.openxmlformats.org/officeDocument/2006/relationships/hyperlink" Target="http://cs224w.stanford.edu/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hyperlink" Target="http://cs224w.stanford.edu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hyperlink" Target="http://cs224w.stanford.edu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hyperlink" Target="http://cs224w.stanford.edu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8.png"/><Relationship Id="rId3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png"/><Relationship Id="rId3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hyperlink" Target="http://cs224w.stanford.edu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png"/><Relationship Id="rId3" Type="http://schemas.openxmlformats.org/officeDocument/2006/relationships/hyperlink" Target="http://cs224w.stanford.edu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35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hyperlink" Target="http://cs224w.stanford.edu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8.png"/><Relationship Id="rId3" Type="http://schemas.openxmlformats.org/officeDocument/2006/relationships/hyperlink" Target="http://cs224w.stanford.edu/" TargetMode="Externa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hyperlink" Target="http://cs224w.stanford.edu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jpg"/><Relationship Id="rId3" Type="http://schemas.openxmlformats.org/officeDocument/2006/relationships/image" Target="../media/image142.png"/><Relationship Id="rId4" Type="http://schemas.openxmlformats.org/officeDocument/2006/relationships/hyperlink" Target="http://cs224w.stanford.edu/" TargetMode="Externa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144.jpg"/><Relationship Id="rId4" Type="http://schemas.openxmlformats.org/officeDocument/2006/relationships/image" Target="../media/image145.jpg"/><Relationship Id="rId5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6.png"/><Relationship Id="rId3" Type="http://schemas.openxmlformats.org/officeDocument/2006/relationships/image" Target="../media/image147.png"/><Relationship Id="rId4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8.png"/><Relationship Id="rId3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9.png"/><Relationship Id="rId3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0.png"/><Relationship Id="rId3" Type="http://schemas.openxmlformats.org/officeDocument/2006/relationships/hyperlink" Target="http://cs224w.stanford.edu/" TargetMode="Externa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1.png"/><Relationship Id="rId3" Type="http://schemas.openxmlformats.org/officeDocument/2006/relationships/image" Target="../media/image152.jpg"/><Relationship Id="rId4" Type="http://schemas.openxmlformats.org/officeDocument/2006/relationships/image" Target="../media/image153.jpg"/><Relationship Id="rId5" Type="http://schemas.openxmlformats.org/officeDocument/2006/relationships/image" Target="../media/image154.jpg"/><Relationship Id="rId6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5.png"/><Relationship Id="rId3" Type="http://schemas.openxmlformats.org/officeDocument/2006/relationships/hyperlink" Target="http://cs224w.stanford.edu/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6.png"/><Relationship Id="rId3" Type="http://schemas.openxmlformats.org/officeDocument/2006/relationships/image" Target="../media/image157.jpg"/><Relationship Id="rId4" Type="http://schemas.openxmlformats.org/officeDocument/2006/relationships/hyperlink" Target="http://cs224w.stanford.edu/" TargetMode="Externa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8.png"/><Relationship Id="rId3" Type="http://schemas.openxmlformats.org/officeDocument/2006/relationships/hyperlink" Target="http://cs224w.stanford.edu/" TargetMode="Externa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9.png"/><Relationship Id="rId3" Type="http://schemas.openxmlformats.org/officeDocument/2006/relationships/image" Target="../media/image160.jpg"/><Relationship Id="rId4" Type="http://schemas.openxmlformats.org/officeDocument/2006/relationships/hyperlink" Target="http://cs224w.stanford.edu/" TargetMode="Externa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1.png"/><Relationship Id="rId3" Type="http://schemas.openxmlformats.org/officeDocument/2006/relationships/hyperlink" Target="http://cs224w.stanford.edu/" TargetMode="Externa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2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2971800"/>
            <a:ext cx="4797552" cy="13136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93699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22400" y="4499814"/>
            <a:ext cx="933450" cy="142875"/>
          </a:xfrm>
          <a:custGeom>
            <a:avLst/>
            <a:gdLst/>
            <a:ahLst/>
            <a:cxnLst/>
            <a:rect l="l" t="t" r="r" b="b"/>
            <a:pathLst>
              <a:path w="933450" h="142875">
                <a:moveTo>
                  <a:pt x="790249" y="0"/>
                </a:moveTo>
                <a:lnTo>
                  <a:pt x="835969" y="57149"/>
                </a:lnTo>
                <a:lnTo>
                  <a:pt x="847399" y="57150"/>
                </a:lnTo>
                <a:lnTo>
                  <a:pt x="847399" y="85725"/>
                </a:lnTo>
                <a:lnTo>
                  <a:pt x="835969" y="85725"/>
                </a:lnTo>
                <a:lnTo>
                  <a:pt x="790249" y="142875"/>
                </a:lnTo>
                <a:lnTo>
                  <a:pt x="904549" y="85725"/>
                </a:lnTo>
                <a:lnTo>
                  <a:pt x="847399" y="85725"/>
                </a:lnTo>
                <a:lnTo>
                  <a:pt x="904552" y="85723"/>
                </a:lnTo>
                <a:lnTo>
                  <a:pt x="933124" y="71437"/>
                </a:lnTo>
                <a:lnTo>
                  <a:pt x="790249" y="0"/>
                </a:lnTo>
                <a:close/>
              </a:path>
              <a:path w="933450" h="142875">
                <a:moveTo>
                  <a:pt x="847399" y="71437"/>
                </a:moveTo>
                <a:lnTo>
                  <a:pt x="835969" y="85724"/>
                </a:lnTo>
                <a:lnTo>
                  <a:pt x="847399" y="85725"/>
                </a:lnTo>
                <a:lnTo>
                  <a:pt x="847399" y="71437"/>
                </a:lnTo>
                <a:close/>
              </a:path>
              <a:path w="933450" h="142875">
                <a:moveTo>
                  <a:pt x="0" y="57148"/>
                </a:moveTo>
                <a:lnTo>
                  <a:pt x="0" y="85723"/>
                </a:lnTo>
                <a:lnTo>
                  <a:pt x="835970" y="85723"/>
                </a:lnTo>
                <a:lnTo>
                  <a:pt x="847399" y="71437"/>
                </a:lnTo>
                <a:lnTo>
                  <a:pt x="835969" y="57149"/>
                </a:lnTo>
                <a:lnTo>
                  <a:pt x="0" y="57148"/>
                </a:lnTo>
                <a:close/>
              </a:path>
              <a:path w="933450" h="142875">
                <a:moveTo>
                  <a:pt x="835969" y="57149"/>
                </a:moveTo>
                <a:lnTo>
                  <a:pt x="847399" y="71437"/>
                </a:lnTo>
                <a:lnTo>
                  <a:pt x="847399" y="57150"/>
                </a:lnTo>
                <a:lnTo>
                  <a:pt x="835969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99526" y="4499814"/>
            <a:ext cx="800100" cy="142875"/>
          </a:xfrm>
          <a:custGeom>
            <a:avLst/>
            <a:gdLst/>
            <a:ahLst/>
            <a:cxnLst/>
            <a:rect l="l" t="t" r="r" b="b"/>
            <a:pathLst>
              <a:path w="800100" h="142875">
                <a:moveTo>
                  <a:pt x="656625" y="0"/>
                </a:moveTo>
                <a:lnTo>
                  <a:pt x="702345" y="57149"/>
                </a:lnTo>
                <a:lnTo>
                  <a:pt x="713775" y="57150"/>
                </a:lnTo>
                <a:lnTo>
                  <a:pt x="713775" y="85725"/>
                </a:lnTo>
                <a:lnTo>
                  <a:pt x="702345" y="85725"/>
                </a:lnTo>
                <a:lnTo>
                  <a:pt x="656625" y="142875"/>
                </a:lnTo>
                <a:lnTo>
                  <a:pt x="770925" y="85725"/>
                </a:lnTo>
                <a:lnTo>
                  <a:pt x="713775" y="85725"/>
                </a:lnTo>
                <a:lnTo>
                  <a:pt x="770928" y="85723"/>
                </a:lnTo>
                <a:lnTo>
                  <a:pt x="799500" y="71437"/>
                </a:lnTo>
                <a:lnTo>
                  <a:pt x="656625" y="0"/>
                </a:lnTo>
                <a:close/>
              </a:path>
              <a:path w="800100" h="142875">
                <a:moveTo>
                  <a:pt x="713775" y="71437"/>
                </a:moveTo>
                <a:lnTo>
                  <a:pt x="702345" y="85724"/>
                </a:lnTo>
                <a:lnTo>
                  <a:pt x="713775" y="85725"/>
                </a:lnTo>
                <a:lnTo>
                  <a:pt x="713775" y="71437"/>
                </a:lnTo>
                <a:close/>
              </a:path>
              <a:path w="800100" h="142875">
                <a:moveTo>
                  <a:pt x="0" y="57148"/>
                </a:moveTo>
                <a:lnTo>
                  <a:pt x="0" y="85723"/>
                </a:lnTo>
                <a:lnTo>
                  <a:pt x="702346" y="85723"/>
                </a:lnTo>
                <a:lnTo>
                  <a:pt x="713775" y="71437"/>
                </a:lnTo>
                <a:lnTo>
                  <a:pt x="702345" y="57149"/>
                </a:lnTo>
                <a:lnTo>
                  <a:pt x="0" y="57148"/>
                </a:lnTo>
                <a:close/>
              </a:path>
              <a:path w="800100" h="142875">
                <a:moveTo>
                  <a:pt x="702345" y="57149"/>
                </a:moveTo>
                <a:lnTo>
                  <a:pt x="713775" y="71437"/>
                </a:lnTo>
                <a:lnTo>
                  <a:pt x="713775" y="57150"/>
                </a:lnTo>
                <a:lnTo>
                  <a:pt x="702345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08800" y="4499814"/>
            <a:ext cx="583565" cy="142875"/>
          </a:xfrm>
          <a:custGeom>
            <a:avLst/>
            <a:gdLst/>
            <a:ahLst/>
            <a:cxnLst/>
            <a:rect l="l" t="t" r="r" b="b"/>
            <a:pathLst>
              <a:path w="583565" h="142875">
                <a:moveTo>
                  <a:pt x="440138" y="0"/>
                </a:moveTo>
                <a:lnTo>
                  <a:pt x="485858" y="57149"/>
                </a:lnTo>
                <a:lnTo>
                  <a:pt x="497288" y="57150"/>
                </a:lnTo>
                <a:lnTo>
                  <a:pt x="497288" y="85725"/>
                </a:lnTo>
                <a:lnTo>
                  <a:pt x="485858" y="85725"/>
                </a:lnTo>
                <a:lnTo>
                  <a:pt x="440138" y="142875"/>
                </a:lnTo>
                <a:lnTo>
                  <a:pt x="554438" y="85725"/>
                </a:lnTo>
                <a:lnTo>
                  <a:pt x="497288" y="85725"/>
                </a:lnTo>
                <a:lnTo>
                  <a:pt x="554441" y="85723"/>
                </a:lnTo>
                <a:lnTo>
                  <a:pt x="583013" y="71437"/>
                </a:lnTo>
                <a:lnTo>
                  <a:pt x="440138" y="0"/>
                </a:lnTo>
                <a:close/>
              </a:path>
              <a:path w="583565" h="142875">
                <a:moveTo>
                  <a:pt x="497288" y="71437"/>
                </a:moveTo>
                <a:lnTo>
                  <a:pt x="485858" y="85724"/>
                </a:lnTo>
                <a:lnTo>
                  <a:pt x="497288" y="85725"/>
                </a:lnTo>
                <a:lnTo>
                  <a:pt x="497288" y="71437"/>
                </a:lnTo>
                <a:close/>
              </a:path>
              <a:path w="583565" h="142875">
                <a:moveTo>
                  <a:pt x="0" y="57148"/>
                </a:moveTo>
                <a:lnTo>
                  <a:pt x="0" y="85723"/>
                </a:lnTo>
                <a:lnTo>
                  <a:pt x="485859" y="85723"/>
                </a:lnTo>
                <a:lnTo>
                  <a:pt x="497288" y="71437"/>
                </a:lnTo>
                <a:lnTo>
                  <a:pt x="485858" y="57149"/>
                </a:lnTo>
                <a:lnTo>
                  <a:pt x="0" y="57148"/>
                </a:lnTo>
                <a:close/>
              </a:path>
              <a:path w="583565" h="142875">
                <a:moveTo>
                  <a:pt x="485858" y="57149"/>
                </a:moveTo>
                <a:lnTo>
                  <a:pt x="497288" y="71437"/>
                </a:lnTo>
                <a:lnTo>
                  <a:pt x="497288" y="57150"/>
                </a:lnTo>
                <a:lnTo>
                  <a:pt x="485858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59639" y="4643267"/>
            <a:ext cx="616585" cy="919480"/>
          </a:xfrm>
          <a:custGeom>
            <a:avLst/>
            <a:gdLst/>
            <a:ahLst/>
            <a:cxnLst/>
            <a:rect l="l" t="t" r="r" b="b"/>
            <a:pathLst>
              <a:path w="616585" h="919479">
                <a:moveTo>
                  <a:pt x="0" y="771770"/>
                </a:moveTo>
                <a:lnTo>
                  <a:pt x="61163" y="919335"/>
                </a:lnTo>
                <a:lnTo>
                  <a:pt x="110427" y="836090"/>
                </a:lnTo>
                <a:lnTo>
                  <a:pt x="81316" y="836090"/>
                </a:lnTo>
                <a:lnTo>
                  <a:pt x="53012" y="832319"/>
                </a:lnTo>
                <a:lnTo>
                  <a:pt x="53163" y="831199"/>
                </a:lnTo>
                <a:lnTo>
                  <a:pt x="54718" y="822283"/>
                </a:lnTo>
                <a:lnTo>
                  <a:pt x="0" y="771770"/>
                </a:lnTo>
                <a:close/>
              </a:path>
              <a:path w="616585" h="919479">
                <a:moveTo>
                  <a:pt x="54718" y="822283"/>
                </a:moveTo>
                <a:lnTo>
                  <a:pt x="53163" y="831199"/>
                </a:lnTo>
                <a:lnTo>
                  <a:pt x="53012" y="832319"/>
                </a:lnTo>
                <a:lnTo>
                  <a:pt x="81316" y="836090"/>
                </a:lnTo>
                <a:lnTo>
                  <a:pt x="81708" y="833824"/>
                </a:lnTo>
                <a:lnTo>
                  <a:pt x="67221" y="833824"/>
                </a:lnTo>
                <a:lnTo>
                  <a:pt x="54718" y="822283"/>
                </a:lnTo>
                <a:close/>
              </a:path>
              <a:path w="616585" h="919479">
                <a:moveTo>
                  <a:pt x="142518" y="781865"/>
                </a:moveTo>
                <a:lnTo>
                  <a:pt x="83673" y="822471"/>
                </a:lnTo>
                <a:lnTo>
                  <a:pt x="81316" y="836090"/>
                </a:lnTo>
                <a:lnTo>
                  <a:pt x="110427" y="836090"/>
                </a:lnTo>
                <a:lnTo>
                  <a:pt x="142518" y="781865"/>
                </a:lnTo>
                <a:close/>
              </a:path>
              <a:path w="616585" h="919479">
                <a:moveTo>
                  <a:pt x="587937" y="0"/>
                </a:moveTo>
                <a:lnTo>
                  <a:pt x="586385" y="43013"/>
                </a:lnTo>
                <a:lnTo>
                  <a:pt x="581931" y="84700"/>
                </a:lnTo>
                <a:lnTo>
                  <a:pt x="574765" y="125764"/>
                </a:lnTo>
                <a:lnTo>
                  <a:pt x="565076" y="165859"/>
                </a:lnTo>
                <a:lnTo>
                  <a:pt x="553064" y="204636"/>
                </a:lnTo>
                <a:lnTo>
                  <a:pt x="538929" y="241744"/>
                </a:lnTo>
                <a:lnTo>
                  <a:pt x="522875" y="276834"/>
                </a:lnTo>
                <a:lnTo>
                  <a:pt x="485862" y="339557"/>
                </a:lnTo>
                <a:lnTo>
                  <a:pt x="443815" y="390010"/>
                </a:lnTo>
                <a:lnTo>
                  <a:pt x="398731" y="425479"/>
                </a:lnTo>
                <a:lnTo>
                  <a:pt x="353469" y="443449"/>
                </a:lnTo>
                <a:lnTo>
                  <a:pt x="318263" y="446323"/>
                </a:lnTo>
                <a:lnTo>
                  <a:pt x="304162" y="448444"/>
                </a:lnTo>
                <a:lnTo>
                  <a:pt x="262906" y="462859"/>
                </a:lnTo>
                <a:lnTo>
                  <a:pt x="224204" y="487672"/>
                </a:lnTo>
                <a:lnTo>
                  <a:pt x="176095" y="535090"/>
                </a:lnTo>
                <a:lnTo>
                  <a:pt x="133670" y="595788"/>
                </a:lnTo>
                <a:lnTo>
                  <a:pt x="114944" y="630278"/>
                </a:lnTo>
                <a:lnTo>
                  <a:pt x="98097" y="667096"/>
                </a:lnTo>
                <a:lnTo>
                  <a:pt x="83308" y="705920"/>
                </a:lnTo>
                <a:lnTo>
                  <a:pt x="70760" y="746428"/>
                </a:lnTo>
                <a:lnTo>
                  <a:pt x="60647" y="788295"/>
                </a:lnTo>
                <a:lnTo>
                  <a:pt x="54718" y="822283"/>
                </a:lnTo>
                <a:lnTo>
                  <a:pt x="67221" y="833824"/>
                </a:lnTo>
                <a:lnTo>
                  <a:pt x="83673" y="822471"/>
                </a:lnTo>
                <a:lnTo>
                  <a:pt x="88428" y="794986"/>
                </a:lnTo>
                <a:lnTo>
                  <a:pt x="98063" y="754863"/>
                </a:lnTo>
                <a:lnTo>
                  <a:pt x="110018" y="716074"/>
                </a:lnTo>
                <a:lnTo>
                  <a:pt x="124091" y="678964"/>
                </a:lnTo>
                <a:lnTo>
                  <a:pt x="140069" y="643888"/>
                </a:lnTo>
                <a:lnTo>
                  <a:pt x="176861" y="581232"/>
                </a:lnTo>
                <a:lnTo>
                  <a:pt x="218513" y="530879"/>
                </a:lnTo>
                <a:lnTo>
                  <a:pt x="263377" y="495159"/>
                </a:lnTo>
                <a:lnTo>
                  <a:pt x="308558" y="476679"/>
                </a:lnTo>
                <a:lnTo>
                  <a:pt x="346564" y="473377"/>
                </a:lnTo>
                <a:lnTo>
                  <a:pt x="360567" y="471129"/>
                </a:lnTo>
                <a:lnTo>
                  <a:pt x="401461" y="456497"/>
                </a:lnTo>
                <a:lnTo>
                  <a:pt x="440528" y="431111"/>
                </a:lnTo>
                <a:lnTo>
                  <a:pt x="488105" y="383773"/>
                </a:lnTo>
                <a:lnTo>
                  <a:pt x="530239" y="323165"/>
                </a:lnTo>
                <a:lnTo>
                  <a:pt x="548868" y="288701"/>
                </a:lnTo>
                <a:lnTo>
                  <a:pt x="565640" y="251896"/>
                </a:lnTo>
                <a:lnTo>
                  <a:pt x="580365" y="213071"/>
                </a:lnTo>
                <a:lnTo>
                  <a:pt x="592857" y="172551"/>
                </a:lnTo>
                <a:lnTo>
                  <a:pt x="602917" y="130656"/>
                </a:lnTo>
                <a:lnTo>
                  <a:pt x="610346" y="87712"/>
                </a:lnTo>
                <a:lnTo>
                  <a:pt x="614941" y="44044"/>
                </a:lnTo>
                <a:lnTo>
                  <a:pt x="616493" y="1031"/>
                </a:lnTo>
                <a:lnTo>
                  <a:pt x="587937" y="0"/>
                </a:lnTo>
                <a:close/>
              </a:path>
              <a:path w="616585" h="919479">
                <a:moveTo>
                  <a:pt x="83673" y="822471"/>
                </a:moveTo>
                <a:lnTo>
                  <a:pt x="67221" y="833824"/>
                </a:lnTo>
                <a:lnTo>
                  <a:pt x="81708" y="833824"/>
                </a:lnTo>
                <a:lnTo>
                  <a:pt x="83673" y="822471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3301" y="4038601"/>
            <a:ext cx="1259205" cy="1065530"/>
          </a:xfrm>
          <a:custGeom>
            <a:avLst/>
            <a:gdLst/>
            <a:ahLst/>
            <a:cxnLst/>
            <a:rect l="l" t="t" r="r" b="b"/>
            <a:pathLst>
              <a:path w="1259205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081547" y="0"/>
                </a:lnTo>
                <a:lnTo>
                  <a:pt x="1128747" y="6342"/>
                </a:lnTo>
                <a:lnTo>
                  <a:pt x="1171161" y="24241"/>
                </a:lnTo>
                <a:lnTo>
                  <a:pt x="1207096" y="52004"/>
                </a:lnTo>
                <a:lnTo>
                  <a:pt x="1234858" y="87938"/>
                </a:lnTo>
                <a:lnTo>
                  <a:pt x="1252757" y="130352"/>
                </a:lnTo>
                <a:lnTo>
                  <a:pt x="1259100" y="177553"/>
                </a:lnTo>
                <a:lnTo>
                  <a:pt x="1259100" y="887746"/>
                </a:lnTo>
                <a:lnTo>
                  <a:pt x="1252757" y="934947"/>
                </a:lnTo>
                <a:lnTo>
                  <a:pt x="1234858" y="977361"/>
                </a:lnTo>
                <a:lnTo>
                  <a:pt x="1207096" y="1013295"/>
                </a:lnTo>
                <a:lnTo>
                  <a:pt x="1171161" y="1041058"/>
                </a:lnTo>
                <a:lnTo>
                  <a:pt x="1128747" y="1058957"/>
                </a:lnTo>
                <a:lnTo>
                  <a:pt x="1081547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71370" y="4181347"/>
            <a:ext cx="842644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78105">
              <a:lnSpc>
                <a:spcPct val="100800"/>
              </a:lnSpc>
              <a:spcBef>
                <a:spcPts val="75"/>
              </a:spcBef>
            </a:pPr>
            <a:r>
              <a:rPr dirty="0" sz="2400" spc="-35">
                <a:latin typeface="Arial"/>
                <a:cs typeface="Arial"/>
              </a:rPr>
              <a:t>Input  </a:t>
            </a:r>
            <a:r>
              <a:rPr dirty="0" sz="2400" spc="-100">
                <a:latin typeface="Arial"/>
                <a:cs typeface="Arial"/>
              </a:rPr>
              <a:t>G</a:t>
            </a:r>
            <a:r>
              <a:rPr dirty="0" sz="2400" spc="-50">
                <a:latin typeface="Arial"/>
                <a:cs typeface="Arial"/>
              </a:rPr>
              <a:t>r</a:t>
            </a:r>
            <a:r>
              <a:rPr dirty="0" sz="2400" spc="-90">
                <a:latin typeface="Arial"/>
                <a:cs typeface="Arial"/>
              </a:rPr>
              <a:t>a</a:t>
            </a:r>
            <a:r>
              <a:rPr dirty="0" sz="2400" spc="-10">
                <a:latin typeface="Arial"/>
                <a:cs typeface="Arial"/>
              </a:rPr>
              <a:t>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5524" y="4038601"/>
            <a:ext cx="1944370" cy="1065530"/>
          </a:xfrm>
          <a:custGeom>
            <a:avLst/>
            <a:gdLst/>
            <a:ahLst/>
            <a:cxnLst/>
            <a:rect l="l" t="t" r="r" b="b"/>
            <a:pathLst>
              <a:path w="1944370" h="1065529">
                <a:moveTo>
                  <a:pt x="0" y="177553"/>
                </a:moveTo>
                <a:lnTo>
                  <a:pt x="6342" y="130353"/>
                </a:lnTo>
                <a:lnTo>
                  <a:pt x="24241" y="87939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766446" y="0"/>
                </a:lnTo>
                <a:lnTo>
                  <a:pt x="1813646" y="6342"/>
                </a:lnTo>
                <a:lnTo>
                  <a:pt x="1856060" y="24241"/>
                </a:lnTo>
                <a:lnTo>
                  <a:pt x="1891995" y="52004"/>
                </a:lnTo>
                <a:lnTo>
                  <a:pt x="1919758" y="87939"/>
                </a:lnTo>
                <a:lnTo>
                  <a:pt x="1937657" y="130353"/>
                </a:lnTo>
                <a:lnTo>
                  <a:pt x="1944000" y="177553"/>
                </a:lnTo>
                <a:lnTo>
                  <a:pt x="1944000" y="887746"/>
                </a:lnTo>
                <a:lnTo>
                  <a:pt x="1937657" y="934946"/>
                </a:lnTo>
                <a:lnTo>
                  <a:pt x="1919758" y="977360"/>
                </a:lnTo>
                <a:lnTo>
                  <a:pt x="1891995" y="1013295"/>
                </a:lnTo>
                <a:lnTo>
                  <a:pt x="1856060" y="1041058"/>
                </a:lnTo>
                <a:lnTo>
                  <a:pt x="1813646" y="1058957"/>
                </a:lnTo>
                <a:lnTo>
                  <a:pt x="1766446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0"/>
                </a:lnTo>
                <a:lnTo>
                  <a:pt x="6342" y="934946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26198" y="4193540"/>
            <a:ext cx="1403350" cy="74485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36525" marR="5080" indent="-123825">
              <a:lnSpc>
                <a:spcPts val="2780"/>
              </a:lnSpc>
              <a:spcBef>
                <a:spcPts val="275"/>
              </a:spcBef>
            </a:pPr>
            <a:r>
              <a:rPr dirty="0" sz="2400" spc="-25">
                <a:latin typeface="Arial"/>
                <a:cs typeface="Arial"/>
              </a:rPr>
              <a:t>St</a:t>
            </a:r>
            <a:r>
              <a:rPr dirty="0" sz="2400" spc="-55">
                <a:latin typeface="Arial"/>
                <a:cs typeface="Arial"/>
              </a:rPr>
              <a:t>r</a:t>
            </a:r>
            <a:r>
              <a:rPr dirty="0" sz="2400" spc="-55">
                <a:latin typeface="Arial"/>
                <a:cs typeface="Arial"/>
              </a:rPr>
              <a:t>u</a:t>
            </a:r>
            <a:r>
              <a:rPr dirty="0" sz="2400" spc="45">
                <a:latin typeface="Arial"/>
                <a:cs typeface="Arial"/>
              </a:rPr>
              <a:t>c</a:t>
            </a:r>
            <a:r>
              <a:rPr dirty="0" sz="2400" spc="35">
                <a:latin typeface="Arial"/>
                <a:cs typeface="Arial"/>
              </a:rPr>
              <a:t>t</a:t>
            </a:r>
            <a:r>
              <a:rPr dirty="0" sz="2400" spc="-55">
                <a:latin typeface="Arial"/>
                <a:cs typeface="Arial"/>
              </a:rPr>
              <a:t>u</a:t>
            </a:r>
            <a:r>
              <a:rPr dirty="0" sz="2400" spc="-95">
                <a:latin typeface="Arial"/>
                <a:cs typeface="Arial"/>
              </a:rPr>
              <a:t>r</a:t>
            </a:r>
            <a:r>
              <a:rPr dirty="0" sz="2400" spc="-85">
                <a:latin typeface="Arial"/>
                <a:cs typeface="Arial"/>
              </a:rPr>
              <a:t>e</a:t>
            </a:r>
            <a:r>
              <a:rPr dirty="0" sz="2400" spc="25">
                <a:latin typeface="Arial"/>
                <a:cs typeface="Arial"/>
              </a:rPr>
              <a:t>d  </a:t>
            </a:r>
            <a:r>
              <a:rPr dirty="0" sz="2400" spc="-75"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99027" y="4038601"/>
            <a:ext cx="1810385" cy="1065530"/>
          </a:xfrm>
          <a:custGeom>
            <a:avLst/>
            <a:gdLst/>
            <a:ahLst/>
            <a:cxnLst/>
            <a:rect l="l" t="t" r="r" b="b"/>
            <a:pathLst>
              <a:path w="1810384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632222" y="0"/>
                </a:lnTo>
                <a:lnTo>
                  <a:pt x="1679422" y="6342"/>
                </a:lnTo>
                <a:lnTo>
                  <a:pt x="1721836" y="24241"/>
                </a:lnTo>
                <a:lnTo>
                  <a:pt x="1757771" y="52004"/>
                </a:lnTo>
                <a:lnTo>
                  <a:pt x="1785533" y="87938"/>
                </a:lnTo>
                <a:lnTo>
                  <a:pt x="1803432" y="130352"/>
                </a:lnTo>
                <a:lnTo>
                  <a:pt x="1809775" y="177553"/>
                </a:lnTo>
                <a:lnTo>
                  <a:pt x="1809775" y="887746"/>
                </a:lnTo>
                <a:lnTo>
                  <a:pt x="1803432" y="934947"/>
                </a:lnTo>
                <a:lnTo>
                  <a:pt x="1785533" y="977361"/>
                </a:lnTo>
                <a:lnTo>
                  <a:pt x="1757771" y="1013295"/>
                </a:lnTo>
                <a:lnTo>
                  <a:pt x="1721836" y="1041058"/>
                </a:lnTo>
                <a:lnTo>
                  <a:pt x="1679422" y="1058957"/>
                </a:lnTo>
                <a:lnTo>
                  <a:pt x="163222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366532" y="4184396"/>
            <a:ext cx="127444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56515">
              <a:lnSpc>
                <a:spcPct val="100800"/>
              </a:lnSpc>
              <a:spcBef>
                <a:spcPts val="75"/>
              </a:spcBef>
            </a:pPr>
            <a:r>
              <a:rPr dirty="0" sz="2400" spc="-55">
                <a:latin typeface="Arial"/>
                <a:cs typeface="Arial"/>
              </a:rPr>
              <a:t>Learning  </a:t>
            </a:r>
            <a:r>
              <a:rPr dirty="0" sz="2400" spc="-135">
                <a:latin typeface="Arial"/>
                <a:cs typeface="Arial"/>
              </a:rPr>
              <a:t>A</a:t>
            </a:r>
            <a:r>
              <a:rPr dirty="0" sz="2400" spc="-40">
                <a:latin typeface="Arial"/>
                <a:cs typeface="Arial"/>
              </a:rPr>
              <a:t>l</a:t>
            </a:r>
            <a:r>
              <a:rPr dirty="0" sz="2400" spc="-5">
                <a:latin typeface="Arial"/>
                <a:cs typeface="Arial"/>
              </a:rPr>
              <a:t>go</a:t>
            </a:r>
            <a:r>
              <a:rPr dirty="0" sz="2400" spc="-55">
                <a:latin typeface="Arial"/>
                <a:cs typeface="Arial"/>
              </a:rPr>
              <a:t>r</a:t>
            </a:r>
            <a:r>
              <a:rPr dirty="0" sz="2400" spc="-85">
                <a:latin typeface="Arial"/>
                <a:cs typeface="Arial"/>
              </a:rPr>
              <a:t>i</a:t>
            </a:r>
            <a:r>
              <a:rPr dirty="0" sz="2400" spc="35">
                <a:latin typeface="Arial"/>
                <a:cs typeface="Arial"/>
              </a:rPr>
              <a:t>t</a:t>
            </a:r>
            <a:r>
              <a:rPr dirty="0" sz="2400" spc="-55">
                <a:latin typeface="Arial"/>
                <a:cs typeface="Arial"/>
              </a:rPr>
              <a:t>h</a:t>
            </a:r>
            <a:r>
              <a:rPr dirty="0" sz="2400" spc="-5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87912" y="5376867"/>
            <a:ext cx="2950210" cy="132715"/>
          </a:xfrm>
          <a:custGeom>
            <a:avLst/>
            <a:gdLst/>
            <a:ahLst/>
            <a:cxnLst/>
            <a:rect l="l" t="t" r="r" b="b"/>
            <a:pathLst>
              <a:path w="2950209" h="132714">
                <a:moveTo>
                  <a:pt x="2925441" y="51499"/>
                </a:moveTo>
                <a:lnTo>
                  <a:pt x="2921521" y="51499"/>
                </a:lnTo>
                <a:lnTo>
                  <a:pt x="2921701" y="80073"/>
                </a:lnTo>
                <a:lnTo>
                  <a:pt x="2868868" y="80405"/>
                </a:lnTo>
                <a:lnTo>
                  <a:pt x="2822149" y="108052"/>
                </a:lnTo>
                <a:lnTo>
                  <a:pt x="2819901" y="116815"/>
                </a:lnTo>
                <a:lnTo>
                  <a:pt x="2827939" y="130397"/>
                </a:lnTo>
                <a:lnTo>
                  <a:pt x="2836702" y="132645"/>
                </a:lnTo>
                <a:lnTo>
                  <a:pt x="2949980" y="65608"/>
                </a:lnTo>
                <a:lnTo>
                  <a:pt x="2925441" y="51499"/>
                </a:lnTo>
                <a:close/>
              </a:path>
              <a:path w="2950209" h="132714">
                <a:moveTo>
                  <a:pt x="2868688" y="51831"/>
                </a:moveTo>
                <a:lnTo>
                  <a:pt x="0" y="69844"/>
                </a:lnTo>
                <a:lnTo>
                  <a:pt x="179" y="98419"/>
                </a:lnTo>
                <a:lnTo>
                  <a:pt x="2868868" y="80405"/>
                </a:lnTo>
                <a:lnTo>
                  <a:pt x="2893270" y="65965"/>
                </a:lnTo>
                <a:lnTo>
                  <a:pt x="2868688" y="51831"/>
                </a:lnTo>
                <a:close/>
              </a:path>
              <a:path w="2950209" h="132714">
                <a:moveTo>
                  <a:pt x="2893270" y="65965"/>
                </a:moveTo>
                <a:lnTo>
                  <a:pt x="2868868" y="80405"/>
                </a:lnTo>
                <a:lnTo>
                  <a:pt x="2921701" y="80073"/>
                </a:lnTo>
                <a:lnTo>
                  <a:pt x="2921689" y="78173"/>
                </a:lnTo>
                <a:lnTo>
                  <a:pt x="2914503" y="78173"/>
                </a:lnTo>
                <a:lnTo>
                  <a:pt x="2893270" y="65965"/>
                </a:lnTo>
                <a:close/>
              </a:path>
              <a:path w="2950209" h="132714">
                <a:moveTo>
                  <a:pt x="2914349" y="53491"/>
                </a:moveTo>
                <a:lnTo>
                  <a:pt x="2893270" y="65965"/>
                </a:lnTo>
                <a:lnTo>
                  <a:pt x="2914503" y="78173"/>
                </a:lnTo>
                <a:lnTo>
                  <a:pt x="2914349" y="53491"/>
                </a:lnTo>
                <a:close/>
              </a:path>
              <a:path w="2950209" h="132714">
                <a:moveTo>
                  <a:pt x="2921534" y="53491"/>
                </a:moveTo>
                <a:lnTo>
                  <a:pt x="2914349" y="53491"/>
                </a:lnTo>
                <a:lnTo>
                  <a:pt x="2914503" y="78173"/>
                </a:lnTo>
                <a:lnTo>
                  <a:pt x="2921689" y="78173"/>
                </a:lnTo>
                <a:lnTo>
                  <a:pt x="2921534" y="53491"/>
                </a:lnTo>
                <a:close/>
              </a:path>
              <a:path w="2950209" h="132714">
                <a:moveTo>
                  <a:pt x="2921521" y="51499"/>
                </a:moveTo>
                <a:lnTo>
                  <a:pt x="2868688" y="51831"/>
                </a:lnTo>
                <a:lnTo>
                  <a:pt x="2893270" y="65965"/>
                </a:lnTo>
                <a:lnTo>
                  <a:pt x="2914349" y="53491"/>
                </a:lnTo>
                <a:lnTo>
                  <a:pt x="2921534" y="53491"/>
                </a:lnTo>
                <a:lnTo>
                  <a:pt x="2921521" y="51499"/>
                </a:lnTo>
                <a:close/>
              </a:path>
              <a:path w="2950209" h="132714">
                <a:moveTo>
                  <a:pt x="2835869" y="0"/>
                </a:moveTo>
                <a:lnTo>
                  <a:pt x="2827135" y="2357"/>
                </a:lnTo>
                <a:lnTo>
                  <a:pt x="2819269" y="16038"/>
                </a:lnTo>
                <a:lnTo>
                  <a:pt x="2821626" y="24772"/>
                </a:lnTo>
                <a:lnTo>
                  <a:pt x="2868688" y="51831"/>
                </a:lnTo>
                <a:lnTo>
                  <a:pt x="2925441" y="51499"/>
                </a:lnTo>
                <a:lnTo>
                  <a:pt x="283586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35688" y="5540755"/>
            <a:ext cx="1952625" cy="74485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 marR="5080" indent="130175">
              <a:lnSpc>
                <a:spcPts val="2780"/>
              </a:lnSpc>
              <a:spcBef>
                <a:spcPts val="275"/>
              </a:spcBef>
            </a:pPr>
            <a:r>
              <a:rPr dirty="0" sz="2400" spc="-40">
                <a:solidFill>
                  <a:srgbClr val="5A6378"/>
                </a:solidFill>
                <a:latin typeface="Arial"/>
                <a:cs typeface="Arial"/>
              </a:rPr>
              <a:t>Downstream  </a:t>
            </a:r>
            <a:r>
              <a:rPr dirty="0" sz="2400" spc="-25">
                <a:solidFill>
                  <a:srgbClr val="5A6378"/>
                </a:solidFill>
                <a:latin typeface="Arial"/>
                <a:cs typeface="Arial"/>
              </a:rPr>
              <a:t>prediction</a:t>
            </a:r>
            <a:r>
              <a:rPr dirty="0" sz="2400" spc="-70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5A6378"/>
                </a:solidFill>
                <a:latin typeface="Arial"/>
                <a:cs typeface="Arial"/>
              </a:rPr>
              <a:t>task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724" y="5595620"/>
            <a:ext cx="2673985" cy="8680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dirty="0" sz="2400" spc="-80">
                <a:solidFill>
                  <a:srgbClr val="0000FF"/>
                </a:solidFill>
                <a:latin typeface="Arial"/>
                <a:cs typeface="Arial"/>
              </a:rPr>
              <a:t>Feature</a:t>
            </a:r>
            <a:r>
              <a:rPr dirty="0" sz="2400" spc="-8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60">
                <a:solidFill>
                  <a:srgbClr val="0000FF"/>
                </a:solidFill>
                <a:latin typeface="Arial"/>
                <a:cs typeface="Arial"/>
              </a:rPr>
              <a:t>engineering</a:t>
            </a:r>
            <a:endParaRPr sz="2400">
              <a:latin typeface="Arial"/>
              <a:cs typeface="Arial"/>
            </a:endParaRPr>
          </a:p>
          <a:p>
            <a:pPr marL="746125" marR="5080" indent="-734060">
              <a:lnSpc>
                <a:spcPts val="1800"/>
              </a:lnSpc>
              <a:spcBef>
                <a:spcPts val="190"/>
              </a:spcBef>
            </a:pPr>
            <a:r>
              <a:rPr dirty="0" sz="1600" spc="-45">
                <a:solidFill>
                  <a:srgbClr val="0000FF"/>
                </a:solidFill>
                <a:latin typeface="Arial"/>
                <a:cs typeface="Arial"/>
              </a:rPr>
              <a:t>(node-level, </a:t>
            </a:r>
            <a:r>
              <a:rPr dirty="0" sz="1600" spc="-40">
                <a:solidFill>
                  <a:srgbClr val="0000FF"/>
                </a:solidFill>
                <a:latin typeface="Arial"/>
                <a:cs typeface="Arial"/>
              </a:rPr>
              <a:t>edge-level, </a:t>
            </a:r>
            <a:r>
              <a:rPr dirty="0" sz="1600" spc="-15">
                <a:solidFill>
                  <a:srgbClr val="0000FF"/>
                </a:solidFill>
                <a:latin typeface="Arial"/>
                <a:cs typeface="Arial"/>
              </a:rPr>
              <a:t>graph-  </a:t>
            </a:r>
            <a:r>
              <a:rPr dirty="0" sz="1600" spc="-65">
                <a:solidFill>
                  <a:srgbClr val="0000FF"/>
                </a:solidFill>
                <a:latin typeface="Arial"/>
                <a:cs typeface="Arial"/>
              </a:rPr>
              <a:t>level</a:t>
            </a:r>
            <a:r>
              <a:rPr dirty="0" sz="1600" spc="-8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0000FF"/>
                </a:solidFill>
                <a:latin typeface="Arial"/>
                <a:cs typeface="Arial"/>
              </a:rPr>
              <a:t>features)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18108" y="1590547"/>
            <a:ext cx="7326630" cy="2058670"/>
          </a:xfrm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 marR="5080">
              <a:lnSpc>
                <a:spcPct val="90200"/>
              </a:lnSpc>
              <a:spcBef>
                <a:spcPts val="520"/>
              </a:spcBef>
            </a:pPr>
            <a:r>
              <a:rPr dirty="0" sz="3600" spc="-10"/>
              <a:t>Given </a:t>
            </a:r>
            <a:r>
              <a:rPr dirty="0" sz="3600"/>
              <a:t>an </a:t>
            </a:r>
            <a:r>
              <a:rPr dirty="0" sz="3600" spc="-5"/>
              <a:t>input </a:t>
            </a:r>
            <a:r>
              <a:rPr dirty="0" sz="3600" spc="-15"/>
              <a:t>graph, </a:t>
            </a:r>
            <a:r>
              <a:rPr dirty="0" sz="3600" spc="-25"/>
              <a:t>extract </a:t>
            </a:r>
            <a:r>
              <a:rPr dirty="0" sz="3600" spc="-5"/>
              <a:t>node, link  and </a:t>
            </a:r>
            <a:r>
              <a:rPr dirty="0" sz="3600" spc="-20"/>
              <a:t>graph-level </a:t>
            </a:r>
            <a:r>
              <a:rPr dirty="0" sz="3600" spc="-25"/>
              <a:t>features, </a:t>
            </a:r>
            <a:r>
              <a:rPr dirty="0" sz="3600" spc="-5"/>
              <a:t>learn </a:t>
            </a:r>
            <a:r>
              <a:rPr dirty="0" sz="3600"/>
              <a:t>a </a:t>
            </a:r>
            <a:r>
              <a:rPr dirty="0" sz="3600" spc="-5"/>
              <a:t>model  </a:t>
            </a:r>
            <a:r>
              <a:rPr dirty="0" sz="3600" spc="-10"/>
              <a:t>(SVM, </a:t>
            </a:r>
            <a:r>
              <a:rPr dirty="0" sz="3600" spc="-20"/>
              <a:t>neural </a:t>
            </a:r>
            <a:r>
              <a:rPr dirty="0" sz="3600" spc="-15"/>
              <a:t>network, etc.) that </a:t>
            </a:r>
            <a:r>
              <a:rPr dirty="0" sz="3600" spc="-10"/>
              <a:t>maps  </a:t>
            </a:r>
            <a:r>
              <a:rPr dirty="0" sz="3600" spc="-30"/>
              <a:t>features </a:t>
            </a:r>
            <a:r>
              <a:rPr dirty="0" sz="3600" spc="-25"/>
              <a:t>to</a:t>
            </a:r>
            <a:r>
              <a:rPr dirty="0" sz="3600"/>
              <a:t> </a:t>
            </a:r>
            <a:r>
              <a:rPr dirty="0" sz="3600" spc="-5"/>
              <a:t>labels.</a:t>
            </a:r>
            <a:endParaRPr sz="3600"/>
          </a:p>
        </p:txBody>
      </p:sp>
      <p:sp>
        <p:nvSpPr>
          <p:cNvPr id="17" name="object 17"/>
          <p:cNvSpPr/>
          <p:nvPr/>
        </p:nvSpPr>
        <p:spPr>
          <a:xfrm>
            <a:off x="7491814" y="4042873"/>
            <a:ext cx="1654810" cy="1065530"/>
          </a:xfrm>
          <a:custGeom>
            <a:avLst/>
            <a:gdLst/>
            <a:ahLst/>
            <a:cxnLst/>
            <a:rect l="l" t="t" r="r" b="b"/>
            <a:pathLst>
              <a:path w="1654809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476682" y="0"/>
                </a:lnTo>
                <a:lnTo>
                  <a:pt x="1523883" y="6342"/>
                </a:lnTo>
                <a:lnTo>
                  <a:pt x="1566297" y="24241"/>
                </a:lnTo>
                <a:lnTo>
                  <a:pt x="1602231" y="52004"/>
                </a:lnTo>
                <a:lnTo>
                  <a:pt x="1629994" y="87938"/>
                </a:lnTo>
                <a:lnTo>
                  <a:pt x="1647893" y="130352"/>
                </a:lnTo>
                <a:lnTo>
                  <a:pt x="1654236" y="177553"/>
                </a:lnTo>
                <a:lnTo>
                  <a:pt x="1654236" y="887746"/>
                </a:lnTo>
                <a:lnTo>
                  <a:pt x="1647893" y="934947"/>
                </a:lnTo>
                <a:lnTo>
                  <a:pt x="1629994" y="977361"/>
                </a:lnTo>
                <a:lnTo>
                  <a:pt x="1602231" y="1013295"/>
                </a:lnTo>
                <a:lnTo>
                  <a:pt x="1566297" y="1041058"/>
                </a:lnTo>
                <a:lnTo>
                  <a:pt x="1523883" y="1058957"/>
                </a:lnTo>
                <a:lnTo>
                  <a:pt x="147668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650150" y="4370323"/>
            <a:ext cx="1337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40">
                <a:latin typeface="Arial"/>
                <a:cs typeface="Arial"/>
              </a:rPr>
              <a:t>Prediction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6901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09580" y="3957156"/>
            <a:ext cx="933450" cy="142875"/>
          </a:xfrm>
          <a:custGeom>
            <a:avLst/>
            <a:gdLst/>
            <a:ahLst/>
            <a:cxnLst/>
            <a:rect l="l" t="t" r="r" b="b"/>
            <a:pathLst>
              <a:path w="933450" h="142875">
                <a:moveTo>
                  <a:pt x="847399" y="71437"/>
                </a:moveTo>
                <a:lnTo>
                  <a:pt x="790249" y="142875"/>
                </a:lnTo>
                <a:lnTo>
                  <a:pt x="904549" y="85725"/>
                </a:lnTo>
                <a:lnTo>
                  <a:pt x="847399" y="85725"/>
                </a:lnTo>
                <a:lnTo>
                  <a:pt x="847399" y="71437"/>
                </a:lnTo>
                <a:close/>
              </a:path>
              <a:path w="933450" h="142875">
                <a:moveTo>
                  <a:pt x="835969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835969" y="85725"/>
                </a:lnTo>
                <a:lnTo>
                  <a:pt x="847399" y="71437"/>
                </a:lnTo>
                <a:lnTo>
                  <a:pt x="835969" y="57150"/>
                </a:lnTo>
                <a:close/>
              </a:path>
              <a:path w="933450" h="142875">
                <a:moveTo>
                  <a:pt x="904549" y="57150"/>
                </a:moveTo>
                <a:lnTo>
                  <a:pt x="847399" y="57150"/>
                </a:lnTo>
                <a:lnTo>
                  <a:pt x="847399" y="85725"/>
                </a:lnTo>
                <a:lnTo>
                  <a:pt x="904549" y="85725"/>
                </a:lnTo>
                <a:lnTo>
                  <a:pt x="933124" y="71437"/>
                </a:lnTo>
                <a:lnTo>
                  <a:pt x="904549" y="57150"/>
                </a:lnTo>
                <a:close/>
              </a:path>
              <a:path w="933450" h="142875">
                <a:moveTo>
                  <a:pt x="790249" y="0"/>
                </a:moveTo>
                <a:lnTo>
                  <a:pt x="847399" y="71437"/>
                </a:lnTo>
                <a:lnTo>
                  <a:pt x="847399" y="57150"/>
                </a:lnTo>
                <a:lnTo>
                  <a:pt x="904549" y="57150"/>
                </a:lnTo>
                <a:lnTo>
                  <a:pt x="790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86708" y="3957156"/>
            <a:ext cx="800100" cy="142875"/>
          </a:xfrm>
          <a:custGeom>
            <a:avLst/>
            <a:gdLst/>
            <a:ahLst/>
            <a:cxnLst/>
            <a:rect l="l" t="t" r="r" b="b"/>
            <a:pathLst>
              <a:path w="800100" h="142875">
                <a:moveTo>
                  <a:pt x="713774" y="71437"/>
                </a:moveTo>
                <a:lnTo>
                  <a:pt x="656624" y="142875"/>
                </a:lnTo>
                <a:lnTo>
                  <a:pt x="770924" y="85725"/>
                </a:lnTo>
                <a:lnTo>
                  <a:pt x="713774" y="85725"/>
                </a:lnTo>
                <a:lnTo>
                  <a:pt x="713774" y="71437"/>
                </a:lnTo>
                <a:close/>
              </a:path>
              <a:path w="800100" h="142875">
                <a:moveTo>
                  <a:pt x="702344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702344" y="85725"/>
                </a:lnTo>
                <a:lnTo>
                  <a:pt x="713774" y="71437"/>
                </a:lnTo>
                <a:lnTo>
                  <a:pt x="702344" y="57150"/>
                </a:lnTo>
                <a:close/>
              </a:path>
              <a:path w="800100" h="142875">
                <a:moveTo>
                  <a:pt x="770924" y="57150"/>
                </a:moveTo>
                <a:lnTo>
                  <a:pt x="713774" y="57150"/>
                </a:lnTo>
                <a:lnTo>
                  <a:pt x="713774" y="85725"/>
                </a:lnTo>
                <a:lnTo>
                  <a:pt x="770924" y="85725"/>
                </a:lnTo>
                <a:lnTo>
                  <a:pt x="799499" y="71437"/>
                </a:lnTo>
                <a:lnTo>
                  <a:pt x="770924" y="57150"/>
                </a:lnTo>
                <a:close/>
              </a:path>
              <a:path w="800100" h="142875">
                <a:moveTo>
                  <a:pt x="656624" y="0"/>
                </a:moveTo>
                <a:lnTo>
                  <a:pt x="713774" y="71437"/>
                </a:lnTo>
                <a:lnTo>
                  <a:pt x="713774" y="57150"/>
                </a:lnTo>
                <a:lnTo>
                  <a:pt x="770924" y="57150"/>
                </a:lnTo>
                <a:lnTo>
                  <a:pt x="6566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5877" y="3960383"/>
            <a:ext cx="583565" cy="142875"/>
          </a:xfrm>
          <a:custGeom>
            <a:avLst/>
            <a:gdLst/>
            <a:ahLst/>
            <a:cxnLst/>
            <a:rect l="l" t="t" r="r" b="b"/>
            <a:pathLst>
              <a:path w="583565" h="142875">
                <a:moveTo>
                  <a:pt x="440770" y="0"/>
                </a:moveTo>
                <a:lnTo>
                  <a:pt x="486071" y="57484"/>
                </a:lnTo>
                <a:lnTo>
                  <a:pt x="497500" y="57567"/>
                </a:lnTo>
                <a:lnTo>
                  <a:pt x="497291" y="86141"/>
                </a:lnTo>
                <a:lnTo>
                  <a:pt x="485792" y="86141"/>
                </a:lnTo>
                <a:lnTo>
                  <a:pt x="439723" y="142871"/>
                </a:lnTo>
                <a:lnTo>
                  <a:pt x="555292" y="86141"/>
                </a:lnTo>
                <a:lnTo>
                  <a:pt x="497291" y="86141"/>
                </a:lnTo>
                <a:lnTo>
                  <a:pt x="555462" y="86057"/>
                </a:lnTo>
                <a:lnTo>
                  <a:pt x="583117" y="72482"/>
                </a:lnTo>
                <a:lnTo>
                  <a:pt x="440770" y="0"/>
                </a:lnTo>
                <a:close/>
              </a:path>
              <a:path w="583565" h="142875">
                <a:moveTo>
                  <a:pt x="486071" y="57484"/>
                </a:moveTo>
                <a:lnTo>
                  <a:pt x="497395" y="71854"/>
                </a:lnTo>
                <a:lnTo>
                  <a:pt x="485860" y="86057"/>
                </a:lnTo>
                <a:lnTo>
                  <a:pt x="497291" y="86141"/>
                </a:lnTo>
                <a:lnTo>
                  <a:pt x="497500" y="57567"/>
                </a:lnTo>
                <a:lnTo>
                  <a:pt x="486071" y="57484"/>
                </a:lnTo>
                <a:close/>
              </a:path>
              <a:path w="583565" h="142875">
                <a:moveTo>
                  <a:pt x="209" y="53922"/>
                </a:moveTo>
                <a:lnTo>
                  <a:pt x="0" y="82497"/>
                </a:lnTo>
                <a:lnTo>
                  <a:pt x="485860" y="86057"/>
                </a:lnTo>
                <a:lnTo>
                  <a:pt x="497395" y="71854"/>
                </a:lnTo>
                <a:lnTo>
                  <a:pt x="486071" y="57484"/>
                </a:lnTo>
                <a:lnTo>
                  <a:pt x="209" y="539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46820" y="4100609"/>
            <a:ext cx="616585" cy="919480"/>
          </a:xfrm>
          <a:custGeom>
            <a:avLst/>
            <a:gdLst/>
            <a:ahLst/>
            <a:cxnLst/>
            <a:rect l="l" t="t" r="r" b="b"/>
            <a:pathLst>
              <a:path w="616585" h="919479">
                <a:moveTo>
                  <a:pt x="0" y="771770"/>
                </a:moveTo>
                <a:lnTo>
                  <a:pt x="61164" y="919335"/>
                </a:lnTo>
                <a:lnTo>
                  <a:pt x="110427" y="836090"/>
                </a:lnTo>
                <a:lnTo>
                  <a:pt x="81316" y="836090"/>
                </a:lnTo>
                <a:lnTo>
                  <a:pt x="53013" y="832319"/>
                </a:lnTo>
                <a:lnTo>
                  <a:pt x="53163" y="831199"/>
                </a:lnTo>
                <a:lnTo>
                  <a:pt x="54718" y="822283"/>
                </a:lnTo>
                <a:lnTo>
                  <a:pt x="0" y="771770"/>
                </a:lnTo>
                <a:close/>
              </a:path>
              <a:path w="616585" h="919479">
                <a:moveTo>
                  <a:pt x="54718" y="822283"/>
                </a:moveTo>
                <a:lnTo>
                  <a:pt x="53163" y="831199"/>
                </a:lnTo>
                <a:lnTo>
                  <a:pt x="53013" y="832319"/>
                </a:lnTo>
                <a:lnTo>
                  <a:pt x="81316" y="836090"/>
                </a:lnTo>
                <a:lnTo>
                  <a:pt x="81708" y="833824"/>
                </a:lnTo>
                <a:lnTo>
                  <a:pt x="67220" y="833824"/>
                </a:lnTo>
                <a:lnTo>
                  <a:pt x="54718" y="822283"/>
                </a:lnTo>
                <a:close/>
              </a:path>
              <a:path w="616585" h="919479">
                <a:moveTo>
                  <a:pt x="142517" y="781865"/>
                </a:moveTo>
                <a:lnTo>
                  <a:pt x="83672" y="822471"/>
                </a:lnTo>
                <a:lnTo>
                  <a:pt x="81316" y="836090"/>
                </a:lnTo>
                <a:lnTo>
                  <a:pt x="110427" y="836090"/>
                </a:lnTo>
                <a:lnTo>
                  <a:pt x="142517" y="781865"/>
                </a:lnTo>
                <a:close/>
              </a:path>
              <a:path w="616585" h="919479">
                <a:moveTo>
                  <a:pt x="587937" y="0"/>
                </a:moveTo>
                <a:lnTo>
                  <a:pt x="586385" y="43013"/>
                </a:lnTo>
                <a:lnTo>
                  <a:pt x="581931" y="84700"/>
                </a:lnTo>
                <a:lnTo>
                  <a:pt x="574764" y="125765"/>
                </a:lnTo>
                <a:lnTo>
                  <a:pt x="565077" y="165859"/>
                </a:lnTo>
                <a:lnTo>
                  <a:pt x="553065" y="204636"/>
                </a:lnTo>
                <a:lnTo>
                  <a:pt x="538929" y="241744"/>
                </a:lnTo>
                <a:lnTo>
                  <a:pt x="522875" y="276834"/>
                </a:lnTo>
                <a:lnTo>
                  <a:pt x="485862" y="339557"/>
                </a:lnTo>
                <a:lnTo>
                  <a:pt x="443815" y="390010"/>
                </a:lnTo>
                <a:lnTo>
                  <a:pt x="398732" y="425479"/>
                </a:lnTo>
                <a:lnTo>
                  <a:pt x="353468" y="443449"/>
                </a:lnTo>
                <a:lnTo>
                  <a:pt x="318262" y="446323"/>
                </a:lnTo>
                <a:lnTo>
                  <a:pt x="304162" y="448444"/>
                </a:lnTo>
                <a:lnTo>
                  <a:pt x="262906" y="462859"/>
                </a:lnTo>
                <a:lnTo>
                  <a:pt x="224204" y="487672"/>
                </a:lnTo>
                <a:lnTo>
                  <a:pt x="176096" y="535090"/>
                </a:lnTo>
                <a:lnTo>
                  <a:pt x="133669" y="595788"/>
                </a:lnTo>
                <a:lnTo>
                  <a:pt x="114944" y="630278"/>
                </a:lnTo>
                <a:lnTo>
                  <a:pt x="98098" y="667096"/>
                </a:lnTo>
                <a:lnTo>
                  <a:pt x="83307" y="705920"/>
                </a:lnTo>
                <a:lnTo>
                  <a:pt x="70761" y="746428"/>
                </a:lnTo>
                <a:lnTo>
                  <a:pt x="60647" y="788295"/>
                </a:lnTo>
                <a:lnTo>
                  <a:pt x="54718" y="822283"/>
                </a:lnTo>
                <a:lnTo>
                  <a:pt x="67220" y="833824"/>
                </a:lnTo>
                <a:lnTo>
                  <a:pt x="83672" y="822471"/>
                </a:lnTo>
                <a:lnTo>
                  <a:pt x="88428" y="794986"/>
                </a:lnTo>
                <a:lnTo>
                  <a:pt x="98062" y="754863"/>
                </a:lnTo>
                <a:lnTo>
                  <a:pt x="110018" y="716074"/>
                </a:lnTo>
                <a:lnTo>
                  <a:pt x="124091" y="678964"/>
                </a:lnTo>
                <a:lnTo>
                  <a:pt x="140070" y="643888"/>
                </a:lnTo>
                <a:lnTo>
                  <a:pt x="176862" y="581232"/>
                </a:lnTo>
                <a:lnTo>
                  <a:pt x="218513" y="530879"/>
                </a:lnTo>
                <a:lnTo>
                  <a:pt x="263378" y="495159"/>
                </a:lnTo>
                <a:lnTo>
                  <a:pt x="308558" y="476679"/>
                </a:lnTo>
                <a:lnTo>
                  <a:pt x="346563" y="473377"/>
                </a:lnTo>
                <a:lnTo>
                  <a:pt x="360566" y="471129"/>
                </a:lnTo>
                <a:lnTo>
                  <a:pt x="401460" y="456497"/>
                </a:lnTo>
                <a:lnTo>
                  <a:pt x="440528" y="431111"/>
                </a:lnTo>
                <a:lnTo>
                  <a:pt x="488105" y="383773"/>
                </a:lnTo>
                <a:lnTo>
                  <a:pt x="530238" y="323165"/>
                </a:lnTo>
                <a:lnTo>
                  <a:pt x="548869" y="288701"/>
                </a:lnTo>
                <a:lnTo>
                  <a:pt x="565639" y="251896"/>
                </a:lnTo>
                <a:lnTo>
                  <a:pt x="580366" y="213071"/>
                </a:lnTo>
                <a:lnTo>
                  <a:pt x="592857" y="172551"/>
                </a:lnTo>
                <a:lnTo>
                  <a:pt x="602918" y="130656"/>
                </a:lnTo>
                <a:lnTo>
                  <a:pt x="610347" y="87712"/>
                </a:lnTo>
                <a:lnTo>
                  <a:pt x="614941" y="44044"/>
                </a:lnTo>
                <a:lnTo>
                  <a:pt x="616493" y="1031"/>
                </a:lnTo>
                <a:lnTo>
                  <a:pt x="587937" y="0"/>
                </a:lnTo>
                <a:close/>
              </a:path>
              <a:path w="616585" h="919479">
                <a:moveTo>
                  <a:pt x="83672" y="822471"/>
                </a:moveTo>
                <a:lnTo>
                  <a:pt x="67220" y="833824"/>
                </a:lnTo>
                <a:lnTo>
                  <a:pt x="81708" y="833824"/>
                </a:lnTo>
                <a:lnTo>
                  <a:pt x="83672" y="822471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9965" y="5042519"/>
            <a:ext cx="1197610" cy="800735"/>
          </a:xfrm>
          <a:custGeom>
            <a:avLst/>
            <a:gdLst/>
            <a:ahLst/>
            <a:cxnLst/>
            <a:rect l="l" t="t" r="r" b="b"/>
            <a:pathLst>
              <a:path w="1197610" h="800735">
                <a:moveTo>
                  <a:pt x="44842" y="0"/>
                </a:moveTo>
                <a:lnTo>
                  <a:pt x="0" y="70850"/>
                </a:lnTo>
                <a:lnTo>
                  <a:pt x="520343" y="400174"/>
                </a:lnTo>
                <a:lnTo>
                  <a:pt x="0" y="729496"/>
                </a:lnTo>
                <a:lnTo>
                  <a:pt x="44842" y="800347"/>
                </a:lnTo>
                <a:lnTo>
                  <a:pt x="598739" y="449790"/>
                </a:lnTo>
                <a:lnTo>
                  <a:pt x="755530" y="449790"/>
                </a:lnTo>
                <a:lnTo>
                  <a:pt x="677134" y="400174"/>
                </a:lnTo>
                <a:lnTo>
                  <a:pt x="755531" y="350556"/>
                </a:lnTo>
                <a:lnTo>
                  <a:pt x="598739" y="350556"/>
                </a:lnTo>
                <a:lnTo>
                  <a:pt x="44842" y="0"/>
                </a:lnTo>
                <a:close/>
              </a:path>
              <a:path w="1197610" h="800735">
                <a:moveTo>
                  <a:pt x="755530" y="449790"/>
                </a:moveTo>
                <a:lnTo>
                  <a:pt x="598739" y="449790"/>
                </a:lnTo>
                <a:lnTo>
                  <a:pt x="1152635" y="800347"/>
                </a:lnTo>
                <a:lnTo>
                  <a:pt x="1197478" y="729496"/>
                </a:lnTo>
                <a:lnTo>
                  <a:pt x="755530" y="449790"/>
                </a:lnTo>
                <a:close/>
              </a:path>
              <a:path w="1197610" h="800735">
                <a:moveTo>
                  <a:pt x="1152635" y="0"/>
                </a:moveTo>
                <a:lnTo>
                  <a:pt x="598739" y="350556"/>
                </a:lnTo>
                <a:lnTo>
                  <a:pt x="755531" y="350556"/>
                </a:lnTo>
                <a:lnTo>
                  <a:pt x="1197478" y="70850"/>
                </a:lnTo>
                <a:lnTo>
                  <a:pt x="11526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9965" y="5042518"/>
            <a:ext cx="1197610" cy="800735"/>
          </a:xfrm>
          <a:custGeom>
            <a:avLst/>
            <a:gdLst/>
            <a:ahLst/>
            <a:cxnLst/>
            <a:rect l="l" t="t" r="r" b="b"/>
            <a:pathLst>
              <a:path w="1197610" h="800735">
                <a:moveTo>
                  <a:pt x="0" y="70851"/>
                </a:moveTo>
                <a:lnTo>
                  <a:pt x="44842" y="0"/>
                </a:lnTo>
                <a:lnTo>
                  <a:pt x="598739" y="350556"/>
                </a:lnTo>
                <a:lnTo>
                  <a:pt x="1152636" y="0"/>
                </a:lnTo>
                <a:lnTo>
                  <a:pt x="1197478" y="70851"/>
                </a:lnTo>
                <a:lnTo>
                  <a:pt x="677134" y="400175"/>
                </a:lnTo>
                <a:lnTo>
                  <a:pt x="1197478" y="729496"/>
                </a:lnTo>
                <a:lnTo>
                  <a:pt x="1152636" y="800348"/>
                </a:lnTo>
                <a:lnTo>
                  <a:pt x="598739" y="449791"/>
                </a:lnTo>
                <a:lnTo>
                  <a:pt x="44842" y="800348"/>
                </a:lnTo>
                <a:lnTo>
                  <a:pt x="0" y="729496"/>
                </a:lnTo>
                <a:lnTo>
                  <a:pt x="520344" y="400175"/>
                </a:lnTo>
                <a:lnTo>
                  <a:pt x="0" y="70851"/>
                </a:lnTo>
                <a:close/>
              </a:path>
            </a:pathLst>
          </a:custGeom>
          <a:ln w="9525">
            <a:solidFill>
              <a:srgbClr val="5A63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0482" y="3495944"/>
            <a:ext cx="1259205" cy="1065530"/>
          </a:xfrm>
          <a:custGeom>
            <a:avLst/>
            <a:gdLst/>
            <a:ahLst/>
            <a:cxnLst/>
            <a:rect l="l" t="t" r="r" b="b"/>
            <a:pathLst>
              <a:path w="1259205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081547" y="0"/>
                </a:lnTo>
                <a:lnTo>
                  <a:pt x="1128747" y="6342"/>
                </a:lnTo>
                <a:lnTo>
                  <a:pt x="1171161" y="24241"/>
                </a:lnTo>
                <a:lnTo>
                  <a:pt x="1207096" y="52004"/>
                </a:lnTo>
                <a:lnTo>
                  <a:pt x="1234858" y="87938"/>
                </a:lnTo>
                <a:lnTo>
                  <a:pt x="1252757" y="130352"/>
                </a:lnTo>
                <a:lnTo>
                  <a:pt x="1259100" y="177553"/>
                </a:lnTo>
                <a:lnTo>
                  <a:pt x="1259100" y="887746"/>
                </a:lnTo>
                <a:lnTo>
                  <a:pt x="1252757" y="934947"/>
                </a:lnTo>
                <a:lnTo>
                  <a:pt x="1234858" y="977361"/>
                </a:lnTo>
                <a:lnTo>
                  <a:pt x="1207096" y="1013295"/>
                </a:lnTo>
                <a:lnTo>
                  <a:pt x="1171161" y="1041058"/>
                </a:lnTo>
                <a:lnTo>
                  <a:pt x="1128747" y="1058957"/>
                </a:lnTo>
                <a:lnTo>
                  <a:pt x="1081547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58551" y="3638803"/>
            <a:ext cx="842644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78105">
              <a:lnSpc>
                <a:spcPct val="100800"/>
              </a:lnSpc>
              <a:spcBef>
                <a:spcPts val="75"/>
              </a:spcBef>
            </a:pPr>
            <a:r>
              <a:rPr dirty="0" sz="2400" spc="-35">
                <a:latin typeface="Arial"/>
                <a:cs typeface="Arial"/>
              </a:rPr>
              <a:t>Input  </a:t>
            </a:r>
            <a:r>
              <a:rPr dirty="0" sz="2400" spc="-100">
                <a:latin typeface="Arial"/>
                <a:cs typeface="Arial"/>
              </a:rPr>
              <a:t>G</a:t>
            </a:r>
            <a:r>
              <a:rPr dirty="0" sz="2400" spc="-50">
                <a:latin typeface="Arial"/>
                <a:cs typeface="Arial"/>
              </a:rPr>
              <a:t>r</a:t>
            </a:r>
            <a:r>
              <a:rPr dirty="0" sz="2400" spc="-90">
                <a:latin typeface="Arial"/>
                <a:cs typeface="Arial"/>
              </a:rPr>
              <a:t>a</a:t>
            </a:r>
            <a:r>
              <a:rPr dirty="0" sz="2400" spc="-10">
                <a:latin typeface="Arial"/>
                <a:cs typeface="Arial"/>
              </a:rPr>
              <a:t>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42705" y="3495944"/>
            <a:ext cx="1944370" cy="1065530"/>
          </a:xfrm>
          <a:custGeom>
            <a:avLst/>
            <a:gdLst/>
            <a:ahLst/>
            <a:cxnLst/>
            <a:rect l="l" t="t" r="r" b="b"/>
            <a:pathLst>
              <a:path w="1944370" h="1065529">
                <a:moveTo>
                  <a:pt x="0" y="177553"/>
                </a:moveTo>
                <a:lnTo>
                  <a:pt x="6342" y="130353"/>
                </a:lnTo>
                <a:lnTo>
                  <a:pt x="24241" y="87939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766446" y="0"/>
                </a:lnTo>
                <a:lnTo>
                  <a:pt x="1813646" y="6342"/>
                </a:lnTo>
                <a:lnTo>
                  <a:pt x="1856060" y="24241"/>
                </a:lnTo>
                <a:lnTo>
                  <a:pt x="1891995" y="52004"/>
                </a:lnTo>
                <a:lnTo>
                  <a:pt x="1919758" y="87939"/>
                </a:lnTo>
                <a:lnTo>
                  <a:pt x="1937657" y="130353"/>
                </a:lnTo>
                <a:lnTo>
                  <a:pt x="1944000" y="177553"/>
                </a:lnTo>
                <a:lnTo>
                  <a:pt x="1944000" y="887746"/>
                </a:lnTo>
                <a:lnTo>
                  <a:pt x="1937657" y="934946"/>
                </a:lnTo>
                <a:lnTo>
                  <a:pt x="1919758" y="977360"/>
                </a:lnTo>
                <a:lnTo>
                  <a:pt x="1891995" y="1013295"/>
                </a:lnTo>
                <a:lnTo>
                  <a:pt x="1856060" y="1041058"/>
                </a:lnTo>
                <a:lnTo>
                  <a:pt x="1813646" y="1058957"/>
                </a:lnTo>
                <a:lnTo>
                  <a:pt x="1766446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0"/>
                </a:lnTo>
                <a:lnTo>
                  <a:pt x="6342" y="934946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613380" y="3650996"/>
            <a:ext cx="1403350" cy="74485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36525" marR="5080" indent="-123825">
              <a:lnSpc>
                <a:spcPts val="2780"/>
              </a:lnSpc>
              <a:spcBef>
                <a:spcPts val="275"/>
              </a:spcBef>
            </a:pPr>
            <a:r>
              <a:rPr dirty="0" sz="2400" spc="-25">
                <a:latin typeface="Arial"/>
                <a:cs typeface="Arial"/>
              </a:rPr>
              <a:t>St</a:t>
            </a:r>
            <a:r>
              <a:rPr dirty="0" sz="2400" spc="-55">
                <a:latin typeface="Arial"/>
                <a:cs typeface="Arial"/>
              </a:rPr>
              <a:t>r</a:t>
            </a:r>
            <a:r>
              <a:rPr dirty="0" sz="2400" spc="-55">
                <a:latin typeface="Arial"/>
                <a:cs typeface="Arial"/>
              </a:rPr>
              <a:t>u</a:t>
            </a:r>
            <a:r>
              <a:rPr dirty="0" sz="2400" spc="45">
                <a:latin typeface="Arial"/>
                <a:cs typeface="Arial"/>
              </a:rPr>
              <a:t>c</a:t>
            </a:r>
            <a:r>
              <a:rPr dirty="0" sz="2400" spc="35">
                <a:latin typeface="Arial"/>
                <a:cs typeface="Arial"/>
              </a:rPr>
              <a:t>t</a:t>
            </a:r>
            <a:r>
              <a:rPr dirty="0" sz="2400" spc="-55">
                <a:latin typeface="Arial"/>
                <a:cs typeface="Arial"/>
              </a:rPr>
              <a:t>u</a:t>
            </a:r>
            <a:r>
              <a:rPr dirty="0" sz="2400" spc="-95">
                <a:latin typeface="Arial"/>
                <a:cs typeface="Arial"/>
              </a:rPr>
              <a:t>r</a:t>
            </a:r>
            <a:r>
              <a:rPr dirty="0" sz="2400" spc="-85">
                <a:latin typeface="Arial"/>
                <a:cs typeface="Arial"/>
              </a:rPr>
              <a:t>e</a:t>
            </a:r>
            <a:r>
              <a:rPr dirty="0" sz="2400" spc="25">
                <a:latin typeface="Arial"/>
                <a:cs typeface="Arial"/>
              </a:rPr>
              <a:t>d  </a:t>
            </a:r>
            <a:r>
              <a:rPr dirty="0" sz="2400" spc="-75"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86207" y="3495944"/>
            <a:ext cx="1810385" cy="1065530"/>
          </a:xfrm>
          <a:custGeom>
            <a:avLst/>
            <a:gdLst/>
            <a:ahLst/>
            <a:cxnLst/>
            <a:rect l="l" t="t" r="r" b="b"/>
            <a:pathLst>
              <a:path w="1810384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632222" y="0"/>
                </a:lnTo>
                <a:lnTo>
                  <a:pt x="1679422" y="6342"/>
                </a:lnTo>
                <a:lnTo>
                  <a:pt x="1721836" y="24241"/>
                </a:lnTo>
                <a:lnTo>
                  <a:pt x="1757771" y="52004"/>
                </a:lnTo>
                <a:lnTo>
                  <a:pt x="1785533" y="87938"/>
                </a:lnTo>
                <a:lnTo>
                  <a:pt x="1803432" y="130352"/>
                </a:lnTo>
                <a:lnTo>
                  <a:pt x="1809775" y="177553"/>
                </a:lnTo>
                <a:lnTo>
                  <a:pt x="1809775" y="887746"/>
                </a:lnTo>
                <a:lnTo>
                  <a:pt x="1803432" y="934947"/>
                </a:lnTo>
                <a:lnTo>
                  <a:pt x="1785533" y="977361"/>
                </a:lnTo>
                <a:lnTo>
                  <a:pt x="1757771" y="1013295"/>
                </a:lnTo>
                <a:lnTo>
                  <a:pt x="1721836" y="1041058"/>
                </a:lnTo>
                <a:lnTo>
                  <a:pt x="1679422" y="1058957"/>
                </a:lnTo>
                <a:lnTo>
                  <a:pt x="163222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353714" y="3641852"/>
            <a:ext cx="127444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56515">
              <a:lnSpc>
                <a:spcPct val="100800"/>
              </a:lnSpc>
              <a:spcBef>
                <a:spcPts val="75"/>
              </a:spcBef>
            </a:pPr>
            <a:r>
              <a:rPr dirty="0" sz="2400" spc="-55">
                <a:latin typeface="Arial"/>
                <a:cs typeface="Arial"/>
              </a:rPr>
              <a:t>Learning  </a:t>
            </a:r>
            <a:r>
              <a:rPr dirty="0" sz="2400" spc="-135">
                <a:latin typeface="Arial"/>
                <a:cs typeface="Arial"/>
              </a:rPr>
              <a:t>A</a:t>
            </a:r>
            <a:r>
              <a:rPr dirty="0" sz="2400" spc="-40">
                <a:latin typeface="Arial"/>
                <a:cs typeface="Arial"/>
              </a:rPr>
              <a:t>l</a:t>
            </a:r>
            <a:r>
              <a:rPr dirty="0" sz="2400" spc="-5">
                <a:latin typeface="Arial"/>
                <a:cs typeface="Arial"/>
              </a:rPr>
              <a:t>go</a:t>
            </a:r>
            <a:r>
              <a:rPr dirty="0" sz="2400" spc="-55">
                <a:latin typeface="Arial"/>
                <a:cs typeface="Arial"/>
              </a:rPr>
              <a:t>r</a:t>
            </a:r>
            <a:r>
              <a:rPr dirty="0" sz="2400" spc="-85">
                <a:latin typeface="Arial"/>
                <a:cs typeface="Arial"/>
              </a:rPr>
              <a:t>i</a:t>
            </a:r>
            <a:r>
              <a:rPr dirty="0" sz="2400" spc="35">
                <a:latin typeface="Arial"/>
                <a:cs typeface="Arial"/>
              </a:rPr>
              <a:t>t</a:t>
            </a:r>
            <a:r>
              <a:rPr dirty="0" sz="2400" spc="-55">
                <a:latin typeface="Arial"/>
                <a:cs typeface="Arial"/>
              </a:rPr>
              <a:t>h</a:t>
            </a:r>
            <a:r>
              <a:rPr dirty="0" sz="2400" spc="-5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478995" y="3500216"/>
            <a:ext cx="1654810" cy="1065530"/>
          </a:xfrm>
          <a:custGeom>
            <a:avLst/>
            <a:gdLst/>
            <a:ahLst/>
            <a:cxnLst/>
            <a:rect l="l" t="t" r="r" b="b"/>
            <a:pathLst>
              <a:path w="1654809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476682" y="0"/>
                </a:lnTo>
                <a:lnTo>
                  <a:pt x="1523883" y="6342"/>
                </a:lnTo>
                <a:lnTo>
                  <a:pt x="1566297" y="24241"/>
                </a:lnTo>
                <a:lnTo>
                  <a:pt x="1602231" y="52004"/>
                </a:lnTo>
                <a:lnTo>
                  <a:pt x="1629994" y="87938"/>
                </a:lnTo>
                <a:lnTo>
                  <a:pt x="1647893" y="130352"/>
                </a:lnTo>
                <a:lnTo>
                  <a:pt x="1654236" y="177553"/>
                </a:lnTo>
                <a:lnTo>
                  <a:pt x="1654236" y="887746"/>
                </a:lnTo>
                <a:lnTo>
                  <a:pt x="1647893" y="934947"/>
                </a:lnTo>
                <a:lnTo>
                  <a:pt x="1629994" y="977361"/>
                </a:lnTo>
                <a:lnTo>
                  <a:pt x="1602231" y="1013295"/>
                </a:lnTo>
                <a:lnTo>
                  <a:pt x="1566297" y="1041058"/>
                </a:lnTo>
                <a:lnTo>
                  <a:pt x="1523883" y="1058957"/>
                </a:lnTo>
                <a:lnTo>
                  <a:pt x="147668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637331" y="3827779"/>
            <a:ext cx="1337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40">
                <a:latin typeface="Arial"/>
                <a:cs typeface="Arial"/>
              </a:rPr>
              <a:t>Prediction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27194" y="4714568"/>
            <a:ext cx="2950210" cy="132715"/>
          </a:xfrm>
          <a:custGeom>
            <a:avLst/>
            <a:gdLst/>
            <a:ahLst/>
            <a:cxnLst/>
            <a:rect l="l" t="t" r="r" b="b"/>
            <a:pathLst>
              <a:path w="2950209" h="132714">
                <a:moveTo>
                  <a:pt x="2925442" y="51499"/>
                </a:moveTo>
                <a:lnTo>
                  <a:pt x="2921521" y="51499"/>
                </a:lnTo>
                <a:lnTo>
                  <a:pt x="2921701" y="80073"/>
                </a:lnTo>
                <a:lnTo>
                  <a:pt x="2868869" y="80405"/>
                </a:lnTo>
                <a:lnTo>
                  <a:pt x="2822149" y="108052"/>
                </a:lnTo>
                <a:lnTo>
                  <a:pt x="2819901" y="116815"/>
                </a:lnTo>
                <a:lnTo>
                  <a:pt x="2827939" y="130397"/>
                </a:lnTo>
                <a:lnTo>
                  <a:pt x="2836702" y="132645"/>
                </a:lnTo>
                <a:lnTo>
                  <a:pt x="2949981" y="65608"/>
                </a:lnTo>
                <a:lnTo>
                  <a:pt x="2925442" y="51499"/>
                </a:lnTo>
                <a:close/>
              </a:path>
              <a:path w="2950209" h="132714">
                <a:moveTo>
                  <a:pt x="2868689" y="51831"/>
                </a:moveTo>
                <a:lnTo>
                  <a:pt x="0" y="69844"/>
                </a:lnTo>
                <a:lnTo>
                  <a:pt x="179" y="98418"/>
                </a:lnTo>
                <a:lnTo>
                  <a:pt x="2868869" y="80405"/>
                </a:lnTo>
                <a:lnTo>
                  <a:pt x="2893271" y="65964"/>
                </a:lnTo>
                <a:lnTo>
                  <a:pt x="2868689" y="51831"/>
                </a:lnTo>
                <a:close/>
              </a:path>
              <a:path w="2950209" h="132714">
                <a:moveTo>
                  <a:pt x="2893271" y="65964"/>
                </a:moveTo>
                <a:lnTo>
                  <a:pt x="2868869" y="80405"/>
                </a:lnTo>
                <a:lnTo>
                  <a:pt x="2921701" y="80073"/>
                </a:lnTo>
                <a:lnTo>
                  <a:pt x="2921689" y="78172"/>
                </a:lnTo>
                <a:lnTo>
                  <a:pt x="2914503" y="78172"/>
                </a:lnTo>
                <a:lnTo>
                  <a:pt x="2893271" y="65964"/>
                </a:lnTo>
                <a:close/>
              </a:path>
              <a:path w="2950209" h="132714">
                <a:moveTo>
                  <a:pt x="2914349" y="53491"/>
                </a:moveTo>
                <a:lnTo>
                  <a:pt x="2893271" y="65964"/>
                </a:lnTo>
                <a:lnTo>
                  <a:pt x="2914503" y="78172"/>
                </a:lnTo>
                <a:lnTo>
                  <a:pt x="2914349" y="53491"/>
                </a:lnTo>
                <a:close/>
              </a:path>
              <a:path w="2950209" h="132714">
                <a:moveTo>
                  <a:pt x="2921534" y="53491"/>
                </a:moveTo>
                <a:lnTo>
                  <a:pt x="2914349" y="53491"/>
                </a:lnTo>
                <a:lnTo>
                  <a:pt x="2914503" y="78172"/>
                </a:lnTo>
                <a:lnTo>
                  <a:pt x="2921689" y="78172"/>
                </a:lnTo>
                <a:lnTo>
                  <a:pt x="2921534" y="53491"/>
                </a:lnTo>
                <a:close/>
              </a:path>
              <a:path w="2950209" h="132714">
                <a:moveTo>
                  <a:pt x="2921521" y="51499"/>
                </a:moveTo>
                <a:lnTo>
                  <a:pt x="2868689" y="51831"/>
                </a:lnTo>
                <a:lnTo>
                  <a:pt x="2893271" y="65964"/>
                </a:lnTo>
                <a:lnTo>
                  <a:pt x="2914349" y="53491"/>
                </a:lnTo>
                <a:lnTo>
                  <a:pt x="2921534" y="53491"/>
                </a:lnTo>
                <a:lnTo>
                  <a:pt x="2921521" y="51499"/>
                </a:lnTo>
                <a:close/>
              </a:path>
              <a:path w="2950209" h="132714">
                <a:moveTo>
                  <a:pt x="2835869" y="0"/>
                </a:moveTo>
                <a:lnTo>
                  <a:pt x="2827135" y="2357"/>
                </a:lnTo>
                <a:lnTo>
                  <a:pt x="2819269" y="16038"/>
                </a:lnTo>
                <a:lnTo>
                  <a:pt x="2821626" y="24772"/>
                </a:lnTo>
                <a:lnTo>
                  <a:pt x="2868689" y="51831"/>
                </a:lnTo>
                <a:lnTo>
                  <a:pt x="2925442" y="51499"/>
                </a:lnTo>
                <a:lnTo>
                  <a:pt x="283586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293785" y="4989067"/>
            <a:ext cx="1952625" cy="74485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 marR="5080" indent="130175">
              <a:lnSpc>
                <a:spcPts val="2780"/>
              </a:lnSpc>
              <a:spcBef>
                <a:spcPts val="275"/>
              </a:spcBef>
            </a:pPr>
            <a:r>
              <a:rPr dirty="0" sz="2400" spc="-40">
                <a:solidFill>
                  <a:srgbClr val="5A6378"/>
                </a:solidFill>
                <a:latin typeface="Arial"/>
                <a:cs typeface="Arial"/>
              </a:rPr>
              <a:t>Downstream  </a:t>
            </a:r>
            <a:r>
              <a:rPr dirty="0" sz="2400" spc="-25">
                <a:solidFill>
                  <a:srgbClr val="5A6378"/>
                </a:solidFill>
                <a:latin typeface="Arial"/>
                <a:cs typeface="Arial"/>
              </a:rPr>
              <a:t>prediction</a:t>
            </a:r>
            <a:r>
              <a:rPr dirty="0" sz="2400" spc="-70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5A6378"/>
                </a:solidFill>
                <a:latin typeface="Arial"/>
                <a:cs typeface="Arial"/>
              </a:rPr>
              <a:t>task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944" y="4989067"/>
            <a:ext cx="1564005" cy="74485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 marR="5080" indent="276860">
              <a:lnSpc>
                <a:spcPts val="2780"/>
              </a:lnSpc>
              <a:spcBef>
                <a:spcPts val="275"/>
              </a:spcBef>
            </a:pPr>
            <a:r>
              <a:rPr dirty="0" sz="2400" spc="-80">
                <a:solidFill>
                  <a:srgbClr val="5A6378"/>
                </a:solidFill>
                <a:latin typeface="Arial"/>
                <a:cs typeface="Arial"/>
              </a:rPr>
              <a:t>Feature  </a:t>
            </a:r>
            <a:r>
              <a:rPr dirty="0" sz="2400" spc="-125">
                <a:solidFill>
                  <a:srgbClr val="5A6378"/>
                </a:solidFill>
                <a:latin typeface="Arial"/>
                <a:cs typeface="Arial"/>
              </a:rPr>
              <a:t>E</a:t>
            </a:r>
            <a:r>
              <a:rPr dirty="0" sz="2400" spc="-110">
                <a:solidFill>
                  <a:srgbClr val="5A6378"/>
                </a:solidFill>
                <a:latin typeface="Arial"/>
                <a:cs typeface="Arial"/>
              </a:rPr>
              <a:t>n</a:t>
            </a:r>
            <a:r>
              <a:rPr dirty="0" sz="2400" spc="-5">
                <a:solidFill>
                  <a:srgbClr val="5A6378"/>
                </a:solidFill>
                <a:latin typeface="Arial"/>
                <a:cs typeface="Arial"/>
              </a:rPr>
              <a:t>g</a:t>
            </a:r>
            <a:r>
              <a:rPr dirty="0" sz="2400" spc="-85">
                <a:solidFill>
                  <a:srgbClr val="5A6378"/>
                </a:solidFill>
                <a:latin typeface="Arial"/>
                <a:cs typeface="Arial"/>
              </a:rPr>
              <a:t>i</a:t>
            </a:r>
            <a:r>
              <a:rPr dirty="0" sz="2400" spc="-55">
                <a:solidFill>
                  <a:srgbClr val="5A6378"/>
                </a:solidFill>
                <a:latin typeface="Arial"/>
                <a:cs typeface="Arial"/>
              </a:rPr>
              <a:t>n</a:t>
            </a:r>
            <a:r>
              <a:rPr dirty="0" sz="2400" spc="-90">
                <a:solidFill>
                  <a:srgbClr val="5A6378"/>
                </a:solidFill>
                <a:latin typeface="Arial"/>
                <a:cs typeface="Arial"/>
              </a:rPr>
              <a:t>ee</a:t>
            </a:r>
            <a:r>
              <a:rPr dirty="0" sz="2400" spc="-55">
                <a:solidFill>
                  <a:srgbClr val="5A6378"/>
                </a:solidFill>
                <a:latin typeface="Arial"/>
                <a:cs typeface="Arial"/>
              </a:rPr>
              <a:t>r</a:t>
            </a:r>
            <a:r>
              <a:rPr dirty="0" sz="2400" spc="-85">
                <a:solidFill>
                  <a:srgbClr val="5A6378"/>
                </a:solidFill>
                <a:latin typeface="Arial"/>
                <a:cs typeface="Arial"/>
              </a:rPr>
              <a:t>i</a:t>
            </a:r>
            <a:r>
              <a:rPr dirty="0" sz="2400" spc="-55">
                <a:solidFill>
                  <a:srgbClr val="5A6378"/>
                </a:solidFill>
                <a:latin typeface="Arial"/>
                <a:cs typeface="Arial"/>
              </a:rPr>
              <a:t>n</a:t>
            </a:r>
            <a:r>
              <a:rPr dirty="0" sz="2400" spc="-5">
                <a:solidFill>
                  <a:srgbClr val="5A6378"/>
                </a:solidFill>
                <a:latin typeface="Arial"/>
                <a:cs typeface="Arial"/>
              </a:rPr>
              <a:t>g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06106" y="4943347"/>
            <a:ext cx="3656329" cy="1129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Representation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Learning</a:t>
            </a:r>
            <a:r>
              <a:rPr dirty="0" sz="2400" spc="-4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--</a:t>
            </a:r>
            <a:endParaRPr sz="2400">
              <a:latin typeface="Arial"/>
              <a:cs typeface="Arial"/>
            </a:endParaRPr>
          </a:p>
          <a:p>
            <a:pPr algn="ctr" marL="641350" marR="634365" indent="-83185">
              <a:lnSpc>
                <a:spcPct val="100800"/>
              </a:lnSpc>
            </a:pPr>
            <a:r>
              <a:rPr dirty="0" sz="2400" spc="-5">
                <a:latin typeface="Arial"/>
                <a:cs typeface="Arial"/>
              </a:rPr>
              <a:t>Automatically  learn the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618108" y="1654555"/>
            <a:ext cx="7832725" cy="1665605"/>
          </a:xfrm>
          <a:prstGeom prst="rect"/>
        </p:spPr>
        <p:txBody>
          <a:bodyPr wrap="square" lIns="0" tIns="33019" rIns="0" bIns="0" rtlCol="0" vert="horz">
            <a:spAutoFit/>
          </a:bodyPr>
          <a:lstStyle/>
          <a:p>
            <a:pPr algn="just" marL="12700" marR="5080">
              <a:lnSpc>
                <a:spcPts val="4300"/>
              </a:lnSpc>
              <a:spcBef>
                <a:spcPts val="259"/>
              </a:spcBef>
            </a:pPr>
            <a:r>
              <a:rPr dirty="0" sz="3600" spc="-20" b="1">
                <a:latin typeface="Calibri"/>
                <a:cs typeface="Calibri"/>
              </a:rPr>
              <a:t>Graph Representation </a:t>
            </a:r>
            <a:r>
              <a:rPr dirty="0" sz="3600" spc="-5" b="1">
                <a:latin typeface="Calibri"/>
                <a:cs typeface="Calibri"/>
              </a:rPr>
              <a:t>Learning </a:t>
            </a:r>
            <a:r>
              <a:rPr dirty="0" sz="3600" spc="-15" b="1">
                <a:latin typeface="Calibri"/>
                <a:cs typeface="Calibri"/>
              </a:rPr>
              <a:t>alleviates  </a:t>
            </a:r>
            <a:r>
              <a:rPr dirty="0" sz="3600" b="1">
                <a:latin typeface="Calibri"/>
                <a:cs typeface="Calibri"/>
              </a:rPr>
              <a:t>the </a:t>
            </a:r>
            <a:r>
              <a:rPr dirty="0" sz="3600" spc="-5" b="1">
                <a:latin typeface="Calibri"/>
                <a:cs typeface="Calibri"/>
              </a:rPr>
              <a:t>need </a:t>
            </a:r>
            <a:r>
              <a:rPr dirty="0" sz="3600" spc="-20" b="1">
                <a:latin typeface="Calibri"/>
                <a:cs typeface="Calibri"/>
              </a:rPr>
              <a:t>to </a:t>
            </a:r>
            <a:r>
              <a:rPr dirty="0" sz="3600" b="1">
                <a:latin typeface="Calibri"/>
                <a:cs typeface="Calibri"/>
              </a:rPr>
              <a:t>do </a:t>
            </a:r>
            <a:r>
              <a:rPr dirty="0" sz="3600" spc="-25" b="1">
                <a:latin typeface="Calibri"/>
                <a:cs typeface="Calibri"/>
              </a:rPr>
              <a:t>feature </a:t>
            </a:r>
            <a:r>
              <a:rPr dirty="0" sz="3600" spc="-5" b="1">
                <a:latin typeface="Calibri"/>
                <a:cs typeface="Calibri"/>
              </a:rPr>
              <a:t>engineering </a:t>
            </a:r>
            <a:r>
              <a:rPr dirty="0" sz="3600" spc="-15" b="1">
                <a:solidFill>
                  <a:srgbClr val="C00000"/>
                </a:solidFill>
                <a:latin typeface="Calibri"/>
                <a:cs typeface="Calibri"/>
              </a:rPr>
              <a:t>every 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single</a:t>
            </a:r>
            <a:r>
              <a:rPr dirty="0" sz="36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5" b="1">
                <a:solidFill>
                  <a:srgbClr val="C00000"/>
                </a:solidFill>
                <a:latin typeface="Calibri"/>
                <a:cs typeface="Calibri"/>
              </a:rPr>
              <a:t>time.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6901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019" rIns="0" bIns="0" rtlCol="0" vert="horz">
            <a:spAutoFit/>
          </a:bodyPr>
          <a:lstStyle/>
          <a:p>
            <a:pPr marL="317500" marR="5080">
              <a:lnSpc>
                <a:spcPts val="4300"/>
              </a:lnSpc>
              <a:spcBef>
                <a:spcPts val="259"/>
              </a:spcBef>
            </a:pPr>
            <a:r>
              <a:rPr dirty="0" sz="3600" spc="-5">
                <a:solidFill>
                  <a:srgbClr val="C00000"/>
                </a:solidFill>
              </a:rPr>
              <a:t>Goal: </a:t>
            </a:r>
            <a:r>
              <a:rPr dirty="0" sz="3600" spc="-25"/>
              <a:t>Efficient </a:t>
            </a:r>
            <a:r>
              <a:rPr dirty="0" sz="3600" spc="-20"/>
              <a:t>task-independent </a:t>
            </a:r>
            <a:r>
              <a:rPr dirty="0" sz="3600" spc="-30"/>
              <a:t>feature  </a:t>
            </a:r>
            <a:r>
              <a:rPr dirty="0" sz="3600" spc="-5"/>
              <a:t>learning </a:t>
            </a:r>
            <a:r>
              <a:rPr dirty="0" sz="3600" spc="-30"/>
              <a:t>for </a:t>
            </a:r>
            <a:r>
              <a:rPr dirty="0" sz="3600" spc="-5"/>
              <a:t>machine learning with</a:t>
            </a:r>
            <a:r>
              <a:rPr dirty="0" sz="3600" spc="-10"/>
              <a:t> </a:t>
            </a:r>
            <a:r>
              <a:rPr dirty="0" sz="3600" spc="-15"/>
              <a:t>graphs!</a:t>
            </a:r>
            <a:endParaRPr sz="36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683252" y="3808299"/>
          <a:ext cx="3177540" cy="448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6364"/>
                <a:gridCol w="526364"/>
                <a:gridCol w="526364"/>
                <a:gridCol w="526364"/>
                <a:gridCol w="526364"/>
                <a:gridCol w="526364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028953" y="3969273"/>
            <a:ext cx="2660650" cy="114300"/>
          </a:xfrm>
          <a:custGeom>
            <a:avLst/>
            <a:gdLst/>
            <a:ahLst/>
            <a:cxnLst/>
            <a:rect l="l" t="t" r="r" b="b"/>
            <a:pathLst>
              <a:path w="2660650" h="114300">
                <a:moveTo>
                  <a:pt x="2622973" y="38016"/>
                </a:moveTo>
                <a:lnTo>
                  <a:pt x="2565317" y="38016"/>
                </a:lnTo>
                <a:lnTo>
                  <a:pt x="2572739" y="39481"/>
                </a:lnTo>
                <a:lnTo>
                  <a:pt x="2578812" y="43537"/>
                </a:lnTo>
                <a:lnTo>
                  <a:pt x="2582921" y="49575"/>
                </a:lnTo>
                <a:lnTo>
                  <a:pt x="2584451" y="56983"/>
                </a:lnTo>
                <a:lnTo>
                  <a:pt x="2582986" y="64405"/>
                </a:lnTo>
                <a:lnTo>
                  <a:pt x="2578930" y="70478"/>
                </a:lnTo>
                <a:lnTo>
                  <a:pt x="2572893" y="74586"/>
                </a:lnTo>
                <a:lnTo>
                  <a:pt x="2565485" y="76116"/>
                </a:lnTo>
                <a:lnTo>
                  <a:pt x="2546435" y="76199"/>
                </a:lnTo>
                <a:lnTo>
                  <a:pt x="2546602" y="114300"/>
                </a:lnTo>
                <a:lnTo>
                  <a:pt x="2660651" y="56649"/>
                </a:lnTo>
                <a:lnTo>
                  <a:pt x="2622973" y="38016"/>
                </a:lnTo>
                <a:close/>
              </a:path>
              <a:path w="2660650" h="114300">
                <a:moveTo>
                  <a:pt x="2546269" y="38099"/>
                </a:moveTo>
                <a:lnTo>
                  <a:pt x="18967" y="49162"/>
                </a:lnTo>
                <a:lnTo>
                  <a:pt x="0" y="68295"/>
                </a:lnTo>
                <a:lnTo>
                  <a:pt x="1530" y="75704"/>
                </a:lnTo>
                <a:lnTo>
                  <a:pt x="5639" y="81742"/>
                </a:lnTo>
                <a:lnTo>
                  <a:pt x="11712" y="85798"/>
                </a:lnTo>
                <a:lnTo>
                  <a:pt x="19133" y="87262"/>
                </a:lnTo>
                <a:lnTo>
                  <a:pt x="2546435" y="76199"/>
                </a:lnTo>
                <a:lnTo>
                  <a:pt x="2546269" y="38099"/>
                </a:lnTo>
                <a:close/>
              </a:path>
              <a:path w="2660650" h="114300">
                <a:moveTo>
                  <a:pt x="2565317" y="38016"/>
                </a:moveTo>
                <a:lnTo>
                  <a:pt x="2546269" y="38099"/>
                </a:lnTo>
                <a:lnTo>
                  <a:pt x="2546435" y="76199"/>
                </a:lnTo>
                <a:lnTo>
                  <a:pt x="2565485" y="76116"/>
                </a:lnTo>
                <a:lnTo>
                  <a:pt x="2572893" y="74586"/>
                </a:lnTo>
                <a:lnTo>
                  <a:pt x="2578930" y="70478"/>
                </a:lnTo>
                <a:lnTo>
                  <a:pt x="2582986" y="64405"/>
                </a:lnTo>
                <a:lnTo>
                  <a:pt x="2584451" y="56983"/>
                </a:lnTo>
                <a:lnTo>
                  <a:pt x="2582921" y="49575"/>
                </a:lnTo>
                <a:lnTo>
                  <a:pt x="2578812" y="43537"/>
                </a:lnTo>
                <a:lnTo>
                  <a:pt x="2572739" y="39481"/>
                </a:lnTo>
                <a:lnTo>
                  <a:pt x="2565317" y="38016"/>
                </a:lnTo>
                <a:close/>
              </a:path>
              <a:path w="2660650" h="114300">
                <a:moveTo>
                  <a:pt x="2546102" y="0"/>
                </a:moveTo>
                <a:lnTo>
                  <a:pt x="2546269" y="38099"/>
                </a:lnTo>
                <a:lnTo>
                  <a:pt x="2622973" y="38016"/>
                </a:lnTo>
                <a:lnTo>
                  <a:pt x="25461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89606" y="4253829"/>
            <a:ext cx="3158490" cy="387985"/>
          </a:xfrm>
          <a:custGeom>
            <a:avLst/>
            <a:gdLst/>
            <a:ahLst/>
            <a:cxnLst/>
            <a:rect l="l" t="t" r="r" b="b"/>
            <a:pathLst>
              <a:path w="3158490" h="387985">
                <a:moveTo>
                  <a:pt x="3158184" y="0"/>
                </a:moveTo>
                <a:lnTo>
                  <a:pt x="3153232" y="44457"/>
                </a:lnTo>
                <a:lnTo>
                  <a:pt x="3139127" y="85269"/>
                </a:lnTo>
                <a:lnTo>
                  <a:pt x="3116995" y="121269"/>
                </a:lnTo>
                <a:lnTo>
                  <a:pt x="3087961" y="151296"/>
                </a:lnTo>
                <a:lnTo>
                  <a:pt x="3053150" y="174185"/>
                </a:lnTo>
                <a:lnTo>
                  <a:pt x="3013688" y="188771"/>
                </a:lnTo>
                <a:lnTo>
                  <a:pt x="2970700" y="193892"/>
                </a:lnTo>
                <a:lnTo>
                  <a:pt x="1774914" y="193892"/>
                </a:lnTo>
                <a:lnTo>
                  <a:pt x="1731925" y="199013"/>
                </a:lnTo>
                <a:lnTo>
                  <a:pt x="1692462" y="213599"/>
                </a:lnTo>
                <a:lnTo>
                  <a:pt x="1657651" y="236488"/>
                </a:lnTo>
                <a:lnTo>
                  <a:pt x="1628617" y="266515"/>
                </a:lnTo>
                <a:lnTo>
                  <a:pt x="1606485" y="302515"/>
                </a:lnTo>
                <a:lnTo>
                  <a:pt x="1592380" y="343327"/>
                </a:lnTo>
                <a:lnTo>
                  <a:pt x="1587429" y="387785"/>
                </a:lnTo>
                <a:lnTo>
                  <a:pt x="1582477" y="343327"/>
                </a:lnTo>
                <a:lnTo>
                  <a:pt x="1568373" y="302515"/>
                </a:lnTo>
                <a:lnTo>
                  <a:pt x="1546241" y="266515"/>
                </a:lnTo>
                <a:lnTo>
                  <a:pt x="1517206" y="236488"/>
                </a:lnTo>
                <a:lnTo>
                  <a:pt x="1482395" y="213599"/>
                </a:lnTo>
                <a:lnTo>
                  <a:pt x="1442933" y="199013"/>
                </a:lnTo>
                <a:lnTo>
                  <a:pt x="1399945" y="193892"/>
                </a:lnTo>
                <a:lnTo>
                  <a:pt x="187484" y="193892"/>
                </a:lnTo>
                <a:lnTo>
                  <a:pt x="144495" y="188771"/>
                </a:lnTo>
                <a:lnTo>
                  <a:pt x="105033" y="174185"/>
                </a:lnTo>
                <a:lnTo>
                  <a:pt x="70222" y="151296"/>
                </a:lnTo>
                <a:lnTo>
                  <a:pt x="41188" y="121269"/>
                </a:lnTo>
                <a:lnTo>
                  <a:pt x="19056" y="85269"/>
                </a:lnTo>
                <a:lnTo>
                  <a:pt x="4951" y="44457"/>
                </a:lnTo>
                <a:lnTo>
                  <a:pt x="0" y="0"/>
                </a:lnTo>
              </a:path>
            </a:pathLst>
          </a:custGeom>
          <a:ln w="6350">
            <a:solidFill>
              <a:srgbClr val="9611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618268" y="3232404"/>
            <a:ext cx="11309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961100"/>
                </a:solidFill>
                <a:latin typeface="Arial"/>
                <a:cs typeface="Arial"/>
              </a:rPr>
              <a:t>v</a:t>
            </a:r>
            <a:r>
              <a:rPr dirty="0" sz="3200" spc="-5">
                <a:solidFill>
                  <a:srgbClr val="961100"/>
                </a:solidFill>
                <a:latin typeface="Arial"/>
                <a:cs typeface="Arial"/>
              </a:rPr>
              <a:t>e</a:t>
            </a:r>
            <a:r>
              <a:rPr dirty="0" sz="3200">
                <a:solidFill>
                  <a:srgbClr val="961100"/>
                </a:solidFill>
                <a:latin typeface="Arial"/>
                <a:cs typeface="Arial"/>
              </a:rPr>
              <a:t>c</a:t>
            </a:r>
            <a:r>
              <a:rPr dirty="0" sz="3200" spc="-5">
                <a:solidFill>
                  <a:srgbClr val="961100"/>
                </a:solidFill>
                <a:latin typeface="Arial"/>
                <a:cs typeface="Arial"/>
              </a:rPr>
              <a:t>to</a:t>
            </a:r>
            <a:r>
              <a:rPr dirty="0" sz="3200">
                <a:solidFill>
                  <a:srgbClr val="961100"/>
                </a:solidFill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9534" y="4046220"/>
            <a:ext cx="17379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40">
                <a:latin typeface="Cambria Math"/>
                <a:cs typeface="Cambria Math"/>
              </a:rPr>
              <a:t>𝑓: </a:t>
            </a:r>
            <a:r>
              <a:rPr dirty="0" sz="3200">
                <a:latin typeface="Cambria Math"/>
                <a:cs typeface="Cambria Math"/>
              </a:rPr>
              <a:t>𝑢 →</a:t>
            </a:r>
            <a:r>
              <a:rPr dirty="0" sz="3200" spc="150">
                <a:latin typeface="Cambria Math"/>
                <a:cs typeface="Cambria Math"/>
              </a:rPr>
              <a:t> </a:t>
            </a:r>
            <a:r>
              <a:rPr dirty="0" sz="3200" spc="400">
                <a:latin typeface="Cambria Math"/>
                <a:cs typeface="Cambria Math"/>
              </a:rPr>
              <a:t>ℝ</a:t>
            </a:r>
            <a:r>
              <a:rPr dirty="0" baseline="27777" sz="3450" spc="600">
                <a:latin typeface="Cambria Math"/>
                <a:cs typeface="Cambria Math"/>
              </a:rPr>
              <a:t>!</a:t>
            </a:r>
            <a:endParaRPr baseline="27777" sz="34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9224" y="4290737"/>
            <a:ext cx="3196590" cy="161988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algn="ctr" marL="346710">
              <a:lnSpc>
                <a:spcPct val="100000"/>
              </a:lnSpc>
              <a:spcBef>
                <a:spcPts val="1775"/>
              </a:spcBef>
            </a:pPr>
            <a:r>
              <a:rPr dirty="0" baseline="-20833" sz="4800" spc="600">
                <a:latin typeface="Cambria Math"/>
                <a:cs typeface="Cambria Math"/>
              </a:rPr>
              <a:t>ℝ</a:t>
            </a:r>
            <a:r>
              <a:rPr dirty="0" sz="2300" spc="400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  <a:p>
            <a:pPr marL="842010" marR="5080" indent="-829944">
              <a:lnSpc>
                <a:spcPct val="100800"/>
              </a:lnSpc>
              <a:spcBef>
                <a:spcPts val="1230"/>
              </a:spcBef>
            </a:pPr>
            <a:r>
              <a:rPr dirty="0" sz="2400" spc="-5">
                <a:latin typeface="Arial"/>
                <a:cs typeface="Arial"/>
              </a:rPr>
              <a:t>Feature representation,  </a:t>
            </a:r>
            <a:r>
              <a:rPr dirty="0" sz="2400">
                <a:latin typeface="Arial"/>
                <a:cs typeface="Arial"/>
              </a:rPr>
              <a:t>embedding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8930" y="3263808"/>
            <a:ext cx="2873340" cy="2519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85764" y="3229040"/>
            <a:ext cx="927735" cy="105473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3200" spc="-5">
                <a:solidFill>
                  <a:srgbClr val="961100"/>
                </a:solidFill>
                <a:latin typeface="Arial"/>
                <a:cs typeface="Arial"/>
              </a:rPr>
              <a:t>node</a:t>
            </a:r>
            <a:endParaRPr sz="3200">
              <a:latin typeface="Arial"/>
              <a:cs typeface="Arial"/>
            </a:endParaRPr>
          </a:p>
          <a:p>
            <a:pPr marL="134620">
              <a:lnSpc>
                <a:spcPct val="100000"/>
              </a:lnSpc>
              <a:spcBef>
                <a:spcPts val="370"/>
              </a:spcBef>
            </a:pPr>
            <a:r>
              <a:rPr dirty="0" sz="2900">
                <a:latin typeface="Cambria Math"/>
                <a:cs typeface="Cambria Math"/>
              </a:rPr>
              <a:t>𝑢</a:t>
            </a:r>
            <a:endParaRPr sz="29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432816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510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0" b="1">
                <a:solidFill>
                  <a:srgbClr val="60B5CC"/>
                </a:solidFill>
                <a:latin typeface="Calibri"/>
                <a:cs typeface="Calibri"/>
              </a:rPr>
              <a:t>Task: </a:t>
            </a:r>
            <a:r>
              <a:rPr dirty="0" spc="-5" b="1">
                <a:solidFill>
                  <a:srgbClr val="60B5CC"/>
                </a:solidFill>
                <a:latin typeface="Calibri"/>
                <a:cs typeface="Calibri"/>
              </a:rPr>
              <a:t>map nodes </a:t>
            </a:r>
            <a:r>
              <a:rPr dirty="0" spc="-20" b="1">
                <a:solidFill>
                  <a:srgbClr val="60B5CC"/>
                </a:solidFill>
                <a:latin typeface="Calibri"/>
                <a:cs typeface="Calibri"/>
              </a:rPr>
              <a:t>into </a:t>
            </a:r>
            <a:r>
              <a:rPr dirty="0" spc="-5" b="1">
                <a:solidFill>
                  <a:srgbClr val="60B5CC"/>
                </a:solidFill>
                <a:latin typeface="Calibri"/>
                <a:cs typeface="Calibri"/>
              </a:rPr>
              <a:t>an embedding</a:t>
            </a:r>
            <a:r>
              <a:rPr dirty="0" spc="3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60B5CC"/>
                </a:solidFill>
                <a:latin typeface="Calibri"/>
                <a:cs typeface="Calibri"/>
              </a:rPr>
              <a:t>space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838440" cy="23450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29337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Similarity of embeddings </a:t>
            </a:r>
            <a:r>
              <a:rPr dirty="0" sz="2800" spc="-10">
                <a:latin typeface="Calibri"/>
                <a:cs typeface="Calibri"/>
              </a:rPr>
              <a:t>between </a:t>
            </a: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80">
                <a:latin typeface="Calibri"/>
                <a:cs typeface="Calibri"/>
              </a:rPr>
              <a:t>indicates  </a:t>
            </a:r>
            <a:r>
              <a:rPr dirty="0" sz="2800" spc="-5">
                <a:latin typeface="Calibri"/>
                <a:cs typeface="Calibri"/>
              </a:rPr>
              <a:t>their similarity in the </a:t>
            </a:r>
            <a:r>
              <a:rPr dirty="0" sz="2800" spc="-10">
                <a:latin typeface="Calibri"/>
                <a:cs typeface="Calibri"/>
              </a:rPr>
              <a:t>network. </a:t>
            </a:r>
            <a:r>
              <a:rPr dirty="0" sz="2800" spc="-15">
                <a:latin typeface="Calibri"/>
                <a:cs typeface="Calibri"/>
              </a:rPr>
              <a:t>For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lvl="1" marL="55181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1815" algn="l"/>
              </a:tabLst>
            </a:pPr>
            <a:r>
              <a:rPr dirty="0" sz="2400" spc="-5">
                <a:latin typeface="Calibri"/>
                <a:cs typeface="Calibri"/>
              </a:rPr>
              <a:t>Both nodes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5">
                <a:latin typeface="Calibri"/>
                <a:cs typeface="Calibri"/>
              </a:rPr>
              <a:t>close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each other </a:t>
            </a:r>
            <a:r>
              <a:rPr dirty="0" sz="2400" spc="-10">
                <a:latin typeface="Calibri"/>
                <a:cs typeface="Calibri"/>
              </a:rPr>
              <a:t>(connected by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80">
                <a:latin typeface="Calibri"/>
                <a:cs typeface="Calibri"/>
              </a:rPr>
              <a:t> </a:t>
            </a:r>
            <a:r>
              <a:rPr dirty="0" sz="2400" spc="-95">
                <a:latin typeface="Calibri"/>
                <a:cs typeface="Calibri"/>
              </a:rPr>
              <a:t>edge)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Encode network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Potentially </a:t>
            </a:r>
            <a:r>
              <a:rPr dirty="0" sz="2800" spc="-5">
                <a:latin typeface="Calibri"/>
                <a:cs typeface="Calibri"/>
              </a:rPr>
              <a:t>used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15">
                <a:latin typeface="Calibri"/>
                <a:cs typeface="Calibri"/>
              </a:rPr>
              <a:t>many downstream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predictions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47159" y="5131700"/>
          <a:ext cx="3177540" cy="448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6364"/>
                <a:gridCol w="526364"/>
                <a:gridCol w="526364"/>
                <a:gridCol w="526364"/>
                <a:gridCol w="526364"/>
                <a:gridCol w="526364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053513" y="5577230"/>
            <a:ext cx="3158490" cy="387985"/>
          </a:xfrm>
          <a:custGeom>
            <a:avLst/>
            <a:gdLst/>
            <a:ahLst/>
            <a:cxnLst/>
            <a:rect l="l" t="t" r="r" b="b"/>
            <a:pathLst>
              <a:path w="3158490" h="387985">
                <a:moveTo>
                  <a:pt x="3158184" y="0"/>
                </a:moveTo>
                <a:lnTo>
                  <a:pt x="3153232" y="44457"/>
                </a:lnTo>
                <a:lnTo>
                  <a:pt x="3139127" y="85269"/>
                </a:lnTo>
                <a:lnTo>
                  <a:pt x="3116995" y="121269"/>
                </a:lnTo>
                <a:lnTo>
                  <a:pt x="3087961" y="151296"/>
                </a:lnTo>
                <a:lnTo>
                  <a:pt x="3053150" y="174185"/>
                </a:lnTo>
                <a:lnTo>
                  <a:pt x="3013688" y="188771"/>
                </a:lnTo>
                <a:lnTo>
                  <a:pt x="2970700" y="193892"/>
                </a:lnTo>
                <a:lnTo>
                  <a:pt x="1774914" y="193892"/>
                </a:lnTo>
                <a:lnTo>
                  <a:pt x="1731925" y="199013"/>
                </a:lnTo>
                <a:lnTo>
                  <a:pt x="1692462" y="213599"/>
                </a:lnTo>
                <a:lnTo>
                  <a:pt x="1657651" y="236488"/>
                </a:lnTo>
                <a:lnTo>
                  <a:pt x="1628617" y="266515"/>
                </a:lnTo>
                <a:lnTo>
                  <a:pt x="1606485" y="302515"/>
                </a:lnTo>
                <a:lnTo>
                  <a:pt x="1592380" y="343327"/>
                </a:lnTo>
                <a:lnTo>
                  <a:pt x="1587429" y="387785"/>
                </a:lnTo>
                <a:lnTo>
                  <a:pt x="1582477" y="343327"/>
                </a:lnTo>
                <a:lnTo>
                  <a:pt x="1568373" y="302515"/>
                </a:lnTo>
                <a:lnTo>
                  <a:pt x="1546241" y="266515"/>
                </a:lnTo>
                <a:lnTo>
                  <a:pt x="1517206" y="236488"/>
                </a:lnTo>
                <a:lnTo>
                  <a:pt x="1482395" y="213599"/>
                </a:lnTo>
                <a:lnTo>
                  <a:pt x="1442933" y="199013"/>
                </a:lnTo>
                <a:lnTo>
                  <a:pt x="1399945" y="193892"/>
                </a:lnTo>
                <a:lnTo>
                  <a:pt x="187484" y="193892"/>
                </a:lnTo>
                <a:lnTo>
                  <a:pt x="144495" y="188771"/>
                </a:lnTo>
                <a:lnTo>
                  <a:pt x="105033" y="174185"/>
                </a:lnTo>
                <a:lnTo>
                  <a:pt x="70222" y="151296"/>
                </a:lnTo>
                <a:lnTo>
                  <a:pt x="41188" y="121269"/>
                </a:lnTo>
                <a:lnTo>
                  <a:pt x="19056" y="85269"/>
                </a:lnTo>
                <a:lnTo>
                  <a:pt x="4951" y="44457"/>
                </a:lnTo>
                <a:lnTo>
                  <a:pt x="0" y="0"/>
                </a:lnTo>
              </a:path>
            </a:pathLst>
          </a:custGeom>
          <a:ln w="6350">
            <a:solidFill>
              <a:srgbClr val="9611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66737" y="4653788"/>
            <a:ext cx="551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35" b="1">
                <a:solidFill>
                  <a:srgbClr val="961100"/>
                </a:solidFill>
                <a:latin typeface="Arial"/>
                <a:cs typeface="Arial"/>
              </a:rPr>
              <a:t>V</a:t>
            </a:r>
            <a:r>
              <a:rPr dirty="0" sz="2400" b="1">
                <a:solidFill>
                  <a:srgbClr val="961100"/>
                </a:solidFill>
                <a:latin typeface="Arial"/>
                <a:cs typeface="Arial"/>
              </a:rPr>
              <a:t>ec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7223" y="5975604"/>
            <a:ext cx="3282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ℝ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0436" y="5940552"/>
            <a:ext cx="21272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80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368" y="5997955"/>
            <a:ext cx="1657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Arial"/>
                <a:cs typeface="Arial"/>
              </a:rPr>
              <a:t>embeddings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93819" y="5092396"/>
            <a:ext cx="978535" cy="485140"/>
          </a:xfrm>
          <a:custGeom>
            <a:avLst/>
            <a:gdLst/>
            <a:ahLst/>
            <a:cxnLst/>
            <a:rect l="l" t="t" r="r" b="b"/>
            <a:pathLst>
              <a:path w="978535" h="485139">
                <a:moveTo>
                  <a:pt x="0" y="121158"/>
                </a:moveTo>
                <a:lnTo>
                  <a:pt x="736092" y="121158"/>
                </a:lnTo>
                <a:lnTo>
                  <a:pt x="736092" y="0"/>
                </a:lnTo>
                <a:lnTo>
                  <a:pt x="978408" y="242316"/>
                </a:lnTo>
                <a:lnTo>
                  <a:pt x="736092" y="484632"/>
                </a:lnTo>
                <a:lnTo>
                  <a:pt x="736092" y="363473"/>
                </a:lnTo>
                <a:lnTo>
                  <a:pt x="0" y="363473"/>
                </a:lnTo>
                <a:lnTo>
                  <a:pt x="0" y="12115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870385" y="4678171"/>
            <a:ext cx="3016885" cy="20281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7725">
              <a:lnSpc>
                <a:spcPts val="2795"/>
              </a:lnSpc>
              <a:spcBef>
                <a:spcPts val="100"/>
              </a:spcBef>
            </a:pPr>
            <a:r>
              <a:rPr dirty="0" sz="2400" spc="-40" b="1">
                <a:solidFill>
                  <a:srgbClr val="0070C0"/>
                </a:solidFill>
                <a:latin typeface="Arial"/>
                <a:cs typeface="Arial"/>
              </a:rPr>
              <a:t>Tasks</a:t>
            </a:r>
            <a:endParaRPr sz="2400">
              <a:latin typeface="Arial"/>
              <a:cs typeface="Arial"/>
            </a:endParaRPr>
          </a:p>
          <a:p>
            <a:pPr marL="298450" indent="-285750">
              <a:lnSpc>
                <a:spcPts val="2075"/>
              </a:lnSpc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Node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classification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Link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prediction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ts val="2125"/>
              </a:lnSpc>
              <a:spcBef>
                <a:spcPts val="45"/>
              </a:spcBef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Graph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classification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ts val="2125"/>
              </a:lnSpc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Anomalous node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detection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45"/>
              </a:spcBef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45"/>
              </a:spcBef>
              <a:buChar char="•"/>
              <a:tabLst>
                <a:tab pos="297815" algn="l"/>
                <a:tab pos="298450" algn="l"/>
              </a:tabLst>
            </a:pPr>
            <a:r>
              <a:rPr dirty="0" sz="1800">
                <a:latin typeface="Arial"/>
                <a:cs typeface="Arial"/>
              </a:rPr>
              <a:t>….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044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1580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1">
                <a:latin typeface="Calibri"/>
                <a:cs typeface="Calibri"/>
              </a:rPr>
              <a:t>2D </a:t>
            </a:r>
            <a:r>
              <a:rPr dirty="0" spc="-5" b="1">
                <a:latin typeface="Calibri"/>
                <a:cs typeface="Calibri"/>
              </a:rPr>
              <a:t>embedding </a:t>
            </a:r>
            <a:r>
              <a:rPr dirty="0" b="1">
                <a:latin typeface="Calibri"/>
                <a:cs typeface="Calibri"/>
              </a:rPr>
              <a:t>of </a:t>
            </a:r>
            <a:r>
              <a:rPr dirty="0" spc="-5" b="1">
                <a:latin typeface="Calibri"/>
                <a:cs typeface="Calibri"/>
              </a:rPr>
              <a:t>nodes </a:t>
            </a:r>
            <a:r>
              <a:rPr dirty="0" b="1">
                <a:latin typeface="Calibri"/>
                <a:cs typeface="Calibri"/>
              </a:rPr>
              <a:t>of </a:t>
            </a:r>
            <a:r>
              <a:rPr dirty="0" spc="-5" b="1">
                <a:latin typeface="Calibri"/>
                <a:cs typeface="Calibri"/>
              </a:rPr>
              <a:t>the </a:t>
            </a:r>
            <a:r>
              <a:rPr dirty="0" spc="-15" b="1">
                <a:latin typeface="Calibri"/>
                <a:cs typeface="Calibri"/>
              </a:rPr>
              <a:t>Zachary’s  </a:t>
            </a:r>
            <a:r>
              <a:rPr dirty="0" spc="-35" b="1">
                <a:latin typeface="Calibri"/>
                <a:cs typeface="Calibri"/>
              </a:rPr>
              <a:t>Karate </a:t>
            </a:r>
            <a:r>
              <a:rPr dirty="0" spc="-5" b="1">
                <a:latin typeface="Calibri"/>
                <a:cs typeface="Calibri"/>
              </a:rPr>
              <a:t>Club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network:</a:t>
            </a:r>
          </a:p>
        </p:txBody>
      </p:sp>
      <p:sp>
        <p:nvSpPr>
          <p:cNvPr id="4" name="object 4"/>
          <p:cNvSpPr/>
          <p:nvPr/>
        </p:nvSpPr>
        <p:spPr>
          <a:xfrm>
            <a:off x="402295" y="2577373"/>
            <a:ext cx="8311069" cy="35521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7320" y="6353555"/>
            <a:ext cx="702055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">
                <a:solidFill>
                  <a:srgbClr val="7F7F7F"/>
                </a:solidFill>
                <a:latin typeface="Arial"/>
                <a:cs typeface="Arial"/>
              </a:rPr>
              <a:t>Image </a:t>
            </a:r>
            <a:r>
              <a:rPr dirty="0" sz="1400" spc="-20">
                <a:solidFill>
                  <a:srgbClr val="7F7F7F"/>
                </a:solidFill>
                <a:latin typeface="Arial"/>
                <a:cs typeface="Arial"/>
              </a:rPr>
              <a:t>from: </a:t>
            </a:r>
            <a:r>
              <a:rPr dirty="0" sz="1400" spc="-50" u="sng">
                <a:solidFill>
                  <a:srgbClr val="168BBA"/>
                </a:solidFill>
                <a:latin typeface="Arial"/>
                <a:cs typeface="Arial"/>
              </a:rPr>
              <a:t>Perozzi </a:t>
            </a:r>
            <a:r>
              <a:rPr dirty="0" sz="1400" spc="-20" u="sng">
                <a:solidFill>
                  <a:srgbClr val="168BBA"/>
                </a:solidFill>
                <a:latin typeface="Arial"/>
                <a:cs typeface="Arial"/>
              </a:rPr>
              <a:t>et </a:t>
            </a:r>
            <a:r>
              <a:rPr dirty="0" sz="1400" spc="-40" u="sng">
                <a:solidFill>
                  <a:srgbClr val="168BBA"/>
                </a:solidFill>
                <a:latin typeface="Arial"/>
                <a:cs typeface="Arial"/>
              </a:rPr>
              <a:t>al</a:t>
            </a:r>
            <a:r>
              <a:rPr dirty="0" sz="1400" spc="-40">
                <a:solidFill>
                  <a:srgbClr val="7F7F7F"/>
                </a:solidFill>
                <a:latin typeface="Arial"/>
                <a:cs typeface="Arial"/>
              </a:rPr>
              <a:t>. DeepWalk: </a:t>
            </a:r>
            <a:r>
              <a:rPr dirty="0" sz="1400" spc="-50">
                <a:solidFill>
                  <a:srgbClr val="7F7F7F"/>
                </a:solidFill>
                <a:latin typeface="Arial"/>
                <a:cs typeface="Arial"/>
              </a:rPr>
              <a:t>Online </a:t>
            </a:r>
            <a:r>
              <a:rPr dirty="0" sz="1400" spc="-35">
                <a:solidFill>
                  <a:srgbClr val="7F7F7F"/>
                </a:solidFill>
                <a:latin typeface="Arial"/>
                <a:cs typeface="Arial"/>
              </a:rPr>
              <a:t>Learning </a:t>
            </a:r>
            <a:r>
              <a:rPr dirty="0" sz="1400" spc="-20">
                <a:solidFill>
                  <a:srgbClr val="7F7F7F"/>
                </a:solidFill>
                <a:latin typeface="Arial"/>
                <a:cs typeface="Arial"/>
              </a:rPr>
              <a:t>of </a:t>
            </a:r>
            <a:r>
              <a:rPr dirty="0" sz="1400" spc="-35">
                <a:solidFill>
                  <a:srgbClr val="7F7F7F"/>
                </a:solidFill>
                <a:latin typeface="Arial"/>
                <a:cs typeface="Arial"/>
              </a:rPr>
              <a:t>Social </a:t>
            </a:r>
            <a:r>
              <a:rPr dirty="0" sz="1400" spc="-30">
                <a:solidFill>
                  <a:srgbClr val="7F7F7F"/>
                </a:solidFill>
                <a:latin typeface="Arial"/>
                <a:cs typeface="Arial"/>
              </a:rPr>
              <a:t>Representations. </a:t>
            </a:r>
            <a:r>
              <a:rPr dirty="0" sz="1400" spc="-45" i="1">
                <a:solidFill>
                  <a:srgbClr val="7F7F7F"/>
                </a:solidFill>
                <a:latin typeface="Arial"/>
                <a:cs typeface="Arial"/>
              </a:rPr>
              <a:t>KDD </a:t>
            </a:r>
            <a:r>
              <a:rPr dirty="0" sz="14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400" spc="-5" i="1">
                <a:solidFill>
                  <a:srgbClr val="7F7F7F"/>
                </a:solidFill>
                <a:latin typeface="Arial"/>
                <a:cs typeface="Arial"/>
              </a:rPr>
              <a:t>2014.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002279"/>
            <a:ext cx="5468112" cy="1886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78628"/>
            <a:ext cx="5547995" cy="12496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CS224W: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Machine Learning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with Graphs 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Jure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Stanford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3200" spc="-15">
                <a:solidFill>
                  <a:srgbClr val="FFFFFF"/>
                </a:solidFill>
                <a:latin typeface="Arial"/>
                <a:cs typeface="Arial"/>
                <a:hlinkClick r:id="rId5"/>
              </a:rPr>
              <a:t>http://cs224w.stanford.edu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1426464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9618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Assume </a:t>
            </a:r>
            <a:r>
              <a:rPr dirty="0" spc="-15" b="1">
                <a:latin typeface="Calibri"/>
                <a:cs typeface="Calibri"/>
              </a:rPr>
              <a:t>we </a:t>
            </a:r>
            <a:r>
              <a:rPr dirty="0" spc="-25" b="1">
                <a:latin typeface="Calibri"/>
                <a:cs typeface="Calibri"/>
              </a:rPr>
              <a:t>have </a:t>
            </a:r>
            <a:r>
              <a:rPr dirty="0" b="1">
                <a:latin typeface="Calibri"/>
                <a:cs typeface="Calibri"/>
              </a:rPr>
              <a:t>a </a:t>
            </a:r>
            <a:r>
              <a:rPr dirty="0" spc="-20" b="1">
                <a:latin typeface="Calibri"/>
                <a:cs typeface="Calibri"/>
              </a:rPr>
              <a:t>graph</a:t>
            </a:r>
            <a:r>
              <a:rPr dirty="0" spc="-35" b="1">
                <a:latin typeface="Calibri"/>
                <a:cs typeface="Calibri"/>
              </a:rPr>
              <a:t> </a:t>
            </a:r>
            <a:r>
              <a:rPr dirty="0" sz="3100" spc="40" b="1">
                <a:latin typeface="Cambria Math"/>
                <a:cs typeface="Cambria Math"/>
              </a:rPr>
              <a:t>G</a:t>
            </a:r>
            <a:r>
              <a:rPr dirty="0" sz="3200" spc="40" b="1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9906" y="4203904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79848" y="4203904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09906" y="4889702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89257" y="4177433"/>
            <a:ext cx="1738630" cy="376555"/>
          </a:xfrm>
          <a:custGeom>
            <a:avLst/>
            <a:gdLst/>
            <a:ahLst/>
            <a:cxnLst/>
            <a:rect l="l" t="t" r="r" b="b"/>
            <a:pathLst>
              <a:path w="1738629" h="376554">
                <a:moveTo>
                  <a:pt x="1738160" y="376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82624" y="4995671"/>
            <a:ext cx="405384" cy="405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25637" y="501289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19" y="0"/>
                </a:moveTo>
                <a:lnTo>
                  <a:pt x="109440" y="8157"/>
                </a:lnTo>
                <a:lnTo>
                  <a:pt x="65513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3" y="289165"/>
                </a:lnTo>
                <a:lnTo>
                  <a:pt x="109440" y="311881"/>
                </a:lnTo>
                <a:lnTo>
                  <a:pt x="160019" y="320040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39" y="160020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25637" y="501289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99342" y="50134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41703" y="3995928"/>
            <a:ext cx="408432" cy="4084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85883" y="401496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40" y="160019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85883" y="401496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67455" y="4383023"/>
            <a:ext cx="408431" cy="408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312185" y="440185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12185" y="440185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52472" y="4715255"/>
            <a:ext cx="405384" cy="405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95578" y="473286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95578" y="473286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56563" y="1826259"/>
            <a:ext cx="6391910" cy="286512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mbria Math"/>
                <a:cs typeface="Cambria Math"/>
              </a:rPr>
              <a:t>V </a:t>
            </a: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25">
                <a:latin typeface="Calibri"/>
                <a:cs typeface="Calibri"/>
              </a:rPr>
              <a:t>vertex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set.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SzPct val="101818"/>
              <a:buFont typeface="Malgun Gothic"/>
              <a:buChar char="▪"/>
              <a:tabLst>
                <a:tab pos="287020" algn="l"/>
              </a:tabLst>
            </a:pPr>
            <a:r>
              <a:rPr dirty="0" baseline="1010" sz="4125" spc="82" b="1">
                <a:latin typeface="Cambria Math"/>
                <a:cs typeface="Cambria Math"/>
              </a:rPr>
              <a:t>A </a:t>
            </a:r>
            <a:r>
              <a:rPr dirty="0" sz="2800" spc="-5">
                <a:latin typeface="Calibri"/>
                <a:cs typeface="Calibri"/>
              </a:rPr>
              <a:t>is the adjacency </a:t>
            </a:r>
            <a:r>
              <a:rPr dirty="0" sz="2800" spc="-10">
                <a:latin typeface="Calibri"/>
                <a:cs typeface="Calibri"/>
              </a:rPr>
              <a:t>matrix </a:t>
            </a:r>
            <a:r>
              <a:rPr dirty="0" sz="2800" spc="-5">
                <a:latin typeface="Calibri"/>
                <a:cs typeface="Calibri"/>
              </a:rPr>
              <a:t>(assume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binary).</a:t>
            </a:r>
            <a:endParaRPr sz="2800">
              <a:latin typeface="Calibri"/>
              <a:cs typeface="Calibri"/>
            </a:endParaRPr>
          </a:p>
          <a:p>
            <a:pPr marL="287020" marR="20193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For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simplicity: no node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features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or </a:t>
            </a:r>
            <a:r>
              <a:rPr dirty="0" sz="2800" spc="-145" b="1">
                <a:solidFill>
                  <a:srgbClr val="0070C0"/>
                </a:solidFill>
                <a:latin typeface="Calibri"/>
                <a:cs typeface="Calibri"/>
              </a:rPr>
              <a:t>extra 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information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is</a:t>
            </a:r>
            <a:r>
              <a:rPr dirty="0" sz="2800" spc="-2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used</a:t>
            </a:r>
            <a:endParaRPr sz="2800">
              <a:latin typeface="Calibri"/>
              <a:cs typeface="Calibri"/>
            </a:endParaRPr>
          </a:p>
          <a:p>
            <a:pPr marL="612140">
              <a:lnSpc>
                <a:spcPct val="100000"/>
              </a:lnSpc>
              <a:spcBef>
                <a:spcPts val="164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 algn="ctr" marR="1346200">
              <a:lnSpc>
                <a:spcPct val="100000"/>
              </a:lnSpc>
              <a:spcBef>
                <a:spcPts val="79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7"/>
              </a:rPr>
              <a:t>http://cs224w.stanford.edu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8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78906" y="47574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12727" y="5112711"/>
            <a:ext cx="146685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75">
                <a:latin typeface="Symbol"/>
                <a:cs typeface="Symbol"/>
              </a:rPr>
              <a:t>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12727" y="5919397"/>
            <a:ext cx="146685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60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31337" y="5919397"/>
            <a:ext cx="146685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60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31337" y="5616704"/>
            <a:ext cx="33401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315">
                <a:latin typeface="Symbol"/>
                <a:cs typeface="Symbol"/>
              </a:rPr>
              <a:t></a:t>
            </a:r>
            <a:r>
              <a:rPr dirty="0" baseline="-28455" sz="3075" spc="-472">
                <a:latin typeface="Symbol"/>
                <a:cs typeface="Symbol"/>
              </a:rPr>
              <a:t></a:t>
            </a:r>
            <a:r>
              <a:rPr dirty="0" baseline="-28455" sz="3075" spc="-562">
                <a:latin typeface="Times New Roman"/>
                <a:cs typeface="Times New Roman"/>
              </a:rPr>
              <a:t> </a:t>
            </a:r>
            <a:r>
              <a:rPr dirty="0" baseline="-51490" sz="3075" spc="315">
                <a:latin typeface="Times New Roman"/>
                <a:cs typeface="Times New Roman"/>
              </a:rPr>
              <a:t>1</a:t>
            </a:r>
            <a:endParaRPr baseline="-51490" sz="307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27840" y="5364722"/>
            <a:ext cx="33147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20325" sz="3075" spc="630">
                <a:latin typeface="Times New Roman"/>
                <a:cs typeface="Times New Roman"/>
              </a:rPr>
              <a:t>1</a:t>
            </a:r>
            <a:r>
              <a:rPr dirty="0" sz="2050" spc="-175">
                <a:latin typeface="Symbol"/>
                <a:cs typeface="Symbol"/>
              </a:rPr>
              <a:t>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31337" y="5364722"/>
            <a:ext cx="33655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60">
                <a:latin typeface="Symbol"/>
                <a:cs typeface="Symbol"/>
              </a:rPr>
              <a:t></a:t>
            </a:r>
            <a:r>
              <a:rPr dirty="0" sz="2050" spc="-365">
                <a:latin typeface="Times New Roman"/>
                <a:cs typeface="Times New Roman"/>
              </a:rPr>
              <a:t> </a:t>
            </a:r>
            <a:r>
              <a:rPr dirty="0" baseline="-20325" sz="3075" spc="315">
                <a:latin typeface="Times New Roman"/>
                <a:cs typeface="Times New Roman"/>
              </a:rPr>
              <a:t>0</a:t>
            </a:r>
            <a:endParaRPr baseline="-20325" sz="307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31337" y="4673078"/>
            <a:ext cx="1828164" cy="1524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ts val="1970"/>
              </a:lnSpc>
              <a:spcBef>
                <a:spcPts val="120"/>
              </a:spcBef>
              <a:tabLst>
                <a:tab pos="598805" algn="l"/>
                <a:tab pos="1049655" algn="l"/>
                <a:tab pos="1496060" algn="l"/>
              </a:tabLst>
            </a:pPr>
            <a:r>
              <a:rPr dirty="0" baseline="-4065" sz="3075" spc="240">
                <a:latin typeface="Symbol"/>
                <a:cs typeface="Symbol"/>
              </a:rPr>
              <a:t></a:t>
            </a:r>
            <a:r>
              <a:rPr dirty="0" baseline="-4065" sz="3075" spc="-397">
                <a:latin typeface="Times New Roman"/>
                <a:cs typeface="Times New Roman"/>
              </a:rPr>
              <a:t> 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1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>
                <a:latin typeface="Times New Roman"/>
                <a:cs typeface="Times New Roman"/>
              </a:rPr>
              <a:t>	</a:t>
            </a:r>
            <a:r>
              <a:rPr dirty="0" sz="2050" spc="420">
                <a:latin typeface="Times New Roman"/>
                <a:cs typeface="Times New Roman"/>
              </a:rPr>
              <a:t>1</a:t>
            </a:r>
            <a:r>
              <a:rPr dirty="0" baseline="-4065" sz="3075" spc="240">
                <a:latin typeface="Symbol"/>
                <a:cs typeface="Symbol"/>
              </a:rPr>
              <a:t></a:t>
            </a:r>
            <a:endParaRPr baseline="-4065" sz="3075">
              <a:latin typeface="Symbol"/>
              <a:cs typeface="Symbol"/>
            </a:endParaRPr>
          </a:p>
          <a:p>
            <a:pPr algn="ctr">
              <a:lnSpc>
                <a:spcPts val="1555"/>
              </a:lnSpc>
              <a:tabLst>
                <a:tab pos="1680845" algn="l"/>
              </a:tabLst>
            </a:pPr>
            <a:r>
              <a:rPr dirty="0" sz="2050" spc="160">
                <a:latin typeface="Symbol"/>
                <a:cs typeface="Symbol"/>
              </a:rPr>
              <a:t></a:t>
            </a:r>
            <a:r>
              <a:rPr dirty="0" sz="2050" spc="160">
                <a:latin typeface="Times New Roman"/>
                <a:cs typeface="Times New Roman"/>
              </a:rPr>
              <a:t>	</a:t>
            </a:r>
            <a:r>
              <a:rPr dirty="0" sz="2050" spc="-175">
                <a:latin typeface="Symbol"/>
                <a:cs typeface="Symbol"/>
              </a:rPr>
              <a:t></a:t>
            </a:r>
            <a:endParaRPr sz="2050">
              <a:latin typeface="Symbol"/>
              <a:cs typeface="Symbol"/>
            </a:endParaRPr>
          </a:p>
          <a:p>
            <a:pPr algn="ctr" marL="1905">
              <a:lnSpc>
                <a:spcPts val="2045"/>
              </a:lnSpc>
              <a:tabLst>
                <a:tab pos="452755" algn="l"/>
                <a:tab pos="901700" algn="l"/>
                <a:tab pos="1348105" algn="l"/>
              </a:tabLst>
            </a:pPr>
            <a:r>
              <a:rPr dirty="0" sz="2050" spc="210">
                <a:latin typeface="Times New Roman"/>
                <a:cs typeface="Times New Roman"/>
              </a:rPr>
              <a:t>1	0	0	1</a:t>
            </a:r>
            <a:endParaRPr sz="2050">
              <a:latin typeface="Times New Roman"/>
              <a:cs typeface="Times New Roman"/>
            </a:endParaRPr>
          </a:p>
          <a:p>
            <a:pPr marL="614045">
              <a:lnSpc>
                <a:spcPct val="100000"/>
              </a:lnSpc>
              <a:spcBef>
                <a:spcPts val="645"/>
              </a:spcBef>
              <a:tabLst>
                <a:tab pos="1062355" algn="l"/>
                <a:tab pos="1693545" algn="l"/>
              </a:tabLst>
            </a:pP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 spc="210">
                <a:latin typeface="Times New Roman"/>
                <a:cs typeface="Times New Roman"/>
              </a:rPr>
              <a:t>	</a:t>
            </a:r>
            <a:r>
              <a:rPr dirty="0" sz="2050" spc="210">
                <a:latin typeface="Times New Roman"/>
                <a:cs typeface="Times New Roman"/>
              </a:rPr>
              <a:t>0</a:t>
            </a:r>
            <a:r>
              <a:rPr dirty="0" sz="2050" spc="210">
                <a:latin typeface="Times New Roman"/>
                <a:cs typeface="Times New Roman"/>
              </a:rPr>
              <a:t>	</a:t>
            </a:r>
            <a:r>
              <a:rPr dirty="0" baseline="-32520" sz="3075" spc="-1695">
                <a:latin typeface="Symbol"/>
                <a:cs typeface="Symbol"/>
              </a:rPr>
              <a:t></a:t>
            </a:r>
            <a:r>
              <a:rPr dirty="0" baseline="-62330" sz="3075" spc="-262">
                <a:latin typeface="Symbol"/>
                <a:cs typeface="Symbol"/>
              </a:rPr>
              <a:t></a:t>
            </a:r>
            <a:endParaRPr baseline="-62330" sz="3075">
              <a:latin typeface="Symbol"/>
              <a:cs typeface="Symbol"/>
            </a:endParaRPr>
          </a:p>
          <a:p>
            <a:pPr marL="611505">
              <a:lnSpc>
                <a:spcPct val="100000"/>
              </a:lnSpc>
              <a:spcBef>
                <a:spcPts val="645"/>
              </a:spcBef>
              <a:tabLst>
                <a:tab pos="1059815" algn="l"/>
                <a:tab pos="1511300" algn="l"/>
              </a:tabLst>
            </a:pPr>
            <a:r>
              <a:rPr dirty="0" sz="2050" spc="210">
                <a:latin typeface="Times New Roman"/>
                <a:cs typeface="Times New Roman"/>
              </a:rPr>
              <a:t>1	1	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38259" y="5260628"/>
            <a:ext cx="64008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260" i="1">
                <a:latin typeface="Times New Roman"/>
                <a:cs typeface="Times New Roman"/>
              </a:rPr>
              <a:t>A</a:t>
            </a:r>
            <a:r>
              <a:rPr dirty="0" sz="2050" spc="-360" i="1">
                <a:latin typeface="Times New Roman"/>
                <a:cs typeface="Times New Roman"/>
              </a:rPr>
              <a:t> </a:t>
            </a:r>
            <a:r>
              <a:rPr dirty="0" sz="2050" spc="229">
                <a:latin typeface="Symbol"/>
                <a:cs typeface="Symbol"/>
              </a:rPr>
              <a:t></a:t>
            </a:r>
            <a:r>
              <a:rPr dirty="0" sz="2050" spc="229">
                <a:latin typeface="Times New Roman"/>
                <a:cs typeface="Times New Roman"/>
              </a:rPr>
              <a:t> </a:t>
            </a:r>
            <a:r>
              <a:rPr dirty="0" baseline="31165" sz="3075" spc="240">
                <a:latin typeface="Symbol"/>
                <a:cs typeface="Symbol"/>
              </a:rPr>
              <a:t></a:t>
            </a:r>
            <a:endParaRPr baseline="31165" sz="3075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46892" y="5369052"/>
            <a:ext cx="23469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V</a:t>
            </a:r>
            <a:r>
              <a:rPr dirty="0" sz="3200">
                <a:latin typeface="Arial"/>
                <a:cs typeface="Arial"/>
              </a:rPr>
              <a:t>: </a:t>
            </a:r>
            <a:r>
              <a:rPr dirty="0" sz="3200" spc="-5">
                <a:latin typeface="Arial"/>
                <a:cs typeface="Arial"/>
              </a:rPr>
              <a:t>{1, 2, 3,</a:t>
            </a:r>
            <a:r>
              <a:rPr dirty="0" sz="3200" spc="-95">
                <a:latin typeface="Arial"/>
                <a:cs typeface="Arial"/>
              </a:rPr>
              <a:t> </a:t>
            </a:r>
            <a:r>
              <a:rPr dirty="0" sz="3200" spc="-5">
                <a:latin typeface="Arial"/>
                <a:cs typeface="Arial"/>
              </a:rPr>
              <a:t>4}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4897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3522" y="1379220"/>
            <a:ext cx="7534909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Goal </a:t>
            </a:r>
            <a:r>
              <a:rPr dirty="0"/>
              <a:t>is </a:t>
            </a:r>
            <a:r>
              <a:rPr dirty="0" spc="-15"/>
              <a:t>to </a:t>
            </a:r>
            <a:r>
              <a:rPr dirty="0" spc="-10"/>
              <a:t>encode </a:t>
            </a:r>
            <a:r>
              <a:rPr dirty="0" spc="-5"/>
              <a:t>nodes so </a:t>
            </a:r>
            <a:r>
              <a:rPr dirty="0" spc="-10"/>
              <a:t>that </a:t>
            </a:r>
            <a:r>
              <a:rPr dirty="0" spc="-5">
                <a:solidFill>
                  <a:srgbClr val="0000FF"/>
                </a:solidFill>
              </a:rPr>
              <a:t>similarity </a:t>
            </a:r>
            <a:r>
              <a:rPr dirty="0">
                <a:solidFill>
                  <a:srgbClr val="0000FF"/>
                </a:solidFill>
              </a:rPr>
              <a:t>in  the </a:t>
            </a:r>
            <a:r>
              <a:rPr dirty="0" spc="-5">
                <a:solidFill>
                  <a:srgbClr val="0000FF"/>
                </a:solidFill>
              </a:rPr>
              <a:t>embedding space </a:t>
            </a:r>
            <a:r>
              <a:rPr dirty="0">
                <a:solidFill>
                  <a:srgbClr val="0000FF"/>
                </a:solidFill>
              </a:rPr>
              <a:t>(e.g., </a:t>
            </a:r>
            <a:r>
              <a:rPr dirty="0" spc="-5">
                <a:solidFill>
                  <a:srgbClr val="0000FF"/>
                </a:solidFill>
              </a:rPr>
              <a:t>dot </a:t>
            </a:r>
            <a:r>
              <a:rPr dirty="0" spc="-10">
                <a:solidFill>
                  <a:srgbClr val="0000FF"/>
                </a:solidFill>
              </a:rPr>
              <a:t>product) </a:t>
            </a:r>
            <a:r>
              <a:rPr dirty="0" spc="-10"/>
              <a:t> </a:t>
            </a:r>
            <a:r>
              <a:rPr dirty="0" spc="-20"/>
              <a:t>approximates </a:t>
            </a:r>
            <a:r>
              <a:rPr dirty="0" spc="-5">
                <a:solidFill>
                  <a:srgbClr val="C00000"/>
                </a:solidFill>
              </a:rPr>
              <a:t>similarity </a:t>
            </a:r>
            <a:r>
              <a:rPr dirty="0">
                <a:solidFill>
                  <a:srgbClr val="C00000"/>
                </a:solidFill>
              </a:rPr>
              <a:t>in the</a:t>
            </a:r>
            <a:r>
              <a:rPr dirty="0" spc="55">
                <a:solidFill>
                  <a:srgbClr val="C00000"/>
                </a:solidFill>
              </a:rPr>
              <a:t> </a:t>
            </a:r>
            <a:r>
              <a:rPr dirty="0" spc="-15">
                <a:solidFill>
                  <a:srgbClr val="C00000"/>
                </a:solidFill>
              </a:rPr>
              <a:t>graph</a:t>
            </a:r>
          </a:p>
        </p:txBody>
      </p:sp>
      <p:sp>
        <p:nvSpPr>
          <p:cNvPr id="4" name="object 4"/>
          <p:cNvSpPr/>
          <p:nvPr/>
        </p:nvSpPr>
        <p:spPr>
          <a:xfrm>
            <a:off x="562320" y="2959712"/>
            <a:ext cx="7990185" cy="34517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8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2320" y="2657929"/>
            <a:ext cx="7990185" cy="34517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4489704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2637" y="1656778"/>
            <a:ext cx="954405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0">
                <a:latin typeface="Arial"/>
                <a:cs typeface="Arial"/>
              </a:rPr>
              <a:t>G</a:t>
            </a:r>
            <a:r>
              <a:rPr dirty="0" sz="3100" spc="5">
                <a:latin typeface="Arial"/>
                <a:cs typeface="Arial"/>
              </a:rPr>
              <a:t>o</a:t>
            </a:r>
            <a:r>
              <a:rPr dirty="0" sz="3100" spc="-65">
                <a:latin typeface="Arial"/>
                <a:cs typeface="Arial"/>
              </a:rPr>
              <a:t>a</a:t>
            </a:r>
            <a:r>
              <a:rPr dirty="0" sz="3100" spc="-100">
                <a:latin typeface="Arial"/>
                <a:cs typeface="Arial"/>
              </a:rPr>
              <a:t>l</a:t>
            </a:r>
            <a:r>
              <a:rPr dirty="0" sz="3100" spc="25">
                <a:latin typeface="Arial"/>
                <a:cs typeface="Arial"/>
              </a:rPr>
              <a:t>: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6399" y="2609472"/>
            <a:ext cx="3342640" cy="541655"/>
          </a:xfrm>
          <a:custGeom>
            <a:avLst/>
            <a:gdLst/>
            <a:ahLst/>
            <a:cxnLst/>
            <a:rect l="l" t="t" r="r" b="b"/>
            <a:pathLst>
              <a:path w="3342640" h="541655">
                <a:moveTo>
                  <a:pt x="3318456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517097"/>
                </a:lnTo>
                <a:lnTo>
                  <a:pt x="1886" y="526439"/>
                </a:lnTo>
                <a:lnTo>
                  <a:pt x="7029" y="534067"/>
                </a:lnTo>
                <a:lnTo>
                  <a:pt x="14658" y="539211"/>
                </a:lnTo>
                <a:lnTo>
                  <a:pt x="24000" y="541097"/>
                </a:lnTo>
                <a:lnTo>
                  <a:pt x="3318456" y="541097"/>
                </a:lnTo>
                <a:lnTo>
                  <a:pt x="3327798" y="539211"/>
                </a:lnTo>
                <a:lnTo>
                  <a:pt x="3335426" y="534067"/>
                </a:lnTo>
                <a:lnTo>
                  <a:pt x="3340569" y="526439"/>
                </a:lnTo>
                <a:lnTo>
                  <a:pt x="3342455" y="517097"/>
                </a:lnTo>
                <a:lnTo>
                  <a:pt x="3342455" y="512297"/>
                </a:lnTo>
                <a:lnTo>
                  <a:pt x="28799" y="512297"/>
                </a:lnTo>
                <a:lnTo>
                  <a:pt x="28799" y="28799"/>
                </a:lnTo>
                <a:lnTo>
                  <a:pt x="3342455" y="28799"/>
                </a:lnTo>
                <a:lnTo>
                  <a:pt x="3342455" y="24000"/>
                </a:lnTo>
                <a:lnTo>
                  <a:pt x="3340569" y="14658"/>
                </a:lnTo>
                <a:lnTo>
                  <a:pt x="3335426" y="7029"/>
                </a:lnTo>
                <a:lnTo>
                  <a:pt x="3327798" y="1886"/>
                </a:lnTo>
                <a:lnTo>
                  <a:pt x="3318456" y="0"/>
                </a:lnTo>
                <a:close/>
              </a:path>
              <a:path w="3342640" h="541655">
                <a:moveTo>
                  <a:pt x="3342455" y="28799"/>
                </a:moveTo>
                <a:lnTo>
                  <a:pt x="3313656" y="28799"/>
                </a:lnTo>
                <a:lnTo>
                  <a:pt x="3313656" y="512297"/>
                </a:lnTo>
                <a:lnTo>
                  <a:pt x="3342455" y="512297"/>
                </a:lnTo>
                <a:lnTo>
                  <a:pt x="3342455" y="28799"/>
                </a:lnTo>
                <a:close/>
              </a:path>
              <a:path w="3342640" h="541655">
                <a:moveTo>
                  <a:pt x="3304056" y="38399"/>
                </a:moveTo>
                <a:lnTo>
                  <a:pt x="38399" y="38399"/>
                </a:lnTo>
                <a:lnTo>
                  <a:pt x="38399" y="502696"/>
                </a:lnTo>
                <a:lnTo>
                  <a:pt x="3304056" y="502696"/>
                </a:lnTo>
                <a:lnTo>
                  <a:pt x="3304056" y="493096"/>
                </a:lnTo>
                <a:lnTo>
                  <a:pt x="48000" y="493096"/>
                </a:lnTo>
                <a:lnTo>
                  <a:pt x="48000" y="47999"/>
                </a:lnTo>
                <a:lnTo>
                  <a:pt x="3304056" y="47999"/>
                </a:lnTo>
                <a:lnTo>
                  <a:pt x="3304056" y="38399"/>
                </a:lnTo>
                <a:close/>
              </a:path>
              <a:path w="3342640" h="541655">
                <a:moveTo>
                  <a:pt x="3304056" y="47999"/>
                </a:moveTo>
                <a:lnTo>
                  <a:pt x="3294456" y="47999"/>
                </a:lnTo>
                <a:lnTo>
                  <a:pt x="3294456" y="493096"/>
                </a:lnTo>
                <a:lnTo>
                  <a:pt x="3304056" y="493096"/>
                </a:lnTo>
                <a:lnTo>
                  <a:pt x="3304056" y="4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36382" y="3585173"/>
            <a:ext cx="1250950" cy="422909"/>
          </a:xfrm>
          <a:custGeom>
            <a:avLst/>
            <a:gdLst/>
            <a:ahLst/>
            <a:cxnLst/>
            <a:rect l="l" t="t" r="r" b="b"/>
            <a:pathLst>
              <a:path w="1250950" h="422910">
                <a:moveTo>
                  <a:pt x="0" y="0"/>
                </a:moveTo>
                <a:lnTo>
                  <a:pt x="1250842" y="0"/>
                </a:lnTo>
                <a:lnTo>
                  <a:pt x="1250842" y="422494"/>
                </a:lnTo>
                <a:lnTo>
                  <a:pt x="0" y="422494"/>
                </a:lnTo>
                <a:lnTo>
                  <a:pt x="0" y="0"/>
                </a:lnTo>
                <a:close/>
              </a:path>
            </a:pathLst>
          </a:custGeom>
          <a:solidFill>
            <a:srgbClr val="E66C7D">
              <a:alpha val="3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74012" y="5248997"/>
            <a:ext cx="1250950" cy="422909"/>
          </a:xfrm>
          <a:custGeom>
            <a:avLst/>
            <a:gdLst/>
            <a:ahLst/>
            <a:cxnLst/>
            <a:rect l="l" t="t" r="r" b="b"/>
            <a:pathLst>
              <a:path w="1250950" h="422910">
                <a:moveTo>
                  <a:pt x="0" y="0"/>
                </a:moveTo>
                <a:lnTo>
                  <a:pt x="1250843" y="0"/>
                </a:lnTo>
                <a:lnTo>
                  <a:pt x="1250843" y="422495"/>
                </a:lnTo>
                <a:lnTo>
                  <a:pt x="0" y="422495"/>
                </a:lnTo>
                <a:lnTo>
                  <a:pt x="0" y="0"/>
                </a:lnTo>
                <a:close/>
              </a:path>
            </a:pathLst>
          </a:custGeom>
          <a:solidFill>
            <a:srgbClr val="E66C7D">
              <a:alpha val="3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9636" y="1680259"/>
            <a:ext cx="2689225" cy="765810"/>
          </a:xfrm>
          <a:custGeom>
            <a:avLst/>
            <a:gdLst/>
            <a:ahLst/>
            <a:cxnLst/>
            <a:rect l="l" t="t" r="r" b="b"/>
            <a:pathLst>
              <a:path w="2689225" h="765810">
                <a:moveTo>
                  <a:pt x="0" y="0"/>
                </a:moveTo>
                <a:lnTo>
                  <a:pt x="2688879" y="0"/>
                </a:lnTo>
                <a:lnTo>
                  <a:pt x="2688879" y="765743"/>
                </a:lnTo>
                <a:lnTo>
                  <a:pt x="0" y="765743"/>
                </a:lnTo>
                <a:lnTo>
                  <a:pt x="0" y="0"/>
                </a:lnTo>
                <a:close/>
              </a:path>
            </a:pathLst>
          </a:custGeom>
          <a:solidFill>
            <a:srgbClr val="6BB76D">
              <a:alpha val="3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39868" y="2580322"/>
            <a:ext cx="269494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-5">
                <a:solidFill>
                  <a:srgbClr val="C00000"/>
                </a:solidFill>
                <a:latin typeface="Arial"/>
                <a:cs typeface="Arial"/>
              </a:rPr>
              <a:t>Need </a:t>
            </a:r>
            <a:r>
              <a:rPr dirty="0" sz="3100" spc="65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31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100" spc="-35">
                <a:solidFill>
                  <a:srgbClr val="C00000"/>
                </a:solidFill>
                <a:latin typeface="Arial"/>
                <a:cs typeface="Arial"/>
              </a:rPr>
              <a:t>define!</a:t>
            </a:r>
            <a:endParaRPr sz="31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46789" y="3140157"/>
            <a:ext cx="637540" cy="394335"/>
          </a:xfrm>
          <a:custGeom>
            <a:avLst/>
            <a:gdLst/>
            <a:ahLst/>
            <a:cxnLst/>
            <a:rect l="l" t="t" r="r" b="b"/>
            <a:pathLst>
              <a:path w="637539" h="394335">
                <a:moveTo>
                  <a:pt x="567436" y="362640"/>
                </a:moveTo>
                <a:lnTo>
                  <a:pt x="552521" y="387013"/>
                </a:lnTo>
                <a:lnTo>
                  <a:pt x="637402" y="394291"/>
                </a:lnTo>
                <a:lnTo>
                  <a:pt x="623500" y="372016"/>
                </a:lnTo>
                <a:lnTo>
                  <a:pt x="582756" y="372016"/>
                </a:lnTo>
                <a:lnTo>
                  <a:pt x="567436" y="362640"/>
                </a:lnTo>
                <a:close/>
              </a:path>
              <a:path w="637539" h="394335">
                <a:moveTo>
                  <a:pt x="577380" y="346391"/>
                </a:moveTo>
                <a:lnTo>
                  <a:pt x="567436" y="362640"/>
                </a:lnTo>
                <a:lnTo>
                  <a:pt x="582756" y="372016"/>
                </a:lnTo>
                <a:lnTo>
                  <a:pt x="588619" y="370603"/>
                </a:lnTo>
                <a:lnTo>
                  <a:pt x="594111" y="361629"/>
                </a:lnTo>
                <a:lnTo>
                  <a:pt x="592700" y="355766"/>
                </a:lnTo>
                <a:lnTo>
                  <a:pt x="577380" y="346391"/>
                </a:lnTo>
                <a:close/>
              </a:path>
              <a:path w="637539" h="394335">
                <a:moveTo>
                  <a:pt x="592296" y="322018"/>
                </a:moveTo>
                <a:lnTo>
                  <a:pt x="577380" y="346391"/>
                </a:lnTo>
                <a:lnTo>
                  <a:pt x="592700" y="355766"/>
                </a:lnTo>
                <a:lnTo>
                  <a:pt x="594111" y="361629"/>
                </a:lnTo>
                <a:lnTo>
                  <a:pt x="588619" y="370603"/>
                </a:lnTo>
                <a:lnTo>
                  <a:pt x="582756" y="372016"/>
                </a:lnTo>
                <a:lnTo>
                  <a:pt x="623500" y="372016"/>
                </a:lnTo>
                <a:lnTo>
                  <a:pt x="592296" y="322018"/>
                </a:lnTo>
                <a:close/>
              </a:path>
              <a:path w="637539" h="394335">
                <a:moveTo>
                  <a:pt x="11355" y="0"/>
                </a:moveTo>
                <a:lnTo>
                  <a:pt x="5491" y="1412"/>
                </a:lnTo>
                <a:lnTo>
                  <a:pt x="0" y="10386"/>
                </a:lnTo>
                <a:lnTo>
                  <a:pt x="1410" y="16248"/>
                </a:lnTo>
                <a:lnTo>
                  <a:pt x="567436" y="362640"/>
                </a:lnTo>
                <a:lnTo>
                  <a:pt x="577380" y="346391"/>
                </a:lnTo>
                <a:lnTo>
                  <a:pt x="113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77018" y="3115933"/>
            <a:ext cx="608330" cy="1945639"/>
          </a:xfrm>
          <a:custGeom>
            <a:avLst/>
            <a:gdLst/>
            <a:ahLst/>
            <a:cxnLst/>
            <a:rect l="l" t="t" r="r" b="b"/>
            <a:pathLst>
              <a:path w="608329" h="1945639">
                <a:moveTo>
                  <a:pt x="562154" y="1875375"/>
                </a:moveTo>
                <a:lnTo>
                  <a:pt x="534793" y="1883614"/>
                </a:lnTo>
                <a:lnTo>
                  <a:pt x="593244" y="1945594"/>
                </a:lnTo>
                <a:lnTo>
                  <a:pt x="601917" y="1895426"/>
                </a:lnTo>
                <a:lnTo>
                  <a:pt x="572645" y="1895426"/>
                </a:lnTo>
                <a:lnTo>
                  <a:pt x="567331" y="1892571"/>
                </a:lnTo>
                <a:lnTo>
                  <a:pt x="562154" y="1875375"/>
                </a:lnTo>
                <a:close/>
              </a:path>
              <a:path w="608329" h="1945639">
                <a:moveTo>
                  <a:pt x="580395" y="1869883"/>
                </a:moveTo>
                <a:lnTo>
                  <a:pt x="562154" y="1875375"/>
                </a:lnTo>
                <a:lnTo>
                  <a:pt x="567331" y="1892571"/>
                </a:lnTo>
                <a:lnTo>
                  <a:pt x="572645" y="1895426"/>
                </a:lnTo>
                <a:lnTo>
                  <a:pt x="582719" y="1892392"/>
                </a:lnTo>
                <a:lnTo>
                  <a:pt x="585572" y="1887080"/>
                </a:lnTo>
                <a:lnTo>
                  <a:pt x="580395" y="1869883"/>
                </a:lnTo>
                <a:close/>
              </a:path>
              <a:path w="608329" h="1945639">
                <a:moveTo>
                  <a:pt x="607757" y="1861644"/>
                </a:moveTo>
                <a:lnTo>
                  <a:pt x="580395" y="1869883"/>
                </a:lnTo>
                <a:lnTo>
                  <a:pt x="585572" y="1887080"/>
                </a:lnTo>
                <a:lnTo>
                  <a:pt x="582719" y="1892392"/>
                </a:lnTo>
                <a:lnTo>
                  <a:pt x="572645" y="1895426"/>
                </a:lnTo>
                <a:lnTo>
                  <a:pt x="601917" y="1895426"/>
                </a:lnTo>
                <a:lnTo>
                  <a:pt x="607757" y="1861644"/>
                </a:lnTo>
                <a:close/>
              </a:path>
              <a:path w="608329" h="1945639">
                <a:moveTo>
                  <a:pt x="12928" y="0"/>
                </a:moveTo>
                <a:lnTo>
                  <a:pt x="2853" y="3032"/>
                </a:lnTo>
                <a:lnTo>
                  <a:pt x="0" y="8346"/>
                </a:lnTo>
                <a:lnTo>
                  <a:pt x="562154" y="1875375"/>
                </a:lnTo>
                <a:lnTo>
                  <a:pt x="580395" y="1869883"/>
                </a:lnTo>
                <a:lnTo>
                  <a:pt x="18241" y="2853"/>
                </a:lnTo>
                <a:lnTo>
                  <a:pt x="129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04033" y="2411307"/>
            <a:ext cx="386080" cy="208915"/>
          </a:xfrm>
          <a:custGeom>
            <a:avLst/>
            <a:gdLst/>
            <a:ahLst/>
            <a:cxnLst/>
            <a:rect l="l" t="t" r="r" b="b"/>
            <a:pathLst>
              <a:path w="386079" h="208914">
                <a:moveTo>
                  <a:pt x="71845" y="27117"/>
                </a:moveTo>
                <a:lnTo>
                  <a:pt x="62959" y="43968"/>
                </a:lnTo>
                <a:lnTo>
                  <a:pt x="375137" y="208587"/>
                </a:lnTo>
                <a:lnTo>
                  <a:pt x="380898" y="206805"/>
                </a:lnTo>
                <a:lnTo>
                  <a:pt x="385805" y="197498"/>
                </a:lnTo>
                <a:lnTo>
                  <a:pt x="384022" y="191736"/>
                </a:lnTo>
                <a:lnTo>
                  <a:pt x="71845" y="27117"/>
                </a:lnTo>
                <a:close/>
              </a:path>
              <a:path w="386079" h="208914">
                <a:moveTo>
                  <a:pt x="0" y="0"/>
                </a:moveTo>
                <a:lnTo>
                  <a:pt x="49631" y="69244"/>
                </a:lnTo>
                <a:lnTo>
                  <a:pt x="62959" y="43968"/>
                </a:lnTo>
                <a:lnTo>
                  <a:pt x="47072" y="35590"/>
                </a:lnTo>
                <a:lnTo>
                  <a:pt x="45289" y="29829"/>
                </a:lnTo>
                <a:lnTo>
                  <a:pt x="50196" y="20523"/>
                </a:lnTo>
                <a:lnTo>
                  <a:pt x="55958" y="18740"/>
                </a:lnTo>
                <a:lnTo>
                  <a:pt x="76262" y="18740"/>
                </a:lnTo>
                <a:lnTo>
                  <a:pt x="85173" y="1841"/>
                </a:lnTo>
                <a:lnTo>
                  <a:pt x="0" y="0"/>
                </a:lnTo>
                <a:close/>
              </a:path>
              <a:path w="386079" h="208914">
                <a:moveTo>
                  <a:pt x="55958" y="18740"/>
                </a:moveTo>
                <a:lnTo>
                  <a:pt x="50196" y="20523"/>
                </a:lnTo>
                <a:lnTo>
                  <a:pt x="45289" y="29829"/>
                </a:lnTo>
                <a:lnTo>
                  <a:pt x="47072" y="35590"/>
                </a:lnTo>
                <a:lnTo>
                  <a:pt x="62959" y="43968"/>
                </a:lnTo>
                <a:lnTo>
                  <a:pt x="71845" y="27117"/>
                </a:lnTo>
                <a:lnTo>
                  <a:pt x="55958" y="18740"/>
                </a:lnTo>
                <a:close/>
              </a:path>
              <a:path w="386079" h="208914">
                <a:moveTo>
                  <a:pt x="76262" y="18740"/>
                </a:moveTo>
                <a:lnTo>
                  <a:pt x="55958" y="18740"/>
                </a:lnTo>
                <a:lnTo>
                  <a:pt x="71845" y="27117"/>
                </a:lnTo>
                <a:lnTo>
                  <a:pt x="76262" y="18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618374" y="2117851"/>
            <a:ext cx="21145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in the original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network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26940" y="2154427"/>
            <a:ext cx="2597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Similarity </a:t>
            </a:r>
            <a:r>
              <a:rPr dirty="0" sz="1800">
                <a:latin typeface="Times New Roman"/>
                <a:cs typeface="Times New Roman"/>
              </a:rPr>
              <a:t>of </a:t>
            </a:r>
            <a:r>
              <a:rPr dirty="0" sz="1800" spc="-5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embedding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86780" y="1754839"/>
            <a:ext cx="894715" cy="376555"/>
          </a:xfrm>
          <a:custGeom>
            <a:avLst/>
            <a:gdLst/>
            <a:ahLst/>
            <a:cxnLst/>
            <a:rect l="l" t="t" r="r" b="b"/>
            <a:pathLst>
              <a:path w="894714" h="376555">
                <a:moveTo>
                  <a:pt x="774042" y="0"/>
                </a:moveTo>
                <a:lnTo>
                  <a:pt x="768684" y="15279"/>
                </a:lnTo>
                <a:lnTo>
                  <a:pt x="790474" y="24736"/>
                </a:lnTo>
                <a:lnTo>
                  <a:pt x="809214" y="37826"/>
                </a:lnTo>
                <a:lnTo>
                  <a:pt x="837542" y="74909"/>
                </a:lnTo>
                <a:lnTo>
                  <a:pt x="854210" y="124940"/>
                </a:lnTo>
                <a:lnTo>
                  <a:pt x="859767" y="186333"/>
                </a:lnTo>
                <a:lnTo>
                  <a:pt x="858371" y="219533"/>
                </a:lnTo>
                <a:lnTo>
                  <a:pt x="847209" y="276783"/>
                </a:lnTo>
                <a:lnTo>
                  <a:pt x="824811" y="321493"/>
                </a:lnTo>
                <a:lnTo>
                  <a:pt x="790729" y="351655"/>
                </a:lnTo>
                <a:lnTo>
                  <a:pt x="769279" y="361156"/>
                </a:lnTo>
                <a:lnTo>
                  <a:pt x="774042" y="376435"/>
                </a:lnTo>
                <a:lnTo>
                  <a:pt x="825387" y="352350"/>
                </a:lnTo>
                <a:lnTo>
                  <a:pt x="863140" y="310653"/>
                </a:lnTo>
                <a:lnTo>
                  <a:pt x="886357" y="254818"/>
                </a:lnTo>
                <a:lnTo>
                  <a:pt x="894096" y="188316"/>
                </a:lnTo>
                <a:lnTo>
                  <a:pt x="892155" y="153807"/>
                </a:lnTo>
                <a:lnTo>
                  <a:pt x="876627" y="92639"/>
                </a:lnTo>
                <a:lnTo>
                  <a:pt x="845832" y="42843"/>
                </a:lnTo>
                <a:lnTo>
                  <a:pt x="801333" y="9853"/>
                </a:lnTo>
                <a:lnTo>
                  <a:pt x="774042" y="0"/>
                </a:lnTo>
                <a:close/>
              </a:path>
              <a:path w="894714" h="376555">
                <a:moveTo>
                  <a:pt x="120055" y="0"/>
                </a:moveTo>
                <a:lnTo>
                  <a:pt x="68833" y="24134"/>
                </a:lnTo>
                <a:lnTo>
                  <a:pt x="31056" y="65980"/>
                </a:lnTo>
                <a:lnTo>
                  <a:pt x="7764" y="121915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3" y="366594"/>
                </a:lnTo>
                <a:lnTo>
                  <a:pt x="120055" y="376435"/>
                </a:lnTo>
                <a:lnTo>
                  <a:pt x="124818" y="361156"/>
                </a:lnTo>
                <a:lnTo>
                  <a:pt x="103368" y="351655"/>
                </a:lnTo>
                <a:lnTo>
                  <a:pt x="84857" y="338435"/>
                </a:lnTo>
                <a:lnTo>
                  <a:pt x="56654" y="300831"/>
                </a:lnTo>
                <a:lnTo>
                  <a:pt x="39911" y="249683"/>
                </a:lnTo>
                <a:lnTo>
                  <a:pt x="34330" y="186333"/>
                </a:lnTo>
                <a:lnTo>
                  <a:pt x="35725" y="154216"/>
                </a:lnTo>
                <a:lnTo>
                  <a:pt x="46887" y="98505"/>
                </a:lnTo>
                <a:lnTo>
                  <a:pt x="69323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566725" y="1641348"/>
            <a:ext cx="24828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2930" algn="l"/>
              </a:tabLst>
            </a:pPr>
            <a:r>
              <a:rPr dirty="0" spc="-5">
                <a:latin typeface="Cambria Math"/>
                <a:cs typeface="Cambria Math"/>
              </a:rPr>
              <a:t>similarity	</a:t>
            </a:r>
            <a:r>
              <a:rPr dirty="0" spc="30">
                <a:latin typeface="Cambria Math"/>
                <a:cs typeface="Cambria Math"/>
              </a:rPr>
              <a:t>𝑢,</a:t>
            </a:r>
            <a:r>
              <a:rPr dirty="0" spc="-254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𝑣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05683" y="1641348"/>
            <a:ext cx="13290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0245" algn="l"/>
              </a:tabLst>
            </a:pPr>
            <a:r>
              <a:rPr dirty="0" sz="3200">
                <a:latin typeface="Cambria Math"/>
                <a:cs typeface="Cambria Math"/>
              </a:rPr>
              <a:t>≈	</a:t>
            </a:r>
            <a:r>
              <a:rPr dirty="0" sz="3200" spc="85">
                <a:latin typeface="Cambria Math"/>
                <a:cs typeface="Cambria Math"/>
              </a:rPr>
              <a:t>𝐳</a:t>
            </a:r>
            <a:r>
              <a:rPr dirty="0" baseline="28985" sz="3450" spc="127">
                <a:latin typeface="Cambria Math"/>
                <a:cs typeface="Cambria Math"/>
              </a:rPr>
              <a:t>#</a:t>
            </a:r>
            <a:r>
              <a:rPr dirty="0" sz="3200" spc="85">
                <a:latin typeface="Cambria Math"/>
                <a:cs typeface="Cambria Math"/>
              </a:rPr>
              <a:t>𝐳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83761" y="1837944"/>
            <a:ext cx="64008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515" algn="l"/>
              </a:tabLst>
            </a:pPr>
            <a:r>
              <a:rPr dirty="0" sz="2300" spc="390">
                <a:latin typeface="Cambria Math"/>
                <a:cs typeface="Cambria Math"/>
              </a:rPr>
              <a:t>"</a:t>
            </a:r>
            <a:r>
              <a:rPr dirty="0" sz="2300" spc="390">
                <a:latin typeface="Cambria Math"/>
                <a:cs typeface="Cambria Math"/>
              </a:rPr>
              <a:t>	</a:t>
            </a:r>
            <a:r>
              <a:rPr dirty="0" sz="2300" spc="325">
                <a:latin typeface="Cambria Math"/>
                <a:cs typeface="Cambria Math"/>
              </a:rPr>
              <a:t>$</a:t>
            </a:r>
            <a:endParaRPr sz="2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939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7534909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030" algn="l"/>
              </a:tabLst>
            </a:pPr>
            <a:r>
              <a:rPr dirty="0" sz="2600" spc="-10" b="1">
                <a:solidFill>
                  <a:srgbClr val="F0AD00"/>
                </a:solidFill>
                <a:latin typeface="Calibri"/>
                <a:cs typeface="Calibri"/>
              </a:rPr>
              <a:t>1.	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Encoder </a:t>
            </a:r>
            <a:r>
              <a:rPr dirty="0" spc="-5"/>
              <a:t>maps </a:t>
            </a:r>
            <a:r>
              <a:rPr dirty="0" spc="-20"/>
              <a:t>from </a:t>
            </a:r>
            <a:r>
              <a:rPr dirty="0" spc="-5"/>
              <a:t>nodes </a:t>
            </a:r>
            <a:r>
              <a:rPr dirty="0" spc="-15"/>
              <a:t>to</a:t>
            </a:r>
            <a:r>
              <a:rPr dirty="0" spc="25"/>
              <a:t> </a:t>
            </a:r>
            <a:r>
              <a:rPr dirty="0" spc="-5"/>
              <a:t>embeddings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363" y="1830324"/>
            <a:ext cx="8068945" cy="247015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621665" marR="5080" indent="-608965">
              <a:lnSpc>
                <a:spcPct val="101899"/>
              </a:lnSpc>
              <a:spcBef>
                <a:spcPts val="25"/>
              </a:spcBef>
              <a:buClr>
                <a:srgbClr val="F0AD00"/>
              </a:buClr>
              <a:buSzPct val="81250"/>
              <a:buAutoNum type="arabicPeriod" startAt="2"/>
              <a:tabLst>
                <a:tab pos="621030" algn="l"/>
                <a:tab pos="621665" algn="l"/>
              </a:tabLst>
            </a:pPr>
            <a:r>
              <a:rPr dirty="0" sz="3200" spc="-10" b="1">
                <a:latin typeface="Calibri"/>
                <a:cs typeface="Calibri"/>
              </a:rPr>
              <a:t>Define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5" b="1">
                <a:latin typeface="Calibri"/>
                <a:cs typeface="Calibri"/>
              </a:rPr>
              <a:t>node similarity function </a:t>
            </a:r>
            <a:r>
              <a:rPr dirty="0" sz="3200" spc="-5">
                <a:latin typeface="Calibri"/>
                <a:cs typeface="Calibri"/>
              </a:rPr>
              <a:t>(i.e., </a:t>
            </a:r>
            <a:r>
              <a:rPr dirty="0" sz="3200">
                <a:latin typeface="Calibri"/>
                <a:cs typeface="Calibri"/>
              </a:rPr>
              <a:t>a  </a:t>
            </a:r>
            <a:r>
              <a:rPr dirty="0" sz="3200" spc="-10">
                <a:latin typeface="Calibri"/>
                <a:cs typeface="Calibri"/>
              </a:rPr>
              <a:t>measure </a:t>
            </a:r>
            <a:r>
              <a:rPr dirty="0" sz="3200" spc="-5">
                <a:latin typeface="Calibri"/>
                <a:cs typeface="Calibri"/>
              </a:rPr>
              <a:t>of similarity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5">
                <a:latin typeface="Calibri"/>
                <a:cs typeface="Calibri"/>
              </a:rPr>
              <a:t>original </a:t>
            </a:r>
            <a:r>
              <a:rPr dirty="0" sz="3200" spc="-10">
                <a:latin typeface="Calibri"/>
                <a:cs typeface="Calibri"/>
              </a:rPr>
              <a:t>network)</a:t>
            </a:r>
            <a:endParaRPr sz="3200">
              <a:latin typeface="Calibri"/>
              <a:cs typeface="Calibri"/>
            </a:endParaRPr>
          </a:p>
          <a:p>
            <a:pPr marL="621665" marR="80645" indent="-608965">
              <a:lnSpc>
                <a:spcPts val="3910"/>
              </a:lnSpc>
              <a:spcBef>
                <a:spcPts val="20"/>
              </a:spcBef>
              <a:buClr>
                <a:srgbClr val="F0AD00"/>
              </a:buClr>
              <a:buSzPct val="81250"/>
              <a:buAutoNum type="arabicPeriod" startAt="2"/>
              <a:tabLst>
                <a:tab pos="621030" algn="l"/>
                <a:tab pos="621665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Decoder </a:t>
            </a:r>
            <a:r>
              <a:rPr dirty="0" sz="3200" spc="-5">
                <a:solidFill>
                  <a:srgbClr val="6BB76D"/>
                </a:solidFill>
                <a:latin typeface="Cambria Math"/>
                <a:cs typeface="Cambria Math"/>
              </a:rPr>
              <a:t>𝐃𝐄𝐂 </a:t>
            </a:r>
            <a:r>
              <a:rPr dirty="0" sz="3200" spc="-5">
                <a:latin typeface="Calibri"/>
                <a:cs typeface="Calibri"/>
              </a:rPr>
              <a:t>maps </a:t>
            </a:r>
            <a:r>
              <a:rPr dirty="0" sz="3200" spc="-20">
                <a:latin typeface="Calibri"/>
                <a:cs typeface="Calibri"/>
              </a:rPr>
              <a:t>from </a:t>
            </a:r>
            <a:r>
              <a:rPr dirty="0" sz="3200" spc="-5">
                <a:latin typeface="Calibri"/>
                <a:cs typeface="Calibri"/>
              </a:rPr>
              <a:t>embeddings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  </a:t>
            </a:r>
            <a:r>
              <a:rPr dirty="0" sz="3200" spc="-5">
                <a:latin typeface="Calibri"/>
                <a:cs typeface="Calibri"/>
              </a:rPr>
              <a:t>similarity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score</a:t>
            </a:r>
            <a:endParaRPr sz="3200">
              <a:latin typeface="Calibri"/>
              <a:cs typeface="Calibri"/>
            </a:endParaRPr>
          </a:p>
          <a:p>
            <a:pPr marL="621665" indent="-608965">
              <a:lnSpc>
                <a:spcPts val="3650"/>
              </a:lnSpc>
              <a:buClr>
                <a:srgbClr val="F0AD00"/>
              </a:buClr>
              <a:buSzPct val="81250"/>
              <a:buAutoNum type="arabicPeriod" startAt="2"/>
              <a:tabLst>
                <a:tab pos="621030" algn="l"/>
                <a:tab pos="621665" algn="l"/>
              </a:tabLst>
            </a:pPr>
            <a:r>
              <a:rPr dirty="0" sz="3200" spc="-15" b="1">
                <a:latin typeface="Calibri"/>
                <a:cs typeface="Calibri"/>
              </a:rPr>
              <a:t>Optimize </a:t>
            </a:r>
            <a:r>
              <a:rPr dirty="0" sz="3200" spc="-5" b="1">
                <a:latin typeface="Calibri"/>
                <a:cs typeface="Calibri"/>
              </a:rPr>
              <a:t>the </a:t>
            </a:r>
            <a:r>
              <a:rPr dirty="0" sz="3200" spc="-25" b="1">
                <a:latin typeface="Calibri"/>
                <a:cs typeface="Calibri"/>
              </a:rPr>
              <a:t>parameters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5" b="1">
                <a:latin typeface="Calibri"/>
                <a:cs typeface="Calibri"/>
              </a:rPr>
              <a:t>the </a:t>
            </a:r>
            <a:r>
              <a:rPr dirty="0" sz="3200" spc="-10" b="1">
                <a:latin typeface="Calibri"/>
                <a:cs typeface="Calibri"/>
              </a:rPr>
              <a:t>encoder</a:t>
            </a:r>
            <a:r>
              <a:rPr dirty="0" sz="3200" spc="6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so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0740" y="5516371"/>
            <a:ext cx="2597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Similarity </a:t>
            </a:r>
            <a:r>
              <a:rPr dirty="0" sz="1800">
                <a:latin typeface="Times New Roman"/>
                <a:cs typeface="Times New Roman"/>
              </a:rPr>
              <a:t>of </a:t>
            </a:r>
            <a:r>
              <a:rPr dirty="0" sz="1800" spc="-5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embedding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73585" y="4580757"/>
            <a:ext cx="1858010" cy="422909"/>
          </a:xfrm>
          <a:custGeom>
            <a:avLst/>
            <a:gdLst/>
            <a:ahLst/>
            <a:cxnLst/>
            <a:rect l="l" t="t" r="r" b="b"/>
            <a:pathLst>
              <a:path w="1858009" h="422910">
                <a:moveTo>
                  <a:pt x="0" y="0"/>
                </a:moveTo>
                <a:lnTo>
                  <a:pt x="1857593" y="0"/>
                </a:lnTo>
                <a:lnTo>
                  <a:pt x="1857593" y="422494"/>
                </a:lnTo>
                <a:lnTo>
                  <a:pt x="0" y="422494"/>
                </a:lnTo>
                <a:lnTo>
                  <a:pt x="0" y="0"/>
                </a:lnTo>
                <a:close/>
              </a:path>
            </a:pathLst>
          </a:custGeom>
          <a:solidFill>
            <a:srgbClr val="E66C7D">
              <a:alpha val="309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27601" y="5057782"/>
            <a:ext cx="894715" cy="376555"/>
          </a:xfrm>
          <a:custGeom>
            <a:avLst/>
            <a:gdLst/>
            <a:ahLst/>
            <a:cxnLst/>
            <a:rect l="l" t="t" r="r" b="b"/>
            <a:pathLst>
              <a:path w="894714" h="376554">
                <a:moveTo>
                  <a:pt x="774040" y="0"/>
                </a:moveTo>
                <a:lnTo>
                  <a:pt x="768682" y="15279"/>
                </a:lnTo>
                <a:lnTo>
                  <a:pt x="790473" y="24736"/>
                </a:lnTo>
                <a:lnTo>
                  <a:pt x="809213" y="37826"/>
                </a:lnTo>
                <a:lnTo>
                  <a:pt x="837540" y="74909"/>
                </a:lnTo>
                <a:lnTo>
                  <a:pt x="854209" y="124941"/>
                </a:lnTo>
                <a:lnTo>
                  <a:pt x="859765" y="186333"/>
                </a:lnTo>
                <a:lnTo>
                  <a:pt x="858370" y="219533"/>
                </a:lnTo>
                <a:lnTo>
                  <a:pt x="847208" y="276783"/>
                </a:lnTo>
                <a:lnTo>
                  <a:pt x="824809" y="321493"/>
                </a:lnTo>
                <a:lnTo>
                  <a:pt x="790727" y="351655"/>
                </a:lnTo>
                <a:lnTo>
                  <a:pt x="769278" y="361156"/>
                </a:lnTo>
                <a:lnTo>
                  <a:pt x="774040" y="376435"/>
                </a:lnTo>
                <a:lnTo>
                  <a:pt x="825386" y="352350"/>
                </a:lnTo>
                <a:lnTo>
                  <a:pt x="863138" y="310653"/>
                </a:lnTo>
                <a:lnTo>
                  <a:pt x="886356" y="254818"/>
                </a:lnTo>
                <a:lnTo>
                  <a:pt x="894095" y="188316"/>
                </a:lnTo>
                <a:lnTo>
                  <a:pt x="892154" y="153807"/>
                </a:lnTo>
                <a:lnTo>
                  <a:pt x="876626" y="92639"/>
                </a:lnTo>
                <a:lnTo>
                  <a:pt x="845831" y="42844"/>
                </a:lnTo>
                <a:lnTo>
                  <a:pt x="801331" y="9853"/>
                </a:lnTo>
                <a:lnTo>
                  <a:pt x="774040" y="0"/>
                </a:lnTo>
                <a:close/>
              </a:path>
              <a:path w="894714" h="376554">
                <a:moveTo>
                  <a:pt x="120054" y="0"/>
                </a:moveTo>
                <a:lnTo>
                  <a:pt x="68832" y="24135"/>
                </a:lnTo>
                <a:lnTo>
                  <a:pt x="31055" y="65980"/>
                </a:lnTo>
                <a:lnTo>
                  <a:pt x="7763" y="121915"/>
                </a:lnTo>
                <a:lnTo>
                  <a:pt x="0" y="188316"/>
                </a:lnTo>
                <a:lnTo>
                  <a:pt x="1934" y="222901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3"/>
                </a:lnTo>
                <a:lnTo>
                  <a:pt x="35724" y="154216"/>
                </a:lnTo>
                <a:lnTo>
                  <a:pt x="46886" y="98505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08328" y="4082796"/>
            <a:ext cx="2981960" cy="1733550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3200" spc="-10" b="1">
                <a:latin typeface="Calibri"/>
                <a:cs typeface="Calibri"/>
              </a:rPr>
              <a:t>that:</a:t>
            </a:r>
            <a:endParaRPr sz="3200">
              <a:latin typeface="Calibri"/>
              <a:cs typeface="Calibri"/>
            </a:endParaRPr>
          </a:p>
          <a:p>
            <a:pPr marL="511809">
              <a:lnSpc>
                <a:spcPct val="100000"/>
              </a:lnSpc>
              <a:spcBef>
                <a:spcPts val="1460"/>
              </a:spcBef>
              <a:tabLst>
                <a:tab pos="2352040" algn="l"/>
              </a:tabLst>
            </a:pPr>
            <a:r>
              <a:rPr dirty="0" sz="3200" spc="-5">
                <a:latin typeface="Cambria Math"/>
                <a:cs typeface="Cambria Math"/>
              </a:rPr>
              <a:t>similarity	</a:t>
            </a:r>
            <a:r>
              <a:rPr dirty="0" sz="3200" spc="30">
                <a:latin typeface="Cambria Math"/>
                <a:cs typeface="Cambria Math"/>
              </a:rPr>
              <a:t>𝑢,</a:t>
            </a:r>
            <a:r>
              <a:rPr dirty="0" sz="3200" spc="-254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𝑣</a:t>
            </a:r>
            <a:endParaRPr sz="3200">
              <a:latin typeface="Cambria Math"/>
              <a:cs typeface="Cambria Math"/>
            </a:endParaRPr>
          </a:p>
          <a:p>
            <a:pPr marL="577850">
              <a:lnSpc>
                <a:spcPct val="100000"/>
              </a:lnSpc>
              <a:spcBef>
                <a:spcPts val="680"/>
              </a:spcBef>
            </a:pPr>
            <a:r>
              <a:rPr dirty="0" sz="1800" spc="-5">
                <a:latin typeface="Times New Roman"/>
                <a:cs typeface="Times New Roman"/>
              </a:rPr>
              <a:t>in the original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5">
                <a:latin typeface="Times New Roman"/>
                <a:cs typeface="Times New Roman"/>
              </a:rPr>
              <a:t>network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4446503" y="4942332"/>
            <a:ext cx="13290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0245" algn="l"/>
              </a:tabLst>
            </a:pPr>
            <a:r>
              <a:rPr dirty="0" sz="3200">
                <a:latin typeface="Cambria Math"/>
                <a:cs typeface="Cambria Math"/>
              </a:rPr>
              <a:t>≈	</a:t>
            </a:r>
            <a:r>
              <a:rPr dirty="0" sz="3200" spc="85">
                <a:latin typeface="Cambria Math"/>
                <a:cs typeface="Cambria Math"/>
              </a:rPr>
              <a:t>𝐳</a:t>
            </a:r>
            <a:r>
              <a:rPr dirty="0" baseline="28985" sz="3450" spc="127">
                <a:latin typeface="Cambria Math"/>
                <a:cs typeface="Cambria Math"/>
              </a:rPr>
              <a:t>#</a:t>
            </a:r>
            <a:r>
              <a:rPr dirty="0" sz="3200" spc="85">
                <a:latin typeface="Cambria Math"/>
                <a:cs typeface="Cambria Math"/>
              </a:rPr>
              <a:t>𝐳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24581" y="5138928"/>
            <a:ext cx="64008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515" algn="l"/>
              </a:tabLst>
            </a:pPr>
            <a:r>
              <a:rPr dirty="0" sz="2300" spc="390">
                <a:latin typeface="Cambria Math"/>
                <a:cs typeface="Cambria Math"/>
              </a:rPr>
              <a:t>"</a:t>
            </a:r>
            <a:r>
              <a:rPr dirty="0" sz="2300" spc="390">
                <a:latin typeface="Cambria Math"/>
                <a:cs typeface="Cambria Math"/>
              </a:rPr>
              <a:t>	</a:t>
            </a:r>
            <a:r>
              <a:rPr dirty="0" sz="2300" spc="325">
                <a:latin typeface="Cambria Math"/>
                <a:cs typeface="Cambria Math"/>
              </a:rPr>
              <a:t>$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41387" y="4728464"/>
            <a:ext cx="4032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66065" algn="l"/>
              </a:tabLst>
            </a:pPr>
            <a:r>
              <a:rPr dirty="0" sz="1500" spc="409">
                <a:latin typeface="Cambria Math"/>
                <a:cs typeface="Cambria Math"/>
              </a:rPr>
              <a:t>!</a:t>
            </a:r>
            <a:r>
              <a:rPr dirty="0" sz="1500" spc="409">
                <a:latin typeface="Cambria Math"/>
                <a:cs typeface="Cambria Math"/>
              </a:rPr>
              <a:t>	</a:t>
            </a:r>
            <a:r>
              <a:rPr dirty="0" sz="1500" spc="40">
                <a:latin typeface="Cambria Math"/>
                <a:cs typeface="Cambria Math"/>
              </a:rPr>
              <a:t>#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28599" y="4613147"/>
            <a:ext cx="1231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13155" algn="l"/>
              </a:tabLst>
            </a:pPr>
            <a:r>
              <a:rPr dirty="0" sz="2000" spc="-5">
                <a:solidFill>
                  <a:srgbClr val="6BB76D"/>
                </a:solidFill>
                <a:latin typeface="Cambria Math"/>
                <a:cs typeface="Cambria Math"/>
              </a:rPr>
              <a:t>𝐃</a:t>
            </a:r>
            <a:r>
              <a:rPr dirty="0" sz="2000">
                <a:solidFill>
                  <a:srgbClr val="6BB76D"/>
                </a:solidFill>
                <a:latin typeface="Cambria Math"/>
                <a:cs typeface="Cambria Math"/>
              </a:rPr>
              <a:t>𝐄</a:t>
            </a:r>
            <a:r>
              <a:rPr dirty="0" sz="2000" spc="-5">
                <a:solidFill>
                  <a:srgbClr val="6BB76D"/>
                </a:solidFill>
                <a:latin typeface="Cambria Math"/>
                <a:cs typeface="Cambria Math"/>
              </a:rPr>
              <a:t>𝐂</a:t>
            </a:r>
            <a:r>
              <a:rPr dirty="0" sz="2000" spc="-10">
                <a:solidFill>
                  <a:srgbClr val="6BB76D"/>
                </a:solidFill>
                <a:latin typeface="Cambria Math"/>
                <a:cs typeface="Cambria Math"/>
              </a:rPr>
              <a:t>(</a:t>
            </a:r>
            <a:r>
              <a:rPr dirty="0" sz="2000" spc="75">
                <a:latin typeface="Cambria Math"/>
                <a:cs typeface="Cambria Math"/>
              </a:rPr>
              <a:t>𝐳</a:t>
            </a:r>
            <a:r>
              <a:rPr dirty="0" baseline="27777" sz="2250" spc="622">
                <a:latin typeface="Cambria Math"/>
                <a:cs typeface="Cambria Math"/>
              </a:rPr>
              <a:t>"</a:t>
            </a:r>
            <a:r>
              <a:rPr dirty="0" sz="2000">
                <a:latin typeface="Cambria Math"/>
                <a:cs typeface="Cambria Math"/>
              </a:rPr>
              <a:t>𝐳	</a:t>
            </a:r>
            <a:r>
              <a:rPr dirty="0" sz="2000">
                <a:solidFill>
                  <a:srgbClr val="6BB76D"/>
                </a:solidFill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71856"/>
            <a:ext cx="5321808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724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Encoder: </a:t>
            </a:r>
            <a:r>
              <a:rPr dirty="0" spc="-5"/>
              <a:t>maps each node </a:t>
            </a:r>
            <a:r>
              <a:rPr dirty="0" spc="-15"/>
              <a:t>to </a:t>
            </a:r>
            <a:r>
              <a:rPr dirty="0"/>
              <a:t>a</a:t>
            </a:r>
            <a:r>
              <a:rPr dirty="0" spc="55"/>
              <a:t> </a:t>
            </a:r>
            <a:r>
              <a:rPr dirty="0" spc="-10"/>
              <a:t>low-dimensional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8149" y="1830324"/>
            <a:ext cx="10680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30">
                <a:latin typeface="Calibri"/>
                <a:cs typeface="Calibri"/>
              </a:rPr>
              <a:t>v</a:t>
            </a:r>
            <a:r>
              <a:rPr dirty="0" sz="3200" spc="-5">
                <a:latin typeface="Calibri"/>
                <a:cs typeface="Calibri"/>
              </a:rPr>
              <a:t>ec</a:t>
            </a:r>
            <a:r>
              <a:rPr dirty="0" sz="3200" spc="-3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or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8780" y="5792215"/>
            <a:ext cx="3920490" cy="842644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054100" marR="5080" indent="-1042035">
              <a:lnSpc>
                <a:spcPts val="3190"/>
              </a:lnSpc>
              <a:spcBef>
                <a:spcPts val="245"/>
              </a:spcBef>
            </a:pPr>
            <a:r>
              <a:rPr dirty="0" sz="2700" spc="10">
                <a:solidFill>
                  <a:srgbClr val="5A6378"/>
                </a:solidFill>
                <a:latin typeface="Arial"/>
                <a:cs typeface="Arial"/>
              </a:rPr>
              <a:t>dot </a:t>
            </a:r>
            <a:r>
              <a:rPr dirty="0" sz="2700" spc="-10">
                <a:solidFill>
                  <a:srgbClr val="5A6378"/>
                </a:solidFill>
                <a:latin typeface="Arial"/>
                <a:cs typeface="Arial"/>
              </a:rPr>
              <a:t>product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between</a:t>
            </a:r>
            <a:r>
              <a:rPr dirty="0" sz="2700" spc="-140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700" spc="-50">
                <a:solidFill>
                  <a:srgbClr val="5A6378"/>
                </a:solidFill>
                <a:latin typeface="Arial"/>
                <a:cs typeface="Arial"/>
              </a:rPr>
              <a:t>node 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embeddings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27531" y="5562601"/>
            <a:ext cx="266700" cy="254000"/>
          </a:xfrm>
          <a:custGeom>
            <a:avLst/>
            <a:gdLst/>
            <a:ahLst/>
            <a:cxnLst/>
            <a:rect l="l" t="t" r="r" b="b"/>
            <a:pathLst>
              <a:path w="266700" h="254000">
                <a:moveTo>
                  <a:pt x="57379" y="50241"/>
                </a:moveTo>
                <a:lnTo>
                  <a:pt x="53000" y="54840"/>
                </a:lnTo>
                <a:lnTo>
                  <a:pt x="261839" y="253660"/>
                </a:lnTo>
                <a:lnTo>
                  <a:pt x="263850" y="253610"/>
                </a:lnTo>
                <a:lnTo>
                  <a:pt x="266268" y="251070"/>
                </a:lnTo>
                <a:lnTo>
                  <a:pt x="266218" y="249061"/>
                </a:lnTo>
                <a:lnTo>
                  <a:pt x="57379" y="50241"/>
                </a:lnTo>
                <a:close/>
              </a:path>
              <a:path w="266700" h="254000">
                <a:moveTo>
                  <a:pt x="0" y="0"/>
                </a:moveTo>
                <a:lnTo>
                  <a:pt x="28919" y="80135"/>
                </a:lnTo>
                <a:lnTo>
                  <a:pt x="53000" y="54840"/>
                </a:lnTo>
                <a:lnTo>
                  <a:pt x="42532" y="44874"/>
                </a:lnTo>
                <a:lnTo>
                  <a:pt x="42482" y="42864"/>
                </a:lnTo>
                <a:lnTo>
                  <a:pt x="44900" y="40324"/>
                </a:lnTo>
                <a:lnTo>
                  <a:pt x="46911" y="40275"/>
                </a:lnTo>
                <a:lnTo>
                  <a:pt x="66867" y="40275"/>
                </a:lnTo>
                <a:lnTo>
                  <a:pt x="81460" y="24946"/>
                </a:lnTo>
                <a:lnTo>
                  <a:pt x="0" y="0"/>
                </a:lnTo>
                <a:close/>
              </a:path>
              <a:path w="266700" h="254000">
                <a:moveTo>
                  <a:pt x="46911" y="40275"/>
                </a:moveTo>
                <a:lnTo>
                  <a:pt x="44900" y="40324"/>
                </a:lnTo>
                <a:lnTo>
                  <a:pt x="42482" y="42864"/>
                </a:lnTo>
                <a:lnTo>
                  <a:pt x="42532" y="44874"/>
                </a:lnTo>
                <a:lnTo>
                  <a:pt x="53000" y="54840"/>
                </a:lnTo>
                <a:lnTo>
                  <a:pt x="57379" y="50241"/>
                </a:lnTo>
                <a:lnTo>
                  <a:pt x="46911" y="40275"/>
                </a:lnTo>
                <a:close/>
              </a:path>
              <a:path w="266700" h="254000">
                <a:moveTo>
                  <a:pt x="66867" y="40275"/>
                </a:moveTo>
                <a:lnTo>
                  <a:pt x="46911" y="40275"/>
                </a:lnTo>
                <a:lnTo>
                  <a:pt x="57379" y="50241"/>
                </a:lnTo>
                <a:lnTo>
                  <a:pt x="66867" y="40275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91504" y="5560298"/>
            <a:ext cx="539750" cy="256540"/>
          </a:xfrm>
          <a:custGeom>
            <a:avLst/>
            <a:gdLst/>
            <a:ahLst/>
            <a:cxnLst/>
            <a:rect l="l" t="t" r="r" b="b"/>
            <a:pathLst>
              <a:path w="539750" h="256539">
                <a:moveTo>
                  <a:pt x="70393" y="31648"/>
                </a:moveTo>
                <a:lnTo>
                  <a:pt x="67707" y="37402"/>
                </a:lnTo>
                <a:lnTo>
                  <a:pt x="536274" y="256072"/>
                </a:lnTo>
                <a:lnTo>
                  <a:pt x="538163" y="255385"/>
                </a:lnTo>
                <a:lnTo>
                  <a:pt x="539645" y="252207"/>
                </a:lnTo>
                <a:lnTo>
                  <a:pt x="538960" y="250318"/>
                </a:lnTo>
                <a:lnTo>
                  <a:pt x="70393" y="31648"/>
                </a:lnTo>
                <a:close/>
              </a:path>
              <a:path w="539750" h="256539">
                <a:moveTo>
                  <a:pt x="85162" y="0"/>
                </a:moveTo>
                <a:lnTo>
                  <a:pt x="0" y="2301"/>
                </a:lnTo>
                <a:lnTo>
                  <a:pt x="52938" y="69051"/>
                </a:lnTo>
                <a:lnTo>
                  <a:pt x="67707" y="37402"/>
                </a:lnTo>
                <a:lnTo>
                  <a:pt x="54610" y="31290"/>
                </a:lnTo>
                <a:lnTo>
                  <a:pt x="53922" y="29401"/>
                </a:lnTo>
                <a:lnTo>
                  <a:pt x="55406" y="26222"/>
                </a:lnTo>
                <a:lnTo>
                  <a:pt x="57296" y="25535"/>
                </a:lnTo>
                <a:lnTo>
                  <a:pt x="73245" y="25535"/>
                </a:lnTo>
                <a:lnTo>
                  <a:pt x="85162" y="0"/>
                </a:lnTo>
                <a:close/>
              </a:path>
              <a:path w="539750" h="256539">
                <a:moveTo>
                  <a:pt x="57296" y="25535"/>
                </a:moveTo>
                <a:lnTo>
                  <a:pt x="55406" y="26222"/>
                </a:lnTo>
                <a:lnTo>
                  <a:pt x="53922" y="29401"/>
                </a:lnTo>
                <a:lnTo>
                  <a:pt x="54610" y="31290"/>
                </a:lnTo>
                <a:lnTo>
                  <a:pt x="67707" y="37402"/>
                </a:lnTo>
                <a:lnTo>
                  <a:pt x="70393" y="31648"/>
                </a:lnTo>
                <a:lnTo>
                  <a:pt x="57296" y="25535"/>
                </a:lnTo>
                <a:close/>
              </a:path>
              <a:path w="539750" h="256539">
                <a:moveTo>
                  <a:pt x="73245" y="25535"/>
                </a:moveTo>
                <a:lnTo>
                  <a:pt x="57296" y="25535"/>
                </a:lnTo>
                <a:lnTo>
                  <a:pt x="70393" y="31648"/>
                </a:lnTo>
                <a:lnTo>
                  <a:pt x="73245" y="25535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13100" y="5652656"/>
            <a:ext cx="311785" cy="163830"/>
          </a:xfrm>
          <a:custGeom>
            <a:avLst/>
            <a:gdLst/>
            <a:ahLst/>
            <a:cxnLst/>
            <a:rect l="l" t="t" r="r" b="b"/>
            <a:pathLst>
              <a:path w="311785" h="163829">
                <a:moveTo>
                  <a:pt x="242435" y="32337"/>
                </a:moveTo>
                <a:lnTo>
                  <a:pt x="605" y="158087"/>
                </a:lnTo>
                <a:lnTo>
                  <a:pt x="0" y="160005"/>
                </a:lnTo>
                <a:lnTo>
                  <a:pt x="1617" y="163116"/>
                </a:lnTo>
                <a:lnTo>
                  <a:pt x="3535" y="163721"/>
                </a:lnTo>
                <a:lnTo>
                  <a:pt x="245365" y="37971"/>
                </a:lnTo>
                <a:lnTo>
                  <a:pt x="242435" y="32337"/>
                </a:lnTo>
                <a:close/>
              </a:path>
              <a:path w="311785" h="163829">
                <a:moveTo>
                  <a:pt x="292882" y="25669"/>
                </a:moveTo>
                <a:lnTo>
                  <a:pt x="255258" y="25669"/>
                </a:lnTo>
                <a:lnTo>
                  <a:pt x="257176" y="26275"/>
                </a:lnTo>
                <a:lnTo>
                  <a:pt x="258794" y="29386"/>
                </a:lnTo>
                <a:lnTo>
                  <a:pt x="258188" y="31303"/>
                </a:lnTo>
                <a:lnTo>
                  <a:pt x="245365" y="37971"/>
                </a:lnTo>
                <a:lnTo>
                  <a:pt x="261477" y="68957"/>
                </a:lnTo>
                <a:lnTo>
                  <a:pt x="292882" y="25669"/>
                </a:lnTo>
                <a:close/>
              </a:path>
              <a:path w="311785" h="163829">
                <a:moveTo>
                  <a:pt x="255258" y="25669"/>
                </a:moveTo>
                <a:lnTo>
                  <a:pt x="242435" y="32337"/>
                </a:lnTo>
                <a:lnTo>
                  <a:pt x="245365" y="37971"/>
                </a:lnTo>
                <a:lnTo>
                  <a:pt x="258188" y="31303"/>
                </a:lnTo>
                <a:lnTo>
                  <a:pt x="258794" y="29386"/>
                </a:lnTo>
                <a:lnTo>
                  <a:pt x="257176" y="26275"/>
                </a:lnTo>
                <a:lnTo>
                  <a:pt x="255258" y="25669"/>
                </a:lnTo>
                <a:close/>
              </a:path>
              <a:path w="311785" h="163829">
                <a:moveTo>
                  <a:pt x="311505" y="0"/>
                </a:moveTo>
                <a:lnTo>
                  <a:pt x="226322" y="1351"/>
                </a:lnTo>
                <a:lnTo>
                  <a:pt x="242435" y="32337"/>
                </a:lnTo>
                <a:lnTo>
                  <a:pt x="255258" y="25669"/>
                </a:lnTo>
                <a:lnTo>
                  <a:pt x="292882" y="25669"/>
                </a:lnTo>
                <a:lnTo>
                  <a:pt x="311505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979469" y="5079492"/>
            <a:ext cx="16497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dirty="0" sz="3200" spc="-5" b="1">
                <a:solidFill>
                  <a:srgbClr val="C00000"/>
                </a:solidFill>
                <a:latin typeface="Arial"/>
                <a:cs typeface="Arial"/>
              </a:rPr>
              <a:t>ecode</a:t>
            </a:r>
            <a:r>
              <a:rPr dirty="0" sz="3200" b="1">
                <a:solidFill>
                  <a:srgbClr val="C00000"/>
                </a:solidFill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4044" y="2484988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29" y="0"/>
                </a:moveTo>
                <a:lnTo>
                  <a:pt x="279411" y="11460"/>
                </a:lnTo>
                <a:lnTo>
                  <a:pt x="295754" y="18552"/>
                </a:lnTo>
                <a:lnTo>
                  <a:pt x="309809" y="28370"/>
                </a:lnTo>
                <a:lnTo>
                  <a:pt x="338347" y="73878"/>
                </a:lnTo>
                <a:lnTo>
                  <a:pt x="346681" y="115662"/>
                </a:lnTo>
                <a:lnTo>
                  <a:pt x="347723" y="139749"/>
                </a:lnTo>
                <a:lnTo>
                  <a:pt x="346677" y="164650"/>
                </a:lnTo>
                <a:lnTo>
                  <a:pt x="338306" y="207587"/>
                </a:lnTo>
                <a:lnTo>
                  <a:pt x="309827" y="253826"/>
                </a:lnTo>
                <a:lnTo>
                  <a:pt x="279858" y="270866"/>
                </a:lnTo>
                <a:lnTo>
                  <a:pt x="283429" y="282327"/>
                </a:lnTo>
                <a:lnTo>
                  <a:pt x="321939" y="264263"/>
                </a:lnTo>
                <a:lnTo>
                  <a:pt x="350253" y="232990"/>
                </a:lnTo>
                <a:lnTo>
                  <a:pt x="367666" y="191113"/>
                </a:lnTo>
                <a:lnTo>
                  <a:pt x="373471" y="141237"/>
                </a:lnTo>
                <a:lnTo>
                  <a:pt x="372015" y="115355"/>
                </a:lnTo>
                <a:lnTo>
                  <a:pt x="360369" y="69479"/>
                </a:lnTo>
                <a:lnTo>
                  <a:pt x="337273" y="32133"/>
                </a:lnTo>
                <a:lnTo>
                  <a:pt x="303898" y="7390"/>
                </a:lnTo>
                <a:lnTo>
                  <a:pt x="283429" y="0"/>
                </a:lnTo>
                <a:close/>
              </a:path>
              <a:path w="374014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680517" y="2395220"/>
            <a:ext cx="13188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230" algn="l"/>
              </a:tabLst>
            </a:pPr>
            <a:r>
              <a:rPr dirty="0" sz="2400" spc="-10">
                <a:latin typeface="Cambria Math"/>
                <a:cs typeface="Cambria Math"/>
              </a:rPr>
              <a:t>E</a:t>
            </a:r>
            <a:r>
              <a:rPr dirty="0" sz="2400">
                <a:latin typeface="Cambria Math"/>
                <a:cs typeface="Cambria Math"/>
              </a:rPr>
              <a:t>NC </a:t>
            </a:r>
            <a:r>
              <a:rPr dirty="0" sz="2400" spc="-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𝑣	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70596" y="2423100"/>
            <a:ext cx="280670" cy="404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60"/>
              </a:lnSpc>
            </a:pPr>
            <a:r>
              <a:rPr dirty="0" sz="2400">
                <a:latin typeface="Cambria Math"/>
                <a:cs typeface="Cambria Math"/>
              </a:rPr>
              <a:t>𝐳</a:t>
            </a:r>
            <a:r>
              <a:rPr dirty="0" baseline="-15432" sz="2700" spc="750" i="1">
                <a:latin typeface="Cambria Math"/>
                <a:cs typeface="Cambria Math"/>
              </a:rPr>
              <a:t>!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17242" y="5153771"/>
            <a:ext cx="894715" cy="376555"/>
          </a:xfrm>
          <a:custGeom>
            <a:avLst/>
            <a:gdLst/>
            <a:ahLst/>
            <a:cxnLst/>
            <a:rect l="l" t="t" r="r" b="b"/>
            <a:pathLst>
              <a:path w="894714" h="376554">
                <a:moveTo>
                  <a:pt x="774040" y="0"/>
                </a:moveTo>
                <a:lnTo>
                  <a:pt x="768682" y="15279"/>
                </a:lnTo>
                <a:lnTo>
                  <a:pt x="790473" y="24736"/>
                </a:lnTo>
                <a:lnTo>
                  <a:pt x="809213" y="37826"/>
                </a:lnTo>
                <a:lnTo>
                  <a:pt x="837540" y="74909"/>
                </a:lnTo>
                <a:lnTo>
                  <a:pt x="854209" y="124941"/>
                </a:lnTo>
                <a:lnTo>
                  <a:pt x="859765" y="186333"/>
                </a:lnTo>
                <a:lnTo>
                  <a:pt x="858370" y="219533"/>
                </a:lnTo>
                <a:lnTo>
                  <a:pt x="847208" y="276783"/>
                </a:lnTo>
                <a:lnTo>
                  <a:pt x="824809" y="321493"/>
                </a:lnTo>
                <a:lnTo>
                  <a:pt x="790727" y="351655"/>
                </a:lnTo>
                <a:lnTo>
                  <a:pt x="769278" y="361156"/>
                </a:lnTo>
                <a:lnTo>
                  <a:pt x="774040" y="376435"/>
                </a:lnTo>
                <a:lnTo>
                  <a:pt x="825386" y="352350"/>
                </a:lnTo>
                <a:lnTo>
                  <a:pt x="863138" y="310653"/>
                </a:lnTo>
                <a:lnTo>
                  <a:pt x="886356" y="254818"/>
                </a:lnTo>
                <a:lnTo>
                  <a:pt x="894095" y="188316"/>
                </a:lnTo>
                <a:lnTo>
                  <a:pt x="892154" y="153807"/>
                </a:lnTo>
                <a:lnTo>
                  <a:pt x="876626" y="92639"/>
                </a:lnTo>
                <a:lnTo>
                  <a:pt x="845831" y="42844"/>
                </a:lnTo>
                <a:lnTo>
                  <a:pt x="801331" y="9853"/>
                </a:lnTo>
                <a:lnTo>
                  <a:pt x="774040" y="0"/>
                </a:lnTo>
                <a:close/>
              </a:path>
              <a:path w="894714" h="376554">
                <a:moveTo>
                  <a:pt x="120054" y="0"/>
                </a:moveTo>
                <a:lnTo>
                  <a:pt x="68832" y="24135"/>
                </a:lnTo>
                <a:lnTo>
                  <a:pt x="31055" y="65980"/>
                </a:lnTo>
                <a:lnTo>
                  <a:pt x="7763" y="121915"/>
                </a:lnTo>
                <a:lnTo>
                  <a:pt x="0" y="188316"/>
                </a:lnTo>
                <a:lnTo>
                  <a:pt x="1934" y="222901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3"/>
                </a:lnTo>
                <a:lnTo>
                  <a:pt x="35724" y="154217"/>
                </a:lnTo>
                <a:lnTo>
                  <a:pt x="46886" y="98505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79125" y="4849010"/>
            <a:ext cx="4000500" cy="1685289"/>
          </a:xfrm>
          <a:prstGeom prst="rect">
            <a:avLst/>
          </a:prstGeom>
        </p:spPr>
        <p:txBody>
          <a:bodyPr wrap="square" lIns="0" tIns="203200" rIns="0" bIns="0" rtlCol="0" vert="horz">
            <a:spAutoFit/>
          </a:bodyPr>
          <a:lstStyle/>
          <a:p>
            <a:pPr marL="1530350">
              <a:lnSpc>
                <a:spcPct val="100000"/>
              </a:lnSpc>
              <a:spcBef>
                <a:spcPts val="1600"/>
              </a:spcBef>
              <a:tabLst>
                <a:tab pos="3370579" algn="l"/>
              </a:tabLst>
            </a:pPr>
            <a:r>
              <a:rPr dirty="0" sz="3200" spc="-5">
                <a:latin typeface="Cambria Math"/>
                <a:cs typeface="Cambria Math"/>
              </a:rPr>
              <a:t>similarity	</a:t>
            </a:r>
            <a:r>
              <a:rPr dirty="0" sz="3200" spc="30">
                <a:latin typeface="Cambria Math"/>
                <a:cs typeface="Cambria Math"/>
              </a:rPr>
              <a:t>𝑢,</a:t>
            </a:r>
            <a:r>
              <a:rPr dirty="0" sz="3200" spc="-254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𝑣</a:t>
            </a:r>
            <a:endParaRPr sz="3200">
              <a:latin typeface="Cambria Math"/>
              <a:cs typeface="Cambria Math"/>
            </a:endParaRPr>
          </a:p>
          <a:p>
            <a:pPr marL="198120" marR="759460" indent="-186055">
              <a:lnSpc>
                <a:spcPts val="3220"/>
              </a:lnSpc>
              <a:spcBef>
                <a:spcPts val="1390"/>
              </a:spcBef>
            </a:pPr>
            <a:r>
              <a:rPr dirty="0" sz="2700" spc="-90">
                <a:solidFill>
                  <a:srgbClr val="5A6378"/>
                </a:solidFill>
                <a:latin typeface="Arial"/>
                <a:cs typeface="Arial"/>
              </a:rPr>
              <a:t>Similarity </a:t>
            </a:r>
            <a:r>
              <a:rPr dirty="0" sz="2700" spc="-35">
                <a:solidFill>
                  <a:srgbClr val="5A6378"/>
                </a:solidFill>
                <a:latin typeface="Arial"/>
                <a:cs typeface="Arial"/>
              </a:rPr>
              <a:t>of </a:t>
            </a:r>
            <a:r>
              <a:rPr dirty="0" sz="2700">
                <a:solidFill>
                  <a:srgbClr val="5A6378"/>
                </a:solidFill>
                <a:latin typeface="Cambria Math"/>
                <a:cs typeface="Cambria Math"/>
              </a:rPr>
              <a:t>𝑢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and </a:t>
            </a:r>
            <a:r>
              <a:rPr dirty="0" sz="2700">
                <a:solidFill>
                  <a:srgbClr val="5A6378"/>
                </a:solidFill>
                <a:latin typeface="Cambria Math"/>
                <a:cs typeface="Cambria Math"/>
              </a:rPr>
              <a:t>𝑣 </a:t>
            </a:r>
            <a:r>
              <a:rPr dirty="0" sz="2700" spc="-95">
                <a:solidFill>
                  <a:srgbClr val="5A6378"/>
                </a:solidFill>
                <a:latin typeface="Arial"/>
                <a:cs typeface="Arial"/>
              </a:rPr>
              <a:t>in 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the </a:t>
            </a:r>
            <a:r>
              <a:rPr dirty="0" sz="2700" spc="-80">
                <a:solidFill>
                  <a:srgbClr val="5A6378"/>
                </a:solidFill>
                <a:latin typeface="Arial"/>
                <a:cs typeface="Arial"/>
              </a:rPr>
              <a:t>original </a:t>
            </a:r>
            <a:r>
              <a:rPr dirty="0" sz="2700" spc="-30">
                <a:solidFill>
                  <a:srgbClr val="5A6378"/>
                </a:solidFill>
                <a:latin typeface="Arial"/>
                <a:cs typeface="Arial"/>
              </a:rPr>
              <a:t>network</a:t>
            </a:r>
            <a:endParaRPr sz="2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6142" y="5039867"/>
            <a:ext cx="13290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0245" algn="l"/>
              </a:tabLst>
            </a:pPr>
            <a:r>
              <a:rPr dirty="0" sz="3200">
                <a:latin typeface="Cambria Math"/>
                <a:cs typeface="Cambria Math"/>
              </a:rPr>
              <a:t>≈	</a:t>
            </a:r>
            <a:r>
              <a:rPr dirty="0" sz="3200" spc="85">
                <a:latin typeface="Cambria Math"/>
                <a:cs typeface="Cambria Math"/>
              </a:rPr>
              <a:t>𝐳</a:t>
            </a:r>
            <a:r>
              <a:rPr dirty="0" baseline="28985" sz="3450" spc="127">
                <a:latin typeface="Cambria Math"/>
                <a:cs typeface="Cambria Math"/>
              </a:rPr>
              <a:t>#</a:t>
            </a:r>
            <a:r>
              <a:rPr dirty="0" sz="3200" spc="85">
                <a:latin typeface="Cambria Math"/>
                <a:cs typeface="Cambria Math"/>
              </a:rPr>
              <a:t>𝐳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4221" y="5236464"/>
            <a:ext cx="64008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515" algn="l"/>
              </a:tabLst>
            </a:pPr>
            <a:r>
              <a:rPr dirty="0" sz="2300" spc="390">
                <a:latin typeface="Cambria Math"/>
                <a:cs typeface="Cambria Math"/>
              </a:rPr>
              <a:t>"</a:t>
            </a:r>
            <a:r>
              <a:rPr dirty="0" sz="2300" spc="390">
                <a:latin typeface="Cambria Math"/>
                <a:cs typeface="Cambria Math"/>
              </a:rPr>
              <a:t>	</a:t>
            </a:r>
            <a:r>
              <a:rPr dirty="0" sz="2300" spc="325">
                <a:latin typeface="Cambria Math"/>
                <a:cs typeface="Cambria Math"/>
              </a:rPr>
              <a:t>$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55718" y="2857555"/>
            <a:ext cx="137795" cy="198755"/>
          </a:xfrm>
          <a:custGeom>
            <a:avLst/>
            <a:gdLst/>
            <a:ahLst/>
            <a:cxnLst/>
            <a:rect l="l" t="t" r="r" b="b"/>
            <a:pathLst>
              <a:path w="137795" h="198755">
                <a:moveTo>
                  <a:pt x="91935" y="60993"/>
                </a:moveTo>
                <a:lnTo>
                  <a:pt x="0" y="194717"/>
                </a:lnTo>
                <a:lnTo>
                  <a:pt x="365" y="196695"/>
                </a:lnTo>
                <a:lnTo>
                  <a:pt x="3255" y="198681"/>
                </a:lnTo>
                <a:lnTo>
                  <a:pt x="5232" y="198315"/>
                </a:lnTo>
                <a:lnTo>
                  <a:pt x="97168" y="64590"/>
                </a:lnTo>
                <a:lnTo>
                  <a:pt x="91935" y="60993"/>
                </a:lnTo>
                <a:close/>
              </a:path>
              <a:path w="137795" h="198755">
                <a:moveTo>
                  <a:pt x="130923" y="48717"/>
                </a:moveTo>
                <a:lnTo>
                  <a:pt x="102100" y="48717"/>
                </a:lnTo>
                <a:lnTo>
                  <a:pt x="104990" y="50703"/>
                </a:lnTo>
                <a:lnTo>
                  <a:pt x="105356" y="52680"/>
                </a:lnTo>
                <a:lnTo>
                  <a:pt x="97168" y="64590"/>
                </a:lnTo>
                <a:lnTo>
                  <a:pt x="125948" y="84376"/>
                </a:lnTo>
                <a:lnTo>
                  <a:pt x="130923" y="48717"/>
                </a:lnTo>
                <a:close/>
              </a:path>
              <a:path w="137795" h="198755">
                <a:moveTo>
                  <a:pt x="102100" y="48717"/>
                </a:moveTo>
                <a:lnTo>
                  <a:pt x="100124" y="49082"/>
                </a:lnTo>
                <a:lnTo>
                  <a:pt x="91935" y="60993"/>
                </a:lnTo>
                <a:lnTo>
                  <a:pt x="97168" y="64590"/>
                </a:lnTo>
                <a:lnTo>
                  <a:pt x="105356" y="52680"/>
                </a:lnTo>
                <a:lnTo>
                  <a:pt x="104990" y="50703"/>
                </a:lnTo>
                <a:lnTo>
                  <a:pt x="102100" y="48717"/>
                </a:lnTo>
                <a:close/>
              </a:path>
              <a:path w="137795" h="198755">
                <a:moveTo>
                  <a:pt x="137721" y="0"/>
                </a:moveTo>
                <a:lnTo>
                  <a:pt x="63155" y="41207"/>
                </a:lnTo>
                <a:lnTo>
                  <a:pt x="91935" y="60993"/>
                </a:lnTo>
                <a:lnTo>
                  <a:pt x="100124" y="49082"/>
                </a:lnTo>
                <a:lnTo>
                  <a:pt x="102100" y="48717"/>
                </a:lnTo>
                <a:lnTo>
                  <a:pt x="130923" y="48717"/>
                </a:lnTo>
                <a:lnTo>
                  <a:pt x="137721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15350" y="2480186"/>
            <a:ext cx="467359" cy="133350"/>
          </a:xfrm>
          <a:custGeom>
            <a:avLst/>
            <a:gdLst/>
            <a:ahLst/>
            <a:cxnLst/>
            <a:rect l="l" t="t" r="r" b="b"/>
            <a:pathLst>
              <a:path w="467360" h="133350">
                <a:moveTo>
                  <a:pt x="65366" y="58587"/>
                </a:moveTo>
                <a:lnTo>
                  <a:pt x="0" y="113223"/>
                </a:lnTo>
                <a:lnTo>
                  <a:pt x="82929" y="132735"/>
                </a:lnTo>
                <a:lnTo>
                  <a:pt x="75669" y="102082"/>
                </a:lnTo>
                <a:lnTo>
                  <a:pt x="60815" y="102082"/>
                </a:lnTo>
                <a:lnTo>
                  <a:pt x="59104" y="101025"/>
                </a:lnTo>
                <a:lnTo>
                  <a:pt x="58296" y="97613"/>
                </a:lnTo>
                <a:lnTo>
                  <a:pt x="59352" y="95902"/>
                </a:lnTo>
                <a:lnTo>
                  <a:pt x="73416" y="92571"/>
                </a:lnTo>
                <a:lnTo>
                  <a:pt x="65366" y="58587"/>
                </a:lnTo>
                <a:close/>
              </a:path>
              <a:path w="467360" h="133350">
                <a:moveTo>
                  <a:pt x="73416" y="92571"/>
                </a:moveTo>
                <a:lnTo>
                  <a:pt x="59352" y="95902"/>
                </a:lnTo>
                <a:lnTo>
                  <a:pt x="58296" y="97613"/>
                </a:lnTo>
                <a:lnTo>
                  <a:pt x="59104" y="101025"/>
                </a:lnTo>
                <a:lnTo>
                  <a:pt x="60815" y="102082"/>
                </a:lnTo>
                <a:lnTo>
                  <a:pt x="74880" y="98751"/>
                </a:lnTo>
                <a:lnTo>
                  <a:pt x="73416" y="92571"/>
                </a:lnTo>
                <a:close/>
              </a:path>
              <a:path w="467360" h="133350">
                <a:moveTo>
                  <a:pt x="74880" y="98751"/>
                </a:moveTo>
                <a:lnTo>
                  <a:pt x="60815" y="102082"/>
                </a:lnTo>
                <a:lnTo>
                  <a:pt x="75669" y="102082"/>
                </a:lnTo>
                <a:lnTo>
                  <a:pt x="74880" y="98751"/>
                </a:lnTo>
                <a:close/>
              </a:path>
              <a:path w="467360" h="133350">
                <a:moveTo>
                  <a:pt x="464270" y="0"/>
                </a:moveTo>
                <a:lnTo>
                  <a:pt x="73416" y="92571"/>
                </a:lnTo>
                <a:lnTo>
                  <a:pt x="74880" y="98751"/>
                </a:lnTo>
                <a:lnTo>
                  <a:pt x="465733" y="6179"/>
                </a:lnTo>
                <a:lnTo>
                  <a:pt x="466789" y="4469"/>
                </a:lnTo>
                <a:lnTo>
                  <a:pt x="465980" y="1056"/>
                </a:lnTo>
                <a:lnTo>
                  <a:pt x="464270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18108" y="2746168"/>
            <a:ext cx="6943725" cy="2291715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1040765">
              <a:lnSpc>
                <a:spcPct val="100000"/>
              </a:lnSpc>
              <a:spcBef>
                <a:spcPts val="1500"/>
              </a:spcBef>
            </a:pP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node </a:t>
            </a:r>
            <a:r>
              <a:rPr dirty="0" sz="2700" spc="-85">
                <a:solidFill>
                  <a:srgbClr val="5A6378"/>
                </a:solidFill>
                <a:latin typeface="Arial"/>
                <a:cs typeface="Arial"/>
              </a:rPr>
              <a:t>in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the </a:t>
            </a:r>
            <a:r>
              <a:rPr dirty="0" sz="2700" spc="-40">
                <a:solidFill>
                  <a:srgbClr val="5A6378"/>
                </a:solidFill>
                <a:latin typeface="Arial"/>
                <a:cs typeface="Arial"/>
              </a:rPr>
              <a:t>input</a:t>
            </a:r>
            <a:r>
              <a:rPr dirty="0" sz="2700" spc="5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700" spc="-50">
                <a:solidFill>
                  <a:srgbClr val="5A6378"/>
                </a:solidFill>
                <a:latin typeface="Arial"/>
                <a:cs typeface="Arial"/>
              </a:rPr>
              <a:t>graph</a:t>
            </a:r>
            <a:endParaRPr sz="2700">
              <a:latin typeface="Arial"/>
              <a:cs typeface="Arial"/>
            </a:endParaRPr>
          </a:p>
          <a:p>
            <a:pPr marL="332740" marR="5080" indent="-320040">
              <a:lnSpc>
                <a:spcPct val="100299"/>
              </a:lnSpc>
              <a:spcBef>
                <a:spcPts val="16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Similarity function: </a:t>
            </a:r>
            <a:r>
              <a:rPr dirty="0" sz="3200" spc="-5">
                <a:latin typeface="Calibri"/>
                <a:cs typeface="Calibri"/>
              </a:rPr>
              <a:t>specifies how </a:t>
            </a:r>
            <a:r>
              <a:rPr dirty="0" sz="3200">
                <a:latin typeface="Calibri"/>
                <a:cs typeface="Calibri"/>
              </a:rPr>
              <a:t>the  </a:t>
            </a:r>
            <a:r>
              <a:rPr dirty="0" sz="3200" spc="-10">
                <a:latin typeface="Calibri"/>
                <a:cs typeface="Calibri"/>
              </a:rPr>
              <a:t>relationships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5">
                <a:latin typeface="Calibri"/>
                <a:cs typeface="Calibri"/>
              </a:rPr>
              <a:t>vector </a:t>
            </a:r>
            <a:r>
              <a:rPr dirty="0" sz="3200" spc="-5">
                <a:latin typeface="Calibri"/>
                <a:cs typeface="Calibri"/>
              </a:rPr>
              <a:t>space </a:t>
            </a:r>
            <a:r>
              <a:rPr dirty="0" sz="3200">
                <a:latin typeface="Calibri"/>
                <a:cs typeface="Calibri"/>
              </a:rPr>
              <a:t>map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  </a:t>
            </a:r>
            <a:r>
              <a:rPr dirty="0" sz="3200" spc="-10">
                <a:latin typeface="Calibri"/>
                <a:cs typeface="Calibri"/>
              </a:rPr>
              <a:t>relationships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5">
                <a:latin typeface="Calibri"/>
                <a:cs typeface="Calibri"/>
              </a:rPr>
              <a:t>original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8918" y="1929427"/>
            <a:ext cx="2072005" cy="8737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10185" marR="5080" indent="-198120">
              <a:lnSpc>
                <a:spcPct val="100499"/>
              </a:lnSpc>
              <a:spcBef>
                <a:spcPts val="85"/>
              </a:spcBef>
            </a:pPr>
            <a:r>
              <a:rPr dirty="0" sz="2850" spc="-110" i="1">
                <a:solidFill>
                  <a:srgbClr val="5A6378"/>
                </a:solidFill>
                <a:latin typeface="Cambria Math"/>
                <a:cs typeface="Cambria Math"/>
              </a:rPr>
              <a:t>d</a:t>
            </a:r>
            <a:r>
              <a:rPr dirty="0" sz="2700" spc="75">
                <a:solidFill>
                  <a:srgbClr val="5A6378"/>
                </a:solidFill>
                <a:latin typeface="Arial"/>
                <a:cs typeface="Arial"/>
              </a:rPr>
              <a:t>-</a:t>
            </a:r>
            <a:r>
              <a:rPr dirty="0" sz="2700" spc="15">
                <a:solidFill>
                  <a:srgbClr val="5A6378"/>
                </a:solidFill>
                <a:latin typeface="Arial"/>
                <a:cs typeface="Arial"/>
              </a:rPr>
              <a:t>d</a:t>
            </a:r>
            <a:r>
              <a:rPr dirty="0" sz="2700" spc="-120">
                <a:solidFill>
                  <a:srgbClr val="5A6378"/>
                </a:solidFill>
                <a:latin typeface="Arial"/>
                <a:cs typeface="Arial"/>
              </a:rPr>
              <a:t>i</a:t>
            </a:r>
            <a:r>
              <a:rPr dirty="0" sz="2700" spc="-90">
                <a:solidFill>
                  <a:srgbClr val="5A6378"/>
                </a:solidFill>
                <a:latin typeface="Arial"/>
                <a:cs typeface="Arial"/>
              </a:rPr>
              <a:t>m</a:t>
            </a:r>
            <a:r>
              <a:rPr dirty="0" sz="2700" spc="-60">
                <a:solidFill>
                  <a:srgbClr val="5A6378"/>
                </a:solidFill>
                <a:latin typeface="Arial"/>
                <a:cs typeface="Arial"/>
              </a:rPr>
              <a:t>e</a:t>
            </a:r>
            <a:r>
              <a:rPr dirty="0" sz="2700" spc="-70">
                <a:solidFill>
                  <a:srgbClr val="5A6378"/>
                </a:solidFill>
                <a:latin typeface="Arial"/>
                <a:cs typeface="Arial"/>
              </a:rPr>
              <a:t>n</a:t>
            </a:r>
            <a:r>
              <a:rPr dirty="0" sz="2700" spc="-70">
                <a:solidFill>
                  <a:srgbClr val="5A6378"/>
                </a:solidFill>
                <a:latin typeface="Arial"/>
                <a:cs typeface="Arial"/>
              </a:rPr>
              <a:t>s</a:t>
            </a:r>
            <a:r>
              <a:rPr dirty="0" sz="2700" spc="-120">
                <a:solidFill>
                  <a:srgbClr val="5A6378"/>
                </a:solidFill>
                <a:latin typeface="Arial"/>
                <a:cs typeface="Arial"/>
              </a:rPr>
              <a:t>i</a:t>
            </a:r>
            <a:r>
              <a:rPr dirty="0" sz="2700" spc="-20">
                <a:solidFill>
                  <a:srgbClr val="5A6378"/>
                </a:solidFill>
                <a:latin typeface="Arial"/>
                <a:cs typeface="Arial"/>
              </a:rPr>
              <a:t>o</a:t>
            </a:r>
            <a:r>
              <a:rPr dirty="0" sz="2700" spc="-70">
                <a:solidFill>
                  <a:srgbClr val="5A6378"/>
                </a:solidFill>
                <a:latin typeface="Arial"/>
                <a:cs typeface="Arial"/>
              </a:rPr>
              <a:t>n</a:t>
            </a:r>
            <a:r>
              <a:rPr dirty="0" sz="2700" spc="-120">
                <a:solidFill>
                  <a:srgbClr val="5A6378"/>
                </a:solidFill>
                <a:latin typeface="Arial"/>
                <a:cs typeface="Arial"/>
              </a:rPr>
              <a:t>a</a:t>
            </a:r>
            <a:r>
              <a:rPr dirty="0" sz="2700" spc="-120">
                <a:solidFill>
                  <a:srgbClr val="5A6378"/>
                </a:solidFill>
                <a:latin typeface="Arial"/>
                <a:cs typeface="Arial"/>
              </a:rPr>
              <a:t>l  </a:t>
            </a:r>
            <a:r>
              <a:rPr dirty="0" sz="2700" spc="-45">
                <a:solidFill>
                  <a:srgbClr val="5A6378"/>
                </a:solidFill>
                <a:latin typeface="Arial"/>
                <a:cs typeface="Arial"/>
              </a:rPr>
              <a:t>embedding</a:t>
            </a:r>
            <a:endParaRPr sz="27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83421" y="2375369"/>
            <a:ext cx="452120" cy="482600"/>
          </a:xfrm>
          <a:custGeom>
            <a:avLst/>
            <a:gdLst/>
            <a:ahLst/>
            <a:cxnLst/>
            <a:rect l="l" t="t" r="r" b="b"/>
            <a:pathLst>
              <a:path w="452120" h="482600">
                <a:moveTo>
                  <a:pt x="0" y="0"/>
                </a:moveTo>
                <a:lnTo>
                  <a:pt x="451944" y="0"/>
                </a:lnTo>
                <a:lnTo>
                  <a:pt x="451944" y="482185"/>
                </a:lnTo>
                <a:lnTo>
                  <a:pt x="0" y="482185"/>
                </a:lnTo>
                <a:lnTo>
                  <a:pt x="0" y="0"/>
                </a:lnTo>
                <a:close/>
              </a:path>
            </a:pathLst>
          </a:custGeom>
          <a:solidFill>
            <a:srgbClr val="FFD25D">
              <a:alpha val="270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83421" y="2375369"/>
            <a:ext cx="452120" cy="482600"/>
          </a:xfrm>
          <a:custGeom>
            <a:avLst/>
            <a:gdLst/>
            <a:ahLst/>
            <a:cxnLst/>
            <a:rect l="l" t="t" r="r" b="b"/>
            <a:pathLst>
              <a:path w="452120" h="482600">
                <a:moveTo>
                  <a:pt x="0" y="0"/>
                </a:moveTo>
                <a:lnTo>
                  <a:pt x="451945" y="0"/>
                </a:lnTo>
                <a:lnTo>
                  <a:pt x="451945" y="482186"/>
                </a:lnTo>
                <a:lnTo>
                  <a:pt x="0" y="48218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8889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3018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10"/>
              <a:t>Simplest encoding approach: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Encoder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just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an 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embedding-lookup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36324" y="3738372"/>
            <a:ext cx="4377055" cy="26162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25"/>
              </a:spcBef>
            </a:pPr>
            <a:r>
              <a:rPr dirty="0" sz="2600" spc="-25">
                <a:solidFill>
                  <a:srgbClr val="C00000"/>
                </a:solidFill>
                <a:latin typeface="Arial"/>
                <a:cs typeface="Arial"/>
              </a:rPr>
              <a:t>matrix, </a:t>
            </a:r>
            <a:r>
              <a:rPr dirty="0" sz="2600" spc="-30">
                <a:solidFill>
                  <a:srgbClr val="C00000"/>
                </a:solidFill>
                <a:latin typeface="Arial"/>
                <a:cs typeface="Arial"/>
              </a:rPr>
              <a:t>each </a:t>
            </a:r>
            <a:r>
              <a:rPr dirty="0" sz="2600" spc="-10">
                <a:solidFill>
                  <a:srgbClr val="C00000"/>
                </a:solidFill>
                <a:latin typeface="Arial"/>
                <a:cs typeface="Arial"/>
              </a:rPr>
              <a:t>column </a:t>
            </a:r>
            <a:r>
              <a:rPr dirty="0" sz="2600" spc="-75">
                <a:solidFill>
                  <a:srgbClr val="C00000"/>
                </a:solidFill>
                <a:latin typeface="Arial"/>
                <a:cs typeface="Arial"/>
              </a:rPr>
              <a:t>is </a:t>
            </a:r>
            <a:r>
              <a:rPr dirty="0" sz="2600" spc="-100">
                <a:solidFill>
                  <a:srgbClr val="C00000"/>
                </a:solidFill>
                <a:latin typeface="Arial"/>
                <a:cs typeface="Arial"/>
              </a:rPr>
              <a:t>a </a:t>
            </a:r>
            <a:r>
              <a:rPr dirty="0" sz="2600" spc="-10">
                <a:solidFill>
                  <a:srgbClr val="C00000"/>
                </a:solidFill>
                <a:latin typeface="Arial"/>
                <a:cs typeface="Arial"/>
              </a:rPr>
              <a:t>node  </a:t>
            </a:r>
            <a:r>
              <a:rPr dirty="0" sz="2600" spc="-5">
                <a:solidFill>
                  <a:srgbClr val="C00000"/>
                </a:solidFill>
                <a:latin typeface="Arial"/>
                <a:cs typeface="Arial"/>
              </a:rPr>
              <a:t>embedding </a:t>
            </a:r>
            <a:r>
              <a:rPr dirty="0" baseline="1089" sz="3825" spc="7">
                <a:solidFill>
                  <a:srgbClr val="C00000"/>
                </a:solidFill>
                <a:latin typeface="Arial"/>
                <a:cs typeface="Arial"/>
              </a:rPr>
              <a:t>[what </a:t>
            </a:r>
            <a:r>
              <a:rPr dirty="0" baseline="1089" sz="3825" spc="22">
                <a:solidFill>
                  <a:srgbClr val="C00000"/>
                </a:solidFill>
                <a:latin typeface="Arial"/>
                <a:cs typeface="Arial"/>
              </a:rPr>
              <a:t>we </a:t>
            </a:r>
            <a:r>
              <a:rPr dirty="0" baseline="1089" sz="3825" spc="-52">
                <a:solidFill>
                  <a:srgbClr val="C00000"/>
                </a:solidFill>
                <a:latin typeface="Arial"/>
                <a:cs typeface="Arial"/>
              </a:rPr>
              <a:t>learn</a:t>
            </a:r>
            <a:r>
              <a:rPr dirty="0" baseline="1089" sz="3825" spc="27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aseline="1089" sz="3825" spc="225">
                <a:solidFill>
                  <a:srgbClr val="C00000"/>
                </a:solidFill>
                <a:latin typeface="Arial"/>
                <a:cs typeface="Arial"/>
              </a:rPr>
              <a:t>/</a:t>
            </a:r>
            <a:endParaRPr baseline="1089" sz="3825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10">
                <a:solidFill>
                  <a:srgbClr val="C00000"/>
                </a:solidFill>
                <a:latin typeface="Arial"/>
                <a:cs typeface="Arial"/>
              </a:rPr>
              <a:t>optimize]</a:t>
            </a:r>
            <a:endParaRPr sz="2550">
              <a:latin typeface="Arial"/>
              <a:cs typeface="Arial"/>
            </a:endParaRPr>
          </a:p>
          <a:p>
            <a:pPr marL="12700" marR="596900">
              <a:lnSpc>
                <a:spcPct val="98900"/>
              </a:lnSpc>
              <a:spcBef>
                <a:spcPts val="1295"/>
              </a:spcBef>
            </a:pPr>
            <a:r>
              <a:rPr dirty="0" sz="2700" spc="-45">
                <a:solidFill>
                  <a:srgbClr val="0000FF"/>
                </a:solidFill>
                <a:latin typeface="Arial"/>
                <a:cs typeface="Arial"/>
              </a:rPr>
              <a:t>indicator </a:t>
            </a:r>
            <a:r>
              <a:rPr dirty="0" sz="2700" spc="-70">
                <a:solidFill>
                  <a:srgbClr val="0000FF"/>
                </a:solidFill>
                <a:latin typeface="Arial"/>
                <a:cs typeface="Arial"/>
              </a:rPr>
              <a:t>vector, </a:t>
            </a:r>
            <a:r>
              <a:rPr dirty="0" sz="2700" spc="-114">
                <a:solidFill>
                  <a:srgbClr val="0000FF"/>
                </a:solidFill>
                <a:latin typeface="Arial"/>
                <a:cs typeface="Arial"/>
              </a:rPr>
              <a:t>all </a:t>
            </a:r>
            <a:r>
              <a:rPr dirty="0" sz="2700" spc="-90">
                <a:solidFill>
                  <a:srgbClr val="0000FF"/>
                </a:solidFill>
                <a:latin typeface="Arial"/>
                <a:cs typeface="Arial"/>
              </a:rPr>
              <a:t>zeroes  </a:t>
            </a:r>
            <a:r>
              <a:rPr dirty="0" sz="2700" spc="-35">
                <a:solidFill>
                  <a:srgbClr val="0000FF"/>
                </a:solidFill>
                <a:latin typeface="Arial"/>
                <a:cs typeface="Arial"/>
              </a:rPr>
              <a:t>except </a:t>
            </a:r>
            <a:r>
              <a:rPr dirty="0" sz="2700" spc="-105">
                <a:solidFill>
                  <a:srgbClr val="0000FF"/>
                </a:solidFill>
                <a:latin typeface="Arial"/>
                <a:cs typeface="Arial"/>
              </a:rPr>
              <a:t>a </a:t>
            </a:r>
            <a:r>
              <a:rPr dirty="0" sz="2700" spc="-65">
                <a:solidFill>
                  <a:srgbClr val="0000FF"/>
                </a:solidFill>
                <a:latin typeface="Arial"/>
                <a:cs typeface="Arial"/>
              </a:rPr>
              <a:t>one </a:t>
            </a:r>
            <a:r>
              <a:rPr dirty="0" sz="2700" spc="-85">
                <a:solidFill>
                  <a:srgbClr val="0000FF"/>
                </a:solidFill>
                <a:latin typeface="Arial"/>
                <a:cs typeface="Arial"/>
              </a:rPr>
              <a:t>in </a:t>
            </a:r>
            <a:r>
              <a:rPr dirty="0" sz="2700" spc="-40">
                <a:solidFill>
                  <a:srgbClr val="0000FF"/>
                </a:solidFill>
                <a:latin typeface="Arial"/>
                <a:cs typeface="Arial"/>
              </a:rPr>
              <a:t>column  </a:t>
            </a:r>
            <a:r>
              <a:rPr dirty="0" sz="2700" spc="-55">
                <a:solidFill>
                  <a:srgbClr val="0000FF"/>
                </a:solidFill>
                <a:latin typeface="Arial"/>
                <a:cs typeface="Arial"/>
              </a:rPr>
              <a:t>indicating </a:t>
            </a:r>
            <a:r>
              <a:rPr dirty="0" sz="2700" spc="-45">
                <a:solidFill>
                  <a:srgbClr val="0000FF"/>
                </a:solidFill>
                <a:latin typeface="Arial"/>
                <a:cs typeface="Arial"/>
              </a:rPr>
              <a:t>node </a:t>
            </a:r>
            <a:r>
              <a:rPr dirty="0" sz="2700" spc="-100" i="1">
                <a:solidFill>
                  <a:srgbClr val="0000FF"/>
                </a:solidFill>
                <a:latin typeface="Arial"/>
                <a:cs typeface="Arial"/>
              </a:rPr>
              <a:t>v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08218" y="2649987"/>
            <a:ext cx="499109" cy="376555"/>
          </a:xfrm>
          <a:custGeom>
            <a:avLst/>
            <a:gdLst/>
            <a:ahLst/>
            <a:cxnLst/>
            <a:rect l="l" t="t" r="r" b="b"/>
            <a:pathLst>
              <a:path w="499110" h="376555">
                <a:moveTo>
                  <a:pt x="378435" y="0"/>
                </a:moveTo>
                <a:lnTo>
                  <a:pt x="373077" y="15279"/>
                </a:lnTo>
                <a:lnTo>
                  <a:pt x="394868" y="24736"/>
                </a:lnTo>
                <a:lnTo>
                  <a:pt x="413608" y="37826"/>
                </a:lnTo>
                <a:lnTo>
                  <a:pt x="441935" y="74909"/>
                </a:lnTo>
                <a:lnTo>
                  <a:pt x="458604" y="124940"/>
                </a:lnTo>
                <a:lnTo>
                  <a:pt x="464160" y="186331"/>
                </a:lnTo>
                <a:lnTo>
                  <a:pt x="462765" y="219533"/>
                </a:lnTo>
                <a:lnTo>
                  <a:pt x="451603" y="276782"/>
                </a:lnTo>
                <a:lnTo>
                  <a:pt x="429204" y="321493"/>
                </a:lnTo>
                <a:lnTo>
                  <a:pt x="395122" y="351655"/>
                </a:lnTo>
                <a:lnTo>
                  <a:pt x="373673" y="361156"/>
                </a:lnTo>
                <a:lnTo>
                  <a:pt x="378435" y="376435"/>
                </a:lnTo>
                <a:lnTo>
                  <a:pt x="429781" y="352350"/>
                </a:lnTo>
                <a:lnTo>
                  <a:pt x="467533" y="310653"/>
                </a:lnTo>
                <a:lnTo>
                  <a:pt x="490751" y="254818"/>
                </a:lnTo>
                <a:lnTo>
                  <a:pt x="498490" y="188316"/>
                </a:lnTo>
                <a:lnTo>
                  <a:pt x="496549" y="153807"/>
                </a:lnTo>
                <a:lnTo>
                  <a:pt x="481021" y="92638"/>
                </a:lnTo>
                <a:lnTo>
                  <a:pt x="450226" y="42843"/>
                </a:lnTo>
                <a:lnTo>
                  <a:pt x="405727" y="9853"/>
                </a:lnTo>
                <a:lnTo>
                  <a:pt x="378435" y="0"/>
                </a:lnTo>
                <a:close/>
              </a:path>
              <a:path w="49911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321611" y="2534412"/>
            <a:ext cx="11537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9480" algn="l"/>
              </a:tabLst>
            </a:pPr>
            <a:r>
              <a:rPr dirty="0" sz="3200" spc="-5">
                <a:latin typeface="Cambria Math"/>
                <a:cs typeface="Cambria Math"/>
              </a:rPr>
              <a:t>E</a:t>
            </a:r>
            <a:r>
              <a:rPr dirty="0" sz="3200" spc="-10">
                <a:latin typeface="Cambria Math"/>
                <a:cs typeface="Cambria Math"/>
              </a:rPr>
              <a:t>N</a:t>
            </a:r>
            <a:r>
              <a:rPr dirty="0" sz="3200">
                <a:latin typeface="Cambria Math"/>
                <a:cs typeface="Cambria Math"/>
              </a:rPr>
              <a:t>C	𝑣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2614" y="2534412"/>
            <a:ext cx="21183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-5">
                <a:latin typeface="Cambria Math"/>
                <a:cs typeface="Cambria Math"/>
              </a:rPr>
              <a:t>𝐳</a:t>
            </a:r>
            <a:r>
              <a:rPr dirty="0" baseline="-15700" sz="3450" spc="-7">
                <a:latin typeface="Cambria Math"/>
                <a:cs typeface="Cambria Math"/>
              </a:rPr>
              <a:t>𝒗  </a:t>
            </a:r>
            <a:r>
              <a:rPr dirty="0" sz="3200">
                <a:latin typeface="Cambria Math"/>
                <a:cs typeface="Cambria Math"/>
              </a:rPr>
              <a:t>= 𝐙 ⋅</a:t>
            </a:r>
            <a:r>
              <a:rPr dirty="0" sz="3200" spc="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𝑣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96601" y="3982701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53384" y="3982701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50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83991" y="3757676"/>
            <a:ext cx="19602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061" sz="5400">
                <a:latin typeface="Cambria Math"/>
                <a:cs typeface="Cambria Math"/>
              </a:rPr>
              <a:t>𝚭 ∈ </a:t>
            </a:r>
            <a:r>
              <a:rPr dirty="0" baseline="-20061" sz="5400" spc="487">
                <a:latin typeface="Cambria Math"/>
                <a:cs typeface="Cambria Math"/>
              </a:rPr>
              <a:t>ℝ</a:t>
            </a:r>
            <a:r>
              <a:rPr dirty="0" sz="2600" spc="325">
                <a:latin typeface="Cambria Math"/>
                <a:cs typeface="Cambria Math"/>
              </a:rPr>
              <a:t>!×</a:t>
            </a:r>
            <a:r>
              <a:rPr dirty="0" sz="2600" spc="58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𝒱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88845" y="5433469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49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45627" y="5433469"/>
            <a:ext cx="0" cy="300355"/>
          </a:xfrm>
          <a:custGeom>
            <a:avLst/>
            <a:gdLst/>
            <a:ahLst/>
            <a:cxnLst/>
            <a:rect l="l" t="t" r="r" b="b"/>
            <a:pathLst>
              <a:path w="0" h="300354">
                <a:moveTo>
                  <a:pt x="0" y="0"/>
                </a:moveTo>
                <a:lnTo>
                  <a:pt x="0" y="300049"/>
                </a:lnTo>
              </a:path>
            </a:pathLst>
          </a:custGeom>
          <a:ln w="24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686215" y="5376164"/>
            <a:ext cx="13506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mbria Math"/>
                <a:cs typeface="Cambria Math"/>
              </a:rPr>
              <a:t>𝑣  ∈ 𝕀</a:t>
            </a:r>
            <a:r>
              <a:rPr dirty="0" sz="3600" spc="-345">
                <a:latin typeface="Cambria Math"/>
                <a:cs typeface="Cambria Math"/>
              </a:rPr>
              <a:t> </a:t>
            </a:r>
            <a:r>
              <a:rPr dirty="0" baseline="27777" sz="3900">
                <a:latin typeface="Cambria Math"/>
                <a:cs typeface="Cambria Math"/>
              </a:rPr>
              <a:t>𝒱</a:t>
            </a:r>
            <a:endParaRPr baseline="27777" sz="39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8889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3590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10"/>
              <a:t>Simplest encoding approach: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encoder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just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an 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embedding-lookup</a:t>
            </a:r>
          </a:p>
        </p:txBody>
      </p:sp>
      <p:sp>
        <p:nvSpPr>
          <p:cNvPr id="4" name="object 4"/>
          <p:cNvSpPr/>
          <p:nvPr/>
        </p:nvSpPr>
        <p:spPr>
          <a:xfrm>
            <a:off x="2146546" y="3368724"/>
            <a:ext cx="4266565" cy="2095500"/>
          </a:xfrm>
          <a:custGeom>
            <a:avLst/>
            <a:gdLst/>
            <a:ahLst/>
            <a:cxnLst/>
            <a:rect l="l" t="t" r="r" b="b"/>
            <a:pathLst>
              <a:path w="4266565" h="2095500">
                <a:moveTo>
                  <a:pt x="4241939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8" y="7029"/>
                </a:lnTo>
                <a:lnTo>
                  <a:pt x="1885" y="14658"/>
                </a:lnTo>
                <a:lnTo>
                  <a:pt x="0" y="24000"/>
                </a:lnTo>
                <a:lnTo>
                  <a:pt x="0" y="2070877"/>
                </a:lnTo>
                <a:lnTo>
                  <a:pt x="1885" y="2080219"/>
                </a:lnTo>
                <a:lnTo>
                  <a:pt x="7028" y="2087848"/>
                </a:lnTo>
                <a:lnTo>
                  <a:pt x="14657" y="2092991"/>
                </a:lnTo>
                <a:lnTo>
                  <a:pt x="23999" y="2094877"/>
                </a:lnTo>
                <a:lnTo>
                  <a:pt x="4241939" y="2094877"/>
                </a:lnTo>
                <a:lnTo>
                  <a:pt x="4251281" y="2092991"/>
                </a:lnTo>
                <a:lnTo>
                  <a:pt x="4258909" y="2087848"/>
                </a:lnTo>
                <a:lnTo>
                  <a:pt x="4264052" y="2080219"/>
                </a:lnTo>
                <a:lnTo>
                  <a:pt x="4265938" y="2070877"/>
                </a:lnTo>
                <a:lnTo>
                  <a:pt x="4265938" y="2066077"/>
                </a:lnTo>
                <a:lnTo>
                  <a:pt x="28799" y="2066077"/>
                </a:lnTo>
                <a:lnTo>
                  <a:pt x="28799" y="28799"/>
                </a:lnTo>
                <a:lnTo>
                  <a:pt x="4265938" y="28799"/>
                </a:lnTo>
                <a:lnTo>
                  <a:pt x="4265938" y="24000"/>
                </a:lnTo>
                <a:lnTo>
                  <a:pt x="4264052" y="14658"/>
                </a:lnTo>
                <a:lnTo>
                  <a:pt x="4258909" y="7029"/>
                </a:lnTo>
                <a:lnTo>
                  <a:pt x="4251281" y="1886"/>
                </a:lnTo>
                <a:lnTo>
                  <a:pt x="4241939" y="0"/>
                </a:lnTo>
                <a:close/>
              </a:path>
              <a:path w="4266565" h="2095500">
                <a:moveTo>
                  <a:pt x="4265938" y="28799"/>
                </a:moveTo>
                <a:lnTo>
                  <a:pt x="4237139" y="28799"/>
                </a:lnTo>
                <a:lnTo>
                  <a:pt x="4237139" y="2066077"/>
                </a:lnTo>
                <a:lnTo>
                  <a:pt x="4265938" y="2066077"/>
                </a:lnTo>
                <a:lnTo>
                  <a:pt x="4265938" y="28799"/>
                </a:lnTo>
                <a:close/>
              </a:path>
              <a:path w="4266565" h="2095500">
                <a:moveTo>
                  <a:pt x="4227539" y="38400"/>
                </a:moveTo>
                <a:lnTo>
                  <a:pt x="38399" y="38400"/>
                </a:lnTo>
                <a:lnTo>
                  <a:pt x="38399" y="2056477"/>
                </a:lnTo>
                <a:lnTo>
                  <a:pt x="4227539" y="2056477"/>
                </a:lnTo>
                <a:lnTo>
                  <a:pt x="4227539" y="2046876"/>
                </a:lnTo>
                <a:lnTo>
                  <a:pt x="47999" y="2046876"/>
                </a:lnTo>
                <a:lnTo>
                  <a:pt x="47999" y="48000"/>
                </a:lnTo>
                <a:lnTo>
                  <a:pt x="4227539" y="48000"/>
                </a:lnTo>
                <a:lnTo>
                  <a:pt x="4227539" y="38400"/>
                </a:lnTo>
                <a:close/>
              </a:path>
              <a:path w="4266565" h="2095500">
                <a:moveTo>
                  <a:pt x="4227539" y="48000"/>
                </a:moveTo>
                <a:lnTo>
                  <a:pt x="4217939" y="48000"/>
                </a:lnTo>
                <a:lnTo>
                  <a:pt x="4217939" y="2046876"/>
                </a:lnTo>
                <a:lnTo>
                  <a:pt x="4227539" y="2046876"/>
                </a:lnTo>
                <a:lnTo>
                  <a:pt x="4227539" y="4800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38407" y="3384636"/>
            <a:ext cx="267970" cy="2078989"/>
          </a:xfrm>
          <a:custGeom>
            <a:avLst/>
            <a:gdLst/>
            <a:ahLst/>
            <a:cxnLst/>
            <a:rect l="l" t="t" r="r" b="b"/>
            <a:pathLst>
              <a:path w="267970" h="2078989">
                <a:moveTo>
                  <a:pt x="28775" y="2017908"/>
                </a:moveTo>
                <a:lnTo>
                  <a:pt x="120" y="2020796"/>
                </a:lnTo>
                <a:lnTo>
                  <a:pt x="1024" y="2029766"/>
                </a:lnTo>
                <a:lnTo>
                  <a:pt x="1344" y="2031342"/>
                </a:lnTo>
                <a:lnTo>
                  <a:pt x="11766" y="2054153"/>
                </a:lnTo>
                <a:lnTo>
                  <a:pt x="34243" y="2036142"/>
                </a:lnTo>
                <a:lnTo>
                  <a:pt x="31318" y="2030752"/>
                </a:lnTo>
                <a:lnTo>
                  <a:pt x="29470" y="2024799"/>
                </a:lnTo>
                <a:lnTo>
                  <a:pt x="28824" y="2018389"/>
                </a:lnTo>
                <a:lnTo>
                  <a:pt x="28775" y="2017908"/>
                </a:lnTo>
                <a:close/>
              </a:path>
              <a:path w="267970" h="2078989">
                <a:moveTo>
                  <a:pt x="28799" y="1970389"/>
                </a:moveTo>
                <a:lnTo>
                  <a:pt x="0" y="1970389"/>
                </a:lnTo>
                <a:lnTo>
                  <a:pt x="0" y="2018389"/>
                </a:lnTo>
                <a:lnTo>
                  <a:pt x="23999" y="2018389"/>
                </a:lnTo>
                <a:lnTo>
                  <a:pt x="28775" y="2017908"/>
                </a:lnTo>
                <a:lnTo>
                  <a:pt x="28799" y="1970389"/>
                </a:lnTo>
                <a:close/>
              </a:path>
              <a:path w="267970" h="2078989">
                <a:moveTo>
                  <a:pt x="28799" y="2018147"/>
                </a:moveTo>
                <a:lnTo>
                  <a:pt x="28799" y="2018389"/>
                </a:lnTo>
                <a:lnTo>
                  <a:pt x="28799" y="2018147"/>
                </a:lnTo>
                <a:close/>
              </a:path>
              <a:path w="267970" h="2078989">
                <a:moveTo>
                  <a:pt x="28799" y="2017908"/>
                </a:moveTo>
                <a:lnTo>
                  <a:pt x="28799" y="2018147"/>
                </a:lnTo>
                <a:lnTo>
                  <a:pt x="28799" y="2017908"/>
                </a:lnTo>
                <a:close/>
              </a:path>
              <a:path w="267970" h="2078989">
                <a:moveTo>
                  <a:pt x="47878" y="2015981"/>
                </a:moveTo>
                <a:lnTo>
                  <a:pt x="38399" y="2016938"/>
                </a:lnTo>
                <a:lnTo>
                  <a:pt x="38472" y="2018389"/>
                </a:lnTo>
                <a:lnTo>
                  <a:pt x="38924" y="2022875"/>
                </a:lnTo>
                <a:lnTo>
                  <a:pt x="40206" y="2027003"/>
                </a:lnTo>
                <a:lnTo>
                  <a:pt x="42237" y="2030746"/>
                </a:lnTo>
                <a:lnTo>
                  <a:pt x="50232" y="2025351"/>
                </a:lnTo>
                <a:lnTo>
                  <a:pt x="49094" y="2023254"/>
                </a:lnTo>
                <a:lnTo>
                  <a:pt x="48379" y="2020951"/>
                </a:lnTo>
                <a:lnTo>
                  <a:pt x="48121" y="2018389"/>
                </a:lnTo>
                <a:lnTo>
                  <a:pt x="47878" y="2015981"/>
                </a:lnTo>
                <a:close/>
              </a:path>
              <a:path w="267970" h="2078989">
                <a:moveTo>
                  <a:pt x="38399" y="2017664"/>
                </a:moveTo>
                <a:lnTo>
                  <a:pt x="38399" y="2018389"/>
                </a:lnTo>
                <a:lnTo>
                  <a:pt x="38399" y="2017664"/>
                </a:lnTo>
                <a:close/>
              </a:path>
              <a:path w="267970" h="2078989">
                <a:moveTo>
                  <a:pt x="47999" y="2017179"/>
                </a:moveTo>
                <a:lnTo>
                  <a:pt x="47999" y="2018389"/>
                </a:lnTo>
                <a:lnTo>
                  <a:pt x="47999" y="2017179"/>
                </a:lnTo>
                <a:close/>
              </a:path>
              <a:path w="267970" h="2078989">
                <a:moveTo>
                  <a:pt x="47999" y="2015981"/>
                </a:moveTo>
                <a:lnTo>
                  <a:pt x="47999" y="2017179"/>
                </a:lnTo>
                <a:lnTo>
                  <a:pt x="47999" y="2015981"/>
                </a:lnTo>
                <a:close/>
              </a:path>
              <a:path w="267970" h="2078989">
                <a:moveTo>
                  <a:pt x="47999" y="1970389"/>
                </a:moveTo>
                <a:lnTo>
                  <a:pt x="38399" y="1970389"/>
                </a:lnTo>
                <a:lnTo>
                  <a:pt x="38399" y="2016938"/>
                </a:lnTo>
                <a:lnTo>
                  <a:pt x="47878" y="2015981"/>
                </a:lnTo>
                <a:lnTo>
                  <a:pt x="47999" y="1970389"/>
                </a:lnTo>
                <a:close/>
              </a:path>
              <a:path w="267970" h="2078989">
                <a:moveTo>
                  <a:pt x="28799" y="1874389"/>
                </a:moveTo>
                <a:lnTo>
                  <a:pt x="0" y="1874389"/>
                </a:lnTo>
                <a:lnTo>
                  <a:pt x="0" y="1922388"/>
                </a:lnTo>
                <a:lnTo>
                  <a:pt x="28799" y="1922388"/>
                </a:lnTo>
                <a:lnTo>
                  <a:pt x="28799" y="1874389"/>
                </a:lnTo>
                <a:close/>
              </a:path>
              <a:path w="267970" h="2078989">
                <a:moveTo>
                  <a:pt x="47999" y="1874389"/>
                </a:moveTo>
                <a:lnTo>
                  <a:pt x="38399" y="1874389"/>
                </a:lnTo>
                <a:lnTo>
                  <a:pt x="38399" y="1922388"/>
                </a:lnTo>
                <a:lnTo>
                  <a:pt x="47999" y="1922388"/>
                </a:lnTo>
                <a:lnTo>
                  <a:pt x="47999" y="1874389"/>
                </a:lnTo>
                <a:close/>
              </a:path>
              <a:path w="267970" h="2078989">
                <a:moveTo>
                  <a:pt x="28799" y="1778389"/>
                </a:moveTo>
                <a:lnTo>
                  <a:pt x="0" y="1778389"/>
                </a:lnTo>
                <a:lnTo>
                  <a:pt x="0" y="1826389"/>
                </a:lnTo>
                <a:lnTo>
                  <a:pt x="28799" y="1826389"/>
                </a:lnTo>
                <a:lnTo>
                  <a:pt x="28799" y="1778389"/>
                </a:lnTo>
                <a:close/>
              </a:path>
              <a:path w="267970" h="2078989">
                <a:moveTo>
                  <a:pt x="47999" y="1778389"/>
                </a:moveTo>
                <a:lnTo>
                  <a:pt x="38399" y="1778389"/>
                </a:lnTo>
                <a:lnTo>
                  <a:pt x="38399" y="1826389"/>
                </a:lnTo>
                <a:lnTo>
                  <a:pt x="47999" y="1826389"/>
                </a:lnTo>
                <a:lnTo>
                  <a:pt x="47999" y="1778389"/>
                </a:lnTo>
                <a:close/>
              </a:path>
              <a:path w="267970" h="2078989">
                <a:moveTo>
                  <a:pt x="28799" y="1682389"/>
                </a:moveTo>
                <a:lnTo>
                  <a:pt x="0" y="1682389"/>
                </a:lnTo>
                <a:lnTo>
                  <a:pt x="0" y="1730388"/>
                </a:lnTo>
                <a:lnTo>
                  <a:pt x="28799" y="1730388"/>
                </a:lnTo>
                <a:lnTo>
                  <a:pt x="28799" y="1682389"/>
                </a:lnTo>
                <a:close/>
              </a:path>
              <a:path w="267970" h="2078989">
                <a:moveTo>
                  <a:pt x="47999" y="1682389"/>
                </a:moveTo>
                <a:lnTo>
                  <a:pt x="38399" y="1682389"/>
                </a:lnTo>
                <a:lnTo>
                  <a:pt x="38399" y="1730388"/>
                </a:lnTo>
                <a:lnTo>
                  <a:pt x="47999" y="1730388"/>
                </a:lnTo>
                <a:lnTo>
                  <a:pt x="47999" y="1682389"/>
                </a:lnTo>
                <a:close/>
              </a:path>
              <a:path w="267970" h="2078989">
                <a:moveTo>
                  <a:pt x="28799" y="1586388"/>
                </a:moveTo>
                <a:lnTo>
                  <a:pt x="0" y="1586388"/>
                </a:lnTo>
                <a:lnTo>
                  <a:pt x="0" y="1634389"/>
                </a:lnTo>
                <a:lnTo>
                  <a:pt x="28799" y="1634389"/>
                </a:lnTo>
                <a:lnTo>
                  <a:pt x="28799" y="1586388"/>
                </a:lnTo>
                <a:close/>
              </a:path>
              <a:path w="267970" h="2078989">
                <a:moveTo>
                  <a:pt x="47999" y="1586388"/>
                </a:moveTo>
                <a:lnTo>
                  <a:pt x="38399" y="1586388"/>
                </a:lnTo>
                <a:lnTo>
                  <a:pt x="38399" y="1634389"/>
                </a:lnTo>
                <a:lnTo>
                  <a:pt x="47999" y="1634389"/>
                </a:lnTo>
                <a:lnTo>
                  <a:pt x="47999" y="1586388"/>
                </a:lnTo>
                <a:close/>
              </a:path>
              <a:path w="267970" h="2078989">
                <a:moveTo>
                  <a:pt x="28799" y="1490389"/>
                </a:moveTo>
                <a:lnTo>
                  <a:pt x="0" y="1490389"/>
                </a:lnTo>
                <a:lnTo>
                  <a:pt x="0" y="1538389"/>
                </a:lnTo>
                <a:lnTo>
                  <a:pt x="28799" y="1538389"/>
                </a:lnTo>
                <a:lnTo>
                  <a:pt x="28799" y="1490389"/>
                </a:lnTo>
                <a:close/>
              </a:path>
              <a:path w="267970" h="2078989">
                <a:moveTo>
                  <a:pt x="47999" y="1490389"/>
                </a:moveTo>
                <a:lnTo>
                  <a:pt x="38399" y="1490389"/>
                </a:lnTo>
                <a:lnTo>
                  <a:pt x="38399" y="1538389"/>
                </a:lnTo>
                <a:lnTo>
                  <a:pt x="47999" y="1538389"/>
                </a:lnTo>
                <a:lnTo>
                  <a:pt x="47999" y="1490389"/>
                </a:lnTo>
                <a:close/>
              </a:path>
              <a:path w="267970" h="2078989">
                <a:moveTo>
                  <a:pt x="28799" y="1394388"/>
                </a:moveTo>
                <a:lnTo>
                  <a:pt x="0" y="1394388"/>
                </a:lnTo>
                <a:lnTo>
                  <a:pt x="0" y="1442389"/>
                </a:lnTo>
                <a:lnTo>
                  <a:pt x="28799" y="1442389"/>
                </a:lnTo>
                <a:lnTo>
                  <a:pt x="28799" y="1394388"/>
                </a:lnTo>
                <a:close/>
              </a:path>
              <a:path w="267970" h="2078989">
                <a:moveTo>
                  <a:pt x="47999" y="1394388"/>
                </a:moveTo>
                <a:lnTo>
                  <a:pt x="38399" y="1394388"/>
                </a:lnTo>
                <a:lnTo>
                  <a:pt x="38399" y="1442389"/>
                </a:lnTo>
                <a:lnTo>
                  <a:pt x="47999" y="1442389"/>
                </a:lnTo>
                <a:lnTo>
                  <a:pt x="47999" y="1394388"/>
                </a:lnTo>
                <a:close/>
              </a:path>
              <a:path w="267970" h="2078989">
                <a:moveTo>
                  <a:pt x="28799" y="1298389"/>
                </a:moveTo>
                <a:lnTo>
                  <a:pt x="0" y="1298389"/>
                </a:lnTo>
                <a:lnTo>
                  <a:pt x="0" y="1346389"/>
                </a:lnTo>
                <a:lnTo>
                  <a:pt x="28799" y="1346389"/>
                </a:lnTo>
                <a:lnTo>
                  <a:pt x="28799" y="1298389"/>
                </a:lnTo>
                <a:close/>
              </a:path>
              <a:path w="267970" h="2078989">
                <a:moveTo>
                  <a:pt x="47999" y="1298389"/>
                </a:moveTo>
                <a:lnTo>
                  <a:pt x="38399" y="1298389"/>
                </a:lnTo>
                <a:lnTo>
                  <a:pt x="38399" y="1346389"/>
                </a:lnTo>
                <a:lnTo>
                  <a:pt x="47999" y="1346389"/>
                </a:lnTo>
                <a:lnTo>
                  <a:pt x="47999" y="1298389"/>
                </a:lnTo>
                <a:close/>
              </a:path>
              <a:path w="267970" h="2078989">
                <a:moveTo>
                  <a:pt x="28799" y="1202389"/>
                </a:moveTo>
                <a:lnTo>
                  <a:pt x="0" y="1202389"/>
                </a:lnTo>
                <a:lnTo>
                  <a:pt x="0" y="1250389"/>
                </a:lnTo>
                <a:lnTo>
                  <a:pt x="28799" y="1250389"/>
                </a:lnTo>
                <a:lnTo>
                  <a:pt x="28799" y="1202389"/>
                </a:lnTo>
                <a:close/>
              </a:path>
              <a:path w="267970" h="2078989">
                <a:moveTo>
                  <a:pt x="47999" y="1202389"/>
                </a:moveTo>
                <a:lnTo>
                  <a:pt x="38399" y="1202389"/>
                </a:lnTo>
                <a:lnTo>
                  <a:pt x="38399" y="1250389"/>
                </a:lnTo>
                <a:lnTo>
                  <a:pt x="47999" y="1250389"/>
                </a:lnTo>
                <a:lnTo>
                  <a:pt x="47999" y="1202389"/>
                </a:lnTo>
                <a:close/>
              </a:path>
              <a:path w="267970" h="2078989">
                <a:moveTo>
                  <a:pt x="28799" y="1106389"/>
                </a:moveTo>
                <a:lnTo>
                  <a:pt x="0" y="1106389"/>
                </a:lnTo>
                <a:lnTo>
                  <a:pt x="0" y="1154389"/>
                </a:lnTo>
                <a:lnTo>
                  <a:pt x="28799" y="1154389"/>
                </a:lnTo>
                <a:lnTo>
                  <a:pt x="28799" y="1106389"/>
                </a:lnTo>
                <a:close/>
              </a:path>
              <a:path w="267970" h="2078989">
                <a:moveTo>
                  <a:pt x="47999" y="1106389"/>
                </a:moveTo>
                <a:lnTo>
                  <a:pt x="38399" y="1106389"/>
                </a:lnTo>
                <a:lnTo>
                  <a:pt x="38399" y="1154389"/>
                </a:lnTo>
                <a:lnTo>
                  <a:pt x="47999" y="1154389"/>
                </a:lnTo>
                <a:lnTo>
                  <a:pt x="47999" y="1106389"/>
                </a:lnTo>
                <a:close/>
              </a:path>
              <a:path w="267970" h="2078989">
                <a:moveTo>
                  <a:pt x="28799" y="1010389"/>
                </a:moveTo>
                <a:lnTo>
                  <a:pt x="0" y="1010389"/>
                </a:lnTo>
                <a:lnTo>
                  <a:pt x="0" y="1058388"/>
                </a:lnTo>
                <a:lnTo>
                  <a:pt x="28799" y="1058388"/>
                </a:lnTo>
                <a:lnTo>
                  <a:pt x="28799" y="1010389"/>
                </a:lnTo>
                <a:close/>
              </a:path>
              <a:path w="267970" h="2078989">
                <a:moveTo>
                  <a:pt x="47999" y="1010389"/>
                </a:moveTo>
                <a:lnTo>
                  <a:pt x="38399" y="1010389"/>
                </a:lnTo>
                <a:lnTo>
                  <a:pt x="38399" y="1058388"/>
                </a:lnTo>
                <a:lnTo>
                  <a:pt x="47999" y="1058388"/>
                </a:lnTo>
                <a:lnTo>
                  <a:pt x="47999" y="1010389"/>
                </a:lnTo>
                <a:close/>
              </a:path>
              <a:path w="267970" h="2078989">
                <a:moveTo>
                  <a:pt x="28799" y="914389"/>
                </a:moveTo>
                <a:lnTo>
                  <a:pt x="0" y="914389"/>
                </a:lnTo>
                <a:lnTo>
                  <a:pt x="0" y="962389"/>
                </a:lnTo>
                <a:lnTo>
                  <a:pt x="28799" y="962389"/>
                </a:lnTo>
                <a:lnTo>
                  <a:pt x="28799" y="914389"/>
                </a:lnTo>
                <a:close/>
              </a:path>
              <a:path w="267970" h="2078989">
                <a:moveTo>
                  <a:pt x="47999" y="914389"/>
                </a:moveTo>
                <a:lnTo>
                  <a:pt x="38399" y="914389"/>
                </a:lnTo>
                <a:lnTo>
                  <a:pt x="38399" y="962389"/>
                </a:lnTo>
                <a:lnTo>
                  <a:pt x="47999" y="962389"/>
                </a:lnTo>
                <a:lnTo>
                  <a:pt x="47999" y="914389"/>
                </a:lnTo>
                <a:close/>
              </a:path>
              <a:path w="267970" h="2078989">
                <a:moveTo>
                  <a:pt x="28799" y="818389"/>
                </a:moveTo>
                <a:lnTo>
                  <a:pt x="0" y="818389"/>
                </a:lnTo>
                <a:lnTo>
                  <a:pt x="0" y="866388"/>
                </a:lnTo>
                <a:lnTo>
                  <a:pt x="28799" y="866388"/>
                </a:lnTo>
                <a:lnTo>
                  <a:pt x="28799" y="818389"/>
                </a:lnTo>
                <a:close/>
              </a:path>
              <a:path w="267970" h="2078989">
                <a:moveTo>
                  <a:pt x="47999" y="818389"/>
                </a:moveTo>
                <a:lnTo>
                  <a:pt x="38399" y="818389"/>
                </a:lnTo>
                <a:lnTo>
                  <a:pt x="38399" y="866388"/>
                </a:lnTo>
                <a:lnTo>
                  <a:pt x="47999" y="866388"/>
                </a:lnTo>
                <a:lnTo>
                  <a:pt x="47999" y="818389"/>
                </a:lnTo>
                <a:close/>
              </a:path>
              <a:path w="267970" h="2078989">
                <a:moveTo>
                  <a:pt x="28799" y="722389"/>
                </a:moveTo>
                <a:lnTo>
                  <a:pt x="0" y="722389"/>
                </a:lnTo>
                <a:lnTo>
                  <a:pt x="0" y="770389"/>
                </a:lnTo>
                <a:lnTo>
                  <a:pt x="28799" y="770389"/>
                </a:lnTo>
                <a:lnTo>
                  <a:pt x="28799" y="722389"/>
                </a:lnTo>
                <a:close/>
              </a:path>
              <a:path w="267970" h="2078989">
                <a:moveTo>
                  <a:pt x="47999" y="722389"/>
                </a:moveTo>
                <a:lnTo>
                  <a:pt x="38399" y="722389"/>
                </a:lnTo>
                <a:lnTo>
                  <a:pt x="38399" y="770389"/>
                </a:lnTo>
                <a:lnTo>
                  <a:pt x="47999" y="770389"/>
                </a:lnTo>
                <a:lnTo>
                  <a:pt x="47999" y="722389"/>
                </a:lnTo>
                <a:close/>
              </a:path>
              <a:path w="267970" h="2078989">
                <a:moveTo>
                  <a:pt x="28799" y="626389"/>
                </a:moveTo>
                <a:lnTo>
                  <a:pt x="0" y="626389"/>
                </a:lnTo>
                <a:lnTo>
                  <a:pt x="0" y="674389"/>
                </a:lnTo>
                <a:lnTo>
                  <a:pt x="28799" y="674389"/>
                </a:lnTo>
                <a:lnTo>
                  <a:pt x="28799" y="626389"/>
                </a:lnTo>
                <a:close/>
              </a:path>
              <a:path w="267970" h="2078989">
                <a:moveTo>
                  <a:pt x="47999" y="626389"/>
                </a:moveTo>
                <a:lnTo>
                  <a:pt x="38399" y="626389"/>
                </a:lnTo>
                <a:lnTo>
                  <a:pt x="38399" y="674389"/>
                </a:lnTo>
                <a:lnTo>
                  <a:pt x="47999" y="674389"/>
                </a:lnTo>
                <a:lnTo>
                  <a:pt x="47999" y="626389"/>
                </a:lnTo>
                <a:close/>
              </a:path>
              <a:path w="267970" h="2078989">
                <a:moveTo>
                  <a:pt x="28799" y="530388"/>
                </a:moveTo>
                <a:lnTo>
                  <a:pt x="0" y="530388"/>
                </a:lnTo>
                <a:lnTo>
                  <a:pt x="0" y="578389"/>
                </a:lnTo>
                <a:lnTo>
                  <a:pt x="28799" y="578389"/>
                </a:lnTo>
                <a:lnTo>
                  <a:pt x="28799" y="530388"/>
                </a:lnTo>
                <a:close/>
              </a:path>
              <a:path w="267970" h="2078989">
                <a:moveTo>
                  <a:pt x="47999" y="530388"/>
                </a:moveTo>
                <a:lnTo>
                  <a:pt x="38399" y="530388"/>
                </a:lnTo>
                <a:lnTo>
                  <a:pt x="38399" y="578389"/>
                </a:lnTo>
                <a:lnTo>
                  <a:pt x="47999" y="578389"/>
                </a:lnTo>
                <a:lnTo>
                  <a:pt x="47999" y="530388"/>
                </a:lnTo>
                <a:close/>
              </a:path>
              <a:path w="267970" h="2078989">
                <a:moveTo>
                  <a:pt x="28799" y="434389"/>
                </a:moveTo>
                <a:lnTo>
                  <a:pt x="0" y="434389"/>
                </a:lnTo>
                <a:lnTo>
                  <a:pt x="0" y="482389"/>
                </a:lnTo>
                <a:lnTo>
                  <a:pt x="28799" y="482389"/>
                </a:lnTo>
                <a:lnTo>
                  <a:pt x="28799" y="434389"/>
                </a:lnTo>
                <a:close/>
              </a:path>
              <a:path w="267970" h="2078989">
                <a:moveTo>
                  <a:pt x="47999" y="434389"/>
                </a:moveTo>
                <a:lnTo>
                  <a:pt x="38399" y="434389"/>
                </a:lnTo>
                <a:lnTo>
                  <a:pt x="38399" y="482389"/>
                </a:lnTo>
                <a:lnTo>
                  <a:pt x="47999" y="482389"/>
                </a:lnTo>
                <a:lnTo>
                  <a:pt x="47999" y="434389"/>
                </a:lnTo>
                <a:close/>
              </a:path>
              <a:path w="267970" h="2078989">
                <a:moveTo>
                  <a:pt x="28799" y="338388"/>
                </a:moveTo>
                <a:lnTo>
                  <a:pt x="0" y="338388"/>
                </a:lnTo>
                <a:lnTo>
                  <a:pt x="0" y="386389"/>
                </a:lnTo>
                <a:lnTo>
                  <a:pt x="28799" y="386389"/>
                </a:lnTo>
                <a:lnTo>
                  <a:pt x="28799" y="338388"/>
                </a:lnTo>
                <a:close/>
              </a:path>
              <a:path w="267970" h="2078989">
                <a:moveTo>
                  <a:pt x="47999" y="338388"/>
                </a:moveTo>
                <a:lnTo>
                  <a:pt x="38399" y="338388"/>
                </a:lnTo>
                <a:lnTo>
                  <a:pt x="38399" y="386389"/>
                </a:lnTo>
                <a:lnTo>
                  <a:pt x="47999" y="386389"/>
                </a:lnTo>
                <a:lnTo>
                  <a:pt x="47999" y="338388"/>
                </a:lnTo>
                <a:close/>
              </a:path>
              <a:path w="267970" h="2078989">
                <a:moveTo>
                  <a:pt x="28799" y="242389"/>
                </a:moveTo>
                <a:lnTo>
                  <a:pt x="0" y="242389"/>
                </a:lnTo>
                <a:lnTo>
                  <a:pt x="0" y="290389"/>
                </a:lnTo>
                <a:lnTo>
                  <a:pt x="28799" y="290389"/>
                </a:lnTo>
                <a:lnTo>
                  <a:pt x="28799" y="242389"/>
                </a:lnTo>
                <a:close/>
              </a:path>
              <a:path w="267970" h="2078989">
                <a:moveTo>
                  <a:pt x="47999" y="242389"/>
                </a:moveTo>
                <a:lnTo>
                  <a:pt x="38399" y="242389"/>
                </a:lnTo>
                <a:lnTo>
                  <a:pt x="38399" y="290389"/>
                </a:lnTo>
                <a:lnTo>
                  <a:pt x="47999" y="290389"/>
                </a:lnTo>
                <a:lnTo>
                  <a:pt x="47999" y="242389"/>
                </a:lnTo>
                <a:close/>
              </a:path>
              <a:path w="267970" h="2078989">
                <a:moveTo>
                  <a:pt x="28799" y="146389"/>
                </a:moveTo>
                <a:lnTo>
                  <a:pt x="0" y="146389"/>
                </a:lnTo>
                <a:lnTo>
                  <a:pt x="0" y="194390"/>
                </a:lnTo>
                <a:lnTo>
                  <a:pt x="28799" y="194390"/>
                </a:lnTo>
                <a:lnTo>
                  <a:pt x="28799" y="146389"/>
                </a:lnTo>
                <a:close/>
              </a:path>
              <a:path w="267970" h="2078989">
                <a:moveTo>
                  <a:pt x="47999" y="146389"/>
                </a:moveTo>
                <a:lnTo>
                  <a:pt x="38399" y="146389"/>
                </a:lnTo>
                <a:lnTo>
                  <a:pt x="38399" y="194390"/>
                </a:lnTo>
                <a:lnTo>
                  <a:pt x="47999" y="194390"/>
                </a:lnTo>
                <a:lnTo>
                  <a:pt x="47999" y="146389"/>
                </a:lnTo>
                <a:close/>
              </a:path>
              <a:path w="267970" h="2078989">
                <a:moveTo>
                  <a:pt x="2645" y="43436"/>
                </a:moveTo>
                <a:lnTo>
                  <a:pt x="1344" y="47623"/>
                </a:lnTo>
                <a:lnTo>
                  <a:pt x="1024" y="49199"/>
                </a:lnTo>
                <a:lnTo>
                  <a:pt x="759" y="51974"/>
                </a:lnTo>
                <a:lnTo>
                  <a:pt x="0" y="60576"/>
                </a:lnTo>
                <a:lnTo>
                  <a:pt x="0" y="98389"/>
                </a:lnTo>
                <a:lnTo>
                  <a:pt x="28799" y="98389"/>
                </a:lnTo>
                <a:lnTo>
                  <a:pt x="28799" y="60576"/>
                </a:lnTo>
                <a:lnTo>
                  <a:pt x="29470" y="54166"/>
                </a:lnTo>
                <a:lnTo>
                  <a:pt x="30151" y="51974"/>
                </a:lnTo>
                <a:lnTo>
                  <a:pt x="2645" y="43436"/>
                </a:lnTo>
                <a:close/>
              </a:path>
              <a:path w="267970" h="2078989">
                <a:moveTo>
                  <a:pt x="39319" y="54820"/>
                </a:moveTo>
                <a:lnTo>
                  <a:pt x="38924" y="56090"/>
                </a:lnTo>
                <a:lnTo>
                  <a:pt x="38399" y="60576"/>
                </a:lnTo>
                <a:lnTo>
                  <a:pt x="38399" y="98389"/>
                </a:lnTo>
                <a:lnTo>
                  <a:pt x="47999" y="98389"/>
                </a:lnTo>
                <a:lnTo>
                  <a:pt x="47999" y="60576"/>
                </a:lnTo>
                <a:lnTo>
                  <a:pt x="48379" y="58013"/>
                </a:lnTo>
                <a:lnTo>
                  <a:pt x="48487" y="57666"/>
                </a:lnTo>
                <a:lnTo>
                  <a:pt x="39319" y="54820"/>
                </a:lnTo>
                <a:close/>
              </a:path>
              <a:path w="267970" h="2078989">
                <a:moveTo>
                  <a:pt x="109392" y="0"/>
                </a:moveTo>
                <a:lnTo>
                  <a:pt x="61393" y="0"/>
                </a:lnTo>
                <a:lnTo>
                  <a:pt x="61393" y="28799"/>
                </a:lnTo>
                <a:lnTo>
                  <a:pt x="109392" y="28799"/>
                </a:lnTo>
                <a:lnTo>
                  <a:pt x="109392" y="0"/>
                </a:lnTo>
                <a:close/>
              </a:path>
              <a:path w="267970" h="2078989">
                <a:moveTo>
                  <a:pt x="109392" y="38399"/>
                </a:moveTo>
                <a:lnTo>
                  <a:pt x="61393" y="38399"/>
                </a:lnTo>
                <a:lnTo>
                  <a:pt x="61393" y="47999"/>
                </a:lnTo>
                <a:lnTo>
                  <a:pt x="109392" y="47999"/>
                </a:lnTo>
                <a:lnTo>
                  <a:pt x="109392" y="38399"/>
                </a:lnTo>
                <a:close/>
              </a:path>
              <a:path w="267970" h="2078989">
                <a:moveTo>
                  <a:pt x="205393" y="0"/>
                </a:moveTo>
                <a:lnTo>
                  <a:pt x="157393" y="0"/>
                </a:lnTo>
                <a:lnTo>
                  <a:pt x="157393" y="28799"/>
                </a:lnTo>
                <a:lnTo>
                  <a:pt x="205393" y="28799"/>
                </a:lnTo>
                <a:lnTo>
                  <a:pt x="205393" y="0"/>
                </a:lnTo>
                <a:close/>
              </a:path>
              <a:path w="267970" h="2078989">
                <a:moveTo>
                  <a:pt x="205393" y="38399"/>
                </a:moveTo>
                <a:lnTo>
                  <a:pt x="157393" y="38399"/>
                </a:lnTo>
                <a:lnTo>
                  <a:pt x="157393" y="47999"/>
                </a:lnTo>
                <a:lnTo>
                  <a:pt x="205393" y="47999"/>
                </a:lnTo>
                <a:lnTo>
                  <a:pt x="205393" y="38399"/>
                </a:lnTo>
                <a:close/>
              </a:path>
              <a:path w="267970" h="2078989">
                <a:moveTo>
                  <a:pt x="264612" y="42797"/>
                </a:moveTo>
                <a:lnTo>
                  <a:pt x="237106" y="51335"/>
                </a:lnTo>
                <a:lnTo>
                  <a:pt x="237985" y="54166"/>
                </a:lnTo>
                <a:lnTo>
                  <a:pt x="238679" y="61057"/>
                </a:lnTo>
                <a:lnTo>
                  <a:pt x="238655" y="97720"/>
                </a:lnTo>
                <a:lnTo>
                  <a:pt x="267455" y="97720"/>
                </a:lnTo>
                <a:lnTo>
                  <a:pt x="267335" y="58168"/>
                </a:lnTo>
                <a:lnTo>
                  <a:pt x="266430" y="49199"/>
                </a:lnTo>
                <a:lnTo>
                  <a:pt x="266109" y="47622"/>
                </a:lnTo>
                <a:lnTo>
                  <a:pt x="264612" y="42797"/>
                </a:lnTo>
                <a:close/>
              </a:path>
              <a:path w="267970" h="2078989">
                <a:moveTo>
                  <a:pt x="227938" y="54182"/>
                </a:moveTo>
                <a:lnTo>
                  <a:pt x="218768" y="57028"/>
                </a:lnTo>
                <a:lnTo>
                  <a:pt x="219076" y="58013"/>
                </a:lnTo>
                <a:lnTo>
                  <a:pt x="219479" y="62020"/>
                </a:lnTo>
                <a:lnTo>
                  <a:pt x="219455" y="97720"/>
                </a:lnTo>
                <a:lnTo>
                  <a:pt x="229055" y="97720"/>
                </a:lnTo>
                <a:lnTo>
                  <a:pt x="229128" y="62020"/>
                </a:lnTo>
                <a:lnTo>
                  <a:pt x="228530" y="56090"/>
                </a:lnTo>
                <a:lnTo>
                  <a:pt x="227938" y="54182"/>
                </a:lnTo>
                <a:close/>
              </a:path>
              <a:path w="267970" h="2078989">
                <a:moveTo>
                  <a:pt x="267455" y="145719"/>
                </a:moveTo>
                <a:lnTo>
                  <a:pt x="238655" y="145719"/>
                </a:lnTo>
                <a:lnTo>
                  <a:pt x="238655" y="193720"/>
                </a:lnTo>
                <a:lnTo>
                  <a:pt x="267455" y="193720"/>
                </a:lnTo>
                <a:lnTo>
                  <a:pt x="267455" y="145719"/>
                </a:lnTo>
                <a:close/>
              </a:path>
              <a:path w="267970" h="2078989">
                <a:moveTo>
                  <a:pt x="229055" y="145719"/>
                </a:moveTo>
                <a:lnTo>
                  <a:pt x="219455" y="145719"/>
                </a:lnTo>
                <a:lnTo>
                  <a:pt x="219455" y="193720"/>
                </a:lnTo>
                <a:lnTo>
                  <a:pt x="229055" y="193720"/>
                </a:lnTo>
                <a:lnTo>
                  <a:pt x="229055" y="145719"/>
                </a:lnTo>
                <a:close/>
              </a:path>
              <a:path w="267970" h="2078989">
                <a:moveTo>
                  <a:pt x="267455" y="241720"/>
                </a:moveTo>
                <a:lnTo>
                  <a:pt x="238655" y="241720"/>
                </a:lnTo>
                <a:lnTo>
                  <a:pt x="238655" y="289720"/>
                </a:lnTo>
                <a:lnTo>
                  <a:pt x="267455" y="289720"/>
                </a:lnTo>
                <a:lnTo>
                  <a:pt x="267455" y="241720"/>
                </a:lnTo>
                <a:close/>
              </a:path>
              <a:path w="267970" h="2078989">
                <a:moveTo>
                  <a:pt x="229055" y="241720"/>
                </a:moveTo>
                <a:lnTo>
                  <a:pt x="219455" y="241720"/>
                </a:lnTo>
                <a:lnTo>
                  <a:pt x="219455" y="289720"/>
                </a:lnTo>
                <a:lnTo>
                  <a:pt x="229055" y="289720"/>
                </a:lnTo>
                <a:lnTo>
                  <a:pt x="229055" y="241720"/>
                </a:lnTo>
                <a:close/>
              </a:path>
              <a:path w="267970" h="2078989">
                <a:moveTo>
                  <a:pt x="267455" y="337719"/>
                </a:moveTo>
                <a:lnTo>
                  <a:pt x="238655" y="337719"/>
                </a:lnTo>
                <a:lnTo>
                  <a:pt x="238655" y="385720"/>
                </a:lnTo>
                <a:lnTo>
                  <a:pt x="267455" y="385720"/>
                </a:lnTo>
                <a:lnTo>
                  <a:pt x="267455" y="337719"/>
                </a:lnTo>
                <a:close/>
              </a:path>
              <a:path w="267970" h="2078989">
                <a:moveTo>
                  <a:pt x="229055" y="337719"/>
                </a:moveTo>
                <a:lnTo>
                  <a:pt x="219455" y="337719"/>
                </a:lnTo>
                <a:lnTo>
                  <a:pt x="219455" y="385720"/>
                </a:lnTo>
                <a:lnTo>
                  <a:pt x="229055" y="385720"/>
                </a:lnTo>
                <a:lnTo>
                  <a:pt x="229055" y="337719"/>
                </a:lnTo>
                <a:close/>
              </a:path>
              <a:path w="267970" h="2078989">
                <a:moveTo>
                  <a:pt x="267455" y="433720"/>
                </a:moveTo>
                <a:lnTo>
                  <a:pt x="238655" y="433720"/>
                </a:lnTo>
                <a:lnTo>
                  <a:pt x="238655" y="481719"/>
                </a:lnTo>
                <a:lnTo>
                  <a:pt x="267455" y="481719"/>
                </a:lnTo>
                <a:lnTo>
                  <a:pt x="267455" y="433720"/>
                </a:lnTo>
                <a:close/>
              </a:path>
              <a:path w="267970" h="2078989">
                <a:moveTo>
                  <a:pt x="229055" y="433720"/>
                </a:moveTo>
                <a:lnTo>
                  <a:pt x="219455" y="433720"/>
                </a:lnTo>
                <a:lnTo>
                  <a:pt x="219455" y="481719"/>
                </a:lnTo>
                <a:lnTo>
                  <a:pt x="229055" y="481719"/>
                </a:lnTo>
                <a:lnTo>
                  <a:pt x="229055" y="433720"/>
                </a:lnTo>
                <a:close/>
              </a:path>
              <a:path w="267970" h="2078989">
                <a:moveTo>
                  <a:pt x="267455" y="529719"/>
                </a:moveTo>
                <a:lnTo>
                  <a:pt x="238655" y="529719"/>
                </a:lnTo>
                <a:lnTo>
                  <a:pt x="238655" y="577720"/>
                </a:lnTo>
                <a:lnTo>
                  <a:pt x="267455" y="577720"/>
                </a:lnTo>
                <a:lnTo>
                  <a:pt x="267455" y="529719"/>
                </a:lnTo>
                <a:close/>
              </a:path>
              <a:path w="267970" h="2078989">
                <a:moveTo>
                  <a:pt x="229055" y="529719"/>
                </a:moveTo>
                <a:lnTo>
                  <a:pt x="219455" y="529719"/>
                </a:lnTo>
                <a:lnTo>
                  <a:pt x="219455" y="577720"/>
                </a:lnTo>
                <a:lnTo>
                  <a:pt x="229055" y="577720"/>
                </a:lnTo>
                <a:lnTo>
                  <a:pt x="229055" y="529719"/>
                </a:lnTo>
                <a:close/>
              </a:path>
              <a:path w="267970" h="2078989">
                <a:moveTo>
                  <a:pt x="267455" y="625720"/>
                </a:moveTo>
                <a:lnTo>
                  <a:pt x="238655" y="625720"/>
                </a:lnTo>
                <a:lnTo>
                  <a:pt x="238655" y="673719"/>
                </a:lnTo>
                <a:lnTo>
                  <a:pt x="267455" y="673719"/>
                </a:lnTo>
                <a:lnTo>
                  <a:pt x="267455" y="625720"/>
                </a:lnTo>
                <a:close/>
              </a:path>
              <a:path w="267970" h="2078989">
                <a:moveTo>
                  <a:pt x="229055" y="625720"/>
                </a:moveTo>
                <a:lnTo>
                  <a:pt x="219455" y="625720"/>
                </a:lnTo>
                <a:lnTo>
                  <a:pt x="219455" y="673719"/>
                </a:lnTo>
                <a:lnTo>
                  <a:pt x="229055" y="673719"/>
                </a:lnTo>
                <a:lnTo>
                  <a:pt x="229055" y="625720"/>
                </a:lnTo>
                <a:close/>
              </a:path>
              <a:path w="267970" h="2078989">
                <a:moveTo>
                  <a:pt x="267455" y="721720"/>
                </a:moveTo>
                <a:lnTo>
                  <a:pt x="238655" y="721720"/>
                </a:lnTo>
                <a:lnTo>
                  <a:pt x="238655" y="769720"/>
                </a:lnTo>
                <a:lnTo>
                  <a:pt x="267455" y="769720"/>
                </a:lnTo>
                <a:lnTo>
                  <a:pt x="267455" y="721720"/>
                </a:lnTo>
                <a:close/>
              </a:path>
              <a:path w="267970" h="2078989">
                <a:moveTo>
                  <a:pt x="229055" y="721720"/>
                </a:moveTo>
                <a:lnTo>
                  <a:pt x="219455" y="721720"/>
                </a:lnTo>
                <a:lnTo>
                  <a:pt x="219455" y="769720"/>
                </a:lnTo>
                <a:lnTo>
                  <a:pt x="229055" y="769720"/>
                </a:lnTo>
                <a:lnTo>
                  <a:pt x="229055" y="721720"/>
                </a:lnTo>
                <a:close/>
              </a:path>
              <a:path w="267970" h="2078989">
                <a:moveTo>
                  <a:pt x="267455" y="817719"/>
                </a:moveTo>
                <a:lnTo>
                  <a:pt x="238655" y="817719"/>
                </a:lnTo>
                <a:lnTo>
                  <a:pt x="238655" y="865719"/>
                </a:lnTo>
                <a:lnTo>
                  <a:pt x="267455" y="865719"/>
                </a:lnTo>
                <a:lnTo>
                  <a:pt x="267455" y="817719"/>
                </a:lnTo>
                <a:close/>
              </a:path>
              <a:path w="267970" h="2078989">
                <a:moveTo>
                  <a:pt x="229055" y="817719"/>
                </a:moveTo>
                <a:lnTo>
                  <a:pt x="219455" y="817719"/>
                </a:lnTo>
                <a:lnTo>
                  <a:pt x="219455" y="865719"/>
                </a:lnTo>
                <a:lnTo>
                  <a:pt x="229055" y="865719"/>
                </a:lnTo>
                <a:lnTo>
                  <a:pt x="229055" y="817719"/>
                </a:lnTo>
                <a:close/>
              </a:path>
              <a:path w="267970" h="2078989">
                <a:moveTo>
                  <a:pt x="267455" y="913720"/>
                </a:moveTo>
                <a:lnTo>
                  <a:pt x="238655" y="913720"/>
                </a:lnTo>
                <a:lnTo>
                  <a:pt x="238655" y="961720"/>
                </a:lnTo>
                <a:lnTo>
                  <a:pt x="267455" y="961720"/>
                </a:lnTo>
                <a:lnTo>
                  <a:pt x="267455" y="913720"/>
                </a:lnTo>
                <a:close/>
              </a:path>
              <a:path w="267970" h="2078989">
                <a:moveTo>
                  <a:pt x="229055" y="913720"/>
                </a:moveTo>
                <a:lnTo>
                  <a:pt x="219455" y="913720"/>
                </a:lnTo>
                <a:lnTo>
                  <a:pt x="219455" y="961720"/>
                </a:lnTo>
                <a:lnTo>
                  <a:pt x="229055" y="961720"/>
                </a:lnTo>
                <a:lnTo>
                  <a:pt x="229055" y="913720"/>
                </a:lnTo>
                <a:close/>
              </a:path>
              <a:path w="267970" h="2078989">
                <a:moveTo>
                  <a:pt x="267455" y="1009719"/>
                </a:moveTo>
                <a:lnTo>
                  <a:pt x="238655" y="1009719"/>
                </a:lnTo>
                <a:lnTo>
                  <a:pt x="238655" y="1057719"/>
                </a:lnTo>
                <a:lnTo>
                  <a:pt x="267455" y="1057719"/>
                </a:lnTo>
                <a:lnTo>
                  <a:pt x="267455" y="1009719"/>
                </a:lnTo>
                <a:close/>
              </a:path>
              <a:path w="267970" h="2078989">
                <a:moveTo>
                  <a:pt x="229055" y="1009719"/>
                </a:moveTo>
                <a:lnTo>
                  <a:pt x="219455" y="1009719"/>
                </a:lnTo>
                <a:lnTo>
                  <a:pt x="219455" y="1057719"/>
                </a:lnTo>
                <a:lnTo>
                  <a:pt x="229055" y="1057719"/>
                </a:lnTo>
                <a:lnTo>
                  <a:pt x="229055" y="1009719"/>
                </a:lnTo>
                <a:close/>
              </a:path>
              <a:path w="267970" h="2078989">
                <a:moveTo>
                  <a:pt x="267455" y="1105720"/>
                </a:moveTo>
                <a:lnTo>
                  <a:pt x="238655" y="1105720"/>
                </a:lnTo>
                <a:lnTo>
                  <a:pt x="238655" y="1153720"/>
                </a:lnTo>
                <a:lnTo>
                  <a:pt x="267455" y="1153720"/>
                </a:lnTo>
                <a:lnTo>
                  <a:pt x="267455" y="1105720"/>
                </a:lnTo>
                <a:close/>
              </a:path>
              <a:path w="267970" h="2078989">
                <a:moveTo>
                  <a:pt x="229055" y="1105720"/>
                </a:moveTo>
                <a:lnTo>
                  <a:pt x="219455" y="1105720"/>
                </a:lnTo>
                <a:lnTo>
                  <a:pt x="219455" y="1153720"/>
                </a:lnTo>
                <a:lnTo>
                  <a:pt x="229055" y="1153720"/>
                </a:lnTo>
                <a:lnTo>
                  <a:pt x="229055" y="1105720"/>
                </a:lnTo>
                <a:close/>
              </a:path>
              <a:path w="267970" h="2078989">
                <a:moveTo>
                  <a:pt x="267455" y="1201719"/>
                </a:moveTo>
                <a:lnTo>
                  <a:pt x="238655" y="1201719"/>
                </a:lnTo>
                <a:lnTo>
                  <a:pt x="238655" y="1249720"/>
                </a:lnTo>
                <a:lnTo>
                  <a:pt x="267455" y="1249720"/>
                </a:lnTo>
                <a:lnTo>
                  <a:pt x="267455" y="1201719"/>
                </a:lnTo>
                <a:close/>
              </a:path>
              <a:path w="267970" h="2078989">
                <a:moveTo>
                  <a:pt x="229055" y="1201719"/>
                </a:moveTo>
                <a:lnTo>
                  <a:pt x="219455" y="1201719"/>
                </a:lnTo>
                <a:lnTo>
                  <a:pt x="219455" y="1249720"/>
                </a:lnTo>
                <a:lnTo>
                  <a:pt x="229055" y="1249720"/>
                </a:lnTo>
                <a:lnTo>
                  <a:pt x="229055" y="1201719"/>
                </a:lnTo>
                <a:close/>
              </a:path>
              <a:path w="267970" h="2078989">
                <a:moveTo>
                  <a:pt x="267455" y="1297720"/>
                </a:moveTo>
                <a:lnTo>
                  <a:pt x="238655" y="1297720"/>
                </a:lnTo>
                <a:lnTo>
                  <a:pt x="238655" y="1345719"/>
                </a:lnTo>
                <a:lnTo>
                  <a:pt x="267455" y="1345719"/>
                </a:lnTo>
                <a:lnTo>
                  <a:pt x="267455" y="1297720"/>
                </a:lnTo>
                <a:close/>
              </a:path>
              <a:path w="267970" h="2078989">
                <a:moveTo>
                  <a:pt x="229055" y="1297720"/>
                </a:moveTo>
                <a:lnTo>
                  <a:pt x="219455" y="1297720"/>
                </a:lnTo>
                <a:lnTo>
                  <a:pt x="219455" y="1345719"/>
                </a:lnTo>
                <a:lnTo>
                  <a:pt x="229055" y="1345719"/>
                </a:lnTo>
                <a:lnTo>
                  <a:pt x="229055" y="1297720"/>
                </a:lnTo>
                <a:close/>
              </a:path>
              <a:path w="267970" h="2078989">
                <a:moveTo>
                  <a:pt x="267455" y="1393719"/>
                </a:moveTo>
                <a:lnTo>
                  <a:pt x="238655" y="1393719"/>
                </a:lnTo>
                <a:lnTo>
                  <a:pt x="238655" y="1441720"/>
                </a:lnTo>
                <a:lnTo>
                  <a:pt x="267455" y="1441720"/>
                </a:lnTo>
                <a:lnTo>
                  <a:pt x="267455" y="1393719"/>
                </a:lnTo>
                <a:close/>
              </a:path>
              <a:path w="267970" h="2078989">
                <a:moveTo>
                  <a:pt x="229055" y="1393719"/>
                </a:moveTo>
                <a:lnTo>
                  <a:pt x="219455" y="1393719"/>
                </a:lnTo>
                <a:lnTo>
                  <a:pt x="219455" y="1441720"/>
                </a:lnTo>
                <a:lnTo>
                  <a:pt x="229055" y="1441720"/>
                </a:lnTo>
                <a:lnTo>
                  <a:pt x="229055" y="1393719"/>
                </a:lnTo>
                <a:close/>
              </a:path>
              <a:path w="267970" h="2078989">
                <a:moveTo>
                  <a:pt x="267455" y="1489720"/>
                </a:moveTo>
                <a:lnTo>
                  <a:pt x="238655" y="1489720"/>
                </a:lnTo>
                <a:lnTo>
                  <a:pt x="238655" y="1537719"/>
                </a:lnTo>
                <a:lnTo>
                  <a:pt x="267455" y="1537719"/>
                </a:lnTo>
                <a:lnTo>
                  <a:pt x="267455" y="1489720"/>
                </a:lnTo>
                <a:close/>
              </a:path>
              <a:path w="267970" h="2078989">
                <a:moveTo>
                  <a:pt x="229055" y="1489720"/>
                </a:moveTo>
                <a:lnTo>
                  <a:pt x="219455" y="1489720"/>
                </a:lnTo>
                <a:lnTo>
                  <a:pt x="219455" y="1537719"/>
                </a:lnTo>
                <a:lnTo>
                  <a:pt x="229055" y="1537719"/>
                </a:lnTo>
                <a:lnTo>
                  <a:pt x="229055" y="1489720"/>
                </a:lnTo>
                <a:close/>
              </a:path>
              <a:path w="267970" h="2078989">
                <a:moveTo>
                  <a:pt x="267455" y="1585720"/>
                </a:moveTo>
                <a:lnTo>
                  <a:pt x="238655" y="1585720"/>
                </a:lnTo>
                <a:lnTo>
                  <a:pt x="238655" y="1633720"/>
                </a:lnTo>
                <a:lnTo>
                  <a:pt x="267455" y="1633720"/>
                </a:lnTo>
                <a:lnTo>
                  <a:pt x="267455" y="1585720"/>
                </a:lnTo>
                <a:close/>
              </a:path>
              <a:path w="267970" h="2078989">
                <a:moveTo>
                  <a:pt x="229055" y="1585720"/>
                </a:moveTo>
                <a:lnTo>
                  <a:pt x="219455" y="1585720"/>
                </a:lnTo>
                <a:lnTo>
                  <a:pt x="219455" y="1633720"/>
                </a:lnTo>
                <a:lnTo>
                  <a:pt x="229055" y="1633720"/>
                </a:lnTo>
                <a:lnTo>
                  <a:pt x="229055" y="1585720"/>
                </a:lnTo>
                <a:close/>
              </a:path>
              <a:path w="267970" h="2078989">
                <a:moveTo>
                  <a:pt x="267455" y="1681720"/>
                </a:moveTo>
                <a:lnTo>
                  <a:pt x="238655" y="1681720"/>
                </a:lnTo>
                <a:lnTo>
                  <a:pt x="238655" y="1729719"/>
                </a:lnTo>
                <a:lnTo>
                  <a:pt x="267455" y="1729719"/>
                </a:lnTo>
                <a:lnTo>
                  <a:pt x="267455" y="1681720"/>
                </a:lnTo>
                <a:close/>
              </a:path>
              <a:path w="267970" h="2078989">
                <a:moveTo>
                  <a:pt x="229055" y="1681720"/>
                </a:moveTo>
                <a:lnTo>
                  <a:pt x="219455" y="1681720"/>
                </a:lnTo>
                <a:lnTo>
                  <a:pt x="219455" y="1729719"/>
                </a:lnTo>
                <a:lnTo>
                  <a:pt x="229055" y="1729719"/>
                </a:lnTo>
                <a:lnTo>
                  <a:pt x="229055" y="1681720"/>
                </a:lnTo>
                <a:close/>
              </a:path>
              <a:path w="267970" h="2078989">
                <a:moveTo>
                  <a:pt x="267455" y="1777720"/>
                </a:moveTo>
                <a:lnTo>
                  <a:pt x="238655" y="1777720"/>
                </a:lnTo>
                <a:lnTo>
                  <a:pt x="238655" y="1825720"/>
                </a:lnTo>
                <a:lnTo>
                  <a:pt x="267455" y="1825720"/>
                </a:lnTo>
                <a:lnTo>
                  <a:pt x="267455" y="1777720"/>
                </a:lnTo>
                <a:close/>
              </a:path>
              <a:path w="267970" h="2078989">
                <a:moveTo>
                  <a:pt x="229055" y="1777720"/>
                </a:moveTo>
                <a:lnTo>
                  <a:pt x="219455" y="1777720"/>
                </a:lnTo>
                <a:lnTo>
                  <a:pt x="219455" y="1825720"/>
                </a:lnTo>
                <a:lnTo>
                  <a:pt x="229055" y="1825720"/>
                </a:lnTo>
                <a:lnTo>
                  <a:pt x="229055" y="1777720"/>
                </a:lnTo>
                <a:close/>
              </a:path>
              <a:path w="267970" h="2078989">
                <a:moveTo>
                  <a:pt x="267455" y="1873719"/>
                </a:moveTo>
                <a:lnTo>
                  <a:pt x="238655" y="1873719"/>
                </a:lnTo>
                <a:lnTo>
                  <a:pt x="238655" y="1921719"/>
                </a:lnTo>
                <a:lnTo>
                  <a:pt x="267455" y="1921719"/>
                </a:lnTo>
                <a:lnTo>
                  <a:pt x="267455" y="1873719"/>
                </a:lnTo>
                <a:close/>
              </a:path>
              <a:path w="267970" h="2078989">
                <a:moveTo>
                  <a:pt x="229055" y="1873719"/>
                </a:moveTo>
                <a:lnTo>
                  <a:pt x="219455" y="1873719"/>
                </a:lnTo>
                <a:lnTo>
                  <a:pt x="219455" y="1921719"/>
                </a:lnTo>
                <a:lnTo>
                  <a:pt x="229055" y="1921719"/>
                </a:lnTo>
                <a:lnTo>
                  <a:pt x="229055" y="1873719"/>
                </a:lnTo>
                <a:close/>
              </a:path>
              <a:path w="267970" h="2078989">
                <a:moveTo>
                  <a:pt x="267455" y="1969720"/>
                </a:moveTo>
                <a:lnTo>
                  <a:pt x="238655" y="1969720"/>
                </a:lnTo>
                <a:lnTo>
                  <a:pt x="238655" y="2017720"/>
                </a:lnTo>
                <a:lnTo>
                  <a:pt x="267455" y="2017720"/>
                </a:lnTo>
                <a:lnTo>
                  <a:pt x="267455" y="1969720"/>
                </a:lnTo>
                <a:close/>
              </a:path>
              <a:path w="267970" h="2078989">
                <a:moveTo>
                  <a:pt x="229055" y="1969720"/>
                </a:moveTo>
                <a:lnTo>
                  <a:pt x="219455" y="1969720"/>
                </a:lnTo>
                <a:lnTo>
                  <a:pt x="219455" y="2017720"/>
                </a:lnTo>
                <a:lnTo>
                  <a:pt x="229055" y="2017720"/>
                </a:lnTo>
                <a:lnTo>
                  <a:pt x="229055" y="1969720"/>
                </a:lnTo>
                <a:close/>
              </a:path>
              <a:path w="267970" h="2078989">
                <a:moveTo>
                  <a:pt x="168918" y="2050166"/>
                </a:moveTo>
                <a:lnTo>
                  <a:pt x="168918" y="2078965"/>
                </a:lnTo>
                <a:lnTo>
                  <a:pt x="209285" y="2078845"/>
                </a:lnTo>
                <a:lnTo>
                  <a:pt x="218254" y="2077940"/>
                </a:lnTo>
                <a:lnTo>
                  <a:pt x="219831" y="2077619"/>
                </a:lnTo>
                <a:lnTo>
                  <a:pt x="223878" y="2076364"/>
                </a:lnTo>
                <a:lnTo>
                  <a:pt x="215753" y="2050190"/>
                </a:lnTo>
                <a:lnTo>
                  <a:pt x="168918" y="2050166"/>
                </a:lnTo>
                <a:close/>
              </a:path>
              <a:path w="267970" h="2078989">
                <a:moveTo>
                  <a:pt x="215339" y="2048859"/>
                </a:moveTo>
                <a:lnTo>
                  <a:pt x="213287" y="2049495"/>
                </a:lnTo>
                <a:lnTo>
                  <a:pt x="206396" y="2050190"/>
                </a:lnTo>
                <a:lnTo>
                  <a:pt x="215753" y="2050190"/>
                </a:lnTo>
                <a:lnTo>
                  <a:pt x="215339" y="2048859"/>
                </a:lnTo>
                <a:close/>
              </a:path>
              <a:path w="267970" h="2078989">
                <a:moveTo>
                  <a:pt x="168918" y="2030966"/>
                </a:moveTo>
                <a:lnTo>
                  <a:pt x="168918" y="2040566"/>
                </a:lnTo>
                <a:lnTo>
                  <a:pt x="205433" y="2040638"/>
                </a:lnTo>
                <a:lnTo>
                  <a:pt x="211364" y="2040041"/>
                </a:lnTo>
                <a:lnTo>
                  <a:pt x="212493" y="2039691"/>
                </a:lnTo>
                <a:lnTo>
                  <a:pt x="209823" y="2031086"/>
                </a:lnTo>
                <a:lnTo>
                  <a:pt x="204471" y="2031086"/>
                </a:lnTo>
                <a:lnTo>
                  <a:pt x="168918" y="2030966"/>
                </a:lnTo>
                <a:close/>
              </a:path>
              <a:path w="267970" h="2078989">
                <a:moveTo>
                  <a:pt x="209647" y="2030521"/>
                </a:moveTo>
                <a:lnTo>
                  <a:pt x="209440" y="2030586"/>
                </a:lnTo>
                <a:lnTo>
                  <a:pt x="204471" y="2031086"/>
                </a:lnTo>
                <a:lnTo>
                  <a:pt x="209823" y="2031086"/>
                </a:lnTo>
                <a:lnTo>
                  <a:pt x="209647" y="2030521"/>
                </a:lnTo>
                <a:close/>
              </a:path>
              <a:path w="267970" h="2078989">
                <a:moveTo>
                  <a:pt x="120917" y="2050166"/>
                </a:moveTo>
                <a:lnTo>
                  <a:pt x="72918" y="2050166"/>
                </a:lnTo>
                <a:lnTo>
                  <a:pt x="72918" y="2078965"/>
                </a:lnTo>
                <a:lnTo>
                  <a:pt x="120917" y="2078965"/>
                </a:lnTo>
                <a:lnTo>
                  <a:pt x="120917" y="2050166"/>
                </a:lnTo>
                <a:close/>
              </a:path>
              <a:path w="267970" h="2078989">
                <a:moveTo>
                  <a:pt x="120917" y="2030966"/>
                </a:moveTo>
                <a:lnTo>
                  <a:pt x="72918" y="2030966"/>
                </a:lnTo>
                <a:lnTo>
                  <a:pt x="72918" y="2040566"/>
                </a:lnTo>
                <a:lnTo>
                  <a:pt x="120917" y="2040566"/>
                </a:lnTo>
                <a:lnTo>
                  <a:pt x="120917" y="2030966"/>
                </a:lnTo>
                <a:close/>
              </a:path>
            </a:pathLst>
          </a:custGeom>
          <a:solidFill>
            <a:srgbClr val="5A63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98982" y="34361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98982" y="36393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98982" y="38425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98982" y="40457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98982" y="42489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98982" y="44521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98982" y="46553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98982" y="48585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98982" y="50617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98982" y="52649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18206" y="5557022"/>
            <a:ext cx="4270375" cy="375285"/>
          </a:xfrm>
          <a:custGeom>
            <a:avLst/>
            <a:gdLst/>
            <a:ahLst/>
            <a:cxnLst/>
            <a:rect l="l" t="t" r="r" b="b"/>
            <a:pathLst>
              <a:path w="4270375" h="375285">
                <a:moveTo>
                  <a:pt x="4270279" y="0"/>
                </a:moveTo>
                <a:lnTo>
                  <a:pt x="4264752" y="49844"/>
                </a:lnTo>
                <a:lnTo>
                  <a:pt x="4249154" y="94633"/>
                </a:lnTo>
                <a:lnTo>
                  <a:pt x="4224961" y="132580"/>
                </a:lnTo>
                <a:lnTo>
                  <a:pt x="4193647" y="161898"/>
                </a:lnTo>
                <a:lnTo>
                  <a:pt x="4156687" y="180799"/>
                </a:lnTo>
                <a:lnTo>
                  <a:pt x="4115556" y="187497"/>
                </a:lnTo>
                <a:lnTo>
                  <a:pt x="2289862" y="187497"/>
                </a:lnTo>
                <a:lnTo>
                  <a:pt x="2248730" y="194195"/>
                </a:lnTo>
                <a:lnTo>
                  <a:pt x="2211770" y="213096"/>
                </a:lnTo>
                <a:lnTo>
                  <a:pt x="2180456" y="242414"/>
                </a:lnTo>
                <a:lnTo>
                  <a:pt x="2156264" y="280361"/>
                </a:lnTo>
                <a:lnTo>
                  <a:pt x="2140666" y="325150"/>
                </a:lnTo>
                <a:lnTo>
                  <a:pt x="2135140" y="374995"/>
                </a:lnTo>
                <a:lnTo>
                  <a:pt x="2129613" y="325150"/>
                </a:lnTo>
                <a:lnTo>
                  <a:pt x="2114015" y="280361"/>
                </a:lnTo>
                <a:lnTo>
                  <a:pt x="2089822" y="242414"/>
                </a:lnTo>
                <a:lnTo>
                  <a:pt x="2058508" y="213096"/>
                </a:lnTo>
                <a:lnTo>
                  <a:pt x="2021548" y="194195"/>
                </a:lnTo>
                <a:lnTo>
                  <a:pt x="1980417" y="187497"/>
                </a:lnTo>
                <a:lnTo>
                  <a:pt x="154722" y="187497"/>
                </a:lnTo>
                <a:lnTo>
                  <a:pt x="113591" y="180799"/>
                </a:lnTo>
                <a:lnTo>
                  <a:pt x="76631" y="161898"/>
                </a:lnTo>
                <a:lnTo>
                  <a:pt x="45317" y="132580"/>
                </a:lnTo>
                <a:lnTo>
                  <a:pt x="21124" y="94633"/>
                </a:lnTo>
                <a:lnTo>
                  <a:pt x="5526" y="49844"/>
                </a:lnTo>
                <a:lnTo>
                  <a:pt x="0" y="0"/>
                </a:lnTo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465700" y="3392722"/>
            <a:ext cx="377190" cy="2030730"/>
          </a:xfrm>
          <a:custGeom>
            <a:avLst/>
            <a:gdLst/>
            <a:ahLst/>
            <a:cxnLst/>
            <a:rect l="l" t="t" r="r" b="b"/>
            <a:pathLst>
              <a:path w="377190" h="2030729">
                <a:moveTo>
                  <a:pt x="2" y="0"/>
                </a:moveTo>
                <a:lnTo>
                  <a:pt x="50100" y="6335"/>
                </a:lnTo>
                <a:lnTo>
                  <a:pt x="95117" y="24215"/>
                </a:lnTo>
                <a:lnTo>
                  <a:pt x="133257" y="51948"/>
                </a:lnTo>
                <a:lnTo>
                  <a:pt x="162725" y="87844"/>
                </a:lnTo>
                <a:lnTo>
                  <a:pt x="181722" y="130212"/>
                </a:lnTo>
                <a:lnTo>
                  <a:pt x="188454" y="177363"/>
                </a:lnTo>
                <a:lnTo>
                  <a:pt x="188452" y="837994"/>
                </a:lnTo>
                <a:lnTo>
                  <a:pt x="195183" y="885144"/>
                </a:lnTo>
                <a:lnTo>
                  <a:pt x="214181" y="927512"/>
                </a:lnTo>
                <a:lnTo>
                  <a:pt x="243648" y="963409"/>
                </a:lnTo>
                <a:lnTo>
                  <a:pt x="281788" y="991142"/>
                </a:lnTo>
                <a:lnTo>
                  <a:pt x="326806" y="1009022"/>
                </a:lnTo>
                <a:lnTo>
                  <a:pt x="376904" y="1015358"/>
                </a:lnTo>
                <a:lnTo>
                  <a:pt x="326806" y="1021693"/>
                </a:lnTo>
                <a:lnTo>
                  <a:pt x="281788" y="1039573"/>
                </a:lnTo>
                <a:lnTo>
                  <a:pt x="243648" y="1067306"/>
                </a:lnTo>
                <a:lnTo>
                  <a:pt x="214181" y="1103202"/>
                </a:lnTo>
                <a:lnTo>
                  <a:pt x="195183" y="1145570"/>
                </a:lnTo>
                <a:lnTo>
                  <a:pt x="188452" y="1192720"/>
                </a:lnTo>
                <a:lnTo>
                  <a:pt x="188452" y="1853351"/>
                </a:lnTo>
                <a:lnTo>
                  <a:pt x="181720" y="1900501"/>
                </a:lnTo>
                <a:lnTo>
                  <a:pt x="162722" y="1942870"/>
                </a:lnTo>
                <a:lnTo>
                  <a:pt x="133255" y="1978766"/>
                </a:lnTo>
                <a:lnTo>
                  <a:pt x="95115" y="2006499"/>
                </a:lnTo>
                <a:lnTo>
                  <a:pt x="50098" y="2024379"/>
                </a:lnTo>
                <a:lnTo>
                  <a:pt x="0" y="2030715"/>
                </a:lnTo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933646" y="3964940"/>
            <a:ext cx="2009775" cy="74803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250"/>
              </a:spcBef>
            </a:pPr>
            <a:r>
              <a:rPr dirty="0" sz="2400" spc="-50">
                <a:latin typeface="Arial"/>
                <a:cs typeface="Arial"/>
              </a:rPr>
              <a:t>Di</a:t>
            </a:r>
            <a:r>
              <a:rPr dirty="0" sz="2400" spc="-85">
                <a:latin typeface="Arial"/>
                <a:cs typeface="Arial"/>
              </a:rPr>
              <a:t>m</a:t>
            </a:r>
            <a:r>
              <a:rPr dirty="0" sz="2400" spc="-90">
                <a:latin typeface="Arial"/>
                <a:cs typeface="Arial"/>
              </a:rPr>
              <a:t>e</a:t>
            </a:r>
            <a:r>
              <a:rPr dirty="0" sz="2400" spc="-55">
                <a:latin typeface="Arial"/>
                <a:cs typeface="Arial"/>
              </a:rPr>
              <a:t>n</a:t>
            </a:r>
            <a:r>
              <a:rPr dirty="0" sz="2400" spc="-55">
                <a:latin typeface="Arial"/>
                <a:cs typeface="Arial"/>
              </a:rPr>
              <a:t>s</a:t>
            </a:r>
            <a:r>
              <a:rPr dirty="0" sz="2400" spc="-25">
                <a:latin typeface="Arial"/>
                <a:cs typeface="Arial"/>
              </a:rPr>
              <a:t>i</a:t>
            </a:r>
            <a:r>
              <a:rPr dirty="0" sz="2400" spc="-65">
                <a:latin typeface="Arial"/>
                <a:cs typeface="Arial"/>
              </a:rPr>
              <a:t>o</a:t>
            </a:r>
            <a:r>
              <a:rPr dirty="0" sz="2400" spc="-55">
                <a:latin typeface="Arial"/>
                <a:cs typeface="Arial"/>
              </a:rPr>
              <a:t>n</a:t>
            </a:r>
            <a:r>
              <a:rPr dirty="0" sz="2400" spc="125">
                <a:latin typeface="Arial"/>
                <a:cs typeface="Arial"/>
              </a:rPr>
              <a:t>/</a:t>
            </a:r>
            <a:r>
              <a:rPr dirty="0" sz="2400" spc="-55">
                <a:latin typeface="Arial"/>
                <a:cs typeface="Arial"/>
              </a:rPr>
              <a:t>s</a:t>
            </a:r>
            <a:r>
              <a:rPr dirty="0" sz="2400" spc="-50">
                <a:latin typeface="Arial"/>
                <a:cs typeface="Arial"/>
              </a:rPr>
              <a:t>i</a:t>
            </a:r>
            <a:r>
              <a:rPr dirty="0" sz="2400" spc="-125">
                <a:latin typeface="Arial"/>
                <a:cs typeface="Arial"/>
              </a:rPr>
              <a:t>z</a:t>
            </a:r>
            <a:r>
              <a:rPr dirty="0" sz="2400" spc="-60">
                <a:latin typeface="Arial"/>
                <a:cs typeface="Arial"/>
              </a:rPr>
              <a:t>e  </a:t>
            </a:r>
            <a:r>
              <a:rPr dirty="0" sz="2400" spc="-25">
                <a:latin typeface="Arial"/>
                <a:cs typeface="Arial"/>
              </a:rPr>
              <a:t>of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embeddings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3145" y="5839459"/>
            <a:ext cx="28327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one </a:t>
            </a:r>
            <a:r>
              <a:rPr dirty="0" sz="2400" spc="-25">
                <a:latin typeface="Arial"/>
                <a:cs typeface="Arial"/>
              </a:rPr>
              <a:t>column </a:t>
            </a:r>
            <a:r>
              <a:rPr dirty="0" sz="2400" spc="-35">
                <a:latin typeface="Arial"/>
                <a:cs typeface="Arial"/>
              </a:rPr>
              <a:t>per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789" y="2904235"/>
            <a:ext cx="1511300" cy="74803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354330" marR="5080" indent="-342265">
              <a:lnSpc>
                <a:spcPts val="2810"/>
              </a:lnSpc>
              <a:spcBef>
                <a:spcPts val="250"/>
              </a:spcBef>
            </a:pPr>
            <a:r>
              <a:rPr dirty="0" sz="2400" spc="-40">
                <a:latin typeface="Arial"/>
                <a:cs typeface="Arial"/>
              </a:rPr>
              <a:t>e</a:t>
            </a:r>
            <a:r>
              <a:rPr dirty="0" sz="2400" spc="-60">
                <a:latin typeface="Arial"/>
                <a:cs typeface="Arial"/>
              </a:rPr>
              <a:t>m</a:t>
            </a:r>
            <a:r>
              <a:rPr dirty="0" sz="2400" spc="30">
                <a:latin typeface="Arial"/>
                <a:cs typeface="Arial"/>
              </a:rPr>
              <a:t>b</a:t>
            </a:r>
            <a:r>
              <a:rPr dirty="0" sz="2400" spc="-25">
                <a:latin typeface="Arial"/>
                <a:cs typeface="Arial"/>
              </a:rPr>
              <a:t>e</a:t>
            </a:r>
            <a:r>
              <a:rPr dirty="0" sz="2400" spc="-30">
                <a:latin typeface="Arial"/>
                <a:cs typeface="Arial"/>
              </a:rPr>
              <a:t>d</a:t>
            </a:r>
            <a:r>
              <a:rPr dirty="0" sz="2400" spc="30">
                <a:latin typeface="Arial"/>
                <a:cs typeface="Arial"/>
              </a:rPr>
              <a:t>d</a:t>
            </a:r>
            <a:r>
              <a:rPr dirty="0" sz="2400" spc="-85">
                <a:latin typeface="Arial"/>
                <a:cs typeface="Arial"/>
              </a:rPr>
              <a:t>i</a:t>
            </a:r>
            <a:r>
              <a:rPr dirty="0" sz="2400" spc="-55">
                <a:latin typeface="Arial"/>
                <a:cs typeface="Arial"/>
              </a:rPr>
              <a:t>n</a:t>
            </a:r>
            <a:r>
              <a:rPr dirty="0" sz="2400" spc="-5">
                <a:latin typeface="Arial"/>
                <a:cs typeface="Arial"/>
              </a:rPr>
              <a:t>g  </a:t>
            </a:r>
            <a:r>
              <a:rPr dirty="0" sz="2400" spc="-40"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62143" y="3635729"/>
            <a:ext cx="189230" cy="415925"/>
          </a:xfrm>
          <a:custGeom>
            <a:avLst/>
            <a:gdLst/>
            <a:ahLst/>
            <a:cxnLst/>
            <a:rect l="l" t="t" r="r" b="b"/>
            <a:pathLst>
              <a:path w="189230" h="415925">
                <a:moveTo>
                  <a:pt x="151068" y="346861"/>
                </a:moveTo>
                <a:lnTo>
                  <a:pt x="119097" y="360918"/>
                </a:lnTo>
                <a:lnTo>
                  <a:pt x="184645" y="415338"/>
                </a:lnTo>
                <a:lnTo>
                  <a:pt x="187340" y="360822"/>
                </a:lnTo>
                <a:lnTo>
                  <a:pt x="158759" y="360822"/>
                </a:lnTo>
                <a:lnTo>
                  <a:pt x="156885" y="360091"/>
                </a:lnTo>
                <a:lnTo>
                  <a:pt x="151068" y="346861"/>
                </a:lnTo>
                <a:close/>
              </a:path>
              <a:path w="189230" h="415925">
                <a:moveTo>
                  <a:pt x="156881" y="344305"/>
                </a:moveTo>
                <a:lnTo>
                  <a:pt x="151068" y="346861"/>
                </a:lnTo>
                <a:lnTo>
                  <a:pt x="156885" y="360091"/>
                </a:lnTo>
                <a:lnTo>
                  <a:pt x="158759" y="360822"/>
                </a:lnTo>
                <a:lnTo>
                  <a:pt x="161969" y="359410"/>
                </a:lnTo>
                <a:lnTo>
                  <a:pt x="162698" y="357536"/>
                </a:lnTo>
                <a:lnTo>
                  <a:pt x="156881" y="344305"/>
                </a:lnTo>
                <a:close/>
              </a:path>
              <a:path w="189230" h="415925">
                <a:moveTo>
                  <a:pt x="188852" y="330248"/>
                </a:moveTo>
                <a:lnTo>
                  <a:pt x="156881" y="344305"/>
                </a:lnTo>
                <a:lnTo>
                  <a:pt x="162698" y="357536"/>
                </a:lnTo>
                <a:lnTo>
                  <a:pt x="161969" y="359410"/>
                </a:lnTo>
                <a:lnTo>
                  <a:pt x="158759" y="360822"/>
                </a:lnTo>
                <a:lnTo>
                  <a:pt x="187340" y="360822"/>
                </a:lnTo>
                <a:lnTo>
                  <a:pt x="188852" y="330248"/>
                </a:lnTo>
                <a:close/>
              </a:path>
              <a:path w="189230" h="415925">
                <a:moveTo>
                  <a:pt x="3939" y="0"/>
                </a:moveTo>
                <a:lnTo>
                  <a:pt x="729" y="1410"/>
                </a:lnTo>
                <a:lnTo>
                  <a:pt x="0" y="3284"/>
                </a:lnTo>
                <a:lnTo>
                  <a:pt x="151068" y="346861"/>
                </a:lnTo>
                <a:lnTo>
                  <a:pt x="156881" y="344305"/>
                </a:lnTo>
                <a:lnTo>
                  <a:pt x="5812" y="728"/>
                </a:lnTo>
                <a:lnTo>
                  <a:pt x="393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185115" y="2517139"/>
            <a:ext cx="3080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"/>
                <a:cs typeface="Arial"/>
              </a:rPr>
              <a:t>embedding vector </a:t>
            </a:r>
            <a:r>
              <a:rPr dirty="0" sz="2400" spc="-30">
                <a:latin typeface="Arial"/>
                <a:cs typeface="Arial"/>
              </a:rPr>
              <a:t>for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42340" y="2873755"/>
            <a:ext cx="1766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Arial"/>
                <a:cs typeface="Arial"/>
              </a:rPr>
              <a:t>specific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559081" y="3234700"/>
            <a:ext cx="1087755" cy="890269"/>
          </a:xfrm>
          <a:custGeom>
            <a:avLst/>
            <a:gdLst/>
            <a:ahLst/>
            <a:cxnLst/>
            <a:rect l="l" t="t" r="r" b="b"/>
            <a:pathLst>
              <a:path w="1087754" h="890270">
                <a:moveTo>
                  <a:pt x="34848" y="812518"/>
                </a:moveTo>
                <a:lnTo>
                  <a:pt x="0" y="890258"/>
                </a:lnTo>
                <a:lnTo>
                  <a:pt x="83102" y="871493"/>
                </a:lnTo>
                <a:lnTo>
                  <a:pt x="68474" y="853615"/>
                </a:lnTo>
                <a:lnTo>
                  <a:pt x="49799" y="853615"/>
                </a:lnTo>
                <a:lnTo>
                  <a:pt x="47798" y="853415"/>
                </a:lnTo>
                <a:lnTo>
                  <a:pt x="45579" y="850700"/>
                </a:lnTo>
                <a:lnTo>
                  <a:pt x="45778" y="848700"/>
                </a:lnTo>
                <a:lnTo>
                  <a:pt x="56964" y="839547"/>
                </a:lnTo>
                <a:lnTo>
                  <a:pt x="34848" y="812518"/>
                </a:lnTo>
                <a:close/>
              </a:path>
              <a:path w="1087754" h="890270">
                <a:moveTo>
                  <a:pt x="56964" y="839547"/>
                </a:moveTo>
                <a:lnTo>
                  <a:pt x="45778" y="848700"/>
                </a:lnTo>
                <a:lnTo>
                  <a:pt x="45579" y="850700"/>
                </a:lnTo>
                <a:lnTo>
                  <a:pt x="47798" y="853415"/>
                </a:lnTo>
                <a:lnTo>
                  <a:pt x="49799" y="853615"/>
                </a:lnTo>
                <a:lnTo>
                  <a:pt x="60985" y="844462"/>
                </a:lnTo>
                <a:lnTo>
                  <a:pt x="56964" y="839547"/>
                </a:lnTo>
                <a:close/>
              </a:path>
              <a:path w="1087754" h="890270">
                <a:moveTo>
                  <a:pt x="60985" y="844462"/>
                </a:moveTo>
                <a:lnTo>
                  <a:pt x="49799" y="853615"/>
                </a:lnTo>
                <a:lnTo>
                  <a:pt x="68474" y="853615"/>
                </a:lnTo>
                <a:lnTo>
                  <a:pt x="60985" y="844462"/>
                </a:lnTo>
                <a:close/>
              </a:path>
              <a:path w="1087754" h="890270">
                <a:moveTo>
                  <a:pt x="1083077" y="0"/>
                </a:moveTo>
                <a:lnTo>
                  <a:pt x="56964" y="839547"/>
                </a:lnTo>
                <a:lnTo>
                  <a:pt x="60985" y="844462"/>
                </a:lnTo>
                <a:lnTo>
                  <a:pt x="1087098" y="4914"/>
                </a:lnTo>
                <a:lnTo>
                  <a:pt x="1087299" y="2914"/>
                </a:lnTo>
                <a:lnTo>
                  <a:pt x="1085077" y="199"/>
                </a:lnTo>
                <a:lnTo>
                  <a:pt x="10830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69490" y="4074667"/>
            <a:ext cx="100456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Cambria Math"/>
                <a:cs typeface="Cambria Math"/>
              </a:rPr>
              <a:t>𝐙</a:t>
            </a:r>
            <a:r>
              <a:rPr dirty="0" sz="4800" spc="160">
                <a:latin typeface="Cambria Math"/>
                <a:cs typeface="Cambria Math"/>
              </a:rPr>
              <a:t> </a:t>
            </a:r>
            <a:r>
              <a:rPr dirty="0" sz="4800">
                <a:latin typeface="Cambria Math"/>
                <a:cs typeface="Cambria Math"/>
              </a:rPr>
              <a:t>=</a:t>
            </a:r>
            <a:endParaRPr sz="4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8889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830184" cy="48323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z="3200" spc="-10">
                <a:latin typeface="Calibri"/>
                <a:cs typeface="Calibri"/>
              </a:rPr>
              <a:t>Simplest encoding approach: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Encoder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just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an 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embedding-lookup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Times New Roman"/>
              <a:cs typeface="Times New Roman"/>
            </a:endParaRPr>
          </a:p>
          <a:p>
            <a:pPr marL="2406015" marR="1291590" indent="-1067435">
              <a:lnSpc>
                <a:spcPct val="101899"/>
              </a:lnSpc>
            </a:pPr>
            <a:r>
              <a:rPr dirty="0" sz="3200" spc="-15" b="1">
                <a:latin typeface="Calibri"/>
                <a:cs typeface="Calibri"/>
              </a:rPr>
              <a:t>Each </a:t>
            </a:r>
            <a:r>
              <a:rPr dirty="0" sz="3200" spc="-5" b="1">
                <a:latin typeface="Calibri"/>
                <a:cs typeface="Calibri"/>
              </a:rPr>
              <a:t>node </a:t>
            </a:r>
            <a:r>
              <a:rPr dirty="0" sz="3200" b="1">
                <a:latin typeface="Calibri"/>
                <a:cs typeface="Calibri"/>
              </a:rPr>
              <a:t>is </a:t>
            </a:r>
            <a:r>
              <a:rPr dirty="0" sz="3200" spc="-5" b="1">
                <a:latin typeface="Calibri"/>
                <a:cs typeface="Calibri"/>
              </a:rPr>
              <a:t>assigned </a:t>
            </a:r>
            <a:r>
              <a:rPr dirty="0" sz="3200" b="1">
                <a:latin typeface="Calibri"/>
                <a:cs typeface="Calibri"/>
              </a:rPr>
              <a:t>a</a:t>
            </a:r>
            <a:r>
              <a:rPr dirty="0" sz="3200" spc="-5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unique  embedding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vector</a:t>
            </a:r>
            <a:endParaRPr sz="3200">
              <a:latin typeface="Calibri"/>
              <a:cs typeface="Calibri"/>
            </a:endParaRPr>
          </a:p>
          <a:p>
            <a:pPr marL="1493520" marR="1447800" indent="364490">
              <a:lnSpc>
                <a:spcPts val="3790"/>
              </a:lnSpc>
              <a:spcBef>
                <a:spcPts val="114"/>
              </a:spcBef>
            </a:pPr>
            <a:r>
              <a:rPr dirty="0" sz="3200" spc="-5">
                <a:latin typeface="Calibri"/>
                <a:cs typeface="Calibri"/>
              </a:rPr>
              <a:t>(i.e., </a:t>
            </a:r>
            <a:r>
              <a:rPr dirty="0" sz="3200" spc="-15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directly </a:t>
            </a:r>
            <a:r>
              <a:rPr dirty="0" sz="3200" spc="-15">
                <a:latin typeface="Calibri"/>
                <a:cs typeface="Calibri"/>
              </a:rPr>
              <a:t>optimize 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embedding of each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node)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70"/>
              </a:spcBef>
            </a:pPr>
            <a:r>
              <a:rPr dirty="0" sz="3200" spc="-15">
                <a:latin typeface="Calibri"/>
                <a:cs typeface="Calibri"/>
              </a:rPr>
              <a:t>Many </a:t>
            </a:r>
            <a:r>
              <a:rPr dirty="0" sz="3200" spc="-5">
                <a:latin typeface="Calibri"/>
                <a:cs typeface="Calibri"/>
              </a:rPr>
              <a:t>methods: </a:t>
            </a:r>
            <a:r>
              <a:rPr dirty="0" sz="3200" spc="-15">
                <a:latin typeface="Calibri"/>
                <a:cs typeface="Calibri"/>
              </a:rPr>
              <a:t>DeepWalk,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node2vec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28828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5232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6BB76D"/>
                </a:solidFill>
                <a:latin typeface="Calibri"/>
                <a:cs typeface="Calibri"/>
              </a:rPr>
              <a:t>Encoder </a:t>
            </a:r>
            <a:r>
              <a:rPr dirty="0" b="1">
                <a:solidFill>
                  <a:srgbClr val="6BB76D"/>
                </a:solidFill>
                <a:latin typeface="Calibri"/>
                <a:cs typeface="Calibri"/>
              </a:rPr>
              <a:t>+ </a:t>
            </a:r>
            <a:r>
              <a:rPr dirty="0" spc="-5" b="1">
                <a:solidFill>
                  <a:srgbClr val="6BB76D"/>
                </a:solidFill>
                <a:latin typeface="Calibri"/>
                <a:cs typeface="Calibri"/>
              </a:rPr>
              <a:t>Decoder</a:t>
            </a:r>
            <a:r>
              <a:rPr dirty="0" spc="-30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6BB76D"/>
                </a:solidFill>
                <a:latin typeface="Calibri"/>
                <a:cs typeface="Calibri"/>
              </a:rPr>
              <a:t>Framework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7329170" cy="302196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Shallow encoder: embedding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lookup</a:t>
            </a:r>
            <a:endParaRPr sz="2800">
              <a:latin typeface="Calibri"/>
              <a:cs typeface="Calibri"/>
            </a:endParaRPr>
          </a:p>
          <a:p>
            <a:pPr marL="287020" marR="245745" indent="-274320">
              <a:lnSpc>
                <a:spcPts val="329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>
                <a:latin typeface="Calibri"/>
                <a:cs typeface="Calibri"/>
              </a:rPr>
              <a:t>Parameters </a:t>
            </a:r>
            <a:r>
              <a:rPr dirty="0" sz="2800" spc="-15">
                <a:latin typeface="Calibri"/>
                <a:cs typeface="Calibri"/>
              </a:rPr>
              <a:t>to optimize: </a:t>
            </a:r>
            <a:r>
              <a:rPr dirty="0" sz="2800">
                <a:latin typeface="Cambria Math"/>
                <a:cs typeface="Cambria Math"/>
              </a:rPr>
              <a:t>𝐙 </a:t>
            </a:r>
            <a:r>
              <a:rPr dirty="0" sz="2800" spc="-5">
                <a:latin typeface="Calibri"/>
                <a:cs typeface="Calibri"/>
              </a:rPr>
              <a:t>which </a:t>
            </a:r>
            <a:r>
              <a:rPr dirty="0" sz="2800" spc="-15">
                <a:latin typeface="Calibri"/>
                <a:cs typeface="Calibri"/>
              </a:rPr>
              <a:t>contains </a:t>
            </a:r>
            <a:r>
              <a:rPr dirty="0" sz="2800" spc="-150">
                <a:latin typeface="Calibri"/>
                <a:cs typeface="Calibri"/>
              </a:rPr>
              <a:t>node  </a:t>
            </a:r>
            <a:r>
              <a:rPr dirty="0" sz="2800" spc="-5">
                <a:latin typeface="Calibri"/>
                <a:cs typeface="Calibri"/>
              </a:rPr>
              <a:t>embeddings </a:t>
            </a:r>
            <a:r>
              <a:rPr dirty="0" sz="2800" spc="405">
                <a:latin typeface="Cambria Math"/>
                <a:cs typeface="Cambria Math"/>
              </a:rPr>
              <a:t>𝐳</a:t>
            </a:r>
            <a:r>
              <a:rPr dirty="0" baseline="-16666" sz="3000" spc="607">
                <a:latin typeface="Cambria Math"/>
                <a:cs typeface="Cambria Math"/>
              </a:rPr>
              <a:t>'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all nodes </a:t>
            </a:r>
            <a:r>
              <a:rPr dirty="0" sz="2800">
                <a:latin typeface="Cambria Math"/>
                <a:cs typeface="Cambria Math"/>
              </a:rPr>
              <a:t>𝑢 ∈</a:t>
            </a:r>
            <a:r>
              <a:rPr dirty="0" sz="2800" spc="11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𝑉</a:t>
            </a:r>
            <a:endParaRPr sz="28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 spc="-15">
                <a:latin typeface="Calibri"/>
                <a:cs typeface="Calibri"/>
              </a:rPr>
              <a:t>cover </a:t>
            </a:r>
            <a:r>
              <a:rPr dirty="0" sz="2800" spc="-5">
                <a:latin typeface="Calibri"/>
                <a:cs typeface="Calibri"/>
              </a:rPr>
              <a:t>deep </a:t>
            </a:r>
            <a:r>
              <a:rPr dirty="0" sz="2800" spc="-15">
                <a:latin typeface="Calibri"/>
                <a:cs typeface="Calibri"/>
              </a:rPr>
              <a:t>encoders </a:t>
            </a:r>
            <a:r>
              <a:rPr dirty="0" sz="2800" spc="-5">
                <a:latin typeface="Calibri"/>
                <a:cs typeface="Calibri"/>
              </a:rPr>
              <a:t>(GNNs) in </a:t>
            </a:r>
            <a:r>
              <a:rPr dirty="0" sz="2800" spc="-10">
                <a:latin typeface="Calibri"/>
                <a:cs typeface="Calibri"/>
              </a:rPr>
              <a:t>Lecture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 spc="-515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60B5CC"/>
              </a:buClr>
              <a:buFont typeface="Malgun Gothic"/>
              <a:buChar char="▪"/>
            </a:pPr>
            <a:endParaRPr sz="4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Decoder: </a:t>
            </a:r>
            <a:r>
              <a:rPr dirty="0" sz="2800" spc="-5">
                <a:latin typeface="Calibri"/>
                <a:cs typeface="Calibri"/>
              </a:rPr>
              <a:t>based on node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similarity.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4916932"/>
            <a:ext cx="38728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Objective: </a:t>
            </a:r>
            <a:r>
              <a:rPr dirty="0" sz="2800" spc="-15">
                <a:latin typeface="Calibri"/>
                <a:cs typeface="Calibri"/>
              </a:rPr>
              <a:t>maximize  </a:t>
            </a:r>
            <a:r>
              <a:rPr dirty="0" sz="2800" spc="65">
                <a:latin typeface="Cambria Math"/>
                <a:cs typeface="Cambria Math"/>
              </a:rPr>
              <a:t>𝐳</a:t>
            </a:r>
            <a:r>
              <a:rPr dirty="0" baseline="29166" sz="3000" spc="97">
                <a:latin typeface="Cambria Math"/>
                <a:cs typeface="Cambria Math"/>
              </a:rPr>
              <a:t>)</a:t>
            </a:r>
            <a:r>
              <a:rPr dirty="0" sz="2800" spc="65">
                <a:latin typeface="Cambria Math"/>
                <a:cs typeface="Cambria Math"/>
              </a:rPr>
              <a:t>𝐳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30966" y="5091684"/>
            <a:ext cx="5638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5445" algn="l"/>
              </a:tabLst>
            </a:pPr>
            <a:r>
              <a:rPr dirty="0" sz="2000" spc="300">
                <a:latin typeface="Cambria Math"/>
                <a:cs typeface="Cambria Math"/>
              </a:rPr>
              <a:t>(</a:t>
            </a:r>
            <a:r>
              <a:rPr dirty="0" sz="2000" spc="300">
                <a:latin typeface="Cambria Math"/>
                <a:cs typeface="Cambria Math"/>
              </a:rPr>
              <a:t>	</a:t>
            </a:r>
            <a:r>
              <a:rPr dirty="0" sz="2000" spc="825">
                <a:latin typeface="Cambria Math"/>
                <a:cs typeface="Cambria Math"/>
              </a:rPr>
              <a:t>'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72507" y="4916932"/>
            <a:ext cx="29591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15">
                <a:latin typeface="Calibri"/>
                <a:cs typeface="Calibri"/>
              </a:rPr>
              <a:t>pairs </a:t>
            </a:r>
            <a:r>
              <a:rPr dirty="0" sz="2800" spc="25">
                <a:latin typeface="Cambria Math"/>
                <a:cs typeface="Cambria Math"/>
              </a:rPr>
              <a:t>(𝑢,</a:t>
            </a:r>
            <a:r>
              <a:rPr dirty="0" sz="2800" spc="-160">
                <a:latin typeface="Cambria Math"/>
                <a:cs typeface="Cambria Math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𝑣)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883" y="5349747"/>
            <a:ext cx="22390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15">
                <a:latin typeface="Calibri"/>
                <a:cs typeface="Calibri"/>
              </a:rPr>
              <a:t>are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similar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68705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71525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30"/>
              <a:t>Key </a:t>
            </a:r>
            <a:r>
              <a:rPr dirty="0" sz="3000" spc="-5"/>
              <a:t>choice </a:t>
            </a:r>
            <a:r>
              <a:rPr dirty="0" sz="3000"/>
              <a:t>of </a:t>
            </a:r>
            <a:r>
              <a:rPr dirty="0" sz="3000" spc="-10"/>
              <a:t>methods </a:t>
            </a:r>
            <a:r>
              <a:rPr dirty="0" sz="3000" spc="-5"/>
              <a:t>is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how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they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define node 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similarity.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593339"/>
            <a:ext cx="8020050" cy="3538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marR="57785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latin typeface="Calibri"/>
                <a:cs typeface="Calibri"/>
              </a:rPr>
              <a:t>Should </a:t>
            </a:r>
            <a:r>
              <a:rPr dirty="0" sz="3000" spc="-10">
                <a:latin typeface="Calibri"/>
                <a:cs typeface="Calibri"/>
              </a:rPr>
              <a:t>two </a:t>
            </a:r>
            <a:r>
              <a:rPr dirty="0" sz="3000" spc="-5">
                <a:latin typeface="Calibri"/>
                <a:cs typeface="Calibri"/>
              </a:rPr>
              <a:t>nodes </a:t>
            </a:r>
            <a:r>
              <a:rPr dirty="0" sz="3000" spc="-25">
                <a:latin typeface="Calibri"/>
                <a:cs typeface="Calibri"/>
              </a:rPr>
              <a:t>have </a:t>
            </a:r>
            <a:r>
              <a:rPr dirty="0" sz="3000">
                <a:latin typeface="Calibri"/>
                <a:cs typeface="Calibri"/>
              </a:rPr>
              <a:t>a </a:t>
            </a:r>
            <a:r>
              <a:rPr dirty="0" sz="3000" spc="-5">
                <a:latin typeface="Calibri"/>
                <a:cs typeface="Calibri"/>
              </a:rPr>
              <a:t>similar embedding if  </a:t>
            </a:r>
            <a:r>
              <a:rPr dirty="0" sz="3000" spc="-10">
                <a:latin typeface="Calibri"/>
                <a:cs typeface="Calibri"/>
              </a:rPr>
              <a:t>they…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dirty="0" sz="2400" spc="-7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linked?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share</a:t>
            </a:r>
            <a:r>
              <a:rPr dirty="0" sz="2400" spc="-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neighbors?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have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similar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“structural</a:t>
            </a:r>
            <a:r>
              <a:rPr dirty="0" sz="24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roles”?</a:t>
            </a:r>
            <a:endParaRPr sz="2400">
              <a:latin typeface="Calibri"/>
              <a:cs typeface="Calibri"/>
            </a:endParaRPr>
          </a:p>
          <a:p>
            <a:pPr marL="332740" marR="5080" indent="-320040">
              <a:lnSpc>
                <a:spcPct val="996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will now learn node similarity </a:t>
            </a:r>
            <a:r>
              <a:rPr dirty="0" sz="2800" spc="-10">
                <a:latin typeface="Calibri"/>
                <a:cs typeface="Calibri"/>
              </a:rPr>
              <a:t>definition that </a:t>
            </a:r>
            <a:r>
              <a:rPr dirty="0" sz="2800" spc="-5">
                <a:latin typeface="Calibri"/>
                <a:cs typeface="Calibri"/>
              </a:rPr>
              <a:t>uses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random walks</a:t>
            </a:r>
            <a:r>
              <a:rPr dirty="0" sz="2800" spc="-1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and how </a:t>
            </a:r>
            <a:r>
              <a:rPr dirty="0" sz="2800" spc="-15">
                <a:latin typeface="Calibri"/>
                <a:cs typeface="Calibri"/>
              </a:rPr>
              <a:t>to optimize </a:t>
            </a:r>
            <a:r>
              <a:rPr dirty="0" sz="2800" spc="-5">
                <a:latin typeface="Calibri"/>
                <a:cs typeface="Calibri"/>
              </a:rPr>
              <a:t>embeddings </a:t>
            </a:r>
            <a:r>
              <a:rPr dirty="0" sz="2800" spc="-25">
                <a:latin typeface="Calibri"/>
                <a:cs typeface="Calibri"/>
              </a:rPr>
              <a:t>for  </a:t>
            </a:r>
            <a:r>
              <a:rPr dirty="0" sz="2800">
                <a:latin typeface="Calibri"/>
                <a:cs typeface="Calibri"/>
              </a:rPr>
              <a:t>such a </a:t>
            </a:r>
            <a:r>
              <a:rPr dirty="0" sz="2800" spc="-5">
                <a:latin typeface="Calibri"/>
                <a:cs typeface="Calibri"/>
              </a:rPr>
              <a:t>similarity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measure.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60196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8888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This is </a:t>
            </a:r>
            <a:r>
              <a:rPr dirty="0" spc="-10" b="1">
                <a:solidFill>
                  <a:srgbClr val="E66C7D"/>
                </a:solidFill>
                <a:latin typeface="Calibri"/>
                <a:cs typeface="Calibri"/>
              </a:rPr>
              <a:t>unsupervised/self-supervised </a:t>
            </a:r>
            <a:r>
              <a:rPr dirty="0" spc="-35"/>
              <a:t>way </a:t>
            </a:r>
            <a:r>
              <a:rPr dirty="0"/>
              <a:t>of  </a:t>
            </a:r>
            <a:r>
              <a:rPr dirty="0" spc="-5"/>
              <a:t>learning </a:t>
            </a:r>
            <a:r>
              <a:rPr dirty="0"/>
              <a:t>node</a:t>
            </a:r>
            <a:r>
              <a:rPr dirty="0" spc="15"/>
              <a:t> </a:t>
            </a:r>
            <a:r>
              <a:rPr dirty="0" spc="-5"/>
              <a:t>embeddings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332227"/>
            <a:ext cx="8079105" cy="425640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5" b="1">
                <a:latin typeface="Calibri"/>
                <a:cs typeface="Calibri"/>
              </a:rPr>
              <a:t>not </a:t>
            </a:r>
            <a:r>
              <a:rPr dirty="0" sz="2800" spc="-5">
                <a:latin typeface="Calibri"/>
                <a:cs typeface="Calibri"/>
              </a:rPr>
              <a:t>utilizing node labels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5" b="1">
                <a:latin typeface="Calibri"/>
                <a:cs typeface="Calibri"/>
              </a:rPr>
              <a:t>not </a:t>
            </a:r>
            <a:r>
              <a:rPr dirty="0" sz="2800" spc="-5">
                <a:latin typeface="Calibri"/>
                <a:cs typeface="Calibri"/>
              </a:rPr>
              <a:t>utilizing node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  <a:p>
            <a:pPr marL="625475" marR="508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goal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directly </a:t>
            </a:r>
            <a:r>
              <a:rPr dirty="0" sz="2800" spc="-15">
                <a:latin typeface="Calibri"/>
                <a:cs typeface="Calibri"/>
              </a:rPr>
              <a:t>estimate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coordinates  </a:t>
            </a:r>
            <a:r>
              <a:rPr dirty="0" sz="2800" spc="-5">
                <a:latin typeface="Calibri"/>
                <a:cs typeface="Calibri"/>
              </a:rPr>
              <a:t>(i.e., the embedding) 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>
                <a:latin typeface="Calibri"/>
                <a:cs typeface="Calibri"/>
              </a:rPr>
              <a:t>so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5">
                <a:latin typeface="Calibri"/>
                <a:cs typeface="Calibri"/>
              </a:rPr>
              <a:t>some aspect  of the </a:t>
            </a:r>
            <a:r>
              <a:rPr dirty="0" sz="2800" spc="-10">
                <a:latin typeface="Calibri"/>
                <a:cs typeface="Calibri"/>
              </a:rPr>
              <a:t>network structure (captured by </a:t>
            </a:r>
            <a:r>
              <a:rPr dirty="0" sz="2800" spc="-15">
                <a:latin typeface="Calibri"/>
                <a:cs typeface="Calibri"/>
              </a:rPr>
              <a:t>DEC) </a:t>
            </a:r>
            <a:r>
              <a:rPr dirty="0" sz="2800" spc="-5">
                <a:latin typeface="Calibri"/>
                <a:cs typeface="Calibri"/>
              </a:rPr>
              <a:t>is  </a:t>
            </a:r>
            <a:r>
              <a:rPr dirty="0" sz="2800" spc="-10">
                <a:latin typeface="Calibri"/>
                <a:cs typeface="Calibri"/>
              </a:rPr>
              <a:t>preserved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These embeddings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15" b="1">
                <a:solidFill>
                  <a:srgbClr val="E66C7D"/>
                </a:solidFill>
                <a:latin typeface="Calibri"/>
                <a:cs typeface="Calibri"/>
              </a:rPr>
              <a:t>task</a:t>
            </a:r>
            <a:r>
              <a:rPr dirty="0" sz="3200" spc="50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independent</a:t>
            </a:r>
            <a:endParaRPr sz="3200">
              <a:latin typeface="Calibri"/>
              <a:cs typeface="Calibri"/>
            </a:endParaRPr>
          </a:p>
          <a:p>
            <a:pPr lvl="1" marL="625475" marR="342265" indent="-274320">
              <a:lnSpc>
                <a:spcPts val="3290"/>
              </a:lnSpc>
              <a:spcBef>
                <a:spcPts val="8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They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not </a:t>
            </a:r>
            <a:r>
              <a:rPr dirty="0" sz="2800" spc="-15">
                <a:latin typeface="Calibri"/>
                <a:cs typeface="Calibri"/>
              </a:rPr>
              <a:t>trained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specific </a:t>
            </a:r>
            <a:r>
              <a:rPr dirty="0" sz="2800" spc="-10">
                <a:latin typeface="Calibri"/>
                <a:cs typeface="Calibri"/>
              </a:rPr>
              <a:t>task </a:t>
            </a: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575">
                <a:latin typeface="Calibri"/>
                <a:cs typeface="Calibri"/>
              </a:rPr>
              <a:t>be  </a:t>
            </a:r>
            <a:r>
              <a:rPr dirty="0" sz="2800" spc="-5">
                <a:latin typeface="Calibri"/>
                <a:cs typeface="Calibri"/>
              </a:rPr>
              <a:t>used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20">
                <a:latin typeface="Calibri"/>
                <a:cs typeface="Calibri"/>
              </a:rPr>
              <a:t>any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task.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002279"/>
            <a:ext cx="7568183" cy="20238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78628"/>
            <a:ext cx="5547995" cy="12496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CS224W: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Machine Learning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with Graphs 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Jure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Stanford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3200" spc="-15">
                <a:solidFill>
                  <a:srgbClr val="FFFFFF"/>
                </a:solidFill>
                <a:latin typeface="Arial"/>
                <a:cs typeface="Arial"/>
                <a:hlinkClick r:id="rId5"/>
              </a:rPr>
              <a:t>http://cs224w.stanford.edu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217017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84732"/>
            <a:ext cx="7137400" cy="8153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11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30" b="1">
                <a:solidFill>
                  <a:srgbClr val="0070C0"/>
                </a:solidFill>
                <a:latin typeface="Calibri"/>
                <a:cs typeface="Calibri"/>
              </a:rPr>
              <a:t>Vector</a:t>
            </a:r>
            <a:r>
              <a:rPr dirty="0" sz="2600" spc="-9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254">
                <a:latin typeface="Cambria Math"/>
                <a:cs typeface="Cambria Math"/>
              </a:rPr>
              <a:t>𝐳</a:t>
            </a:r>
            <a:r>
              <a:rPr dirty="0" baseline="-16081" sz="2850" spc="382">
                <a:latin typeface="Cambria Math"/>
                <a:cs typeface="Cambria Math"/>
              </a:rPr>
              <a:t>!</a:t>
            </a:r>
            <a:r>
              <a:rPr dirty="0" sz="2600" spc="254"/>
              <a:t>:</a:t>
            </a:r>
            <a:endParaRPr sz="2600">
              <a:latin typeface="Cambria Math"/>
              <a:cs typeface="Cambria Math"/>
            </a:endParaRPr>
          </a:p>
          <a:p>
            <a:pPr lvl="1" marL="625475" indent="-274320">
              <a:lnSpc>
                <a:spcPts val="3110"/>
              </a:lnSpc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embedding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node </a:t>
            </a:r>
            <a:r>
              <a:rPr dirty="0" sz="2600">
                <a:latin typeface="Cambria Math"/>
                <a:cs typeface="Cambria Math"/>
              </a:rPr>
              <a:t>𝑢 </a:t>
            </a:r>
            <a:r>
              <a:rPr dirty="0" sz="2600" spc="-10">
                <a:latin typeface="Calibri"/>
                <a:cs typeface="Calibri"/>
              </a:rPr>
              <a:t>(what we </a:t>
            </a:r>
            <a:r>
              <a:rPr dirty="0" sz="2600">
                <a:latin typeface="Calibri"/>
                <a:cs typeface="Calibri"/>
              </a:rPr>
              <a:t>aim </a:t>
            </a:r>
            <a:r>
              <a:rPr dirty="0" sz="2600" spc="-15">
                <a:latin typeface="Calibri"/>
                <a:cs typeface="Calibri"/>
              </a:rPr>
              <a:t>to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 spc="-85">
                <a:latin typeface="Calibri"/>
                <a:cs typeface="Calibri"/>
              </a:rPr>
              <a:t>find).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68283" y="2092138"/>
            <a:ext cx="434975" cy="306070"/>
          </a:xfrm>
          <a:custGeom>
            <a:avLst/>
            <a:gdLst/>
            <a:ahLst/>
            <a:cxnLst/>
            <a:rect l="l" t="t" r="r" b="b"/>
            <a:pathLst>
              <a:path w="434975" h="306069">
                <a:moveTo>
                  <a:pt x="434729" y="2891"/>
                </a:moveTo>
                <a:lnTo>
                  <a:pt x="409900" y="2891"/>
                </a:lnTo>
                <a:lnTo>
                  <a:pt x="409900" y="302941"/>
                </a:lnTo>
                <a:lnTo>
                  <a:pt x="434729" y="302941"/>
                </a:lnTo>
                <a:lnTo>
                  <a:pt x="434729" y="2891"/>
                </a:lnTo>
                <a:close/>
              </a:path>
              <a:path w="434975" h="306069">
                <a:moveTo>
                  <a:pt x="97544" y="0"/>
                </a:moveTo>
                <a:lnTo>
                  <a:pt x="55927" y="19609"/>
                </a:lnTo>
                <a:lnTo>
                  <a:pt x="25233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3"/>
                </a:lnTo>
                <a:lnTo>
                  <a:pt x="75305" y="297857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2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6" y="80034"/>
                </a:lnTo>
                <a:lnTo>
                  <a:pt x="56325" y="44322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994916"/>
            <a:ext cx="327596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  <a:tab pos="2258060" algn="l"/>
                <a:tab pos="2624455" algn="l"/>
              </a:tabLst>
            </a:pP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Probability</a:t>
            </a:r>
            <a:r>
              <a:rPr dirty="0" sz="2600" spc="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mbria Math"/>
                <a:cs typeface="Cambria Math"/>
              </a:rPr>
              <a:t>𝑃	𝑣	</a:t>
            </a:r>
            <a:r>
              <a:rPr dirty="0" sz="2600" spc="254">
                <a:latin typeface="Cambria Math"/>
                <a:cs typeface="Cambria Math"/>
              </a:rPr>
              <a:t>𝐳</a:t>
            </a:r>
            <a:r>
              <a:rPr dirty="0" baseline="-16081" sz="2850" spc="382">
                <a:latin typeface="Cambria Math"/>
                <a:cs typeface="Cambria Math"/>
              </a:rPr>
              <a:t>!</a:t>
            </a:r>
            <a:r>
              <a:rPr dirty="0" sz="2600" spc="254">
                <a:latin typeface="Cambria Math"/>
                <a:cs typeface="Cambria Math"/>
              </a:rPr>
              <a:t>)</a:t>
            </a:r>
            <a:r>
              <a:rPr dirty="0" sz="2600" spc="-75">
                <a:latin typeface="Cambria Math"/>
                <a:cs typeface="Cambria Math"/>
              </a:rPr>
              <a:t> </a:t>
            </a:r>
            <a:r>
              <a:rPr dirty="0" sz="260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3211" y="4781296"/>
            <a:ext cx="110489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85">
                <a:latin typeface="Cambria Math"/>
                <a:cs typeface="Cambria Math"/>
              </a:rPr>
              <a:t>"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0883" y="4625340"/>
            <a:ext cx="512254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62195" algn="l"/>
              </a:tabLst>
            </a:pPr>
            <a:r>
              <a:rPr dirty="0" sz="2600">
                <a:latin typeface="Cambria Math"/>
                <a:cs typeface="Cambria Math"/>
              </a:rPr>
              <a:t>𝐾</a:t>
            </a:r>
            <a:r>
              <a:rPr dirty="0" sz="2600" spc="85">
                <a:latin typeface="Cambria Math"/>
                <a:cs typeface="Cambria Math"/>
              </a:rPr>
              <a:t> </a:t>
            </a:r>
            <a:r>
              <a:rPr dirty="0" sz="2600" spc="-5">
                <a:latin typeface="Calibri"/>
                <a:cs typeface="Calibri"/>
              </a:rPr>
              <a:t>p</a:t>
            </a:r>
            <a:r>
              <a:rPr dirty="0" sz="2600" spc="-40">
                <a:latin typeface="Calibri"/>
                <a:cs typeface="Calibri"/>
              </a:rPr>
              <a:t>r</a:t>
            </a:r>
            <a:r>
              <a:rPr dirty="0" sz="2600">
                <a:latin typeface="Calibri"/>
                <a:cs typeface="Calibri"/>
              </a:rPr>
              <a:t>o</a:t>
            </a:r>
            <a:r>
              <a:rPr dirty="0" sz="2600" spc="-5">
                <a:latin typeface="Calibri"/>
                <a:cs typeface="Calibri"/>
              </a:rPr>
              <a:t>b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5">
                <a:latin typeface="Calibri"/>
                <a:cs typeface="Calibri"/>
              </a:rPr>
              <a:t>b</a:t>
            </a:r>
            <a:r>
              <a:rPr dirty="0" sz="2600">
                <a:latin typeface="Calibri"/>
                <a:cs typeface="Calibri"/>
              </a:rPr>
              <a:t>iliti</a:t>
            </a:r>
            <a:r>
              <a:rPr dirty="0" sz="2600" spc="-10">
                <a:latin typeface="Calibri"/>
                <a:cs typeface="Calibri"/>
              </a:rPr>
              <a:t>e</a:t>
            </a:r>
            <a:r>
              <a:rPr dirty="0" sz="2600">
                <a:latin typeface="Calibri"/>
                <a:cs typeface="Calibri"/>
              </a:rPr>
              <a:t>s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</a:t>
            </a:r>
            <a:r>
              <a:rPr dirty="0" sz="2600" spc="-5">
                <a:latin typeface="Calibri"/>
                <a:cs typeface="Calibri"/>
              </a:rPr>
              <a:t>h</a:t>
            </a:r>
            <a:r>
              <a:rPr dirty="0" sz="2600" spc="-20">
                <a:latin typeface="Calibri"/>
                <a:cs typeface="Calibri"/>
              </a:rPr>
              <a:t>a</a:t>
            </a:r>
            <a:r>
              <a:rPr dirty="0" sz="2600">
                <a:latin typeface="Calibri"/>
                <a:cs typeface="Calibri"/>
              </a:rPr>
              <a:t>t </a:t>
            </a:r>
            <a:r>
              <a:rPr dirty="0" sz="2600" spc="-5">
                <a:latin typeface="Calibri"/>
                <a:cs typeface="Calibri"/>
              </a:rPr>
              <a:t>su</a:t>
            </a:r>
            <a:r>
              <a:rPr dirty="0" sz="2600">
                <a:latin typeface="Calibri"/>
                <a:cs typeface="Calibri"/>
              </a:rPr>
              <a:t>m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</a:t>
            </a:r>
            <a:r>
              <a:rPr dirty="0" sz="2600">
                <a:latin typeface="Calibri"/>
                <a:cs typeface="Calibri"/>
              </a:rPr>
              <a:t>o </a:t>
            </a:r>
            <a:r>
              <a:rPr dirty="0" sz="2600" spc="-10">
                <a:latin typeface="Calibri"/>
                <a:cs typeface="Calibri"/>
              </a:rPr>
              <a:t>1</a:t>
            </a:r>
            <a:r>
              <a:rPr dirty="0" sz="2600">
                <a:latin typeface="Calibri"/>
                <a:cs typeface="Calibri"/>
              </a:rPr>
              <a:t>: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60">
                <a:latin typeface="Cambria Math"/>
                <a:cs typeface="Cambria Math"/>
              </a:rPr>
              <a:t>𝜎</a:t>
            </a:r>
            <a:r>
              <a:rPr dirty="0" sz="2600" spc="-5">
                <a:latin typeface="Cambria Math"/>
                <a:cs typeface="Cambria Math"/>
              </a:rPr>
              <a:t>(</a:t>
            </a:r>
            <a:r>
              <a:rPr dirty="0" sz="2600" spc="50">
                <a:latin typeface="Cambria Math"/>
                <a:cs typeface="Cambria Math"/>
              </a:rPr>
              <a:t>𝑧</a:t>
            </a:r>
            <a:r>
              <a:rPr dirty="0" sz="2600">
                <a:latin typeface="Cambria Math"/>
                <a:cs typeface="Cambria Math"/>
              </a:rPr>
              <a:t>)	=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30264" y="4879340"/>
            <a:ext cx="965200" cy="0"/>
          </a:xfrm>
          <a:custGeom>
            <a:avLst/>
            <a:gdLst/>
            <a:ahLst/>
            <a:cxnLst/>
            <a:rect l="l" t="t" r="r" b="b"/>
            <a:pathLst>
              <a:path w="965200" h="0">
                <a:moveTo>
                  <a:pt x="0" y="0"/>
                </a:moveTo>
                <a:lnTo>
                  <a:pt x="9651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56563" y="4219955"/>
            <a:ext cx="7423784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40">
                <a:latin typeface="Calibri"/>
                <a:cs typeface="Calibri"/>
              </a:rPr>
              <a:t>Turns </a:t>
            </a:r>
            <a:r>
              <a:rPr dirty="0" sz="2600" spc="-10">
                <a:latin typeface="Calibri"/>
                <a:cs typeface="Calibri"/>
              </a:rPr>
              <a:t>vector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>
                <a:latin typeface="Cambria Math"/>
                <a:cs typeface="Cambria Math"/>
              </a:rPr>
              <a:t>𝐾 </a:t>
            </a:r>
            <a:r>
              <a:rPr dirty="0" sz="2600" spc="-10">
                <a:latin typeface="Calibri"/>
                <a:cs typeface="Calibri"/>
              </a:rPr>
              <a:t>real values </a:t>
            </a:r>
            <a:r>
              <a:rPr dirty="0" sz="2600" spc="-5">
                <a:latin typeface="Calibri"/>
                <a:cs typeface="Calibri"/>
              </a:rPr>
              <a:t>(model </a:t>
            </a:r>
            <a:r>
              <a:rPr dirty="0" sz="2600" spc="-45">
                <a:latin typeface="Calibri"/>
                <a:cs typeface="Calibri"/>
              </a:rPr>
              <a:t>predic</a:t>
            </a:r>
            <a:r>
              <a:rPr dirty="0" baseline="-27777" sz="2400" spc="-67">
                <a:latin typeface="Cambria Math"/>
                <a:cs typeface="Cambria Math"/>
              </a:rPr>
              <a:t>!</a:t>
            </a:r>
            <a:r>
              <a:rPr dirty="0" sz="2600" spc="-45">
                <a:latin typeface="Calibri"/>
                <a:cs typeface="Calibri"/>
              </a:rPr>
              <a:t>tions)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 spc="-120">
                <a:latin typeface="Calibri"/>
                <a:cs typeface="Calibri"/>
              </a:rPr>
              <a:t>into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3760" y="4491735"/>
            <a:ext cx="3581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7309" sz="2850" spc="-225">
                <a:latin typeface="Cambria Math"/>
                <a:cs typeface="Cambria Math"/>
              </a:rPr>
              <a:t>#  </a:t>
            </a:r>
            <a:r>
              <a:rPr dirty="0" baseline="-7309" sz="2850" spc="-104">
                <a:latin typeface="Cambria Math"/>
                <a:cs typeface="Cambria Math"/>
              </a:rPr>
              <a:t> </a:t>
            </a:r>
            <a:r>
              <a:rPr dirty="0" sz="1600" spc="-30">
                <a:latin typeface="Cambria Math"/>
                <a:cs typeface="Cambria Math"/>
              </a:rPr>
              <a:t>"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9521" y="5026659"/>
            <a:ext cx="3911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35">
                <a:latin typeface="Cambria Math"/>
                <a:cs typeface="Cambria Math"/>
              </a:rPr>
              <a:t>#</a:t>
            </a:r>
            <a:r>
              <a:rPr dirty="0" sz="1600" spc="350">
                <a:latin typeface="Cambria Math"/>
                <a:cs typeface="Cambria Math"/>
              </a:rPr>
              <a:t>$</a:t>
            </a:r>
            <a:r>
              <a:rPr dirty="0" sz="1600" spc="-475">
                <a:latin typeface="Cambria Math"/>
                <a:cs typeface="Cambria Math"/>
              </a:rPr>
              <a:t>%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18770" y="4811776"/>
            <a:ext cx="3587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467" sz="2850" spc="-7">
                <a:latin typeface="Cambria Math"/>
                <a:cs typeface="Cambria Math"/>
              </a:rPr>
              <a:t>∑</a:t>
            </a:r>
            <a:r>
              <a:rPr dirty="0" sz="1600" spc="175">
                <a:latin typeface="Cambria Math"/>
                <a:cs typeface="Cambria Math"/>
              </a:rPr>
              <a:t>&amp;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06526" y="4750816"/>
            <a:ext cx="3816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6549" sz="2850" spc="-67">
                <a:latin typeface="Cambria Math"/>
                <a:cs typeface="Cambria Math"/>
              </a:rPr>
              <a:t>#</a:t>
            </a:r>
            <a:r>
              <a:rPr dirty="0" sz="1600" spc="409">
                <a:latin typeface="Cambria Math"/>
                <a:cs typeface="Cambria Math"/>
              </a:rPr>
              <a:t>!</a:t>
            </a:r>
            <a:r>
              <a:rPr dirty="0" baseline="-24305" sz="2400" spc="-315">
                <a:latin typeface="Cambria Math"/>
                <a:cs typeface="Cambria Math"/>
              </a:rPr>
              <a:t>#</a:t>
            </a:r>
            <a:endParaRPr baseline="-24305"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77747" y="4625340"/>
            <a:ext cx="10922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108" y="5146548"/>
            <a:ext cx="272796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Sigmoid</a:t>
            </a:r>
            <a:r>
              <a:rPr dirty="0" sz="2600" spc="-5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function: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6563" y="5538723"/>
            <a:ext cx="74669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200" spc="-5">
                <a:latin typeface="Calibri"/>
                <a:cs typeface="Calibri"/>
              </a:rPr>
              <a:t>S-shaped function </a:t>
            </a:r>
            <a:r>
              <a:rPr dirty="0" sz="2200" spc="-10">
                <a:latin typeface="Calibri"/>
                <a:cs typeface="Calibri"/>
              </a:rPr>
              <a:t>that </a:t>
            </a:r>
            <a:r>
              <a:rPr dirty="0" sz="2200" spc="-5">
                <a:latin typeface="Calibri"/>
                <a:cs typeface="Calibri"/>
              </a:rPr>
              <a:t>turns </a:t>
            </a:r>
            <a:r>
              <a:rPr dirty="0" sz="2200" spc="-10">
                <a:latin typeface="Calibri"/>
                <a:cs typeface="Calibri"/>
              </a:rPr>
              <a:t>real values </a:t>
            </a:r>
            <a:r>
              <a:rPr dirty="0" sz="2200" spc="-15">
                <a:latin typeface="Calibri"/>
                <a:cs typeface="Calibri"/>
              </a:rPr>
              <a:t>into </a:t>
            </a:r>
            <a:r>
              <a:rPr dirty="0" sz="2200" spc="-5">
                <a:latin typeface="Calibri"/>
                <a:cs typeface="Calibri"/>
              </a:rPr>
              <a:t>the </a:t>
            </a:r>
            <a:r>
              <a:rPr dirty="0" sz="2200" spc="-20">
                <a:latin typeface="Calibri"/>
                <a:cs typeface="Calibri"/>
              </a:rPr>
              <a:t>range </a:t>
            </a:r>
            <a:r>
              <a:rPr dirty="0" sz="2200">
                <a:latin typeface="Calibri"/>
                <a:cs typeface="Calibri"/>
              </a:rPr>
              <a:t>of </a:t>
            </a:r>
            <a:r>
              <a:rPr dirty="0" sz="2200" spc="-5">
                <a:latin typeface="Calibri"/>
                <a:cs typeface="Calibri"/>
              </a:rPr>
              <a:t>(0,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 spc="-120">
                <a:latin typeface="Calibri"/>
                <a:cs typeface="Calibri"/>
              </a:rPr>
              <a:t>1).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58663" y="5952776"/>
            <a:ext cx="340995" cy="259079"/>
          </a:xfrm>
          <a:custGeom>
            <a:avLst/>
            <a:gdLst/>
            <a:ahLst/>
            <a:cxnLst/>
            <a:rect l="l" t="t" r="r" b="b"/>
            <a:pathLst>
              <a:path w="340994" h="259079">
                <a:moveTo>
                  <a:pt x="257931" y="0"/>
                </a:moveTo>
                <a:lnTo>
                  <a:pt x="254248" y="10504"/>
                </a:lnTo>
                <a:lnTo>
                  <a:pt x="269229" y="17006"/>
                </a:lnTo>
                <a:lnTo>
                  <a:pt x="282113" y="26006"/>
                </a:lnTo>
                <a:lnTo>
                  <a:pt x="308273" y="67722"/>
                </a:lnTo>
                <a:lnTo>
                  <a:pt x="315912" y="106024"/>
                </a:lnTo>
                <a:lnTo>
                  <a:pt x="316867" y="128103"/>
                </a:lnTo>
                <a:lnTo>
                  <a:pt x="315908" y="150929"/>
                </a:lnTo>
                <a:lnTo>
                  <a:pt x="308235" y="190288"/>
                </a:lnTo>
                <a:lnTo>
                  <a:pt x="282130" y="232674"/>
                </a:lnTo>
                <a:lnTo>
                  <a:pt x="254657" y="248294"/>
                </a:lnTo>
                <a:lnTo>
                  <a:pt x="257931" y="258799"/>
                </a:lnTo>
                <a:lnTo>
                  <a:pt x="293232" y="242240"/>
                </a:lnTo>
                <a:lnTo>
                  <a:pt x="319187" y="213574"/>
                </a:lnTo>
                <a:lnTo>
                  <a:pt x="335149" y="175187"/>
                </a:lnTo>
                <a:lnTo>
                  <a:pt x="340469" y="129467"/>
                </a:lnTo>
                <a:lnTo>
                  <a:pt x="339134" y="105742"/>
                </a:lnTo>
                <a:lnTo>
                  <a:pt x="328460" y="63689"/>
                </a:lnTo>
                <a:lnTo>
                  <a:pt x="307288" y="29455"/>
                </a:lnTo>
                <a:lnTo>
                  <a:pt x="276695" y="6774"/>
                </a:lnTo>
                <a:lnTo>
                  <a:pt x="257931" y="0"/>
                </a:lnTo>
                <a:close/>
              </a:path>
              <a:path w="340994" h="259079">
                <a:moveTo>
                  <a:pt x="82537" y="0"/>
                </a:moveTo>
                <a:lnTo>
                  <a:pt x="47322" y="16592"/>
                </a:lnTo>
                <a:lnTo>
                  <a:pt x="21349" y="45361"/>
                </a:lnTo>
                <a:lnTo>
                  <a:pt x="5337" y="83816"/>
                </a:lnTo>
                <a:lnTo>
                  <a:pt x="0" y="129467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1" y="229421"/>
                </a:lnTo>
                <a:lnTo>
                  <a:pt x="82537" y="258799"/>
                </a:lnTo>
                <a:lnTo>
                  <a:pt x="85811" y="248294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2"/>
                </a:lnTo>
                <a:lnTo>
                  <a:pt x="58441" y="26006"/>
                </a:lnTo>
                <a:lnTo>
                  <a:pt x="86220" y="10504"/>
                </a:lnTo>
                <a:lnTo>
                  <a:pt x="82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230883" y="5870955"/>
            <a:ext cx="20923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0075" algn="l"/>
              </a:tabLst>
            </a:pPr>
            <a:r>
              <a:rPr dirty="0" sz="2200" spc="-60">
                <a:latin typeface="Calibri"/>
                <a:cs typeface="Calibri"/>
              </a:rPr>
              <a:t>W</a:t>
            </a:r>
            <a:r>
              <a:rPr dirty="0" sz="2200" spc="-5">
                <a:latin typeface="Calibri"/>
                <a:cs typeface="Calibri"/>
              </a:rPr>
              <a:t>ri</a:t>
            </a:r>
            <a:r>
              <a:rPr dirty="0" sz="2200" spc="-35">
                <a:latin typeface="Calibri"/>
                <a:cs typeface="Calibri"/>
              </a:rPr>
              <a:t>t</a:t>
            </a:r>
            <a:r>
              <a:rPr dirty="0" sz="2200" spc="-25">
                <a:latin typeface="Calibri"/>
                <a:cs typeface="Calibri"/>
              </a:rPr>
              <a:t>t</a:t>
            </a:r>
            <a:r>
              <a:rPr dirty="0" sz="2200">
                <a:latin typeface="Calibri"/>
                <a:cs typeface="Calibri"/>
              </a:rPr>
              <a:t>en</a:t>
            </a:r>
            <a:r>
              <a:rPr dirty="0" sz="2200" spc="-5">
                <a:latin typeface="Calibri"/>
                <a:cs typeface="Calibri"/>
              </a:rPr>
              <a:t> a</a:t>
            </a:r>
            <a:r>
              <a:rPr dirty="0" sz="2200">
                <a:latin typeface="Calibri"/>
                <a:cs typeface="Calibri"/>
              </a:rPr>
              <a:t>s </a:t>
            </a:r>
            <a:r>
              <a:rPr dirty="0" sz="2200">
                <a:latin typeface="Cambria Math"/>
                <a:cs typeface="Cambria Math"/>
              </a:rPr>
              <a:t>𝑆 </a:t>
            </a:r>
            <a:r>
              <a:rPr dirty="0" sz="2200" spc="-15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𝑥	=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2264" y="6079490"/>
            <a:ext cx="635000" cy="0"/>
          </a:xfrm>
          <a:custGeom>
            <a:avLst/>
            <a:gdLst/>
            <a:ahLst/>
            <a:cxnLst/>
            <a:rect l="l" t="t" r="r" b="b"/>
            <a:pathLst>
              <a:path w="635000" h="0">
                <a:moveTo>
                  <a:pt x="0" y="0"/>
                </a:moveTo>
                <a:lnTo>
                  <a:pt x="6350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629914" y="5782564"/>
            <a:ext cx="14351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40">
                <a:latin typeface="Cambria Math"/>
                <a:cs typeface="Cambria Math"/>
              </a:rPr>
              <a:t>'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4135" y="6087364"/>
            <a:ext cx="6445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35">
                <a:latin typeface="Cambria Math"/>
                <a:cs typeface="Cambria Math"/>
              </a:rPr>
              <a:t>'</a:t>
            </a:r>
            <a:r>
              <a:rPr dirty="0" sz="1600" spc="495">
                <a:latin typeface="Cambria Math"/>
                <a:cs typeface="Cambria Math"/>
              </a:rPr>
              <a:t>(</a:t>
            </a:r>
            <a:r>
              <a:rPr dirty="0" sz="1600" spc="300">
                <a:latin typeface="Cambria Math"/>
                <a:cs typeface="Cambria Math"/>
              </a:rPr>
              <a:t>)</a:t>
            </a:r>
            <a:r>
              <a:rPr dirty="0" baseline="21367" sz="1950" spc="907">
                <a:latin typeface="Cambria Math"/>
                <a:cs typeface="Cambria Math"/>
              </a:rPr>
              <a:t>!</a:t>
            </a:r>
            <a:r>
              <a:rPr dirty="0" baseline="21367" sz="1950" spc="457">
                <a:latin typeface="Cambria Math"/>
                <a:cs typeface="Cambria Math"/>
              </a:rPr>
              <a:t>"</a:t>
            </a:r>
            <a:endParaRPr baseline="21367" sz="19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03230" y="5870955"/>
            <a:ext cx="9652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4925" y="2391156"/>
            <a:ext cx="8183245" cy="18421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658495" marR="1035685" indent="-274320">
              <a:lnSpc>
                <a:spcPct val="8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59130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 b="1">
                <a:latin typeface="Calibri"/>
                <a:cs typeface="Calibri"/>
              </a:rPr>
              <a:t>(predicted) </a:t>
            </a:r>
            <a:r>
              <a:rPr dirty="0" sz="2600" spc="-5" b="1">
                <a:latin typeface="Calibri"/>
                <a:cs typeface="Calibri"/>
              </a:rPr>
              <a:t>probability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visiting node </a:t>
            </a:r>
            <a:r>
              <a:rPr dirty="0" sz="2600">
                <a:latin typeface="Cambria Math"/>
                <a:cs typeface="Cambria Math"/>
              </a:rPr>
              <a:t>𝑣 </a:t>
            </a:r>
            <a:r>
              <a:rPr dirty="0" sz="2600" spc="-505">
                <a:latin typeface="Calibri"/>
                <a:cs typeface="Calibri"/>
              </a:rPr>
              <a:t>on  </a:t>
            </a:r>
            <a:r>
              <a:rPr dirty="0" sz="2600" spc="-10">
                <a:latin typeface="Calibri"/>
                <a:cs typeface="Calibri"/>
              </a:rPr>
              <a:t>random walks starting </a:t>
            </a:r>
            <a:r>
              <a:rPr dirty="0" sz="2600" spc="-15">
                <a:latin typeface="Calibri"/>
                <a:cs typeface="Calibri"/>
              </a:rPr>
              <a:t>from </a:t>
            </a:r>
            <a:r>
              <a:rPr dirty="0" sz="2600" spc="-5">
                <a:latin typeface="Calibri"/>
                <a:cs typeface="Calibri"/>
              </a:rPr>
              <a:t>node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25">
                <a:latin typeface="Cambria Math"/>
                <a:cs typeface="Cambria Math"/>
              </a:rPr>
              <a:t>𝑢.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Non-linear functions used </a:t>
            </a:r>
            <a:r>
              <a:rPr dirty="0" sz="2600" spc="-1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produce predicted</a:t>
            </a:r>
            <a:r>
              <a:rPr dirty="0" sz="26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probabilities</a:t>
            </a:r>
            <a:endParaRPr sz="2600">
              <a:latin typeface="Calibri"/>
              <a:cs typeface="Calibri"/>
            </a:endParaRPr>
          </a:p>
          <a:p>
            <a:pPr marL="365760" indent="-320040">
              <a:lnSpc>
                <a:spcPct val="100000"/>
              </a:lnSpc>
              <a:spcBef>
                <a:spcPts val="26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65760" algn="l"/>
                <a:tab pos="366395" algn="l"/>
              </a:tabLst>
            </a:pP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Softmax</a:t>
            </a:r>
            <a:r>
              <a:rPr dirty="0" sz="2600" spc="-7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function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124049" y="2166390"/>
            <a:ext cx="860425" cy="167640"/>
          </a:xfrm>
          <a:custGeom>
            <a:avLst/>
            <a:gdLst/>
            <a:ahLst/>
            <a:cxnLst/>
            <a:rect l="l" t="t" r="r" b="b"/>
            <a:pathLst>
              <a:path w="860425" h="167639">
                <a:moveTo>
                  <a:pt x="0" y="83684"/>
                </a:moveTo>
                <a:lnTo>
                  <a:pt x="83683" y="0"/>
                </a:lnTo>
                <a:lnTo>
                  <a:pt x="83683" y="41842"/>
                </a:lnTo>
                <a:lnTo>
                  <a:pt x="859877" y="41842"/>
                </a:lnTo>
                <a:lnTo>
                  <a:pt x="859877" y="125526"/>
                </a:lnTo>
                <a:lnTo>
                  <a:pt x="83683" y="125526"/>
                </a:lnTo>
                <a:lnTo>
                  <a:pt x="83683" y="167368"/>
                </a:lnTo>
                <a:lnTo>
                  <a:pt x="0" y="83684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116462" y="2099564"/>
            <a:ext cx="3433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Our model prediction based on</a:t>
            </a:r>
            <a:r>
              <a:rPr dirty="0" sz="1800" spc="-40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1800" spc="10" i="1">
                <a:solidFill>
                  <a:srgbClr val="D60093"/>
                </a:solidFill>
                <a:latin typeface="Cambria Math"/>
                <a:cs typeface="Cambria Math"/>
              </a:rPr>
              <a:t>𝐳</a:t>
            </a:r>
            <a:r>
              <a:rPr dirty="0" baseline="-14957" sz="1950" spc="15">
                <a:solidFill>
                  <a:srgbClr val="D60093"/>
                </a:solidFill>
                <a:latin typeface="Cambria Math"/>
                <a:cs typeface="Cambria Math"/>
              </a:rPr>
              <a:t>#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85737" y="3265980"/>
            <a:ext cx="8422005" cy="0"/>
          </a:xfrm>
          <a:custGeom>
            <a:avLst/>
            <a:gdLst/>
            <a:ahLst/>
            <a:cxnLst/>
            <a:rect l="l" t="t" r="r" b="b"/>
            <a:pathLst>
              <a:path w="8422005" h="0">
                <a:moveTo>
                  <a:pt x="0" y="0"/>
                </a:moveTo>
                <a:lnTo>
                  <a:pt x="8421461" y="1"/>
                </a:lnTo>
              </a:path>
            </a:pathLst>
          </a:custGeom>
          <a:ln w="285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2991293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90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8959" y="3126739"/>
            <a:ext cx="128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1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6792" y="4059864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89" h="593725">
                <a:moveTo>
                  <a:pt x="302653" y="0"/>
                </a:moveTo>
                <a:lnTo>
                  <a:pt x="253561" y="3884"/>
                </a:lnTo>
                <a:lnTo>
                  <a:pt x="206991" y="15132"/>
                </a:lnTo>
                <a:lnTo>
                  <a:pt x="163566" y="33131"/>
                </a:lnTo>
                <a:lnTo>
                  <a:pt x="123910" y="57269"/>
                </a:lnTo>
                <a:lnTo>
                  <a:pt x="88645" y="86938"/>
                </a:lnTo>
                <a:lnTo>
                  <a:pt x="58394" y="121524"/>
                </a:lnTo>
                <a:lnTo>
                  <a:pt x="33781" y="160416"/>
                </a:lnTo>
                <a:lnTo>
                  <a:pt x="15429" y="203005"/>
                </a:lnTo>
                <a:lnTo>
                  <a:pt x="3961" y="248678"/>
                </a:lnTo>
                <a:lnTo>
                  <a:pt x="0" y="296825"/>
                </a:lnTo>
                <a:lnTo>
                  <a:pt x="3961" y="344972"/>
                </a:lnTo>
                <a:lnTo>
                  <a:pt x="15429" y="390645"/>
                </a:lnTo>
                <a:lnTo>
                  <a:pt x="33781" y="433233"/>
                </a:lnTo>
                <a:lnTo>
                  <a:pt x="58394" y="472126"/>
                </a:lnTo>
                <a:lnTo>
                  <a:pt x="88645" y="506712"/>
                </a:lnTo>
                <a:lnTo>
                  <a:pt x="123910" y="536381"/>
                </a:lnTo>
                <a:lnTo>
                  <a:pt x="163566" y="560520"/>
                </a:lnTo>
                <a:lnTo>
                  <a:pt x="206991" y="578518"/>
                </a:lnTo>
                <a:lnTo>
                  <a:pt x="253561" y="589766"/>
                </a:lnTo>
                <a:lnTo>
                  <a:pt x="302653" y="593651"/>
                </a:lnTo>
                <a:lnTo>
                  <a:pt x="351745" y="589766"/>
                </a:lnTo>
                <a:lnTo>
                  <a:pt x="398315" y="578518"/>
                </a:lnTo>
                <a:lnTo>
                  <a:pt x="441739" y="560520"/>
                </a:lnTo>
                <a:lnTo>
                  <a:pt x="481396" y="536381"/>
                </a:lnTo>
                <a:lnTo>
                  <a:pt x="516661" y="506712"/>
                </a:lnTo>
                <a:lnTo>
                  <a:pt x="546911" y="472126"/>
                </a:lnTo>
                <a:lnTo>
                  <a:pt x="571524" y="433233"/>
                </a:lnTo>
                <a:lnTo>
                  <a:pt x="589876" y="390645"/>
                </a:lnTo>
                <a:lnTo>
                  <a:pt x="601344" y="344972"/>
                </a:lnTo>
                <a:lnTo>
                  <a:pt x="605306" y="296825"/>
                </a:lnTo>
                <a:lnTo>
                  <a:pt x="601344" y="248678"/>
                </a:lnTo>
                <a:lnTo>
                  <a:pt x="589876" y="203005"/>
                </a:lnTo>
                <a:lnTo>
                  <a:pt x="571524" y="160416"/>
                </a:lnTo>
                <a:lnTo>
                  <a:pt x="546911" y="121524"/>
                </a:lnTo>
                <a:lnTo>
                  <a:pt x="516661" y="86938"/>
                </a:lnTo>
                <a:lnTo>
                  <a:pt x="481396" y="57269"/>
                </a:lnTo>
                <a:lnTo>
                  <a:pt x="441739" y="33131"/>
                </a:lnTo>
                <a:lnTo>
                  <a:pt x="398315" y="15132"/>
                </a:lnTo>
                <a:lnTo>
                  <a:pt x="351745" y="3884"/>
                </a:lnTo>
                <a:lnTo>
                  <a:pt x="3026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96792" y="4059864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89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28007" y="4193540"/>
            <a:ext cx="143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4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05637" y="3347483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89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43995" y="3480308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3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99444" y="2397641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89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30660" y="2532379"/>
            <a:ext cx="142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2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09174" y="5009706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89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344359" y="5144515"/>
            <a:ext cx="135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5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20673" y="4772247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89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650300" y="4906771"/>
            <a:ext cx="145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6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18019" y="5959549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89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358760" y="6092444"/>
            <a:ext cx="1231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7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24210" y="1685259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89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36594" y="1447800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90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053839" y="1581403"/>
            <a:ext cx="160972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014"/>
              </a:lnSpc>
              <a:spcBef>
                <a:spcPts val="100"/>
              </a:spcBef>
            </a:pPr>
            <a:r>
              <a:rPr dirty="0" sz="1800" spc="0">
                <a:latin typeface="Corbel"/>
                <a:cs typeface="Corbel"/>
              </a:rPr>
              <a:t>10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ts val="2014"/>
              </a:lnSpc>
            </a:pPr>
            <a:r>
              <a:rPr dirty="0" sz="1800">
                <a:latin typeface="Corbel"/>
                <a:cs typeface="Corbel"/>
              </a:rPr>
              <a:t>9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25095" y="2872563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89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156311" y="3007867"/>
            <a:ext cx="143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8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36594" y="3228752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90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48092" y="2160181"/>
            <a:ext cx="605790" cy="593725"/>
          </a:xfrm>
          <a:custGeom>
            <a:avLst/>
            <a:gdLst/>
            <a:ahLst/>
            <a:cxnLst/>
            <a:rect l="l" t="t" r="r" b="b"/>
            <a:pathLst>
              <a:path w="605790" h="593725">
                <a:moveTo>
                  <a:pt x="0" y="296825"/>
                </a:moveTo>
                <a:lnTo>
                  <a:pt x="3961" y="248678"/>
                </a:lnTo>
                <a:lnTo>
                  <a:pt x="15429" y="203005"/>
                </a:lnTo>
                <a:lnTo>
                  <a:pt x="33781" y="160417"/>
                </a:lnTo>
                <a:lnTo>
                  <a:pt x="58394" y="121524"/>
                </a:lnTo>
                <a:lnTo>
                  <a:pt x="88645" y="86938"/>
                </a:lnTo>
                <a:lnTo>
                  <a:pt x="123910" y="57270"/>
                </a:lnTo>
                <a:lnTo>
                  <a:pt x="163566" y="33131"/>
                </a:lnTo>
                <a:lnTo>
                  <a:pt x="206991" y="15132"/>
                </a:lnTo>
                <a:lnTo>
                  <a:pt x="253561" y="3884"/>
                </a:lnTo>
                <a:lnTo>
                  <a:pt x="302653" y="0"/>
                </a:lnTo>
                <a:lnTo>
                  <a:pt x="351745" y="3884"/>
                </a:lnTo>
                <a:lnTo>
                  <a:pt x="398315" y="15132"/>
                </a:lnTo>
                <a:lnTo>
                  <a:pt x="441740" y="33131"/>
                </a:lnTo>
                <a:lnTo>
                  <a:pt x="481396" y="57270"/>
                </a:lnTo>
                <a:lnTo>
                  <a:pt x="516661" y="86938"/>
                </a:lnTo>
                <a:lnTo>
                  <a:pt x="546912" y="121524"/>
                </a:lnTo>
                <a:lnTo>
                  <a:pt x="571525" y="160417"/>
                </a:lnTo>
                <a:lnTo>
                  <a:pt x="589877" y="203005"/>
                </a:lnTo>
                <a:lnTo>
                  <a:pt x="601345" y="248678"/>
                </a:lnTo>
                <a:lnTo>
                  <a:pt x="605307" y="296825"/>
                </a:lnTo>
                <a:lnTo>
                  <a:pt x="601345" y="344972"/>
                </a:lnTo>
                <a:lnTo>
                  <a:pt x="589877" y="390645"/>
                </a:lnTo>
                <a:lnTo>
                  <a:pt x="571525" y="433233"/>
                </a:lnTo>
                <a:lnTo>
                  <a:pt x="546912" y="472126"/>
                </a:lnTo>
                <a:lnTo>
                  <a:pt x="516661" y="506712"/>
                </a:lnTo>
                <a:lnTo>
                  <a:pt x="481396" y="536380"/>
                </a:lnTo>
                <a:lnTo>
                  <a:pt x="441740" y="560519"/>
                </a:lnTo>
                <a:lnTo>
                  <a:pt x="398315" y="578518"/>
                </a:lnTo>
                <a:lnTo>
                  <a:pt x="351745" y="589766"/>
                </a:lnTo>
                <a:lnTo>
                  <a:pt x="302653" y="593651"/>
                </a:lnTo>
                <a:lnTo>
                  <a:pt x="253561" y="589766"/>
                </a:lnTo>
                <a:lnTo>
                  <a:pt x="206991" y="578518"/>
                </a:lnTo>
                <a:lnTo>
                  <a:pt x="163566" y="560519"/>
                </a:lnTo>
                <a:lnTo>
                  <a:pt x="123910" y="536380"/>
                </a:lnTo>
                <a:lnTo>
                  <a:pt x="88645" y="506712"/>
                </a:lnTo>
                <a:lnTo>
                  <a:pt x="58394" y="472126"/>
                </a:lnTo>
                <a:lnTo>
                  <a:pt x="33781" y="433233"/>
                </a:lnTo>
                <a:lnTo>
                  <a:pt x="15429" y="390645"/>
                </a:lnTo>
                <a:lnTo>
                  <a:pt x="3961" y="344972"/>
                </a:lnTo>
                <a:lnTo>
                  <a:pt x="0" y="2968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727715" y="2294635"/>
            <a:ext cx="2457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0">
                <a:latin typeface="Corbel"/>
                <a:cs typeface="Corbel"/>
              </a:rPr>
              <a:t>1</a:t>
            </a:r>
            <a:r>
              <a:rPr dirty="0" sz="1800">
                <a:latin typeface="Corbel"/>
                <a:cs typeface="Corbel"/>
              </a:rPr>
              <a:t>2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93253" y="3584943"/>
            <a:ext cx="504825" cy="474980"/>
          </a:xfrm>
          <a:custGeom>
            <a:avLst/>
            <a:gdLst/>
            <a:ahLst/>
            <a:cxnLst/>
            <a:rect l="l" t="t" r="r" b="b"/>
            <a:pathLst>
              <a:path w="504825" h="474979">
                <a:moveTo>
                  <a:pt x="0" y="0"/>
                </a:moveTo>
                <a:lnTo>
                  <a:pt x="504423" y="4749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595907" y="3228752"/>
            <a:ext cx="1109980" cy="356235"/>
          </a:xfrm>
          <a:custGeom>
            <a:avLst/>
            <a:gdLst/>
            <a:ahLst/>
            <a:cxnLst/>
            <a:rect l="l" t="t" r="r" b="b"/>
            <a:pathLst>
              <a:path w="1109980" h="356235">
                <a:moveTo>
                  <a:pt x="0" y="0"/>
                </a:moveTo>
                <a:lnTo>
                  <a:pt x="1109730" y="3561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94137" y="2753833"/>
            <a:ext cx="605790" cy="237490"/>
          </a:xfrm>
          <a:custGeom>
            <a:avLst/>
            <a:gdLst/>
            <a:ahLst/>
            <a:cxnLst/>
            <a:rect l="l" t="t" r="r" b="b"/>
            <a:pathLst>
              <a:path w="605789" h="237489">
                <a:moveTo>
                  <a:pt x="0" y="237460"/>
                </a:moveTo>
                <a:lnTo>
                  <a:pt x="60530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04752" y="2753832"/>
            <a:ext cx="302895" cy="593725"/>
          </a:xfrm>
          <a:custGeom>
            <a:avLst/>
            <a:gdLst/>
            <a:ahLst/>
            <a:cxnLst/>
            <a:rect l="l" t="t" r="r" b="b"/>
            <a:pathLst>
              <a:path w="302894" h="593725">
                <a:moveTo>
                  <a:pt x="0" y="0"/>
                </a:moveTo>
                <a:lnTo>
                  <a:pt x="302654" y="59365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302098" y="3941134"/>
            <a:ext cx="605790" cy="356235"/>
          </a:xfrm>
          <a:custGeom>
            <a:avLst/>
            <a:gdLst/>
            <a:ahLst/>
            <a:cxnLst/>
            <a:rect l="l" t="t" r="r" b="b"/>
            <a:pathLst>
              <a:path w="605789" h="356235">
                <a:moveTo>
                  <a:pt x="0" y="356191"/>
                </a:moveTo>
                <a:lnTo>
                  <a:pt x="60530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01213" y="4534785"/>
            <a:ext cx="1009015" cy="474980"/>
          </a:xfrm>
          <a:custGeom>
            <a:avLst/>
            <a:gdLst/>
            <a:ahLst/>
            <a:cxnLst/>
            <a:rect l="l" t="t" r="r" b="b"/>
            <a:pathLst>
              <a:path w="1009014" h="474979">
                <a:moveTo>
                  <a:pt x="0" y="0"/>
                </a:moveTo>
                <a:lnTo>
                  <a:pt x="1008845" y="4749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714482" y="5009706"/>
            <a:ext cx="706755" cy="237490"/>
          </a:xfrm>
          <a:custGeom>
            <a:avLst/>
            <a:gdLst/>
            <a:ahLst/>
            <a:cxnLst/>
            <a:rect l="l" t="t" r="r" b="b"/>
            <a:pathLst>
              <a:path w="706754" h="237489">
                <a:moveTo>
                  <a:pt x="0" y="237460"/>
                </a:moveTo>
                <a:lnTo>
                  <a:pt x="70619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13596" y="5603357"/>
            <a:ext cx="504825" cy="474980"/>
          </a:xfrm>
          <a:custGeom>
            <a:avLst/>
            <a:gdLst/>
            <a:ahLst/>
            <a:cxnLst/>
            <a:rect l="l" t="t" r="r" b="b"/>
            <a:pathLst>
              <a:path w="504825" h="474979">
                <a:moveTo>
                  <a:pt x="0" y="0"/>
                </a:moveTo>
                <a:lnTo>
                  <a:pt x="504423" y="47492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521557" y="5365897"/>
            <a:ext cx="201930" cy="593725"/>
          </a:xfrm>
          <a:custGeom>
            <a:avLst/>
            <a:gdLst/>
            <a:ahLst/>
            <a:cxnLst/>
            <a:rect l="l" t="t" r="r" b="b"/>
            <a:pathLst>
              <a:path w="201929" h="593725">
                <a:moveTo>
                  <a:pt x="201769" y="0"/>
                </a:moveTo>
                <a:lnTo>
                  <a:pt x="0" y="59365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530403" y="3347483"/>
            <a:ext cx="706755" cy="118745"/>
          </a:xfrm>
          <a:custGeom>
            <a:avLst/>
            <a:gdLst/>
            <a:ahLst/>
            <a:cxnLst/>
            <a:rect l="l" t="t" r="r" b="b"/>
            <a:pathLst>
              <a:path w="706754" h="118745">
                <a:moveTo>
                  <a:pt x="0" y="0"/>
                </a:moveTo>
                <a:lnTo>
                  <a:pt x="706192" y="11873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41901" y="2753832"/>
            <a:ext cx="807085" cy="712470"/>
          </a:xfrm>
          <a:custGeom>
            <a:avLst/>
            <a:gdLst/>
            <a:ahLst/>
            <a:cxnLst/>
            <a:rect l="l" t="t" r="r" b="b"/>
            <a:pathLst>
              <a:path w="807084" h="712470">
                <a:moveTo>
                  <a:pt x="0" y="712381"/>
                </a:moveTo>
                <a:lnTo>
                  <a:pt x="80707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41901" y="1803990"/>
            <a:ext cx="807085" cy="356235"/>
          </a:xfrm>
          <a:custGeom>
            <a:avLst/>
            <a:gdLst/>
            <a:ahLst/>
            <a:cxnLst/>
            <a:rect l="l" t="t" r="r" b="b"/>
            <a:pathLst>
              <a:path w="807084" h="356235">
                <a:moveTo>
                  <a:pt x="0" y="0"/>
                </a:moveTo>
                <a:lnTo>
                  <a:pt x="807076" y="3561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429517" y="1685260"/>
            <a:ext cx="807085" cy="237490"/>
          </a:xfrm>
          <a:custGeom>
            <a:avLst/>
            <a:gdLst/>
            <a:ahLst/>
            <a:cxnLst/>
            <a:rect l="l" t="t" r="r" b="b"/>
            <a:pathLst>
              <a:path w="807085" h="237489">
                <a:moveTo>
                  <a:pt x="0" y="237460"/>
                </a:moveTo>
                <a:lnTo>
                  <a:pt x="80707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126865" y="2278912"/>
            <a:ext cx="0" cy="593725"/>
          </a:xfrm>
          <a:custGeom>
            <a:avLst/>
            <a:gdLst/>
            <a:ahLst/>
            <a:cxnLst/>
            <a:rect l="l" t="t" r="r" b="b"/>
            <a:pathLst>
              <a:path w="0" h="593725">
                <a:moveTo>
                  <a:pt x="0" y="0"/>
                </a:moveTo>
                <a:lnTo>
                  <a:pt x="1" y="59365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539248" y="2041451"/>
            <a:ext cx="0" cy="1187450"/>
          </a:xfrm>
          <a:custGeom>
            <a:avLst/>
            <a:gdLst/>
            <a:ahLst/>
            <a:cxnLst/>
            <a:rect l="l" t="t" r="r" b="b"/>
            <a:pathLst>
              <a:path w="0" h="1187450">
                <a:moveTo>
                  <a:pt x="0" y="0"/>
                </a:moveTo>
                <a:lnTo>
                  <a:pt x="1" y="118730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04752" y="2635101"/>
            <a:ext cx="2320925" cy="356235"/>
          </a:xfrm>
          <a:custGeom>
            <a:avLst/>
            <a:gdLst/>
            <a:ahLst/>
            <a:cxnLst/>
            <a:rect l="l" t="t" r="r" b="b"/>
            <a:pathLst>
              <a:path w="2320925" h="356235">
                <a:moveTo>
                  <a:pt x="0" y="0"/>
                </a:moveTo>
                <a:lnTo>
                  <a:pt x="2320344" y="3561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411828" y="3466213"/>
            <a:ext cx="1614170" cy="1543685"/>
          </a:xfrm>
          <a:custGeom>
            <a:avLst/>
            <a:gdLst/>
            <a:ahLst/>
            <a:cxnLst/>
            <a:rect l="l" t="t" r="r" b="b"/>
            <a:pathLst>
              <a:path w="1614170" h="1543685">
                <a:moveTo>
                  <a:pt x="0" y="1543493"/>
                </a:moveTo>
                <a:lnTo>
                  <a:pt x="161415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85216" y="347472"/>
            <a:ext cx="3401567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716023" y="4090415"/>
            <a:ext cx="557784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65479" y="4114800"/>
            <a:ext cx="457200" cy="457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897030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043502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870176" y="4443093"/>
            <a:ext cx="247650" cy="43180"/>
          </a:xfrm>
          <a:custGeom>
            <a:avLst/>
            <a:gdLst/>
            <a:ahLst/>
            <a:cxnLst/>
            <a:rect l="l" t="t" r="r" b="b"/>
            <a:pathLst>
              <a:path w="247650" h="43179">
                <a:moveTo>
                  <a:pt x="0" y="0"/>
                </a:moveTo>
                <a:lnTo>
                  <a:pt x="41292" y="23637"/>
                </a:lnTo>
                <a:lnTo>
                  <a:pt x="82569" y="37819"/>
                </a:lnTo>
                <a:lnTo>
                  <a:pt x="123830" y="42546"/>
                </a:lnTo>
                <a:lnTo>
                  <a:pt x="165074" y="37819"/>
                </a:lnTo>
                <a:lnTo>
                  <a:pt x="206303" y="23637"/>
                </a:lnTo>
                <a:lnTo>
                  <a:pt x="247516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765479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1" y="17964"/>
                </a:lnTo>
                <a:lnTo>
                  <a:pt x="356412" y="39041"/>
                </a:lnTo>
                <a:lnTo>
                  <a:pt x="390244" y="66955"/>
                </a:lnTo>
                <a:lnTo>
                  <a:pt x="418158" y="100787"/>
                </a:lnTo>
                <a:lnTo>
                  <a:pt x="439235" y="139618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716023" y="4090415"/>
            <a:ext cx="557784" cy="5577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897030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043502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870176" y="4443093"/>
            <a:ext cx="247650" cy="43180"/>
          </a:xfrm>
          <a:custGeom>
            <a:avLst/>
            <a:gdLst/>
            <a:ahLst/>
            <a:cxnLst/>
            <a:rect l="l" t="t" r="r" b="b"/>
            <a:pathLst>
              <a:path w="247650" h="43179">
                <a:moveTo>
                  <a:pt x="0" y="0"/>
                </a:moveTo>
                <a:lnTo>
                  <a:pt x="41292" y="23637"/>
                </a:lnTo>
                <a:lnTo>
                  <a:pt x="82569" y="37819"/>
                </a:lnTo>
                <a:lnTo>
                  <a:pt x="123830" y="42546"/>
                </a:lnTo>
                <a:lnTo>
                  <a:pt x="165074" y="37819"/>
                </a:lnTo>
                <a:lnTo>
                  <a:pt x="206303" y="23637"/>
                </a:lnTo>
                <a:lnTo>
                  <a:pt x="247516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65479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1" y="17964"/>
                </a:lnTo>
                <a:lnTo>
                  <a:pt x="356412" y="39041"/>
                </a:lnTo>
                <a:lnTo>
                  <a:pt x="390244" y="66955"/>
                </a:lnTo>
                <a:lnTo>
                  <a:pt x="418158" y="100787"/>
                </a:lnTo>
                <a:lnTo>
                  <a:pt x="439235" y="139618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716023" y="4090415"/>
            <a:ext cx="557784" cy="5577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897030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043502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870176" y="4443093"/>
            <a:ext cx="247650" cy="43180"/>
          </a:xfrm>
          <a:custGeom>
            <a:avLst/>
            <a:gdLst/>
            <a:ahLst/>
            <a:cxnLst/>
            <a:rect l="l" t="t" r="r" b="b"/>
            <a:pathLst>
              <a:path w="247650" h="43179">
                <a:moveTo>
                  <a:pt x="0" y="0"/>
                </a:moveTo>
                <a:lnTo>
                  <a:pt x="41292" y="23637"/>
                </a:lnTo>
                <a:lnTo>
                  <a:pt x="82569" y="37819"/>
                </a:lnTo>
                <a:lnTo>
                  <a:pt x="123830" y="42546"/>
                </a:lnTo>
                <a:lnTo>
                  <a:pt x="165074" y="37819"/>
                </a:lnTo>
                <a:lnTo>
                  <a:pt x="206303" y="23637"/>
                </a:lnTo>
                <a:lnTo>
                  <a:pt x="247516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765479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1" y="17964"/>
                </a:lnTo>
                <a:lnTo>
                  <a:pt x="356412" y="39041"/>
                </a:lnTo>
                <a:lnTo>
                  <a:pt x="390244" y="66955"/>
                </a:lnTo>
                <a:lnTo>
                  <a:pt x="418158" y="100787"/>
                </a:lnTo>
                <a:lnTo>
                  <a:pt x="439235" y="139618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716023" y="4090415"/>
            <a:ext cx="557784" cy="5577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897030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043502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870176" y="4443093"/>
            <a:ext cx="247650" cy="43180"/>
          </a:xfrm>
          <a:custGeom>
            <a:avLst/>
            <a:gdLst/>
            <a:ahLst/>
            <a:cxnLst/>
            <a:rect l="l" t="t" r="r" b="b"/>
            <a:pathLst>
              <a:path w="247650" h="43179">
                <a:moveTo>
                  <a:pt x="0" y="0"/>
                </a:moveTo>
                <a:lnTo>
                  <a:pt x="41292" y="23637"/>
                </a:lnTo>
                <a:lnTo>
                  <a:pt x="82569" y="37819"/>
                </a:lnTo>
                <a:lnTo>
                  <a:pt x="123830" y="42546"/>
                </a:lnTo>
                <a:lnTo>
                  <a:pt x="165074" y="37819"/>
                </a:lnTo>
                <a:lnTo>
                  <a:pt x="206303" y="23637"/>
                </a:lnTo>
                <a:lnTo>
                  <a:pt x="247516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765479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1" y="17964"/>
                </a:lnTo>
                <a:lnTo>
                  <a:pt x="356412" y="39041"/>
                </a:lnTo>
                <a:lnTo>
                  <a:pt x="390244" y="66955"/>
                </a:lnTo>
                <a:lnTo>
                  <a:pt x="418158" y="100787"/>
                </a:lnTo>
                <a:lnTo>
                  <a:pt x="439235" y="139618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716023" y="4090415"/>
            <a:ext cx="557784" cy="5577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897030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043502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870176" y="4443093"/>
            <a:ext cx="247650" cy="43180"/>
          </a:xfrm>
          <a:custGeom>
            <a:avLst/>
            <a:gdLst/>
            <a:ahLst/>
            <a:cxnLst/>
            <a:rect l="l" t="t" r="r" b="b"/>
            <a:pathLst>
              <a:path w="247650" h="43179">
                <a:moveTo>
                  <a:pt x="0" y="0"/>
                </a:moveTo>
                <a:lnTo>
                  <a:pt x="41292" y="23637"/>
                </a:lnTo>
                <a:lnTo>
                  <a:pt x="82569" y="37819"/>
                </a:lnTo>
                <a:lnTo>
                  <a:pt x="123830" y="42546"/>
                </a:lnTo>
                <a:lnTo>
                  <a:pt x="165074" y="37819"/>
                </a:lnTo>
                <a:lnTo>
                  <a:pt x="206303" y="23637"/>
                </a:lnTo>
                <a:lnTo>
                  <a:pt x="247516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765479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1" y="17964"/>
                </a:lnTo>
                <a:lnTo>
                  <a:pt x="356412" y="39041"/>
                </a:lnTo>
                <a:lnTo>
                  <a:pt x="390244" y="66955"/>
                </a:lnTo>
                <a:lnTo>
                  <a:pt x="418158" y="100787"/>
                </a:lnTo>
                <a:lnTo>
                  <a:pt x="439235" y="139618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716023" y="4090415"/>
            <a:ext cx="557784" cy="5577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897030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043502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870176" y="4443093"/>
            <a:ext cx="247650" cy="43180"/>
          </a:xfrm>
          <a:custGeom>
            <a:avLst/>
            <a:gdLst/>
            <a:ahLst/>
            <a:cxnLst/>
            <a:rect l="l" t="t" r="r" b="b"/>
            <a:pathLst>
              <a:path w="247650" h="43179">
                <a:moveTo>
                  <a:pt x="0" y="0"/>
                </a:moveTo>
                <a:lnTo>
                  <a:pt x="41292" y="23637"/>
                </a:lnTo>
                <a:lnTo>
                  <a:pt x="82569" y="37819"/>
                </a:lnTo>
                <a:lnTo>
                  <a:pt x="123830" y="42546"/>
                </a:lnTo>
                <a:lnTo>
                  <a:pt x="165074" y="37819"/>
                </a:lnTo>
                <a:lnTo>
                  <a:pt x="206303" y="23637"/>
                </a:lnTo>
                <a:lnTo>
                  <a:pt x="247516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765479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1" y="17964"/>
                </a:lnTo>
                <a:lnTo>
                  <a:pt x="356412" y="39041"/>
                </a:lnTo>
                <a:lnTo>
                  <a:pt x="390244" y="66955"/>
                </a:lnTo>
                <a:lnTo>
                  <a:pt x="418158" y="100787"/>
                </a:lnTo>
                <a:lnTo>
                  <a:pt x="439235" y="139618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716023" y="4090415"/>
            <a:ext cx="557784" cy="55778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897030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043502" y="4251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lnTo>
                  <a:pt x="1871" y="14543"/>
                </a:lnTo>
                <a:lnTo>
                  <a:pt x="6974" y="6974"/>
                </a:lnTo>
                <a:lnTo>
                  <a:pt x="14543" y="1871"/>
                </a:lnTo>
                <a:lnTo>
                  <a:pt x="23812" y="0"/>
                </a:lnTo>
                <a:lnTo>
                  <a:pt x="33081" y="1871"/>
                </a:lnTo>
                <a:lnTo>
                  <a:pt x="40650" y="6974"/>
                </a:lnTo>
                <a:lnTo>
                  <a:pt x="45753" y="14543"/>
                </a:lnTo>
                <a:lnTo>
                  <a:pt x="47625" y="23812"/>
                </a:lnTo>
                <a:lnTo>
                  <a:pt x="45753" y="33081"/>
                </a:lnTo>
                <a:lnTo>
                  <a:pt x="40650" y="40650"/>
                </a:lnTo>
                <a:lnTo>
                  <a:pt x="33081" y="45753"/>
                </a:lnTo>
                <a:lnTo>
                  <a:pt x="23812" y="47625"/>
                </a:lnTo>
                <a:lnTo>
                  <a:pt x="14543" y="45753"/>
                </a:lnTo>
                <a:lnTo>
                  <a:pt x="6974" y="40650"/>
                </a:lnTo>
                <a:lnTo>
                  <a:pt x="1871" y="33081"/>
                </a:lnTo>
                <a:lnTo>
                  <a:pt x="0" y="23812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870176" y="4443093"/>
            <a:ext cx="247650" cy="43180"/>
          </a:xfrm>
          <a:custGeom>
            <a:avLst/>
            <a:gdLst/>
            <a:ahLst/>
            <a:cxnLst/>
            <a:rect l="l" t="t" r="r" b="b"/>
            <a:pathLst>
              <a:path w="247650" h="43179">
                <a:moveTo>
                  <a:pt x="0" y="0"/>
                </a:moveTo>
                <a:lnTo>
                  <a:pt x="41292" y="23637"/>
                </a:lnTo>
                <a:lnTo>
                  <a:pt x="82569" y="37819"/>
                </a:lnTo>
                <a:lnTo>
                  <a:pt x="123830" y="42546"/>
                </a:lnTo>
                <a:lnTo>
                  <a:pt x="165074" y="37819"/>
                </a:lnTo>
                <a:lnTo>
                  <a:pt x="206303" y="23637"/>
                </a:lnTo>
                <a:lnTo>
                  <a:pt x="247516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765479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1" y="17964"/>
                </a:lnTo>
                <a:lnTo>
                  <a:pt x="356412" y="39041"/>
                </a:lnTo>
                <a:lnTo>
                  <a:pt x="390244" y="66955"/>
                </a:lnTo>
                <a:lnTo>
                  <a:pt x="418158" y="100787"/>
                </a:lnTo>
                <a:lnTo>
                  <a:pt x="439235" y="139618"/>
                </a:lnTo>
                <a:lnTo>
                  <a:pt x="452555" y="182529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5710026" y="3364484"/>
            <a:ext cx="3165475" cy="3228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580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11</a:t>
            </a:r>
            <a:endParaRPr sz="1800">
              <a:latin typeface="Corbel"/>
              <a:cs typeface="Corbel"/>
            </a:endParaRPr>
          </a:p>
          <a:p>
            <a:pPr marL="12700" marR="5080">
              <a:lnSpc>
                <a:spcPct val="100000"/>
              </a:lnSpc>
              <a:spcBef>
                <a:spcPts val="1455"/>
              </a:spcBef>
            </a:pPr>
            <a:r>
              <a:rPr dirty="0" sz="2000" spc="-5">
                <a:latin typeface="Calibri"/>
                <a:cs typeface="Calibri"/>
              </a:rPr>
              <a:t>Given </a:t>
            </a:r>
            <a:r>
              <a:rPr dirty="0" sz="2000">
                <a:latin typeface="Calibri"/>
                <a:cs typeface="Calibri"/>
              </a:rPr>
              <a:t>a </a:t>
            </a:r>
            <a:r>
              <a:rPr dirty="0" sz="2000" spc="-5" i="1">
                <a:latin typeface="Calibri"/>
                <a:cs typeface="Calibri"/>
              </a:rPr>
              <a:t>graph </a:t>
            </a:r>
            <a:r>
              <a:rPr dirty="0" sz="2000" spc="-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a </a:t>
            </a:r>
            <a:r>
              <a:rPr dirty="0" sz="2000" spc="-10" i="1">
                <a:latin typeface="Calibri"/>
                <a:cs typeface="Calibri"/>
              </a:rPr>
              <a:t>starting  </a:t>
            </a:r>
            <a:r>
              <a:rPr dirty="0" sz="2000" spc="-10" i="1">
                <a:latin typeface="Calibri"/>
                <a:cs typeface="Calibri"/>
              </a:rPr>
              <a:t>point</a:t>
            </a:r>
            <a:r>
              <a:rPr dirty="0" sz="2000" spc="-10">
                <a:latin typeface="Calibri"/>
                <a:cs typeface="Calibri"/>
              </a:rPr>
              <a:t>, </a:t>
            </a:r>
            <a:r>
              <a:rPr dirty="0" sz="2000" spc="-15">
                <a:latin typeface="Calibri"/>
                <a:cs typeface="Calibri"/>
              </a:rPr>
              <a:t>we </a:t>
            </a:r>
            <a:r>
              <a:rPr dirty="0" sz="2000" spc="-5" b="1">
                <a:latin typeface="Calibri"/>
                <a:cs typeface="Calibri"/>
              </a:rPr>
              <a:t>select </a:t>
            </a:r>
            <a:r>
              <a:rPr dirty="0" sz="2000" b="1">
                <a:latin typeface="Calibri"/>
                <a:cs typeface="Calibri"/>
              </a:rPr>
              <a:t>a </a:t>
            </a:r>
            <a:r>
              <a:rPr dirty="0" sz="2000" spc="-5" b="1">
                <a:latin typeface="Calibri"/>
                <a:cs typeface="Calibri"/>
              </a:rPr>
              <a:t>neighbor </a:t>
            </a:r>
            <a:r>
              <a:rPr dirty="0" sz="2000" spc="-5">
                <a:latin typeface="Calibri"/>
                <a:cs typeface="Calibri"/>
              </a:rPr>
              <a:t>of  </a:t>
            </a:r>
            <a:r>
              <a:rPr dirty="0" sz="2000">
                <a:latin typeface="Calibri"/>
                <a:cs typeface="Calibri"/>
              </a:rPr>
              <a:t>it </a:t>
            </a:r>
            <a:r>
              <a:rPr dirty="0" sz="2000" spc="-10">
                <a:latin typeface="Calibri"/>
                <a:cs typeface="Calibri"/>
              </a:rPr>
              <a:t>at </a:t>
            </a:r>
            <a:r>
              <a:rPr dirty="0" sz="2000" spc="-10" b="1">
                <a:latin typeface="Calibri"/>
                <a:cs typeface="Calibri"/>
              </a:rPr>
              <a:t>random</a:t>
            </a:r>
            <a:r>
              <a:rPr dirty="0" sz="2000" spc="-10">
                <a:latin typeface="Calibri"/>
                <a:cs typeface="Calibri"/>
              </a:rPr>
              <a:t>, </a:t>
            </a:r>
            <a:r>
              <a:rPr dirty="0" sz="2000" spc="-5">
                <a:latin typeface="Calibri"/>
                <a:cs typeface="Calibri"/>
              </a:rPr>
              <a:t>and </a:t>
            </a:r>
            <a:r>
              <a:rPr dirty="0" sz="2000" spc="-10">
                <a:latin typeface="Calibri"/>
                <a:cs typeface="Calibri"/>
              </a:rPr>
              <a:t>move to </a:t>
            </a:r>
            <a:r>
              <a:rPr dirty="0" sz="2000" spc="-5">
                <a:latin typeface="Calibri"/>
                <a:cs typeface="Calibri"/>
              </a:rPr>
              <a:t>this  neighbor; then </a:t>
            </a:r>
            <a:r>
              <a:rPr dirty="0" sz="2000" spc="-15">
                <a:latin typeface="Calibri"/>
                <a:cs typeface="Calibri"/>
              </a:rPr>
              <a:t>we </a:t>
            </a:r>
            <a:r>
              <a:rPr dirty="0" sz="2000">
                <a:latin typeface="Calibri"/>
                <a:cs typeface="Calibri"/>
              </a:rPr>
              <a:t>select a  </a:t>
            </a:r>
            <a:r>
              <a:rPr dirty="0" sz="2000" spc="-5">
                <a:latin typeface="Calibri"/>
                <a:cs typeface="Calibri"/>
              </a:rPr>
              <a:t>neighbor of this </a:t>
            </a:r>
            <a:r>
              <a:rPr dirty="0" sz="2000" spc="-10">
                <a:latin typeface="Calibri"/>
                <a:cs typeface="Calibri"/>
              </a:rPr>
              <a:t>point at  random, </a:t>
            </a:r>
            <a:r>
              <a:rPr dirty="0" sz="2000" spc="-5">
                <a:latin typeface="Calibri"/>
                <a:cs typeface="Calibri"/>
              </a:rPr>
              <a:t>and </a:t>
            </a:r>
            <a:r>
              <a:rPr dirty="0" sz="2000" spc="-10">
                <a:latin typeface="Calibri"/>
                <a:cs typeface="Calibri"/>
              </a:rPr>
              <a:t>move to </a:t>
            </a:r>
            <a:r>
              <a:rPr dirty="0" sz="2000">
                <a:latin typeface="Calibri"/>
                <a:cs typeface="Calibri"/>
              </a:rPr>
              <a:t>it,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12700" marR="300355">
              <a:lnSpc>
                <a:spcPct val="100000"/>
              </a:lnSpc>
            </a:pP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(random)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sequence of  points visited this 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way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is a 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random walk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on the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414969" y="4425367"/>
            <a:ext cx="815340" cy="418465"/>
          </a:xfrm>
          <a:custGeom>
            <a:avLst/>
            <a:gdLst/>
            <a:ahLst/>
            <a:cxnLst/>
            <a:rect l="l" t="t" r="r" b="b"/>
            <a:pathLst>
              <a:path w="815339" h="418464">
                <a:moveTo>
                  <a:pt x="732331" y="392227"/>
                </a:moveTo>
                <a:lnTo>
                  <a:pt x="719498" y="417757"/>
                </a:lnTo>
                <a:lnTo>
                  <a:pt x="815341" y="417963"/>
                </a:lnTo>
                <a:lnTo>
                  <a:pt x="803562" y="402187"/>
                </a:lnTo>
                <a:lnTo>
                  <a:pt x="752146" y="402187"/>
                </a:lnTo>
                <a:lnTo>
                  <a:pt x="732331" y="392227"/>
                </a:lnTo>
                <a:close/>
              </a:path>
              <a:path w="815339" h="418464">
                <a:moveTo>
                  <a:pt x="745165" y="366696"/>
                </a:moveTo>
                <a:lnTo>
                  <a:pt x="732331" y="392227"/>
                </a:lnTo>
                <a:lnTo>
                  <a:pt x="752146" y="402187"/>
                </a:lnTo>
                <a:lnTo>
                  <a:pt x="760735" y="399345"/>
                </a:lnTo>
                <a:lnTo>
                  <a:pt x="767822" y="385245"/>
                </a:lnTo>
                <a:lnTo>
                  <a:pt x="764980" y="376656"/>
                </a:lnTo>
                <a:lnTo>
                  <a:pt x="745165" y="366696"/>
                </a:lnTo>
                <a:close/>
              </a:path>
              <a:path w="815339" h="418464">
                <a:moveTo>
                  <a:pt x="757999" y="341165"/>
                </a:moveTo>
                <a:lnTo>
                  <a:pt x="745165" y="366696"/>
                </a:lnTo>
                <a:lnTo>
                  <a:pt x="764980" y="376656"/>
                </a:lnTo>
                <a:lnTo>
                  <a:pt x="767822" y="385245"/>
                </a:lnTo>
                <a:lnTo>
                  <a:pt x="760735" y="399345"/>
                </a:lnTo>
                <a:lnTo>
                  <a:pt x="752146" y="402187"/>
                </a:lnTo>
                <a:lnTo>
                  <a:pt x="803562" y="402187"/>
                </a:lnTo>
                <a:lnTo>
                  <a:pt x="757999" y="341165"/>
                </a:lnTo>
                <a:close/>
              </a:path>
              <a:path w="815339" h="418464">
                <a:moveTo>
                  <a:pt x="15675" y="0"/>
                </a:moveTo>
                <a:lnTo>
                  <a:pt x="7087" y="2843"/>
                </a:lnTo>
                <a:lnTo>
                  <a:pt x="0" y="16943"/>
                </a:lnTo>
                <a:lnTo>
                  <a:pt x="2842" y="25532"/>
                </a:lnTo>
                <a:lnTo>
                  <a:pt x="732331" y="392227"/>
                </a:lnTo>
                <a:lnTo>
                  <a:pt x="745165" y="366696"/>
                </a:lnTo>
                <a:lnTo>
                  <a:pt x="156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415318" y="3505912"/>
            <a:ext cx="1336675" cy="1255395"/>
          </a:xfrm>
          <a:custGeom>
            <a:avLst/>
            <a:gdLst/>
            <a:ahLst/>
            <a:cxnLst/>
            <a:rect l="l" t="t" r="r" b="b"/>
            <a:pathLst>
              <a:path w="1336675" h="1255395">
                <a:moveTo>
                  <a:pt x="1263857" y="48247"/>
                </a:moveTo>
                <a:lnTo>
                  <a:pt x="287" y="1234121"/>
                </a:lnTo>
                <a:lnTo>
                  <a:pt x="0" y="1243163"/>
                </a:lnTo>
                <a:lnTo>
                  <a:pt x="10800" y="1254671"/>
                </a:lnTo>
                <a:lnTo>
                  <a:pt x="19841" y="1254956"/>
                </a:lnTo>
                <a:lnTo>
                  <a:pt x="1283412" y="69083"/>
                </a:lnTo>
                <a:lnTo>
                  <a:pt x="1263857" y="48247"/>
                </a:lnTo>
                <a:close/>
              </a:path>
              <a:path w="1336675" h="1255395">
                <a:moveTo>
                  <a:pt x="1323942" y="33068"/>
                </a:moveTo>
                <a:lnTo>
                  <a:pt x="1280030" y="33068"/>
                </a:lnTo>
                <a:lnTo>
                  <a:pt x="1289072" y="33354"/>
                </a:lnTo>
                <a:lnTo>
                  <a:pt x="1299872" y="44861"/>
                </a:lnTo>
                <a:lnTo>
                  <a:pt x="1299585" y="53903"/>
                </a:lnTo>
                <a:lnTo>
                  <a:pt x="1283412" y="69083"/>
                </a:lnTo>
                <a:lnTo>
                  <a:pt x="1302966" y="89918"/>
                </a:lnTo>
                <a:lnTo>
                  <a:pt x="1323942" y="33068"/>
                </a:lnTo>
                <a:close/>
              </a:path>
              <a:path w="1336675" h="1255395">
                <a:moveTo>
                  <a:pt x="1280030" y="33068"/>
                </a:moveTo>
                <a:lnTo>
                  <a:pt x="1263857" y="48247"/>
                </a:lnTo>
                <a:lnTo>
                  <a:pt x="1283412" y="69083"/>
                </a:lnTo>
                <a:lnTo>
                  <a:pt x="1299585" y="53903"/>
                </a:lnTo>
                <a:lnTo>
                  <a:pt x="1299872" y="44861"/>
                </a:lnTo>
                <a:lnTo>
                  <a:pt x="1289072" y="33354"/>
                </a:lnTo>
                <a:lnTo>
                  <a:pt x="1280030" y="33068"/>
                </a:lnTo>
                <a:close/>
              </a:path>
              <a:path w="1336675" h="1255395">
                <a:moveTo>
                  <a:pt x="1336142" y="0"/>
                </a:moveTo>
                <a:lnTo>
                  <a:pt x="1244302" y="27411"/>
                </a:lnTo>
                <a:lnTo>
                  <a:pt x="1263857" y="48247"/>
                </a:lnTo>
                <a:lnTo>
                  <a:pt x="1280030" y="33068"/>
                </a:lnTo>
                <a:lnTo>
                  <a:pt x="1323942" y="33068"/>
                </a:lnTo>
                <a:lnTo>
                  <a:pt x="133614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918704" y="2313773"/>
            <a:ext cx="85725" cy="514350"/>
          </a:xfrm>
          <a:custGeom>
            <a:avLst/>
            <a:gdLst/>
            <a:ahLst/>
            <a:cxnLst/>
            <a:rect l="l" t="t" r="r" b="b"/>
            <a:pathLst>
              <a:path w="85725" h="514350">
                <a:moveTo>
                  <a:pt x="57148" y="85599"/>
                </a:moveTo>
                <a:lnTo>
                  <a:pt x="28574" y="85843"/>
                </a:lnTo>
                <a:lnTo>
                  <a:pt x="32181" y="507941"/>
                </a:lnTo>
                <a:lnTo>
                  <a:pt x="38632" y="514283"/>
                </a:lnTo>
                <a:lnTo>
                  <a:pt x="54413" y="514149"/>
                </a:lnTo>
                <a:lnTo>
                  <a:pt x="60755" y="507697"/>
                </a:lnTo>
                <a:lnTo>
                  <a:pt x="57148" y="85599"/>
                </a:lnTo>
                <a:close/>
              </a:path>
              <a:path w="85725" h="514350">
                <a:moveTo>
                  <a:pt x="42128" y="0"/>
                </a:moveTo>
                <a:lnTo>
                  <a:pt x="0" y="86088"/>
                </a:lnTo>
                <a:lnTo>
                  <a:pt x="28574" y="85843"/>
                </a:lnTo>
                <a:lnTo>
                  <a:pt x="28384" y="63666"/>
                </a:lnTo>
                <a:lnTo>
                  <a:pt x="34726" y="57216"/>
                </a:lnTo>
                <a:lnTo>
                  <a:pt x="71281" y="57080"/>
                </a:lnTo>
                <a:lnTo>
                  <a:pt x="42128" y="0"/>
                </a:lnTo>
                <a:close/>
              </a:path>
              <a:path w="85725" h="514350">
                <a:moveTo>
                  <a:pt x="50507" y="57080"/>
                </a:moveTo>
                <a:lnTo>
                  <a:pt x="34726" y="57216"/>
                </a:lnTo>
                <a:lnTo>
                  <a:pt x="28384" y="63666"/>
                </a:lnTo>
                <a:lnTo>
                  <a:pt x="28574" y="85843"/>
                </a:lnTo>
                <a:lnTo>
                  <a:pt x="57148" y="85599"/>
                </a:lnTo>
                <a:lnTo>
                  <a:pt x="56959" y="63422"/>
                </a:lnTo>
                <a:lnTo>
                  <a:pt x="50507" y="57080"/>
                </a:lnTo>
                <a:close/>
              </a:path>
              <a:path w="85725" h="514350">
                <a:moveTo>
                  <a:pt x="71281" y="57080"/>
                </a:moveTo>
                <a:lnTo>
                  <a:pt x="50507" y="57080"/>
                </a:lnTo>
                <a:lnTo>
                  <a:pt x="56959" y="63422"/>
                </a:lnTo>
                <a:lnTo>
                  <a:pt x="57148" y="85599"/>
                </a:lnTo>
                <a:lnTo>
                  <a:pt x="85722" y="85355"/>
                </a:lnTo>
                <a:lnTo>
                  <a:pt x="71281" y="5708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216250" y="2359230"/>
            <a:ext cx="85725" cy="459105"/>
          </a:xfrm>
          <a:custGeom>
            <a:avLst/>
            <a:gdLst/>
            <a:ahLst/>
            <a:cxnLst/>
            <a:rect l="l" t="t" r="r" b="b"/>
            <a:pathLst>
              <a:path w="85725" h="459105">
                <a:moveTo>
                  <a:pt x="28572" y="373159"/>
                </a:moveTo>
                <a:lnTo>
                  <a:pt x="0" y="373434"/>
                </a:lnTo>
                <a:lnTo>
                  <a:pt x="43684" y="458744"/>
                </a:lnTo>
                <a:lnTo>
                  <a:pt x="71536" y="401673"/>
                </a:lnTo>
                <a:lnTo>
                  <a:pt x="35243" y="401673"/>
                </a:lnTo>
                <a:lnTo>
                  <a:pt x="28785" y="395337"/>
                </a:lnTo>
                <a:lnTo>
                  <a:pt x="28572" y="373159"/>
                </a:lnTo>
                <a:close/>
              </a:path>
              <a:path w="85725" h="459105">
                <a:moveTo>
                  <a:pt x="57146" y="372885"/>
                </a:moveTo>
                <a:lnTo>
                  <a:pt x="28572" y="373159"/>
                </a:lnTo>
                <a:lnTo>
                  <a:pt x="28785" y="395337"/>
                </a:lnTo>
                <a:lnTo>
                  <a:pt x="35243" y="401673"/>
                </a:lnTo>
                <a:lnTo>
                  <a:pt x="51024" y="401520"/>
                </a:lnTo>
                <a:lnTo>
                  <a:pt x="57359" y="395062"/>
                </a:lnTo>
                <a:lnTo>
                  <a:pt x="57146" y="372885"/>
                </a:lnTo>
                <a:close/>
              </a:path>
              <a:path w="85725" h="459105">
                <a:moveTo>
                  <a:pt x="85719" y="372610"/>
                </a:moveTo>
                <a:lnTo>
                  <a:pt x="57146" y="372885"/>
                </a:lnTo>
                <a:lnTo>
                  <a:pt x="57359" y="395062"/>
                </a:lnTo>
                <a:lnTo>
                  <a:pt x="51024" y="401520"/>
                </a:lnTo>
                <a:lnTo>
                  <a:pt x="35243" y="401673"/>
                </a:lnTo>
                <a:lnTo>
                  <a:pt x="71536" y="401673"/>
                </a:lnTo>
                <a:lnTo>
                  <a:pt x="85719" y="372610"/>
                </a:lnTo>
                <a:close/>
              </a:path>
              <a:path w="85725" h="459105">
                <a:moveTo>
                  <a:pt x="47163" y="0"/>
                </a:moveTo>
                <a:lnTo>
                  <a:pt x="31382" y="152"/>
                </a:lnTo>
                <a:lnTo>
                  <a:pt x="25048" y="6610"/>
                </a:lnTo>
                <a:lnTo>
                  <a:pt x="28572" y="373159"/>
                </a:lnTo>
                <a:lnTo>
                  <a:pt x="57146" y="372885"/>
                </a:lnTo>
                <a:lnTo>
                  <a:pt x="53621" y="6334"/>
                </a:lnTo>
                <a:lnTo>
                  <a:pt x="4716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620322" y="3191182"/>
            <a:ext cx="593090" cy="163830"/>
          </a:xfrm>
          <a:custGeom>
            <a:avLst/>
            <a:gdLst/>
            <a:ahLst/>
            <a:cxnLst/>
            <a:rect l="l" t="t" r="r" b="b"/>
            <a:pathLst>
              <a:path w="593089" h="163829">
                <a:moveTo>
                  <a:pt x="505653" y="135504"/>
                </a:moveTo>
                <a:lnTo>
                  <a:pt x="499652" y="163441"/>
                </a:lnTo>
                <a:lnTo>
                  <a:pt x="590049" y="140162"/>
                </a:lnTo>
                <a:lnTo>
                  <a:pt x="527337" y="140162"/>
                </a:lnTo>
                <a:lnTo>
                  <a:pt x="505653" y="135504"/>
                </a:lnTo>
                <a:close/>
              </a:path>
              <a:path w="593089" h="163829">
                <a:moveTo>
                  <a:pt x="511654" y="107566"/>
                </a:moveTo>
                <a:lnTo>
                  <a:pt x="505653" y="135504"/>
                </a:lnTo>
                <a:lnTo>
                  <a:pt x="527337" y="140162"/>
                </a:lnTo>
                <a:lnTo>
                  <a:pt x="534934" y="135251"/>
                </a:lnTo>
                <a:lnTo>
                  <a:pt x="538248" y="119821"/>
                </a:lnTo>
                <a:lnTo>
                  <a:pt x="533337" y="112224"/>
                </a:lnTo>
                <a:lnTo>
                  <a:pt x="511654" y="107566"/>
                </a:lnTo>
                <a:close/>
              </a:path>
              <a:path w="593089" h="163829">
                <a:moveTo>
                  <a:pt x="517655" y="79628"/>
                </a:moveTo>
                <a:lnTo>
                  <a:pt x="511654" y="107566"/>
                </a:lnTo>
                <a:lnTo>
                  <a:pt x="533337" y="112224"/>
                </a:lnTo>
                <a:lnTo>
                  <a:pt x="538248" y="119821"/>
                </a:lnTo>
                <a:lnTo>
                  <a:pt x="534934" y="135251"/>
                </a:lnTo>
                <a:lnTo>
                  <a:pt x="527337" y="140162"/>
                </a:lnTo>
                <a:lnTo>
                  <a:pt x="590049" y="140162"/>
                </a:lnTo>
                <a:lnTo>
                  <a:pt x="592466" y="139539"/>
                </a:lnTo>
                <a:lnTo>
                  <a:pt x="517655" y="79628"/>
                </a:lnTo>
                <a:close/>
              </a:path>
              <a:path w="593089" h="163829">
                <a:moveTo>
                  <a:pt x="10911" y="0"/>
                </a:moveTo>
                <a:lnTo>
                  <a:pt x="3314" y="4909"/>
                </a:lnTo>
                <a:lnTo>
                  <a:pt x="0" y="20340"/>
                </a:lnTo>
                <a:lnTo>
                  <a:pt x="4909" y="27937"/>
                </a:lnTo>
                <a:lnTo>
                  <a:pt x="505653" y="135504"/>
                </a:lnTo>
                <a:lnTo>
                  <a:pt x="511654" y="107566"/>
                </a:lnTo>
                <a:lnTo>
                  <a:pt x="1091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2614437" y="4269740"/>
            <a:ext cx="711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Step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1"/>
              </a:rPr>
              <a:t>http://cs224w.stanford.edu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  <p:sp>
        <p:nvSpPr>
          <p:cNvPr id="86" name="object 86"/>
          <p:cNvSpPr txBox="1"/>
          <p:nvPr/>
        </p:nvSpPr>
        <p:spPr>
          <a:xfrm>
            <a:off x="4250955" y="4156964"/>
            <a:ext cx="711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Step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139859" y="2474467"/>
            <a:ext cx="711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Step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361908" y="2474467"/>
            <a:ext cx="711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Step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802016" y="2931667"/>
            <a:ext cx="711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Step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67512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85406" y="2568253"/>
            <a:ext cx="4624070" cy="269303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 marL="12700" marR="5080" indent="1905">
              <a:lnSpc>
                <a:spcPct val="98500"/>
              </a:lnSpc>
              <a:spcBef>
                <a:spcPts val="170"/>
              </a:spcBef>
            </a:pPr>
            <a:r>
              <a:rPr dirty="0" sz="4300" spc="-75">
                <a:solidFill>
                  <a:srgbClr val="0000FF"/>
                </a:solidFill>
                <a:latin typeface="Arial"/>
                <a:cs typeface="Arial"/>
              </a:rPr>
              <a:t>probability </a:t>
            </a:r>
            <a:r>
              <a:rPr dirty="0" sz="4300" spc="-40">
                <a:solidFill>
                  <a:srgbClr val="0000FF"/>
                </a:solidFill>
                <a:latin typeface="Arial"/>
                <a:cs typeface="Arial"/>
              </a:rPr>
              <a:t>that </a:t>
            </a:r>
            <a:r>
              <a:rPr dirty="0" sz="4550" spc="-140" i="1">
                <a:solidFill>
                  <a:srgbClr val="0000FF"/>
                </a:solidFill>
                <a:latin typeface="Cambria Math"/>
                <a:cs typeface="Cambria Math"/>
              </a:rPr>
              <a:t>u  </a:t>
            </a:r>
            <a:r>
              <a:rPr dirty="0" sz="4300" spc="-75">
                <a:solidFill>
                  <a:srgbClr val="0000FF"/>
                </a:solidFill>
                <a:latin typeface="Arial"/>
                <a:cs typeface="Arial"/>
              </a:rPr>
              <a:t>and </a:t>
            </a:r>
            <a:r>
              <a:rPr dirty="0" sz="4550" spc="-130" i="1">
                <a:solidFill>
                  <a:srgbClr val="0000FF"/>
                </a:solidFill>
                <a:latin typeface="Cambria Math"/>
                <a:cs typeface="Cambria Math"/>
              </a:rPr>
              <a:t>v </a:t>
            </a:r>
            <a:r>
              <a:rPr dirty="0" sz="4300" spc="5">
                <a:solidFill>
                  <a:srgbClr val="0000FF"/>
                </a:solidFill>
                <a:latin typeface="Arial"/>
                <a:cs typeface="Arial"/>
              </a:rPr>
              <a:t>co-occur </a:t>
            </a:r>
            <a:r>
              <a:rPr dirty="0" sz="4300" spc="-65">
                <a:solidFill>
                  <a:srgbClr val="0000FF"/>
                </a:solidFill>
                <a:latin typeface="Arial"/>
                <a:cs typeface="Arial"/>
              </a:rPr>
              <a:t>on  </a:t>
            </a:r>
            <a:r>
              <a:rPr dirty="0" sz="4300" spc="-160">
                <a:solidFill>
                  <a:srgbClr val="0000FF"/>
                </a:solidFill>
                <a:latin typeface="Arial"/>
                <a:cs typeface="Arial"/>
              </a:rPr>
              <a:t>a </a:t>
            </a:r>
            <a:r>
              <a:rPr dirty="0" sz="4300" spc="-60">
                <a:solidFill>
                  <a:srgbClr val="0000FF"/>
                </a:solidFill>
                <a:latin typeface="Arial"/>
                <a:cs typeface="Arial"/>
              </a:rPr>
              <a:t>random </a:t>
            </a:r>
            <a:r>
              <a:rPr dirty="0" sz="4300" spc="-75">
                <a:solidFill>
                  <a:srgbClr val="0000FF"/>
                </a:solidFill>
                <a:latin typeface="Arial"/>
                <a:cs typeface="Arial"/>
              </a:rPr>
              <a:t>walk </a:t>
            </a:r>
            <a:r>
              <a:rPr dirty="0" sz="4300" spc="-120">
                <a:solidFill>
                  <a:srgbClr val="0000FF"/>
                </a:solidFill>
                <a:latin typeface="Arial"/>
                <a:cs typeface="Arial"/>
              </a:rPr>
              <a:t>over  </a:t>
            </a:r>
            <a:r>
              <a:rPr dirty="0" sz="4300" spc="-7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dirty="0" sz="4300" spc="-10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4300" spc="-65">
                <a:solidFill>
                  <a:srgbClr val="0000FF"/>
                </a:solidFill>
                <a:latin typeface="Arial"/>
                <a:cs typeface="Arial"/>
              </a:rPr>
              <a:t>graph</a:t>
            </a:r>
            <a:endParaRPr sz="43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1540742" y="3512820"/>
            <a:ext cx="114109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</a:pPr>
            <a:r>
              <a:rPr dirty="0" sz="4400" spc="1600">
                <a:latin typeface="Cambria Math"/>
                <a:cs typeface="Cambria Math"/>
              </a:rPr>
              <a:t>!</a:t>
            </a:r>
            <a:r>
              <a:rPr dirty="0" sz="4400" spc="1600">
                <a:latin typeface="Cambria Math"/>
                <a:cs typeface="Cambria Math"/>
              </a:rPr>
              <a:t>	</a:t>
            </a:r>
            <a:r>
              <a:rPr dirty="0" sz="4400" spc="-240">
                <a:latin typeface="Cambria Math"/>
                <a:cs typeface="Cambria Math"/>
              </a:rPr>
              <a:t>#</a:t>
            </a:r>
            <a:endParaRPr sz="4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4504" y="3154172"/>
            <a:ext cx="233426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9585" algn="l"/>
              </a:tabLst>
            </a:pPr>
            <a:r>
              <a:rPr dirty="0" sz="6000" spc="229">
                <a:latin typeface="Cambria Math"/>
                <a:cs typeface="Cambria Math"/>
              </a:rPr>
              <a:t>𝐳</a:t>
            </a:r>
            <a:r>
              <a:rPr dirty="0" baseline="27777" sz="6600" spc="1950">
                <a:latin typeface="Cambria Math"/>
                <a:cs typeface="Cambria Math"/>
              </a:rPr>
              <a:t>"</a:t>
            </a:r>
            <a:r>
              <a:rPr dirty="0" sz="6000">
                <a:latin typeface="Cambria Math"/>
                <a:cs typeface="Cambria Math"/>
              </a:rPr>
              <a:t>𝐳	≈</a:t>
            </a:r>
            <a:endParaRPr sz="6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43600" y="2670906"/>
            <a:ext cx="3192171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43600" y="4758295"/>
            <a:ext cx="3200400" cy="20235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7472"/>
            <a:ext cx="6675120" cy="5577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788162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621665" marR="5080" indent="-609600">
              <a:lnSpc>
                <a:spcPct val="100299"/>
              </a:lnSpc>
              <a:spcBef>
                <a:spcPts val="85"/>
              </a:spcBef>
              <a:tabLst>
                <a:tab pos="621665" algn="l"/>
              </a:tabLst>
            </a:pPr>
            <a:r>
              <a:rPr dirty="0" sz="2600" spc="-10" b="1">
                <a:solidFill>
                  <a:srgbClr val="F0AD00"/>
                </a:solidFill>
                <a:latin typeface="Calibri"/>
                <a:cs typeface="Calibri"/>
              </a:rPr>
              <a:t>1.	</a:t>
            </a:r>
            <a:r>
              <a:rPr dirty="0" spc="-15" b="1">
                <a:latin typeface="Calibri"/>
                <a:cs typeface="Calibri"/>
              </a:rPr>
              <a:t>Estimate </a:t>
            </a:r>
            <a:r>
              <a:rPr dirty="0" spc="-10" b="1">
                <a:latin typeface="Calibri"/>
                <a:cs typeface="Calibri"/>
              </a:rPr>
              <a:t>probability </a:t>
            </a:r>
            <a:r>
              <a:rPr dirty="0" b="1">
                <a:latin typeface="Calibri"/>
                <a:cs typeface="Calibri"/>
              </a:rPr>
              <a:t>of </a:t>
            </a:r>
            <a:r>
              <a:rPr dirty="0" spc="-5" b="1">
                <a:latin typeface="Calibri"/>
                <a:cs typeface="Calibri"/>
              </a:rPr>
              <a:t>visiting node </a:t>
            </a:r>
            <a:r>
              <a:rPr dirty="0">
                <a:latin typeface="Cambria Math"/>
                <a:cs typeface="Cambria Math"/>
              </a:rPr>
              <a:t>𝒗</a:t>
            </a:r>
            <a:r>
              <a:rPr dirty="0" spc="30">
                <a:latin typeface="Cambria Math"/>
                <a:cs typeface="Cambria Math"/>
              </a:rPr>
              <a:t> </a:t>
            </a:r>
            <a:r>
              <a:rPr dirty="0" b="1">
                <a:latin typeface="Calibri"/>
                <a:cs typeface="Calibri"/>
              </a:rPr>
              <a:t>on</a:t>
            </a:r>
            <a:r>
              <a:rPr dirty="0" spc="-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  </a:t>
            </a:r>
            <a:r>
              <a:rPr dirty="0" spc="-20" b="1">
                <a:latin typeface="Calibri"/>
                <a:cs typeface="Calibri"/>
              </a:rPr>
              <a:t>random </a:t>
            </a:r>
            <a:r>
              <a:rPr dirty="0" spc="-10" b="1">
                <a:latin typeface="Calibri"/>
                <a:cs typeface="Calibri"/>
              </a:rPr>
              <a:t>walk </a:t>
            </a:r>
            <a:r>
              <a:rPr dirty="0" spc="-15" b="1">
                <a:latin typeface="Calibri"/>
                <a:cs typeface="Calibri"/>
              </a:rPr>
              <a:t>starting from </a:t>
            </a:r>
            <a:r>
              <a:rPr dirty="0" spc="-5" b="1">
                <a:latin typeface="Calibri"/>
                <a:cs typeface="Calibri"/>
              </a:rPr>
              <a:t>node </a:t>
            </a:r>
            <a:r>
              <a:rPr dirty="0">
                <a:latin typeface="Cambria Math"/>
                <a:cs typeface="Cambria Math"/>
              </a:rPr>
              <a:t>𝒖 </a:t>
            </a:r>
            <a:r>
              <a:rPr dirty="0" spc="-5" b="1">
                <a:latin typeface="Calibri"/>
                <a:cs typeface="Calibri"/>
              </a:rPr>
              <a:t>using  some </a:t>
            </a:r>
            <a:r>
              <a:rPr dirty="0" spc="-15" b="1">
                <a:latin typeface="Calibri"/>
                <a:cs typeface="Calibri"/>
              </a:rPr>
              <a:t>random </a:t>
            </a:r>
            <a:r>
              <a:rPr dirty="0" spc="-10" b="1">
                <a:latin typeface="Calibri"/>
                <a:cs typeface="Calibri"/>
              </a:rPr>
              <a:t>walk </a:t>
            </a:r>
            <a:r>
              <a:rPr dirty="0" spc="-25" b="1">
                <a:latin typeface="Calibri"/>
                <a:cs typeface="Calibri"/>
              </a:rPr>
              <a:t>strategy</a:t>
            </a:r>
            <a:r>
              <a:rPr dirty="0" spc="-70" b="1">
                <a:latin typeface="Calibri"/>
                <a:cs typeface="Calibri"/>
              </a:rPr>
              <a:t> </a:t>
            </a:r>
            <a:r>
              <a:rPr dirty="0">
                <a:latin typeface="Cambria Math"/>
                <a:cs typeface="Cambria Math"/>
              </a:rPr>
              <a:t>𝑹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499363" y="4396740"/>
            <a:ext cx="7105650" cy="19304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621665" marR="5080" indent="-609600">
              <a:lnSpc>
                <a:spcPts val="3790"/>
              </a:lnSpc>
              <a:spcBef>
                <a:spcPts val="265"/>
              </a:spcBef>
              <a:tabLst>
                <a:tab pos="621665" algn="l"/>
              </a:tabLst>
            </a:pPr>
            <a:r>
              <a:rPr dirty="0" sz="2600" spc="-10" b="1">
                <a:solidFill>
                  <a:srgbClr val="F0AD00"/>
                </a:solidFill>
                <a:latin typeface="Calibri"/>
                <a:cs typeface="Calibri"/>
              </a:rPr>
              <a:t>2.	</a:t>
            </a:r>
            <a:r>
              <a:rPr dirty="0" sz="3200" spc="-15" b="1">
                <a:latin typeface="Calibri"/>
                <a:cs typeface="Calibri"/>
              </a:rPr>
              <a:t>Optimize </a:t>
            </a:r>
            <a:r>
              <a:rPr dirty="0" sz="3200" spc="-5" b="1">
                <a:latin typeface="Calibri"/>
                <a:cs typeface="Calibri"/>
              </a:rPr>
              <a:t>embeddings </a:t>
            </a:r>
            <a:r>
              <a:rPr dirty="0" sz="3200" spc="-15" b="1">
                <a:latin typeface="Calibri"/>
                <a:cs typeface="Calibri"/>
              </a:rPr>
              <a:t>to</a:t>
            </a:r>
            <a:r>
              <a:rPr dirty="0" sz="3200" spc="-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encode </a:t>
            </a:r>
            <a:r>
              <a:rPr dirty="0" sz="3200" spc="-5" b="1">
                <a:latin typeface="Calibri"/>
                <a:cs typeface="Calibri"/>
              </a:rPr>
              <a:t>these  </a:t>
            </a:r>
            <a:r>
              <a:rPr dirty="0" sz="3200" spc="-15" b="1">
                <a:latin typeface="Calibri"/>
                <a:cs typeface="Calibri"/>
              </a:rPr>
              <a:t>random </a:t>
            </a:r>
            <a:r>
              <a:rPr dirty="0" sz="3200" spc="-10" b="1">
                <a:latin typeface="Calibri"/>
                <a:cs typeface="Calibri"/>
              </a:rPr>
              <a:t>walk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statistics:</a:t>
            </a:r>
            <a:endParaRPr sz="3200">
              <a:latin typeface="Calibri"/>
              <a:cs typeface="Calibri"/>
            </a:endParaRPr>
          </a:p>
          <a:p>
            <a:pPr marL="189230" marR="1344930">
              <a:lnSpc>
                <a:spcPct val="100000"/>
              </a:lnSpc>
              <a:spcBef>
                <a:spcPts val="2445"/>
              </a:spcBef>
            </a:pP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Similarity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in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embedding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space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(Here: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dot  product=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cos(𝜃)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) encodes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random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walk</a:t>
            </a:r>
            <a:r>
              <a:rPr dirty="0" sz="2000" spc="-3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“similarity”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516940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9363" y="1348740"/>
            <a:ext cx="8015605" cy="4908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7865" marR="5080" indent="-685165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AutoNum type="arabicPeriod"/>
              <a:tabLst>
                <a:tab pos="697230" algn="l"/>
                <a:tab pos="697865" algn="l"/>
              </a:tabLst>
            </a:pPr>
            <a:r>
              <a:rPr dirty="0" sz="3200" spc="-5" b="1">
                <a:latin typeface="Calibri"/>
                <a:cs typeface="Calibri"/>
              </a:rPr>
              <a:t>Expressivity: </a:t>
            </a:r>
            <a:r>
              <a:rPr dirty="0" sz="3200" spc="-10">
                <a:latin typeface="Calibri"/>
                <a:cs typeface="Calibri"/>
              </a:rPr>
              <a:t>Flexible </a:t>
            </a:r>
            <a:r>
              <a:rPr dirty="0" sz="3200" spc="-15">
                <a:latin typeface="Calibri"/>
                <a:cs typeface="Calibri"/>
              </a:rPr>
              <a:t>stochastic </a:t>
            </a:r>
            <a:r>
              <a:rPr dirty="0" sz="3200" spc="-5">
                <a:latin typeface="Calibri"/>
                <a:cs typeface="Calibri"/>
              </a:rPr>
              <a:t>definition of  node similarity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incorporates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both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local 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higher-order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neighborhood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information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Idea: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if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random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walk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starting from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node </a:t>
            </a:r>
            <a:r>
              <a:rPr dirty="0" sz="3200">
                <a:solidFill>
                  <a:srgbClr val="002060"/>
                </a:solidFill>
                <a:latin typeface="Cambria Math"/>
                <a:cs typeface="Cambria Math"/>
              </a:rPr>
              <a:t>𝒖 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visits </a:t>
            </a:r>
            <a:r>
              <a:rPr dirty="0" sz="3200">
                <a:solidFill>
                  <a:srgbClr val="002060"/>
                </a:solidFill>
                <a:latin typeface="Cambria Math"/>
                <a:cs typeface="Cambria Math"/>
              </a:rPr>
              <a:t>𝒗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with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high </a:t>
            </a:r>
            <a:r>
              <a:rPr dirty="0" sz="3200" spc="-25">
                <a:solidFill>
                  <a:srgbClr val="0070C0"/>
                </a:solidFill>
                <a:latin typeface="Calibri"/>
                <a:cs typeface="Calibri"/>
              </a:rPr>
              <a:t>probability, </a:t>
            </a:r>
            <a:r>
              <a:rPr dirty="0" sz="3200">
                <a:solidFill>
                  <a:srgbClr val="002060"/>
                </a:solidFill>
                <a:latin typeface="Cambria Math"/>
                <a:cs typeface="Cambria Math"/>
              </a:rPr>
              <a:t>𝒖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and </a:t>
            </a:r>
            <a:r>
              <a:rPr dirty="0" sz="3200">
                <a:solidFill>
                  <a:srgbClr val="002060"/>
                </a:solidFill>
                <a:latin typeface="Cambria Math"/>
                <a:cs typeface="Cambria Math"/>
              </a:rPr>
              <a:t>𝒗 </a:t>
            </a:r>
            <a:r>
              <a:rPr dirty="0" sz="3200" spc="-20">
                <a:solidFill>
                  <a:srgbClr val="0070C0"/>
                </a:solidFill>
                <a:latin typeface="Calibri"/>
                <a:cs typeface="Calibri"/>
              </a:rPr>
              <a:t>are 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similar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(high-order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multi-hop</a:t>
            </a:r>
            <a:r>
              <a:rPr dirty="0" sz="3200" spc="12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information)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F0AD00"/>
              </a:buClr>
              <a:buFont typeface="Calibri"/>
              <a:buAutoNum type="arabicPeriod"/>
            </a:pPr>
            <a:endParaRPr sz="3350">
              <a:latin typeface="Times New Roman"/>
              <a:cs typeface="Times New Roman"/>
            </a:endParaRPr>
          </a:p>
          <a:p>
            <a:pPr marL="697865" marR="113030" indent="-685165">
              <a:lnSpc>
                <a:spcPct val="100299"/>
              </a:lnSpc>
              <a:buClr>
                <a:srgbClr val="F0AD00"/>
              </a:buClr>
              <a:buSzPct val="81250"/>
              <a:buAutoNum type="arabicPeriod"/>
              <a:tabLst>
                <a:tab pos="697230" algn="l"/>
                <a:tab pos="697865" algn="l"/>
              </a:tabLst>
            </a:pPr>
            <a:r>
              <a:rPr dirty="0" sz="3200" spc="-15" b="1">
                <a:latin typeface="Calibri"/>
                <a:cs typeface="Calibri"/>
              </a:rPr>
              <a:t>Efficiency: </a:t>
            </a:r>
            <a:r>
              <a:rPr dirty="0" sz="3200">
                <a:latin typeface="Calibri"/>
                <a:cs typeface="Calibri"/>
              </a:rPr>
              <a:t>Do </a:t>
            </a:r>
            <a:r>
              <a:rPr dirty="0" sz="3200" spc="-5">
                <a:latin typeface="Calibri"/>
                <a:cs typeface="Calibri"/>
              </a:rPr>
              <a:t>not need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consider </a:t>
            </a:r>
            <a:r>
              <a:rPr dirty="0" sz="3200">
                <a:latin typeface="Calibri"/>
                <a:cs typeface="Calibri"/>
              </a:rPr>
              <a:t>all </a:t>
            </a:r>
            <a:r>
              <a:rPr dirty="0" sz="3200" spc="-5">
                <a:latin typeface="Calibri"/>
                <a:cs typeface="Calibri"/>
              </a:rPr>
              <a:t>node  </a:t>
            </a:r>
            <a:r>
              <a:rPr dirty="0" sz="3200" spc="-15">
                <a:latin typeface="Calibri"/>
                <a:cs typeface="Calibri"/>
              </a:rPr>
              <a:t>pairs </a:t>
            </a:r>
            <a:r>
              <a:rPr dirty="0" sz="3200" spc="-5">
                <a:latin typeface="Calibri"/>
                <a:cs typeface="Calibri"/>
              </a:rPr>
              <a:t>when </a:t>
            </a:r>
            <a:r>
              <a:rPr dirty="0" sz="3200" spc="-10">
                <a:latin typeface="Calibri"/>
                <a:cs typeface="Calibri"/>
              </a:rPr>
              <a:t>training;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only need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consider 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pairs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that co-occur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on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random</a:t>
            </a:r>
            <a:r>
              <a:rPr dirty="0" sz="320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walks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4424"/>
            <a:ext cx="7790688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653540"/>
            <a:ext cx="783780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C00000"/>
                </a:solidFill>
              </a:rPr>
              <a:t>Intuition: </a:t>
            </a:r>
            <a:r>
              <a:rPr dirty="0"/>
              <a:t>Find </a:t>
            </a:r>
            <a:r>
              <a:rPr dirty="0" spc="-5"/>
              <a:t>embedding of nodes</a:t>
            </a:r>
            <a:r>
              <a:rPr dirty="0" spc="5"/>
              <a:t> </a:t>
            </a:r>
            <a:r>
              <a:rPr dirty="0"/>
              <a:t>in</a:t>
            </a:r>
          </a:p>
          <a:p>
            <a:pPr marL="332740">
              <a:lnSpc>
                <a:spcPts val="3815"/>
              </a:lnSpc>
            </a:pPr>
            <a:r>
              <a:rPr dirty="0" spc="0">
                <a:latin typeface="Cambria Math"/>
                <a:cs typeface="Cambria Math"/>
              </a:rPr>
              <a:t>𝑑</a:t>
            </a:r>
            <a:r>
              <a:rPr dirty="0" spc="0"/>
              <a:t>-dimensional </a:t>
            </a:r>
            <a:r>
              <a:rPr dirty="0" spc="-5"/>
              <a:t>space </a:t>
            </a:r>
            <a:r>
              <a:rPr dirty="0" spc="-10"/>
              <a:t>that preserves</a:t>
            </a:r>
            <a:r>
              <a:rPr dirty="0" spc="30"/>
              <a:t> </a:t>
            </a:r>
            <a:r>
              <a:rPr dirty="0" spc="-5"/>
              <a:t>similarity</a:t>
            </a:r>
          </a:p>
        </p:txBody>
      </p:sp>
      <p:sp>
        <p:nvSpPr>
          <p:cNvPr id="4" name="object 4"/>
          <p:cNvSpPr/>
          <p:nvPr/>
        </p:nvSpPr>
        <p:spPr>
          <a:xfrm>
            <a:off x="1698128" y="5502073"/>
            <a:ext cx="447040" cy="329565"/>
          </a:xfrm>
          <a:custGeom>
            <a:avLst/>
            <a:gdLst/>
            <a:ahLst/>
            <a:cxnLst/>
            <a:rect l="l" t="t" r="r" b="b"/>
            <a:pathLst>
              <a:path w="447039" h="329564">
                <a:moveTo>
                  <a:pt x="341411" y="0"/>
                </a:moveTo>
                <a:lnTo>
                  <a:pt x="336722" y="13370"/>
                </a:lnTo>
                <a:lnTo>
                  <a:pt x="355789" y="21645"/>
                </a:lnTo>
                <a:lnTo>
                  <a:pt x="372187" y="33099"/>
                </a:lnTo>
                <a:lnTo>
                  <a:pt x="396974" y="65547"/>
                </a:lnTo>
                <a:lnTo>
                  <a:pt x="411558" y="109323"/>
                </a:lnTo>
                <a:lnTo>
                  <a:pt x="416420" y="163041"/>
                </a:lnTo>
                <a:lnTo>
                  <a:pt x="415199" y="192092"/>
                </a:lnTo>
                <a:lnTo>
                  <a:pt x="405432" y="242185"/>
                </a:lnTo>
                <a:lnTo>
                  <a:pt x="385833" y="281307"/>
                </a:lnTo>
                <a:lnTo>
                  <a:pt x="356012" y="307699"/>
                </a:lnTo>
                <a:lnTo>
                  <a:pt x="337243" y="316012"/>
                </a:lnTo>
                <a:lnTo>
                  <a:pt x="341411" y="329381"/>
                </a:lnTo>
                <a:lnTo>
                  <a:pt x="386338" y="308307"/>
                </a:lnTo>
                <a:lnTo>
                  <a:pt x="419371" y="271822"/>
                </a:lnTo>
                <a:lnTo>
                  <a:pt x="439686" y="222966"/>
                </a:lnTo>
                <a:lnTo>
                  <a:pt x="446458" y="164777"/>
                </a:lnTo>
                <a:lnTo>
                  <a:pt x="444760" y="134582"/>
                </a:lnTo>
                <a:lnTo>
                  <a:pt x="431173" y="81059"/>
                </a:lnTo>
                <a:lnTo>
                  <a:pt x="404228" y="37488"/>
                </a:lnTo>
                <a:lnTo>
                  <a:pt x="365291" y="8622"/>
                </a:lnTo>
                <a:lnTo>
                  <a:pt x="341411" y="0"/>
                </a:lnTo>
                <a:close/>
              </a:path>
              <a:path w="447039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2"/>
                </a:lnTo>
                <a:lnTo>
                  <a:pt x="90446" y="307699"/>
                </a:lnTo>
                <a:lnTo>
                  <a:pt x="74250" y="296131"/>
                </a:lnTo>
                <a:lnTo>
                  <a:pt x="49573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40"/>
                </a:lnTo>
                <a:lnTo>
                  <a:pt x="41027" y="86192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6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3000756"/>
            <a:ext cx="7948295" cy="32829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Idea: </a:t>
            </a:r>
            <a:r>
              <a:rPr dirty="0" sz="3200" spc="-5">
                <a:latin typeface="Calibri"/>
                <a:cs typeface="Calibri"/>
              </a:rPr>
              <a:t>Learn node embedding such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nearby </a:t>
            </a:r>
            <a:r>
              <a:rPr dirty="0" sz="3200" spc="-5">
                <a:latin typeface="Calibri"/>
                <a:cs typeface="Calibri"/>
              </a:rPr>
              <a:t> nodes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5">
                <a:latin typeface="Calibri"/>
                <a:cs typeface="Calibri"/>
              </a:rPr>
              <a:t>close </a:t>
            </a:r>
            <a:r>
              <a:rPr dirty="0" sz="3200" spc="-15">
                <a:latin typeface="Calibri"/>
                <a:cs typeface="Calibri"/>
              </a:rPr>
              <a:t>together </a:t>
            </a:r>
            <a:r>
              <a:rPr dirty="0" sz="3200">
                <a:latin typeface="Calibri"/>
                <a:cs typeface="Calibri"/>
              </a:rPr>
              <a:t>in the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  <a:p>
            <a:pPr marL="332740" marR="709295" indent="-320040">
              <a:lnSpc>
                <a:spcPct val="101899"/>
              </a:lnSpc>
              <a:spcBef>
                <a:spcPts val="266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Given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 sz="3200" spc="30">
                <a:solidFill>
                  <a:srgbClr val="C00000"/>
                </a:solidFill>
                <a:latin typeface="Cambria Math"/>
                <a:cs typeface="Cambria Math"/>
              </a:rPr>
              <a:t>𝑢</a:t>
            </a:r>
            <a:r>
              <a:rPr dirty="0" sz="3200" spc="30">
                <a:solidFill>
                  <a:srgbClr val="C00000"/>
                </a:solidFill>
                <a:latin typeface="Calibri"/>
                <a:cs typeface="Calibri"/>
              </a:rPr>
              <a:t>,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do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define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nearby  nodes?</a:t>
            </a:r>
            <a:endParaRPr sz="3200">
              <a:latin typeface="Calibri"/>
              <a:cs typeface="Calibri"/>
            </a:endParaRPr>
          </a:p>
          <a:p>
            <a:pPr lvl="1" marL="625475" marR="403860" indent="-274320">
              <a:lnSpc>
                <a:spcPct val="101400"/>
              </a:lnSpc>
              <a:spcBef>
                <a:spcPts val="59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1638300" algn="l"/>
              </a:tabLst>
            </a:pPr>
            <a:r>
              <a:rPr dirty="0" sz="2800" spc="325">
                <a:latin typeface="Cambria Math"/>
                <a:cs typeface="Cambria Math"/>
              </a:rPr>
              <a:t>𝑁</a:t>
            </a:r>
            <a:r>
              <a:rPr dirty="0" baseline="-16666" sz="3000" spc="487">
                <a:latin typeface="Cambria Math"/>
                <a:cs typeface="Cambria Math"/>
              </a:rPr>
              <a:t>.</a:t>
            </a:r>
            <a:r>
              <a:rPr dirty="0" baseline="-16666" sz="3000" spc="787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𝑢	</a:t>
            </a:r>
            <a:r>
              <a:rPr dirty="0" sz="2800">
                <a:latin typeface="Calibri"/>
                <a:cs typeface="Calibri"/>
              </a:rPr>
              <a:t>… </a:t>
            </a:r>
            <a:r>
              <a:rPr dirty="0" sz="2800" spc="-5">
                <a:latin typeface="Calibri"/>
                <a:cs typeface="Calibri"/>
              </a:rPr>
              <a:t>neighbourhood of </a:t>
            </a:r>
            <a:r>
              <a:rPr dirty="0" sz="2800">
                <a:latin typeface="Cambria Math"/>
                <a:cs typeface="Cambria Math"/>
              </a:rPr>
              <a:t>𝑢 </a:t>
            </a:r>
            <a:r>
              <a:rPr dirty="0" sz="2800" spc="-10">
                <a:latin typeface="Calibri"/>
                <a:cs typeface="Calibri"/>
              </a:rPr>
              <a:t>obtained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by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some  </a:t>
            </a:r>
            <a:r>
              <a:rPr dirty="0" sz="2800" spc="-15">
                <a:latin typeface="Calibri"/>
                <a:cs typeface="Calibri"/>
              </a:rPr>
              <a:t>random walk </a:t>
            </a:r>
            <a:r>
              <a:rPr dirty="0" sz="2800" spc="-25">
                <a:latin typeface="Calibri"/>
                <a:cs typeface="Calibri"/>
              </a:rPr>
              <a:t>strategy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446264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6800850" cy="952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/>
              <a:t>Given </a:t>
            </a:r>
            <a:r>
              <a:rPr dirty="0" sz="3000">
                <a:latin typeface="Cambria Math"/>
                <a:cs typeface="Cambria Math"/>
              </a:rPr>
              <a:t>𝐺  = </a:t>
            </a:r>
            <a:r>
              <a:rPr dirty="0" sz="3000" spc="25">
                <a:latin typeface="Cambria Math"/>
                <a:cs typeface="Cambria Math"/>
              </a:rPr>
              <a:t>(𝑉,</a:t>
            </a:r>
            <a:r>
              <a:rPr dirty="0" sz="3000" spc="-409">
                <a:latin typeface="Cambria Math"/>
                <a:cs typeface="Cambria Math"/>
              </a:rPr>
              <a:t> </a:t>
            </a:r>
            <a:r>
              <a:rPr dirty="0" sz="3000" spc="30">
                <a:latin typeface="Cambria Math"/>
                <a:cs typeface="Cambria Math"/>
              </a:rPr>
              <a:t>𝐸)</a:t>
            </a:r>
            <a:r>
              <a:rPr dirty="0" sz="3000" spc="30"/>
              <a:t>,</a:t>
            </a:r>
            <a:endParaRPr sz="30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9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/>
              <a:t>Our </a:t>
            </a:r>
            <a:r>
              <a:rPr dirty="0" sz="3000" spc="-10"/>
              <a:t>goal </a:t>
            </a:r>
            <a:r>
              <a:rPr dirty="0" sz="3000" spc="-5"/>
              <a:t>is </a:t>
            </a:r>
            <a:r>
              <a:rPr dirty="0" sz="3000" spc="-20"/>
              <a:t>to </a:t>
            </a:r>
            <a:r>
              <a:rPr dirty="0" sz="3000" spc="-5"/>
              <a:t>learn </a:t>
            </a:r>
            <a:r>
              <a:rPr dirty="0" sz="3000"/>
              <a:t>a </a:t>
            </a:r>
            <a:r>
              <a:rPr dirty="0" sz="3000" spc="-5"/>
              <a:t>mapping </a:t>
            </a:r>
            <a:r>
              <a:rPr dirty="0" sz="3000" spc="35">
                <a:latin typeface="Cambria Math"/>
                <a:cs typeface="Cambria Math"/>
              </a:rPr>
              <a:t>𝑓: </a:t>
            </a:r>
            <a:r>
              <a:rPr dirty="0" sz="3000">
                <a:latin typeface="Cambria Math"/>
                <a:cs typeface="Cambria Math"/>
              </a:rPr>
              <a:t>𝑢 →</a:t>
            </a:r>
            <a:r>
              <a:rPr dirty="0" sz="3000" spc="200">
                <a:latin typeface="Cambria Math"/>
                <a:cs typeface="Cambria Math"/>
              </a:rPr>
              <a:t> </a:t>
            </a:r>
            <a:r>
              <a:rPr dirty="0" sz="3000" spc="135">
                <a:latin typeface="Cambria Math"/>
                <a:cs typeface="Cambria Math"/>
              </a:rPr>
              <a:t>ℝ</a:t>
            </a:r>
            <a:r>
              <a:rPr dirty="0" baseline="27777" sz="3300" spc="202">
                <a:latin typeface="Cambria Math"/>
                <a:cs typeface="Cambria Math"/>
              </a:rPr>
              <a:t>$</a:t>
            </a:r>
            <a:r>
              <a:rPr dirty="0" sz="3000" spc="135">
                <a:latin typeface="Cambria Math"/>
                <a:cs typeface="Cambria Math"/>
              </a:rPr>
              <a:t>: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5061" y="2384209"/>
            <a:ext cx="478155" cy="353060"/>
          </a:xfrm>
          <a:custGeom>
            <a:avLst/>
            <a:gdLst/>
            <a:ahLst/>
            <a:cxnLst/>
            <a:rect l="l" t="t" r="r" b="b"/>
            <a:pathLst>
              <a:path w="478155" h="353060">
                <a:moveTo>
                  <a:pt x="365447" y="0"/>
                </a:moveTo>
                <a:lnTo>
                  <a:pt x="360424" y="14324"/>
                </a:lnTo>
                <a:lnTo>
                  <a:pt x="380854" y="23190"/>
                </a:lnTo>
                <a:lnTo>
                  <a:pt x="398422" y="35463"/>
                </a:lnTo>
                <a:lnTo>
                  <a:pt x="424978" y="70228"/>
                </a:lnTo>
                <a:lnTo>
                  <a:pt x="440606" y="117132"/>
                </a:lnTo>
                <a:lnTo>
                  <a:pt x="445815" y="174687"/>
                </a:lnTo>
                <a:lnTo>
                  <a:pt x="444507" y="205813"/>
                </a:lnTo>
                <a:lnTo>
                  <a:pt x="434042" y="259483"/>
                </a:lnTo>
                <a:lnTo>
                  <a:pt x="413043" y="301399"/>
                </a:lnTo>
                <a:lnTo>
                  <a:pt x="381092" y="329677"/>
                </a:lnTo>
                <a:lnTo>
                  <a:pt x="360983" y="338584"/>
                </a:lnTo>
                <a:lnTo>
                  <a:pt x="365447" y="352908"/>
                </a:lnTo>
                <a:lnTo>
                  <a:pt x="413584" y="330328"/>
                </a:lnTo>
                <a:lnTo>
                  <a:pt x="448977" y="291237"/>
                </a:lnTo>
                <a:lnTo>
                  <a:pt x="470743" y="238892"/>
                </a:lnTo>
                <a:lnTo>
                  <a:pt x="477998" y="176547"/>
                </a:lnTo>
                <a:lnTo>
                  <a:pt x="476179" y="144194"/>
                </a:lnTo>
                <a:lnTo>
                  <a:pt x="461622" y="86849"/>
                </a:lnTo>
                <a:lnTo>
                  <a:pt x="432751" y="40166"/>
                </a:lnTo>
                <a:lnTo>
                  <a:pt x="391033" y="9238"/>
                </a:lnTo>
                <a:lnTo>
                  <a:pt x="365447" y="0"/>
                </a:lnTo>
                <a:close/>
              </a:path>
              <a:path w="478155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4"/>
                </a:lnTo>
                <a:lnTo>
                  <a:pt x="96906" y="329677"/>
                </a:lnTo>
                <a:lnTo>
                  <a:pt x="79553" y="317282"/>
                </a:lnTo>
                <a:lnTo>
                  <a:pt x="53113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0" y="23190"/>
                </a:lnTo>
                <a:lnTo>
                  <a:pt x="117573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02508" y="4067555"/>
            <a:ext cx="1784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10">
                <a:latin typeface="Cambria Math"/>
                <a:cs typeface="Cambria Math"/>
              </a:rPr>
              <a:t>/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618108" y="2276348"/>
            <a:ext cx="5805805" cy="1925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100"/>
              </a:spcBef>
              <a:tabLst>
                <a:tab pos="711200" algn="l"/>
                <a:tab pos="1203960" algn="l"/>
              </a:tabLst>
            </a:pP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𝑓	𝑢	=</a:t>
            </a:r>
            <a:r>
              <a:rPr dirty="0" sz="3000" spc="-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000" spc="-270">
                <a:solidFill>
                  <a:srgbClr val="C00000"/>
                </a:solidFill>
                <a:latin typeface="Cambria Math"/>
                <a:cs typeface="Cambria Math"/>
              </a:rPr>
              <a:t>𝐳</a:t>
            </a:r>
            <a:r>
              <a:rPr dirty="0" baseline="-15151" sz="3300" spc="-405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endParaRPr baseline="-15151" sz="33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24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>
                <a:latin typeface="Calibri"/>
                <a:cs typeface="Calibri"/>
              </a:rPr>
              <a:t>Log-likelihood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objective:</a:t>
            </a:r>
            <a:endParaRPr sz="3000">
              <a:latin typeface="Calibri"/>
              <a:cs typeface="Calibri"/>
            </a:endParaRPr>
          </a:p>
          <a:p>
            <a:pPr marL="1958339">
              <a:lnSpc>
                <a:spcPct val="100000"/>
              </a:lnSpc>
              <a:spcBef>
                <a:spcPts val="2000"/>
              </a:spcBef>
            </a:pPr>
            <a:r>
              <a:rPr dirty="0" sz="2800" spc="-5">
                <a:latin typeface="Cambria Math"/>
                <a:cs typeface="Cambria Math"/>
              </a:rPr>
              <a:t>max </a:t>
            </a:r>
            <a:r>
              <a:rPr dirty="0" sz="2800" spc="3040">
                <a:latin typeface="Cambria Math"/>
                <a:cs typeface="Cambria Math"/>
              </a:rPr>
              <a:t>'</a:t>
            </a:r>
            <a:r>
              <a:rPr dirty="0" sz="2800" spc="229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log </a:t>
            </a:r>
            <a:r>
              <a:rPr dirty="0" sz="2800" spc="25">
                <a:latin typeface="Cambria Math"/>
                <a:cs typeface="Cambria Math"/>
              </a:rPr>
              <a:t>P(𝑁</a:t>
            </a:r>
            <a:r>
              <a:rPr dirty="0" baseline="-16666" sz="3000" spc="37">
                <a:latin typeface="Cambria Math"/>
                <a:cs typeface="Cambria Math"/>
              </a:rPr>
              <a:t>2</a:t>
            </a:r>
            <a:r>
              <a:rPr dirty="0" sz="2800" spc="25">
                <a:latin typeface="Cambria Math"/>
                <a:cs typeface="Cambria Math"/>
              </a:rPr>
              <a:t>(𝑢)| </a:t>
            </a:r>
            <a:r>
              <a:rPr dirty="0" sz="2800" spc="310">
                <a:latin typeface="Cambria Math"/>
                <a:cs typeface="Cambria Math"/>
              </a:rPr>
              <a:t>𝐳</a:t>
            </a:r>
            <a:r>
              <a:rPr dirty="0" baseline="-16666" sz="3000" spc="465">
                <a:latin typeface="Cambria Math"/>
                <a:cs typeface="Cambria Math"/>
              </a:rPr>
              <a:t>'</a:t>
            </a:r>
            <a:r>
              <a:rPr dirty="0" sz="2800" spc="31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4305300"/>
            <a:ext cx="7736205" cy="241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855470">
              <a:lnSpc>
                <a:spcPct val="100000"/>
              </a:lnSpc>
              <a:spcBef>
                <a:spcPts val="100"/>
              </a:spcBef>
            </a:pPr>
            <a:r>
              <a:rPr dirty="0" sz="2000" spc="825">
                <a:latin typeface="Cambria Math"/>
                <a:cs typeface="Cambria Math"/>
              </a:rPr>
              <a:t>'</a:t>
            </a:r>
            <a:r>
              <a:rPr dirty="0" sz="2000" spc="-30">
                <a:latin typeface="Cambria Math"/>
                <a:cs typeface="Cambria Math"/>
              </a:rPr>
              <a:t> </a:t>
            </a:r>
            <a:r>
              <a:rPr dirty="0" sz="2000" spc="105">
                <a:latin typeface="Cambria Math"/>
                <a:cs typeface="Cambria Math"/>
              </a:rPr>
              <a:t>∈1</a:t>
            </a:r>
            <a:endParaRPr sz="2000">
              <a:latin typeface="Cambria Math"/>
              <a:cs typeface="Cambria Math"/>
            </a:endParaRPr>
          </a:p>
          <a:p>
            <a:pPr marL="625475" indent="-274320">
              <a:lnSpc>
                <a:spcPct val="100000"/>
              </a:lnSpc>
              <a:spcBef>
                <a:spcPts val="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5">
                <a:latin typeface="Cambria Math"/>
                <a:cs typeface="Cambria Math"/>
              </a:rPr>
              <a:t>𝑁</a:t>
            </a:r>
            <a:r>
              <a:rPr dirty="0" baseline="-16081" sz="2850" spc="-157">
                <a:latin typeface="Cambria Math"/>
                <a:cs typeface="Cambria Math"/>
              </a:rPr>
              <a:t>%</a:t>
            </a:r>
            <a:r>
              <a:rPr dirty="0" sz="2600" spc="-105">
                <a:latin typeface="Cambria Math"/>
                <a:cs typeface="Cambria Math"/>
              </a:rPr>
              <a:t>(𝑢)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the neighborhood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node </a:t>
            </a:r>
            <a:r>
              <a:rPr dirty="0" sz="2600">
                <a:latin typeface="Cambria Math"/>
                <a:cs typeface="Cambria Math"/>
              </a:rPr>
              <a:t>𝑢 </a:t>
            </a:r>
            <a:r>
              <a:rPr dirty="0" sz="2600" spc="-10">
                <a:latin typeface="Calibri"/>
                <a:cs typeface="Calibri"/>
              </a:rPr>
              <a:t>by </a:t>
            </a:r>
            <a:r>
              <a:rPr dirty="0" sz="2600" spc="-20">
                <a:latin typeface="Calibri"/>
                <a:cs typeface="Calibri"/>
              </a:rPr>
              <a:t>strategy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mbria Math"/>
                <a:cs typeface="Cambria Math"/>
              </a:rPr>
              <a:t>𝑅</a:t>
            </a:r>
            <a:endParaRPr sz="2600">
              <a:latin typeface="Cambria Math"/>
              <a:cs typeface="Cambria Math"/>
            </a:endParaRPr>
          </a:p>
          <a:p>
            <a:pPr marL="332740" marR="5080" indent="-320040">
              <a:lnSpc>
                <a:spcPct val="100000"/>
              </a:lnSpc>
              <a:spcBef>
                <a:spcPts val="248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>
                <a:solidFill>
                  <a:srgbClr val="D60093"/>
                </a:solidFill>
                <a:latin typeface="Calibri"/>
                <a:cs typeface="Calibri"/>
              </a:rPr>
              <a:t>Given </a:t>
            </a:r>
            <a:r>
              <a:rPr dirty="0" sz="3000" spc="-5">
                <a:solidFill>
                  <a:srgbClr val="D60093"/>
                </a:solidFill>
                <a:latin typeface="Calibri"/>
                <a:cs typeface="Calibri"/>
              </a:rPr>
              <a:t>node </a:t>
            </a:r>
            <a:r>
              <a:rPr dirty="0" sz="3000" spc="30">
                <a:solidFill>
                  <a:srgbClr val="D60093"/>
                </a:solidFill>
                <a:latin typeface="Cambria Math"/>
                <a:cs typeface="Cambria Math"/>
              </a:rPr>
              <a:t>𝑢</a:t>
            </a:r>
            <a:r>
              <a:rPr dirty="0" sz="3000" spc="30">
                <a:solidFill>
                  <a:srgbClr val="D60093"/>
                </a:solidFill>
                <a:latin typeface="Calibri"/>
                <a:cs typeface="Calibri"/>
              </a:rPr>
              <a:t>, </a:t>
            </a:r>
            <a:r>
              <a:rPr dirty="0" sz="3000" spc="-15">
                <a:solidFill>
                  <a:srgbClr val="D60093"/>
                </a:solidFill>
                <a:latin typeface="Calibri"/>
                <a:cs typeface="Calibri"/>
              </a:rPr>
              <a:t>we want </a:t>
            </a:r>
            <a:r>
              <a:rPr dirty="0" sz="3000" spc="-20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z="3000" spc="-5">
                <a:solidFill>
                  <a:srgbClr val="D60093"/>
                </a:solidFill>
                <a:latin typeface="Calibri"/>
                <a:cs typeface="Calibri"/>
              </a:rPr>
              <a:t>learn </a:t>
            </a:r>
            <a:r>
              <a:rPr dirty="0" sz="3000" spc="-25">
                <a:solidFill>
                  <a:srgbClr val="D60093"/>
                </a:solidFill>
                <a:latin typeface="Calibri"/>
                <a:cs typeface="Calibri"/>
              </a:rPr>
              <a:t>feature  </a:t>
            </a:r>
            <a:r>
              <a:rPr dirty="0" sz="3000" spc="-20">
                <a:solidFill>
                  <a:srgbClr val="D60093"/>
                </a:solidFill>
                <a:latin typeface="Calibri"/>
                <a:cs typeface="Calibri"/>
              </a:rPr>
              <a:t>representations </a:t>
            </a:r>
            <a:r>
              <a:rPr dirty="0" sz="3000" spc="-10">
                <a:solidFill>
                  <a:srgbClr val="D60093"/>
                </a:solidFill>
                <a:latin typeface="Calibri"/>
                <a:cs typeface="Calibri"/>
              </a:rPr>
              <a:t>that </a:t>
            </a:r>
            <a:r>
              <a:rPr dirty="0" sz="3000" spc="-15">
                <a:solidFill>
                  <a:srgbClr val="D60093"/>
                </a:solidFill>
                <a:latin typeface="Calibri"/>
                <a:cs typeface="Calibri"/>
              </a:rPr>
              <a:t>are predictive </a:t>
            </a:r>
            <a:r>
              <a:rPr dirty="0" sz="3000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3000" spc="-5">
                <a:solidFill>
                  <a:srgbClr val="D60093"/>
                </a:solidFill>
                <a:latin typeface="Calibri"/>
                <a:cs typeface="Calibri"/>
              </a:rPr>
              <a:t>the nodes  in its </a:t>
            </a:r>
            <a:r>
              <a:rPr dirty="0" sz="3000" spc="-15">
                <a:solidFill>
                  <a:srgbClr val="D60093"/>
                </a:solidFill>
                <a:latin typeface="Calibri"/>
                <a:cs typeface="Calibri"/>
              </a:rPr>
              <a:t>random </a:t>
            </a:r>
            <a:r>
              <a:rPr dirty="0" sz="3000" spc="-10">
                <a:solidFill>
                  <a:srgbClr val="D60093"/>
                </a:solidFill>
                <a:latin typeface="Calibri"/>
                <a:cs typeface="Calibri"/>
              </a:rPr>
              <a:t>walk </a:t>
            </a:r>
            <a:r>
              <a:rPr dirty="0" sz="3000" spc="-5">
                <a:solidFill>
                  <a:srgbClr val="D60093"/>
                </a:solidFill>
                <a:latin typeface="Calibri"/>
                <a:cs typeface="Calibri"/>
              </a:rPr>
              <a:t>neighborhood</a:t>
            </a:r>
            <a:r>
              <a:rPr dirty="0" sz="300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20">
                <a:solidFill>
                  <a:srgbClr val="D60093"/>
                </a:solidFill>
                <a:latin typeface="Cambria Math"/>
                <a:cs typeface="Cambria Math"/>
              </a:rPr>
              <a:t>𝑁</a:t>
            </a:r>
            <a:r>
              <a:rPr dirty="0" baseline="-15151" sz="3300" spc="-30">
                <a:solidFill>
                  <a:srgbClr val="D60093"/>
                </a:solidFill>
                <a:latin typeface="Cambria Math"/>
                <a:cs typeface="Cambria Math"/>
              </a:rPr>
              <a:t>&amp;</a:t>
            </a:r>
            <a:r>
              <a:rPr dirty="0" sz="3000" spc="-20">
                <a:solidFill>
                  <a:srgbClr val="D60093"/>
                </a:solidFill>
                <a:latin typeface="Cambria Math"/>
                <a:cs typeface="Cambria Math"/>
              </a:rPr>
              <a:t>(𝑢)</a:t>
            </a:r>
            <a:endParaRPr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313943"/>
            <a:ext cx="7589520" cy="621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8058150" cy="1496060"/>
          </a:xfrm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697865" marR="5080" indent="-685800">
              <a:lnSpc>
                <a:spcPct val="98400"/>
              </a:lnSpc>
              <a:spcBef>
                <a:spcPts val="160"/>
              </a:spcBef>
              <a:tabLst>
                <a:tab pos="697865" algn="l"/>
              </a:tabLst>
            </a:pPr>
            <a:r>
              <a:rPr dirty="0" sz="2600" spc="-10">
                <a:solidFill>
                  <a:srgbClr val="F0AD00"/>
                </a:solidFill>
              </a:rPr>
              <a:t>1.	</a:t>
            </a:r>
            <a:r>
              <a:rPr dirty="0"/>
              <a:t>Run </a:t>
            </a:r>
            <a:r>
              <a:rPr dirty="0" spc="-5" b="1">
                <a:latin typeface="Calibri"/>
                <a:cs typeface="Calibri"/>
              </a:rPr>
              <a:t>short </a:t>
            </a:r>
            <a:r>
              <a:rPr dirty="0" spc="-15" b="1">
                <a:latin typeface="Calibri"/>
                <a:cs typeface="Calibri"/>
              </a:rPr>
              <a:t>fixed-length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spc="-15" b="1">
                <a:latin typeface="Calibri"/>
                <a:cs typeface="Calibri"/>
              </a:rPr>
              <a:t>random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spc="-15" b="1">
                <a:latin typeface="Calibri"/>
                <a:cs typeface="Calibri"/>
              </a:rPr>
              <a:t>walks </a:t>
            </a:r>
            <a:r>
              <a:rPr dirty="0" b="1">
                <a:latin typeface="Calibri"/>
                <a:cs typeface="Calibri"/>
              </a:rPr>
              <a:t> </a:t>
            </a:r>
            <a:r>
              <a:rPr dirty="0" spc="-15"/>
              <a:t>starting </a:t>
            </a:r>
            <a:r>
              <a:rPr dirty="0" spc="-20"/>
              <a:t>from </a:t>
            </a:r>
            <a:r>
              <a:rPr dirty="0" spc="-5"/>
              <a:t>each </a:t>
            </a:r>
            <a:r>
              <a:rPr dirty="0"/>
              <a:t>node </a:t>
            </a:r>
            <a:r>
              <a:rPr dirty="0">
                <a:latin typeface="Cambria Math"/>
                <a:cs typeface="Cambria Math"/>
              </a:rPr>
              <a:t>𝑢 </a:t>
            </a:r>
            <a:r>
              <a:rPr dirty="0"/>
              <a:t>in the </a:t>
            </a:r>
            <a:r>
              <a:rPr dirty="0" spc="-15"/>
              <a:t>graph </a:t>
            </a:r>
            <a:r>
              <a:rPr dirty="0" spc="-5"/>
              <a:t>using  some </a:t>
            </a:r>
            <a:r>
              <a:rPr dirty="0" spc="-15"/>
              <a:t>random </a:t>
            </a:r>
            <a:r>
              <a:rPr dirty="0" spc="-10"/>
              <a:t>walk </a:t>
            </a:r>
            <a:r>
              <a:rPr dirty="0" spc="-25"/>
              <a:t>strategy</a:t>
            </a:r>
            <a:r>
              <a:rPr dirty="0" spc="5"/>
              <a:t> </a:t>
            </a:r>
            <a:r>
              <a:rPr dirty="0" sz="3350" spc="-95" i="1">
                <a:latin typeface="Cambria Math"/>
                <a:cs typeface="Cambria Math"/>
              </a:rPr>
              <a:t>R</a:t>
            </a:r>
            <a:endParaRPr sz="33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363" y="2808732"/>
            <a:ext cx="8054975" cy="24701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698500" marR="5080" indent="-68580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AutoNum type="arabicPeriod" startAt="2"/>
              <a:tabLst>
                <a:tab pos="697865" algn="l"/>
                <a:tab pos="698500" algn="l"/>
              </a:tabLst>
            </a:pPr>
            <a:r>
              <a:rPr dirty="0" sz="3200" spc="-15">
                <a:latin typeface="Calibri"/>
                <a:cs typeface="Calibri"/>
              </a:rPr>
              <a:t>For </a:t>
            </a:r>
            <a:r>
              <a:rPr dirty="0" sz="3200" spc="-5">
                <a:latin typeface="Calibri"/>
                <a:cs typeface="Calibri"/>
              </a:rPr>
              <a:t>each node </a:t>
            </a:r>
            <a:r>
              <a:rPr dirty="0" sz="3200">
                <a:latin typeface="Cambria Math"/>
                <a:cs typeface="Cambria Math"/>
              </a:rPr>
              <a:t>𝑢 </a:t>
            </a:r>
            <a:r>
              <a:rPr dirty="0" sz="3200" spc="-10">
                <a:latin typeface="Calibri"/>
                <a:cs typeface="Calibri"/>
              </a:rPr>
              <a:t>collect </a:t>
            </a:r>
            <a:r>
              <a:rPr dirty="0" sz="3200" spc="-20">
                <a:latin typeface="Cambria Math"/>
                <a:cs typeface="Cambria Math"/>
              </a:rPr>
              <a:t>𝑁</a:t>
            </a:r>
            <a:r>
              <a:rPr dirty="0" baseline="-15700" sz="3450" spc="-30">
                <a:latin typeface="Cambria Math"/>
                <a:cs typeface="Cambria Math"/>
              </a:rPr>
              <a:t>&amp;</a:t>
            </a:r>
            <a:r>
              <a:rPr dirty="0" sz="3200" spc="-20">
                <a:latin typeface="Cambria Math"/>
                <a:cs typeface="Cambria Math"/>
              </a:rPr>
              <a:t>(𝑢)</a:t>
            </a:r>
            <a:r>
              <a:rPr dirty="0" sz="3200" spc="-20">
                <a:latin typeface="Calibri"/>
                <a:cs typeface="Calibri"/>
              </a:rPr>
              <a:t>,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multiset</a:t>
            </a:r>
            <a:r>
              <a:rPr dirty="0" baseline="26455" sz="3150" spc="-7">
                <a:latin typeface="Calibri"/>
                <a:cs typeface="Calibri"/>
              </a:rPr>
              <a:t>* </a:t>
            </a:r>
            <a:r>
              <a:rPr dirty="0" sz="2100" spc="-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of nodes </a:t>
            </a:r>
            <a:r>
              <a:rPr dirty="0" sz="3200" spc="-10">
                <a:latin typeface="Calibri"/>
                <a:cs typeface="Calibri"/>
              </a:rPr>
              <a:t>visited </a:t>
            </a:r>
            <a:r>
              <a:rPr dirty="0" sz="3200" spc="-5">
                <a:latin typeface="Calibri"/>
                <a:cs typeface="Calibri"/>
              </a:rPr>
              <a:t>on </a:t>
            </a:r>
            <a:r>
              <a:rPr dirty="0" sz="3200" spc="-15">
                <a:latin typeface="Calibri"/>
                <a:cs typeface="Calibri"/>
              </a:rPr>
              <a:t>random walks starting  </a:t>
            </a:r>
            <a:r>
              <a:rPr dirty="0" sz="3200" spc="-20">
                <a:latin typeface="Calibri"/>
                <a:cs typeface="Calibri"/>
              </a:rPr>
              <a:t>from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𝑢</a:t>
            </a:r>
            <a:endParaRPr sz="3200">
              <a:latin typeface="Cambria Math"/>
              <a:cs typeface="Cambria Math"/>
            </a:endParaRPr>
          </a:p>
          <a:p>
            <a:pPr marL="698500" marR="463550" indent="-685800">
              <a:lnSpc>
                <a:spcPts val="3910"/>
              </a:lnSpc>
              <a:spcBef>
                <a:spcPts val="20"/>
              </a:spcBef>
              <a:buClr>
                <a:srgbClr val="F0AD00"/>
              </a:buClr>
              <a:buSzPct val="81250"/>
              <a:buAutoNum type="arabicPeriod" startAt="2"/>
              <a:tabLst>
                <a:tab pos="697865" algn="l"/>
                <a:tab pos="698500" algn="l"/>
              </a:tabLst>
            </a:pPr>
            <a:r>
              <a:rPr dirty="0" sz="3200" spc="-15">
                <a:latin typeface="Calibri"/>
                <a:cs typeface="Calibri"/>
              </a:rPr>
              <a:t>Optimize </a:t>
            </a:r>
            <a:r>
              <a:rPr dirty="0" sz="3200" spc="-5">
                <a:latin typeface="Calibri"/>
                <a:cs typeface="Calibri"/>
              </a:rPr>
              <a:t>embeddings </a:t>
            </a:r>
            <a:r>
              <a:rPr dirty="0" sz="3200" spc="-15">
                <a:latin typeface="Calibri"/>
                <a:cs typeface="Calibri"/>
              </a:rPr>
              <a:t>according to: </a:t>
            </a:r>
            <a:r>
              <a:rPr dirty="0" sz="3200" spc="-10">
                <a:solidFill>
                  <a:srgbClr val="D60093"/>
                </a:solidFill>
                <a:latin typeface="Calibri"/>
                <a:cs typeface="Calibri"/>
              </a:rPr>
              <a:t>Given  </a:t>
            </a:r>
            <a:r>
              <a:rPr dirty="0" sz="3200" spc="-5">
                <a:solidFill>
                  <a:srgbClr val="D60093"/>
                </a:solidFill>
                <a:latin typeface="Calibri"/>
                <a:cs typeface="Calibri"/>
              </a:rPr>
              <a:t>node </a:t>
            </a:r>
            <a:r>
              <a:rPr dirty="0" sz="3200" spc="30">
                <a:solidFill>
                  <a:srgbClr val="D60093"/>
                </a:solidFill>
                <a:latin typeface="Cambria Math"/>
                <a:cs typeface="Cambria Math"/>
              </a:rPr>
              <a:t>𝑢</a:t>
            </a:r>
            <a:r>
              <a:rPr dirty="0" sz="3200" spc="30">
                <a:solidFill>
                  <a:srgbClr val="D60093"/>
                </a:solidFill>
                <a:latin typeface="Calibri"/>
                <a:cs typeface="Calibri"/>
              </a:rPr>
              <a:t>, </a:t>
            </a:r>
            <a:r>
              <a:rPr dirty="0" sz="3200" spc="-10">
                <a:solidFill>
                  <a:srgbClr val="D60093"/>
                </a:solidFill>
                <a:latin typeface="Calibri"/>
                <a:cs typeface="Calibri"/>
              </a:rPr>
              <a:t>predict </a:t>
            </a:r>
            <a:r>
              <a:rPr dirty="0" sz="3200">
                <a:solidFill>
                  <a:srgbClr val="D60093"/>
                </a:solidFill>
                <a:latin typeface="Calibri"/>
                <a:cs typeface="Calibri"/>
              </a:rPr>
              <a:t>its </a:t>
            </a:r>
            <a:r>
              <a:rPr dirty="0" sz="3200" spc="-10">
                <a:solidFill>
                  <a:srgbClr val="D60093"/>
                </a:solidFill>
                <a:latin typeface="Calibri"/>
                <a:cs typeface="Calibri"/>
              </a:rPr>
              <a:t>neighbors</a:t>
            </a:r>
            <a:r>
              <a:rPr dirty="0" sz="3200" spc="-2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185">
                <a:solidFill>
                  <a:srgbClr val="D60093"/>
                </a:solidFill>
                <a:latin typeface="Cambria Math"/>
                <a:cs typeface="Cambria Math"/>
              </a:rPr>
              <a:t>𝑁</a:t>
            </a:r>
            <a:r>
              <a:rPr dirty="0" baseline="-15700" sz="3450" spc="277">
                <a:solidFill>
                  <a:srgbClr val="D60093"/>
                </a:solidFill>
                <a:latin typeface="Cambria Math"/>
                <a:cs typeface="Cambria Math"/>
              </a:rPr>
              <a:t>'</a:t>
            </a:r>
            <a:r>
              <a:rPr dirty="0" sz="3200" spc="185">
                <a:solidFill>
                  <a:srgbClr val="D60093"/>
                </a:solidFill>
                <a:latin typeface="Cambria Math"/>
                <a:cs typeface="Cambria Math"/>
              </a:rPr>
              <a:t>(𝑢)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176" y="5891784"/>
            <a:ext cx="20129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425">
                <a:latin typeface="Cambria Math"/>
                <a:cs typeface="Cambria Math"/>
              </a:rPr>
              <a:t>(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363" y="5527548"/>
            <a:ext cx="44056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Cambria Math"/>
                <a:cs typeface="Cambria Math"/>
              </a:rPr>
              <a:t>max </a:t>
            </a:r>
            <a:r>
              <a:rPr dirty="0" sz="3200" spc="2515">
                <a:latin typeface="Cambria Math"/>
                <a:cs typeface="Cambria Math"/>
              </a:rPr>
              <a:t>F</a:t>
            </a:r>
            <a:r>
              <a:rPr dirty="0" sz="3200" spc="22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log </a:t>
            </a:r>
            <a:r>
              <a:rPr dirty="0" sz="3200" spc="110">
                <a:latin typeface="Cambria Math"/>
                <a:cs typeface="Cambria Math"/>
              </a:rPr>
              <a:t>P(𝑁</a:t>
            </a:r>
            <a:r>
              <a:rPr dirty="0" baseline="-15700" sz="3450" spc="165">
                <a:latin typeface="Cambria Math"/>
                <a:cs typeface="Cambria Math"/>
              </a:rPr>
              <a:t>'</a:t>
            </a:r>
            <a:r>
              <a:rPr dirty="0" sz="3200" spc="110">
                <a:latin typeface="Cambria Math"/>
                <a:cs typeface="Cambria Math"/>
              </a:rPr>
              <a:t>(𝑢)| </a:t>
            </a:r>
            <a:r>
              <a:rPr dirty="0" sz="3200" spc="150">
                <a:latin typeface="Cambria Math"/>
                <a:cs typeface="Cambria Math"/>
              </a:rPr>
              <a:t>𝐳</a:t>
            </a:r>
            <a:r>
              <a:rPr dirty="0" baseline="-15700" sz="3450" spc="225">
                <a:latin typeface="Cambria Math"/>
                <a:cs typeface="Cambria Math"/>
              </a:rPr>
              <a:t>$</a:t>
            </a:r>
            <a:r>
              <a:rPr dirty="0" sz="3200" spc="15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24" y="6160008"/>
            <a:ext cx="8354059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4840">
              <a:lnSpc>
                <a:spcPts val="2640"/>
              </a:lnSpc>
              <a:spcBef>
                <a:spcPts val="100"/>
              </a:spcBef>
            </a:pPr>
            <a:r>
              <a:rPr dirty="0" sz="2300" spc="325">
                <a:latin typeface="Cambria Math"/>
                <a:cs typeface="Cambria Math"/>
              </a:rPr>
              <a:t>$</a:t>
            </a:r>
            <a:r>
              <a:rPr dirty="0" sz="2300" spc="-30">
                <a:latin typeface="Cambria Math"/>
                <a:cs typeface="Cambria Math"/>
              </a:rPr>
              <a:t> </a:t>
            </a:r>
            <a:r>
              <a:rPr dirty="0" sz="2300" spc="254">
                <a:latin typeface="Cambria Math"/>
                <a:cs typeface="Cambria Math"/>
              </a:rPr>
              <a:t>∈*</a:t>
            </a:r>
            <a:endParaRPr sz="2300">
              <a:latin typeface="Cambria Math"/>
              <a:cs typeface="Cambria Math"/>
            </a:endParaRPr>
          </a:p>
          <a:p>
            <a:pPr marL="12700">
              <a:lnSpc>
                <a:spcPts val="1800"/>
              </a:lnSpc>
            </a:pPr>
            <a:r>
              <a:rPr dirty="0" sz="1600" spc="50">
                <a:solidFill>
                  <a:srgbClr val="008000"/>
                </a:solidFill>
                <a:latin typeface="Arial"/>
                <a:cs typeface="Arial"/>
              </a:rPr>
              <a:t>*</a:t>
            </a:r>
            <a:r>
              <a:rPr dirty="0" sz="1600" spc="50">
                <a:latin typeface="Cambria Math"/>
                <a:cs typeface="Cambria Math"/>
              </a:rPr>
              <a:t>𝑁</a:t>
            </a:r>
            <a:r>
              <a:rPr dirty="0" baseline="-13888" sz="1800" spc="75">
                <a:latin typeface="Cambria Math"/>
                <a:cs typeface="Cambria Math"/>
              </a:rPr>
              <a:t>!</a:t>
            </a:r>
            <a:r>
              <a:rPr dirty="0" sz="1600" spc="50">
                <a:latin typeface="Cambria Math"/>
                <a:cs typeface="Cambria Math"/>
              </a:rPr>
              <a:t>(𝑢)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can have repeat elements since nodes can be visited multiple times on random</a:t>
            </a:r>
            <a:r>
              <a:rPr dirty="0" sz="1600" spc="20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walks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2121" y="5680964"/>
            <a:ext cx="2997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Maximum likelihood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objective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35238" y="5731328"/>
            <a:ext cx="518795" cy="208279"/>
          </a:xfrm>
          <a:custGeom>
            <a:avLst/>
            <a:gdLst/>
            <a:ahLst/>
            <a:cxnLst/>
            <a:rect l="l" t="t" r="r" b="b"/>
            <a:pathLst>
              <a:path w="518795" h="208279">
                <a:moveTo>
                  <a:pt x="0" y="52047"/>
                </a:moveTo>
                <a:lnTo>
                  <a:pt x="414338" y="52047"/>
                </a:lnTo>
                <a:lnTo>
                  <a:pt x="414338" y="0"/>
                </a:lnTo>
                <a:lnTo>
                  <a:pt x="518432" y="104094"/>
                </a:lnTo>
                <a:lnTo>
                  <a:pt x="414338" y="208189"/>
                </a:lnTo>
                <a:lnTo>
                  <a:pt x="414338" y="156141"/>
                </a:lnTo>
                <a:lnTo>
                  <a:pt x="0" y="156141"/>
                </a:lnTo>
                <a:lnTo>
                  <a:pt x="0" y="5204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313943"/>
            <a:ext cx="7589520" cy="621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433420" y="6181201"/>
            <a:ext cx="305435" cy="188595"/>
          </a:xfrm>
          <a:custGeom>
            <a:avLst/>
            <a:gdLst/>
            <a:ahLst/>
            <a:cxnLst/>
            <a:rect l="l" t="t" r="r" b="b"/>
            <a:pathLst>
              <a:path w="305434" h="188595">
                <a:moveTo>
                  <a:pt x="244812" y="0"/>
                </a:moveTo>
                <a:lnTo>
                  <a:pt x="242133" y="7639"/>
                </a:lnTo>
                <a:lnTo>
                  <a:pt x="253028" y="12368"/>
                </a:lnTo>
                <a:lnTo>
                  <a:pt x="262398" y="18913"/>
                </a:lnTo>
                <a:lnTo>
                  <a:pt x="284897" y="62470"/>
                </a:lnTo>
                <a:lnTo>
                  <a:pt x="287675" y="93166"/>
                </a:lnTo>
                <a:lnTo>
                  <a:pt x="286977" y="109766"/>
                </a:lnTo>
                <a:lnTo>
                  <a:pt x="276513" y="150415"/>
                </a:lnTo>
                <a:lnTo>
                  <a:pt x="242431" y="180578"/>
                </a:lnTo>
                <a:lnTo>
                  <a:pt x="244812" y="188217"/>
                </a:lnTo>
                <a:lnTo>
                  <a:pt x="280773" y="166851"/>
                </a:lnTo>
                <a:lnTo>
                  <a:pt x="300970" y="127409"/>
                </a:lnTo>
                <a:lnTo>
                  <a:pt x="304839" y="94158"/>
                </a:lnTo>
                <a:lnTo>
                  <a:pt x="303868" y="76903"/>
                </a:lnTo>
                <a:lnTo>
                  <a:pt x="289312" y="32990"/>
                </a:lnTo>
                <a:lnTo>
                  <a:pt x="258458" y="4926"/>
                </a:lnTo>
                <a:lnTo>
                  <a:pt x="244812" y="0"/>
                </a:lnTo>
                <a:close/>
              </a:path>
              <a:path w="305434" h="188595">
                <a:moveTo>
                  <a:pt x="60027" y="0"/>
                </a:moveTo>
                <a:lnTo>
                  <a:pt x="24132" y="21421"/>
                </a:lnTo>
                <a:lnTo>
                  <a:pt x="3882" y="60957"/>
                </a:lnTo>
                <a:lnTo>
                  <a:pt x="0" y="94158"/>
                </a:lnTo>
                <a:lnTo>
                  <a:pt x="967" y="111450"/>
                </a:lnTo>
                <a:lnTo>
                  <a:pt x="15478" y="155326"/>
                </a:lnTo>
                <a:lnTo>
                  <a:pt x="46341" y="183297"/>
                </a:lnTo>
                <a:lnTo>
                  <a:pt x="60027" y="188217"/>
                </a:lnTo>
                <a:lnTo>
                  <a:pt x="62409" y="180578"/>
                </a:lnTo>
                <a:lnTo>
                  <a:pt x="51683" y="175828"/>
                </a:lnTo>
                <a:lnTo>
                  <a:pt x="42428" y="169217"/>
                </a:lnTo>
                <a:lnTo>
                  <a:pt x="19955" y="124841"/>
                </a:lnTo>
                <a:lnTo>
                  <a:pt x="17165" y="93166"/>
                </a:lnTo>
                <a:lnTo>
                  <a:pt x="17862" y="77108"/>
                </a:lnTo>
                <a:lnTo>
                  <a:pt x="28327" y="37455"/>
                </a:lnTo>
                <a:lnTo>
                  <a:pt x="62706" y="7639"/>
                </a:lnTo>
                <a:lnTo>
                  <a:pt x="6002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930931" y="5392420"/>
            <a:ext cx="2044064" cy="9950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30480">
              <a:lnSpc>
                <a:spcPct val="99400"/>
              </a:lnSpc>
              <a:spcBef>
                <a:spcPts val="110"/>
              </a:spcBef>
            </a:pPr>
            <a:r>
              <a:rPr dirty="0" sz="1600" spc="-15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want node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𝑣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be  most similar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node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𝑢 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(out of all nodes</a:t>
            </a:r>
            <a:r>
              <a:rPr dirty="0" sz="1600" spc="-4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0">
                <a:solidFill>
                  <a:srgbClr val="008000"/>
                </a:solidFill>
                <a:latin typeface="Cambria Math"/>
                <a:cs typeface="Cambria Math"/>
              </a:rPr>
              <a:t>𝑛</a:t>
            </a:r>
            <a:r>
              <a:rPr dirty="0" sz="1600" spc="0">
                <a:solidFill>
                  <a:srgbClr val="008000"/>
                </a:solidFill>
                <a:latin typeface="Arial"/>
                <a:cs typeface="Arial"/>
              </a:rPr>
              <a:t>).</a:t>
            </a:r>
            <a:endParaRPr sz="1600">
              <a:latin typeface="Arial"/>
              <a:cs typeface="Arial"/>
            </a:endParaRPr>
          </a:p>
          <a:p>
            <a:pPr algn="just" marL="12700">
              <a:lnSpc>
                <a:spcPts val="1895"/>
              </a:lnSpc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Intuition: </a:t>
            </a:r>
            <a:r>
              <a:rPr dirty="0" baseline="1736" sz="2400" spc="-44">
                <a:solidFill>
                  <a:srgbClr val="008000"/>
                </a:solidFill>
                <a:latin typeface="Cambria Math"/>
                <a:cs typeface="Cambria Math"/>
              </a:rPr>
              <a:t>∑</a:t>
            </a:r>
            <a:r>
              <a:rPr dirty="0" baseline="-18518" sz="1800" spc="-44">
                <a:solidFill>
                  <a:srgbClr val="008000"/>
                </a:solidFill>
                <a:latin typeface="Cambria Math"/>
                <a:cs typeface="Cambria Math"/>
              </a:rPr>
              <a:t>" </a:t>
            </a:r>
            <a:r>
              <a:rPr dirty="0" sz="1600" spc="-10">
                <a:solidFill>
                  <a:srgbClr val="008000"/>
                </a:solidFill>
                <a:latin typeface="Cambria Math"/>
                <a:cs typeface="Cambria Math"/>
              </a:rPr>
              <a:t>exp  </a:t>
            </a:r>
            <a:r>
              <a:rPr dirty="0" sz="1600" spc="-40">
                <a:solidFill>
                  <a:srgbClr val="008000"/>
                </a:solidFill>
                <a:latin typeface="Cambria Math"/>
                <a:cs typeface="Cambria Math"/>
              </a:rPr>
              <a:t>𝑥</a:t>
            </a:r>
            <a:r>
              <a:rPr dirty="0" baseline="-13888" sz="1800" spc="-60">
                <a:solidFill>
                  <a:srgbClr val="008000"/>
                </a:solidFill>
                <a:latin typeface="Cambria Math"/>
                <a:cs typeface="Cambria Math"/>
              </a:rPr>
              <a:t>"  </a:t>
            </a:r>
            <a:r>
              <a:rPr dirty="0" baseline="-13888" sz="1800" spc="19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≈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5555" y="6534404"/>
            <a:ext cx="79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5">
                <a:solidFill>
                  <a:srgbClr val="008000"/>
                </a:solidFill>
                <a:latin typeface="Cambria Math"/>
                <a:cs typeface="Cambria Math"/>
              </a:rPr>
              <a:t>"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30931" y="6358635"/>
            <a:ext cx="10744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008000"/>
                </a:solidFill>
                <a:latin typeface="Cambria Math"/>
                <a:cs typeface="Cambria Math"/>
              </a:rPr>
              <a:t>max</a:t>
            </a:r>
            <a:r>
              <a:rPr dirty="0" sz="1600" spc="-14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600" spc="-10">
                <a:solidFill>
                  <a:srgbClr val="008000"/>
                </a:solidFill>
                <a:latin typeface="Cambria Math"/>
                <a:cs typeface="Cambria Math"/>
              </a:rPr>
              <a:t>exp(𝑥</a:t>
            </a:r>
            <a:r>
              <a:rPr dirty="0" baseline="-16203" sz="1800" spc="-15">
                <a:solidFill>
                  <a:srgbClr val="008000"/>
                </a:solidFill>
                <a:latin typeface="Cambria Math"/>
                <a:cs typeface="Cambria Math"/>
              </a:rPr>
              <a:t>"</a:t>
            </a:r>
            <a:r>
              <a:rPr dirty="0" sz="1600" spc="-10">
                <a:solidFill>
                  <a:srgbClr val="008000"/>
                </a:solidFill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3699" y="5662014"/>
            <a:ext cx="1041400" cy="376555"/>
          </a:xfrm>
          <a:custGeom>
            <a:avLst/>
            <a:gdLst/>
            <a:ahLst/>
            <a:cxnLst/>
            <a:rect l="l" t="t" r="r" b="b"/>
            <a:pathLst>
              <a:path w="1041400" h="376554">
                <a:moveTo>
                  <a:pt x="445110" y="3540"/>
                </a:moveTo>
                <a:lnTo>
                  <a:pt x="414552" y="3540"/>
                </a:lnTo>
                <a:lnTo>
                  <a:pt x="414552" y="372832"/>
                </a:lnTo>
                <a:lnTo>
                  <a:pt x="445110" y="372832"/>
                </a:lnTo>
                <a:lnTo>
                  <a:pt x="445110" y="3540"/>
                </a:lnTo>
                <a:close/>
              </a:path>
              <a:path w="1041400" h="376554">
                <a:moveTo>
                  <a:pt x="921106" y="0"/>
                </a:moveTo>
                <a:lnTo>
                  <a:pt x="915748" y="15279"/>
                </a:lnTo>
                <a:lnTo>
                  <a:pt x="937540" y="24736"/>
                </a:lnTo>
                <a:lnTo>
                  <a:pt x="956280" y="37827"/>
                </a:lnTo>
                <a:lnTo>
                  <a:pt x="984606" y="74910"/>
                </a:lnTo>
                <a:lnTo>
                  <a:pt x="1001275" y="124941"/>
                </a:lnTo>
                <a:lnTo>
                  <a:pt x="1006831" y="186332"/>
                </a:lnTo>
                <a:lnTo>
                  <a:pt x="1005436" y="219533"/>
                </a:lnTo>
                <a:lnTo>
                  <a:pt x="994274" y="276783"/>
                </a:lnTo>
                <a:lnTo>
                  <a:pt x="971875" y="321493"/>
                </a:lnTo>
                <a:lnTo>
                  <a:pt x="937794" y="351656"/>
                </a:lnTo>
                <a:lnTo>
                  <a:pt x="916344" y="361156"/>
                </a:lnTo>
                <a:lnTo>
                  <a:pt x="921106" y="376435"/>
                </a:lnTo>
                <a:lnTo>
                  <a:pt x="972452" y="352350"/>
                </a:lnTo>
                <a:lnTo>
                  <a:pt x="1010204" y="310653"/>
                </a:lnTo>
                <a:lnTo>
                  <a:pt x="1033422" y="254818"/>
                </a:lnTo>
                <a:lnTo>
                  <a:pt x="1041161" y="188317"/>
                </a:lnTo>
                <a:lnTo>
                  <a:pt x="1039220" y="153807"/>
                </a:lnTo>
                <a:lnTo>
                  <a:pt x="1023692" y="92639"/>
                </a:lnTo>
                <a:lnTo>
                  <a:pt x="992897" y="42843"/>
                </a:lnTo>
                <a:lnTo>
                  <a:pt x="948398" y="9853"/>
                </a:lnTo>
                <a:lnTo>
                  <a:pt x="921106" y="0"/>
                </a:lnTo>
                <a:close/>
              </a:path>
              <a:path w="1041400" h="376554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5"/>
                </a:lnTo>
                <a:lnTo>
                  <a:pt x="0" y="188317"/>
                </a:lnTo>
                <a:lnTo>
                  <a:pt x="1934" y="222901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6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2"/>
                </a:lnTo>
                <a:lnTo>
                  <a:pt x="35724" y="154216"/>
                </a:lnTo>
                <a:lnTo>
                  <a:pt x="46887" y="98505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12962" y="5545835"/>
            <a:ext cx="18173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3230" algn="l"/>
                <a:tab pos="804545" algn="l"/>
                <a:tab pos="1499870" algn="l"/>
              </a:tabLst>
            </a:pPr>
            <a:r>
              <a:rPr dirty="0" sz="3200">
                <a:latin typeface="Cambria Math"/>
                <a:cs typeface="Cambria Math"/>
              </a:rPr>
              <a:t>𝑃	𝑣	</a:t>
            </a:r>
            <a:r>
              <a:rPr dirty="0" sz="3200" spc="-5">
                <a:latin typeface="Cambria Math"/>
                <a:cs typeface="Cambria Math"/>
              </a:rPr>
              <a:t>𝐳</a:t>
            </a:r>
            <a:r>
              <a:rPr dirty="0" baseline="-15700" sz="3450" spc="487">
                <a:latin typeface="Cambria Math"/>
                <a:cs typeface="Cambria Math"/>
              </a:rPr>
              <a:t>$</a:t>
            </a:r>
            <a:r>
              <a:rPr dirty="0" baseline="-15700" sz="3450">
                <a:latin typeface="Cambria Math"/>
                <a:cs typeface="Cambria Math"/>
              </a:rPr>
              <a:t>	</a:t>
            </a:r>
            <a:r>
              <a:rPr dirty="0" sz="320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8058" y="5851983"/>
            <a:ext cx="2730500" cy="0"/>
          </a:xfrm>
          <a:custGeom>
            <a:avLst/>
            <a:gdLst/>
            <a:ahLst/>
            <a:cxnLst/>
            <a:rect l="l" t="t" r="r" b="b"/>
            <a:pathLst>
              <a:path w="2730500" h="0">
                <a:moveTo>
                  <a:pt x="0" y="0"/>
                </a:moveTo>
                <a:lnTo>
                  <a:pt x="2730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81573" y="5437632"/>
            <a:ext cx="6159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515" algn="l"/>
              </a:tabLst>
            </a:pPr>
            <a:r>
              <a:rPr dirty="0" sz="2300" spc="325">
                <a:latin typeface="Cambria Math"/>
                <a:cs typeface="Cambria Math"/>
              </a:rPr>
              <a:t>$</a:t>
            </a:r>
            <a:r>
              <a:rPr dirty="0" sz="2300" spc="325">
                <a:latin typeface="Cambria Math"/>
                <a:cs typeface="Cambria Math"/>
              </a:rPr>
              <a:t>	</a:t>
            </a:r>
            <a:r>
              <a:rPr dirty="0" sz="2300" spc="390">
                <a:latin typeface="Cambria Math"/>
                <a:cs typeface="Cambria Math"/>
              </a:rPr>
              <a:t>"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3897323" y="5241035"/>
            <a:ext cx="1796414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4170" algn="l"/>
              </a:tabLst>
            </a:pPr>
            <a:r>
              <a:rPr dirty="0" sz="3200" spc="-40">
                <a:latin typeface="Cambria Math"/>
                <a:cs typeface="Cambria Math"/>
              </a:rPr>
              <a:t>e</a:t>
            </a:r>
            <a:r>
              <a:rPr dirty="0" sz="3200" spc="0">
                <a:latin typeface="Cambria Math"/>
                <a:cs typeface="Cambria Math"/>
              </a:rPr>
              <a:t>x</a:t>
            </a:r>
            <a:r>
              <a:rPr dirty="0" sz="3200" spc="-10">
                <a:latin typeface="Cambria Math"/>
                <a:cs typeface="Cambria Math"/>
              </a:rPr>
              <a:t>p</a:t>
            </a:r>
            <a:r>
              <a:rPr dirty="0" sz="3200" spc="-5">
                <a:latin typeface="Cambria Math"/>
                <a:cs typeface="Cambria Math"/>
              </a:rPr>
              <a:t>(</a:t>
            </a:r>
            <a:r>
              <a:rPr dirty="0" sz="3200" spc="114">
                <a:latin typeface="Cambria Math"/>
                <a:cs typeface="Cambria Math"/>
              </a:rPr>
              <a:t>𝐳</a:t>
            </a:r>
            <a:r>
              <a:rPr dirty="0" baseline="28985" sz="3450" spc="-187">
                <a:latin typeface="Cambria Math"/>
                <a:cs typeface="Cambria Math"/>
              </a:rPr>
              <a:t>+</a:t>
            </a:r>
            <a:r>
              <a:rPr dirty="0" sz="3200">
                <a:latin typeface="Cambria Math"/>
                <a:cs typeface="Cambria Math"/>
              </a:rPr>
              <a:t>𝐳	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16882" y="5829300"/>
            <a:ext cx="3136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∑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4792" y="6065520"/>
            <a:ext cx="59753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070">
                <a:latin typeface="Cambria Math"/>
                <a:cs typeface="Cambria Math"/>
              </a:rPr>
              <a:t>,</a:t>
            </a:r>
            <a:r>
              <a:rPr dirty="0" sz="2300" spc="10">
                <a:latin typeface="Cambria Math"/>
                <a:cs typeface="Cambria Math"/>
              </a:rPr>
              <a:t>∈</a:t>
            </a:r>
            <a:r>
              <a:rPr dirty="0" sz="2300" spc="509">
                <a:latin typeface="Cambria Math"/>
                <a:cs typeface="Cambria Math"/>
              </a:rPr>
              <a:t>*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40742" y="6044184"/>
            <a:ext cx="64008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515" algn="l"/>
              </a:tabLst>
            </a:pPr>
            <a:r>
              <a:rPr dirty="0" sz="2300" spc="325">
                <a:latin typeface="Cambria Math"/>
                <a:cs typeface="Cambria Math"/>
              </a:rPr>
              <a:t>$</a:t>
            </a:r>
            <a:r>
              <a:rPr dirty="0" sz="2300" spc="325">
                <a:latin typeface="Cambria Math"/>
                <a:cs typeface="Cambria Math"/>
              </a:rPr>
              <a:t>	</a:t>
            </a:r>
            <a:r>
              <a:rPr dirty="0" sz="2300" spc="1015">
                <a:latin typeface="Cambria Math"/>
                <a:cs typeface="Cambria Math"/>
              </a:rPr>
              <a:t>,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6492" y="5844540"/>
            <a:ext cx="18173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5760" algn="l"/>
              </a:tabLst>
            </a:pPr>
            <a:r>
              <a:rPr dirty="0" sz="3200" spc="-40">
                <a:latin typeface="Cambria Math"/>
                <a:cs typeface="Cambria Math"/>
              </a:rPr>
              <a:t>e</a:t>
            </a:r>
            <a:r>
              <a:rPr dirty="0" sz="3200" spc="0">
                <a:latin typeface="Cambria Math"/>
                <a:cs typeface="Cambria Math"/>
              </a:rPr>
              <a:t>x</a:t>
            </a:r>
            <a:r>
              <a:rPr dirty="0" sz="3200" spc="-10">
                <a:latin typeface="Cambria Math"/>
                <a:cs typeface="Cambria Math"/>
              </a:rPr>
              <a:t>p</a:t>
            </a:r>
            <a:r>
              <a:rPr dirty="0" sz="3200" spc="-5">
                <a:latin typeface="Cambria Math"/>
                <a:cs typeface="Cambria Math"/>
              </a:rPr>
              <a:t>(</a:t>
            </a:r>
            <a:r>
              <a:rPr dirty="0" sz="3200" spc="114">
                <a:latin typeface="Cambria Math"/>
                <a:cs typeface="Cambria Math"/>
              </a:rPr>
              <a:t>𝐳</a:t>
            </a:r>
            <a:r>
              <a:rPr dirty="0" baseline="28985" sz="3450" spc="-187">
                <a:latin typeface="Cambria Math"/>
                <a:cs typeface="Cambria Math"/>
              </a:rPr>
              <a:t>+</a:t>
            </a:r>
            <a:r>
              <a:rPr dirty="0" sz="3200">
                <a:latin typeface="Cambria Math"/>
                <a:cs typeface="Cambria Math"/>
              </a:rPr>
              <a:t>𝐳	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8423" y="1864867"/>
            <a:ext cx="26289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8210" algn="l"/>
                <a:tab pos="2009775" algn="l"/>
              </a:tabLst>
            </a:pPr>
            <a:r>
              <a:rPr dirty="0" sz="3600">
                <a:latin typeface="Cambria Math"/>
                <a:cs typeface="Cambria Math"/>
              </a:rPr>
              <a:t>ℒ</a:t>
            </a:r>
            <a:r>
              <a:rPr dirty="0" sz="3600" spc="315">
                <a:latin typeface="Cambria Math"/>
                <a:cs typeface="Cambria Math"/>
              </a:rPr>
              <a:t> </a:t>
            </a:r>
            <a:r>
              <a:rPr dirty="0" sz="3600">
                <a:latin typeface="Cambria Math"/>
                <a:cs typeface="Cambria Math"/>
              </a:rPr>
              <a:t>=	</a:t>
            </a:r>
            <a:r>
              <a:rPr dirty="0" sz="3600" spc="3275">
                <a:latin typeface="Cambria Math"/>
                <a:cs typeface="Cambria Math"/>
              </a:rPr>
              <a:t>(</a:t>
            </a:r>
            <a:r>
              <a:rPr dirty="0" sz="3600">
                <a:latin typeface="Cambria Math"/>
                <a:cs typeface="Cambria Math"/>
              </a:rPr>
              <a:t>	</a:t>
            </a:r>
            <a:r>
              <a:rPr dirty="0" sz="3600" spc="3275">
                <a:latin typeface="Cambria Math"/>
                <a:cs typeface="Cambria Math"/>
              </a:rPr>
              <a:t>(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3227" y="2577084"/>
            <a:ext cx="8336915" cy="2844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77085">
              <a:lnSpc>
                <a:spcPct val="100000"/>
              </a:lnSpc>
              <a:spcBef>
                <a:spcPts val="100"/>
              </a:spcBef>
            </a:pPr>
            <a:r>
              <a:rPr dirty="0" sz="2600" spc="185">
                <a:latin typeface="Cambria Math"/>
                <a:cs typeface="Cambria Math"/>
              </a:rPr>
              <a:t>1∈3</a:t>
            </a:r>
            <a:r>
              <a:rPr dirty="0" sz="2600" spc="65">
                <a:latin typeface="Cambria Math"/>
                <a:cs typeface="Cambria Math"/>
              </a:rPr>
              <a:t> </a:t>
            </a:r>
            <a:r>
              <a:rPr dirty="0" sz="2600" spc="300">
                <a:latin typeface="Cambria Math"/>
                <a:cs typeface="Cambria Math"/>
              </a:rPr>
              <a:t>4∈5</a:t>
            </a:r>
            <a:r>
              <a:rPr dirty="0" baseline="-13888" sz="3300" spc="450">
                <a:latin typeface="Cambria Math"/>
                <a:cs typeface="Cambria Math"/>
              </a:rPr>
              <a:t>'</a:t>
            </a:r>
            <a:r>
              <a:rPr dirty="0" sz="2600" spc="300">
                <a:latin typeface="Cambria Math"/>
                <a:cs typeface="Cambria Math"/>
              </a:rPr>
              <a:t>(1)</a:t>
            </a:r>
            <a:endParaRPr sz="2600">
              <a:latin typeface="Cambria Math"/>
              <a:cs typeface="Cambria Math"/>
            </a:endParaRPr>
          </a:p>
          <a:p>
            <a:pPr marL="469900" marR="5080" indent="-457200">
              <a:lnSpc>
                <a:spcPts val="3790"/>
              </a:lnSpc>
              <a:spcBef>
                <a:spcPts val="312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Intuition: </a:t>
            </a:r>
            <a:r>
              <a:rPr dirty="0" sz="3200" spc="-15">
                <a:latin typeface="Calibri"/>
                <a:cs typeface="Calibri"/>
              </a:rPr>
              <a:t>Optimize </a:t>
            </a:r>
            <a:r>
              <a:rPr dirty="0" sz="3200" spc="-5">
                <a:latin typeface="Calibri"/>
                <a:cs typeface="Calibri"/>
              </a:rPr>
              <a:t>embeddings </a:t>
            </a:r>
            <a:r>
              <a:rPr dirty="0" sz="3200" spc="125">
                <a:latin typeface="Cambria Math"/>
                <a:cs typeface="Cambria Math"/>
              </a:rPr>
              <a:t>𝑧</a:t>
            </a:r>
            <a:r>
              <a:rPr dirty="0" baseline="-15700" sz="3450" spc="187">
                <a:latin typeface="Cambria Math"/>
                <a:cs typeface="Cambria Math"/>
              </a:rPr>
              <a:t>$ </a:t>
            </a:r>
            <a:r>
              <a:rPr dirty="0" sz="3200" spc="-15">
                <a:latin typeface="Calibri"/>
                <a:cs typeface="Calibri"/>
              </a:rPr>
              <a:t>to maximize 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likelihood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15">
                <a:latin typeface="Calibri"/>
                <a:cs typeface="Calibri"/>
              </a:rPr>
              <a:t>random </a:t>
            </a:r>
            <a:r>
              <a:rPr dirty="0" sz="3200" spc="-10">
                <a:latin typeface="Calibri"/>
                <a:cs typeface="Calibri"/>
              </a:rPr>
              <a:t>walk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co-occurrences</a:t>
            </a:r>
            <a:endParaRPr sz="3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3200" spc="-25" b="1">
                <a:solidFill>
                  <a:srgbClr val="F0AD00"/>
                </a:solidFill>
                <a:latin typeface="Calibri"/>
                <a:cs typeface="Calibri"/>
              </a:rPr>
              <a:t>Parameterize </a:t>
            </a:r>
            <a:r>
              <a:rPr dirty="0" sz="3200" spc="25">
                <a:latin typeface="Cambria Math"/>
                <a:cs typeface="Cambria Math"/>
              </a:rPr>
              <a:t>𝑃(𝑣|𝐳</a:t>
            </a:r>
            <a:r>
              <a:rPr dirty="0" baseline="-18518" sz="3150" spc="37">
                <a:latin typeface="Cambria Math"/>
                <a:cs typeface="Cambria Math"/>
              </a:rPr>
              <a:t>𝑢</a:t>
            </a:r>
            <a:r>
              <a:rPr dirty="0" sz="3200" spc="25">
                <a:latin typeface="Cambria Math"/>
                <a:cs typeface="Cambria Math"/>
              </a:rPr>
              <a:t>) </a:t>
            </a:r>
            <a:r>
              <a:rPr dirty="0" sz="3200" spc="-5" b="1">
                <a:solidFill>
                  <a:srgbClr val="F0AD00"/>
                </a:solidFill>
                <a:latin typeface="Calibri"/>
                <a:cs typeface="Calibri"/>
              </a:rPr>
              <a:t>using</a:t>
            </a:r>
            <a:r>
              <a:rPr dirty="0" sz="3200" spc="-20" b="1">
                <a:solidFill>
                  <a:srgbClr val="F0AD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F0AD00"/>
                </a:solidFill>
                <a:latin typeface="Calibri"/>
                <a:cs typeface="Calibri"/>
              </a:rPr>
              <a:t>softmax:</a:t>
            </a:r>
            <a:endParaRPr sz="3200">
              <a:latin typeface="Calibri"/>
              <a:cs typeface="Calibri"/>
            </a:endParaRPr>
          </a:p>
          <a:p>
            <a:pPr algn="r" marR="328930">
              <a:lnSpc>
                <a:spcPct val="100000"/>
              </a:lnSpc>
              <a:spcBef>
                <a:spcPts val="1065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Why</a:t>
            </a:r>
            <a:r>
              <a:rPr dirty="0" sz="1600" spc="-7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softmax?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80330" y="1864867"/>
            <a:ext cx="28905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35">
                <a:latin typeface="Cambria Math"/>
                <a:cs typeface="Cambria Math"/>
              </a:rPr>
              <a:t>−log(𝑃(𝑣|𝐳</a:t>
            </a:r>
            <a:r>
              <a:rPr dirty="0" baseline="-16025" sz="3900" spc="52">
                <a:latin typeface="Cambria Math"/>
                <a:cs typeface="Cambria Math"/>
              </a:rPr>
              <a:t>1</a:t>
            </a:r>
            <a:r>
              <a:rPr dirty="0" sz="3600" spc="35">
                <a:latin typeface="Cambria Math"/>
                <a:cs typeface="Cambria Math"/>
              </a:rPr>
              <a:t>))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46978" y="1135380"/>
            <a:ext cx="21069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Equivalently,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313943"/>
            <a:ext cx="7589520" cy="621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0523" y="1495044"/>
            <a:ext cx="37306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Putting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it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dirty="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together:</a:t>
            </a:r>
          </a:p>
        </p:txBody>
      </p:sp>
      <p:sp>
        <p:nvSpPr>
          <p:cNvPr id="4" name="object 4"/>
          <p:cNvSpPr/>
          <p:nvPr/>
        </p:nvSpPr>
        <p:spPr>
          <a:xfrm>
            <a:off x="1618054" y="2203451"/>
            <a:ext cx="763270" cy="1349375"/>
          </a:xfrm>
          <a:custGeom>
            <a:avLst/>
            <a:gdLst/>
            <a:ahLst/>
            <a:cxnLst/>
            <a:rect l="l" t="t" r="r" b="b"/>
            <a:pathLst>
              <a:path w="763269" h="1349375">
                <a:moveTo>
                  <a:pt x="759968" y="0"/>
                </a:moveTo>
                <a:lnTo>
                  <a:pt x="2843" y="0"/>
                </a:lnTo>
                <a:lnTo>
                  <a:pt x="0" y="2842"/>
                </a:lnTo>
                <a:lnTo>
                  <a:pt x="0" y="1346450"/>
                </a:lnTo>
                <a:lnTo>
                  <a:pt x="2843" y="1349292"/>
                </a:lnTo>
                <a:lnTo>
                  <a:pt x="759968" y="1349292"/>
                </a:lnTo>
                <a:lnTo>
                  <a:pt x="762811" y="1346450"/>
                </a:lnTo>
                <a:lnTo>
                  <a:pt x="762811" y="1341672"/>
                </a:lnTo>
                <a:lnTo>
                  <a:pt x="7619" y="1341672"/>
                </a:lnTo>
                <a:lnTo>
                  <a:pt x="7619" y="7620"/>
                </a:lnTo>
                <a:lnTo>
                  <a:pt x="762811" y="7620"/>
                </a:lnTo>
                <a:lnTo>
                  <a:pt x="762811" y="2842"/>
                </a:lnTo>
                <a:lnTo>
                  <a:pt x="759968" y="0"/>
                </a:lnTo>
                <a:close/>
              </a:path>
              <a:path w="763269" h="1349375">
                <a:moveTo>
                  <a:pt x="762811" y="7620"/>
                </a:moveTo>
                <a:lnTo>
                  <a:pt x="755191" y="7620"/>
                </a:lnTo>
                <a:lnTo>
                  <a:pt x="755191" y="1341672"/>
                </a:lnTo>
                <a:lnTo>
                  <a:pt x="762811" y="1341672"/>
                </a:lnTo>
                <a:lnTo>
                  <a:pt x="762811" y="7620"/>
                </a:lnTo>
                <a:close/>
              </a:path>
              <a:path w="763269" h="1349375">
                <a:moveTo>
                  <a:pt x="752651" y="10160"/>
                </a:moveTo>
                <a:lnTo>
                  <a:pt x="10160" y="10160"/>
                </a:lnTo>
                <a:lnTo>
                  <a:pt x="10160" y="1339132"/>
                </a:lnTo>
                <a:lnTo>
                  <a:pt x="752651" y="1339132"/>
                </a:lnTo>
                <a:lnTo>
                  <a:pt x="752651" y="1336592"/>
                </a:lnTo>
                <a:lnTo>
                  <a:pt x="12700" y="1336592"/>
                </a:lnTo>
                <a:lnTo>
                  <a:pt x="12700" y="12700"/>
                </a:lnTo>
                <a:lnTo>
                  <a:pt x="752651" y="12700"/>
                </a:lnTo>
                <a:lnTo>
                  <a:pt x="752651" y="10160"/>
                </a:lnTo>
                <a:close/>
              </a:path>
              <a:path w="763269" h="1349375">
                <a:moveTo>
                  <a:pt x="752651" y="12700"/>
                </a:moveTo>
                <a:lnTo>
                  <a:pt x="750111" y="12700"/>
                </a:lnTo>
                <a:lnTo>
                  <a:pt x="750111" y="1336592"/>
                </a:lnTo>
                <a:lnTo>
                  <a:pt x="752651" y="1336592"/>
                </a:lnTo>
                <a:lnTo>
                  <a:pt x="752651" y="1270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04258" y="2203450"/>
            <a:ext cx="1386840" cy="1349375"/>
          </a:xfrm>
          <a:custGeom>
            <a:avLst/>
            <a:gdLst/>
            <a:ahLst/>
            <a:cxnLst/>
            <a:rect l="l" t="t" r="r" b="b"/>
            <a:pathLst>
              <a:path w="1386839" h="1349375">
                <a:moveTo>
                  <a:pt x="1383847" y="0"/>
                </a:moveTo>
                <a:lnTo>
                  <a:pt x="2842" y="0"/>
                </a:lnTo>
                <a:lnTo>
                  <a:pt x="0" y="2843"/>
                </a:lnTo>
                <a:lnTo>
                  <a:pt x="0" y="1346451"/>
                </a:lnTo>
                <a:lnTo>
                  <a:pt x="2842" y="1349294"/>
                </a:lnTo>
                <a:lnTo>
                  <a:pt x="1383847" y="1349294"/>
                </a:lnTo>
                <a:lnTo>
                  <a:pt x="1386691" y="1346451"/>
                </a:lnTo>
                <a:lnTo>
                  <a:pt x="1386691" y="1341674"/>
                </a:lnTo>
                <a:lnTo>
                  <a:pt x="7619" y="1341674"/>
                </a:lnTo>
                <a:lnTo>
                  <a:pt x="7619" y="7620"/>
                </a:lnTo>
                <a:lnTo>
                  <a:pt x="1386691" y="7620"/>
                </a:lnTo>
                <a:lnTo>
                  <a:pt x="1386691" y="2843"/>
                </a:lnTo>
                <a:lnTo>
                  <a:pt x="1383847" y="0"/>
                </a:lnTo>
                <a:close/>
              </a:path>
              <a:path w="1386839" h="1349375">
                <a:moveTo>
                  <a:pt x="1386691" y="7620"/>
                </a:moveTo>
                <a:lnTo>
                  <a:pt x="1379071" y="7620"/>
                </a:lnTo>
                <a:lnTo>
                  <a:pt x="1379071" y="1341674"/>
                </a:lnTo>
                <a:lnTo>
                  <a:pt x="1386691" y="1341674"/>
                </a:lnTo>
                <a:lnTo>
                  <a:pt x="1386691" y="7620"/>
                </a:lnTo>
                <a:close/>
              </a:path>
              <a:path w="1386839" h="1349375">
                <a:moveTo>
                  <a:pt x="1376531" y="10160"/>
                </a:moveTo>
                <a:lnTo>
                  <a:pt x="10160" y="10160"/>
                </a:lnTo>
                <a:lnTo>
                  <a:pt x="10160" y="1339134"/>
                </a:lnTo>
                <a:lnTo>
                  <a:pt x="1376531" y="1339134"/>
                </a:lnTo>
                <a:lnTo>
                  <a:pt x="1376531" y="1336594"/>
                </a:lnTo>
                <a:lnTo>
                  <a:pt x="12700" y="1336594"/>
                </a:lnTo>
                <a:lnTo>
                  <a:pt x="12700" y="12700"/>
                </a:lnTo>
                <a:lnTo>
                  <a:pt x="1376531" y="12700"/>
                </a:lnTo>
                <a:lnTo>
                  <a:pt x="1376531" y="10160"/>
                </a:lnTo>
                <a:close/>
              </a:path>
              <a:path w="1386839" h="1349375">
                <a:moveTo>
                  <a:pt x="1376531" y="12700"/>
                </a:moveTo>
                <a:lnTo>
                  <a:pt x="1373991" y="12700"/>
                </a:lnTo>
                <a:lnTo>
                  <a:pt x="1373991" y="1336594"/>
                </a:lnTo>
                <a:lnTo>
                  <a:pt x="1376531" y="1336594"/>
                </a:lnTo>
                <a:lnTo>
                  <a:pt x="1376531" y="1270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03801" y="2209801"/>
            <a:ext cx="3005455" cy="1336675"/>
          </a:xfrm>
          <a:custGeom>
            <a:avLst/>
            <a:gdLst/>
            <a:ahLst/>
            <a:cxnLst/>
            <a:rect l="l" t="t" r="r" b="b"/>
            <a:pathLst>
              <a:path w="3005454" h="1336675">
                <a:moveTo>
                  <a:pt x="0" y="0"/>
                </a:moveTo>
                <a:lnTo>
                  <a:pt x="3005081" y="0"/>
                </a:lnTo>
                <a:lnTo>
                  <a:pt x="3005081" y="1336591"/>
                </a:lnTo>
                <a:lnTo>
                  <a:pt x="0" y="1336591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97451" y="2203451"/>
            <a:ext cx="3018155" cy="1349375"/>
          </a:xfrm>
          <a:custGeom>
            <a:avLst/>
            <a:gdLst/>
            <a:ahLst/>
            <a:cxnLst/>
            <a:rect l="l" t="t" r="r" b="b"/>
            <a:pathLst>
              <a:path w="3018154" h="1349375">
                <a:moveTo>
                  <a:pt x="3014938" y="0"/>
                </a:moveTo>
                <a:lnTo>
                  <a:pt x="2842" y="0"/>
                </a:lnTo>
                <a:lnTo>
                  <a:pt x="0" y="2842"/>
                </a:lnTo>
                <a:lnTo>
                  <a:pt x="0" y="1346448"/>
                </a:lnTo>
                <a:lnTo>
                  <a:pt x="2842" y="1349291"/>
                </a:lnTo>
                <a:lnTo>
                  <a:pt x="3014938" y="1349291"/>
                </a:lnTo>
                <a:lnTo>
                  <a:pt x="3017781" y="1346448"/>
                </a:lnTo>
                <a:lnTo>
                  <a:pt x="3017781" y="1341671"/>
                </a:lnTo>
                <a:lnTo>
                  <a:pt x="7620" y="1341671"/>
                </a:lnTo>
                <a:lnTo>
                  <a:pt x="7620" y="7620"/>
                </a:lnTo>
                <a:lnTo>
                  <a:pt x="3017781" y="7620"/>
                </a:lnTo>
                <a:lnTo>
                  <a:pt x="3017781" y="2842"/>
                </a:lnTo>
                <a:lnTo>
                  <a:pt x="3014938" y="0"/>
                </a:lnTo>
                <a:close/>
              </a:path>
              <a:path w="3018154" h="1349375">
                <a:moveTo>
                  <a:pt x="3017781" y="7620"/>
                </a:moveTo>
                <a:lnTo>
                  <a:pt x="3010161" y="7620"/>
                </a:lnTo>
                <a:lnTo>
                  <a:pt x="3010161" y="1341671"/>
                </a:lnTo>
                <a:lnTo>
                  <a:pt x="3017781" y="1341671"/>
                </a:lnTo>
                <a:lnTo>
                  <a:pt x="3017781" y="7620"/>
                </a:lnTo>
                <a:close/>
              </a:path>
              <a:path w="3018154" h="1349375">
                <a:moveTo>
                  <a:pt x="3007621" y="10160"/>
                </a:moveTo>
                <a:lnTo>
                  <a:pt x="10160" y="10160"/>
                </a:lnTo>
                <a:lnTo>
                  <a:pt x="10160" y="1339131"/>
                </a:lnTo>
                <a:lnTo>
                  <a:pt x="3007621" y="1339131"/>
                </a:lnTo>
                <a:lnTo>
                  <a:pt x="3007621" y="1336591"/>
                </a:lnTo>
                <a:lnTo>
                  <a:pt x="12700" y="1336591"/>
                </a:lnTo>
                <a:lnTo>
                  <a:pt x="12700" y="12700"/>
                </a:lnTo>
                <a:lnTo>
                  <a:pt x="3007621" y="12700"/>
                </a:lnTo>
                <a:lnTo>
                  <a:pt x="3007621" y="10160"/>
                </a:lnTo>
                <a:close/>
              </a:path>
              <a:path w="3018154" h="1349375">
                <a:moveTo>
                  <a:pt x="3007621" y="12700"/>
                </a:moveTo>
                <a:lnTo>
                  <a:pt x="3005081" y="12700"/>
                </a:lnTo>
                <a:lnTo>
                  <a:pt x="3005081" y="1336591"/>
                </a:lnTo>
                <a:lnTo>
                  <a:pt x="3007621" y="1336591"/>
                </a:lnTo>
                <a:lnTo>
                  <a:pt x="3007621" y="1270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07307" y="3625533"/>
            <a:ext cx="431165" cy="431800"/>
          </a:xfrm>
          <a:custGeom>
            <a:avLst/>
            <a:gdLst/>
            <a:ahLst/>
            <a:cxnLst/>
            <a:rect l="l" t="t" r="r" b="b"/>
            <a:pathLst>
              <a:path w="431164" h="431800">
                <a:moveTo>
                  <a:pt x="344527" y="61777"/>
                </a:moveTo>
                <a:lnTo>
                  <a:pt x="5108" y="401493"/>
                </a:lnTo>
                <a:lnTo>
                  <a:pt x="1275" y="407272"/>
                </a:lnTo>
                <a:lnTo>
                  <a:pt x="0" y="413843"/>
                </a:lnTo>
                <a:lnTo>
                  <a:pt x="1281" y="420414"/>
                </a:lnTo>
                <a:lnTo>
                  <a:pt x="5120" y="426189"/>
                </a:lnTo>
                <a:lnTo>
                  <a:pt x="10898" y="430023"/>
                </a:lnTo>
                <a:lnTo>
                  <a:pt x="17470" y="431298"/>
                </a:lnTo>
                <a:lnTo>
                  <a:pt x="24040" y="430017"/>
                </a:lnTo>
                <a:lnTo>
                  <a:pt x="29815" y="426178"/>
                </a:lnTo>
                <a:lnTo>
                  <a:pt x="369233" y="86462"/>
                </a:lnTo>
                <a:lnTo>
                  <a:pt x="344527" y="61777"/>
                </a:lnTo>
                <a:close/>
              </a:path>
              <a:path w="431164" h="431800">
                <a:moveTo>
                  <a:pt x="416189" y="44304"/>
                </a:moveTo>
                <a:lnTo>
                  <a:pt x="369215" y="44304"/>
                </a:lnTo>
                <a:lnTo>
                  <a:pt x="375796" y="45586"/>
                </a:lnTo>
                <a:lnTo>
                  <a:pt x="381573" y="49424"/>
                </a:lnTo>
                <a:lnTo>
                  <a:pt x="385404" y="55188"/>
                </a:lnTo>
                <a:lnTo>
                  <a:pt x="386682" y="61777"/>
                </a:lnTo>
                <a:lnTo>
                  <a:pt x="385409" y="68331"/>
                </a:lnTo>
                <a:lnTo>
                  <a:pt x="381576" y="74109"/>
                </a:lnTo>
                <a:lnTo>
                  <a:pt x="369233" y="86462"/>
                </a:lnTo>
                <a:lnTo>
                  <a:pt x="393940" y="111147"/>
                </a:lnTo>
                <a:lnTo>
                  <a:pt x="416189" y="44304"/>
                </a:lnTo>
                <a:close/>
              </a:path>
              <a:path w="431164" h="431800">
                <a:moveTo>
                  <a:pt x="369215" y="44304"/>
                </a:moveTo>
                <a:lnTo>
                  <a:pt x="362645" y="45586"/>
                </a:lnTo>
                <a:lnTo>
                  <a:pt x="356869" y="49424"/>
                </a:lnTo>
                <a:lnTo>
                  <a:pt x="344527" y="61777"/>
                </a:lnTo>
                <a:lnTo>
                  <a:pt x="369233" y="86462"/>
                </a:lnTo>
                <a:lnTo>
                  <a:pt x="381576" y="74109"/>
                </a:lnTo>
                <a:lnTo>
                  <a:pt x="385409" y="68331"/>
                </a:lnTo>
                <a:lnTo>
                  <a:pt x="386685" y="61759"/>
                </a:lnTo>
                <a:lnTo>
                  <a:pt x="385404" y="55188"/>
                </a:lnTo>
                <a:lnTo>
                  <a:pt x="381565" y="49413"/>
                </a:lnTo>
                <a:lnTo>
                  <a:pt x="375787" y="45580"/>
                </a:lnTo>
                <a:lnTo>
                  <a:pt x="369215" y="44304"/>
                </a:lnTo>
                <a:close/>
              </a:path>
              <a:path w="431164" h="431800">
                <a:moveTo>
                  <a:pt x="430935" y="0"/>
                </a:moveTo>
                <a:lnTo>
                  <a:pt x="319821" y="37092"/>
                </a:lnTo>
                <a:lnTo>
                  <a:pt x="344527" y="61777"/>
                </a:lnTo>
                <a:lnTo>
                  <a:pt x="356886" y="49413"/>
                </a:lnTo>
                <a:lnTo>
                  <a:pt x="362676" y="45580"/>
                </a:lnTo>
                <a:lnTo>
                  <a:pt x="369215" y="44304"/>
                </a:lnTo>
                <a:lnTo>
                  <a:pt x="416189" y="44304"/>
                </a:lnTo>
                <a:lnTo>
                  <a:pt x="43093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59686" y="3928364"/>
            <a:ext cx="152336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59715" marR="5080" indent="-247650">
              <a:lnSpc>
                <a:spcPct val="100800"/>
              </a:lnSpc>
              <a:spcBef>
                <a:spcPts val="75"/>
              </a:spcBef>
            </a:pPr>
            <a:r>
              <a:rPr dirty="0" sz="2400" spc="-5">
                <a:solidFill>
                  <a:srgbClr val="60B5CC"/>
                </a:solidFill>
                <a:latin typeface="Calibri"/>
                <a:cs typeface="Calibri"/>
              </a:rPr>
              <a:t>sum </a:t>
            </a:r>
            <a:r>
              <a:rPr dirty="0" sz="2400" spc="-10">
                <a:solidFill>
                  <a:srgbClr val="60B5CC"/>
                </a:solidFill>
                <a:latin typeface="Calibri"/>
                <a:cs typeface="Calibri"/>
              </a:rPr>
              <a:t>over</a:t>
            </a:r>
            <a:r>
              <a:rPr dirty="0" sz="2400" spc="-85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60B5CC"/>
                </a:solidFill>
                <a:latin typeface="Calibri"/>
                <a:cs typeface="Calibri"/>
              </a:rPr>
              <a:t>all  nodes</a:t>
            </a:r>
            <a:r>
              <a:rPr dirty="0" sz="2400" spc="-85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0B5CC"/>
                </a:solidFill>
                <a:latin typeface="Cambria Math"/>
                <a:cs typeface="Cambria Math"/>
              </a:rPr>
              <a:t>𝑢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75493" y="3631691"/>
            <a:ext cx="189865" cy="363855"/>
          </a:xfrm>
          <a:custGeom>
            <a:avLst/>
            <a:gdLst/>
            <a:ahLst/>
            <a:cxnLst/>
            <a:rect l="l" t="t" r="r" b="b"/>
            <a:pathLst>
              <a:path w="189864" h="363854">
                <a:moveTo>
                  <a:pt x="62588" y="86128"/>
                </a:moveTo>
                <a:lnTo>
                  <a:pt x="156270" y="353853"/>
                </a:lnTo>
                <a:lnTo>
                  <a:pt x="172971" y="363536"/>
                </a:lnTo>
                <a:lnTo>
                  <a:pt x="179670" y="361748"/>
                </a:lnTo>
                <a:lnTo>
                  <a:pt x="185152" y="357500"/>
                </a:lnTo>
                <a:lnTo>
                  <a:pt x="188464" y="351682"/>
                </a:lnTo>
                <a:lnTo>
                  <a:pt x="189353" y="345047"/>
                </a:lnTo>
                <a:lnTo>
                  <a:pt x="187565" y="338347"/>
                </a:lnTo>
                <a:lnTo>
                  <a:pt x="62588" y="86128"/>
                </a:lnTo>
                <a:close/>
              </a:path>
              <a:path w="189864" h="363854">
                <a:moveTo>
                  <a:pt x="421" y="0"/>
                </a:moveTo>
                <a:lnTo>
                  <a:pt x="0" y="117140"/>
                </a:lnTo>
                <a:lnTo>
                  <a:pt x="31293" y="101634"/>
                </a:lnTo>
                <a:lnTo>
                  <a:pt x="23540" y="85987"/>
                </a:lnTo>
                <a:lnTo>
                  <a:pt x="21752" y="79287"/>
                </a:lnTo>
                <a:lnTo>
                  <a:pt x="22641" y="72652"/>
                </a:lnTo>
                <a:lnTo>
                  <a:pt x="25953" y="66835"/>
                </a:lnTo>
                <a:lnTo>
                  <a:pt x="31435" y="62588"/>
                </a:lnTo>
                <a:lnTo>
                  <a:pt x="38134" y="60799"/>
                </a:lnTo>
                <a:lnTo>
                  <a:pt x="80883" y="60799"/>
                </a:lnTo>
                <a:lnTo>
                  <a:pt x="421" y="0"/>
                </a:lnTo>
                <a:close/>
              </a:path>
              <a:path w="189864" h="363854">
                <a:moveTo>
                  <a:pt x="38134" y="60799"/>
                </a:moveTo>
                <a:lnTo>
                  <a:pt x="31435" y="62588"/>
                </a:lnTo>
                <a:lnTo>
                  <a:pt x="25953" y="66835"/>
                </a:lnTo>
                <a:lnTo>
                  <a:pt x="22641" y="72652"/>
                </a:lnTo>
                <a:lnTo>
                  <a:pt x="21752" y="79287"/>
                </a:lnTo>
                <a:lnTo>
                  <a:pt x="23540" y="85987"/>
                </a:lnTo>
                <a:lnTo>
                  <a:pt x="31293" y="101634"/>
                </a:lnTo>
                <a:lnTo>
                  <a:pt x="62588" y="86128"/>
                </a:lnTo>
                <a:lnTo>
                  <a:pt x="54834" y="70481"/>
                </a:lnTo>
                <a:lnTo>
                  <a:pt x="50587" y="65000"/>
                </a:lnTo>
                <a:lnTo>
                  <a:pt x="44769" y="61688"/>
                </a:lnTo>
                <a:lnTo>
                  <a:pt x="38134" y="60799"/>
                </a:lnTo>
                <a:close/>
              </a:path>
              <a:path w="189864" h="363854">
                <a:moveTo>
                  <a:pt x="80883" y="60799"/>
                </a:moveTo>
                <a:lnTo>
                  <a:pt x="38134" y="60799"/>
                </a:lnTo>
                <a:lnTo>
                  <a:pt x="44769" y="61688"/>
                </a:lnTo>
                <a:lnTo>
                  <a:pt x="50587" y="65000"/>
                </a:lnTo>
                <a:lnTo>
                  <a:pt x="54834" y="70481"/>
                </a:lnTo>
                <a:lnTo>
                  <a:pt x="62588" y="86128"/>
                </a:lnTo>
                <a:lnTo>
                  <a:pt x="93882" y="70622"/>
                </a:lnTo>
                <a:lnTo>
                  <a:pt x="80883" y="60799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3646" y="3913123"/>
            <a:ext cx="2628265" cy="1113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 indent="-1270">
              <a:lnSpc>
                <a:spcPct val="98800"/>
              </a:lnSpc>
              <a:spcBef>
                <a:spcPts val="135"/>
              </a:spcBef>
            </a:pPr>
            <a:r>
              <a:rPr dirty="0" sz="2400" spc="-5">
                <a:solidFill>
                  <a:srgbClr val="E66C7D"/>
                </a:solidFill>
                <a:latin typeface="Calibri"/>
                <a:cs typeface="Calibri"/>
              </a:rPr>
              <a:t>sum </a:t>
            </a:r>
            <a:r>
              <a:rPr dirty="0" sz="2400" spc="-10">
                <a:solidFill>
                  <a:srgbClr val="E66C7D"/>
                </a:solidFill>
                <a:latin typeface="Calibri"/>
                <a:cs typeface="Calibri"/>
              </a:rPr>
              <a:t>over </a:t>
            </a:r>
            <a:r>
              <a:rPr dirty="0" sz="2400" spc="-5">
                <a:solidFill>
                  <a:srgbClr val="E66C7D"/>
                </a:solidFill>
                <a:latin typeface="Calibri"/>
                <a:cs typeface="Calibri"/>
              </a:rPr>
              <a:t>nodes </a:t>
            </a:r>
            <a:r>
              <a:rPr dirty="0" sz="2400">
                <a:solidFill>
                  <a:srgbClr val="E66C7D"/>
                </a:solidFill>
                <a:latin typeface="Cambria Math"/>
                <a:cs typeface="Cambria Math"/>
              </a:rPr>
              <a:t>𝑣  </a:t>
            </a:r>
            <a:r>
              <a:rPr dirty="0" sz="2400" spc="-5">
                <a:solidFill>
                  <a:srgbClr val="E66C7D"/>
                </a:solidFill>
                <a:latin typeface="Calibri"/>
                <a:cs typeface="Calibri"/>
              </a:rPr>
              <a:t>seen on </a:t>
            </a:r>
            <a:r>
              <a:rPr dirty="0" sz="2400" spc="-10">
                <a:solidFill>
                  <a:srgbClr val="E66C7D"/>
                </a:solidFill>
                <a:latin typeface="Calibri"/>
                <a:cs typeface="Calibri"/>
              </a:rPr>
              <a:t>random  </a:t>
            </a:r>
            <a:r>
              <a:rPr dirty="0" sz="2400" spc="-15">
                <a:solidFill>
                  <a:srgbClr val="E66C7D"/>
                </a:solidFill>
                <a:latin typeface="Calibri"/>
                <a:cs typeface="Calibri"/>
              </a:rPr>
              <a:t>walks </a:t>
            </a:r>
            <a:r>
              <a:rPr dirty="0" sz="2400" spc="-10">
                <a:solidFill>
                  <a:srgbClr val="E66C7D"/>
                </a:solidFill>
                <a:latin typeface="Calibri"/>
                <a:cs typeface="Calibri"/>
              </a:rPr>
              <a:t>starting </a:t>
            </a:r>
            <a:r>
              <a:rPr dirty="0" sz="2400" spc="-15">
                <a:solidFill>
                  <a:srgbClr val="E66C7D"/>
                </a:solidFill>
                <a:latin typeface="Calibri"/>
                <a:cs typeface="Calibri"/>
              </a:rPr>
              <a:t>from</a:t>
            </a:r>
            <a:r>
              <a:rPr dirty="0" sz="2400" spc="-80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E66C7D"/>
                </a:solidFill>
                <a:latin typeface="Cambria Math"/>
                <a:cs typeface="Cambria Math"/>
              </a:rPr>
              <a:t>𝑢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42567" y="3907028"/>
            <a:ext cx="3182620" cy="1113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>
              <a:lnSpc>
                <a:spcPct val="98800"/>
              </a:lnSpc>
              <a:spcBef>
                <a:spcPts val="135"/>
              </a:spcBef>
            </a:pPr>
            <a:r>
              <a:rPr dirty="0" sz="2400" spc="-10">
                <a:solidFill>
                  <a:srgbClr val="F0AD00"/>
                </a:solidFill>
                <a:latin typeface="Calibri"/>
                <a:cs typeface="Calibri"/>
              </a:rPr>
              <a:t>predicted probability </a:t>
            </a:r>
            <a:r>
              <a:rPr dirty="0" sz="2400" spc="-5">
                <a:solidFill>
                  <a:srgbClr val="F0AD00"/>
                </a:solidFill>
                <a:latin typeface="Calibri"/>
                <a:cs typeface="Calibri"/>
              </a:rPr>
              <a:t>of </a:t>
            </a:r>
            <a:r>
              <a:rPr dirty="0" sz="2400">
                <a:solidFill>
                  <a:srgbClr val="F0AD00"/>
                </a:solidFill>
                <a:latin typeface="Cambria Math"/>
                <a:cs typeface="Cambria Math"/>
              </a:rPr>
              <a:t>𝑢  </a:t>
            </a:r>
            <a:r>
              <a:rPr dirty="0" sz="2400">
                <a:solidFill>
                  <a:srgbClr val="F0AD00"/>
                </a:solidFill>
                <a:latin typeface="Calibri"/>
                <a:cs typeface="Calibri"/>
              </a:rPr>
              <a:t>and </a:t>
            </a:r>
            <a:r>
              <a:rPr dirty="0" sz="2400">
                <a:solidFill>
                  <a:srgbClr val="F0AD00"/>
                </a:solidFill>
                <a:latin typeface="Cambria Math"/>
                <a:cs typeface="Cambria Math"/>
              </a:rPr>
              <a:t>𝑣 </a:t>
            </a:r>
            <a:r>
              <a:rPr dirty="0" sz="2400" spc="-5">
                <a:solidFill>
                  <a:srgbClr val="F0AD00"/>
                </a:solidFill>
                <a:latin typeface="Calibri"/>
                <a:cs typeface="Calibri"/>
              </a:rPr>
              <a:t>co-occuring on  </a:t>
            </a:r>
            <a:r>
              <a:rPr dirty="0" sz="2400" spc="-10">
                <a:solidFill>
                  <a:srgbClr val="F0AD00"/>
                </a:solidFill>
                <a:latin typeface="Calibri"/>
                <a:cs typeface="Calibri"/>
              </a:rPr>
              <a:t>random</a:t>
            </a:r>
            <a:r>
              <a:rPr dirty="0" sz="2400" spc="-95">
                <a:solidFill>
                  <a:srgbClr val="F0AD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0AD00"/>
                </a:solidFill>
                <a:latin typeface="Calibri"/>
                <a:cs typeface="Calibri"/>
              </a:rPr>
              <a:t>walk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0540" y="5152644"/>
            <a:ext cx="6652259" cy="137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100"/>
              </a:lnSpc>
              <a:spcBef>
                <a:spcPts val="100"/>
              </a:spcBef>
            </a:pPr>
            <a:r>
              <a:rPr dirty="0" sz="3200" spc="-5" b="1">
                <a:latin typeface="Calibri"/>
                <a:cs typeface="Calibri"/>
              </a:rPr>
              <a:t>Optimizing </a:t>
            </a:r>
            <a:r>
              <a:rPr dirty="0" sz="3200" spc="-20" b="1">
                <a:latin typeface="Calibri"/>
                <a:cs typeface="Calibri"/>
              </a:rPr>
              <a:t>random </a:t>
            </a:r>
            <a:r>
              <a:rPr dirty="0" sz="3200" spc="-15" b="1">
                <a:latin typeface="Calibri"/>
                <a:cs typeface="Calibri"/>
              </a:rPr>
              <a:t>walk </a:t>
            </a:r>
            <a:r>
              <a:rPr dirty="0" sz="3200" spc="-5" b="1">
                <a:latin typeface="Calibri"/>
                <a:cs typeface="Calibri"/>
              </a:rPr>
              <a:t>embeddings </a:t>
            </a:r>
            <a:r>
              <a:rPr dirty="0" sz="3200" b="1">
                <a:latin typeface="Calibri"/>
                <a:cs typeface="Calibri"/>
              </a:rPr>
              <a:t>=  </a:t>
            </a:r>
            <a:r>
              <a:rPr dirty="0" sz="3200" spc="-5" b="1">
                <a:latin typeface="Calibri"/>
                <a:cs typeface="Calibri"/>
              </a:rPr>
              <a:t>Finding embeddings </a:t>
            </a:r>
            <a:r>
              <a:rPr dirty="0" sz="3200" spc="-5">
                <a:latin typeface="Cambria Math"/>
                <a:cs typeface="Cambria Math"/>
              </a:rPr>
              <a:t>𝐳</a:t>
            </a:r>
            <a:r>
              <a:rPr dirty="0" baseline="-15700" sz="3450" spc="-7">
                <a:latin typeface="Cambria Math"/>
                <a:cs typeface="Cambria Math"/>
              </a:rPr>
              <a:t>𝒖 </a:t>
            </a:r>
            <a:r>
              <a:rPr dirty="0" sz="3200" spc="-15" b="1">
                <a:latin typeface="Calibri"/>
                <a:cs typeface="Calibri"/>
              </a:rPr>
              <a:t>that </a:t>
            </a:r>
            <a:r>
              <a:rPr dirty="0" sz="3200" spc="-10" b="1">
                <a:latin typeface="Calibri"/>
                <a:cs typeface="Calibri"/>
              </a:rPr>
              <a:t>minimize</a:t>
            </a:r>
            <a:r>
              <a:rPr dirty="0" sz="3200" spc="-90" b="1">
                <a:latin typeface="Calibri"/>
                <a:cs typeface="Calibri"/>
              </a:rPr>
              <a:t> </a:t>
            </a:r>
            <a:r>
              <a:rPr dirty="0" sz="3100" spc="55" b="1">
                <a:latin typeface="Bookman Old Style"/>
                <a:cs typeface="Bookman Old Style"/>
              </a:rPr>
              <a:t>L</a:t>
            </a:r>
            <a:endParaRPr sz="31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28704" y="3596026"/>
            <a:ext cx="114935" cy="343535"/>
          </a:xfrm>
          <a:custGeom>
            <a:avLst/>
            <a:gdLst/>
            <a:ahLst/>
            <a:cxnLst/>
            <a:rect l="l" t="t" r="r" b="b"/>
            <a:pathLst>
              <a:path w="114934" h="343535">
                <a:moveTo>
                  <a:pt x="68392" y="99039"/>
                </a:moveTo>
                <a:lnTo>
                  <a:pt x="80637" y="329899"/>
                </a:lnTo>
                <a:lnTo>
                  <a:pt x="94349" y="343486"/>
                </a:lnTo>
                <a:lnTo>
                  <a:pt x="101283" y="343448"/>
                </a:lnTo>
                <a:lnTo>
                  <a:pt x="107660" y="340723"/>
                </a:lnTo>
                <a:lnTo>
                  <a:pt x="112335" y="335931"/>
                </a:lnTo>
                <a:lnTo>
                  <a:pt x="114804" y="329899"/>
                </a:lnTo>
                <a:lnTo>
                  <a:pt x="114833" y="322802"/>
                </a:lnTo>
                <a:lnTo>
                  <a:pt x="68392" y="99039"/>
                </a:lnTo>
                <a:close/>
              </a:path>
              <a:path w="114934" h="343535">
                <a:moveTo>
                  <a:pt x="30002" y="0"/>
                </a:moveTo>
                <a:lnTo>
                  <a:pt x="0" y="113234"/>
                </a:lnTo>
                <a:lnTo>
                  <a:pt x="34196" y="106136"/>
                </a:lnTo>
                <a:lnTo>
                  <a:pt x="30647" y="89038"/>
                </a:lnTo>
                <a:lnTo>
                  <a:pt x="30676" y="81941"/>
                </a:lnTo>
                <a:lnTo>
                  <a:pt x="33146" y="75909"/>
                </a:lnTo>
                <a:lnTo>
                  <a:pt x="37821" y="71116"/>
                </a:lnTo>
                <a:lnTo>
                  <a:pt x="44197" y="68392"/>
                </a:lnTo>
                <a:lnTo>
                  <a:pt x="83967" y="68354"/>
                </a:lnTo>
                <a:lnTo>
                  <a:pt x="30002" y="0"/>
                </a:lnTo>
                <a:close/>
              </a:path>
              <a:path w="114934" h="343535">
                <a:moveTo>
                  <a:pt x="51131" y="68354"/>
                </a:moveTo>
                <a:lnTo>
                  <a:pt x="30647" y="89038"/>
                </a:lnTo>
                <a:lnTo>
                  <a:pt x="34196" y="106136"/>
                </a:lnTo>
                <a:lnTo>
                  <a:pt x="68392" y="99039"/>
                </a:lnTo>
                <a:lnTo>
                  <a:pt x="64843" y="81941"/>
                </a:lnTo>
                <a:lnTo>
                  <a:pt x="62118" y="75564"/>
                </a:lnTo>
                <a:lnTo>
                  <a:pt x="57327" y="70890"/>
                </a:lnTo>
                <a:lnTo>
                  <a:pt x="51131" y="68354"/>
                </a:lnTo>
                <a:close/>
              </a:path>
              <a:path w="114934" h="343535">
                <a:moveTo>
                  <a:pt x="83967" y="68354"/>
                </a:moveTo>
                <a:lnTo>
                  <a:pt x="51131" y="68354"/>
                </a:lnTo>
                <a:lnTo>
                  <a:pt x="57327" y="70890"/>
                </a:lnTo>
                <a:lnTo>
                  <a:pt x="62118" y="75564"/>
                </a:lnTo>
                <a:lnTo>
                  <a:pt x="64843" y="81941"/>
                </a:lnTo>
                <a:lnTo>
                  <a:pt x="68392" y="99039"/>
                </a:lnTo>
                <a:lnTo>
                  <a:pt x="102589" y="91941"/>
                </a:lnTo>
                <a:lnTo>
                  <a:pt x="83967" y="68354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41104" y="2472435"/>
            <a:ext cx="73787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latin typeface="Cambria Math"/>
                <a:cs typeface="Cambria Math"/>
              </a:rPr>
              <a:t>ℒ</a:t>
            </a:r>
            <a:r>
              <a:rPr dirty="0" sz="3400" spc="200">
                <a:latin typeface="Cambria Math"/>
                <a:cs typeface="Cambria Math"/>
              </a:rPr>
              <a:t> </a:t>
            </a:r>
            <a:r>
              <a:rPr dirty="0" sz="3400">
                <a:latin typeface="Cambria Math"/>
                <a:cs typeface="Cambria Math"/>
              </a:rPr>
              <a:t>=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24404" y="2209800"/>
            <a:ext cx="750570" cy="1336675"/>
          </a:xfrm>
          <a:prstGeom prst="rect">
            <a:avLst/>
          </a:prstGeom>
          <a:solidFill>
            <a:srgbClr val="60B5CC">
              <a:alpha val="38038"/>
            </a:srgbClr>
          </a:solidFill>
        </p:spPr>
        <p:txBody>
          <a:bodyPr wrap="square" lIns="0" tIns="27495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2165"/>
              </a:spcBef>
            </a:pPr>
            <a:r>
              <a:rPr dirty="0" sz="3400" spc="2400">
                <a:latin typeface="Cambria Math"/>
                <a:cs typeface="Cambria Math"/>
              </a:rPr>
              <a:t>#</a:t>
            </a:r>
            <a:endParaRPr sz="3400">
              <a:latin typeface="Cambria Math"/>
              <a:cs typeface="Cambria Math"/>
            </a:endParaRPr>
          </a:p>
          <a:p>
            <a:pPr marL="60325">
              <a:lnSpc>
                <a:spcPct val="100000"/>
              </a:lnSpc>
              <a:spcBef>
                <a:spcPts val="1135"/>
              </a:spcBef>
            </a:pPr>
            <a:r>
              <a:rPr dirty="0" sz="2500" spc="330">
                <a:latin typeface="Cambria Math"/>
                <a:cs typeface="Cambria Math"/>
              </a:rPr>
              <a:t>!∈#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10608" y="2209800"/>
            <a:ext cx="1374140" cy="1336675"/>
          </a:xfrm>
          <a:prstGeom prst="rect">
            <a:avLst/>
          </a:prstGeom>
          <a:solidFill>
            <a:srgbClr val="E66C7D">
              <a:alpha val="38038"/>
            </a:srgbClr>
          </a:solidFill>
        </p:spPr>
        <p:txBody>
          <a:bodyPr wrap="square" lIns="0" tIns="274955" rIns="0" bIns="0" rtlCol="0" vert="horz">
            <a:spAutoFit/>
          </a:bodyPr>
          <a:lstStyle/>
          <a:p>
            <a:pPr algn="ctr" marR="67310">
              <a:lnSpc>
                <a:spcPct val="100000"/>
              </a:lnSpc>
              <a:spcBef>
                <a:spcPts val="2165"/>
              </a:spcBef>
            </a:pPr>
            <a:r>
              <a:rPr dirty="0" sz="3400" spc="2400">
                <a:latin typeface="Cambria Math"/>
                <a:cs typeface="Cambria Math"/>
              </a:rPr>
              <a:t>#</a:t>
            </a:r>
            <a:endParaRPr sz="3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1135"/>
              </a:spcBef>
            </a:pPr>
            <a:r>
              <a:rPr dirty="0" sz="2500" spc="165">
                <a:latin typeface="Cambria Math"/>
                <a:cs typeface="Cambria Math"/>
              </a:rPr>
              <a:t>$∈%</a:t>
            </a:r>
            <a:r>
              <a:rPr dirty="0" baseline="-13888" sz="3000" spc="247">
                <a:latin typeface="Cambria Math"/>
                <a:cs typeface="Cambria Math"/>
              </a:rPr>
              <a:t>3</a:t>
            </a:r>
            <a:r>
              <a:rPr dirty="0" sz="2500" spc="165">
                <a:latin typeface="Cambria Math"/>
                <a:cs typeface="Cambria Math"/>
              </a:rPr>
              <a:t>(!)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00966" y="2472435"/>
            <a:ext cx="118110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latin typeface="Cambria Math"/>
                <a:cs typeface="Cambria Math"/>
              </a:rPr>
              <a:t>−</a:t>
            </a:r>
            <a:r>
              <a:rPr dirty="0" sz="3400" spc="-100">
                <a:latin typeface="Cambria Math"/>
                <a:cs typeface="Cambria Math"/>
              </a:rPr>
              <a:t> </a:t>
            </a:r>
            <a:r>
              <a:rPr dirty="0" sz="3400" spc="-5">
                <a:latin typeface="Cambria Math"/>
                <a:cs typeface="Cambria Math"/>
              </a:rPr>
              <a:t>log(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61885" y="2788655"/>
            <a:ext cx="2908300" cy="0"/>
          </a:xfrm>
          <a:custGeom>
            <a:avLst/>
            <a:gdLst/>
            <a:ahLst/>
            <a:cxnLst/>
            <a:rect l="l" t="t" r="r" b="b"/>
            <a:pathLst>
              <a:path w="2908300" h="0">
                <a:moveTo>
                  <a:pt x="0" y="0"/>
                </a:moveTo>
                <a:lnTo>
                  <a:pt x="29083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608301" y="2345943"/>
            <a:ext cx="65786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820" algn="l"/>
              </a:tabLst>
            </a:pPr>
            <a:r>
              <a:rPr dirty="0" sz="2500" spc="900">
                <a:latin typeface="Cambria Math"/>
                <a:cs typeface="Cambria Math"/>
              </a:rPr>
              <a:t>!</a:t>
            </a:r>
            <a:r>
              <a:rPr dirty="0" sz="2500" spc="900">
                <a:latin typeface="Cambria Math"/>
                <a:cs typeface="Cambria Math"/>
              </a:rPr>
              <a:t>	</a:t>
            </a:r>
            <a:r>
              <a:rPr dirty="0" sz="2500" spc="140">
                <a:latin typeface="Cambria Math"/>
                <a:cs typeface="Cambria Math"/>
              </a:rPr>
              <a:t>$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63726" y="2143251"/>
            <a:ext cx="190563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3230" algn="l"/>
              </a:tabLst>
            </a:pPr>
            <a:r>
              <a:rPr dirty="0" sz="3400" spc="-50">
                <a:latin typeface="Cambria Math"/>
                <a:cs typeface="Cambria Math"/>
              </a:rPr>
              <a:t>e</a:t>
            </a:r>
            <a:r>
              <a:rPr dirty="0" sz="3400" spc="-10">
                <a:latin typeface="Cambria Math"/>
                <a:cs typeface="Cambria Math"/>
              </a:rPr>
              <a:t>x</a:t>
            </a:r>
            <a:r>
              <a:rPr dirty="0" sz="3400" spc="-5">
                <a:latin typeface="Cambria Math"/>
                <a:cs typeface="Cambria Math"/>
              </a:rPr>
              <a:t>p</a:t>
            </a:r>
            <a:r>
              <a:rPr dirty="0" sz="3400">
                <a:latin typeface="Cambria Math"/>
                <a:cs typeface="Cambria Math"/>
              </a:rPr>
              <a:t>(</a:t>
            </a:r>
            <a:r>
              <a:rPr dirty="0" sz="3400" spc="125">
                <a:latin typeface="Cambria Math"/>
                <a:cs typeface="Cambria Math"/>
              </a:rPr>
              <a:t>𝐳</a:t>
            </a:r>
            <a:r>
              <a:rPr dirty="0" baseline="27777" sz="3750" spc="1012">
                <a:latin typeface="Cambria Math"/>
                <a:cs typeface="Cambria Math"/>
              </a:rPr>
              <a:t>(</a:t>
            </a:r>
            <a:r>
              <a:rPr dirty="0" sz="3400">
                <a:latin typeface="Cambria Math"/>
                <a:cs typeface="Cambria Math"/>
              </a:rPr>
              <a:t>𝐳	)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51916" y="2771139"/>
            <a:ext cx="33147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latin typeface="Cambria Math"/>
                <a:cs typeface="Cambria Math"/>
              </a:rPr>
              <a:t>∑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57859" y="3013455"/>
            <a:ext cx="6394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610">
                <a:latin typeface="Cambria Math"/>
                <a:cs typeface="Cambria Math"/>
              </a:rPr>
              <a:t>)</a:t>
            </a:r>
            <a:r>
              <a:rPr dirty="0" sz="2500" spc="-10">
                <a:latin typeface="Cambria Math"/>
                <a:cs typeface="Cambria Math"/>
              </a:rPr>
              <a:t>∈</a:t>
            </a:r>
            <a:r>
              <a:rPr dirty="0" sz="2500" spc="75">
                <a:latin typeface="Cambria Math"/>
                <a:cs typeface="Cambria Math"/>
              </a:rPr>
              <a:t>#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95727" y="2992119"/>
            <a:ext cx="2317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900">
                <a:latin typeface="Cambria Math"/>
                <a:cs typeface="Cambria Math"/>
              </a:rPr>
              <a:t>!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51152" y="2789427"/>
            <a:ext cx="1929764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155">
                <a:latin typeface="Cambria Math"/>
                <a:cs typeface="Cambria Math"/>
              </a:rPr>
              <a:t>exp(𝐳</a:t>
            </a:r>
            <a:r>
              <a:rPr dirty="0" baseline="27777" sz="3750" spc="232">
                <a:latin typeface="Cambria Math"/>
                <a:cs typeface="Cambria Math"/>
              </a:rPr>
              <a:t>(</a:t>
            </a:r>
            <a:r>
              <a:rPr dirty="0" sz="3400" spc="155">
                <a:latin typeface="Cambria Math"/>
                <a:cs typeface="Cambria Math"/>
              </a:rPr>
              <a:t>𝐳</a:t>
            </a:r>
            <a:r>
              <a:rPr dirty="0" baseline="-14444" sz="3750" spc="232">
                <a:latin typeface="Cambria Math"/>
                <a:cs typeface="Cambria Math"/>
              </a:rPr>
              <a:t>)</a:t>
            </a:r>
            <a:r>
              <a:rPr dirty="0" sz="3400" spc="155">
                <a:latin typeface="Cambria Math"/>
                <a:cs typeface="Cambria Math"/>
              </a:rPr>
              <a:t>)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55517" y="2472435"/>
            <a:ext cx="205104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latin typeface="Cambria Math"/>
                <a:cs typeface="Cambria Math"/>
              </a:rPr>
              <a:t>)</a:t>
            </a:r>
            <a:endParaRPr sz="3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313943"/>
            <a:ext cx="7589520" cy="621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24" y="1562100"/>
            <a:ext cx="65868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1">
                <a:solidFill>
                  <a:srgbClr val="60B5CC"/>
                </a:solidFill>
                <a:latin typeface="Calibri"/>
                <a:cs typeface="Calibri"/>
              </a:rPr>
              <a:t>But doing this </a:t>
            </a:r>
            <a:r>
              <a:rPr dirty="0" spc="-10" b="1">
                <a:solidFill>
                  <a:srgbClr val="60B5CC"/>
                </a:solidFill>
                <a:latin typeface="Calibri"/>
                <a:cs typeface="Calibri"/>
              </a:rPr>
              <a:t>naively </a:t>
            </a:r>
            <a:r>
              <a:rPr dirty="0" b="1">
                <a:solidFill>
                  <a:srgbClr val="60B5CC"/>
                </a:solidFill>
                <a:latin typeface="Calibri"/>
                <a:cs typeface="Calibri"/>
              </a:rPr>
              <a:t>is </a:t>
            </a:r>
            <a:r>
              <a:rPr dirty="0" spc="-10" b="1">
                <a:solidFill>
                  <a:srgbClr val="60B5CC"/>
                </a:solidFill>
                <a:latin typeface="Calibri"/>
                <a:cs typeface="Calibri"/>
              </a:rPr>
              <a:t>too</a:t>
            </a:r>
            <a:r>
              <a:rPr dirty="0" spc="4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pc="-15" b="1">
                <a:solidFill>
                  <a:srgbClr val="60B5CC"/>
                </a:solidFill>
                <a:latin typeface="Calibri"/>
                <a:cs typeface="Calibri"/>
              </a:rPr>
              <a:t>expensive!</a:t>
            </a:r>
          </a:p>
        </p:txBody>
      </p:sp>
      <p:sp>
        <p:nvSpPr>
          <p:cNvPr id="4" name="object 4"/>
          <p:cNvSpPr/>
          <p:nvPr/>
        </p:nvSpPr>
        <p:spPr>
          <a:xfrm>
            <a:off x="2028037" y="3898803"/>
            <a:ext cx="1426845" cy="906780"/>
          </a:xfrm>
          <a:custGeom>
            <a:avLst/>
            <a:gdLst/>
            <a:ahLst/>
            <a:cxnLst/>
            <a:rect l="l" t="t" r="r" b="b"/>
            <a:pathLst>
              <a:path w="1426845" h="906779">
                <a:moveTo>
                  <a:pt x="97934" y="41126"/>
                </a:moveTo>
                <a:lnTo>
                  <a:pt x="79302" y="70666"/>
                </a:lnTo>
                <a:lnTo>
                  <a:pt x="1400115" y="903758"/>
                </a:lnTo>
                <a:lnTo>
                  <a:pt x="1406596" y="906224"/>
                </a:lnTo>
                <a:lnTo>
                  <a:pt x="1413287" y="906020"/>
                </a:lnTo>
                <a:lnTo>
                  <a:pt x="1419414" y="903322"/>
                </a:lnTo>
                <a:lnTo>
                  <a:pt x="1424200" y="898305"/>
                </a:lnTo>
                <a:lnTo>
                  <a:pt x="1426666" y="891824"/>
                </a:lnTo>
                <a:lnTo>
                  <a:pt x="1426462" y="885132"/>
                </a:lnTo>
                <a:lnTo>
                  <a:pt x="1423764" y="879006"/>
                </a:lnTo>
                <a:lnTo>
                  <a:pt x="1418747" y="874219"/>
                </a:lnTo>
                <a:lnTo>
                  <a:pt x="97934" y="41126"/>
                </a:lnTo>
                <a:close/>
              </a:path>
              <a:path w="1426845" h="906779">
                <a:moveTo>
                  <a:pt x="0" y="0"/>
                </a:moveTo>
                <a:lnTo>
                  <a:pt x="60670" y="100206"/>
                </a:lnTo>
                <a:lnTo>
                  <a:pt x="79302" y="70666"/>
                </a:lnTo>
                <a:lnTo>
                  <a:pt x="64533" y="61351"/>
                </a:lnTo>
                <a:lnTo>
                  <a:pt x="59516" y="56564"/>
                </a:lnTo>
                <a:lnTo>
                  <a:pt x="56818" y="50438"/>
                </a:lnTo>
                <a:lnTo>
                  <a:pt x="56614" y="43746"/>
                </a:lnTo>
                <a:lnTo>
                  <a:pt x="59080" y="37265"/>
                </a:lnTo>
                <a:lnTo>
                  <a:pt x="63867" y="32248"/>
                </a:lnTo>
                <a:lnTo>
                  <a:pt x="69993" y="29550"/>
                </a:lnTo>
                <a:lnTo>
                  <a:pt x="76684" y="29345"/>
                </a:lnTo>
                <a:lnTo>
                  <a:pt x="105365" y="29345"/>
                </a:lnTo>
                <a:lnTo>
                  <a:pt x="116566" y="11586"/>
                </a:lnTo>
                <a:lnTo>
                  <a:pt x="0" y="0"/>
                </a:lnTo>
                <a:close/>
              </a:path>
              <a:path w="1426845" h="906779">
                <a:moveTo>
                  <a:pt x="76684" y="29345"/>
                </a:moveTo>
                <a:lnTo>
                  <a:pt x="69993" y="29550"/>
                </a:lnTo>
                <a:lnTo>
                  <a:pt x="63867" y="32248"/>
                </a:lnTo>
                <a:lnTo>
                  <a:pt x="59080" y="37265"/>
                </a:lnTo>
                <a:lnTo>
                  <a:pt x="56614" y="43746"/>
                </a:lnTo>
                <a:lnTo>
                  <a:pt x="56818" y="50438"/>
                </a:lnTo>
                <a:lnTo>
                  <a:pt x="59516" y="56564"/>
                </a:lnTo>
                <a:lnTo>
                  <a:pt x="64533" y="61351"/>
                </a:lnTo>
                <a:lnTo>
                  <a:pt x="79302" y="70666"/>
                </a:lnTo>
                <a:lnTo>
                  <a:pt x="97934" y="41126"/>
                </a:lnTo>
                <a:lnTo>
                  <a:pt x="83165" y="31810"/>
                </a:lnTo>
                <a:lnTo>
                  <a:pt x="76684" y="29345"/>
                </a:lnTo>
                <a:close/>
              </a:path>
              <a:path w="1426845" h="906779">
                <a:moveTo>
                  <a:pt x="105365" y="29345"/>
                </a:moveTo>
                <a:lnTo>
                  <a:pt x="76684" y="29345"/>
                </a:lnTo>
                <a:lnTo>
                  <a:pt x="83165" y="31810"/>
                </a:lnTo>
                <a:lnTo>
                  <a:pt x="97934" y="41126"/>
                </a:lnTo>
                <a:lnTo>
                  <a:pt x="105365" y="29345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44466" y="4816855"/>
            <a:ext cx="4015104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3215"/>
              </a:lnSpc>
              <a:spcBef>
                <a:spcPts val="100"/>
              </a:spcBef>
            </a:pPr>
            <a:r>
              <a:rPr dirty="0" sz="2700" spc="-30">
                <a:solidFill>
                  <a:srgbClr val="5A6378"/>
                </a:solidFill>
                <a:latin typeface="Calibri"/>
                <a:cs typeface="Calibri"/>
              </a:rPr>
              <a:t>Nested </a:t>
            </a:r>
            <a:r>
              <a:rPr dirty="0" sz="2700" spc="-15">
                <a:solidFill>
                  <a:srgbClr val="5A6378"/>
                </a:solidFill>
                <a:latin typeface="Calibri"/>
                <a:cs typeface="Calibri"/>
              </a:rPr>
              <a:t>sum </a:t>
            </a:r>
            <a:r>
              <a:rPr dirty="0" sz="2700" spc="-25">
                <a:solidFill>
                  <a:srgbClr val="5A6378"/>
                </a:solidFill>
                <a:latin typeface="Calibri"/>
                <a:cs typeface="Calibri"/>
              </a:rPr>
              <a:t>over </a:t>
            </a:r>
            <a:r>
              <a:rPr dirty="0" sz="2700" spc="-15">
                <a:solidFill>
                  <a:srgbClr val="5A6378"/>
                </a:solidFill>
                <a:latin typeface="Calibri"/>
                <a:cs typeface="Calibri"/>
              </a:rPr>
              <a:t>nodes</a:t>
            </a:r>
            <a:r>
              <a:rPr dirty="0" sz="2700" spc="-135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5A6378"/>
                </a:solidFill>
                <a:latin typeface="Calibri"/>
                <a:cs typeface="Calibri"/>
              </a:rPr>
              <a:t>gives</a:t>
            </a:r>
            <a:endParaRPr sz="2700">
              <a:latin typeface="Calibri"/>
              <a:cs typeface="Calibri"/>
            </a:endParaRPr>
          </a:p>
          <a:p>
            <a:pPr algn="ctr" marL="635">
              <a:lnSpc>
                <a:spcPts val="3215"/>
              </a:lnSpc>
            </a:pPr>
            <a:r>
              <a:rPr dirty="0" sz="2700" spc="-15">
                <a:solidFill>
                  <a:srgbClr val="5A6378"/>
                </a:solidFill>
                <a:latin typeface="Cambria Math"/>
                <a:cs typeface="Cambria Math"/>
              </a:rPr>
              <a:t>O(|V|</a:t>
            </a:r>
            <a:r>
              <a:rPr dirty="0" baseline="24691" sz="2700" spc="-22" i="1">
                <a:solidFill>
                  <a:srgbClr val="5A6378"/>
                </a:solidFill>
                <a:latin typeface="Cambria Math"/>
                <a:cs typeface="Cambria Math"/>
              </a:rPr>
              <a:t>2</a:t>
            </a:r>
            <a:r>
              <a:rPr dirty="0" sz="2700" spc="-15">
                <a:solidFill>
                  <a:srgbClr val="5A6378"/>
                </a:solidFill>
                <a:latin typeface="Cambria Math"/>
                <a:cs typeface="Cambria Math"/>
              </a:rPr>
              <a:t>)</a:t>
            </a:r>
            <a:r>
              <a:rPr dirty="0" sz="2700" spc="-65">
                <a:solidFill>
                  <a:srgbClr val="5A6378"/>
                </a:solidFill>
                <a:latin typeface="Cambria Math"/>
                <a:cs typeface="Cambria Math"/>
              </a:rPr>
              <a:t> </a:t>
            </a:r>
            <a:r>
              <a:rPr dirty="0" sz="2700" spc="-25">
                <a:solidFill>
                  <a:srgbClr val="5A6378"/>
                </a:solidFill>
                <a:latin typeface="Calibri"/>
                <a:cs typeface="Calibri"/>
              </a:rPr>
              <a:t>complexity!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33891" y="3809460"/>
            <a:ext cx="1732280" cy="970280"/>
          </a:xfrm>
          <a:custGeom>
            <a:avLst/>
            <a:gdLst/>
            <a:ahLst/>
            <a:cxnLst/>
            <a:rect l="l" t="t" r="r" b="b"/>
            <a:pathLst>
              <a:path w="1732279" h="970279">
                <a:moveTo>
                  <a:pt x="1631702" y="35632"/>
                </a:moveTo>
                <a:lnTo>
                  <a:pt x="8882" y="937497"/>
                </a:lnTo>
                <a:lnTo>
                  <a:pt x="3608" y="941999"/>
                </a:lnTo>
                <a:lnTo>
                  <a:pt x="574" y="947966"/>
                </a:lnTo>
                <a:lnTo>
                  <a:pt x="0" y="954636"/>
                </a:lnTo>
                <a:lnTo>
                  <a:pt x="2102" y="961243"/>
                </a:lnTo>
                <a:lnTo>
                  <a:pt x="6603" y="966518"/>
                </a:lnTo>
                <a:lnTo>
                  <a:pt x="12571" y="969553"/>
                </a:lnTo>
                <a:lnTo>
                  <a:pt x="19240" y="970128"/>
                </a:lnTo>
                <a:lnTo>
                  <a:pt x="25848" y="968025"/>
                </a:lnTo>
                <a:lnTo>
                  <a:pt x="1648667" y="66159"/>
                </a:lnTo>
                <a:lnTo>
                  <a:pt x="1631702" y="35632"/>
                </a:lnTo>
                <a:close/>
              </a:path>
              <a:path w="1732279" h="970279">
                <a:moveTo>
                  <a:pt x="1714635" y="25046"/>
                </a:moveTo>
                <a:lnTo>
                  <a:pt x="1653576" y="25046"/>
                </a:lnTo>
                <a:lnTo>
                  <a:pt x="1660245" y="25620"/>
                </a:lnTo>
                <a:lnTo>
                  <a:pt x="1666213" y="28654"/>
                </a:lnTo>
                <a:lnTo>
                  <a:pt x="1670714" y="33929"/>
                </a:lnTo>
                <a:lnTo>
                  <a:pt x="1672817" y="40537"/>
                </a:lnTo>
                <a:lnTo>
                  <a:pt x="1672242" y="47207"/>
                </a:lnTo>
                <a:lnTo>
                  <a:pt x="1669207" y="53174"/>
                </a:lnTo>
                <a:lnTo>
                  <a:pt x="1663932" y="57675"/>
                </a:lnTo>
                <a:lnTo>
                  <a:pt x="1648667" y="66159"/>
                </a:lnTo>
                <a:lnTo>
                  <a:pt x="1665633" y="96687"/>
                </a:lnTo>
                <a:lnTo>
                  <a:pt x="1714635" y="25046"/>
                </a:lnTo>
                <a:close/>
              </a:path>
              <a:path w="1732279" h="970279">
                <a:moveTo>
                  <a:pt x="1653576" y="25046"/>
                </a:moveTo>
                <a:lnTo>
                  <a:pt x="1646968" y="27148"/>
                </a:lnTo>
                <a:lnTo>
                  <a:pt x="1631702" y="35632"/>
                </a:lnTo>
                <a:lnTo>
                  <a:pt x="1648667" y="66159"/>
                </a:lnTo>
                <a:lnTo>
                  <a:pt x="1663932" y="57675"/>
                </a:lnTo>
                <a:lnTo>
                  <a:pt x="1669207" y="53174"/>
                </a:lnTo>
                <a:lnTo>
                  <a:pt x="1672242" y="47207"/>
                </a:lnTo>
                <a:lnTo>
                  <a:pt x="1672817" y="40537"/>
                </a:lnTo>
                <a:lnTo>
                  <a:pt x="1670714" y="33929"/>
                </a:lnTo>
                <a:lnTo>
                  <a:pt x="1666213" y="28654"/>
                </a:lnTo>
                <a:lnTo>
                  <a:pt x="1660245" y="25620"/>
                </a:lnTo>
                <a:lnTo>
                  <a:pt x="1653576" y="25046"/>
                </a:lnTo>
                <a:close/>
              </a:path>
              <a:path w="1732279" h="970279">
                <a:moveTo>
                  <a:pt x="1731767" y="0"/>
                </a:moveTo>
                <a:lnTo>
                  <a:pt x="1614736" y="5104"/>
                </a:lnTo>
                <a:lnTo>
                  <a:pt x="1631702" y="35632"/>
                </a:lnTo>
                <a:lnTo>
                  <a:pt x="1646968" y="27148"/>
                </a:lnTo>
                <a:lnTo>
                  <a:pt x="1653576" y="25046"/>
                </a:lnTo>
                <a:lnTo>
                  <a:pt x="1714635" y="25046"/>
                </a:lnTo>
                <a:lnTo>
                  <a:pt x="1731767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53154" y="2571191"/>
            <a:ext cx="2915285" cy="1266825"/>
          </a:xfrm>
          <a:prstGeom prst="rect">
            <a:avLst/>
          </a:prstGeom>
        </p:spPr>
        <p:txBody>
          <a:bodyPr wrap="square" lIns="0" tIns="209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0"/>
              </a:spcBef>
              <a:tabLst>
                <a:tab pos="868044" algn="l"/>
                <a:tab pos="1932305" algn="l"/>
              </a:tabLst>
            </a:pPr>
            <a:r>
              <a:rPr dirty="0" sz="3400">
                <a:latin typeface="Cambria Math"/>
                <a:cs typeface="Cambria Math"/>
              </a:rPr>
              <a:t>ℒ</a:t>
            </a:r>
            <a:r>
              <a:rPr dirty="0" sz="3400" spc="300">
                <a:latin typeface="Cambria Math"/>
                <a:cs typeface="Cambria Math"/>
              </a:rPr>
              <a:t> </a:t>
            </a:r>
            <a:r>
              <a:rPr dirty="0" sz="3400">
                <a:latin typeface="Cambria Math"/>
                <a:cs typeface="Cambria Math"/>
              </a:rPr>
              <a:t>=	</a:t>
            </a:r>
            <a:r>
              <a:rPr dirty="0" sz="3400" spc="2400">
                <a:latin typeface="Cambria Math"/>
                <a:cs typeface="Cambria Math"/>
              </a:rPr>
              <a:t>#	#</a:t>
            </a:r>
            <a:endParaRPr sz="3400">
              <a:latin typeface="Cambria Math"/>
              <a:cs typeface="Cambria Math"/>
            </a:endParaRPr>
          </a:p>
          <a:p>
            <a:pPr marL="843915">
              <a:lnSpc>
                <a:spcPct val="100000"/>
              </a:lnSpc>
              <a:spcBef>
                <a:spcPts val="1140"/>
              </a:spcBef>
              <a:tabLst>
                <a:tab pos="1607185" algn="l"/>
              </a:tabLst>
            </a:pPr>
            <a:r>
              <a:rPr dirty="0" sz="2500" spc="330">
                <a:latin typeface="Cambria Math"/>
                <a:cs typeface="Cambria Math"/>
              </a:rPr>
              <a:t>!∈#	</a:t>
            </a:r>
            <a:r>
              <a:rPr dirty="0" sz="2500" spc="165">
                <a:latin typeface="Cambria Math"/>
                <a:cs typeface="Cambria Math"/>
              </a:rPr>
              <a:t>$∈%</a:t>
            </a:r>
            <a:r>
              <a:rPr dirty="0" baseline="-15277" sz="3000" spc="247">
                <a:latin typeface="Cambria Math"/>
                <a:cs typeface="Cambria Math"/>
              </a:rPr>
              <a:t>3</a:t>
            </a:r>
            <a:r>
              <a:rPr dirty="0" sz="2500" spc="165">
                <a:latin typeface="Cambria Math"/>
                <a:cs typeface="Cambria Math"/>
              </a:rPr>
              <a:t>(!)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80526" y="2441955"/>
            <a:ext cx="190563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3230" algn="l"/>
              </a:tabLst>
            </a:pPr>
            <a:r>
              <a:rPr dirty="0" sz="3400" spc="-50">
                <a:latin typeface="Cambria Math"/>
                <a:cs typeface="Cambria Math"/>
              </a:rPr>
              <a:t>e</a:t>
            </a:r>
            <a:r>
              <a:rPr dirty="0" sz="3400" spc="-10">
                <a:latin typeface="Cambria Math"/>
                <a:cs typeface="Cambria Math"/>
              </a:rPr>
              <a:t>x</a:t>
            </a:r>
            <a:r>
              <a:rPr dirty="0" sz="3400" spc="-5">
                <a:latin typeface="Cambria Math"/>
                <a:cs typeface="Cambria Math"/>
              </a:rPr>
              <a:t>p</a:t>
            </a:r>
            <a:r>
              <a:rPr dirty="0" sz="3400">
                <a:latin typeface="Cambria Math"/>
                <a:cs typeface="Cambria Math"/>
              </a:rPr>
              <a:t>(</a:t>
            </a:r>
            <a:r>
              <a:rPr dirty="0" sz="3400" spc="125">
                <a:latin typeface="Cambria Math"/>
                <a:cs typeface="Cambria Math"/>
              </a:rPr>
              <a:t>𝐳</a:t>
            </a:r>
            <a:r>
              <a:rPr dirty="0" baseline="27777" sz="3750" spc="1012">
                <a:latin typeface="Cambria Math"/>
                <a:cs typeface="Cambria Math"/>
              </a:rPr>
              <a:t>(</a:t>
            </a:r>
            <a:r>
              <a:rPr dirty="0" sz="3400">
                <a:latin typeface="Cambria Math"/>
                <a:cs typeface="Cambria Math"/>
              </a:rPr>
              <a:t>𝐳	)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8716" y="3066795"/>
            <a:ext cx="33147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latin typeface="Cambria Math"/>
                <a:cs typeface="Cambria Math"/>
              </a:rPr>
              <a:t>∑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74659" y="3309111"/>
            <a:ext cx="6394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610">
                <a:latin typeface="Cambria Math"/>
                <a:cs typeface="Cambria Math"/>
              </a:rPr>
              <a:t>)</a:t>
            </a:r>
            <a:r>
              <a:rPr dirty="0" sz="2500" spc="-10">
                <a:latin typeface="Cambria Math"/>
                <a:cs typeface="Cambria Math"/>
              </a:rPr>
              <a:t>∈</a:t>
            </a:r>
            <a:r>
              <a:rPr dirty="0" sz="2500" spc="75">
                <a:latin typeface="Cambria Math"/>
                <a:cs typeface="Cambria Math"/>
              </a:rPr>
              <a:t>#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2527" y="3287776"/>
            <a:ext cx="684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820" algn="l"/>
              </a:tabLst>
            </a:pPr>
            <a:r>
              <a:rPr dirty="0" sz="2500" spc="900">
                <a:latin typeface="Cambria Math"/>
                <a:cs typeface="Cambria Math"/>
              </a:rPr>
              <a:t>!</a:t>
            </a:r>
            <a:r>
              <a:rPr dirty="0" sz="2500" spc="900">
                <a:latin typeface="Cambria Math"/>
                <a:cs typeface="Cambria Math"/>
              </a:rPr>
              <a:t>	</a:t>
            </a:r>
            <a:r>
              <a:rPr dirty="0" sz="2500" spc="580">
                <a:latin typeface="Cambria Math"/>
                <a:cs typeface="Cambria Math"/>
              </a:rPr>
              <a:t>)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67952" y="3085083"/>
            <a:ext cx="1929764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7360" algn="l"/>
              </a:tabLst>
            </a:pPr>
            <a:r>
              <a:rPr dirty="0" sz="3400" spc="-50">
                <a:latin typeface="Cambria Math"/>
                <a:cs typeface="Cambria Math"/>
              </a:rPr>
              <a:t>e</a:t>
            </a:r>
            <a:r>
              <a:rPr dirty="0" sz="3400" spc="-10">
                <a:latin typeface="Cambria Math"/>
                <a:cs typeface="Cambria Math"/>
              </a:rPr>
              <a:t>x</a:t>
            </a:r>
            <a:r>
              <a:rPr dirty="0" sz="3400" spc="-5">
                <a:latin typeface="Cambria Math"/>
                <a:cs typeface="Cambria Math"/>
              </a:rPr>
              <a:t>p</a:t>
            </a:r>
            <a:r>
              <a:rPr dirty="0" sz="3400">
                <a:latin typeface="Cambria Math"/>
                <a:cs typeface="Cambria Math"/>
              </a:rPr>
              <a:t>(</a:t>
            </a:r>
            <a:r>
              <a:rPr dirty="0" sz="3400" spc="125">
                <a:latin typeface="Cambria Math"/>
                <a:cs typeface="Cambria Math"/>
              </a:rPr>
              <a:t>𝐳</a:t>
            </a:r>
            <a:r>
              <a:rPr dirty="0" baseline="27777" sz="3750" spc="1012">
                <a:latin typeface="Cambria Math"/>
                <a:cs typeface="Cambria Math"/>
              </a:rPr>
              <a:t>(</a:t>
            </a:r>
            <a:r>
              <a:rPr dirty="0" sz="3400">
                <a:latin typeface="Cambria Math"/>
                <a:cs typeface="Cambria Math"/>
              </a:rPr>
              <a:t>𝐳	)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13016" y="2768091"/>
            <a:ext cx="42640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4150" algn="l"/>
                <a:tab pos="3176905" algn="l"/>
                <a:tab pos="4070350" algn="l"/>
              </a:tabLst>
            </a:pPr>
            <a:r>
              <a:rPr dirty="0" sz="3400" spc="-5">
                <a:latin typeface="Cambria Math"/>
                <a:cs typeface="Cambria Math"/>
              </a:rPr>
              <a:t>−</a:t>
            </a:r>
            <a:r>
              <a:rPr dirty="0" sz="3400">
                <a:latin typeface="Cambria Math"/>
                <a:cs typeface="Cambria Math"/>
              </a:rPr>
              <a:t>l</a:t>
            </a:r>
            <a:r>
              <a:rPr dirty="0" sz="3400" spc="-10">
                <a:latin typeface="Cambria Math"/>
                <a:cs typeface="Cambria Math"/>
              </a:rPr>
              <a:t>o</a:t>
            </a:r>
            <a:r>
              <a:rPr dirty="0" sz="3400" spc="-5">
                <a:latin typeface="Cambria Math"/>
                <a:cs typeface="Cambria Math"/>
              </a:rPr>
              <a:t>g</a:t>
            </a:r>
            <a:r>
              <a:rPr dirty="0" sz="3400">
                <a:latin typeface="Cambria Math"/>
                <a:cs typeface="Cambria Math"/>
              </a:rPr>
              <a:t>(</a:t>
            </a:r>
            <a:r>
              <a:rPr dirty="0" sz="3400" spc="-45">
                <a:latin typeface="Cambria Math"/>
                <a:cs typeface="Cambria Math"/>
              </a:rPr>
              <a:t> </a:t>
            </a:r>
            <a:r>
              <a:rPr dirty="0" baseline="41111" sz="3750" u="heavy">
                <a:latin typeface="Times New Roman"/>
                <a:cs typeface="Times New Roman"/>
              </a:rPr>
              <a:t> 	</a:t>
            </a:r>
            <a:r>
              <a:rPr dirty="0" baseline="41111" sz="3750" spc="1350" u="heavy">
                <a:latin typeface="Cambria Math"/>
                <a:cs typeface="Cambria Math"/>
              </a:rPr>
              <a:t>!</a:t>
            </a:r>
            <a:r>
              <a:rPr dirty="0" baseline="41111" sz="3750" u="heavy">
                <a:latin typeface="Cambria Math"/>
                <a:cs typeface="Cambria Math"/>
              </a:rPr>
              <a:t>	</a:t>
            </a:r>
            <a:r>
              <a:rPr dirty="0" baseline="41111" sz="3750" spc="209" u="heavy">
                <a:latin typeface="Cambria Math"/>
                <a:cs typeface="Cambria Math"/>
              </a:rPr>
              <a:t>$</a:t>
            </a:r>
            <a:r>
              <a:rPr dirty="0" baseline="41111" sz="3750" u="heavy">
                <a:latin typeface="Cambria Math"/>
                <a:cs typeface="Cambria Math"/>
              </a:rPr>
              <a:t>	</a:t>
            </a:r>
            <a:r>
              <a:rPr dirty="0" sz="3400">
                <a:latin typeface="Cambria Math"/>
                <a:cs typeface="Cambria Math"/>
              </a:rPr>
              <a:t>)</a:t>
            </a:r>
            <a:endParaRPr sz="3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313943"/>
            <a:ext cx="7589520" cy="621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97" y="1562100"/>
            <a:ext cx="65868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1">
                <a:solidFill>
                  <a:srgbClr val="60B5CC"/>
                </a:solidFill>
                <a:latin typeface="Calibri"/>
                <a:cs typeface="Calibri"/>
              </a:rPr>
              <a:t>But doing this </a:t>
            </a:r>
            <a:r>
              <a:rPr dirty="0" spc="-10" b="1">
                <a:solidFill>
                  <a:srgbClr val="60B5CC"/>
                </a:solidFill>
                <a:latin typeface="Calibri"/>
                <a:cs typeface="Calibri"/>
              </a:rPr>
              <a:t>naively </a:t>
            </a:r>
            <a:r>
              <a:rPr dirty="0" b="1">
                <a:solidFill>
                  <a:srgbClr val="60B5CC"/>
                </a:solidFill>
                <a:latin typeface="Calibri"/>
                <a:cs typeface="Calibri"/>
              </a:rPr>
              <a:t>is </a:t>
            </a:r>
            <a:r>
              <a:rPr dirty="0" spc="-10" b="1">
                <a:solidFill>
                  <a:srgbClr val="60B5CC"/>
                </a:solidFill>
                <a:latin typeface="Calibri"/>
                <a:cs typeface="Calibri"/>
              </a:rPr>
              <a:t>too</a:t>
            </a:r>
            <a:r>
              <a:rPr dirty="0" spc="4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pc="-15" b="1">
                <a:solidFill>
                  <a:srgbClr val="60B5CC"/>
                </a:solidFill>
                <a:latin typeface="Calibri"/>
                <a:cs typeface="Calibri"/>
              </a:rPr>
              <a:t>expensive!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7797" y="4329684"/>
            <a:ext cx="7367905" cy="99504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z="3200" spc="-5" b="1">
                <a:solidFill>
                  <a:srgbClr val="F0AD00"/>
                </a:solidFill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F0AD00"/>
                </a:solidFill>
                <a:latin typeface="Calibri"/>
                <a:cs typeface="Calibri"/>
              </a:rPr>
              <a:t>normalization </a:t>
            </a:r>
            <a:r>
              <a:rPr dirty="0" sz="3200" spc="-15" b="1">
                <a:solidFill>
                  <a:srgbClr val="F0AD00"/>
                </a:solidFill>
                <a:latin typeface="Calibri"/>
                <a:cs typeface="Calibri"/>
              </a:rPr>
              <a:t>term from </a:t>
            </a:r>
            <a:r>
              <a:rPr dirty="0" sz="3200" spc="-5" b="1">
                <a:solidFill>
                  <a:srgbClr val="F0AD00"/>
                </a:solidFill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F0AD00"/>
                </a:solidFill>
                <a:latin typeface="Calibri"/>
                <a:cs typeface="Calibri"/>
              </a:rPr>
              <a:t>softmax </a:t>
            </a:r>
            <a:r>
              <a:rPr dirty="0" sz="3200" b="1">
                <a:solidFill>
                  <a:srgbClr val="F0AD00"/>
                </a:solidFill>
                <a:latin typeface="Calibri"/>
                <a:cs typeface="Calibri"/>
              </a:rPr>
              <a:t>is  </a:t>
            </a:r>
            <a:r>
              <a:rPr dirty="0" sz="3200" spc="-5" b="1">
                <a:solidFill>
                  <a:srgbClr val="F0AD00"/>
                </a:solidFill>
                <a:latin typeface="Calibri"/>
                <a:cs typeface="Calibri"/>
              </a:rPr>
              <a:t>the culprit… </a:t>
            </a:r>
            <a:r>
              <a:rPr dirty="0" sz="3200" spc="-15" b="1">
                <a:solidFill>
                  <a:srgbClr val="F0AD00"/>
                </a:solidFill>
                <a:latin typeface="Calibri"/>
                <a:cs typeface="Calibri"/>
              </a:rPr>
              <a:t>can we </a:t>
            </a:r>
            <a:r>
              <a:rPr dirty="0" sz="3200" spc="-20" b="1">
                <a:solidFill>
                  <a:srgbClr val="F0AD00"/>
                </a:solidFill>
                <a:latin typeface="Calibri"/>
                <a:cs typeface="Calibri"/>
              </a:rPr>
              <a:t>approximate</a:t>
            </a:r>
            <a:r>
              <a:rPr dirty="0" sz="3200" spc="-10" b="1">
                <a:solidFill>
                  <a:srgbClr val="F0AD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F0AD00"/>
                </a:solidFill>
                <a:latin typeface="Calibri"/>
                <a:cs typeface="Calibri"/>
              </a:rPr>
              <a:t>it?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06350" y="3072028"/>
            <a:ext cx="2924175" cy="575310"/>
          </a:xfrm>
          <a:custGeom>
            <a:avLst/>
            <a:gdLst/>
            <a:ahLst/>
            <a:cxnLst/>
            <a:rect l="l" t="t" r="r" b="b"/>
            <a:pathLst>
              <a:path w="2924175" h="575310">
                <a:moveTo>
                  <a:pt x="0" y="0"/>
                </a:moveTo>
                <a:lnTo>
                  <a:pt x="2923856" y="0"/>
                </a:lnTo>
                <a:lnTo>
                  <a:pt x="2923856" y="575061"/>
                </a:lnTo>
                <a:lnTo>
                  <a:pt x="0" y="575061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6332" y="2496942"/>
            <a:ext cx="2915285" cy="1273810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868044" algn="l"/>
                <a:tab pos="1932305" algn="l"/>
              </a:tabLst>
            </a:pPr>
            <a:r>
              <a:rPr dirty="0" sz="3400">
                <a:latin typeface="Cambria Math"/>
                <a:cs typeface="Cambria Math"/>
              </a:rPr>
              <a:t>ℒ</a:t>
            </a:r>
            <a:r>
              <a:rPr dirty="0" sz="3400" spc="300">
                <a:latin typeface="Cambria Math"/>
                <a:cs typeface="Cambria Math"/>
              </a:rPr>
              <a:t> </a:t>
            </a:r>
            <a:r>
              <a:rPr dirty="0" sz="3400">
                <a:latin typeface="Cambria Math"/>
                <a:cs typeface="Cambria Math"/>
              </a:rPr>
              <a:t>=	</a:t>
            </a:r>
            <a:r>
              <a:rPr dirty="0" sz="3400" spc="2400">
                <a:latin typeface="Cambria Math"/>
                <a:cs typeface="Cambria Math"/>
              </a:rPr>
              <a:t>#	#</a:t>
            </a:r>
            <a:endParaRPr sz="3400">
              <a:latin typeface="Cambria Math"/>
              <a:cs typeface="Cambria Math"/>
            </a:endParaRPr>
          </a:p>
          <a:p>
            <a:pPr marL="843915">
              <a:lnSpc>
                <a:spcPct val="100000"/>
              </a:lnSpc>
              <a:spcBef>
                <a:spcPts val="1160"/>
              </a:spcBef>
              <a:tabLst>
                <a:tab pos="1607185" algn="l"/>
              </a:tabLst>
            </a:pPr>
            <a:r>
              <a:rPr dirty="0" sz="2500" spc="330">
                <a:latin typeface="Cambria Math"/>
                <a:cs typeface="Cambria Math"/>
              </a:rPr>
              <a:t>!∈#	</a:t>
            </a:r>
            <a:r>
              <a:rPr dirty="0" sz="2500" spc="165">
                <a:latin typeface="Cambria Math"/>
                <a:cs typeface="Cambria Math"/>
              </a:rPr>
              <a:t>$∈%</a:t>
            </a:r>
            <a:r>
              <a:rPr dirty="0" baseline="-13888" sz="3000" spc="247">
                <a:latin typeface="Cambria Math"/>
                <a:cs typeface="Cambria Math"/>
              </a:rPr>
              <a:t>3</a:t>
            </a:r>
            <a:r>
              <a:rPr dirty="0" sz="2500" spc="165">
                <a:latin typeface="Cambria Math"/>
                <a:cs typeface="Cambria Math"/>
              </a:rPr>
              <a:t>(!)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5413704" y="2371851"/>
            <a:ext cx="190563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3230" algn="l"/>
              </a:tabLst>
            </a:pPr>
            <a:r>
              <a:rPr dirty="0" sz="3400" spc="-50">
                <a:latin typeface="Cambria Math"/>
                <a:cs typeface="Cambria Math"/>
              </a:rPr>
              <a:t>e</a:t>
            </a:r>
            <a:r>
              <a:rPr dirty="0" sz="3400" spc="-10">
                <a:latin typeface="Cambria Math"/>
                <a:cs typeface="Cambria Math"/>
              </a:rPr>
              <a:t>x</a:t>
            </a:r>
            <a:r>
              <a:rPr dirty="0" sz="3400" spc="-5">
                <a:latin typeface="Cambria Math"/>
                <a:cs typeface="Cambria Math"/>
              </a:rPr>
              <a:t>p</a:t>
            </a:r>
            <a:r>
              <a:rPr dirty="0" sz="3400">
                <a:latin typeface="Cambria Math"/>
                <a:cs typeface="Cambria Math"/>
              </a:rPr>
              <a:t>(</a:t>
            </a:r>
            <a:r>
              <a:rPr dirty="0" sz="3400" spc="125">
                <a:latin typeface="Cambria Math"/>
                <a:cs typeface="Cambria Math"/>
              </a:rPr>
              <a:t>𝐳</a:t>
            </a:r>
            <a:r>
              <a:rPr dirty="0" baseline="27777" sz="3750" spc="1012">
                <a:latin typeface="Cambria Math"/>
                <a:cs typeface="Cambria Math"/>
              </a:rPr>
              <a:t>(</a:t>
            </a:r>
            <a:r>
              <a:rPr dirty="0" sz="3400">
                <a:latin typeface="Cambria Math"/>
                <a:cs typeface="Cambria Math"/>
              </a:rPr>
              <a:t>𝐳	)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1893" y="2996691"/>
            <a:ext cx="33147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latin typeface="Cambria Math"/>
                <a:cs typeface="Cambria Math"/>
              </a:rPr>
              <a:t>∑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7836" y="3242055"/>
            <a:ext cx="6394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610">
                <a:latin typeface="Cambria Math"/>
                <a:cs typeface="Cambria Math"/>
              </a:rPr>
              <a:t>)</a:t>
            </a:r>
            <a:r>
              <a:rPr dirty="0" sz="2500" spc="-10">
                <a:latin typeface="Cambria Math"/>
                <a:cs typeface="Cambria Math"/>
              </a:rPr>
              <a:t>∈</a:t>
            </a:r>
            <a:r>
              <a:rPr dirty="0" sz="2500" spc="75">
                <a:latin typeface="Cambria Math"/>
                <a:cs typeface="Cambria Math"/>
              </a:rPr>
              <a:t>#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45704" y="3220719"/>
            <a:ext cx="2317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900">
                <a:latin typeface="Cambria Math"/>
                <a:cs typeface="Cambria Math"/>
              </a:rPr>
              <a:t>!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1130" y="3014979"/>
            <a:ext cx="1929764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155">
                <a:latin typeface="Cambria Math"/>
                <a:cs typeface="Cambria Math"/>
              </a:rPr>
              <a:t>exp(𝐳</a:t>
            </a:r>
            <a:r>
              <a:rPr dirty="0" baseline="27777" sz="3750" spc="232">
                <a:latin typeface="Cambria Math"/>
                <a:cs typeface="Cambria Math"/>
              </a:rPr>
              <a:t>(</a:t>
            </a:r>
            <a:r>
              <a:rPr dirty="0" sz="3400" spc="155">
                <a:latin typeface="Cambria Math"/>
                <a:cs typeface="Cambria Math"/>
              </a:rPr>
              <a:t>𝐳</a:t>
            </a:r>
            <a:r>
              <a:rPr dirty="0" baseline="-15555" sz="3750" spc="232">
                <a:latin typeface="Cambria Math"/>
                <a:cs typeface="Cambria Math"/>
              </a:rPr>
              <a:t>)</a:t>
            </a:r>
            <a:r>
              <a:rPr dirty="0" sz="3400" spc="155">
                <a:latin typeface="Cambria Math"/>
                <a:cs typeface="Cambria Math"/>
              </a:rPr>
              <a:t>)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46193" y="2697987"/>
            <a:ext cx="42640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4150" algn="l"/>
                <a:tab pos="3176905" algn="l"/>
                <a:tab pos="4070350" algn="l"/>
              </a:tabLst>
            </a:pPr>
            <a:r>
              <a:rPr dirty="0" sz="3400" spc="-5">
                <a:latin typeface="Cambria Math"/>
                <a:cs typeface="Cambria Math"/>
              </a:rPr>
              <a:t>−</a:t>
            </a:r>
            <a:r>
              <a:rPr dirty="0" sz="3400">
                <a:latin typeface="Cambria Math"/>
                <a:cs typeface="Cambria Math"/>
              </a:rPr>
              <a:t>l</a:t>
            </a:r>
            <a:r>
              <a:rPr dirty="0" sz="3400" spc="-10">
                <a:latin typeface="Cambria Math"/>
                <a:cs typeface="Cambria Math"/>
              </a:rPr>
              <a:t>o</a:t>
            </a:r>
            <a:r>
              <a:rPr dirty="0" sz="3400" spc="-5">
                <a:latin typeface="Cambria Math"/>
                <a:cs typeface="Cambria Math"/>
              </a:rPr>
              <a:t>g</a:t>
            </a:r>
            <a:r>
              <a:rPr dirty="0" sz="3400">
                <a:latin typeface="Cambria Math"/>
                <a:cs typeface="Cambria Math"/>
              </a:rPr>
              <a:t>(</a:t>
            </a:r>
            <a:r>
              <a:rPr dirty="0" sz="3400" spc="-45">
                <a:latin typeface="Cambria Math"/>
                <a:cs typeface="Cambria Math"/>
              </a:rPr>
              <a:t> </a:t>
            </a:r>
            <a:r>
              <a:rPr dirty="0" baseline="41111" sz="3750" u="heavy">
                <a:latin typeface="Times New Roman"/>
                <a:cs typeface="Times New Roman"/>
              </a:rPr>
              <a:t> 	</a:t>
            </a:r>
            <a:r>
              <a:rPr dirty="0" baseline="41111" sz="3750" spc="1350" u="heavy">
                <a:latin typeface="Cambria Math"/>
                <a:cs typeface="Cambria Math"/>
              </a:rPr>
              <a:t>!</a:t>
            </a:r>
            <a:r>
              <a:rPr dirty="0" baseline="41111" sz="3750" u="heavy">
                <a:latin typeface="Cambria Math"/>
                <a:cs typeface="Cambria Math"/>
              </a:rPr>
              <a:t>	</a:t>
            </a:r>
            <a:r>
              <a:rPr dirty="0" baseline="41111" sz="3750" spc="209" u="heavy">
                <a:latin typeface="Cambria Math"/>
                <a:cs typeface="Cambria Math"/>
              </a:rPr>
              <a:t>$</a:t>
            </a:r>
            <a:r>
              <a:rPr dirty="0" baseline="41111" sz="3750" u="heavy">
                <a:latin typeface="Cambria Math"/>
                <a:cs typeface="Cambria Math"/>
              </a:rPr>
              <a:t>	</a:t>
            </a:r>
            <a:r>
              <a:rPr dirty="0" sz="3400">
                <a:latin typeface="Cambria Math"/>
                <a:cs typeface="Cambria Math"/>
              </a:rPr>
              <a:t>)</a:t>
            </a:r>
            <a:endParaRPr sz="3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9879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0000FF"/>
                </a:solidFill>
                <a:latin typeface="Calibri"/>
                <a:cs typeface="Calibri"/>
              </a:rPr>
              <a:t>Solution: </a:t>
            </a:r>
            <a:r>
              <a:rPr dirty="0" spc="-15">
                <a:solidFill>
                  <a:srgbClr val="0000FF"/>
                </a:solidFill>
              </a:rPr>
              <a:t>Negative </a:t>
            </a:r>
            <a:r>
              <a:rPr dirty="0" spc="-5">
                <a:solidFill>
                  <a:srgbClr val="0000FF"/>
                </a:solidFill>
              </a:rPr>
              <a:t>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108" y="5487923"/>
            <a:ext cx="8404860" cy="101028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25"/>
              </a:spcBef>
            </a:pP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Instead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of normalizing </a:t>
            </a:r>
            <a:r>
              <a:rPr dirty="0" sz="3200" spc="-105">
                <a:solidFill>
                  <a:srgbClr val="C00000"/>
                </a:solidFill>
                <a:latin typeface="Calibri"/>
                <a:cs typeface="Calibri"/>
              </a:rPr>
              <a:t>w.r.t.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nodes,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just 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normalize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against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𝑘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random 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“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negative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samples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”</a:t>
            </a:r>
            <a:r>
              <a:rPr dirty="0" sz="3200" spc="1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160">
                <a:solidFill>
                  <a:srgbClr val="C00000"/>
                </a:solidFill>
                <a:latin typeface="Cambria Math"/>
                <a:cs typeface="Cambria Math"/>
              </a:rPr>
              <a:t>𝑛</a:t>
            </a:r>
            <a:r>
              <a:rPr dirty="0" baseline="-15700" sz="3450" spc="240">
                <a:solidFill>
                  <a:srgbClr val="C00000"/>
                </a:solidFill>
                <a:latin typeface="Cambria Math"/>
                <a:cs typeface="Cambria Math"/>
              </a:rPr>
              <a:t>.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1312" y="313943"/>
            <a:ext cx="5218176" cy="627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74779" y="4135651"/>
            <a:ext cx="238760" cy="673100"/>
          </a:xfrm>
          <a:custGeom>
            <a:avLst/>
            <a:gdLst/>
            <a:ahLst/>
            <a:cxnLst/>
            <a:rect l="l" t="t" r="r" b="b"/>
            <a:pathLst>
              <a:path w="238760" h="673100">
                <a:moveTo>
                  <a:pt x="66762" y="95010"/>
                </a:moveTo>
                <a:lnTo>
                  <a:pt x="204101" y="660316"/>
                </a:lnTo>
                <a:lnTo>
                  <a:pt x="219025" y="672560"/>
                </a:lnTo>
                <a:lnTo>
                  <a:pt x="225925" y="671873"/>
                </a:lnTo>
                <a:lnTo>
                  <a:pt x="232019" y="668563"/>
                </a:lnTo>
                <a:lnTo>
                  <a:pt x="236224" y="663354"/>
                </a:lnTo>
                <a:lnTo>
                  <a:pt x="238169" y="656949"/>
                </a:lnTo>
                <a:lnTo>
                  <a:pt x="237482" y="650049"/>
                </a:lnTo>
                <a:lnTo>
                  <a:pt x="66762" y="95010"/>
                </a:lnTo>
                <a:close/>
              </a:path>
              <a:path w="238760" h="673100">
                <a:moveTo>
                  <a:pt x="19269" y="0"/>
                </a:moveTo>
                <a:lnTo>
                  <a:pt x="0" y="115545"/>
                </a:lnTo>
                <a:lnTo>
                  <a:pt x="33381" y="105278"/>
                </a:lnTo>
                <a:lnTo>
                  <a:pt x="28247" y="88587"/>
                </a:lnTo>
                <a:lnTo>
                  <a:pt x="27560" y="81687"/>
                </a:lnTo>
                <a:lnTo>
                  <a:pt x="29505" y="75282"/>
                </a:lnTo>
                <a:lnTo>
                  <a:pt x="33711" y="70073"/>
                </a:lnTo>
                <a:lnTo>
                  <a:pt x="39804" y="66763"/>
                </a:lnTo>
                <a:lnTo>
                  <a:pt x="46704" y="66076"/>
                </a:lnTo>
                <a:lnTo>
                  <a:pt x="82330" y="66076"/>
                </a:lnTo>
                <a:lnTo>
                  <a:pt x="19269" y="0"/>
                </a:lnTo>
                <a:close/>
              </a:path>
              <a:path w="238760" h="673100">
                <a:moveTo>
                  <a:pt x="46704" y="66076"/>
                </a:moveTo>
                <a:lnTo>
                  <a:pt x="39804" y="66763"/>
                </a:lnTo>
                <a:lnTo>
                  <a:pt x="33711" y="70073"/>
                </a:lnTo>
                <a:lnTo>
                  <a:pt x="29505" y="75282"/>
                </a:lnTo>
                <a:lnTo>
                  <a:pt x="27560" y="81687"/>
                </a:lnTo>
                <a:lnTo>
                  <a:pt x="28247" y="88587"/>
                </a:lnTo>
                <a:lnTo>
                  <a:pt x="33381" y="105278"/>
                </a:lnTo>
                <a:lnTo>
                  <a:pt x="66762" y="95010"/>
                </a:lnTo>
                <a:lnTo>
                  <a:pt x="61629" y="78320"/>
                </a:lnTo>
                <a:lnTo>
                  <a:pt x="58318" y="72227"/>
                </a:lnTo>
                <a:lnTo>
                  <a:pt x="53109" y="68021"/>
                </a:lnTo>
                <a:lnTo>
                  <a:pt x="46704" y="66076"/>
                </a:lnTo>
                <a:close/>
              </a:path>
              <a:path w="238760" h="673100">
                <a:moveTo>
                  <a:pt x="82330" y="66076"/>
                </a:moveTo>
                <a:lnTo>
                  <a:pt x="46704" y="66076"/>
                </a:lnTo>
                <a:lnTo>
                  <a:pt x="53109" y="68021"/>
                </a:lnTo>
                <a:lnTo>
                  <a:pt x="58318" y="72227"/>
                </a:lnTo>
                <a:lnTo>
                  <a:pt x="61629" y="78320"/>
                </a:lnTo>
                <a:lnTo>
                  <a:pt x="66762" y="95010"/>
                </a:lnTo>
                <a:lnTo>
                  <a:pt x="100144" y="84743"/>
                </a:lnTo>
                <a:lnTo>
                  <a:pt x="82330" y="66076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70402" y="4781803"/>
            <a:ext cx="2230120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sigmoid</a:t>
            </a:r>
            <a:r>
              <a:rPr dirty="0" sz="2400" spc="-7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0"/>
              </a:spcBef>
            </a:pPr>
            <a:r>
              <a:rPr dirty="0" sz="1200" spc="-5">
                <a:solidFill>
                  <a:srgbClr val="5A6378"/>
                </a:solidFill>
                <a:latin typeface="Arial"/>
                <a:cs typeface="Arial"/>
              </a:rPr>
              <a:t>(makes each term </a:t>
            </a:r>
            <a:r>
              <a:rPr dirty="0" sz="1200">
                <a:solidFill>
                  <a:srgbClr val="5A6378"/>
                </a:solidFill>
                <a:latin typeface="Arial"/>
                <a:cs typeface="Arial"/>
              </a:rPr>
              <a:t>a</a:t>
            </a:r>
            <a:r>
              <a:rPr dirty="0" sz="1200" spc="-25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5A6378"/>
                </a:solidFill>
                <a:latin typeface="Arial"/>
                <a:cs typeface="Arial"/>
              </a:rPr>
              <a:t>“probability”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6339" y="5339588"/>
            <a:ext cx="11982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5A6378"/>
                </a:solidFill>
                <a:latin typeface="Arial"/>
                <a:cs typeface="Arial"/>
              </a:rPr>
              <a:t>between </a:t>
            </a:r>
            <a:r>
              <a:rPr dirty="0" sz="1200">
                <a:solidFill>
                  <a:srgbClr val="5A6378"/>
                </a:solidFill>
                <a:latin typeface="Arial"/>
                <a:cs typeface="Arial"/>
              </a:rPr>
              <a:t>0 </a:t>
            </a:r>
            <a:r>
              <a:rPr dirty="0" sz="1200" spc="-10">
                <a:solidFill>
                  <a:srgbClr val="5A6378"/>
                </a:solidFill>
                <a:latin typeface="Arial"/>
                <a:cs typeface="Arial"/>
              </a:rPr>
              <a:t>and</a:t>
            </a:r>
            <a:r>
              <a:rPr dirty="0" sz="1200" spc="-100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5A6378"/>
                </a:solidFill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4933" y="4687315"/>
            <a:ext cx="262064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555625" marR="5080" indent="-542925">
              <a:lnSpc>
                <a:spcPct val="100800"/>
              </a:lnSpc>
              <a:spcBef>
                <a:spcPts val="75"/>
              </a:spcBef>
            </a:pPr>
            <a:r>
              <a:rPr dirty="0" sz="2400">
                <a:solidFill>
                  <a:srgbClr val="5A6378"/>
                </a:solidFill>
                <a:latin typeface="Arial"/>
                <a:cs typeface="Arial"/>
              </a:rPr>
              <a:t>random</a:t>
            </a:r>
            <a:r>
              <a:rPr dirty="0" sz="2400" spc="-55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5A6378"/>
                </a:solidFill>
                <a:latin typeface="Arial"/>
                <a:cs typeface="Arial"/>
              </a:rPr>
              <a:t>distribution  </a:t>
            </a:r>
            <a:r>
              <a:rPr dirty="0" sz="2400">
                <a:solidFill>
                  <a:srgbClr val="5A6378"/>
                </a:solidFill>
                <a:latin typeface="Arial"/>
                <a:cs typeface="Arial"/>
              </a:rPr>
              <a:t>over</a:t>
            </a:r>
            <a:r>
              <a:rPr dirty="0" sz="2400" spc="-105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5A6378"/>
                </a:solidFill>
                <a:latin typeface="Arial"/>
                <a:cs typeface="Arial"/>
              </a:rPr>
              <a:t>nodes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33238" y="4231227"/>
            <a:ext cx="415925" cy="501015"/>
          </a:xfrm>
          <a:custGeom>
            <a:avLst/>
            <a:gdLst/>
            <a:ahLst/>
            <a:cxnLst/>
            <a:rect l="l" t="t" r="r" b="b"/>
            <a:pathLst>
              <a:path w="415925" h="501014">
                <a:moveTo>
                  <a:pt x="335624" y="69770"/>
                </a:moveTo>
                <a:lnTo>
                  <a:pt x="3902" y="472503"/>
                </a:lnTo>
                <a:lnTo>
                  <a:pt x="640" y="478622"/>
                </a:lnTo>
                <a:lnTo>
                  <a:pt x="0" y="485285"/>
                </a:lnTo>
                <a:lnTo>
                  <a:pt x="1904" y="491703"/>
                </a:lnTo>
                <a:lnTo>
                  <a:pt x="6278" y="497084"/>
                </a:lnTo>
                <a:lnTo>
                  <a:pt x="12398" y="500346"/>
                </a:lnTo>
                <a:lnTo>
                  <a:pt x="19062" y="500986"/>
                </a:lnTo>
                <a:lnTo>
                  <a:pt x="25480" y="499081"/>
                </a:lnTo>
                <a:lnTo>
                  <a:pt x="30860" y="494708"/>
                </a:lnTo>
                <a:lnTo>
                  <a:pt x="362582" y="91975"/>
                </a:lnTo>
                <a:lnTo>
                  <a:pt x="335624" y="69770"/>
                </a:lnTo>
                <a:close/>
              </a:path>
              <a:path w="415925" h="501014">
                <a:moveTo>
                  <a:pt x="404250" y="50012"/>
                </a:moveTo>
                <a:lnTo>
                  <a:pt x="358524" y="50012"/>
                </a:lnTo>
                <a:lnTo>
                  <a:pt x="365188" y="50652"/>
                </a:lnTo>
                <a:lnTo>
                  <a:pt x="371307" y="53915"/>
                </a:lnTo>
                <a:lnTo>
                  <a:pt x="375681" y="59295"/>
                </a:lnTo>
                <a:lnTo>
                  <a:pt x="377587" y="65713"/>
                </a:lnTo>
                <a:lnTo>
                  <a:pt x="376946" y="72376"/>
                </a:lnTo>
                <a:lnTo>
                  <a:pt x="373684" y="78496"/>
                </a:lnTo>
                <a:lnTo>
                  <a:pt x="362582" y="91975"/>
                </a:lnTo>
                <a:lnTo>
                  <a:pt x="389539" y="114179"/>
                </a:lnTo>
                <a:lnTo>
                  <a:pt x="404250" y="50012"/>
                </a:lnTo>
                <a:close/>
              </a:path>
              <a:path w="415925" h="501014">
                <a:moveTo>
                  <a:pt x="358524" y="50012"/>
                </a:moveTo>
                <a:lnTo>
                  <a:pt x="352107" y="51917"/>
                </a:lnTo>
                <a:lnTo>
                  <a:pt x="346726" y="56291"/>
                </a:lnTo>
                <a:lnTo>
                  <a:pt x="335624" y="69770"/>
                </a:lnTo>
                <a:lnTo>
                  <a:pt x="362582" y="91975"/>
                </a:lnTo>
                <a:lnTo>
                  <a:pt x="373684" y="78496"/>
                </a:lnTo>
                <a:lnTo>
                  <a:pt x="376946" y="72376"/>
                </a:lnTo>
                <a:lnTo>
                  <a:pt x="377587" y="65713"/>
                </a:lnTo>
                <a:lnTo>
                  <a:pt x="375681" y="59295"/>
                </a:lnTo>
                <a:lnTo>
                  <a:pt x="371307" y="53915"/>
                </a:lnTo>
                <a:lnTo>
                  <a:pt x="365188" y="50652"/>
                </a:lnTo>
                <a:lnTo>
                  <a:pt x="358524" y="50012"/>
                </a:lnTo>
                <a:close/>
              </a:path>
              <a:path w="415925" h="501014">
                <a:moveTo>
                  <a:pt x="415716" y="0"/>
                </a:moveTo>
                <a:lnTo>
                  <a:pt x="308666" y="47566"/>
                </a:lnTo>
                <a:lnTo>
                  <a:pt x="335624" y="69770"/>
                </a:lnTo>
                <a:lnTo>
                  <a:pt x="346726" y="56291"/>
                </a:lnTo>
                <a:lnTo>
                  <a:pt x="352107" y="51917"/>
                </a:lnTo>
                <a:lnTo>
                  <a:pt x="358524" y="50012"/>
                </a:lnTo>
                <a:lnTo>
                  <a:pt x="404250" y="50012"/>
                </a:lnTo>
                <a:lnTo>
                  <a:pt x="415716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66318" y="4144396"/>
            <a:ext cx="1434465" cy="887094"/>
          </a:xfrm>
          <a:custGeom>
            <a:avLst/>
            <a:gdLst/>
            <a:ahLst/>
            <a:cxnLst/>
            <a:rect l="l" t="t" r="r" b="b"/>
            <a:pathLst>
              <a:path w="1434464" h="887095">
                <a:moveTo>
                  <a:pt x="1335848" y="39921"/>
                </a:moveTo>
                <a:lnTo>
                  <a:pt x="8133" y="854770"/>
                </a:lnTo>
                <a:lnTo>
                  <a:pt x="3058" y="859495"/>
                </a:lnTo>
                <a:lnTo>
                  <a:pt x="285" y="865588"/>
                </a:lnTo>
                <a:lnTo>
                  <a:pt x="0" y="872277"/>
                </a:lnTo>
                <a:lnTo>
                  <a:pt x="2385" y="878787"/>
                </a:lnTo>
                <a:lnTo>
                  <a:pt x="7110" y="883863"/>
                </a:lnTo>
                <a:lnTo>
                  <a:pt x="13203" y="886636"/>
                </a:lnTo>
                <a:lnTo>
                  <a:pt x="19891" y="886922"/>
                </a:lnTo>
                <a:lnTo>
                  <a:pt x="26402" y="884537"/>
                </a:lnTo>
                <a:lnTo>
                  <a:pt x="1354117" y="69687"/>
                </a:lnTo>
                <a:lnTo>
                  <a:pt x="1335848" y="39921"/>
                </a:lnTo>
                <a:close/>
              </a:path>
              <a:path w="1434464" h="887095">
                <a:moveTo>
                  <a:pt x="1416605" y="28401"/>
                </a:moveTo>
                <a:lnTo>
                  <a:pt x="1357243" y="28401"/>
                </a:lnTo>
                <a:lnTo>
                  <a:pt x="1363931" y="28688"/>
                </a:lnTo>
                <a:lnTo>
                  <a:pt x="1370024" y="31461"/>
                </a:lnTo>
                <a:lnTo>
                  <a:pt x="1374749" y="36536"/>
                </a:lnTo>
                <a:lnTo>
                  <a:pt x="1377134" y="43047"/>
                </a:lnTo>
                <a:lnTo>
                  <a:pt x="1376848" y="49735"/>
                </a:lnTo>
                <a:lnTo>
                  <a:pt x="1374075" y="55828"/>
                </a:lnTo>
                <a:lnTo>
                  <a:pt x="1368999" y="60553"/>
                </a:lnTo>
                <a:lnTo>
                  <a:pt x="1354117" y="69687"/>
                </a:lnTo>
                <a:lnTo>
                  <a:pt x="1372385" y="99453"/>
                </a:lnTo>
                <a:lnTo>
                  <a:pt x="1416605" y="28401"/>
                </a:lnTo>
                <a:close/>
              </a:path>
              <a:path w="1434464" h="887095">
                <a:moveTo>
                  <a:pt x="1357243" y="28401"/>
                </a:moveTo>
                <a:lnTo>
                  <a:pt x="1350732" y="30787"/>
                </a:lnTo>
                <a:lnTo>
                  <a:pt x="1335848" y="39921"/>
                </a:lnTo>
                <a:lnTo>
                  <a:pt x="1354117" y="69687"/>
                </a:lnTo>
                <a:lnTo>
                  <a:pt x="1368999" y="60553"/>
                </a:lnTo>
                <a:lnTo>
                  <a:pt x="1374075" y="55828"/>
                </a:lnTo>
                <a:lnTo>
                  <a:pt x="1376848" y="49735"/>
                </a:lnTo>
                <a:lnTo>
                  <a:pt x="1377134" y="43047"/>
                </a:lnTo>
                <a:lnTo>
                  <a:pt x="1374749" y="36536"/>
                </a:lnTo>
                <a:lnTo>
                  <a:pt x="1370024" y="31461"/>
                </a:lnTo>
                <a:lnTo>
                  <a:pt x="1363931" y="28688"/>
                </a:lnTo>
                <a:lnTo>
                  <a:pt x="1357243" y="28401"/>
                </a:lnTo>
                <a:close/>
              </a:path>
              <a:path w="1434464" h="887095">
                <a:moveTo>
                  <a:pt x="1434281" y="0"/>
                </a:moveTo>
                <a:lnTo>
                  <a:pt x="1317580" y="10154"/>
                </a:lnTo>
                <a:lnTo>
                  <a:pt x="1335848" y="39921"/>
                </a:lnTo>
                <a:lnTo>
                  <a:pt x="1350732" y="30787"/>
                </a:lnTo>
                <a:lnTo>
                  <a:pt x="1357243" y="28401"/>
                </a:lnTo>
                <a:lnTo>
                  <a:pt x="1416605" y="28401"/>
                </a:lnTo>
                <a:lnTo>
                  <a:pt x="1434281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055794" y="1099819"/>
            <a:ext cx="2990850" cy="20224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14"/>
              </a:spcBef>
            </a:pPr>
            <a:r>
              <a:rPr dirty="0" sz="1200" b="1">
                <a:solidFill>
                  <a:srgbClr val="008000"/>
                </a:solidFill>
                <a:latin typeface="Arial"/>
                <a:cs typeface="Arial"/>
              </a:rPr>
              <a:t>Why is </a:t>
            </a:r>
            <a:r>
              <a:rPr dirty="0" sz="1200" spc="-5" b="1">
                <a:solidFill>
                  <a:srgbClr val="008000"/>
                </a:solidFill>
                <a:latin typeface="Arial"/>
                <a:cs typeface="Arial"/>
              </a:rPr>
              <a:t>the approximation valid?  </a:t>
            </a:r>
            <a:r>
              <a:rPr dirty="0" sz="1200" spc="-25">
                <a:solidFill>
                  <a:srgbClr val="008000"/>
                </a:solidFill>
                <a:latin typeface="Arial"/>
                <a:cs typeface="Arial"/>
              </a:rPr>
              <a:t>Technically,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this is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different objective. But  Negative Sampling is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form of Noise  Contrastive Estimation (NCE) which approx.  maximizes the log probability of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softmax.</a:t>
            </a:r>
            <a:endParaRPr sz="1200">
              <a:latin typeface="Arial"/>
              <a:cs typeface="Arial"/>
            </a:endParaRPr>
          </a:p>
          <a:p>
            <a:pPr marL="12700" marR="85090">
              <a:lnSpc>
                <a:spcPct val="99400"/>
              </a:lnSpc>
              <a:spcBef>
                <a:spcPts val="675"/>
              </a:spcBef>
            </a:pP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New formulation corresponds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using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a 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logistic regression (sigmoid func.)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to 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distinguish the target node </a:t>
            </a:r>
            <a:r>
              <a:rPr dirty="0" sz="1200">
                <a:solidFill>
                  <a:srgbClr val="008000"/>
                </a:solidFill>
                <a:latin typeface="Cambria Math"/>
                <a:cs typeface="Cambria Math"/>
              </a:rPr>
              <a:t>𝑣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from nodes </a:t>
            </a:r>
            <a:r>
              <a:rPr dirty="0" sz="1200" spc="25">
                <a:solidFill>
                  <a:srgbClr val="008000"/>
                </a:solidFill>
                <a:latin typeface="Cambria Math"/>
                <a:cs typeface="Cambria Math"/>
              </a:rPr>
              <a:t>𝑛</a:t>
            </a:r>
            <a:r>
              <a:rPr dirty="0" baseline="-15432" sz="1350" spc="37">
                <a:solidFill>
                  <a:srgbClr val="008000"/>
                </a:solidFill>
                <a:latin typeface="Cambria Math"/>
                <a:cs typeface="Cambria Math"/>
              </a:rPr>
              <a:t>! 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sampled from background distribution</a:t>
            </a:r>
            <a:r>
              <a:rPr dirty="0" sz="1200" spc="-1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008000"/>
                </a:solidFill>
                <a:latin typeface="Cambria Math"/>
                <a:cs typeface="Cambria Math"/>
              </a:rPr>
              <a:t>𝑃</a:t>
            </a:r>
            <a:r>
              <a:rPr dirty="0" baseline="-15432" sz="1350" spc="-22">
                <a:solidFill>
                  <a:srgbClr val="008000"/>
                </a:solidFill>
                <a:latin typeface="Cambria Math"/>
                <a:cs typeface="Cambria Math"/>
              </a:rPr>
              <a:t>"</a:t>
            </a:r>
            <a:r>
              <a:rPr dirty="0" sz="1200" spc="-15">
                <a:solidFill>
                  <a:srgbClr val="008000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00" spc="-5">
                <a:solidFill>
                  <a:srgbClr val="008000"/>
                </a:solidFill>
                <a:latin typeface="Arial"/>
                <a:cs typeface="Arial"/>
              </a:rPr>
              <a:t>More </a:t>
            </a:r>
            <a:r>
              <a:rPr dirty="0" sz="1100">
                <a:solidFill>
                  <a:srgbClr val="008000"/>
                </a:solidFill>
                <a:latin typeface="Arial"/>
                <a:cs typeface="Arial"/>
              </a:rPr>
              <a:t>at</a:t>
            </a:r>
            <a:r>
              <a:rPr dirty="0" sz="1100" spc="-5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100" spc="-5" u="sng">
                <a:solidFill>
                  <a:srgbClr val="168BBA"/>
                </a:solidFill>
                <a:latin typeface="Arial"/>
                <a:cs typeface="Arial"/>
              </a:rPr>
              <a:t>https://arxiv.org/pdf/1402.3722.pdf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45790" y="3656820"/>
            <a:ext cx="1540510" cy="586740"/>
          </a:xfrm>
          <a:custGeom>
            <a:avLst/>
            <a:gdLst/>
            <a:ahLst/>
            <a:cxnLst/>
            <a:rect l="l" t="t" r="r" b="b"/>
            <a:pathLst>
              <a:path w="1540510" h="586739">
                <a:moveTo>
                  <a:pt x="1413681" y="0"/>
                </a:moveTo>
                <a:lnTo>
                  <a:pt x="1408125" y="13889"/>
                </a:lnTo>
                <a:lnTo>
                  <a:pt x="1429987" y="31660"/>
                </a:lnTo>
                <a:lnTo>
                  <a:pt x="1449385" y="54758"/>
                </a:lnTo>
                <a:lnTo>
                  <a:pt x="1480791" y="116941"/>
                </a:lnTo>
                <a:lnTo>
                  <a:pt x="1492376" y="155286"/>
                </a:lnTo>
                <a:lnTo>
                  <a:pt x="1500650" y="197484"/>
                </a:lnTo>
                <a:lnTo>
                  <a:pt x="1505615" y="243535"/>
                </a:lnTo>
                <a:lnTo>
                  <a:pt x="1507270" y="293438"/>
                </a:lnTo>
                <a:lnTo>
                  <a:pt x="1505626" y="342555"/>
                </a:lnTo>
                <a:lnTo>
                  <a:pt x="1500694" y="388155"/>
                </a:lnTo>
                <a:lnTo>
                  <a:pt x="1492474" y="430239"/>
                </a:lnTo>
                <a:lnTo>
                  <a:pt x="1480965" y="468807"/>
                </a:lnTo>
                <a:lnTo>
                  <a:pt x="1449602" y="531576"/>
                </a:lnTo>
                <a:lnTo>
                  <a:pt x="1408125" y="572640"/>
                </a:lnTo>
                <a:lnTo>
                  <a:pt x="1413681" y="586530"/>
                </a:lnTo>
                <a:lnTo>
                  <a:pt x="1465880" y="544772"/>
                </a:lnTo>
                <a:lnTo>
                  <a:pt x="1506141" y="477837"/>
                </a:lnTo>
                <a:lnTo>
                  <a:pt x="1521144" y="436469"/>
                </a:lnTo>
                <a:lnTo>
                  <a:pt x="1531861" y="391888"/>
                </a:lnTo>
                <a:lnTo>
                  <a:pt x="1538290" y="344096"/>
                </a:lnTo>
                <a:lnTo>
                  <a:pt x="1540434" y="293091"/>
                </a:lnTo>
                <a:lnTo>
                  <a:pt x="1538290" y="241826"/>
                </a:lnTo>
                <a:lnTo>
                  <a:pt x="1531861" y="193947"/>
                </a:lnTo>
                <a:lnTo>
                  <a:pt x="1521144" y="149453"/>
                </a:lnTo>
                <a:lnTo>
                  <a:pt x="1506141" y="108346"/>
                </a:lnTo>
                <a:lnTo>
                  <a:pt x="1487503" y="72013"/>
                </a:lnTo>
                <a:lnTo>
                  <a:pt x="1441273" y="17840"/>
                </a:lnTo>
                <a:lnTo>
                  <a:pt x="1413681" y="0"/>
                </a:lnTo>
                <a:close/>
              </a:path>
              <a:path w="1540510" h="586739">
                <a:moveTo>
                  <a:pt x="126578" y="0"/>
                </a:moveTo>
                <a:lnTo>
                  <a:pt x="74510" y="41844"/>
                </a:lnTo>
                <a:lnTo>
                  <a:pt x="34293" y="108346"/>
                </a:lnTo>
                <a:lnTo>
                  <a:pt x="19289" y="149453"/>
                </a:lnTo>
                <a:lnTo>
                  <a:pt x="8573" y="193947"/>
                </a:lnTo>
                <a:lnTo>
                  <a:pt x="2143" y="241826"/>
                </a:lnTo>
                <a:lnTo>
                  <a:pt x="0" y="293091"/>
                </a:lnTo>
                <a:lnTo>
                  <a:pt x="2143" y="344096"/>
                </a:lnTo>
                <a:lnTo>
                  <a:pt x="8573" y="391888"/>
                </a:lnTo>
                <a:lnTo>
                  <a:pt x="19289" y="436469"/>
                </a:lnTo>
                <a:lnTo>
                  <a:pt x="34293" y="477837"/>
                </a:lnTo>
                <a:lnTo>
                  <a:pt x="52920" y="514451"/>
                </a:lnTo>
                <a:lnTo>
                  <a:pt x="99063" y="568798"/>
                </a:lnTo>
                <a:lnTo>
                  <a:pt x="126578" y="586530"/>
                </a:lnTo>
                <a:lnTo>
                  <a:pt x="132307" y="572640"/>
                </a:lnTo>
                <a:lnTo>
                  <a:pt x="110234" y="554821"/>
                </a:lnTo>
                <a:lnTo>
                  <a:pt x="90722" y="531576"/>
                </a:lnTo>
                <a:lnTo>
                  <a:pt x="59381" y="468807"/>
                </a:lnTo>
                <a:lnTo>
                  <a:pt x="47911" y="430239"/>
                </a:lnTo>
                <a:lnTo>
                  <a:pt x="39718" y="388155"/>
                </a:lnTo>
                <a:lnTo>
                  <a:pt x="34802" y="342555"/>
                </a:lnTo>
                <a:lnTo>
                  <a:pt x="33164" y="293438"/>
                </a:lnTo>
                <a:lnTo>
                  <a:pt x="34818" y="243535"/>
                </a:lnTo>
                <a:lnTo>
                  <a:pt x="39783" y="197484"/>
                </a:lnTo>
                <a:lnTo>
                  <a:pt x="48058" y="155286"/>
                </a:lnTo>
                <a:lnTo>
                  <a:pt x="59643" y="116941"/>
                </a:lnTo>
                <a:lnTo>
                  <a:pt x="91048" y="54758"/>
                </a:lnTo>
                <a:lnTo>
                  <a:pt x="132307" y="13889"/>
                </a:lnTo>
                <a:lnTo>
                  <a:pt x="1265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37454" y="3735284"/>
            <a:ext cx="974090" cy="429895"/>
          </a:xfrm>
          <a:custGeom>
            <a:avLst/>
            <a:gdLst/>
            <a:ahLst/>
            <a:cxnLst/>
            <a:rect l="l" t="t" r="r" b="b"/>
            <a:pathLst>
              <a:path w="974089" h="429895">
                <a:moveTo>
                  <a:pt x="860864" y="0"/>
                </a:moveTo>
                <a:lnTo>
                  <a:pt x="856523" y="14237"/>
                </a:lnTo>
                <a:lnTo>
                  <a:pt x="876257" y="24471"/>
                </a:lnTo>
                <a:lnTo>
                  <a:pt x="893442" y="39371"/>
                </a:lnTo>
                <a:lnTo>
                  <a:pt x="920159" y="83169"/>
                </a:lnTo>
                <a:lnTo>
                  <a:pt x="936372" y="142682"/>
                </a:lnTo>
                <a:lnTo>
                  <a:pt x="941777" y="214957"/>
                </a:lnTo>
                <a:lnTo>
                  <a:pt x="940426" y="252608"/>
                </a:lnTo>
                <a:lnTo>
                  <a:pt x="929617" y="318371"/>
                </a:lnTo>
                <a:lnTo>
                  <a:pt x="908076" y="370678"/>
                </a:lnTo>
                <a:lnTo>
                  <a:pt x="876257" y="405101"/>
                </a:lnTo>
                <a:lnTo>
                  <a:pt x="856523" y="415329"/>
                </a:lnTo>
                <a:lnTo>
                  <a:pt x="860864" y="429567"/>
                </a:lnTo>
                <a:lnTo>
                  <a:pt x="908830" y="404000"/>
                </a:lnTo>
                <a:lnTo>
                  <a:pt x="944380" y="355773"/>
                </a:lnTo>
                <a:lnTo>
                  <a:pt x="966389" y="290748"/>
                </a:lnTo>
                <a:lnTo>
                  <a:pt x="973725" y="214783"/>
                </a:lnTo>
                <a:lnTo>
                  <a:pt x="971891" y="175434"/>
                </a:lnTo>
                <a:lnTo>
                  <a:pt x="957219" y="104939"/>
                </a:lnTo>
                <a:lnTo>
                  <a:pt x="928157" y="46848"/>
                </a:lnTo>
                <a:lnTo>
                  <a:pt x="886399" y="9951"/>
                </a:lnTo>
                <a:lnTo>
                  <a:pt x="860864" y="0"/>
                </a:lnTo>
                <a:close/>
              </a:path>
              <a:path w="974089" h="429895">
                <a:moveTo>
                  <a:pt x="112862" y="0"/>
                </a:moveTo>
                <a:lnTo>
                  <a:pt x="64896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7" y="419616"/>
                </a:lnTo>
                <a:lnTo>
                  <a:pt x="112862" y="429567"/>
                </a:lnTo>
                <a:lnTo>
                  <a:pt x="117203" y="415329"/>
                </a:lnTo>
                <a:lnTo>
                  <a:pt x="97468" y="405101"/>
                </a:lnTo>
                <a:lnTo>
                  <a:pt x="80284" y="390217"/>
                </a:lnTo>
                <a:lnTo>
                  <a:pt x="53566" y="346483"/>
                </a:lnTo>
                <a:lnTo>
                  <a:pt x="37353" y="287080"/>
                </a:lnTo>
                <a:lnTo>
                  <a:pt x="31955" y="214783"/>
                </a:lnTo>
                <a:lnTo>
                  <a:pt x="33300" y="177225"/>
                </a:lnTo>
                <a:lnTo>
                  <a:pt x="44108" y="111331"/>
                </a:lnTo>
                <a:lnTo>
                  <a:pt x="65649" y="58937"/>
                </a:lnTo>
                <a:lnTo>
                  <a:pt x="97468" y="24471"/>
                </a:lnTo>
                <a:lnTo>
                  <a:pt x="117203" y="14237"/>
                </a:lnTo>
                <a:lnTo>
                  <a:pt x="11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0579" y="3682491"/>
            <a:ext cx="20072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8705" algn="l"/>
                <a:tab pos="1445260" algn="l"/>
              </a:tabLst>
            </a:pPr>
            <a:r>
              <a:rPr dirty="0" sz="2800">
                <a:latin typeface="Cambria Math"/>
                <a:cs typeface="Cambria Math"/>
              </a:rPr>
              <a:t>≈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log	</a:t>
            </a:r>
            <a:r>
              <a:rPr dirty="0" sz="2800">
                <a:latin typeface="Cambria Math"/>
                <a:cs typeface="Cambria Math"/>
              </a:rPr>
              <a:t>𝜎	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r>
              <a:rPr dirty="0" baseline="27777" sz="3000" spc="187">
                <a:latin typeface="Cambria Math"/>
                <a:cs typeface="Cambria Math"/>
              </a:rPr>
              <a:t>4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29479" y="3857244"/>
            <a:ext cx="5422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5445" algn="l"/>
              </a:tabLst>
            </a:pPr>
            <a:r>
              <a:rPr dirty="0" sz="2000" spc="825">
                <a:latin typeface="Cambria Math"/>
                <a:cs typeface="Cambria Math"/>
              </a:rPr>
              <a:t>'</a:t>
            </a:r>
            <a:r>
              <a:rPr dirty="0" sz="2000" spc="825">
                <a:latin typeface="Cambria Math"/>
                <a:cs typeface="Cambria Math"/>
              </a:rPr>
              <a:t>	</a:t>
            </a:r>
            <a:r>
              <a:rPr dirty="0" sz="2000" spc="300">
                <a:latin typeface="Cambria Math"/>
                <a:cs typeface="Cambria Math"/>
              </a:rPr>
              <a:t>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79133" y="3872484"/>
            <a:ext cx="46100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30">
                <a:latin typeface="Cambria Math"/>
                <a:cs typeface="Cambria Math"/>
              </a:rPr>
              <a:t>5</a:t>
            </a:r>
            <a:r>
              <a:rPr dirty="0" sz="2000" spc="370">
                <a:latin typeface="Cambria Math"/>
                <a:cs typeface="Cambria Math"/>
              </a:rPr>
              <a:t>6</a:t>
            </a:r>
            <a:r>
              <a:rPr dirty="0" sz="2000" spc="40">
                <a:latin typeface="Cambria Math"/>
                <a:cs typeface="Cambria Math"/>
              </a:rPr>
              <a:t>7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83058" y="3539235"/>
            <a:ext cx="7753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2817" sz="4200">
                <a:latin typeface="Cambria Math"/>
                <a:cs typeface="Cambria Math"/>
              </a:rPr>
              <a:t>−</a:t>
            </a:r>
            <a:r>
              <a:rPr dirty="0" baseline="-22817" sz="4200" spc="-150">
                <a:latin typeface="Cambria Math"/>
                <a:cs typeface="Cambria Math"/>
              </a:rPr>
              <a:t> </a:t>
            </a:r>
            <a:r>
              <a:rPr dirty="0" baseline="-19841" sz="4200" spc="75">
                <a:latin typeface="Cambria Math"/>
                <a:cs typeface="Cambria Math"/>
              </a:rPr>
              <a:t>∑</a:t>
            </a:r>
            <a:r>
              <a:rPr dirty="0" sz="2000" spc="50"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41884" y="3656820"/>
            <a:ext cx="1646555" cy="586740"/>
          </a:xfrm>
          <a:custGeom>
            <a:avLst/>
            <a:gdLst/>
            <a:ahLst/>
            <a:cxnLst/>
            <a:rect l="l" t="t" r="r" b="b"/>
            <a:pathLst>
              <a:path w="1646554" h="586739">
                <a:moveTo>
                  <a:pt x="1519410" y="0"/>
                </a:moveTo>
                <a:lnTo>
                  <a:pt x="1513853" y="13889"/>
                </a:lnTo>
                <a:lnTo>
                  <a:pt x="1535715" y="31660"/>
                </a:lnTo>
                <a:lnTo>
                  <a:pt x="1555113" y="54758"/>
                </a:lnTo>
                <a:lnTo>
                  <a:pt x="1586519" y="116941"/>
                </a:lnTo>
                <a:lnTo>
                  <a:pt x="1598104" y="155286"/>
                </a:lnTo>
                <a:lnTo>
                  <a:pt x="1606379" y="197484"/>
                </a:lnTo>
                <a:lnTo>
                  <a:pt x="1611344" y="243535"/>
                </a:lnTo>
                <a:lnTo>
                  <a:pt x="1612999" y="293438"/>
                </a:lnTo>
                <a:lnTo>
                  <a:pt x="1611354" y="342555"/>
                </a:lnTo>
                <a:lnTo>
                  <a:pt x="1606422" y="388155"/>
                </a:lnTo>
                <a:lnTo>
                  <a:pt x="1598201" y="430239"/>
                </a:lnTo>
                <a:lnTo>
                  <a:pt x="1586693" y="468807"/>
                </a:lnTo>
                <a:lnTo>
                  <a:pt x="1555330" y="531576"/>
                </a:lnTo>
                <a:lnTo>
                  <a:pt x="1513853" y="572640"/>
                </a:lnTo>
                <a:lnTo>
                  <a:pt x="1519410" y="586530"/>
                </a:lnTo>
                <a:lnTo>
                  <a:pt x="1571608" y="544772"/>
                </a:lnTo>
                <a:lnTo>
                  <a:pt x="1611870" y="477837"/>
                </a:lnTo>
                <a:lnTo>
                  <a:pt x="1626872" y="436469"/>
                </a:lnTo>
                <a:lnTo>
                  <a:pt x="1637589" y="391888"/>
                </a:lnTo>
                <a:lnTo>
                  <a:pt x="1644019" y="344096"/>
                </a:lnTo>
                <a:lnTo>
                  <a:pt x="1646162" y="293091"/>
                </a:lnTo>
                <a:lnTo>
                  <a:pt x="1644019" y="241826"/>
                </a:lnTo>
                <a:lnTo>
                  <a:pt x="1637589" y="193947"/>
                </a:lnTo>
                <a:lnTo>
                  <a:pt x="1626872" y="149453"/>
                </a:lnTo>
                <a:lnTo>
                  <a:pt x="1611870" y="108346"/>
                </a:lnTo>
                <a:lnTo>
                  <a:pt x="1593231" y="72013"/>
                </a:lnTo>
                <a:lnTo>
                  <a:pt x="1547001" y="17840"/>
                </a:lnTo>
                <a:lnTo>
                  <a:pt x="1519410" y="0"/>
                </a:lnTo>
                <a:close/>
              </a:path>
              <a:path w="1646554" h="586739">
                <a:moveTo>
                  <a:pt x="126578" y="0"/>
                </a:moveTo>
                <a:lnTo>
                  <a:pt x="74510" y="41844"/>
                </a:lnTo>
                <a:lnTo>
                  <a:pt x="34292" y="108346"/>
                </a:lnTo>
                <a:lnTo>
                  <a:pt x="19289" y="149453"/>
                </a:lnTo>
                <a:lnTo>
                  <a:pt x="8573" y="193947"/>
                </a:lnTo>
                <a:lnTo>
                  <a:pt x="2143" y="241826"/>
                </a:lnTo>
                <a:lnTo>
                  <a:pt x="0" y="293091"/>
                </a:lnTo>
                <a:lnTo>
                  <a:pt x="2143" y="344096"/>
                </a:lnTo>
                <a:lnTo>
                  <a:pt x="8573" y="391888"/>
                </a:lnTo>
                <a:lnTo>
                  <a:pt x="19289" y="436469"/>
                </a:lnTo>
                <a:lnTo>
                  <a:pt x="34292" y="477837"/>
                </a:lnTo>
                <a:lnTo>
                  <a:pt x="52920" y="514451"/>
                </a:lnTo>
                <a:lnTo>
                  <a:pt x="99063" y="568798"/>
                </a:lnTo>
                <a:lnTo>
                  <a:pt x="126578" y="586530"/>
                </a:lnTo>
                <a:lnTo>
                  <a:pt x="132308" y="572640"/>
                </a:lnTo>
                <a:lnTo>
                  <a:pt x="110235" y="554821"/>
                </a:lnTo>
                <a:lnTo>
                  <a:pt x="90723" y="531576"/>
                </a:lnTo>
                <a:lnTo>
                  <a:pt x="59382" y="468807"/>
                </a:lnTo>
                <a:lnTo>
                  <a:pt x="47912" y="430239"/>
                </a:lnTo>
                <a:lnTo>
                  <a:pt x="39719" y="388155"/>
                </a:lnTo>
                <a:lnTo>
                  <a:pt x="34803" y="342555"/>
                </a:lnTo>
                <a:lnTo>
                  <a:pt x="33164" y="293438"/>
                </a:lnTo>
                <a:lnTo>
                  <a:pt x="34819" y="243535"/>
                </a:lnTo>
                <a:lnTo>
                  <a:pt x="39784" y="197484"/>
                </a:lnTo>
                <a:lnTo>
                  <a:pt x="48058" y="155286"/>
                </a:lnTo>
                <a:lnTo>
                  <a:pt x="59643" y="116941"/>
                </a:lnTo>
                <a:lnTo>
                  <a:pt x="91048" y="54758"/>
                </a:lnTo>
                <a:lnTo>
                  <a:pt x="132308" y="13889"/>
                </a:lnTo>
                <a:lnTo>
                  <a:pt x="1265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33548" y="3735284"/>
            <a:ext cx="1079500" cy="429895"/>
          </a:xfrm>
          <a:custGeom>
            <a:avLst/>
            <a:gdLst/>
            <a:ahLst/>
            <a:cxnLst/>
            <a:rect l="l" t="t" r="r" b="b"/>
            <a:pathLst>
              <a:path w="1079500" h="429895">
                <a:moveTo>
                  <a:pt x="966590" y="0"/>
                </a:moveTo>
                <a:lnTo>
                  <a:pt x="962249" y="14237"/>
                </a:lnTo>
                <a:lnTo>
                  <a:pt x="981984" y="24471"/>
                </a:lnTo>
                <a:lnTo>
                  <a:pt x="999169" y="39371"/>
                </a:lnTo>
                <a:lnTo>
                  <a:pt x="1025886" y="83169"/>
                </a:lnTo>
                <a:lnTo>
                  <a:pt x="1042099" y="142682"/>
                </a:lnTo>
                <a:lnTo>
                  <a:pt x="1047503" y="214957"/>
                </a:lnTo>
                <a:lnTo>
                  <a:pt x="1046152" y="252608"/>
                </a:lnTo>
                <a:lnTo>
                  <a:pt x="1035344" y="318371"/>
                </a:lnTo>
                <a:lnTo>
                  <a:pt x="1013803" y="370678"/>
                </a:lnTo>
                <a:lnTo>
                  <a:pt x="981984" y="405101"/>
                </a:lnTo>
                <a:lnTo>
                  <a:pt x="962249" y="415329"/>
                </a:lnTo>
                <a:lnTo>
                  <a:pt x="966590" y="429567"/>
                </a:lnTo>
                <a:lnTo>
                  <a:pt x="1014557" y="404000"/>
                </a:lnTo>
                <a:lnTo>
                  <a:pt x="1050108" y="355773"/>
                </a:lnTo>
                <a:lnTo>
                  <a:pt x="1072116" y="290748"/>
                </a:lnTo>
                <a:lnTo>
                  <a:pt x="1079453" y="214783"/>
                </a:lnTo>
                <a:lnTo>
                  <a:pt x="1077618" y="175434"/>
                </a:lnTo>
                <a:lnTo>
                  <a:pt x="1062946" y="104939"/>
                </a:lnTo>
                <a:lnTo>
                  <a:pt x="1033884" y="46848"/>
                </a:lnTo>
                <a:lnTo>
                  <a:pt x="992125" y="9951"/>
                </a:lnTo>
                <a:lnTo>
                  <a:pt x="966590" y="0"/>
                </a:lnTo>
                <a:close/>
              </a:path>
              <a:path w="1079500" h="429895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7"/>
                </a:lnTo>
                <a:lnTo>
                  <a:pt x="53566" y="346483"/>
                </a:lnTo>
                <a:lnTo>
                  <a:pt x="37352" y="287080"/>
                </a:lnTo>
                <a:lnTo>
                  <a:pt x="31954" y="214783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7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977417" y="3682491"/>
            <a:ext cx="16465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8025" algn="l"/>
                <a:tab pos="1084580" algn="l"/>
              </a:tabLst>
            </a:pPr>
            <a:r>
              <a:rPr dirty="0" sz="2800" spc="-5">
                <a:latin typeface="Cambria Math"/>
                <a:cs typeface="Cambria Math"/>
              </a:rPr>
              <a:t>log	</a:t>
            </a:r>
            <a:r>
              <a:rPr dirty="0" sz="2800">
                <a:latin typeface="Cambria Math"/>
                <a:cs typeface="Cambria Math"/>
              </a:rPr>
              <a:t>𝜎	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r>
              <a:rPr dirty="0" baseline="27777" sz="3000" spc="187">
                <a:latin typeface="Cambria Math"/>
                <a:cs typeface="Cambria Math"/>
              </a:rPr>
              <a:t>4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25573" y="3857244"/>
            <a:ext cx="648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5445" algn="l"/>
              </a:tabLst>
            </a:pPr>
            <a:r>
              <a:rPr dirty="0" sz="2000" spc="825">
                <a:latin typeface="Cambria Math"/>
                <a:cs typeface="Cambria Math"/>
              </a:rPr>
              <a:t>'</a:t>
            </a:r>
            <a:r>
              <a:rPr dirty="0" sz="2000" spc="825">
                <a:latin typeface="Cambria Math"/>
                <a:cs typeface="Cambria Math"/>
              </a:rPr>
              <a:t>	</a:t>
            </a:r>
            <a:r>
              <a:rPr dirty="0" sz="2000" spc="210">
                <a:latin typeface="Cambria Math"/>
                <a:cs typeface="Cambria Math"/>
              </a:rPr>
              <a:t>9</a:t>
            </a:r>
            <a:r>
              <a:rPr dirty="0" baseline="-14705" sz="2550" spc="225">
                <a:latin typeface="Cambria Math"/>
                <a:cs typeface="Cambria Math"/>
              </a:rPr>
              <a:t>!</a:t>
            </a:r>
            <a:endParaRPr baseline="-14705" sz="25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05886" y="3682491"/>
            <a:ext cx="9842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orbel"/>
                <a:cs typeface="Corbel"/>
              </a:rPr>
              <a:t>, </a:t>
            </a:r>
            <a:r>
              <a:rPr dirty="0" sz="2800">
                <a:latin typeface="Cambria Math"/>
                <a:cs typeface="Cambria Math"/>
              </a:rPr>
              <a:t>𝑛</a:t>
            </a:r>
            <a:r>
              <a:rPr dirty="0" sz="2800" spc="18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~𝑃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75774" y="3857244"/>
            <a:ext cx="7416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</a:tabLst>
            </a:pPr>
            <a:r>
              <a:rPr dirty="0" sz="2000" spc="-409">
                <a:latin typeface="Cambria Math"/>
                <a:cs typeface="Cambria Math"/>
              </a:rPr>
              <a:t>5</a:t>
            </a:r>
            <a:r>
              <a:rPr dirty="0" sz="2000" spc="-409">
                <a:latin typeface="Cambria Math"/>
                <a:cs typeface="Cambria Math"/>
              </a:rPr>
              <a:t>	</a:t>
            </a:r>
            <a:r>
              <a:rPr dirty="0" sz="2000" spc="19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368701" y="2812262"/>
            <a:ext cx="2425700" cy="0"/>
          </a:xfrm>
          <a:custGeom>
            <a:avLst/>
            <a:gdLst/>
            <a:ahLst/>
            <a:cxnLst/>
            <a:rect l="l" t="t" r="r" b="b"/>
            <a:pathLst>
              <a:path w="2425700" h="0">
                <a:moveTo>
                  <a:pt x="0" y="0"/>
                </a:moveTo>
                <a:lnTo>
                  <a:pt x="24257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64520" y="2325978"/>
            <a:ext cx="974090" cy="429895"/>
          </a:xfrm>
          <a:custGeom>
            <a:avLst/>
            <a:gdLst/>
            <a:ahLst/>
            <a:cxnLst/>
            <a:rect l="l" t="t" r="r" b="b"/>
            <a:pathLst>
              <a:path w="974089" h="429894">
                <a:moveTo>
                  <a:pt x="860864" y="0"/>
                </a:moveTo>
                <a:lnTo>
                  <a:pt x="856523" y="14237"/>
                </a:lnTo>
                <a:lnTo>
                  <a:pt x="876257" y="24471"/>
                </a:lnTo>
                <a:lnTo>
                  <a:pt x="893441" y="39370"/>
                </a:lnTo>
                <a:lnTo>
                  <a:pt x="920159" y="83169"/>
                </a:lnTo>
                <a:lnTo>
                  <a:pt x="936372" y="142682"/>
                </a:lnTo>
                <a:lnTo>
                  <a:pt x="941777" y="214956"/>
                </a:lnTo>
                <a:lnTo>
                  <a:pt x="940426" y="252607"/>
                </a:lnTo>
                <a:lnTo>
                  <a:pt x="929617" y="318371"/>
                </a:lnTo>
                <a:lnTo>
                  <a:pt x="908075" y="370678"/>
                </a:lnTo>
                <a:lnTo>
                  <a:pt x="876257" y="405101"/>
                </a:lnTo>
                <a:lnTo>
                  <a:pt x="856523" y="415329"/>
                </a:lnTo>
                <a:lnTo>
                  <a:pt x="860864" y="429567"/>
                </a:lnTo>
                <a:lnTo>
                  <a:pt x="908830" y="403999"/>
                </a:lnTo>
                <a:lnTo>
                  <a:pt x="944380" y="355772"/>
                </a:lnTo>
                <a:lnTo>
                  <a:pt x="966389" y="290747"/>
                </a:lnTo>
                <a:lnTo>
                  <a:pt x="973725" y="214783"/>
                </a:lnTo>
                <a:lnTo>
                  <a:pt x="971891" y="175433"/>
                </a:lnTo>
                <a:lnTo>
                  <a:pt x="957219" y="104938"/>
                </a:lnTo>
                <a:lnTo>
                  <a:pt x="928157" y="46847"/>
                </a:lnTo>
                <a:lnTo>
                  <a:pt x="886399" y="9951"/>
                </a:lnTo>
                <a:lnTo>
                  <a:pt x="860864" y="0"/>
                </a:lnTo>
                <a:close/>
              </a:path>
              <a:path w="974089" h="429894">
                <a:moveTo>
                  <a:pt x="112862" y="0"/>
                </a:moveTo>
                <a:lnTo>
                  <a:pt x="64895" y="25567"/>
                </a:lnTo>
                <a:lnTo>
                  <a:pt x="29344" y="73793"/>
                </a:lnTo>
                <a:lnTo>
                  <a:pt x="7336" y="138818"/>
                </a:lnTo>
                <a:lnTo>
                  <a:pt x="0" y="214783"/>
                </a:lnTo>
                <a:lnTo>
                  <a:pt x="1834" y="254132"/>
                </a:lnTo>
                <a:lnTo>
                  <a:pt x="16506" y="324627"/>
                </a:lnTo>
                <a:lnTo>
                  <a:pt x="45568" y="382718"/>
                </a:lnTo>
                <a:lnTo>
                  <a:pt x="87327" y="419615"/>
                </a:lnTo>
                <a:lnTo>
                  <a:pt x="112862" y="429567"/>
                </a:lnTo>
                <a:lnTo>
                  <a:pt x="117203" y="415329"/>
                </a:lnTo>
                <a:lnTo>
                  <a:pt x="97468" y="405101"/>
                </a:lnTo>
                <a:lnTo>
                  <a:pt x="80284" y="390217"/>
                </a:lnTo>
                <a:lnTo>
                  <a:pt x="53566" y="346483"/>
                </a:lnTo>
                <a:lnTo>
                  <a:pt x="37353" y="287079"/>
                </a:lnTo>
                <a:lnTo>
                  <a:pt x="31955" y="214783"/>
                </a:lnTo>
                <a:lnTo>
                  <a:pt x="33300" y="177224"/>
                </a:lnTo>
                <a:lnTo>
                  <a:pt x="44108" y="111330"/>
                </a:lnTo>
                <a:lnTo>
                  <a:pt x="65649" y="58936"/>
                </a:lnTo>
                <a:lnTo>
                  <a:pt x="97468" y="24471"/>
                </a:lnTo>
                <a:lnTo>
                  <a:pt x="117203" y="14237"/>
                </a:lnTo>
                <a:lnTo>
                  <a:pt x="11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670451" y="2244851"/>
            <a:ext cx="1905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85">
                <a:latin typeface="Cambria Math"/>
                <a:cs typeface="Cambria Math"/>
              </a:rPr>
              <a:t>4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0816" y="2274315"/>
            <a:ext cx="14179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dirty="0" sz="2800" spc="-15">
                <a:latin typeface="Cambria Math"/>
                <a:cs typeface="Cambria Math"/>
              </a:rPr>
              <a:t>exp	</a:t>
            </a:r>
            <a:r>
              <a:rPr dirty="0" sz="2800" spc="325">
                <a:latin typeface="Cambria Math"/>
                <a:cs typeface="Cambria Math"/>
              </a:rPr>
              <a:t>𝐳</a:t>
            </a:r>
            <a:r>
              <a:rPr dirty="0" baseline="-16666" sz="3000" spc="487">
                <a:latin typeface="Cambria Math"/>
                <a:cs typeface="Cambria Math"/>
              </a:rPr>
              <a:t>'</a:t>
            </a:r>
            <a:r>
              <a:rPr dirty="0" sz="2800" spc="325">
                <a:latin typeface="Cambria Math"/>
                <a:cs typeface="Cambria Math"/>
              </a:rPr>
              <a:t>𝐳</a:t>
            </a:r>
            <a:r>
              <a:rPr dirty="0" baseline="-16666" sz="3000" spc="487">
                <a:latin typeface="Cambria Math"/>
                <a:cs typeface="Cambria Math"/>
              </a:rPr>
              <a:t>(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1598" y="2545587"/>
            <a:ext cx="9652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mbria Math"/>
                <a:cs typeface="Cambria Math"/>
              </a:rPr>
              <a:t>log(</a:t>
            </a:r>
            <a:r>
              <a:rPr dirty="0" sz="2800" spc="-85">
                <a:latin typeface="Cambria Math"/>
                <a:cs typeface="Cambria Math"/>
              </a:rPr>
              <a:t> </a:t>
            </a:r>
            <a:r>
              <a:rPr dirty="0" baseline="-39682" sz="4200">
                <a:latin typeface="Cambria Math"/>
                <a:cs typeface="Cambria Math"/>
              </a:rPr>
              <a:t>∑</a:t>
            </a:r>
            <a:endParaRPr baseline="-39682" sz="42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766284" y="2868966"/>
            <a:ext cx="994410" cy="429895"/>
          </a:xfrm>
          <a:custGeom>
            <a:avLst/>
            <a:gdLst/>
            <a:ahLst/>
            <a:cxnLst/>
            <a:rect l="l" t="t" r="r" b="b"/>
            <a:pathLst>
              <a:path w="994410" h="429895">
                <a:moveTo>
                  <a:pt x="880930" y="0"/>
                </a:moveTo>
                <a:lnTo>
                  <a:pt x="876589" y="14237"/>
                </a:lnTo>
                <a:lnTo>
                  <a:pt x="896323" y="24471"/>
                </a:lnTo>
                <a:lnTo>
                  <a:pt x="913507" y="39370"/>
                </a:lnTo>
                <a:lnTo>
                  <a:pt x="940225" y="83169"/>
                </a:lnTo>
                <a:lnTo>
                  <a:pt x="956438" y="142682"/>
                </a:lnTo>
                <a:lnTo>
                  <a:pt x="961843" y="214956"/>
                </a:lnTo>
                <a:lnTo>
                  <a:pt x="960492" y="252607"/>
                </a:lnTo>
                <a:lnTo>
                  <a:pt x="949683" y="318371"/>
                </a:lnTo>
                <a:lnTo>
                  <a:pt x="928141" y="370678"/>
                </a:lnTo>
                <a:lnTo>
                  <a:pt x="896323" y="405101"/>
                </a:lnTo>
                <a:lnTo>
                  <a:pt x="876589" y="415329"/>
                </a:lnTo>
                <a:lnTo>
                  <a:pt x="880930" y="429567"/>
                </a:lnTo>
                <a:lnTo>
                  <a:pt x="928896" y="403999"/>
                </a:lnTo>
                <a:lnTo>
                  <a:pt x="964446" y="355772"/>
                </a:lnTo>
                <a:lnTo>
                  <a:pt x="986455" y="290747"/>
                </a:lnTo>
                <a:lnTo>
                  <a:pt x="993791" y="214783"/>
                </a:lnTo>
                <a:lnTo>
                  <a:pt x="991957" y="175433"/>
                </a:lnTo>
                <a:lnTo>
                  <a:pt x="977285" y="104938"/>
                </a:lnTo>
                <a:lnTo>
                  <a:pt x="948223" y="46847"/>
                </a:lnTo>
                <a:lnTo>
                  <a:pt x="906465" y="9951"/>
                </a:lnTo>
                <a:lnTo>
                  <a:pt x="880930" y="0"/>
                </a:lnTo>
                <a:close/>
              </a:path>
              <a:path w="994410" h="429895">
                <a:moveTo>
                  <a:pt x="112861" y="0"/>
                </a:moveTo>
                <a:lnTo>
                  <a:pt x="64895" y="25567"/>
                </a:lnTo>
                <a:lnTo>
                  <a:pt x="29344" y="73793"/>
                </a:lnTo>
                <a:lnTo>
                  <a:pt x="7336" y="138818"/>
                </a:lnTo>
                <a:lnTo>
                  <a:pt x="0" y="214783"/>
                </a:lnTo>
                <a:lnTo>
                  <a:pt x="1834" y="254132"/>
                </a:lnTo>
                <a:lnTo>
                  <a:pt x="16506" y="324627"/>
                </a:lnTo>
                <a:lnTo>
                  <a:pt x="45568" y="382718"/>
                </a:lnTo>
                <a:lnTo>
                  <a:pt x="87326" y="419615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7"/>
                </a:lnTo>
                <a:lnTo>
                  <a:pt x="53566" y="346483"/>
                </a:lnTo>
                <a:lnTo>
                  <a:pt x="37353" y="287079"/>
                </a:lnTo>
                <a:lnTo>
                  <a:pt x="31955" y="214783"/>
                </a:lnTo>
                <a:lnTo>
                  <a:pt x="33300" y="177224"/>
                </a:lnTo>
                <a:lnTo>
                  <a:pt x="44108" y="111330"/>
                </a:lnTo>
                <a:lnTo>
                  <a:pt x="65649" y="58936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072216" y="2784348"/>
            <a:ext cx="1905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85">
                <a:latin typeface="Cambria Math"/>
                <a:cs typeface="Cambria Math"/>
              </a:rPr>
              <a:t>4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31" name="object 31"/>
          <p:cNvSpPr txBox="1"/>
          <p:nvPr/>
        </p:nvSpPr>
        <p:spPr>
          <a:xfrm>
            <a:off x="1610954" y="2816859"/>
            <a:ext cx="20110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3335" algn="l"/>
              </a:tabLst>
            </a:pPr>
            <a:r>
              <a:rPr dirty="0" baseline="-19444" sz="3000" spc="225">
                <a:latin typeface="Cambria Math"/>
                <a:cs typeface="Cambria Math"/>
              </a:rPr>
              <a:t>9∈1</a:t>
            </a:r>
            <a:r>
              <a:rPr dirty="0" baseline="-19444" sz="3000" spc="-60">
                <a:latin typeface="Cambria Math"/>
                <a:cs typeface="Cambria Math"/>
              </a:rPr>
              <a:t> </a:t>
            </a:r>
            <a:r>
              <a:rPr dirty="0" sz="2800" spc="-15">
                <a:latin typeface="Cambria Math"/>
                <a:cs typeface="Cambria Math"/>
              </a:rPr>
              <a:t>exp	</a:t>
            </a:r>
            <a:r>
              <a:rPr dirty="0" sz="2800" spc="290">
                <a:latin typeface="Cambria Math"/>
                <a:cs typeface="Cambria Math"/>
              </a:rPr>
              <a:t>𝐳</a:t>
            </a:r>
            <a:r>
              <a:rPr dirty="0" baseline="-16666" sz="3000" spc="434">
                <a:latin typeface="Cambria Math"/>
                <a:cs typeface="Cambria Math"/>
              </a:rPr>
              <a:t>'</a:t>
            </a:r>
            <a:r>
              <a:rPr dirty="0" sz="2800" spc="290">
                <a:latin typeface="Cambria Math"/>
                <a:cs typeface="Cambria Math"/>
              </a:rPr>
              <a:t>𝐳</a:t>
            </a:r>
            <a:r>
              <a:rPr dirty="0" baseline="-16666" sz="3000" spc="434">
                <a:latin typeface="Cambria Math"/>
                <a:cs typeface="Cambria Math"/>
              </a:rPr>
              <a:t>9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78653" y="2545587"/>
            <a:ext cx="1733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313943"/>
            <a:ext cx="5218176" cy="627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26989" y="1617980"/>
            <a:ext cx="262064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555625" marR="5080" indent="-542925">
              <a:lnSpc>
                <a:spcPct val="100800"/>
              </a:lnSpc>
              <a:spcBef>
                <a:spcPts val="75"/>
              </a:spcBef>
            </a:pPr>
            <a:r>
              <a:rPr dirty="0" sz="2400">
                <a:solidFill>
                  <a:srgbClr val="5A6378"/>
                </a:solidFill>
                <a:latin typeface="Arial"/>
                <a:cs typeface="Arial"/>
              </a:rPr>
              <a:t>random</a:t>
            </a:r>
            <a:r>
              <a:rPr dirty="0" sz="2400" spc="-55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5A6378"/>
                </a:solidFill>
                <a:latin typeface="Arial"/>
                <a:cs typeface="Arial"/>
              </a:rPr>
              <a:t>distribution  </a:t>
            </a:r>
            <a:r>
              <a:rPr dirty="0" sz="2400">
                <a:solidFill>
                  <a:srgbClr val="5A6378"/>
                </a:solidFill>
                <a:latin typeface="Arial"/>
                <a:cs typeface="Arial"/>
              </a:rPr>
              <a:t>over</a:t>
            </a:r>
            <a:r>
              <a:rPr dirty="0" sz="2400" spc="-105">
                <a:solidFill>
                  <a:srgbClr val="5A6378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5A6378"/>
                </a:solidFill>
                <a:latin typeface="Arial"/>
                <a:cs typeface="Arial"/>
              </a:rPr>
              <a:t>nodes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20004" y="2469621"/>
            <a:ext cx="286385" cy="631190"/>
          </a:xfrm>
          <a:custGeom>
            <a:avLst/>
            <a:gdLst/>
            <a:ahLst/>
            <a:cxnLst/>
            <a:rect l="l" t="t" r="r" b="b"/>
            <a:pathLst>
              <a:path w="286384" h="631189">
                <a:moveTo>
                  <a:pt x="221824" y="541394"/>
                </a:moveTo>
                <a:lnTo>
                  <a:pt x="189695" y="555090"/>
                </a:lnTo>
                <a:lnTo>
                  <a:pt x="278974" y="630929"/>
                </a:lnTo>
                <a:lnTo>
                  <a:pt x="282793" y="568076"/>
                </a:lnTo>
                <a:lnTo>
                  <a:pt x="244792" y="568076"/>
                </a:lnTo>
                <a:lnTo>
                  <a:pt x="238219" y="566811"/>
                </a:lnTo>
                <a:lnTo>
                  <a:pt x="232600" y="563172"/>
                </a:lnTo>
                <a:lnTo>
                  <a:pt x="228672" y="557458"/>
                </a:lnTo>
                <a:lnTo>
                  <a:pt x="221824" y="541394"/>
                </a:lnTo>
                <a:close/>
              </a:path>
              <a:path w="286384" h="631189">
                <a:moveTo>
                  <a:pt x="253951" y="527698"/>
                </a:moveTo>
                <a:lnTo>
                  <a:pt x="221824" y="541394"/>
                </a:lnTo>
                <a:lnTo>
                  <a:pt x="228672" y="557458"/>
                </a:lnTo>
                <a:lnTo>
                  <a:pt x="232600" y="563172"/>
                </a:lnTo>
                <a:lnTo>
                  <a:pt x="238219" y="566811"/>
                </a:lnTo>
                <a:lnTo>
                  <a:pt x="244792" y="568076"/>
                </a:lnTo>
                <a:lnTo>
                  <a:pt x="251582" y="566673"/>
                </a:lnTo>
                <a:lnTo>
                  <a:pt x="257297" y="562746"/>
                </a:lnTo>
                <a:lnTo>
                  <a:pt x="260936" y="557127"/>
                </a:lnTo>
                <a:lnTo>
                  <a:pt x="262202" y="550554"/>
                </a:lnTo>
                <a:lnTo>
                  <a:pt x="260799" y="543763"/>
                </a:lnTo>
                <a:lnTo>
                  <a:pt x="253951" y="527698"/>
                </a:lnTo>
                <a:close/>
              </a:path>
              <a:path w="286384" h="631189">
                <a:moveTo>
                  <a:pt x="286080" y="514003"/>
                </a:moveTo>
                <a:lnTo>
                  <a:pt x="253951" y="527698"/>
                </a:lnTo>
                <a:lnTo>
                  <a:pt x="260799" y="543763"/>
                </a:lnTo>
                <a:lnTo>
                  <a:pt x="262202" y="550554"/>
                </a:lnTo>
                <a:lnTo>
                  <a:pt x="260936" y="557127"/>
                </a:lnTo>
                <a:lnTo>
                  <a:pt x="257297" y="562746"/>
                </a:lnTo>
                <a:lnTo>
                  <a:pt x="251582" y="566673"/>
                </a:lnTo>
                <a:lnTo>
                  <a:pt x="244792" y="568076"/>
                </a:lnTo>
                <a:lnTo>
                  <a:pt x="282793" y="568076"/>
                </a:lnTo>
                <a:lnTo>
                  <a:pt x="286080" y="514003"/>
                </a:lnTo>
                <a:close/>
              </a:path>
              <a:path w="286384" h="631189">
                <a:moveTo>
                  <a:pt x="17410" y="0"/>
                </a:moveTo>
                <a:lnTo>
                  <a:pt x="10619" y="1403"/>
                </a:lnTo>
                <a:lnTo>
                  <a:pt x="4904" y="5331"/>
                </a:lnTo>
                <a:lnTo>
                  <a:pt x="1265" y="10950"/>
                </a:lnTo>
                <a:lnTo>
                  <a:pt x="0" y="17524"/>
                </a:lnTo>
                <a:lnTo>
                  <a:pt x="1403" y="24315"/>
                </a:lnTo>
                <a:lnTo>
                  <a:pt x="221824" y="541394"/>
                </a:lnTo>
                <a:lnTo>
                  <a:pt x="253951" y="527698"/>
                </a:lnTo>
                <a:lnTo>
                  <a:pt x="33531" y="10619"/>
                </a:lnTo>
                <a:lnTo>
                  <a:pt x="29603" y="4904"/>
                </a:lnTo>
                <a:lnTo>
                  <a:pt x="23984" y="1265"/>
                </a:lnTo>
                <a:lnTo>
                  <a:pt x="17410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3474" y="3986276"/>
            <a:ext cx="7538720" cy="267208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355600" marR="807720" indent="-342900">
              <a:lnSpc>
                <a:spcPts val="3190"/>
              </a:lnSpc>
              <a:spcBef>
                <a:spcPts val="545"/>
              </a:spcBef>
              <a:buFont typeface="Malgun Gothic"/>
              <a:buChar char="▪"/>
              <a:tabLst>
                <a:tab pos="355600" algn="l"/>
              </a:tabLst>
            </a:pPr>
            <a:r>
              <a:rPr dirty="0" sz="3000" spc="-5">
                <a:solidFill>
                  <a:srgbClr val="0000FF"/>
                </a:solidFill>
                <a:latin typeface="Calibri"/>
                <a:cs typeface="Calibri"/>
              </a:rPr>
              <a:t>Sample </a:t>
            </a:r>
            <a:r>
              <a:rPr dirty="0" sz="3000">
                <a:solidFill>
                  <a:srgbClr val="0000FF"/>
                </a:solidFill>
                <a:latin typeface="Cambria Math"/>
                <a:cs typeface="Cambria Math"/>
              </a:rPr>
              <a:t>𝑘 </a:t>
            </a:r>
            <a:r>
              <a:rPr dirty="0" sz="3000" spc="-20">
                <a:solidFill>
                  <a:srgbClr val="0000FF"/>
                </a:solidFill>
                <a:latin typeface="Calibri"/>
                <a:cs typeface="Calibri"/>
              </a:rPr>
              <a:t>negative </a:t>
            </a:r>
            <a:r>
              <a:rPr dirty="0" sz="3000" spc="-5">
                <a:solidFill>
                  <a:srgbClr val="0000FF"/>
                </a:solidFill>
                <a:latin typeface="Calibri"/>
                <a:cs typeface="Calibri"/>
              </a:rPr>
              <a:t>nodes each with </a:t>
            </a:r>
            <a:r>
              <a:rPr dirty="0" sz="3000" spc="-120">
                <a:solidFill>
                  <a:srgbClr val="0000FF"/>
                </a:solidFill>
                <a:latin typeface="Calibri"/>
                <a:cs typeface="Calibri"/>
              </a:rPr>
              <a:t>prob.  </a:t>
            </a:r>
            <a:r>
              <a:rPr dirty="0" sz="3000" spc="-10">
                <a:solidFill>
                  <a:srgbClr val="0000FF"/>
                </a:solidFill>
                <a:latin typeface="Calibri"/>
                <a:cs typeface="Calibri"/>
              </a:rPr>
              <a:t>proportional </a:t>
            </a:r>
            <a:r>
              <a:rPr dirty="0" sz="3000" spc="-2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000" spc="-5">
                <a:solidFill>
                  <a:srgbClr val="0000FF"/>
                </a:solidFill>
                <a:latin typeface="Calibri"/>
                <a:cs typeface="Calibri"/>
              </a:rPr>
              <a:t>its</a:t>
            </a:r>
            <a:r>
              <a:rPr dirty="0" sz="3000" spc="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15">
                <a:solidFill>
                  <a:srgbClr val="0000FF"/>
                </a:solidFill>
                <a:latin typeface="Calibri"/>
                <a:cs typeface="Calibri"/>
              </a:rPr>
              <a:t>degree</a:t>
            </a:r>
            <a:endParaRPr sz="3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Malgun Gothic"/>
              <a:buChar char="▪"/>
              <a:tabLst>
                <a:tab pos="355600" algn="l"/>
              </a:tabLst>
            </a:pPr>
            <a:r>
              <a:rPr dirty="0" sz="3000" spc="-55">
                <a:latin typeface="Calibri"/>
                <a:cs typeface="Calibri"/>
              </a:rPr>
              <a:t>Two </a:t>
            </a:r>
            <a:r>
              <a:rPr dirty="0" sz="3000" spc="-15">
                <a:latin typeface="Calibri"/>
                <a:cs typeface="Calibri"/>
              </a:rPr>
              <a:t>considerations </a:t>
            </a:r>
            <a:r>
              <a:rPr dirty="0" sz="3000" spc="-25">
                <a:latin typeface="Calibri"/>
                <a:cs typeface="Calibri"/>
              </a:rPr>
              <a:t>for </a:t>
            </a:r>
            <a:r>
              <a:rPr dirty="0" sz="3000">
                <a:latin typeface="Cambria Math"/>
                <a:cs typeface="Cambria Math"/>
              </a:rPr>
              <a:t>𝑘 </a:t>
            </a:r>
            <a:r>
              <a:rPr dirty="0" sz="3000">
                <a:latin typeface="Calibri"/>
                <a:cs typeface="Calibri"/>
              </a:rPr>
              <a:t>(# </a:t>
            </a:r>
            <a:r>
              <a:rPr dirty="0" sz="3000" spc="-20">
                <a:latin typeface="Calibri"/>
                <a:cs typeface="Calibri"/>
              </a:rPr>
              <a:t>negative</a:t>
            </a:r>
            <a:r>
              <a:rPr dirty="0" sz="3000" spc="204">
                <a:latin typeface="Calibri"/>
                <a:cs typeface="Calibri"/>
              </a:rPr>
              <a:t> </a:t>
            </a:r>
            <a:r>
              <a:rPr dirty="0" sz="3000" spc="-55">
                <a:latin typeface="Calibri"/>
                <a:cs typeface="Calibri"/>
              </a:rPr>
              <a:t>samples):</a:t>
            </a:r>
            <a:endParaRPr sz="3000">
              <a:latin typeface="Calibri"/>
              <a:cs typeface="Calibri"/>
            </a:endParaRPr>
          </a:p>
          <a:p>
            <a:pPr lvl="1" marL="6223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1078865" algn="l"/>
                <a:tab pos="1079500" algn="l"/>
              </a:tabLst>
            </a:pPr>
            <a:r>
              <a:rPr dirty="0" sz="2200" spc="-5">
                <a:latin typeface="Calibri"/>
                <a:cs typeface="Calibri"/>
              </a:rPr>
              <a:t>Higher </a:t>
            </a:r>
            <a:r>
              <a:rPr dirty="0" sz="2200">
                <a:latin typeface="Cambria Math"/>
                <a:cs typeface="Cambria Math"/>
              </a:rPr>
              <a:t>𝑘 </a:t>
            </a:r>
            <a:r>
              <a:rPr dirty="0" sz="2200" spc="-10">
                <a:latin typeface="Calibri"/>
                <a:cs typeface="Calibri"/>
              </a:rPr>
              <a:t>gives more </a:t>
            </a:r>
            <a:r>
              <a:rPr dirty="0" sz="2200" spc="-15">
                <a:latin typeface="Calibri"/>
                <a:cs typeface="Calibri"/>
              </a:rPr>
              <a:t>robust</a:t>
            </a:r>
            <a:r>
              <a:rPr dirty="0" sz="2200" spc="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estimates</a:t>
            </a:r>
            <a:endParaRPr sz="2200">
              <a:latin typeface="Calibri"/>
              <a:cs typeface="Calibri"/>
            </a:endParaRPr>
          </a:p>
          <a:p>
            <a:pPr lvl="1" marL="622300" marR="213360">
              <a:lnSpc>
                <a:spcPct val="124500"/>
              </a:lnSpc>
              <a:spcBef>
                <a:spcPts val="25"/>
              </a:spcBef>
              <a:buAutoNum type="arabicPeriod"/>
              <a:tabLst>
                <a:tab pos="1078865" algn="l"/>
                <a:tab pos="1079500" algn="l"/>
              </a:tabLst>
            </a:pPr>
            <a:r>
              <a:rPr dirty="0" sz="2200" spc="-5">
                <a:latin typeface="Calibri"/>
                <a:cs typeface="Calibri"/>
              </a:rPr>
              <a:t>Higher </a:t>
            </a:r>
            <a:r>
              <a:rPr dirty="0" sz="2200">
                <a:latin typeface="Cambria Math"/>
                <a:cs typeface="Cambria Math"/>
              </a:rPr>
              <a:t>𝑘 </a:t>
            </a:r>
            <a:r>
              <a:rPr dirty="0" sz="2200" spc="-10">
                <a:latin typeface="Calibri"/>
                <a:cs typeface="Calibri"/>
              </a:rPr>
              <a:t>corresponds to </a:t>
            </a:r>
            <a:r>
              <a:rPr dirty="0" sz="2200" spc="-5">
                <a:latin typeface="Calibri"/>
                <a:cs typeface="Calibri"/>
              </a:rPr>
              <a:t>higher </a:t>
            </a:r>
            <a:r>
              <a:rPr dirty="0" sz="2200" spc="-10">
                <a:latin typeface="Calibri"/>
                <a:cs typeface="Calibri"/>
              </a:rPr>
              <a:t>bias </a:t>
            </a:r>
            <a:r>
              <a:rPr dirty="0" sz="2200">
                <a:latin typeface="Calibri"/>
                <a:cs typeface="Calibri"/>
              </a:rPr>
              <a:t>on </a:t>
            </a:r>
            <a:r>
              <a:rPr dirty="0" sz="2200" spc="-15">
                <a:latin typeface="Calibri"/>
                <a:cs typeface="Calibri"/>
              </a:rPr>
              <a:t>negative events  </a:t>
            </a:r>
            <a:r>
              <a:rPr dirty="0" sz="2200" spc="-5">
                <a:latin typeface="Calibri"/>
                <a:cs typeface="Calibri"/>
              </a:rPr>
              <a:t>In </a:t>
            </a:r>
            <a:r>
              <a:rPr dirty="0" sz="2200" spc="-15">
                <a:latin typeface="Calibri"/>
                <a:cs typeface="Calibri"/>
              </a:rPr>
              <a:t>practice </a:t>
            </a:r>
            <a:r>
              <a:rPr dirty="0" sz="2200">
                <a:latin typeface="Cambria Math"/>
                <a:cs typeface="Cambria Math"/>
              </a:rPr>
              <a:t>𝑘</a:t>
            </a:r>
            <a:r>
              <a:rPr dirty="0" sz="2200" spc="130">
                <a:latin typeface="Cambria Math"/>
                <a:cs typeface="Cambria Math"/>
              </a:rPr>
              <a:t> </a:t>
            </a:r>
            <a:r>
              <a:rPr dirty="0" sz="2200" spc="-5">
                <a:latin typeface="Cambria Math"/>
                <a:cs typeface="Cambria Math"/>
              </a:rPr>
              <a:t>=</a:t>
            </a:r>
            <a:r>
              <a:rPr dirty="0" sz="2200" spc="-5">
                <a:latin typeface="Calibri"/>
                <a:cs typeface="Calibri"/>
              </a:rPr>
              <a:t>5-20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84087" y="3110871"/>
            <a:ext cx="1540510" cy="586740"/>
          </a:xfrm>
          <a:custGeom>
            <a:avLst/>
            <a:gdLst/>
            <a:ahLst/>
            <a:cxnLst/>
            <a:rect l="l" t="t" r="r" b="b"/>
            <a:pathLst>
              <a:path w="1540510" h="586739">
                <a:moveTo>
                  <a:pt x="1413682" y="0"/>
                </a:moveTo>
                <a:lnTo>
                  <a:pt x="1408126" y="13891"/>
                </a:lnTo>
                <a:lnTo>
                  <a:pt x="1429988" y="31661"/>
                </a:lnTo>
                <a:lnTo>
                  <a:pt x="1449386" y="54759"/>
                </a:lnTo>
                <a:lnTo>
                  <a:pt x="1480792" y="116941"/>
                </a:lnTo>
                <a:lnTo>
                  <a:pt x="1492376" y="155287"/>
                </a:lnTo>
                <a:lnTo>
                  <a:pt x="1500651" y="197485"/>
                </a:lnTo>
                <a:lnTo>
                  <a:pt x="1505616" y="243536"/>
                </a:lnTo>
                <a:lnTo>
                  <a:pt x="1507271" y="293439"/>
                </a:lnTo>
                <a:lnTo>
                  <a:pt x="1505627" y="342555"/>
                </a:lnTo>
                <a:lnTo>
                  <a:pt x="1500694" y="388156"/>
                </a:lnTo>
                <a:lnTo>
                  <a:pt x="1492474" y="430240"/>
                </a:lnTo>
                <a:lnTo>
                  <a:pt x="1480966" y="468809"/>
                </a:lnTo>
                <a:lnTo>
                  <a:pt x="1449603" y="531577"/>
                </a:lnTo>
                <a:lnTo>
                  <a:pt x="1408126" y="572641"/>
                </a:lnTo>
                <a:lnTo>
                  <a:pt x="1413682" y="586531"/>
                </a:lnTo>
                <a:lnTo>
                  <a:pt x="1465881" y="544773"/>
                </a:lnTo>
                <a:lnTo>
                  <a:pt x="1506142" y="477837"/>
                </a:lnTo>
                <a:lnTo>
                  <a:pt x="1521145" y="436469"/>
                </a:lnTo>
                <a:lnTo>
                  <a:pt x="1531861" y="391889"/>
                </a:lnTo>
                <a:lnTo>
                  <a:pt x="1538291" y="344096"/>
                </a:lnTo>
                <a:lnTo>
                  <a:pt x="1540435" y="293091"/>
                </a:lnTo>
                <a:lnTo>
                  <a:pt x="1538291" y="241827"/>
                </a:lnTo>
                <a:lnTo>
                  <a:pt x="1531861" y="193948"/>
                </a:lnTo>
                <a:lnTo>
                  <a:pt x="1521145" y="149454"/>
                </a:lnTo>
                <a:lnTo>
                  <a:pt x="1506142" y="108347"/>
                </a:lnTo>
                <a:lnTo>
                  <a:pt x="1487504" y="72014"/>
                </a:lnTo>
                <a:lnTo>
                  <a:pt x="1441274" y="17841"/>
                </a:lnTo>
                <a:lnTo>
                  <a:pt x="1413682" y="0"/>
                </a:lnTo>
                <a:close/>
              </a:path>
              <a:path w="1540510" h="586739">
                <a:moveTo>
                  <a:pt x="126578" y="0"/>
                </a:moveTo>
                <a:lnTo>
                  <a:pt x="74510" y="41846"/>
                </a:lnTo>
                <a:lnTo>
                  <a:pt x="34292" y="108347"/>
                </a:lnTo>
                <a:lnTo>
                  <a:pt x="19289" y="149454"/>
                </a:lnTo>
                <a:lnTo>
                  <a:pt x="8573" y="193948"/>
                </a:lnTo>
                <a:lnTo>
                  <a:pt x="2143" y="241827"/>
                </a:lnTo>
                <a:lnTo>
                  <a:pt x="0" y="293091"/>
                </a:lnTo>
                <a:lnTo>
                  <a:pt x="2143" y="344096"/>
                </a:lnTo>
                <a:lnTo>
                  <a:pt x="8573" y="391889"/>
                </a:lnTo>
                <a:lnTo>
                  <a:pt x="19289" y="436469"/>
                </a:lnTo>
                <a:lnTo>
                  <a:pt x="34292" y="477837"/>
                </a:lnTo>
                <a:lnTo>
                  <a:pt x="52920" y="514452"/>
                </a:lnTo>
                <a:lnTo>
                  <a:pt x="99063" y="568799"/>
                </a:lnTo>
                <a:lnTo>
                  <a:pt x="126578" y="586531"/>
                </a:lnTo>
                <a:lnTo>
                  <a:pt x="132308" y="572641"/>
                </a:lnTo>
                <a:lnTo>
                  <a:pt x="110235" y="554822"/>
                </a:lnTo>
                <a:lnTo>
                  <a:pt x="90723" y="531577"/>
                </a:lnTo>
                <a:lnTo>
                  <a:pt x="59382" y="468809"/>
                </a:lnTo>
                <a:lnTo>
                  <a:pt x="47912" y="430240"/>
                </a:lnTo>
                <a:lnTo>
                  <a:pt x="39719" y="388156"/>
                </a:lnTo>
                <a:lnTo>
                  <a:pt x="34803" y="342555"/>
                </a:lnTo>
                <a:lnTo>
                  <a:pt x="33164" y="293439"/>
                </a:lnTo>
                <a:lnTo>
                  <a:pt x="34819" y="243536"/>
                </a:lnTo>
                <a:lnTo>
                  <a:pt x="39784" y="197485"/>
                </a:lnTo>
                <a:lnTo>
                  <a:pt x="48058" y="155287"/>
                </a:lnTo>
                <a:lnTo>
                  <a:pt x="59643" y="116941"/>
                </a:lnTo>
                <a:lnTo>
                  <a:pt x="91048" y="54759"/>
                </a:lnTo>
                <a:lnTo>
                  <a:pt x="132308" y="13891"/>
                </a:lnTo>
                <a:lnTo>
                  <a:pt x="1265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75751" y="3189337"/>
            <a:ext cx="974090" cy="429895"/>
          </a:xfrm>
          <a:custGeom>
            <a:avLst/>
            <a:gdLst/>
            <a:ahLst/>
            <a:cxnLst/>
            <a:rect l="l" t="t" r="r" b="b"/>
            <a:pathLst>
              <a:path w="974089" h="429895">
                <a:moveTo>
                  <a:pt x="860864" y="0"/>
                </a:moveTo>
                <a:lnTo>
                  <a:pt x="856523" y="14237"/>
                </a:lnTo>
                <a:lnTo>
                  <a:pt x="876257" y="24471"/>
                </a:lnTo>
                <a:lnTo>
                  <a:pt x="893441" y="39371"/>
                </a:lnTo>
                <a:lnTo>
                  <a:pt x="920159" y="83169"/>
                </a:lnTo>
                <a:lnTo>
                  <a:pt x="936372" y="142682"/>
                </a:lnTo>
                <a:lnTo>
                  <a:pt x="941777" y="214957"/>
                </a:lnTo>
                <a:lnTo>
                  <a:pt x="940426" y="252608"/>
                </a:lnTo>
                <a:lnTo>
                  <a:pt x="929617" y="318371"/>
                </a:lnTo>
                <a:lnTo>
                  <a:pt x="908075" y="370678"/>
                </a:lnTo>
                <a:lnTo>
                  <a:pt x="876257" y="405101"/>
                </a:lnTo>
                <a:lnTo>
                  <a:pt x="856523" y="415329"/>
                </a:lnTo>
                <a:lnTo>
                  <a:pt x="860864" y="429567"/>
                </a:lnTo>
                <a:lnTo>
                  <a:pt x="908830" y="404000"/>
                </a:lnTo>
                <a:lnTo>
                  <a:pt x="944380" y="355773"/>
                </a:lnTo>
                <a:lnTo>
                  <a:pt x="966389" y="290748"/>
                </a:lnTo>
                <a:lnTo>
                  <a:pt x="973725" y="214783"/>
                </a:lnTo>
                <a:lnTo>
                  <a:pt x="971891" y="175434"/>
                </a:lnTo>
                <a:lnTo>
                  <a:pt x="957219" y="104938"/>
                </a:lnTo>
                <a:lnTo>
                  <a:pt x="928157" y="46847"/>
                </a:lnTo>
                <a:lnTo>
                  <a:pt x="886399" y="9951"/>
                </a:lnTo>
                <a:lnTo>
                  <a:pt x="860864" y="0"/>
                </a:lnTo>
                <a:close/>
              </a:path>
              <a:path w="974089" h="429895">
                <a:moveTo>
                  <a:pt x="112861" y="0"/>
                </a:moveTo>
                <a:lnTo>
                  <a:pt x="64895" y="25567"/>
                </a:lnTo>
                <a:lnTo>
                  <a:pt x="29344" y="73793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7"/>
                </a:lnTo>
                <a:lnTo>
                  <a:pt x="53566" y="346483"/>
                </a:lnTo>
                <a:lnTo>
                  <a:pt x="37353" y="287080"/>
                </a:lnTo>
                <a:lnTo>
                  <a:pt x="31955" y="214783"/>
                </a:lnTo>
                <a:lnTo>
                  <a:pt x="33300" y="177225"/>
                </a:lnTo>
                <a:lnTo>
                  <a:pt x="44108" y="111331"/>
                </a:lnTo>
                <a:lnTo>
                  <a:pt x="65649" y="58937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67776" y="3311652"/>
            <a:ext cx="5422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5445" algn="l"/>
              </a:tabLst>
            </a:pPr>
            <a:r>
              <a:rPr dirty="0" sz="2000" spc="825">
                <a:latin typeface="Cambria Math"/>
                <a:cs typeface="Cambria Math"/>
              </a:rPr>
              <a:t>'</a:t>
            </a:r>
            <a:r>
              <a:rPr dirty="0" sz="2000" spc="825">
                <a:latin typeface="Cambria Math"/>
                <a:cs typeface="Cambria Math"/>
              </a:rPr>
              <a:t>	</a:t>
            </a:r>
            <a:r>
              <a:rPr dirty="0" sz="2000" spc="300">
                <a:latin typeface="Cambria Math"/>
                <a:cs typeface="Cambria Math"/>
              </a:rPr>
              <a:t>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877" y="3136899"/>
            <a:ext cx="34036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8705" algn="l"/>
                <a:tab pos="1445260" algn="l"/>
                <a:tab pos="2574925" algn="l"/>
              </a:tabLst>
            </a:pPr>
            <a:r>
              <a:rPr dirty="0" sz="2800">
                <a:latin typeface="Cambria Math"/>
                <a:cs typeface="Cambria Math"/>
              </a:rPr>
              <a:t>≈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log	</a:t>
            </a:r>
            <a:r>
              <a:rPr dirty="0" sz="2800">
                <a:latin typeface="Cambria Math"/>
                <a:cs typeface="Cambria Math"/>
              </a:rPr>
              <a:t>𝜎	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r>
              <a:rPr dirty="0" baseline="29166" sz="3000" spc="187">
                <a:latin typeface="Cambria Math"/>
                <a:cs typeface="Cambria Math"/>
              </a:rPr>
              <a:t>4</a:t>
            </a:r>
            <a:r>
              <a:rPr dirty="0" sz="2800" spc="125">
                <a:latin typeface="Cambria Math"/>
                <a:cs typeface="Cambria Math"/>
              </a:rPr>
              <a:t>𝐳	</a:t>
            </a:r>
            <a:r>
              <a:rPr dirty="0" sz="2800">
                <a:latin typeface="Cambria Math"/>
                <a:cs typeface="Cambria Math"/>
              </a:rPr>
              <a:t>−</a:t>
            </a:r>
            <a:r>
              <a:rPr dirty="0" sz="2800" spc="-100">
                <a:latin typeface="Cambria Math"/>
                <a:cs typeface="Cambria Math"/>
              </a:rPr>
              <a:t> </a:t>
            </a:r>
            <a:r>
              <a:rPr dirty="0" sz="2800" spc="3040">
                <a:latin typeface="Cambria Math"/>
                <a:cs typeface="Cambria Math"/>
              </a:rPr>
              <a:t>'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6886" y="3531108"/>
            <a:ext cx="46100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30">
                <a:latin typeface="Cambria Math"/>
                <a:cs typeface="Cambria Math"/>
              </a:rPr>
              <a:t>5</a:t>
            </a:r>
            <a:r>
              <a:rPr dirty="0" sz="2000" spc="370">
                <a:latin typeface="Cambria Math"/>
                <a:cs typeface="Cambria Math"/>
              </a:rPr>
              <a:t>6</a:t>
            </a:r>
            <a:r>
              <a:rPr dirty="0" sz="2000" spc="40">
                <a:latin typeface="Cambria Math"/>
                <a:cs typeface="Cambria Math"/>
              </a:rPr>
              <a:t>7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6886" y="2878835"/>
            <a:ext cx="1790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0"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99638" y="3110871"/>
            <a:ext cx="1646555" cy="586740"/>
          </a:xfrm>
          <a:custGeom>
            <a:avLst/>
            <a:gdLst/>
            <a:ahLst/>
            <a:cxnLst/>
            <a:rect l="l" t="t" r="r" b="b"/>
            <a:pathLst>
              <a:path w="1646554" h="586739">
                <a:moveTo>
                  <a:pt x="1519410" y="0"/>
                </a:moveTo>
                <a:lnTo>
                  <a:pt x="1513853" y="13891"/>
                </a:lnTo>
                <a:lnTo>
                  <a:pt x="1535715" y="31661"/>
                </a:lnTo>
                <a:lnTo>
                  <a:pt x="1555113" y="54759"/>
                </a:lnTo>
                <a:lnTo>
                  <a:pt x="1586519" y="116941"/>
                </a:lnTo>
                <a:lnTo>
                  <a:pt x="1598104" y="155287"/>
                </a:lnTo>
                <a:lnTo>
                  <a:pt x="1606379" y="197485"/>
                </a:lnTo>
                <a:lnTo>
                  <a:pt x="1611344" y="243536"/>
                </a:lnTo>
                <a:lnTo>
                  <a:pt x="1612999" y="293439"/>
                </a:lnTo>
                <a:lnTo>
                  <a:pt x="1611354" y="342555"/>
                </a:lnTo>
                <a:lnTo>
                  <a:pt x="1606422" y="388156"/>
                </a:lnTo>
                <a:lnTo>
                  <a:pt x="1598201" y="430240"/>
                </a:lnTo>
                <a:lnTo>
                  <a:pt x="1586693" y="468809"/>
                </a:lnTo>
                <a:lnTo>
                  <a:pt x="1555330" y="531577"/>
                </a:lnTo>
                <a:lnTo>
                  <a:pt x="1513853" y="572641"/>
                </a:lnTo>
                <a:lnTo>
                  <a:pt x="1519410" y="586531"/>
                </a:lnTo>
                <a:lnTo>
                  <a:pt x="1571608" y="544773"/>
                </a:lnTo>
                <a:lnTo>
                  <a:pt x="1611870" y="477837"/>
                </a:lnTo>
                <a:lnTo>
                  <a:pt x="1626872" y="436469"/>
                </a:lnTo>
                <a:lnTo>
                  <a:pt x="1637589" y="391889"/>
                </a:lnTo>
                <a:lnTo>
                  <a:pt x="1644019" y="344096"/>
                </a:lnTo>
                <a:lnTo>
                  <a:pt x="1646162" y="293091"/>
                </a:lnTo>
                <a:lnTo>
                  <a:pt x="1644019" y="241827"/>
                </a:lnTo>
                <a:lnTo>
                  <a:pt x="1637589" y="193948"/>
                </a:lnTo>
                <a:lnTo>
                  <a:pt x="1626872" y="149454"/>
                </a:lnTo>
                <a:lnTo>
                  <a:pt x="1611870" y="108347"/>
                </a:lnTo>
                <a:lnTo>
                  <a:pt x="1593231" y="72014"/>
                </a:lnTo>
                <a:lnTo>
                  <a:pt x="1547001" y="17841"/>
                </a:lnTo>
                <a:lnTo>
                  <a:pt x="1519410" y="0"/>
                </a:lnTo>
                <a:close/>
              </a:path>
              <a:path w="1646554" h="586739">
                <a:moveTo>
                  <a:pt x="126578" y="0"/>
                </a:moveTo>
                <a:lnTo>
                  <a:pt x="74510" y="41846"/>
                </a:lnTo>
                <a:lnTo>
                  <a:pt x="34292" y="108347"/>
                </a:lnTo>
                <a:lnTo>
                  <a:pt x="19289" y="149454"/>
                </a:lnTo>
                <a:lnTo>
                  <a:pt x="8573" y="193948"/>
                </a:lnTo>
                <a:lnTo>
                  <a:pt x="2143" y="241827"/>
                </a:lnTo>
                <a:lnTo>
                  <a:pt x="0" y="293091"/>
                </a:lnTo>
                <a:lnTo>
                  <a:pt x="2143" y="344096"/>
                </a:lnTo>
                <a:lnTo>
                  <a:pt x="8573" y="391889"/>
                </a:lnTo>
                <a:lnTo>
                  <a:pt x="19289" y="436469"/>
                </a:lnTo>
                <a:lnTo>
                  <a:pt x="34292" y="477837"/>
                </a:lnTo>
                <a:lnTo>
                  <a:pt x="52920" y="514452"/>
                </a:lnTo>
                <a:lnTo>
                  <a:pt x="99063" y="568799"/>
                </a:lnTo>
                <a:lnTo>
                  <a:pt x="126578" y="586531"/>
                </a:lnTo>
                <a:lnTo>
                  <a:pt x="132308" y="572641"/>
                </a:lnTo>
                <a:lnTo>
                  <a:pt x="110235" y="554822"/>
                </a:lnTo>
                <a:lnTo>
                  <a:pt x="90723" y="531577"/>
                </a:lnTo>
                <a:lnTo>
                  <a:pt x="59382" y="468809"/>
                </a:lnTo>
                <a:lnTo>
                  <a:pt x="47911" y="430240"/>
                </a:lnTo>
                <a:lnTo>
                  <a:pt x="39718" y="388156"/>
                </a:lnTo>
                <a:lnTo>
                  <a:pt x="34802" y="342555"/>
                </a:lnTo>
                <a:lnTo>
                  <a:pt x="33163" y="293439"/>
                </a:lnTo>
                <a:lnTo>
                  <a:pt x="34818" y="243536"/>
                </a:lnTo>
                <a:lnTo>
                  <a:pt x="39783" y="197485"/>
                </a:lnTo>
                <a:lnTo>
                  <a:pt x="48058" y="155287"/>
                </a:lnTo>
                <a:lnTo>
                  <a:pt x="59643" y="116941"/>
                </a:lnTo>
                <a:lnTo>
                  <a:pt x="91048" y="54759"/>
                </a:lnTo>
                <a:lnTo>
                  <a:pt x="132308" y="13891"/>
                </a:lnTo>
                <a:lnTo>
                  <a:pt x="1265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91302" y="3189337"/>
            <a:ext cx="1079500" cy="429895"/>
          </a:xfrm>
          <a:custGeom>
            <a:avLst/>
            <a:gdLst/>
            <a:ahLst/>
            <a:cxnLst/>
            <a:rect l="l" t="t" r="r" b="b"/>
            <a:pathLst>
              <a:path w="1079500" h="429895">
                <a:moveTo>
                  <a:pt x="966590" y="0"/>
                </a:moveTo>
                <a:lnTo>
                  <a:pt x="962249" y="14237"/>
                </a:lnTo>
                <a:lnTo>
                  <a:pt x="981984" y="24471"/>
                </a:lnTo>
                <a:lnTo>
                  <a:pt x="999169" y="39371"/>
                </a:lnTo>
                <a:lnTo>
                  <a:pt x="1025886" y="83169"/>
                </a:lnTo>
                <a:lnTo>
                  <a:pt x="1042099" y="142682"/>
                </a:lnTo>
                <a:lnTo>
                  <a:pt x="1047503" y="214957"/>
                </a:lnTo>
                <a:lnTo>
                  <a:pt x="1046152" y="252608"/>
                </a:lnTo>
                <a:lnTo>
                  <a:pt x="1035344" y="318371"/>
                </a:lnTo>
                <a:lnTo>
                  <a:pt x="1013803" y="370678"/>
                </a:lnTo>
                <a:lnTo>
                  <a:pt x="981984" y="405101"/>
                </a:lnTo>
                <a:lnTo>
                  <a:pt x="962249" y="415329"/>
                </a:lnTo>
                <a:lnTo>
                  <a:pt x="966590" y="429567"/>
                </a:lnTo>
                <a:lnTo>
                  <a:pt x="1014556" y="404000"/>
                </a:lnTo>
                <a:lnTo>
                  <a:pt x="1050108" y="355773"/>
                </a:lnTo>
                <a:lnTo>
                  <a:pt x="1072116" y="290748"/>
                </a:lnTo>
                <a:lnTo>
                  <a:pt x="1079451" y="214783"/>
                </a:lnTo>
                <a:lnTo>
                  <a:pt x="1077617" y="175434"/>
                </a:lnTo>
                <a:lnTo>
                  <a:pt x="1062946" y="104938"/>
                </a:lnTo>
                <a:lnTo>
                  <a:pt x="1033884" y="46847"/>
                </a:lnTo>
                <a:lnTo>
                  <a:pt x="992125" y="9951"/>
                </a:lnTo>
                <a:lnTo>
                  <a:pt x="966590" y="0"/>
                </a:lnTo>
                <a:close/>
              </a:path>
              <a:path w="1079500" h="429895">
                <a:moveTo>
                  <a:pt x="112861" y="0"/>
                </a:moveTo>
                <a:lnTo>
                  <a:pt x="64895" y="25567"/>
                </a:lnTo>
                <a:lnTo>
                  <a:pt x="29344" y="73793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7"/>
                </a:lnTo>
                <a:lnTo>
                  <a:pt x="53566" y="346483"/>
                </a:lnTo>
                <a:lnTo>
                  <a:pt x="37352" y="287080"/>
                </a:lnTo>
                <a:lnTo>
                  <a:pt x="31954" y="214783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7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435171" y="3136899"/>
            <a:ext cx="16465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8025" algn="l"/>
                <a:tab pos="1084580" algn="l"/>
              </a:tabLst>
            </a:pPr>
            <a:r>
              <a:rPr dirty="0" sz="2800" spc="-5">
                <a:latin typeface="Cambria Math"/>
                <a:cs typeface="Cambria Math"/>
              </a:rPr>
              <a:t>log	</a:t>
            </a:r>
            <a:r>
              <a:rPr dirty="0" sz="2800">
                <a:latin typeface="Cambria Math"/>
                <a:cs typeface="Cambria Math"/>
              </a:rPr>
              <a:t>𝜎	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r>
              <a:rPr dirty="0" baseline="29166" sz="3000" spc="187">
                <a:latin typeface="Cambria Math"/>
                <a:cs typeface="Cambria Math"/>
              </a:rPr>
              <a:t>4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83327" y="3311652"/>
            <a:ext cx="648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5445" algn="l"/>
              </a:tabLst>
            </a:pPr>
            <a:r>
              <a:rPr dirty="0" sz="2000" spc="825">
                <a:latin typeface="Cambria Math"/>
                <a:cs typeface="Cambria Math"/>
              </a:rPr>
              <a:t>'</a:t>
            </a:r>
            <a:r>
              <a:rPr dirty="0" sz="2000" spc="825">
                <a:latin typeface="Cambria Math"/>
                <a:cs typeface="Cambria Math"/>
              </a:rPr>
              <a:t>	</a:t>
            </a:r>
            <a:r>
              <a:rPr dirty="0" sz="2000" spc="210">
                <a:latin typeface="Cambria Math"/>
                <a:cs typeface="Cambria Math"/>
              </a:rPr>
              <a:t>9</a:t>
            </a:r>
            <a:r>
              <a:rPr dirty="0" baseline="-14705" sz="2550" spc="225">
                <a:latin typeface="Cambria Math"/>
                <a:cs typeface="Cambria Math"/>
              </a:rPr>
              <a:t>!</a:t>
            </a:r>
            <a:endParaRPr baseline="-14705" sz="25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22885" y="3136899"/>
            <a:ext cx="11118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orbel"/>
                <a:cs typeface="Corbel"/>
              </a:rPr>
              <a:t>,</a:t>
            </a:r>
            <a:r>
              <a:rPr dirty="0" sz="2800" spc="-90">
                <a:latin typeface="Corbel"/>
                <a:cs typeface="Corbel"/>
              </a:rPr>
              <a:t> </a:t>
            </a:r>
            <a:r>
              <a:rPr dirty="0" sz="2800" spc="-75">
                <a:latin typeface="Cambria Math"/>
                <a:cs typeface="Cambria Math"/>
              </a:rPr>
              <a:t>𝑛</a:t>
            </a:r>
            <a:r>
              <a:rPr dirty="0" baseline="-16666" sz="3000" spc="-112">
                <a:latin typeface="Cambria Math"/>
                <a:cs typeface="Cambria Math"/>
              </a:rPr>
              <a:t>5</a:t>
            </a:r>
            <a:r>
              <a:rPr dirty="0" sz="2800" spc="-75">
                <a:latin typeface="Cambria Math"/>
                <a:cs typeface="Cambria Math"/>
              </a:rPr>
              <a:t>~𝑃</a:t>
            </a:r>
            <a:r>
              <a:rPr dirty="0" baseline="-16666" sz="3000" spc="-112">
                <a:latin typeface="Cambria Math"/>
                <a:cs typeface="Cambria Math"/>
              </a:rPr>
              <a:t>1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0608" y="1960371"/>
            <a:ext cx="6350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l</a:t>
            </a:r>
            <a:r>
              <a:rPr dirty="0" sz="2800" spc="-5">
                <a:latin typeface="Cambria Math"/>
                <a:cs typeface="Cambria Math"/>
              </a:rPr>
              <a:t>o</a:t>
            </a:r>
            <a:r>
              <a:rPr dirty="0" sz="2800" spc="0">
                <a:latin typeface="Cambria Math"/>
                <a:cs typeface="Cambria Math"/>
              </a:rPr>
              <a:t>g</a:t>
            </a:r>
            <a:r>
              <a:rPr dirty="0" sz="2800">
                <a:latin typeface="Cambria Math"/>
                <a:cs typeface="Cambria Math"/>
              </a:rPr>
              <a:t>(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84062" y="2227859"/>
            <a:ext cx="2425700" cy="0"/>
          </a:xfrm>
          <a:custGeom>
            <a:avLst/>
            <a:gdLst/>
            <a:ahLst/>
            <a:cxnLst/>
            <a:rect l="l" t="t" r="r" b="b"/>
            <a:pathLst>
              <a:path w="2425700" h="0">
                <a:moveTo>
                  <a:pt x="0" y="0"/>
                </a:moveTo>
                <a:lnTo>
                  <a:pt x="24257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73530" y="1741575"/>
            <a:ext cx="974090" cy="429895"/>
          </a:xfrm>
          <a:custGeom>
            <a:avLst/>
            <a:gdLst/>
            <a:ahLst/>
            <a:cxnLst/>
            <a:rect l="l" t="t" r="r" b="b"/>
            <a:pathLst>
              <a:path w="974089" h="429894">
                <a:moveTo>
                  <a:pt x="860863" y="0"/>
                </a:moveTo>
                <a:lnTo>
                  <a:pt x="856522" y="14237"/>
                </a:lnTo>
                <a:lnTo>
                  <a:pt x="876257" y="24471"/>
                </a:lnTo>
                <a:lnTo>
                  <a:pt x="893441" y="39370"/>
                </a:lnTo>
                <a:lnTo>
                  <a:pt x="920159" y="83169"/>
                </a:lnTo>
                <a:lnTo>
                  <a:pt x="936372" y="142682"/>
                </a:lnTo>
                <a:lnTo>
                  <a:pt x="941776" y="214957"/>
                </a:lnTo>
                <a:lnTo>
                  <a:pt x="940425" y="252608"/>
                </a:lnTo>
                <a:lnTo>
                  <a:pt x="929617" y="318371"/>
                </a:lnTo>
                <a:lnTo>
                  <a:pt x="908075" y="370678"/>
                </a:lnTo>
                <a:lnTo>
                  <a:pt x="876257" y="405101"/>
                </a:lnTo>
                <a:lnTo>
                  <a:pt x="856522" y="415329"/>
                </a:lnTo>
                <a:lnTo>
                  <a:pt x="860863" y="429567"/>
                </a:lnTo>
                <a:lnTo>
                  <a:pt x="908829" y="404000"/>
                </a:lnTo>
                <a:lnTo>
                  <a:pt x="944380" y="355773"/>
                </a:lnTo>
                <a:lnTo>
                  <a:pt x="966389" y="290748"/>
                </a:lnTo>
                <a:lnTo>
                  <a:pt x="973725" y="214783"/>
                </a:lnTo>
                <a:lnTo>
                  <a:pt x="971891" y="175434"/>
                </a:lnTo>
                <a:lnTo>
                  <a:pt x="957219" y="104938"/>
                </a:lnTo>
                <a:lnTo>
                  <a:pt x="928157" y="46847"/>
                </a:lnTo>
                <a:lnTo>
                  <a:pt x="886398" y="9951"/>
                </a:lnTo>
                <a:lnTo>
                  <a:pt x="860863" y="0"/>
                </a:lnTo>
                <a:close/>
              </a:path>
              <a:path w="974089" h="429894">
                <a:moveTo>
                  <a:pt x="112861" y="0"/>
                </a:moveTo>
                <a:lnTo>
                  <a:pt x="64895" y="25567"/>
                </a:lnTo>
                <a:lnTo>
                  <a:pt x="29344" y="73793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6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7"/>
                </a:lnTo>
                <a:lnTo>
                  <a:pt x="53566" y="346483"/>
                </a:lnTo>
                <a:lnTo>
                  <a:pt x="37352" y="287080"/>
                </a:lnTo>
                <a:lnTo>
                  <a:pt x="31954" y="214783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6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989827" y="1689099"/>
            <a:ext cx="127381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dirty="0" sz="2800" spc="-15">
                <a:latin typeface="Cambria Math"/>
                <a:cs typeface="Cambria Math"/>
              </a:rPr>
              <a:t>exp	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r>
              <a:rPr dirty="0" baseline="29166" sz="3000" spc="187">
                <a:latin typeface="Cambria Math"/>
                <a:cs typeface="Cambria Math"/>
              </a:rPr>
              <a:t>4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65555" y="1863851"/>
            <a:ext cx="5422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5445" algn="l"/>
              </a:tabLst>
            </a:pPr>
            <a:r>
              <a:rPr dirty="0" sz="2000" spc="825">
                <a:latin typeface="Cambria Math"/>
                <a:cs typeface="Cambria Math"/>
              </a:rPr>
              <a:t>'</a:t>
            </a:r>
            <a:r>
              <a:rPr dirty="0" sz="2000" spc="825">
                <a:latin typeface="Cambria Math"/>
                <a:cs typeface="Cambria Math"/>
              </a:rPr>
              <a:t>	</a:t>
            </a:r>
            <a:r>
              <a:rPr dirty="0" sz="2000" spc="300">
                <a:latin typeface="Cambria Math"/>
                <a:cs typeface="Cambria Math"/>
              </a:rPr>
              <a:t>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67996" y="2219451"/>
            <a:ext cx="2774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19964" y="2424683"/>
            <a:ext cx="5257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45">
                <a:latin typeface="Cambria Math"/>
                <a:cs typeface="Cambria Math"/>
              </a:rPr>
              <a:t>9</a:t>
            </a:r>
            <a:r>
              <a:rPr dirty="0" sz="2000" spc="25">
                <a:latin typeface="Cambria Math"/>
                <a:cs typeface="Cambria Math"/>
              </a:rPr>
              <a:t>∈</a:t>
            </a:r>
            <a:r>
              <a:rPr dirty="0" sz="2000" spc="19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75295" y="2284563"/>
            <a:ext cx="994410" cy="429895"/>
          </a:xfrm>
          <a:custGeom>
            <a:avLst/>
            <a:gdLst/>
            <a:ahLst/>
            <a:cxnLst/>
            <a:rect l="l" t="t" r="r" b="b"/>
            <a:pathLst>
              <a:path w="994410" h="429894">
                <a:moveTo>
                  <a:pt x="880929" y="0"/>
                </a:moveTo>
                <a:lnTo>
                  <a:pt x="876588" y="14237"/>
                </a:lnTo>
                <a:lnTo>
                  <a:pt x="896323" y="24471"/>
                </a:lnTo>
                <a:lnTo>
                  <a:pt x="913507" y="39370"/>
                </a:lnTo>
                <a:lnTo>
                  <a:pt x="940225" y="83169"/>
                </a:lnTo>
                <a:lnTo>
                  <a:pt x="956438" y="142682"/>
                </a:lnTo>
                <a:lnTo>
                  <a:pt x="961842" y="214957"/>
                </a:lnTo>
                <a:lnTo>
                  <a:pt x="960491" y="252608"/>
                </a:lnTo>
                <a:lnTo>
                  <a:pt x="949683" y="318371"/>
                </a:lnTo>
                <a:lnTo>
                  <a:pt x="928141" y="370678"/>
                </a:lnTo>
                <a:lnTo>
                  <a:pt x="896323" y="405101"/>
                </a:lnTo>
                <a:lnTo>
                  <a:pt x="876588" y="415329"/>
                </a:lnTo>
                <a:lnTo>
                  <a:pt x="880929" y="429567"/>
                </a:lnTo>
                <a:lnTo>
                  <a:pt x="928895" y="403999"/>
                </a:lnTo>
                <a:lnTo>
                  <a:pt x="964446" y="355772"/>
                </a:lnTo>
                <a:lnTo>
                  <a:pt x="986455" y="290747"/>
                </a:lnTo>
                <a:lnTo>
                  <a:pt x="993791" y="214783"/>
                </a:lnTo>
                <a:lnTo>
                  <a:pt x="991957" y="175433"/>
                </a:lnTo>
                <a:lnTo>
                  <a:pt x="977285" y="104938"/>
                </a:lnTo>
                <a:lnTo>
                  <a:pt x="948223" y="46847"/>
                </a:lnTo>
                <a:lnTo>
                  <a:pt x="906464" y="9951"/>
                </a:lnTo>
                <a:lnTo>
                  <a:pt x="880929" y="0"/>
                </a:lnTo>
                <a:close/>
              </a:path>
              <a:path w="994410" h="429894">
                <a:moveTo>
                  <a:pt x="112861" y="0"/>
                </a:moveTo>
                <a:lnTo>
                  <a:pt x="64895" y="25567"/>
                </a:lnTo>
                <a:lnTo>
                  <a:pt x="29344" y="73793"/>
                </a:lnTo>
                <a:lnTo>
                  <a:pt x="7336" y="138818"/>
                </a:lnTo>
                <a:lnTo>
                  <a:pt x="0" y="214783"/>
                </a:lnTo>
                <a:lnTo>
                  <a:pt x="1834" y="254132"/>
                </a:lnTo>
                <a:lnTo>
                  <a:pt x="16506" y="324627"/>
                </a:lnTo>
                <a:lnTo>
                  <a:pt x="45568" y="382718"/>
                </a:lnTo>
                <a:lnTo>
                  <a:pt x="87326" y="419615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7"/>
                </a:lnTo>
                <a:lnTo>
                  <a:pt x="53566" y="346483"/>
                </a:lnTo>
                <a:lnTo>
                  <a:pt x="37352" y="287079"/>
                </a:lnTo>
                <a:lnTo>
                  <a:pt x="31954" y="214783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6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391591" y="2231643"/>
            <a:ext cx="12738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dirty="0" sz="2800" spc="-15">
                <a:latin typeface="Cambria Math"/>
                <a:cs typeface="Cambria Math"/>
              </a:rPr>
              <a:t>exp	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r>
              <a:rPr dirty="0" baseline="29166" sz="3000" spc="187">
                <a:latin typeface="Cambria Math"/>
                <a:cs typeface="Cambria Math"/>
              </a:rPr>
              <a:t>4</a:t>
            </a:r>
            <a:r>
              <a:rPr dirty="0" sz="2800" spc="125">
                <a:latin typeface="Cambria Math"/>
                <a:cs typeface="Cambria Math"/>
              </a:rPr>
              <a:t>𝐳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3267319" y="2406395"/>
            <a:ext cx="5638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5445" algn="l"/>
              </a:tabLst>
            </a:pPr>
            <a:r>
              <a:rPr dirty="0" sz="2000" spc="825">
                <a:latin typeface="Cambria Math"/>
                <a:cs typeface="Cambria Math"/>
              </a:rPr>
              <a:t>'</a:t>
            </a:r>
            <a:r>
              <a:rPr dirty="0" sz="2000" spc="825">
                <a:latin typeface="Cambria Math"/>
                <a:cs typeface="Cambria Math"/>
              </a:rPr>
              <a:t>	</a:t>
            </a:r>
            <a:r>
              <a:rPr dirty="0" sz="2000" spc="185">
                <a:latin typeface="Cambria Math"/>
                <a:cs typeface="Cambria Math"/>
              </a:rPr>
              <a:t>9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87663" y="1960371"/>
            <a:ext cx="1733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9119" y="313943"/>
            <a:ext cx="7815072" cy="4815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204" y="1318260"/>
            <a:ext cx="850646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55600" marR="5080" indent="-342900">
              <a:lnSpc>
                <a:spcPts val="3790"/>
              </a:lnSpc>
              <a:spcBef>
                <a:spcPts val="265"/>
              </a:spcBef>
              <a:buFont typeface="Malgun Gothic"/>
              <a:buChar char="▪"/>
              <a:tabLst>
                <a:tab pos="355600" algn="l"/>
              </a:tabLst>
            </a:pPr>
            <a:r>
              <a:rPr dirty="0" spc="-10">
                <a:solidFill>
                  <a:srgbClr val="0000FF"/>
                </a:solidFill>
              </a:rPr>
              <a:t>After </a:t>
            </a:r>
            <a:r>
              <a:rPr dirty="0" spc="-15">
                <a:solidFill>
                  <a:srgbClr val="0000FF"/>
                </a:solidFill>
              </a:rPr>
              <a:t>we </a:t>
            </a:r>
            <a:r>
              <a:rPr dirty="0" spc="-10">
                <a:solidFill>
                  <a:srgbClr val="0000FF"/>
                </a:solidFill>
              </a:rPr>
              <a:t>obtained </a:t>
            </a:r>
            <a:r>
              <a:rPr dirty="0">
                <a:solidFill>
                  <a:srgbClr val="0000FF"/>
                </a:solidFill>
              </a:rPr>
              <a:t>the </a:t>
            </a:r>
            <a:r>
              <a:rPr dirty="0" spc="-10">
                <a:solidFill>
                  <a:srgbClr val="0000FF"/>
                </a:solidFill>
              </a:rPr>
              <a:t>objective </a:t>
            </a:r>
            <a:r>
              <a:rPr dirty="0" spc="-5">
                <a:solidFill>
                  <a:srgbClr val="0000FF"/>
                </a:solidFill>
              </a:rPr>
              <a:t>function, how </a:t>
            </a:r>
            <a:r>
              <a:rPr dirty="0" spc="-345">
                <a:solidFill>
                  <a:srgbClr val="0000FF"/>
                </a:solidFill>
              </a:rPr>
              <a:t>do  </a:t>
            </a:r>
            <a:r>
              <a:rPr dirty="0" spc="-15">
                <a:solidFill>
                  <a:srgbClr val="0000FF"/>
                </a:solidFill>
              </a:rPr>
              <a:t>we optimize </a:t>
            </a:r>
            <a:r>
              <a:rPr dirty="0" spc="-10">
                <a:solidFill>
                  <a:srgbClr val="0000FF"/>
                </a:solidFill>
              </a:rPr>
              <a:t>(minimize)</a:t>
            </a:r>
            <a:r>
              <a:rPr dirty="0">
                <a:solidFill>
                  <a:srgbClr val="0000FF"/>
                </a:solidFill>
              </a:rPr>
              <a:t> it?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6204" y="3387852"/>
            <a:ext cx="8126095" cy="185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Malgun Gothic"/>
              <a:buChar char="▪"/>
              <a:tabLst>
                <a:tab pos="355600" algn="l"/>
              </a:tabLst>
            </a:pPr>
            <a:r>
              <a:rPr dirty="0" sz="3200" spc="-20" b="1">
                <a:solidFill>
                  <a:srgbClr val="FF0000"/>
                </a:solidFill>
                <a:latin typeface="Calibri"/>
                <a:cs typeface="Calibri"/>
              </a:rPr>
              <a:t>Gradient </a:t>
            </a:r>
            <a:r>
              <a:rPr dirty="0" sz="3200" spc="-10" b="1">
                <a:solidFill>
                  <a:srgbClr val="FF0000"/>
                </a:solidFill>
                <a:latin typeface="Calibri"/>
                <a:cs typeface="Calibri"/>
              </a:rPr>
              <a:t>Descent</a:t>
            </a:r>
            <a:r>
              <a:rPr dirty="0" sz="3200" spc="-10">
                <a:latin typeface="Calibri"/>
                <a:cs typeface="Calibri"/>
              </a:rPr>
              <a:t>: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simple </a:t>
            </a:r>
            <a:r>
              <a:rPr dirty="0" sz="3200" spc="-35">
                <a:latin typeface="Calibri"/>
                <a:cs typeface="Calibri"/>
              </a:rPr>
              <a:t>way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minimize </a:t>
            </a:r>
            <a:r>
              <a:rPr dirty="0" sz="2800">
                <a:latin typeface="Cambria Math"/>
                <a:cs typeface="Cambria Math"/>
              </a:rPr>
              <a:t>ℒ</a:t>
            </a:r>
            <a:r>
              <a:rPr dirty="0" sz="2800" spc="185">
                <a:latin typeface="Cambria Math"/>
                <a:cs typeface="Cambria Math"/>
              </a:rPr>
              <a:t> </a:t>
            </a:r>
            <a:r>
              <a:rPr dirty="0" sz="2800" spc="-60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755650" indent="-285750">
              <a:lnSpc>
                <a:spcPct val="100000"/>
              </a:lnSpc>
              <a:spcBef>
                <a:spcPts val="2360"/>
              </a:spcBef>
              <a:buFont typeface="Malgun Gothic"/>
              <a:buChar char="▪"/>
              <a:tabLst>
                <a:tab pos="755650" algn="l"/>
              </a:tabLst>
            </a:pPr>
            <a:r>
              <a:rPr dirty="0" sz="2400" spc="-10">
                <a:latin typeface="Calibri"/>
                <a:cs typeface="Calibri"/>
              </a:rPr>
              <a:t>Initialize </a:t>
            </a:r>
            <a:r>
              <a:rPr dirty="0" sz="2400" spc="-170">
                <a:latin typeface="Cambria Math"/>
                <a:cs typeface="Cambria Math"/>
              </a:rPr>
              <a:t>𝑧</a:t>
            </a:r>
            <a:r>
              <a:rPr dirty="0" baseline="-15432" sz="2700" spc="-254" i="1">
                <a:latin typeface="Cambria Math"/>
                <a:cs typeface="Cambria Math"/>
              </a:rPr>
              <a:t>$  </a:t>
            </a:r>
            <a:r>
              <a:rPr dirty="0" sz="2400" spc="-15">
                <a:latin typeface="Calibri"/>
                <a:cs typeface="Calibri"/>
              </a:rPr>
              <a:t>at </a:t>
            </a:r>
            <a:r>
              <a:rPr dirty="0" sz="2400" spc="-5">
                <a:latin typeface="Calibri"/>
                <a:cs typeface="Calibri"/>
              </a:rPr>
              <a:t>some </a:t>
            </a:r>
            <a:r>
              <a:rPr dirty="0" sz="2400" spc="-15">
                <a:latin typeface="Calibri"/>
                <a:cs typeface="Calibri"/>
              </a:rPr>
              <a:t>randomized </a:t>
            </a:r>
            <a:r>
              <a:rPr dirty="0" sz="2400" spc="-10">
                <a:latin typeface="Calibri"/>
                <a:cs typeface="Calibri"/>
              </a:rPr>
              <a:t>value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all</a:t>
            </a:r>
            <a:r>
              <a:rPr dirty="0" sz="2400" spc="85">
                <a:latin typeface="Calibri"/>
                <a:cs typeface="Calibri"/>
              </a:rPr>
              <a:t> </a:t>
            </a:r>
            <a:r>
              <a:rPr dirty="0" sz="2400" spc="30">
                <a:latin typeface="Cambria Math"/>
                <a:cs typeface="Cambria Math"/>
              </a:rPr>
              <a:t>𝑖</a:t>
            </a:r>
            <a:r>
              <a:rPr dirty="0" sz="2400" spc="3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lvl="1" marL="755650" indent="-285750">
              <a:lnSpc>
                <a:spcPct val="100000"/>
              </a:lnSpc>
              <a:spcBef>
                <a:spcPts val="2420"/>
              </a:spcBef>
              <a:buFont typeface="Malgun Gothic"/>
              <a:buChar char="▪"/>
              <a:tabLst>
                <a:tab pos="755650" algn="l"/>
              </a:tabLst>
            </a:pPr>
            <a:r>
              <a:rPr dirty="0" sz="2400" spc="-25">
                <a:latin typeface="Calibri"/>
                <a:cs typeface="Calibri"/>
              </a:rPr>
              <a:t>Iterate </a:t>
            </a:r>
            <a:r>
              <a:rPr dirty="0" sz="2400" spc="-10">
                <a:latin typeface="Calibri"/>
                <a:cs typeface="Calibri"/>
              </a:rPr>
              <a:t>until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convergence.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4704" y="5731509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 h="0">
                <a:moveTo>
                  <a:pt x="0" y="0"/>
                </a:moveTo>
                <a:lnTo>
                  <a:pt x="279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777465" y="5725159"/>
            <a:ext cx="300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65">
                <a:latin typeface="Cambria Math"/>
                <a:cs typeface="Cambria Math"/>
              </a:rPr>
              <a:t>$</a:t>
            </a:r>
            <a:r>
              <a:rPr dirty="0" sz="1500" spc="-260">
                <a:latin typeface="Cambria Math"/>
                <a:cs typeface="Cambria Math"/>
              </a:rPr>
              <a:t>&amp;</a:t>
            </a:r>
            <a:r>
              <a:rPr dirty="0" baseline="-13888" sz="1800" spc="-240">
                <a:latin typeface="Cambria Math"/>
                <a:cs typeface="Cambria Math"/>
              </a:rPr>
              <a:t>$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0604" y="5533644"/>
            <a:ext cx="39592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Malgun Gothic"/>
              <a:buChar char="▪"/>
              <a:tabLst>
                <a:tab pos="241300" algn="l"/>
              </a:tabLst>
            </a:pPr>
            <a:r>
              <a:rPr dirty="0" sz="2000" spc="-15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all </a:t>
            </a:r>
            <a:r>
              <a:rPr dirty="0" sz="2000" spc="25">
                <a:latin typeface="Cambria Math"/>
                <a:cs typeface="Cambria Math"/>
              </a:rPr>
              <a:t>𝑖</a:t>
            </a:r>
            <a:r>
              <a:rPr dirty="0" sz="2000" spc="25">
                <a:latin typeface="Calibri"/>
                <a:cs typeface="Calibri"/>
              </a:rPr>
              <a:t>, </a:t>
            </a:r>
            <a:r>
              <a:rPr dirty="0" sz="2000" spc="-10">
                <a:latin typeface="Calibri"/>
                <a:cs typeface="Calibri"/>
              </a:rPr>
              <a:t>compute 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derivative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baseline="44444" sz="2250" spc="44">
                <a:latin typeface="Cambria Math"/>
                <a:cs typeface="Cambria Math"/>
              </a:rPr>
              <a:t>$ℒ</a:t>
            </a:r>
            <a:r>
              <a:rPr dirty="0" sz="2000" spc="3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93104" y="6404609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 h="0">
                <a:moveTo>
                  <a:pt x="0" y="0"/>
                </a:moveTo>
                <a:lnTo>
                  <a:pt x="279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484024" y="6398767"/>
            <a:ext cx="3003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65">
                <a:latin typeface="Cambria Math"/>
                <a:cs typeface="Cambria Math"/>
              </a:rPr>
              <a:t>$</a:t>
            </a:r>
            <a:r>
              <a:rPr dirty="0" sz="1500" spc="-260">
                <a:latin typeface="Cambria Math"/>
                <a:cs typeface="Cambria Math"/>
              </a:rPr>
              <a:t>&amp;</a:t>
            </a:r>
            <a:r>
              <a:rPr dirty="0" baseline="-13888" sz="1800" spc="-240">
                <a:latin typeface="Cambria Math"/>
                <a:cs typeface="Cambria Math"/>
              </a:rPr>
              <a:t>$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0604" y="6207252"/>
            <a:ext cx="76657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Malgun Gothic"/>
              <a:buChar char="▪"/>
              <a:tabLst>
                <a:tab pos="241300" algn="l"/>
              </a:tabLst>
            </a:pPr>
            <a:r>
              <a:rPr dirty="0" sz="2000" spc="-15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all </a:t>
            </a:r>
            <a:r>
              <a:rPr dirty="0" sz="2000" spc="25">
                <a:latin typeface="Cambria Math"/>
                <a:cs typeface="Cambria Math"/>
              </a:rPr>
              <a:t>𝑖</a:t>
            </a:r>
            <a:r>
              <a:rPr dirty="0" sz="2000" spc="25">
                <a:latin typeface="Calibri"/>
                <a:cs typeface="Calibri"/>
              </a:rPr>
              <a:t>, </a:t>
            </a:r>
            <a:r>
              <a:rPr dirty="0" sz="2000" spc="-20">
                <a:latin typeface="Calibri"/>
                <a:cs typeface="Calibri"/>
              </a:rPr>
              <a:t>make </a:t>
            </a:r>
            <a:r>
              <a:rPr dirty="0" sz="2000">
                <a:latin typeface="Calibri"/>
                <a:cs typeface="Calibri"/>
              </a:rPr>
              <a:t>a </a:t>
            </a:r>
            <a:r>
              <a:rPr dirty="0" sz="2000" spc="-10">
                <a:latin typeface="Calibri"/>
                <a:cs typeface="Calibri"/>
              </a:rPr>
              <a:t>step </a:t>
            </a:r>
            <a:r>
              <a:rPr dirty="0" sz="2000" spc="-15">
                <a:latin typeface="Calibri"/>
                <a:cs typeface="Calibri"/>
              </a:rPr>
              <a:t>towards </a:t>
            </a:r>
            <a:r>
              <a:rPr dirty="0" sz="2000" spc="-5">
                <a:latin typeface="Calibri"/>
                <a:cs typeface="Calibri"/>
              </a:rPr>
              <a:t>the direction of </a:t>
            </a:r>
            <a:r>
              <a:rPr dirty="0" sz="2000">
                <a:latin typeface="Calibri"/>
                <a:cs typeface="Calibri"/>
              </a:rPr>
              <a:t>derivative:</a:t>
            </a:r>
            <a:r>
              <a:rPr dirty="0" sz="2000">
                <a:latin typeface="Cambria Math"/>
                <a:cs typeface="Cambria Math"/>
              </a:rPr>
              <a:t>𝑧</a:t>
            </a:r>
            <a:r>
              <a:rPr dirty="0" baseline="-14814" sz="2250">
                <a:latin typeface="Cambria Math"/>
                <a:cs typeface="Cambria Math"/>
              </a:rPr>
              <a:t>'  </a:t>
            </a:r>
            <a:r>
              <a:rPr dirty="0" sz="2000">
                <a:latin typeface="Cambria Math"/>
                <a:cs typeface="Cambria Math"/>
              </a:rPr>
              <a:t>← </a:t>
            </a:r>
            <a:r>
              <a:rPr dirty="0" sz="2000" spc="50">
                <a:latin typeface="Cambria Math"/>
                <a:cs typeface="Cambria Math"/>
              </a:rPr>
              <a:t>𝑧</a:t>
            </a:r>
            <a:r>
              <a:rPr dirty="0" baseline="-14814" sz="2250" spc="75">
                <a:latin typeface="Cambria Math"/>
                <a:cs typeface="Cambria Math"/>
              </a:rPr>
              <a:t>' </a:t>
            </a:r>
            <a:r>
              <a:rPr dirty="0" sz="2000">
                <a:latin typeface="Cambria Math"/>
                <a:cs typeface="Cambria Math"/>
              </a:rPr>
              <a:t>− 𝜂</a:t>
            </a:r>
            <a:r>
              <a:rPr dirty="0" sz="2000" spc="215">
                <a:latin typeface="Cambria Math"/>
                <a:cs typeface="Cambria Math"/>
              </a:rPr>
              <a:t> </a:t>
            </a:r>
            <a:r>
              <a:rPr dirty="0" baseline="44444" sz="2250" spc="150">
                <a:latin typeface="Cambria Math"/>
                <a:cs typeface="Cambria Math"/>
              </a:rPr>
              <a:t>$ℒ</a:t>
            </a:r>
            <a:r>
              <a:rPr dirty="0" sz="2000" spc="10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7121" y="2326131"/>
            <a:ext cx="1847850" cy="836294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1230630" algn="l"/>
              </a:tabLst>
            </a:pPr>
            <a:r>
              <a:rPr dirty="0" sz="2200">
                <a:latin typeface="Cambria Math"/>
                <a:cs typeface="Cambria Math"/>
              </a:rPr>
              <a:t>ℒ</a:t>
            </a:r>
            <a:r>
              <a:rPr dirty="0" sz="2200" spc="190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=</a:t>
            </a:r>
            <a:r>
              <a:rPr dirty="0" sz="2200" spc="229">
                <a:latin typeface="Cambria Math"/>
                <a:cs typeface="Cambria Math"/>
              </a:rPr>
              <a:t> </a:t>
            </a:r>
            <a:r>
              <a:rPr dirty="0" sz="2200" spc="1975">
                <a:latin typeface="Cambria Math"/>
                <a:cs typeface="Cambria Math"/>
              </a:rPr>
              <a:t>*	*</a:t>
            </a:r>
            <a:endParaRPr sz="2200">
              <a:latin typeface="Cambria Math"/>
              <a:cs typeface="Cambria Math"/>
            </a:endParaRPr>
          </a:p>
          <a:p>
            <a:pPr marL="549275">
              <a:lnSpc>
                <a:spcPct val="100000"/>
              </a:lnSpc>
              <a:spcBef>
                <a:spcPts val="765"/>
              </a:spcBef>
            </a:pPr>
            <a:r>
              <a:rPr dirty="0" sz="1600" spc="260">
                <a:latin typeface="Cambria Math"/>
                <a:cs typeface="Cambria Math"/>
              </a:rPr>
              <a:t>8∈:</a:t>
            </a:r>
            <a:r>
              <a:rPr dirty="0" sz="1600" spc="-15">
                <a:latin typeface="Cambria Math"/>
                <a:cs typeface="Cambria Math"/>
              </a:rPr>
              <a:t> </a:t>
            </a:r>
            <a:r>
              <a:rPr dirty="0" sz="1600" spc="150">
                <a:latin typeface="Cambria Math"/>
                <a:cs typeface="Cambria Math"/>
              </a:rPr>
              <a:t>;∈&lt;</a:t>
            </a:r>
            <a:r>
              <a:rPr dirty="0" baseline="-12820" sz="1950" spc="225">
                <a:latin typeface="Cambria Math"/>
                <a:cs typeface="Cambria Math"/>
              </a:rPr>
              <a:t>$</a:t>
            </a:r>
            <a:r>
              <a:rPr dirty="0" sz="1600" spc="150">
                <a:latin typeface="Cambria Math"/>
                <a:cs typeface="Cambria Math"/>
              </a:rPr>
              <a:t>(8)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5418" y="2460244"/>
            <a:ext cx="17735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5">
                <a:latin typeface="Cambria Math"/>
                <a:cs typeface="Cambria Math"/>
              </a:rPr>
              <a:t>−log(𝑃(𝑣|𝐳</a:t>
            </a:r>
            <a:r>
              <a:rPr dirty="0" baseline="-15625" sz="2400" spc="22">
                <a:latin typeface="Cambria Math"/>
                <a:cs typeface="Cambria Math"/>
              </a:rPr>
              <a:t>8</a:t>
            </a:r>
            <a:r>
              <a:rPr dirty="0" sz="2200" spc="15">
                <a:latin typeface="Cambria Math"/>
                <a:cs typeface="Cambria Math"/>
              </a:rPr>
              <a:t>))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41039" y="5449315"/>
            <a:ext cx="155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5" i="1">
                <a:latin typeface="Cambria Math"/>
                <a:cs typeface="Cambria Math"/>
              </a:rPr>
              <a:t>𝜂</a:t>
            </a:r>
            <a:r>
              <a:rPr dirty="0" sz="1800" spc="25">
                <a:latin typeface="Arial"/>
                <a:cs typeface="Arial"/>
              </a:rPr>
              <a:t>: </a:t>
            </a:r>
            <a:r>
              <a:rPr dirty="0" sz="1800" spc="-5">
                <a:latin typeface="Arial"/>
                <a:cs typeface="Arial"/>
              </a:rPr>
              <a:t>learning</a:t>
            </a:r>
            <a:r>
              <a:rPr dirty="0" sz="1800" spc="-11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rate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10899" y="5730184"/>
            <a:ext cx="840740" cy="469265"/>
          </a:xfrm>
          <a:custGeom>
            <a:avLst/>
            <a:gdLst/>
            <a:ahLst/>
            <a:cxnLst/>
            <a:rect l="l" t="t" r="r" b="b"/>
            <a:pathLst>
              <a:path w="840740" h="469264">
                <a:moveTo>
                  <a:pt x="767757" y="443472"/>
                </a:moveTo>
                <a:lnTo>
                  <a:pt x="755512" y="465726"/>
                </a:lnTo>
                <a:lnTo>
                  <a:pt x="840640" y="469080"/>
                </a:lnTo>
                <a:lnTo>
                  <a:pt x="829525" y="452975"/>
                </a:lnTo>
                <a:lnTo>
                  <a:pt x="785028" y="452975"/>
                </a:lnTo>
                <a:lnTo>
                  <a:pt x="767757" y="443472"/>
                </a:lnTo>
                <a:close/>
              </a:path>
              <a:path w="840740" h="469264">
                <a:moveTo>
                  <a:pt x="780002" y="421218"/>
                </a:moveTo>
                <a:lnTo>
                  <a:pt x="767757" y="443472"/>
                </a:lnTo>
                <a:lnTo>
                  <a:pt x="785028" y="452975"/>
                </a:lnTo>
                <a:lnTo>
                  <a:pt x="792751" y="450735"/>
                </a:lnTo>
                <a:lnTo>
                  <a:pt x="799514" y="438444"/>
                </a:lnTo>
                <a:lnTo>
                  <a:pt x="797274" y="430722"/>
                </a:lnTo>
                <a:lnTo>
                  <a:pt x="780002" y="421218"/>
                </a:lnTo>
                <a:close/>
              </a:path>
              <a:path w="840740" h="469264">
                <a:moveTo>
                  <a:pt x="792247" y="398965"/>
                </a:moveTo>
                <a:lnTo>
                  <a:pt x="780002" y="421218"/>
                </a:lnTo>
                <a:lnTo>
                  <a:pt x="797274" y="430722"/>
                </a:lnTo>
                <a:lnTo>
                  <a:pt x="799514" y="438444"/>
                </a:lnTo>
                <a:lnTo>
                  <a:pt x="792751" y="450735"/>
                </a:lnTo>
                <a:lnTo>
                  <a:pt x="785028" y="452975"/>
                </a:lnTo>
                <a:lnTo>
                  <a:pt x="829525" y="452975"/>
                </a:lnTo>
                <a:lnTo>
                  <a:pt x="792247" y="398965"/>
                </a:lnTo>
                <a:close/>
              </a:path>
              <a:path w="840740" h="469264">
                <a:moveTo>
                  <a:pt x="14484" y="0"/>
                </a:moveTo>
                <a:lnTo>
                  <a:pt x="6761" y="2240"/>
                </a:lnTo>
                <a:lnTo>
                  <a:pt x="0" y="14530"/>
                </a:lnTo>
                <a:lnTo>
                  <a:pt x="2240" y="22253"/>
                </a:lnTo>
                <a:lnTo>
                  <a:pt x="767757" y="443472"/>
                </a:lnTo>
                <a:lnTo>
                  <a:pt x="780002" y="421218"/>
                </a:lnTo>
                <a:lnTo>
                  <a:pt x="14484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36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9119" y="313943"/>
            <a:ext cx="7815072" cy="4815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204" y="1318260"/>
            <a:ext cx="872934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55600" marR="5080" indent="-342900">
              <a:lnSpc>
                <a:spcPct val="100299"/>
              </a:lnSpc>
              <a:spcBef>
                <a:spcPts val="85"/>
              </a:spcBef>
              <a:buFont typeface="Malgun Gothic"/>
              <a:buChar char="▪"/>
              <a:tabLst>
                <a:tab pos="355600" algn="l"/>
              </a:tabLst>
            </a:pPr>
            <a:r>
              <a:rPr dirty="0" spc="-10" b="1">
                <a:solidFill>
                  <a:srgbClr val="FF0000"/>
                </a:solidFill>
                <a:latin typeface="Calibri"/>
                <a:cs typeface="Calibri"/>
              </a:rPr>
              <a:t>Stochastic </a:t>
            </a:r>
            <a:r>
              <a:rPr dirty="0" spc="-20" b="1">
                <a:solidFill>
                  <a:srgbClr val="FF0000"/>
                </a:solidFill>
                <a:latin typeface="Calibri"/>
                <a:cs typeface="Calibri"/>
              </a:rPr>
              <a:t>Gradient </a:t>
            </a:r>
            <a:r>
              <a:rPr dirty="0" spc="-10" b="1">
                <a:solidFill>
                  <a:srgbClr val="FF0000"/>
                </a:solidFill>
                <a:latin typeface="Calibri"/>
                <a:cs typeface="Calibri"/>
              </a:rPr>
              <a:t>Descent</a:t>
            </a:r>
            <a:r>
              <a:rPr dirty="0" spc="-10"/>
              <a:t>: </a:t>
            </a:r>
            <a:r>
              <a:rPr dirty="0" spc="-15"/>
              <a:t>Instead </a:t>
            </a:r>
            <a:r>
              <a:rPr dirty="0"/>
              <a:t>of </a:t>
            </a:r>
            <a:r>
              <a:rPr dirty="0" spc="-80"/>
              <a:t>evaluating  </a:t>
            </a:r>
            <a:r>
              <a:rPr dirty="0" spc="-15"/>
              <a:t>gradients over </a:t>
            </a:r>
            <a:r>
              <a:rPr dirty="0"/>
              <a:t>all </a:t>
            </a:r>
            <a:r>
              <a:rPr dirty="0" spc="-15"/>
              <a:t>examples, </a:t>
            </a:r>
            <a:r>
              <a:rPr dirty="0" spc="-20"/>
              <a:t>evaluate </a:t>
            </a:r>
            <a:r>
              <a:rPr dirty="0"/>
              <a:t>it </a:t>
            </a:r>
            <a:r>
              <a:rPr dirty="0" spc="-25"/>
              <a:t>for </a:t>
            </a:r>
            <a:r>
              <a:rPr dirty="0" spc="-5"/>
              <a:t>each  </a:t>
            </a:r>
            <a:r>
              <a:rPr dirty="0" spc="-5" b="1">
                <a:latin typeface="Calibri"/>
                <a:cs typeface="Calibri"/>
              </a:rPr>
              <a:t>individual </a:t>
            </a:r>
            <a:r>
              <a:rPr dirty="0" spc="-10"/>
              <a:t>training </a:t>
            </a:r>
            <a:r>
              <a:rPr dirty="0" spc="-20"/>
              <a:t>example.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3404" y="3122676"/>
            <a:ext cx="647700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Malgun Gothic"/>
              <a:buChar char="▪"/>
              <a:tabLst>
                <a:tab pos="298450" algn="l"/>
              </a:tabLst>
            </a:pPr>
            <a:r>
              <a:rPr dirty="0" sz="2600" spc="-10">
                <a:latin typeface="Calibri"/>
                <a:cs typeface="Calibri"/>
              </a:rPr>
              <a:t>Initialize </a:t>
            </a:r>
            <a:r>
              <a:rPr dirty="0" sz="2600" spc="-75">
                <a:latin typeface="Cambria Math"/>
                <a:cs typeface="Cambria Math"/>
              </a:rPr>
              <a:t>𝑧</a:t>
            </a:r>
            <a:r>
              <a:rPr dirty="0" baseline="-16081" sz="2850" spc="-112">
                <a:latin typeface="Cambria Math"/>
                <a:cs typeface="Cambria Math"/>
              </a:rPr>
              <a:t>"  </a:t>
            </a:r>
            <a:r>
              <a:rPr dirty="0" sz="2600" spc="-10">
                <a:latin typeface="Calibri"/>
                <a:cs typeface="Calibri"/>
              </a:rPr>
              <a:t>at </a:t>
            </a:r>
            <a:r>
              <a:rPr dirty="0" sz="2600" spc="-5">
                <a:latin typeface="Calibri"/>
                <a:cs typeface="Calibri"/>
              </a:rPr>
              <a:t>some </a:t>
            </a:r>
            <a:r>
              <a:rPr dirty="0" sz="2600" spc="-15">
                <a:latin typeface="Calibri"/>
                <a:cs typeface="Calibri"/>
              </a:rPr>
              <a:t>randomized </a:t>
            </a:r>
            <a:r>
              <a:rPr dirty="0" sz="2600" spc="-10">
                <a:latin typeface="Calibri"/>
                <a:cs typeface="Calibri"/>
              </a:rPr>
              <a:t>value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𝑖</a:t>
            </a:r>
            <a:r>
              <a:rPr dirty="0" sz="2600" spc="-5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404" y="3884676"/>
            <a:ext cx="373761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Malgun Gothic"/>
              <a:buChar char="▪"/>
              <a:tabLst>
                <a:tab pos="298450" algn="l"/>
              </a:tabLst>
            </a:pPr>
            <a:r>
              <a:rPr dirty="0" sz="2600" spc="-20">
                <a:latin typeface="Calibri"/>
                <a:cs typeface="Calibri"/>
              </a:rPr>
              <a:t>Iterate </a:t>
            </a:r>
            <a:r>
              <a:rPr dirty="0" sz="2600" spc="-10">
                <a:latin typeface="Calibri"/>
                <a:cs typeface="Calibri"/>
              </a:rPr>
              <a:t>until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 spc="-65">
                <a:latin typeface="Calibri"/>
                <a:cs typeface="Calibri"/>
              </a:rPr>
              <a:t>convergence: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85104" y="4823459"/>
            <a:ext cx="571500" cy="0"/>
          </a:xfrm>
          <a:custGeom>
            <a:avLst/>
            <a:gdLst/>
            <a:ahLst/>
            <a:cxnLst/>
            <a:rect l="l" t="t" r="r" b="b"/>
            <a:pathLst>
              <a:path w="571500" h="0">
                <a:moveTo>
                  <a:pt x="0" y="0"/>
                </a:moveTo>
                <a:lnTo>
                  <a:pt x="571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972277" y="4375911"/>
            <a:ext cx="5867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467" sz="2850" spc="-142">
                <a:latin typeface="Cambria Math"/>
                <a:cs typeface="Cambria Math"/>
              </a:rPr>
              <a:t>&amp;</a:t>
            </a:r>
            <a:r>
              <a:rPr dirty="0" baseline="-20467" sz="2850" spc="240">
                <a:latin typeface="Cambria Math"/>
                <a:cs typeface="Cambria Math"/>
              </a:rPr>
              <a:t>ℒ</a:t>
            </a:r>
            <a:r>
              <a:rPr dirty="0" sz="1600" spc="-15">
                <a:latin typeface="Cambria Math"/>
                <a:cs typeface="Cambria Math"/>
              </a:rPr>
              <a:t>(</a:t>
            </a:r>
            <a:r>
              <a:rPr dirty="0" sz="1600" spc="-45">
                <a:latin typeface="Cambria Math"/>
                <a:cs typeface="Cambria Math"/>
              </a:rPr>
              <a:t>"</a:t>
            </a:r>
            <a:r>
              <a:rPr dirty="0" sz="160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0604" y="4570476"/>
            <a:ext cx="745998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Malgun Gothic"/>
              <a:buChar char="▪"/>
              <a:tabLst>
                <a:tab pos="241300" algn="l"/>
                <a:tab pos="6884034" algn="l"/>
              </a:tabLst>
            </a:pPr>
            <a:r>
              <a:rPr dirty="0" sz="2600" spc="-5">
                <a:latin typeface="Calibri"/>
                <a:cs typeface="Calibri"/>
              </a:rPr>
              <a:t>Sample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>
                <a:latin typeface="Calibri"/>
                <a:cs typeface="Calibri"/>
              </a:rPr>
              <a:t>node </a:t>
            </a:r>
            <a:r>
              <a:rPr dirty="0" sz="2600" spc="30">
                <a:latin typeface="Cambria Math"/>
                <a:cs typeface="Cambria Math"/>
              </a:rPr>
              <a:t>𝑖</a:t>
            </a:r>
            <a:r>
              <a:rPr dirty="0" sz="2600" spc="30">
                <a:latin typeface="Calibri"/>
                <a:cs typeface="Calibri"/>
              </a:rPr>
              <a:t>,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>
                <a:latin typeface="Calibri"/>
                <a:cs typeface="Calibri"/>
              </a:rPr>
              <a:t>all </a:t>
            </a:r>
            <a:r>
              <a:rPr dirty="0" sz="2600">
                <a:latin typeface="Cambria Math"/>
                <a:cs typeface="Cambria Math"/>
              </a:rPr>
              <a:t>𝑗 </a:t>
            </a:r>
            <a:r>
              <a:rPr dirty="0" sz="2600" spc="-10">
                <a:latin typeface="Calibri"/>
                <a:cs typeface="Calibri"/>
              </a:rPr>
              <a:t>calculate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derivative	</a:t>
            </a:r>
            <a:r>
              <a:rPr dirty="0" baseline="-38011" sz="2850" spc="-52">
                <a:latin typeface="Cambria Math"/>
                <a:cs typeface="Cambria Math"/>
              </a:rPr>
              <a:t>&amp;(</a:t>
            </a:r>
            <a:r>
              <a:rPr dirty="0" baseline="-59027" sz="2400" spc="-52">
                <a:latin typeface="Cambria Math"/>
                <a:cs typeface="Cambria Math"/>
              </a:rPr>
              <a:t>#</a:t>
            </a:r>
            <a:r>
              <a:rPr dirty="0" baseline="-59027" sz="2400" spc="37">
                <a:latin typeface="Cambria Math"/>
                <a:cs typeface="Cambria Math"/>
              </a:rPr>
              <a:t> </a:t>
            </a:r>
            <a:r>
              <a:rPr dirty="0" sz="260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0604" y="5332476"/>
            <a:ext cx="4008754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Malgun Gothic"/>
              <a:buChar char="▪"/>
              <a:tabLst>
                <a:tab pos="241300" algn="l"/>
              </a:tabLst>
            </a:pPr>
            <a:r>
              <a:rPr dirty="0" sz="2600" spc="-15">
                <a:latin typeface="Calibri"/>
                <a:cs typeface="Calibri"/>
              </a:rPr>
              <a:t>For </a:t>
            </a:r>
            <a:r>
              <a:rPr dirty="0" sz="2600">
                <a:latin typeface="Calibri"/>
                <a:cs typeface="Calibri"/>
              </a:rPr>
              <a:t>all </a:t>
            </a:r>
            <a:r>
              <a:rPr dirty="0" sz="2600" spc="15">
                <a:latin typeface="Cambria Math"/>
                <a:cs typeface="Cambria Math"/>
              </a:rPr>
              <a:t>𝑗</a:t>
            </a:r>
            <a:r>
              <a:rPr dirty="0" sz="2600" spc="15">
                <a:latin typeface="Calibri"/>
                <a:cs typeface="Calibri"/>
              </a:rPr>
              <a:t>, </a:t>
            </a:r>
            <a:r>
              <a:rPr dirty="0" sz="2600" spc="-30">
                <a:latin typeface="Calibri"/>
                <a:cs typeface="Calibri"/>
              </a:rPr>
              <a:t>update:</a:t>
            </a:r>
            <a:r>
              <a:rPr dirty="0" sz="2600" spc="-30">
                <a:latin typeface="Cambria Math"/>
                <a:cs typeface="Cambria Math"/>
              </a:rPr>
              <a:t>𝑧</a:t>
            </a:r>
            <a:r>
              <a:rPr dirty="0" baseline="-16081" sz="2850" spc="-44">
                <a:latin typeface="Cambria Math"/>
                <a:cs typeface="Cambria Math"/>
              </a:rPr>
              <a:t>) </a:t>
            </a:r>
            <a:r>
              <a:rPr dirty="0" sz="2600">
                <a:latin typeface="Cambria Math"/>
                <a:cs typeface="Cambria Math"/>
              </a:rPr>
              <a:t>← </a:t>
            </a:r>
            <a:r>
              <a:rPr dirty="0" sz="2600" spc="-95">
                <a:latin typeface="Cambria Math"/>
                <a:cs typeface="Cambria Math"/>
              </a:rPr>
              <a:t>𝑧</a:t>
            </a:r>
            <a:r>
              <a:rPr dirty="0" baseline="-16081" sz="2850" spc="-142">
                <a:latin typeface="Cambria Math"/>
                <a:cs typeface="Cambria Math"/>
              </a:rPr>
              <a:t>) </a:t>
            </a:r>
            <a:r>
              <a:rPr dirty="0" sz="2600">
                <a:latin typeface="Cambria Math"/>
                <a:cs typeface="Cambria Math"/>
              </a:rPr>
              <a:t>−  </a:t>
            </a:r>
            <a:r>
              <a:rPr dirty="0" sz="2600" spc="-35">
                <a:latin typeface="Cambria Math"/>
                <a:cs typeface="Cambria Math"/>
              </a:rPr>
              <a:t>𝜂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54604" y="5585459"/>
            <a:ext cx="571500" cy="0"/>
          </a:xfrm>
          <a:custGeom>
            <a:avLst/>
            <a:gdLst/>
            <a:ahLst/>
            <a:cxnLst/>
            <a:rect l="l" t="t" r="r" b="b"/>
            <a:pathLst>
              <a:path w="571500" h="0">
                <a:moveTo>
                  <a:pt x="0" y="0"/>
                </a:moveTo>
                <a:lnTo>
                  <a:pt x="571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238412" y="5226303"/>
            <a:ext cx="32321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95">
                <a:latin typeface="Cambria Math"/>
                <a:cs typeface="Cambria Math"/>
              </a:rPr>
              <a:t>&amp;</a:t>
            </a:r>
            <a:r>
              <a:rPr dirty="0" sz="1900">
                <a:latin typeface="Cambria Math"/>
                <a:cs typeface="Cambria Math"/>
              </a:rPr>
              <a:t>ℒ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12" name="object 12"/>
          <p:cNvSpPr txBox="1"/>
          <p:nvPr/>
        </p:nvSpPr>
        <p:spPr>
          <a:xfrm>
            <a:off x="5557753" y="5176011"/>
            <a:ext cx="2673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Cambria Math"/>
                <a:cs typeface="Cambria Math"/>
              </a:rPr>
              <a:t>(</a:t>
            </a:r>
            <a:r>
              <a:rPr dirty="0" sz="1600" spc="-45">
                <a:latin typeface="Cambria Math"/>
                <a:cs typeface="Cambria Math"/>
              </a:rPr>
              <a:t>"</a:t>
            </a:r>
            <a:r>
              <a:rPr dirty="0" sz="160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28328" y="5585967"/>
            <a:ext cx="4076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95">
                <a:latin typeface="Cambria Math"/>
                <a:cs typeface="Cambria Math"/>
              </a:rPr>
              <a:t>&amp;</a:t>
            </a:r>
            <a:r>
              <a:rPr dirty="0" sz="1900" spc="200">
                <a:latin typeface="Cambria Math"/>
                <a:cs typeface="Cambria Math"/>
              </a:rPr>
              <a:t>(</a:t>
            </a:r>
            <a:r>
              <a:rPr dirty="0" baseline="-13888" sz="2400" spc="-315">
                <a:latin typeface="Cambria Math"/>
                <a:cs typeface="Cambria Math"/>
              </a:rPr>
              <a:t>#</a:t>
            </a:r>
            <a:endParaRPr baseline="-13888"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07435" y="5332476"/>
            <a:ext cx="10922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84607" y="3875532"/>
            <a:ext cx="7442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3000" spc="60">
                <a:latin typeface="Cambria Math"/>
                <a:cs typeface="Cambria Math"/>
              </a:rPr>
              <a:t>ℒ</a:t>
            </a:r>
            <a:r>
              <a:rPr dirty="0" sz="1500" spc="40">
                <a:latin typeface="Cambria Math"/>
                <a:cs typeface="Cambria Math"/>
              </a:rPr>
              <a:t>(#)</a:t>
            </a:r>
            <a:r>
              <a:rPr dirty="0" sz="1500" spc="35">
                <a:latin typeface="Cambria Math"/>
                <a:cs typeface="Cambria Math"/>
              </a:rPr>
              <a:t> </a:t>
            </a:r>
            <a:r>
              <a:rPr dirty="0" baseline="-20833" sz="3000">
                <a:latin typeface="Cambria Math"/>
                <a:cs typeface="Cambria Math"/>
              </a:rPr>
              <a:t>=</a:t>
            </a:r>
            <a:endParaRPr baseline="-20833" sz="3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74545" y="4356608"/>
            <a:ext cx="7886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420">
                <a:latin typeface="Cambria Math"/>
                <a:cs typeface="Cambria Math"/>
              </a:rPr>
              <a:t>!</a:t>
            </a:r>
            <a:r>
              <a:rPr dirty="0" sz="1500" spc="-25">
                <a:latin typeface="Cambria Math"/>
                <a:cs typeface="Cambria Math"/>
              </a:rPr>
              <a:t>∈</a:t>
            </a:r>
            <a:r>
              <a:rPr dirty="0" sz="1500" spc="-25">
                <a:latin typeface="Cambria Math"/>
                <a:cs typeface="Cambria Math"/>
              </a:rPr>
              <a:t>+</a:t>
            </a:r>
            <a:r>
              <a:rPr dirty="0" baseline="-13888" sz="1800" spc="-225">
                <a:latin typeface="Cambria Math"/>
                <a:cs typeface="Cambria Math"/>
              </a:rPr>
              <a:t>%</a:t>
            </a:r>
            <a:r>
              <a:rPr dirty="0" sz="1500" spc="-25">
                <a:latin typeface="Cambria Math"/>
                <a:cs typeface="Cambria Math"/>
              </a:rPr>
              <a:t>(</a:t>
            </a:r>
            <a:r>
              <a:rPr dirty="0" sz="1500" spc="40">
                <a:latin typeface="Cambria Math"/>
                <a:cs typeface="Cambria Math"/>
              </a:rPr>
              <a:t>#</a:t>
            </a:r>
            <a:r>
              <a:rPr dirty="0" sz="1500"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86191" y="3970020"/>
            <a:ext cx="22053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3250" algn="l"/>
              </a:tabLst>
            </a:pPr>
            <a:r>
              <a:rPr dirty="0" sz="2000" spc="1400">
                <a:latin typeface="Cambria Math"/>
                <a:cs typeface="Cambria Math"/>
              </a:rPr>
              <a:t>A	</a:t>
            </a:r>
            <a:r>
              <a:rPr dirty="0" sz="2000" spc="5">
                <a:latin typeface="Cambria Math"/>
                <a:cs typeface="Cambria Math"/>
              </a:rPr>
              <a:t>−log(𝑃(𝑣|𝐳</a:t>
            </a:r>
            <a:r>
              <a:rPr dirty="0" baseline="-14814" sz="2250" spc="7">
                <a:latin typeface="Cambria Math"/>
                <a:cs typeface="Cambria Math"/>
              </a:rPr>
              <a:t>#</a:t>
            </a:r>
            <a:r>
              <a:rPr dirty="0" sz="2000" spc="5">
                <a:latin typeface="Cambria Math"/>
                <a:cs typeface="Cambria Math"/>
              </a:rPr>
              <a:t>))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313943"/>
            <a:ext cx="7114032" cy="621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296924"/>
            <a:ext cx="8195945" cy="95821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697865" marR="5080" indent="-685800">
              <a:lnSpc>
                <a:spcPts val="3500"/>
              </a:lnSpc>
              <a:spcBef>
                <a:spcPts val="500"/>
              </a:spcBef>
              <a:tabLst>
                <a:tab pos="697865" algn="l"/>
              </a:tabLst>
            </a:pPr>
            <a:r>
              <a:rPr dirty="0" sz="2600" spc="-10">
                <a:solidFill>
                  <a:srgbClr val="F0AD00"/>
                </a:solidFill>
              </a:rPr>
              <a:t>1.	</a:t>
            </a:r>
            <a:r>
              <a:rPr dirty="0"/>
              <a:t>Run </a:t>
            </a:r>
            <a:r>
              <a:rPr dirty="0" spc="-5" b="1">
                <a:latin typeface="Calibri"/>
                <a:cs typeface="Calibri"/>
              </a:rPr>
              <a:t>short </a:t>
            </a:r>
            <a:r>
              <a:rPr dirty="0" spc="-15" b="1">
                <a:latin typeface="Calibri"/>
                <a:cs typeface="Calibri"/>
              </a:rPr>
              <a:t>fixed-length </a:t>
            </a:r>
            <a:r>
              <a:rPr dirty="0" spc="-15"/>
              <a:t>random</a:t>
            </a:r>
            <a:r>
              <a:rPr dirty="0" spc="15"/>
              <a:t> </a:t>
            </a:r>
            <a:r>
              <a:rPr dirty="0" spc="-15"/>
              <a:t>walks</a:t>
            </a:r>
            <a:r>
              <a:rPr dirty="0" spc="-5"/>
              <a:t> </a:t>
            </a:r>
            <a:r>
              <a:rPr dirty="0" spc="-10"/>
              <a:t>starting </a:t>
            </a:r>
            <a:r>
              <a:rPr dirty="0"/>
              <a:t> </a:t>
            </a:r>
            <a:r>
              <a:rPr dirty="0" spc="-20"/>
              <a:t>from </a:t>
            </a:r>
            <a:r>
              <a:rPr dirty="0" spc="-5"/>
              <a:t>each </a:t>
            </a:r>
            <a:r>
              <a:rPr dirty="0"/>
              <a:t>node on the</a:t>
            </a:r>
            <a:r>
              <a:rPr dirty="0" spc="-20"/>
              <a:t> </a:t>
            </a:r>
            <a:r>
              <a:rPr dirty="0" spc="-15"/>
              <a:t>graph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363" y="2479548"/>
            <a:ext cx="8367395" cy="213804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698500" marR="5080" indent="-685800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AutoNum type="arabicPeriod" startAt="2"/>
              <a:tabLst>
                <a:tab pos="697865" algn="l"/>
                <a:tab pos="698500" algn="l"/>
              </a:tabLst>
            </a:pPr>
            <a:r>
              <a:rPr dirty="0" sz="3200" spc="-15">
                <a:latin typeface="Calibri"/>
                <a:cs typeface="Calibri"/>
              </a:rPr>
              <a:t>For </a:t>
            </a:r>
            <a:r>
              <a:rPr dirty="0" sz="3200" spc="-5">
                <a:latin typeface="Calibri"/>
                <a:cs typeface="Calibri"/>
              </a:rPr>
              <a:t>each node </a:t>
            </a:r>
            <a:r>
              <a:rPr dirty="0" sz="3200">
                <a:latin typeface="Cambria Math"/>
                <a:cs typeface="Cambria Math"/>
              </a:rPr>
              <a:t>𝑢 </a:t>
            </a:r>
            <a:r>
              <a:rPr dirty="0" sz="3200" spc="-10">
                <a:latin typeface="Calibri"/>
                <a:cs typeface="Calibri"/>
              </a:rPr>
              <a:t>collect </a:t>
            </a:r>
            <a:r>
              <a:rPr dirty="0" sz="3200" spc="-20">
                <a:latin typeface="Cambria Math"/>
                <a:cs typeface="Cambria Math"/>
              </a:rPr>
              <a:t>𝑁</a:t>
            </a:r>
            <a:r>
              <a:rPr dirty="0" baseline="-15700" sz="3450" spc="-30">
                <a:latin typeface="Cambria Math"/>
                <a:cs typeface="Cambria Math"/>
              </a:rPr>
              <a:t>&amp;</a:t>
            </a:r>
            <a:r>
              <a:rPr dirty="0" sz="3200" spc="-20">
                <a:latin typeface="Cambria Math"/>
                <a:cs typeface="Cambria Math"/>
              </a:rPr>
              <a:t>(𝑢)</a:t>
            </a:r>
            <a:r>
              <a:rPr dirty="0" sz="3200" spc="-20">
                <a:latin typeface="Calibri"/>
                <a:cs typeface="Calibri"/>
              </a:rPr>
              <a:t>,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multiset of  nodes </a:t>
            </a:r>
            <a:r>
              <a:rPr dirty="0" sz="3200" spc="-10">
                <a:latin typeface="Calibri"/>
                <a:cs typeface="Calibri"/>
              </a:rPr>
              <a:t>visited </a:t>
            </a:r>
            <a:r>
              <a:rPr dirty="0" sz="3200" spc="-5">
                <a:latin typeface="Calibri"/>
                <a:cs typeface="Calibri"/>
              </a:rPr>
              <a:t>on </a:t>
            </a:r>
            <a:r>
              <a:rPr dirty="0" sz="3200" spc="-15">
                <a:latin typeface="Calibri"/>
                <a:cs typeface="Calibri"/>
              </a:rPr>
              <a:t>random walks starting </a:t>
            </a:r>
            <a:r>
              <a:rPr dirty="0" sz="3200" spc="-20">
                <a:latin typeface="Calibri"/>
                <a:cs typeface="Calibri"/>
              </a:rPr>
              <a:t>from</a:t>
            </a:r>
            <a:r>
              <a:rPr dirty="0" sz="3200" spc="125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𝑢</a:t>
            </a:r>
            <a:endParaRPr sz="3200">
              <a:latin typeface="Cambria Math"/>
              <a:cs typeface="Cambria Math"/>
            </a:endParaRPr>
          </a:p>
          <a:p>
            <a:pPr marL="698500" marR="1327785" indent="-685800">
              <a:lnSpc>
                <a:spcPts val="3500"/>
              </a:lnSpc>
              <a:spcBef>
                <a:spcPts val="2285"/>
              </a:spcBef>
              <a:buClr>
                <a:srgbClr val="F0AD00"/>
              </a:buClr>
              <a:buSzPct val="81250"/>
              <a:buAutoNum type="arabicPeriod" startAt="2"/>
              <a:tabLst>
                <a:tab pos="697865" algn="l"/>
                <a:tab pos="698500" algn="l"/>
              </a:tabLst>
            </a:pPr>
            <a:r>
              <a:rPr dirty="0" sz="3200" spc="-15">
                <a:latin typeface="Calibri"/>
                <a:cs typeface="Calibri"/>
              </a:rPr>
              <a:t>Optimize </a:t>
            </a:r>
            <a:r>
              <a:rPr dirty="0" sz="3200" spc="-5">
                <a:latin typeface="Calibri"/>
                <a:cs typeface="Calibri"/>
              </a:rPr>
              <a:t>embeddings using </a:t>
            </a:r>
            <a:r>
              <a:rPr dirty="0" sz="3200" spc="-10">
                <a:latin typeface="Calibri"/>
                <a:cs typeface="Calibri"/>
              </a:rPr>
              <a:t>Stochastic  </a:t>
            </a:r>
            <a:r>
              <a:rPr dirty="0" sz="3200" spc="-15">
                <a:latin typeface="Calibri"/>
                <a:cs typeface="Calibri"/>
              </a:rPr>
              <a:t>Gradient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Descent: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95714" y="4724400"/>
            <a:ext cx="6868795" cy="1226185"/>
          </a:xfrm>
          <a:custGeom>
            <a:avLst/>
            <a:gdLst/>
            <a:ahLst/>
            <a:cxnLst/>
            <a:rect l="l" t="t" r="r" b="b"/>
            <a:pathLst>
              <a:path w="6868795" h="1226185">
                <a:moveTo>
                  <a:pt x="0" y="0"/>
                </a:moveTo>
                <a:lnTo>
                  <a:pt x="6868560" y="0"/>
                </a:lnTo>
                <a:lnTo>
                  <a:pt x="6868560" y="1225779"/>
                </a:lnTo>
                <a:lnTo>
                  <a:pt x="0" y="1225779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3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91346" y="5963622"/>
            <a:ext cx="5358765" cy="73787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458595" marR="5080" indent="-1446530">
              <a:lnSpc>
                <a:spcPts val="2780"/>
              </a:lnSpc>
              <a:spcBef>
                <a:spcPts val="225"/>
              </a:spcBef>
            </a:pPr>
            <a:r>
              <a:rPr dirty="0" sz="2350" spc="-75">
                <a:solidFill>
                  <a:srgbClr val="E66C7D"/>
                </a:solidFill>
                <a:latin typeface="Arial"/>
                <a:cs typeface="Arial"/>
              </a:rPr>
              <a:t>We </a:t>
            </a:r>
            <a:r>
              <a:rPr dirty="0" sz="2350" spc="-5">
                <a:solidFill>
                  <a:srgbClr val="E66C7D"/>
                </a:solidFill>
                <a:latin typeface="Arial"/>
                <a:cs typeface="Arial"/>
              </a:rPr>
              <a:t>can </a:t>
            </a:r>
            <a:r>
              <a:rPr dirty="0" sz="2350" spc="-40">
                <a:solidFill>
                  <a:srgbClr val="E66C7D"/>
                </a:solidFill>
                <a:latin typeface="Arial"/>
                <a:cs typeface="Arial"/>
              </a:rPr>
              <a:t>efficiently </a:t>
            </a:r>
            <a:r>
              <a:rPr dirty="0" sz="2350" spc="-10">
                <a:solidFill>
                  <a:srgbClr val="E66C7D"/>
                </a:solidFill>
                <a:latin typeface="Arial"/>
                <a:cs typeface="Arial"/>
              </a:rPr>
              <a:t>approximate </a:t>
            </a:r>
            <a:r>
              <a:rPr dirty="0" sz="2350" spc="-20">
                <a:solidFill>
                  <a:srgbClr val="E66C7D"/>
                </a:solidFill>
                <a:latin typeface="Arial"/>
                <a:cs typeface="Arial"/>
              </a:rPr>
              <a:t>this </a:t>
            </a:r>
            <a:r>
              <a:rPr dirty="0" sz="2350" spc="-25">
                <a:solidFill>
                  <a:srgbClr val="E66C7D"/>
                </a:solidFill>
                <a:latin typeface="Arial"/>
                <a:cs typeface="Arial"/>
              </a:rPr>
              <a:t>using  </a:t>
            </a:r>
            <a:r>
              <a:rPr dirty="0" sz="2350" spc="-35">
                <a:solidFill>
                  <a:srgbClr val="E66C7D"/>
                </a:solidFill>
                <a:latin typeface="Arial"/>
                <a:cs typeface="Arial"/>
              </a:rPr>
              <a:t>negative</a:t>
            </a:r>
            <a:r>
              <a:rPr dirty="0" sz="2350" spc="-20">
                <a:solidFill>
                  <a:srgbClr val="E66C7D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E66C7D"/>
                </a:solidFill>
                <a:latin typeface="Arial"/>
                <a:cs typeface="Arial"/>
              </a:rPr>
              <a:t>sampling!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1949836" y="4755203"/>
            <a:ext cx="2500630" cy="1123315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85"/>
              </a:spcBef>
              <a:tabLst>
                <a:tab pos="1663700" algn="l"/>
              </a:tabLst>
            </a:pPr>
            <a:r>
              <a:rPr dirty="0" sz="3000">
                <a:latin typeface="Cambria Math"/>
                <a:cs typeface="Cambria Math"/>
              </a:rPr>
              <a:t>ℒ</a:t>
            </a:r>
            <a:r>
              <a:rPr dirty="0" sz="3000" spc="26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=</a:t>
            </a:r>
            <a:r>
              <a:rPr dirty="0" sz="3000" spc="330">
                <a:latin typeface="Cambria Math"/>
                <a:cs typeface="Cambria Math"/>
              </a:rPr>
              <a:t> </a:t>
            </a:r>
            <a:r>
              <a:rPr dirty="0" sz="3000" spc="2310">
                <a:latin typeface="Cambria Math"/>
                <a:cs typeface="Cambria Math"/>
              </a:rPr>
              <a:t>1	1</a:t>
            </a:r>
            <a:endParaRPr sz="3000">
              <a:latin typeface="Cambria Math"/>
              <a:cs typeface="Cambria Math"/>
            </a:endParaRPr>
          </a:p>
          <a:p>
            <a:pPr marL="732790">
              <a:lnSpc>
                <a:spcPct val="100000"/>
              </a:lnSpc>
              <a:spcBef>
                <a:spcPts val="1015"/>
              </a:spcBef>
            </a:pPr>
            <a:r>
              <a:rPr dirty="0" sz="2200" spc="-100">
                <a:latin typeface="Cambria Math"/>
                <a:cs typeface="Cambria Math"/>
              </a:rPr>
              <a:t>%∈6</a:t>
            </a:r>
            <a:r>
              <a:rPr dirty="0" sz="2200" spc="0">
                <a:latin typeface="Cambria Math"/>
                <a:cs typeface="Cambria Math"/>
              </a:rPr>
              <a:t> </a:t>
            </a:r>
            <a:r>
              <a:rPr dirty="0" sz="2200" spc="10">
                <a:latin typeface="Cambria Math"/>
                <a:cs typeface="Cambria Math"/>
              </a:rPr>
              <a:t>7∈8</a:t>
            </a:r>
            <a:r>
              <a:rPr dirty="0" baseline="-13888" sz="2700" spc="15" i="1">
                <a:latin typeface="Cambria Math"/>
                <a:cs typeface="Cambria Math"/>
              </a:rPr>
              <a:t>&amp;</a:t>
            </a:r>
            <a:r>
              <a:rPr dirty="0" sz="2200" spc="10">
                <a:latin typeface="Cambria Math"/>
                <a:cs typeface="Cambria Math"/>
              </a:rPr>
              <a:t>(%)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00948" y="4931155"/>
            <a:ext cx="23996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0" spc="-25">
                <a:latin typeface="Cambria Math"/>
                <a:cs typeface="Cambria Math"/>
              </a:rPr>
              <a:t>−log(𝑃(𝑣|𝐳</a:t>
            </a:r>
            <a:r>
              <a:rPr dirty="0" baseline="-15151" sz="3300" spc="-37">
                <a:latin typeface="Cambria Math"/>
                <a:cs typeface="Cambria Math"/>
              </a:rPr>
              <a:t>%</a:t>
            </a:r>
            <a:r>
              <a:rPr dirty="0" sz="3000" spc="-25">
                <a:latin typeface="Cambria Math"/>
                <a:cs typeface="Cambria Math"/>
              </a:rPr>
              <a:t>))</a:t>
            </a:r>
            <a:endParaRPr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4424"/>
            <a:ext cx="7900416" cy="560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39050" cy="99949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So </a:t>
            </a:r>
            <a:r>
              <a:rPr dirty="0" spc="-25"/>
              <a:t>far </a:t>
            </a:r>
            <a:r>
              <a:rPr dirty="0" spc="-15"/>
              <a:t>we </a:t>
            </a:r>
            <a:r>
              <a:rPr dirty="0" spc="-20"/>
              <a:t>have </a:t>
            </a:r>
            <a:r>
              <a:rPr dirty="0" spc="-5"/>
              <a:t>described how </a:t>
            </a:r>
            <a:r>
              <a:rPr dirty="0" spc="-15"/>
              <a:t>to optimize  </a:t>
            </a:r>
            <a:r>
              <a:rPr dirty="0" spc="-5"/>
              <a:t>embeddings </a:t>
            </a:r>
            <a:r>
              <a:rPr dirty="0" spc="-10"/>
              <a:t>given </a:t>
            </a:r>
            <a:r>
              <a:rPr dirty="0"/>
              <a:t>a </a:t>
            </a:r>
            <a:r>
              <a:rPr dirty="0" spc="-15"/>
              <a:t>random </a:t>
            </a:r>
            <a:r>
              <a:rPr dirty="0" spc="-10"/>
              <a:t>walk </a:t>
            </a:r>
            <a:r>
              <a:rPr dirty="0" spc="-25"/>
              <a:t>strategy</a:t>
            </a:r>
            <a:r>
              <a:rPr dirty="0" spc="90"/>
              <a:t> </a:t>
            </a:r>
            <a:r>
              <a:rPr dirty="0" sz="3350" spc="-95" i="1">
                <a:latin typeface="Cambria Math"/>
                <a:cs typeface="Cambria Math"/>
              </a:rPr>
              <a:t>R</a:t>
            </a:r>
            <a:endParaRPr sz="33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439924"/>
            <a:ext cx="7801609" cy="33820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32740" marR="174625" indent="-320040">
              <a:lnSpc>
                <a:spcPts val="3820"/>
              </a:lnSpc>
              <a:spcBef>
                <a:spcPts val="240"/>
              </a:spcBef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What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strategies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should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use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run these 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random</a:t>
            </a:r>
            <a:r>
              <a:rPr dirty="0" sz="32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walks?</a:t>
            </a:r>
            <a:endParaRPr sz="3200">
              <a:latin typeface="Calibri"/>
              <a:cs typeface="Calibri"/>
            </a:endParaRPr>
          </a:p>
          <a:p>
            <a:pPr lvl="1" marL="625475" marR="866775" indent="-274320">
              <a:lnSpc>
                <a:spcPts val="3190"/>
              </a:lnSpc>
              <a:spcBef>
                <a:spcPts val="975"/>
              </a:spcBef>
              <a:buFont typeface="Malgun Gothic"/>
              <a:buChar char="▪"/>
              <a:tabLst>
                <a:tab pos="625475" algn="l"/>
              </a:tabLst>
            </a:pPr>
            <a:r>
              <a:rPr dirty="0" sz="2700" spc="-25">
                <a:latin typeface="Calibri"/>
                <a:cs typeface="Calibri"/>
              </a:rPr>
              <a:t>Simplest </a:t>
            </a:r>
            <a:r>
              <a:rPr dirty="0" sz="2700" spc="-15">
                <a:latin typeface="Calibri"/>
                <a:cs typeface="Calibri"/>
              </a:rPr>
              <a:t>idea: </a:t>
            </a:r>
            <a:r>
              <a:rPr dirty="0" sz="2700" spc="-25" b="1">
                <a:latin typeface="Calibri"/>
                <a:cs typeface="Calibri"/>
              </a:rPr>
              <a:t>Just </a:t>
            </a:r>
            <a:r>
              <a:rPr dirty="0" sz="2700" spc="-15" b="1">
                <a:latin typeface="Calibri"/>
                <a:cs typeface="Calibri"/>
              </a:rPr>
              <a:t>run </a:t>
            </a:r>
            <a:r>
              <a:rPr dirty="0" sz="2700" spc="-25" b="1">
                <a:latin typeface="Calibri"/>
                <a:cs typeface="Calibri"/>
              </a:rPr>
              <a:t>fixed-length, </a:t>
            </a:r>
            <a:r>
              <a:rPr dirty="0" sz="2700" spc="-95" b="1">
                <a:latin typeface="Calibri"/>
                <a:cs typeface="Calibri"/>
              </a:rPr>
              <a:t>unbiased  </a:t>
            </a:r>
            <a:r>
              <a:rPr dirty="0" sz="2700" spc="-30" b="1">
                <a:latin typeface="Calibri"/>
                <a:cs typeface="Calibri"/>
              </a:rPr>
              <a:t>random walks </a:t>
            </a:r>
            <a:r>
              <a:rPr dirty="0" sz="2700" spc="-25" b="1">
                <a:latin typeface="Calibri"/>
                <a:cs typeface="Calibri"/>
              </a:rPr>
              <a:t>starting </a:t>
            </a:r>
            <a:r>
              <a:rPr dirty="0" sz="2700" spc="-20" b="1">
                <a:latin typeface="Calibri"/>
                <a:cs typeface="Calibri"/>
              </a:rPr>
              <a:t>from each node </a:t>
            </a:r>
            <a:r>
              <a:rPr dirty="0" sz="2700" spc="-15">
                <a:latin typeface="Calibri"/>
                <a:cs typeface="Calibri"/>
              </a:rPr>
              <a:t>(i.e., </a:t>
            </a:r>
            <a:r>
              <a:rPr dirty="0" sz="2700" spc="-15" u="heavy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700" spc="-30" u="heavy">
                <a:solidFill>
                  <a:srgbClr val="168BBA"/>
                </a:solidFill>
                <a:latin typeface="Calibri"/>
                <a:cs typeface="Calibri"/>
              </a:rPr>
              <a:t>DeepWalk </a:t>
            </a:r>
            <a:r>
              <a:rPr dirty="0" sz="2700" spc="-25" u="heavy">
                <a:solidFill>
                  <a:srgbClr val="168BBA"/>
                </a:solidFill>
                <a:latin typeface="Calibri"/>
                <a:cs typeface="Calibri"/>
              </a:rPr>
              <a:t>from </a:t>
            </a:r>
            <a:r>
              <a:rPr dirty="0" sz="2700" spc="-35" u="heavy">
                <a:solidFill>
                  <a:srgbClr val="168BBA"/>
                </a:solidFill>
                <a:latin typeface="Calibri"/>
                <a:cs typeface="Calibri"/>
              </a:rPr>
              <a:t>Perozzi </a:t>
            </a:r>
            <a:r>
              <a:rPr dirty="0" sz="2700" spc="-20" u="heavy">
                <a:solidFill>
                  <a:srgbClr val="168BBA"/>
                </a:solidFill>
                <a:latin typeface="Calibri"/>
                <a:cs typeface="Calibri"/>
              </a:rPr>
              <a:t>et </a:t>
            </a:r>
            <a:r>
              <a:rPr dirty="0" sz="2700" spc="-10" u="heavy">
                <a:solidFill>
                  <a:srgbClr val="168BBA"/>
                </a:solidFill>
                <a:latin typeface="Calibri"/>
                <a:cs typeface="Calibri"/>
              </a:rPr>
              <a:t>al.,</a:t>
            </a:r>
            <a:r>
              <a:rPr dirty="0" sz="2700" spc="-105" u="heavy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700" spc="-20" u="heavy">
                <a:solidFill>
                  <a:srgbClr val="168BBA"/>
                </a:solidFill>
                <a:latin typeface="Calibri"/>
                <a:cs typeface="Calibri"/>
              </a:rPr>
              <a:t>2013</a:t>
            </a:r>
            <a:r>
              <a:rPr dirty="0" sz="2700" spc="-20">
                <a:latin typeface="Calibri"/>
                <a:cs typeface="Calibri"/>
              </a:rPr>
              <a:t>)</a:t>
            </a:r>
            <a:endParaRPr sz="27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780"/>
              </a:spcBef>
              <a:buFont typeface="Malgun Gothic"/>
              <a:buChar char="▪"/>
              <a:tabLst>
                <a:tab pos="890905" algn="l"/>
              </a:tabLst>
            </a:pPr>
            <a:r>
              <a:rPr dirty="0" sz="2300" spc="-20">
                <a:latin typeface="Calibri"/>
                <a:cs typeface="Calibri"/>
              </a:rPr>
              <a:t>The </a:t>
            </a:r>
            <a:r>
              <a:rPr dirty="0" sz="2300" spc="-15">
                <a:latin typeface="Calibri"/>
                <a:cs typeface="Calibri"/>
              </a:rPr>
              <a:t>issue </a:t>
            </a:r>
            <a:r>
              <a:rPr dirty="0" sz="2300" spc="-5">
                <a:latin typeface="Calibri"/>
                <a:cs typeface="Calibri"/>
              </a:rPr>
              <a:t>is </a:t>
            </a:r>
            <a:r>
              <a:rPr dirty="0" sz="2300" spc="-20">
                <a:latin typeface="Calibri"/>
                <a:cs typeface="Calibri"/>
              </a:rPr>
              <a:t>that </a:t>
            </a:r>
            <a:r>
              <a:rPr dirty="0" sz="2300" spc="-15">
                <a:latin typeface="Calibri"/>
                <a:cs typeface="Calibri"/>
              </a:rPr>
              <a:t>such notion </a:t>
            </a:r>
            <a:r>
              <a:rPr dirty="0" sz="2300" spc="-10">
                <a:latin typeface="Calibri"/>
                <a:cs typeface="Calibri"/>
              </a:rPr>
              <a:t>of </a:t>
            </a:r>
            <a:r>
              <a:rPr dirty="0" sz="2300" spc="-15">
                <a:latin typeface="Calibri"/>
                <a:cs typeface="Calibri"/>
              </a:rPr>
              <a:t>similarity </a:t>
            </a:r>
            <a:r>
              <a:rPr dirty="0" sz="2300" spc="-5">
                <a:latin typeface="Calibri"/>
                <a:cs typeface="Calibri"/>
              </a:rPr>
              <a:t>is </a:t>
            </a:r>
            <a:r>
              <a:rPr dirty="0" sz="2300" spc="-15">
                <a:latin typeface="Calibri"/>
                <a:cs typeface="Calibri"/>
              </a:rPr>
              <a:t>too</a:t>
            </a:r>
            <a:r>
              <a:rPr dirty="0" sz="2300" spc="-100">
                <a:latin typeface="Calibri"/>
                <a:cs typeface="Calibri"/>
              </a:rPr>
              <a:t> </a:t>
            </a:r>
            <a:r>
              <a:rPr dirty="0" sz="2300" spc="-55">
                <a:latin typeface="Calibri"/>
                <a:cs typeface="Calibri"/>
              </a:rPr>
              <a:t>constrained</a:t>
            </a:r>
            <a:endParaRPr sz="23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830"/>
              </a:spcBef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15" b="1">
                <a:latin typeface="Calibri"/>
                <a:cs typeface="Calibri"/>
              </a:rPr>
              <a:t>How </a:t>
            </a:r>
            <a:r>
              <a:rPr dirty="0" sz="3100" spc="-20" b="1">
                <a:latin typeface="Calibri"/>
                <a:cs typeface="Calibri"/>
              </a:rPr>
              <a:t>can </a:t>
            </a:r>
            <a:r>
              <a:rPr dirty="0" sz="3100" spc="-25" b="1">
                <a:latin typeface="Calibri"/>
                <a:cs typeface="Calibri"/>
              </a:rPr>
              <a:t>we </a:t>
            </a:r>
            <a:r>
              <a:rPr dirty="0" sz="3100" spc="-30" b="1">
                <a:latin typeface="Calibri"/>
                <a:cs typeface="Calibri"/>
              </a:rPr>
              <a:t>generalize</a:t>
            </a:r>
            <a:r>
              <a:rPr dirty="0" sz="3100" spc="-130" b="1">
                <a:latin typeface="Calibri"/>
                <a:cs typeface="Calibri"/>
              </a:rPr>
              <a:t> </a:t>
            </a:r>
            <a:r>
              <a:rPr dirty="0" sz="3100" spc="-15" b="1">
                <a:latin typeface="Calibri"/>
                <a:cs typeface="Calibri"/>
              </a:rPr>
              <a:t>this?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281" y="6264147"/>
            <a:ext cx="79806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Arial"/>
                <a:cs typeface="Arial"/>
              </a:rPr>
              <a:t>Reference: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 spc="-60">
                <a:latin typeface="Arial"/>
                <a:cs typeface="Arial"/>
              </a:rPr>
              <a:t>Perozzi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et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 spc="-45">
                <a:latin typeface="Arial"/>
                <a:cs typeface="Arial"/>
              </a:rPr>
              <a:t>al.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2014.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 spc="-50" u="sng">
                <a:solidFill>
                  <a:srgbClr val="168BBA"/>
                </a:solidFill>
                <a:latin typeface="Arial"/>
                <a:cs typeface="Arial"/>
              </a:rPr>
              <a:t>DeepWalk:</a:t>
            </a:r>
            <a:r>
              <a:rPr dirty="0" sz="1600" spc="10" u="sng">
                <a:solidFill>
                  <a:srgbClr val="168BBA"/>
                </a:solidFill>
                <a:latin typeface="Arial"/>
                <a:cs typeface="Arial"/>
              </a:rPr>
              <a:t> </a:t>
            </a:r>
            <a:r>
              <a:rPr dirty="0" sz="1600" spc="-50" u="sng">
                <a:solidFill>
                  <a:srgbClr val="168BBA"/>
                </a:solidFill>
                <a:latin typeface="Arial"/>
                <a:cs typeface="Arial"/>
              </a:rPr>
              <a:t>Online</a:t>
            </a:r>
            <a:r>
              <a:rPr dirty="0" sz="1600" spc="0" u="sng">
                <a:solidFill>
                  <a:srgbClr val="168BBA"/>
                </a:solidFill>
                <a:latin typeface="Arial"/>
                <a:cs typeface="Arial"/>
              </a:rPr>
              <a:t> </a:t>
            </a:r>
            <a:r>
              <a:rPr dirty="0" sz="1600" spc="-40" u="sng">
                <a:solidFill>
                  <a:srgbClr val="168BBA"/>
                </a:solidFill>
                <a:latin typeface="Arial"/>
                <a:cs typeface="Arial"/>
              </a:rPr>
              <a:t>Learning</a:t>
            </a:r>
            <a:r>
              <a:rPr dirty="0" sz="1600" spc="0" u="sng">
                <a:solidFill>
                  <a:srgbClr val="168BBA"/>
                </a:solidFill>
                <a:latin typeface="Arial"/>
                <a:cs typeface="Arial"/>
              </a:rPr>
              <a:t> </a:t>
            </a:r>
            <a:r>
              <a:rPr dirty="0" sz="1600" spc="-20" u="sng">
                <a:solidFill>
                  <a:srgbClr val="168BBA"/>
                </a:solidFill>
                <a:latin typeface="Arial"/>
                <a:cs typeface="Arial"/>
              </a:rPr>
              <a:t>of</a:t>
            </a:r>
            <a:r>
              <a:rPr dirty="0" sz="1600" spc="0" u="sng">
                <a:solidFill>
                  <a:srgbClr val="168BBA"/>
                </a:solidFill>
                <a:latin typeface="Arial"/>
                <a:cs typeface="Arial"/>
              </a:rPr>
              <a:t> </a:t>
            </a:r>
            <a:r>
              <a:rPr dirty="0" sz="1600" spc="-40" u="sng">
                <a:solidFill>
                  <a:srgbClr val="168BBA"/>
                </a:solidFill>
                <a:latin typeface="Arial"/>
                <a:cs typeface="Arial"/>
              </a:rPr>
              <a:t>Social</a:t>
            </a:r>
            <a:r>
              <a:rPr dirty="0" sz="1600" spc="5" u="sng">
                <a:solidFill>
                  <a:srgbClr val="168BBA"/>
                </a:solidFill>
                <a:latin typeface="Arial"/>
                <a:cs typeface="Arial"/>
              </a:rPr>
              <a:t> </a:t>
            </a:r>
            <a:r>
              <a:rPr dirty="0" sz="1600" spc="-35" u="sng">
                <a:solidFill>
                  <a:srgbClr val="168BBA"/>
                </a:solidFill>
                <a:latin typeface="Arial"/>
                <a:cs typeface="Arial"/>
              </a:rPr>
              <a:t>Representations</a:t>
            </a:r>
            <a:r>
              <a:rPr dirty="0" sz="1600" spc="-35">
                <a:latin typeface="Arial"/>
                <a:cs typeface="Arial"/>
              </a:rPr>
              <a:t>.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 spc="-40" i="1">
                <a:latin typeface="Arial"/>
                <a:cs typeface="Arial"/>
              </a:rPr>
              <a:t>KDD.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5401056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3555"/>
            <a:ext cx="6802755" cy="836294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332740" marR="5080" indent="-320040">
              <a:lnSpc>
                <a:spcPct val="77300"/>
              </a:lnSpc>
              <a:spcBef>
                <a:spcPts val="91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Goal: </a:t>
            </a:r>
            <a:r>
              <a:rPr dirty="0" sz="3000" spc="-5"/>
              <a:t>Embed nodes with similar </a:t>
            </a:r>
            <a:r>
              <a:rPr dirty="0" sz="3000" spc="-10"/>
              <a:t>network  </a:t>
            </a:r>
            <a:r>
              <a:rPr dirty="0" sz="3000" spc="-5"/>
              <a:t>neighborhoods close in the </a:t>
            </a:r>
            <a:r>
              <a:rPr dirty="0" sz="3000" spc="-25"/>
              <a:t>feature</a:t>
            </a:r>
            <a:r>
              <a:rPr dirty="0" sz="3000" spc="-60"/>
              <a:t> </a:t>
            </a:r>
            <a:r>
              <a:rPr dirty="0" sz="3000" spc="-5"/>
              <a:t>space.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364739"/>
            <a:ext cx="8067675" cy="418401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332740" marR="920115" indent="-320040">
              <a:lnSpc>
                <a:spcPts val="2900"/>
              </a:lnSpc>
              <a:spcBef>
                <a:spcPts val="78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>
                <a:latin typeface="Calibri"/>
                <a:cs typeface="Calibri"/>
              </a:rPr>
              <a:t>We </a:t>
            </a:r>
            <a:r>
              <a:rPr dirty="0" sz="3000" spc="-15">
                <a:latin typeface="Calibri"/>
                <a:cs typeface="Calibri"/>
              </a:rPr>
              <a:t>frame </a:t>
            </a:r>
            <a:r>
              <a:rPr dirty="0" sz="3000" spc="-5">
                <a:latin typeface="Calibri"/>
                <a:cs typeface="Calibri"/>
              </a:rPr>
              <a:t>this </a:t>
            </a:r>
            <a:r>
              <a:rPr dirty="0" sz="3000" spc="-10">
                <a:latin typeface="Calibri"/>
                <a:cs typeface="Calibri"/>
              </a:rPr>
              <a:t>goal </a:t>
            </a:r>
            <a:r>
              <a:rPr dirty="0" sz="3000">
                <a:latin typeface="Calibri"/>
                <a:cs typeface="Calibri"/>
              </a:rPr>
              <a:t>as a </a:t>
            </a:r>
            <a:r>
              <a:rPr dirty="0" sz="3000" spc="-10">
                <a:latin typeface="Calibri"/>
                <a:cs typeface="Calibri"/>
              </a:rPr>
              <a:t>maximum </a:t>
            </a:r>
            <a:r>
              <a:rPr dirty="0" sz="3000" spc="-15">
                <a:latin typeface="Calibri"/>
                <a:cs typeface="Calibri"/>
              </a:rPr>
              <a:t>likelihood  </a:t>
            </a:r>
            <a:r>
              <a:rPr dirty="0" sz="3000" spc="-10">
                <a:latin typeface="Calibri"/>
                <a:cs typeface="Calibri"/>
              </a:rPr>
              <a:t>optimization problem, independent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5">
                <a:latin typeface="Calibri"/>
                <a:cs typeface="Calibri"/>
              </a:rPr>
              <a:t>the  </a:t>
            </a:r>
            <a:r>
              <a:rPr dirty="0" sz="3000" spc="-15">
                <a:latin typeface="Calibri"/>
                <a:cs typeface="Calibri"/>
              </a:rPr>
              <a:t>downstream </a:t>
            </a:r>
            <a:r>
              <a:rPr dirty="0" sz="3000" spc="-10">
                <a:latin typeface="Calibri"/>
                <a:cs typeface="Calibri"/>
              </a:rPr>
              <a:t>prediction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task.</a:t>
            </a:r>
            <a:endParaRPr sz="3000">
              <a:latin typeface="Calibri"/>
              <a:cs typeface="Calibri"/>
            </a:endParaRPr>
          </a:p>
          <a:p>
            <a:pPr marL="332740" marR="5080" indent="-320040">
              <a:lnSpc>
                <a:spcPts val="2900"/>
              </a:lnSpc>
              <a:spcBef>
                <a:spcPts val="278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30" b="1">
                <a:solidFill>
                  <a:srgbClr val="0000FF"/>
                </a:solidFill>
                <a:latin typeface="Calibri"/>
                <a:cs typeface="Calibri"/>
              </a:rPr>
              <a:t>Key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observation: </a:t>
            </a:r>
            <a:r>
              <a:rPr dirty="0" sz="3000" spc="-10">
                <a:latin typeface="Calibri"/>
                <a:cs typeface="Calibri"/>
              </a:rPr>
              <a:t>Flexible </a:t>
            </a:r>
            <a:r>
              <a:rPr dirty="0" sz="3000" spc="-5">
                <a:latin typeface="Calibri"/>
                <a:cs typeface="Calibri"/>
              </a:rPr>
              <a:t>notion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10">
                <a:latin typeface="Calibri"/>
                <a:cs typeface="Calibri"/>
              </a:rPr>
              <a:t>network  </a:t>
            </a:r>
            <a:r>
              <a:rPr dirty="0" sz="3000" spc="-5">
                <a:latin typeface="Calibri"/>
                <a:cs typeface="Calibri"/>
              </a:rPr>
              <a:t>neighborhood </a:t>
            </a:r>
            <a:r>
              <a:rPr dirty="0" sz="3000" spc="30">
                <a:latin typeface="Cambria Math"/>
                <a:cs typeface="Cambria Math"/>
              </a:rPr>
              <a:t>𝑁</a:t>
            </a:r>
            <a:r>
              <a:rPr dirty="0" baseline="-15151" sz="3300" spc="44">
                <a:latin typeface="Cambria Math"/>
                <a:cs typeface="Cambria Math"/>
              </a:rPr>
              <a:t>9</a:t>
            </a:r>
            <a:r>
              <a:rPr dirty="0" sz="3000" spc="30">
                <a:latin typeface="Cambria Math"/>
                <a:cs typeface="Cambria Math"/>
              </a:rPr>
              <a:t>(𝑢)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5">
                <a:latin typeface="Calibri"/>
                <a:cs typeface="Calibri"/>
              </a:rPr>
              <a:t>node </a:t>
            </a:r>
            <a:r>
              <a:rPr dirty="0" sz="3000">
                <a:latin typeface="Cambria Math"/>
                <a:cs typeface="Cambria Math"/>
              </a:rPr>
              <a:t>𝑢 </a:t>
            </a:r>
            <a:r>
              <a:rPr dirty="0" sz="3000" spc="-5">
                <a:latin typeface="Calibri"/>
                <a:cs typeface="Calibri"/>
              </a:rPr>
              <a:t>leads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5">
                <a:latin typeface="Calibri"/>
                <a:cs typeface="Calibri"/>
              </a:rPr>
              <a:t>rich node  embeddings</a:t>
            </a:r>
            <a:endParaRPr sz="3000">
              <a:latin typeface="Calibri"/>
              <a:cs typeface="Calibri"/>
            </a:endParaRPr>
          </a:p>
          <a:p>
            <a:pPr marL="332740" marR="29209" indent="-320040">
              <a:lnSpc>
                <a:spcPts val="2900"/>
              </a:lnSpc>
              <a:spcBef>
                <a:spcPts val="278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>
                <a:latin typeface="Calibri"/>
                <a:cs typeface="Calibri"/>
              </a:rPr>
              <a:t>Develop </a:t>
            </a:r>
            <a:r>
              <a:rPr dirty="0" sz="3000" spc="-5">
                <a:latin typeface="Calibri"/>
                <a:cs typeface="Calibri"/>
              </a:rPr>
              <a:t>biased 2</a:t>
            </a:r>
            <a:r>
              <a:rPr dirty="0" baseline="25000" sz="3000" spc="-7">
                <a:latin typeface="Calibri"/>
                <a:cs typeface="Calibri"/>
              </a:rPr>
              <a:t>nd </a:t>
            </a:r>
            <a:r>
              <a:rPr dirty="0" sz="3000" spc="-15">
                <a:latin typeface="Calibri"/>
                <a:cs typeface="Calibri"/>
              </a:rPr>
              <a:t>order random </a:t>
            </a:r>
            <a:r>
              <a:rPr dirty="0" sz="3000" spc="-10">
                <a:latin typeface="Calibri"/>
                <a:cs typeface="Calibri"/>
              </a:rPr>
              <a:t>walk </a:t>
            </a:r>
            <a:r>
              <a:rPr dirty="0" sz="3000">
                <a:latin typeface="Cambria Math"/>
                <a:cs typeface="Cambria Math"/>
              </a:rPr>
              <a:t>𝑅 </a:t>
            </a:r>
            <a:r>
              <a:rPr dirty="0" sz="3000" spc="-35">
                <a:latin typeface="Calibri"/>
                <a:cs typeface="Calibri"/>
              </a:rPr>
              <a:t>to  </a:t>
            </a:r>
            <a:r>
              <a:rPr dirty="0" sz="3000" spc="-25">
                <a:latin typeface="Calibri"/>
                <a:cs typeface="Calibri"/>
              </a:rPr>
              <a:t>generate </a:t>
            </a:r>
            <a:r>
              <a:rPr dirty="0" sz="3000" spc="-10">
                <a:latin typeface="Calibri"/>
                <a:cs typeface="Calibri"/>
              </a:rPr>
              <a:t>network </a:t>
            </a:r>
            <a:r>
              <a:rPr dirty="0" sz="3000" spc="-5">
                <a:latin typeface="Calibri"/>
                <a:cs typeface="Calibri"/>
              </a:rPr>
              <a:t>neighborhood </a:t>
            </a:r>
            <a:r>
              <a:rPr dirty="0" sz="3000" spc="30">
                <a:latin typeface="Cambria Math"/>
                <a:cs typeface="Cambria Math"/>
              </a:rPr>
              <a:t>𝑁</a:t>
            </a:r>
            <a:r>
              <a:rPr dirty="0" baseline="-15151" sz="3300" spc="44">
                <a:latin typeface="Cambria Math"/>
                <a:cs typeface="Cambria Math"/>
              </a:rPr>
              <a:t>9</a:t>
            </a:r>
            <a:r>
              <a:rPr dirty="0" sz="3000" spc="30">
                <a:latin typeface="Cambria Math"/>
                <a:cs typeface="Cambria Math"/>
              </a:rPr>
              <a:t>(𝑢)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5">
                <a:latin typeface="Calibri"/>
                <a:cs typeface="Calibri"/>
              </a:rPr>
              <a:t>node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mbria Math"/>
                <a:cs typeface="Cambria Math"/>
              </a:rPr>
              <a:t>𝑢</a:t>
            </a:r>
            <a:endParaRPr sz="3000">
              <a:latin typeface="Cambria Math"/>
              <a:cs typeface="Cambria Math"/>
            </a:endParaRPr>
          </a:p>
          <a:p>
            <a:pPr marL="103505">
              <a:lnSpc>
                <a:spcPct val="100000"/>
              </a:lnSpc>
              <a:spcBef>
                <a:spcPts val="1345"/>
              </a:spcBef>
            </a:pPr>
            <a:r>
              <a:rPr dirty="0" sz="1600" spc="-50">
                <a:latin typeface="Arial"/>
                <a:cs typeface="Arial"/>
              </a:rPr>
              <a:t>Reference: Grover </a:t>
            </a:r>
            <a:r>
              <a:rPr dirty="0" sz="1600" spc="-25">
                <a:latin typeface="Arial"/>
                <a:cs typeface="Arial"/>
              </a:rPr>
              <a:t>et </a:t>
            </a:r>
            <a:r>
              <a:rPr dirty="0" sz="1600" spc="-45">
                <a:latin typeface="Arial"/>
                <a:cs typeface="Arial"/>
              </a:rPr>
              <a:t>al. </a:t>
            </a:r>
            <a:r>
              <a:rPr dirty="0" sz="1600" spc="-5">
                <a:latin typeface="Arial"/>
                <a:cs typeface="Arial"/>
              </a:rPr>
              <a:t>2016. </a:t>
            </a:r>
            <a:r>
              <a:rPr dirty="0" sz="1600" spc="-25" u="sng">
                <a:solidFill>
                  <a:srgbClr val="168BBA"/>
                </a:solidFill>
                <a:latin typeface="Arial"/>
                <a:cs typeface="Arial"/>
              </a:rPr>
              <a:t>node2vec: </a:t>
            </a:r>
            <a:r>
              <a:rPr dirty="0" sz="1600" spc="-45" u="sng">
                <a:solidFill>
                  <a:srgbClr val="168BBA"/>
                </a:solidFill>
                <a:latin typeface="Arial"/>
                <a:cs typeface="Arial"/>
              </a:rPr>
              <a:t>Scalable </a:t>
            </a:r>
            <a:r>
              <a:rPr dirty="0" sz="1600" spc="-55" u="sng">
                <a:solidFill>
                  <a:srgbClr val="168BBA"/>
                </a:solidFill>
                <a:latin typeface="Arial"/>
                <a:cs typeface="Arial"/>
              </a:rPr>
              <a:t>Feature </a:t>
            </a:r>
            <a:r>
              <a:rPr dirty="0" sz="1600" spc="50" u="sng">
                <a:solidFill>
                  <a:srgbClr val="168BBA"/>
                </a:solidFill>
                <a:latin typeface="Arial"/>
                <a:cs typeface="Arial"/>
              </a:rPr>
              <a:t> </a:t>
            </a:r>
            <a:r>
              <a:rPr dirty="0" sz="1600" spc="-40" u="sng">
                <a:solidFill>
                  <a:srgbClr val="168BBA"/>
                </a:solidFill>
                <a:latin typeface="Arial"/>
                <a:cs typeface="Arial"/>
              </a:rPr>
              <a:t>Learning </a:t>
            </a:r>
            <a:r>
              <a:rPr dirty="0" sz="1600" spc="-25" u="sng">
                <a:solidFill>
                  <a:srgbClr val="168BBA"/>
                </a:solidFill>
                <a:latin typeface="Arial"/>
                <a:cs typeface="Arial"/>
              </a:rPr>
              <a:t>for </a:t>
            </a:r>
            <a:r>
              <a:rPr dirty="0" sz="1600" spc="-15" u="sng">
                <a:solidFill>
                  <a:srgbClr val="168BBA"/>
                </a:solidFill>
                <a:latin typeface="Arial"/>
                <a:cs typeface="Arial"/>
              </a:rPr>
              <a:t>Networks</a:t>
            </a:r>
            <a:r>
              <a:rPr dirty="0" sz="1600" spc="-15">
                <a:latin typeface="Arial"/>
                <a:cs typeface="Arial"/>
              </a:rPr>
              <a:t>. </a:t>
            </a:r>
            <a:r>
              <a:rPr dirty="0" sz="1600" spc="-40" i="1">
                <a:latin typeface="Arial"/>
                <a:cs typeface="Arial"/>
              </a:rPr>
              <a:t>KDD.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6072" y="347472"/>
            <a:ext cx="583082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792670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0299"/>
              </a:lnSpc>
              <a:spcBef>
                <a:spcPts val="85"/>
              </a:spcBef>
            </a:pPr>
            <a:r>
              <a:rPr dirty="0" spc="-5" b="1">
                <a:latin typeface="Calibri"/>
                <a:cs typeface="Calibri"/>
              </a:rPr>
              <a:t>Idea: </a:t>
            </a:r>
            <a:r>
              <a:rPr dirty="0" spc="-5"/>
              <a:t>use </a:t>
            </a:r>
            <a:r>
              <a:rPr dirty="0" spc="-10"/>
              <a:t>flexible, </a:t>
            </a:r>
            <a:r>
              <a:rPr dirty="0" spc="-5"/>
              <a:t>biased </a:t>
            </a:r>
            <a:r>
              <a:rPr dirty="0" spc="-15"/>
              <a:t>random walks </a:t>
            </a:r>
            <a:r>
              <a:rPr dirty="0" spc="-10"/>
              <a:t>that can  </a:t>
            </a:r>
            <a:r>
              <a:rPr dirty="0" spc="-15"/>
              <a:t>trade off between </a:t>
            </a:r>
            <a:r>
              <a:rPr dirty="0" spc="-10" b="1">
                <a:solidFill>
                  <a:srgbClr val="60B5CC"/>
                </a:solidFill>
                <a:latin typeface="Calibri"/>
                <a:cs typeface="Calibri"/>
              </a:rPr>
              <a:t>local </a:t>
            </a:r>
            <a:r>
              <a:rPr dirty="0"/>
              <a:t>and </a:t>
            </a:r>
            <a:r>
              <a:rPr dirty="0" spc="-5" b="1">
                <a:solidFill>
                  <a:srgbClr val="F0AD00"/>
                </a:solidFill>
                <a:latin typeface="Calibri"/>
                <a:cs typeface="Calibri"/>
              </a:rPr>
              <a:t>global </a:t>
            </a:r>
            <a:r>
              <a:rPr dirty="0" spc="-15"/>
              <a:t>views </a:t>
            </a:r>
            <a:r>
              <a:rPr dirty="0" spc="-5"/>
              <a:t>of </a:t>
            </a:r>
            <a:r>
              <a:rPr dirty="0"/>
              <a:t>the  </a:t>
            </a:r>
            <a:r>
              <a:rPr dirty="0" spc="-15"/>
              <a:t>network (</a:t>
            </a:r>
            <a:r>
              <a:rPr dirty="0" spc="-15" u="heavy">
                <a:solidFill>
                  <a:srgbClr val="168BBA"/>
                </a:solidFill>
              </a:rPr>
              <a:t>Grover </a:t>
            </a:r>
            <a:r>
              <a:rPr dirty="0" u="heavy">
                <a:solidFill>
                  <a:srgbClr val="168BBA"/>
                </a:solidFill>
              </a:rPr>
              <a:t>and </a:t>
            </a:r>
            <a:r>
              <a:rPr dirty="0" spc="-20" u="heavy">
                <a:solidFill>
                  <a:srgbClr val="168BBA"/>
                </a:solidFill>
              </a:rPr>
              <a:t>Leskovec, </a:t>
            </a:r>
            <a:r>
              <a:rPr dirty="0" u="heavy">
                <a:solidFill>
                  <a:srgbClr val="168BBA"/>
                </a:solidFill>
              </a:rPr>
              <a:t>2016</a:t>
            </a:r>
            <a:r>
              <a:rPr dirty="0"/>
              <a:t>).</a:t>
            </a:r>
          </a:p>
        </p:txBody>
      </p:sp>
      <p:sp>
        <p:nvSpPr>
          <p:cNvPr id="4" name="object 4"/>
          <p:cNvSpPr/>
          <p:nvPr/>
        </p:nvSpPr>
        <p:spPr>
          <a:xfrm>
            <a:off x="1913591" y="5838914"/>
            <a:ext cx="1669671" cy="330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98586" y="5919169"/>
            <a:ext cx="1502410" cy="112395"/>
          </a:xfrm>
          <a:custGeom>
            <a:avLst/>
            <a:gdLst/>
            <a:ahLst/>
            <a:cxnLst/>
            <a:rect l="l" t="t" r="r" b="b"/>
            <a:pathLst>
              <a:path w="1502410" h="112395">
                <a:moveTo>
                  <a:pt x="1502166" y="0"/>
                </a:moveTo>
                <a:lnTo>
                  <a:pt x="0" y="111814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94243" y="4437020"/>
            <a:ext cx="204770" cy="15909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00752" y="4480195"/>
            <a:ext cx="0" cy="1439545"/>
          </a:xfrm>
          <a:custGeom>
            <a:avLst/>
            <a:gdLst/>
            <a:ahLst/>
            <a:cxnLst/>
            <a:rect l="l" t="t" r="r" b="b"/>
            <a:pathLst>
              <a:path w="0" h="1439545">
                <a:moveTo>
                  <a:pt x="0" y="1438973"/>
                </a:moveTo>
                <a:lnTo>
                  <a:pt x="1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85419" y="4563033"/>
            <a:ext cx="803332" cy="8190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79535" y="4622377"/>
            <a:ext cx="609600" cy="631190"/>
          </a:xfrm>
          <a:custGeom>
            <a:avLst/>
            <a:gdLst/>
            <a:ahLst/>
            <a:cxnLst/>
            <a:rect l="l" t="t" r="r" b="b"/>
            <a:pathLst>
              <a:path w="609600" h="631189">
                <a:moveTo>
                  <a:pt x="0" y="630727"/>
                </a:moveTo>
                <a:lnTo>
                  <a:pt x="609036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38164" y="5177346"/>
            <a:ext cx="960848" cy="8348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34202" y="5253104"/>
            <a:ext cx="767080" cy="636270"/>
          </a:xfrm>
          <a:custGeom>
            <a:avLst/>
            <a:gdLst/>
            <a:ahLst/>
            <a:cxnLst/>
            <a:rect l="l" t="t" r="r" b="b"/>
            <a:pathLst>
              <a:path w="767079" h="636270">
                <a:moveTo>
                  <a:pt x="0" y="0"/>
                </a:moveTo>
                <a:lnTo>
                  <a:pt x="766552" y="636059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82086" y="5303360"/>
            <a:ext cx="787580" cy="6773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68375" y="5378920"/>
            <a:ext cx="605155" cy="471805"/>
          </a:xfrm>
          <a:custGeom>
            <a:avLst/>
            <a:gdLst/>
            <a:ahLst/>
            <a:cxnLst/>
            <a:rect l="l" t="t" r="r" b="b"/>
            <a:pathLst>
              <a:path w="605155" h="471804">
                <a:moveTo>
                  <a:pt x="0" y="471233"/>
                </a:moveTo>
                <a:lnTo>
                  <a:pt x="605101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29343" y="4484275"/>
            <a:ext cx="740326" cy="6930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021912" y="4553173"/>
            <a:ext cx="551815" cy="492125"/>
          </a:xfrm>
          <a:custGeom>
            <a:avLst/>
            <a:gdLst/>
            <a:ahLst/>
            <a:cxnLst/>
            <a:rect l="l" t="t" r="r" b="b"/>
            <a:pathLst>
              <a:path w="551814" h="492125">
                <a:moveTo>
                  <a:pt x="551567" y="491604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93068" y="4578784"/>
            <a:ext cx="267777" cy="13073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98652" y="4622378"/>
            <a:ext cx="53975" cy="1158875"/>
          </a:xfrm>
          <a:custGeom>
            <a:avLst/>
            <a:gdLst/>
            <a:ahLst/>
            <a:cxnLst/>
            <a:rect l="l" t="t" r="r" b="b"/>
            <a:pathLst>
              <a:path w="53975" h="1158875">
                <a:moveTo>
                  <a:pt x="0" y="1158574"/>
                </a:moveTo>
                <a:lnTo>
                  <a:pt x="53534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03177" y="4975576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2" y="0"/>
                </a:moveTo>
                <a:lnTo>
                  <a:pt x="191649" y="4800"/>
                </a:lnTo>
                <a:lnTo>
                  <a:pt x="146595" y="18567"/>
                </a:lnTo>
                <a:lnTo>
                  <a:pt x="105823" y="40351"/>
                </a:lnTo>
                <a:lnTo>
                  <a:pt x="70301" y="69202"/>
                </a:lnTo>
                <a:lnTo>
                  <a:pt x="40992" y="104170"/>
                </a:lnTo>
                <a:lnTo>
                  <a:pt x="18862" y="144305"/>
                </a:lnTo>
                <a:lnTo>
                  <a:pt x="4876" y="188656"/>
                </a:lnTo>
                <a:lnTo>
                  <a:pt x="0" y="236273"/>
                </a:lnTo>
                <a:lnTo>
                  <a:pt x="4876" y="283890"/>
                </a:lnTo>
                <a:lnTo>
                  <a:pt x="18862" y="328241"/>
                </a:lnTo>
                <a:lnTo>
                  <a:pt x="40992" y="368376"/>
                </a:lnTo>
                <a:lnTo>
                  <a:pt x="70301" y="403345"/>
                </a:lnTo>
                <a:lnTo>
                  <a:pt x="105823" y="432196"/>
                </a:lnTo>
                <a:lnTo>
                  <a:pt x="146595" y="453981"/>
                </a:lnTo>
                <a:lnTo>
                  <a:pt x="191649" y="467748"/>
                </a:lnTo>
                <a:lnTo>
                  <a:pt x="240022" y="472549"/>
                </a:lnTo>
                <a:lnTo>
                  <a:pt x="288396" y="467748"/>
                </a:lnTo>
                <a:lnTo>
                  <a:pt x="333451" y="453981"/>
                </a:lnTo>
                <a:lnTo>
                  <a:pt x="374223" y="432196"/>
                </a:lnTo>
                <a:lnTo>
                  <a:pt x="409746" y="403345"/>
                </a:lnTo>
                <a:lnTo>
                  <a:pt x="439055" y="368376"/>
                </a:lnTo>
                <a:lnTo>
                  <a:pt x="461185" y="328241"/>
                </a:lnTo>
                <a:lnTo>
                  <a:pt x="475170" y="283890"/>
                </a:lnTo>
                <a:lnTo>
                  <a:pt x="480047" y="236273"/>
                </a:lnTo>
                <a:lnTo>
                  <a:pt x="475170" y="188656"/>
                </a:lnTo>
                <a:lnTo>
                  <a:pt x="461185" y="144305"/>
                </a:lnTo>
                <a:lnTo>
                  <a:pt x="439055" y="104170"/>
                </a:lnTo>
                <a:lnTo>
                  <a:pt x="409746" y="69202"/>
                </a:lnTo>
                <a:lnTo>
                  <a:pt x="374223" y="40351"/>
                </a:lnTo>
                <a:lnTo>
                  <a:pt x="333451" y="18567"/>
                </a:lnTo>
                <a:lnTo>
                  <a:pt x="288396" y="4800"/>
                </a:lnTo>
                <a:lnTo>
                  <a:pt x="240022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03177" y="4975576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646444" y="4981776"/>
            <a:ext cx="20066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u</a:t>
            </a:r>
            <a:endParaRPr sz="2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008099" y="4311007"/>
            <a:ext cx="1354639" cy="26777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92213" y="4386103"/>
            <a:ext cx="1184275" cy="55244"/>
          </a:xfrm>
          <a:custGeom>
            <a:avLst/>
            <a:gdLst/>
            <a:ahLst/>
            <a:cxnLst/>
            <a:rect l="l" t="t" r="r" b="b"/>
            <a:pathLst>
              <a:path w="1184275" h="55245">
                <a:moveTo>
                  <a:pt x="1183846" y="55038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27639" y="4389764"/>
            <a:ext cx="913593" cy="3150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14673" y="4462600"/>
            <a:ext cx="739140" cy="113664"/>
          </a:xfrm>
          <a:custGeom>
            <a:avLst/>
            <a:gdLst/>
            <a:ahLst/>
            <a:cxnLst/>
            <a:rect l="l" t="t" r="r" b="b"/>
            <a:pathLst>
              <a:path w="739139" h="113664">
                <a:moveTo>
                  <a:pt x="738818" y="0"/>
                </a:moveTo>
                <a:lnTo>
                  <a:pt x="0" y="113078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75612" y="4515778"/>
            <a:ext cx="756077" cy="86633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70873" y="4575678"/>
            <a:ext cx="570230" cy="683895"/>
          </a:xfrm>
          <a:custGeom>
            <a:avLst/>
            <a:gdLst/>
            <a:ahLst/>
            <a:cxnLst/>
            <a:rect l="l" t="t" r="r" b="b"/>
            <a:pathLst>
              <a:path w="570229" h="683895">
                <a:moveTo>
                  <a:pt x="570059" y="683616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62022" y="5823162"/>
            <a:ext cx="913593" cy="28352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40779" y="5889164"/>
            <a:ext cx="750570" cy="83820"/>
          </a:xfrm>
          <a:custGeom>
            <a:avLst/>
            <a:gdLst/>
            <a:ahLst/>
            <a:cxnLst/>
            <a:rect l="l" t="t" r="r" b="b"/>
            <a:pathLst>
              <a:path w="750570" h="83820">
                <a:moveTo>
                  <a:pt x="750100" y="83438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237182" y="5256104"/>
            <a:ext cx="866338" cy="66156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329570" y="5330637"/>
            <a:ext cx="676910" cy="464820"/>
          </a:xfrm>
          <a:custGeom>
            <a:avLst/>
            <a:gdLst/>
            <a:ahLst/>
            <a:cxnLst/>
            <a:rect l="l" t="t" r="r" b="b"/>
            <a:pathLst>
              <a:path w="676910" h="464820">
                <a:moveTo>
                  <a:pt x="676465" y="464389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205677" y="4374014"/>
            <a:ext cx="787580" cy="100810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297760" y="4441142"/>
            <a:ext cx="596265" cy="818515"/>
          </a:xfrm>
          <a:custGeom>
            <a:avLst/>
            <a:gdLst/>
            <a:ahLst/>
            <a:cxnLst/>
            <a:rect l="l" t="t" r="r" b="b"/>
            <a:pathLst>
              <a:path w="596264" h="818514">
                <a:moveTo>
                  <a:pt x="0" y="818152"/>
                </a:moveTo>
                <a:lnTo>
                  <a:pt x="595758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685875" y="5193097"/>
            <a:ext cx="708822" cy="81908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790885" y="5259292"/>
            <a:ext cx="507365" cy="629920"/>
          </a:xfrm>
          <a:custGeom>
            <a:avLst/>
            <a:gdLst/>
            <a:ahLst/>
            <a:cxnLst/>
            <a:rect l="l" t="t" r="r" b="b"/>
            <a:pathLst>
              <a:path w="507364" h="629920">
                <a:moveTo>
                  <a:pt x="506874" y="0"/>
                </a:moveTo>
                <a:lnTo>
                  <a:pt x="0" y="62987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788488" y="4641792"/>
            <a:ext cx="315032" cy="102385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893519" y="4698874"/>
            <a:ext cx="113030" cy="860425"/>
          </a:xfrm>
          <a:custGeom>
            <a:avLst/>
            <a:gdLst/>
            <a:ahLst/>
            <a:cxnLst/>
            <a:rect l="l" t="t" r="r" b="b"/>
            <a:pathLst>
              <a:path w="113029" h="860425">
                <a:moveTo>
                  <a:pt x="112516" y="859879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58630" y="5780953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2" y="0"/>
                </a:moveTo>
                <a:lnTo>
                  <a:pt x="191649" y="4800"/>
                </a:lnTo>
                <a:lnTo>
                  <a:pt x="146594" y="18567"/>
                </a:lnTo>
                <a:lnTo>
                  <a:pt x="105823" y="40351"/>
                </a:lnTo>
                <a:lnTo>
                  <a:pt x="70300" y="69202"/>
                </a:lnTo>
                <a:lnTo>
                  <a:pt x="40991" y="104170"/>
                </a:lnTo>
                <a:lnTo>
                  <a:pt x="18862" y="144304"/>
                </a:lnTo>
                <a:lnTo>
                  <a:pt x="4876" y="188655"/>
                </a:lnTo>
                <a:lnTo>
                  <a:pt x="0" y="236272"/>
                </a:lnTo>
                <a:lnTo>
                  <a:pt x="4876" y="283890"/>
                </a:lnTo>
                <a:lnTo>
                  <a:pt x="18862" y="328241"/>
                </a:lnTo>
                <a:lnTo>
                  <a:pt x="40991" y="368375"/>
                </a:lnTo>
                <a:lnTo>
                  <a:pt x="70300" y="403344"/>
                </a:lnTo>
                <a:lnTo>
                  <a:pt x="105823" y="432195"/>
                </a:lnTo>
                <a:lnTo>
                  <a:pt x="146594" y="453980"/>
                </a:lnTo>
                <a:lnTo>
                  <a:pt x="191649" y="467748"/>
                </a:lnTo>
                <a:lnTo>
                  <a:pt x="240022" y="472548"/>
                </a:lnTo>
                <a:lnTo>
                  <a:pt x="288395" y="467748"/>
                </a:lnTo>
                <a:lnTo>
                  <a:pt x="333451" y="453980"/>
                </a:lnTo>
                <a:lnTo>
                  <a:pt x="374222" y="432195"/>
                </a:lnTo>
                <a:lnTo>
                  <a:pt x="409745" y="403344"/>
                </a:lnTo>
                <a:lnTo>
                  <a:pt x="439054" y="368375"/>
                </a:lnTo>
                <a:lnTo>
                  <a:pt x="461185" y="328241"/>
                </a:lnTo>
                <a:lnTo>
                  <a:pt x="475170" y="283890"/>
                </a:lnTo>
                <a:lnTo>
                  <a:pt x="480047" y="236272"/>
                </a:lnTo>
                <a:lnTo>
                  <a:pt x="475170" y="188655"/>
                </a:lnTo>
                <a:lnTo>
                  <a:pt x="461185" y="144304"/>
                </a:lnTo>
                <a:lnTo>
                  <a:pt x="439054" y="104170"/>
                </a:lnTo>
                <a:lnTo>
                  <a:pt x="409745" y="69202"/>
                </a:lnTo>
                <a:lnTo>
                  <a:pt x="374222" y="40351"/>
                </a:lnTo>
                <a:lnTo>
                  <a:pt x="333451" y="18567"/>
                </a:lnTo>
                <a:lnTo>
                  <a:pt x="288395" y="4800"/>
                </a:lnTo>
                <a:lnTo>
                  <a:pt x="2400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558630" y="5780953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652339" y="5787152"/>
            <a:ext cx="183515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09855" y="5970921"/>
            <a:ext cx="1422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latin typeface="Arial"/>
                <a:cs typeface="Arial"/>
              </a:rPr>
              <a:t>3</a:t>
            </a:r>
            <a:endParaRPr sz="16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276060" y="4204869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1" y="4800"/>
                </a:lnTo>
                <a:lnTo>
                  <a:pt x="146595" y="18567"/>
                </a:lnTo>
                <a:lnTo>
                  <a:pt x="105823" y="40351"/>
                </a:lnTo>
                <a:lnTo>
                  <a:pt x="70301" y="69201"/>
                </a:lnTo>
                <a:lnTo>
                  <a:pt x="40992" y="104169"/>
                </a:lnTo>
                <a:lnTo>
                  <a:pt x="18862" y="144304"/>
                </a:lnTo>
                <a:lnTo>
                  <a:pt x="4876" y="188655"/>
                </a:lnTo>
                <a:lnTo>
                  <a:pt x="0" y="236273"/>
                </a:lnTo>
                <a:lnTo>
                  <a:pt x="4876" y="283890"/>
                </a:lnTo>
                <a:lnTo>
                  <a:pt x="18862" y="328241"/>
                </a:lnTo>
                <a:lnTo>
                  <a:pt x="40992" y="368375"/>
                </a:lnTo>
                <a:lnTo>
                  <a:pt x="70301" y="403343"/>
                </a:lnTo>
                <a:lnTo>
                  <a:pt x="105823" y="432195"/>
                </a:lnTo>
                <a:lnTo>
                  <a:pt x="146595" y="453980"/>
                </a:lnTo>
                <a:lnTo>
                  <a:pt x="191651" y="467747"/>
                </a:lnTo>
                <a:lnTo>
                  <a:pt x="240024" y="472547"/>
                </a:lnTo>
                <a:lnTo>
                  <a:pt x="288398" y="467747"/>
                </a:lnTo>
                <a:lnTo>
                  <a:pt x="333454" y="453980"/>
                </a:lnTo>
                <a:lnTo>
                  <a:pt x="374225" y="432195"/>
                </a:lnTo>
                <a:lnTo>
                  <a:pt x="409748" y="403343"/>
                </a:lnTo>
                <a:lnTo>
                  <a:pt x="439057" y="368375"/>
                </a:lnTo>
                <a:lnTo>
                  <a:pt x="461187" y="328241"/>
                </a:lnTo>
                <a:lnTo>
                  <a:pt x="475173" y="283890"/>
                </a:lnTo>
                <a:lnTo>
                  <a:pt x="480049" y="236273"/>
                </a:lnTo>
                <a:lnTo>
                  <a:pt x="475173" y="188655"/>
                </a:lnTo>
                <a:lnTo>
                  <a:pt x="461187" y="144304"/>
                </a:lnTo>
                <a:lnTo>
                  <a:pt x="439057" y="104169"/>
                </a:lnTo>
                <a:lnTo>
                  <a:pt x="409748" y="69201"/>
                </a:lnTo>
                <a:lnTo>
                  <a:pt x="374225" y="40351"/>
                </a:lnTo>
                <a:lnTo>
                  <a:pt x="333454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276060" y="4204869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3369769" y="4211069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2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612162" y="4149830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2" y="4800"/>
                </a:lnTo>
                <a:lnTo>
                  <a:pt x="146597" y="18567"/>
                </a:lnTo>
                <a:lnTo>
                  <a:pt x="105825" y="40351"/>
                </a:lnTo>
                <a:lnTo>
                  <a:pt x="70302" y="69202"/>
                </a:lnTo>
                <a:lnTo>
                  <a:pt x="40993" y="104170"/>
                </a:lnTo>
                <a:lnTo>
                  <a:pt x="18862" y="144304"/>
                </a:lnTo>
                <a:lnTo>
                  <a:pt x="4876" y="188655"/>
                </a:lnTo>
                <a:lnTo>
                  <a:pt x="0" y="236272"/>
                </a:lnTo>
                <a:lnTo>
                  <a:pt x="4876" y="283890"/>
                </a:lnTo>
                <a:lnTo>
                  <a:pt x="18862" y="328241"/>
                </a:lnTo>
                <a:lnTo>
                  <a:pt x="40993" y="368376"/>
                </a:lnTo>
                <a:lnTo>
                  <a:pt x="70302" y="403344"/>
                </a:lnTo>
                <a:lnTo>
                  <a:pt x="105825" y="432195"/>
                </a:lnTo>
                <a:lnTo>
                  <a:pt x="146597" y="453980"/>
                </a:lnTo>
                <a:lnTo>
                  <a:pt x="191652" y="467747"/>
                </a:lnTo>
                <a:lnTo>
                  <a:pt x="240024" y="472547"/>
                </a:lnTo>
                <a:lnTo>
                  <a:pt x="288398" y="467747"/>
                </a:lnTo>
                <a:lnTo>
                  <a:pt x="333454" y="453980"/>
                </a:lnTo>
                <a:lnTo>
                  <a:pt x="374225" y="432195"/>
                </a:lnTo>
                <a:lnTo>
                  <a:pt x="409748" y="403344"/>
                </a:lnTo>
                <a:lnTo>
                  <a:pt x="439057" y="368376"/>
                </a:lnTo>
                <a:lnTo>
                  <a:pt x="461187" y="328241"/>
                </a:lnTo>
                <a:lnTo>
                  <a:pt x="475173" y="283890"/>
                </a:lnTo>
                <a:lnTo>
                  <a:pt x="480049" y="236272"/>
                </a:lnTo>
                <a:lnTo>
                  <a:pt x="475173" y="188655"/>
                </a:lnTo>
                <a:lnTo>
                  <a:pt x="461187" y="144304"/>
                </a:lnTo>
                <a:lnTo>
                  <a:pt x="439057" y="104170"/>
                </a:lnTo>
                <a:lnTo>
                  <a:pt x="409748" y="69202"/>
                </a:lnTo>
                <a:lnTo>
                  <a:pt x="374225" y="40351"/>
                </a:lnTo>
                <a:lnTo>
                  <a:pt x="333454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12162" y="4149830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1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1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719588" y="4174931"/>
            <a:ext cx="272415" cy="365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00" spc="10">
                <a:latin typeface="Arial"/>
                <a:cs typeface="Arial"/>
              </a:rPr>
              <a:t>s</a:t>
            </a:r>
            <a:r>
              <a:rPr dirty="0" baseline="-21072" sz="2175" spc="22">
                <a:latin typeface="Arial"/>
                <a:cs typeface="Arial"/>
              </a:rPr>
              <a:t>1</a:t>
            </a:r>
            <a:endParaRPr baseline="-21072" sz="2175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260727" y="5652887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2" y="4800"/>
                </a:lnTo>
                <a:lnTo>
                  <a:pt x="146597" y="18567"/>
                </a:lnTo>
                <a:lnTo>
                  <a:pt x="105825" y="40351"/>
                </a:lnTo>
                <a:lnTo>
                  <a:pt x="70302" y="69203"/>
                </a:lnTo>
                <a:lnTo>
                  <a:pt x="40993" y="104171"/>
                </a:lnTo>
                <a:lnTo>
                  <a:pt x="18862" y="144306"/>
                </a:lnTo>
                <a:lnTo>
                  <a:pt x="4876" y="188657"/>
                </a:lnTo>
                <a:lnTo>
                  <a:pt x="0" y="236275"/>
                </a:lnTo>
                <a:lnTo>
                  <a:pt x="4876" y="283892"/>
                </a:lnTo>
                <a:lnTo>
                  <a:pt x="18862" y="328243"/>
                </a:lnTo>
                <a:lnTo>
                  <a:pt x="40993" y="368377"/>
                </a:lnTo>
                <a:lnTo>
                  <a:pt x="70302" y="403345"/>
                </a:lnTo>
                <a:lnTo>
                  <a:pt x="105825" y="432196"/>
                </a:lnTo>
                <a:lnTo>
                  <a:pt x="146597" y="453981"/>
                </a:lnTo>
                <a:lnTo>
                  <a:pt x="191652" y="467748"/>
                </a:lnTo>
                <a:lnTo>
                  <a:pt x="240024" y="472548"/>
                </a:lnTo>
                <a:lnTo>
                  <a:pt x="288398" y="467748"/>
                </a:lnTo>
                <a:lnTo>
                  <a:pt x="333454" y="453981"/>
                </a:lnTo>
                <a:lnTo>
                  <a:pt x="374226" y="432196"/>
                </a:lnTo>
                <a:lnTo>
                  <a:pt x="409749" y="403345"/>
                </a:lnTo>
                <a:lnTo>
                  <a:pt x="439058" y="368377"/>
                </a:lnTo>
                <a:lnTo>
                  <a:pt x="461188" y="328243"/>
                </a:lnTo>
                <a:lnTo>
                  <a:pt x="475174" y="283892"/>
                </a:lnTo>
                <a:lnTo>
                  <a:pt x="480051" y="236275"/>
                </a:lnTo>
                <a:lnTo>
                  <a:pt x="475174" y="188657"/>
                </a:lnTo>
                <a:lnTo>
                  <a:pt x="461188" y="144306"/>
                </a:lnTo>
                <a:lnTo>
                  <a:pt x="439058" y="104171"/>
                </a:lnTo>
                <a:lnTo>
                  <a:pt x="409749" y="69203"/>
                </a:lnTo>
                <a:lnTo>
                  <a:pt x="374226" y="40351"/>
                </a:lnTo>
                <a:lnTo>
                  <a:pt x="333454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260727" y="5652887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354437" y="5659090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4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653492" y="4226324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2" y="4800"/>
                </a:lnTo>
                <a:lnTo>
                  <a:pt x="146597" y="18567"/>
                </a:lnTo>
                <a:lnTo>
                  <a:pt x="105825" y="40352"/>
                </a:lnTo>
                <a:lnTo>
                  <a:pt x="70302" y="69204"/>
                </a:lnTo>
                <a:lnTo>
                  <a:pt x="40993" y="104172"/>
                </a:lnTo>
                <a:lnTo>
                  <a:pt x="18862" y="144307"/>
                </a:lnTo>
                <a:lnTo>
                  <a:pt x="4876" y="188658"/>
                </a:lnTo>
                <a:lnTo>
                  <a:pt x="0" y="236275"/>
                </a:lnTo>
                <a:lnTo>
                  <a:pt x="4876" y="283892"/>
                </a:lnTo>
                <a:lnTo>
                  <a:pt x="18862" y="328243"/>
                </a:lnTo>
                <a:lnTo>
                  <a:pt x="40993" y="368377"/>
                </a:lnTo>
                <a:lnTo>
                  <a:pt x="70302" y="403345"/>
                </a:lnTo>
                <a:lnTo>
                  <a:pt x="105825" y="432196"/>
                </a:lnTo>
                <a:lnTo>
                  <a:pt x="146597" y="453980"/>
                </a:lnTo>
                <a:lnTo>
                  <a:pt x="191652" y="467747"/>
                </a:lnTo>
                <a:lnTo>
                  <a:pt x="240024" y="472547"/>
                </a:lnTo>
                <a:lnTo>
                  <a:pt x="288398" y="467747"/>
                </a:lnTo>
                <a:lnTo>
                  <a:pt x="333454" y="453980"/>
                </a:lnTo>
                <a:lnTo>
                  <a:pt x="374227" y="432196"/>
                </a:lnTo>
                <a:lnTo>
                  <a:pt x="409750" y="403345"/>
                </a:lnTo>
                <a:lnTo>
                  <a:pt x="439060" y="368377"/>
                </a:lnTo>
                <a:lnTo>
                  <a:pt x="461190" y="328243"/>
                </a:lnTo>
                <a:lnTo>
                  <a:pt x="475177" y="283892"/>
                </a:lnTo>
                <a:lnTo>
                  <a:pt x="480053" y="236275"/>
                </a:lnTo>
                <a:lnTo>
                  <a:pt x="475177" y="188658"/>
                </a:lnTo>
                <a:lnTo>
                  <a:pt x="461190" y="144307"/>
                </a:lnTo>
                <a:lnTo>
                  <a:pt x="439060" y="104172"/>
                </a:lnTo>
                <a:lnTo>
                  <a:pt x="409750" y="69204"/>
                </a:lnTo>
                <a:lnTo>
                  <a:pt x="374227" y="40352"/>
                </a:lnTo>
                <a:lnTo>
                  <a:pt x="333454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653492" y="4226324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5747205" y="4232527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8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766010" y="5558754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1" y="4800"/>
                </a:lnTo>
                <a:lnTo>
                  <a:pt x="146595" y="18567"/>
                </a:lnTo>
                <a:lnTo>
                  <a:pt x="105823" y="40351"/>
                </a:lnTo>
                <a:lnTo>
                  <a:pt x="70301" y="69202"/>
                </a:lnTo>
                <a:lnTo>
                  <a:pt x="40992" y="104170"/>
                </a:lnTo>
                <a:lnTo>
                  <a:pt x="18862" y="144304"/>
                </a:lnTo>
                <a:lnTo>
                  <a:pt x="4876" y="188655"/>
                </a:lnTo>
                <a:lnTo>
                  <a:pt x="0" y="236272"/>
                </a:lnTo>
                <a:lnTo>
                  <a:pt x="4876" y="283890"/>
                </a:lnTo>
                <a:lnTo>
                  <a:pt x="18862" y="328242"/>
                </a:lnTo>
                <a:lnTo>
                  <a:pt x="40992" y="368377"/>
                </a:lnTo>
                <a:lnTo>
                  <a:pt x="70301" y="403345"/>
                </a:lnTo>
                <a:lnTo>
                  <a:pt x="105823" y="432196"/>
                </a:lnTo>
                <a:lnTo>
                  <a:pt x="146595" y="453980"/>
                </a:lnTo>
                <a:lnTo>
                  <a:pt x="191651" y="467748"/>
                </a:lnTo>
                <a:lnTo>
                  <a:pt x="240024" y="472548"/>
                </a:lnTo>
                <a:lnTo>
                  <a:pt x="288398" y="467748"/>
                </a:lnTo>
                <a:lnTo>
                  <a:pt x="333453" y="453980"/>
                </a:lnTo>
                <a:lnTo>
                  <a:pt x="374225" y="432196"/>
                </a:lnTo>
                <a:lnTo>
                  <a:pt x="409748" y="403345"/>
                </a:lnTo>
                <a:lnTo>
                  <a:pt x="439057" y="368377"/>
                </a:lnTo>
                <a:lnTo>
                  <a:pt x="461187" y="328242"/>
                </a:lnTo>
                <a:lnTo>
                  <a:pt x="475173" y="283890"/>
                </a:lnTo>
                <a:lnTo>
                  <a:pt x="480049" y="236272"/>
                </a:lnTo>
                <a:lnTo>
                  <a:pt x="475173" y="188655"/>
                </a:lnTo>
                <a:lnTo>
                  <a:pt x="461187" y="144304"/>
                </a:lnTo>
                <a:lnTo>
                  <a:pt x="439057" y="104170"/>
                </a:lnTo>
                <a:lnTo>
                  <a:pt x="409748" y="69202"/>
                </a:lnTo>
                <a:lnTo>
                  <a:pt x="374225" y="40351"/>
                </a:lnTo>
                <a:lnTo>
                  <a:pt x="333453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766010" y="5558754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859719" y="5564957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9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038440" y="5001070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1" y="4800"/>
                </a:lnTo>
                <a:lnTo>
                  <a:pt x="146596" y="18567"/>
                </a:lnTo>
                <a:lnTo>
                  <a:pt x="105824" y="40351"/>
                </a:lnTo>
                <a:lnTo>
                  <a:pt x="70301" y="69203"/>
                </a:lnTo>
                <a:lnTo>
                  <a:pt x="40992" y="104171"/>
                </a:lnTo>
                <a:lnTo>
                  <a:pt x="18862" y="144306"/>
                </a:lnTo>
                <a:lnTo>
                  <a:pt x="4876" y="188657"/>
                </a:lnTo>
                <a:lnTo>
                  <a:pt x="0" y="236275"/>
                </a:lnTo>
                <a:lnTo>
                  <a:pt x="4876" y="283893"/>
                </a:lnTo>
                <a:lnTo>
                  <a:pt x="18862" y="328244"/>
                </a:lnTo>
                <a:lnTo>
                  <a:pt x="40992" y="368378"/>
                </a:lnTo>
                <a:lnTo>
                  <a:pt x="70301" y="403346"/>
                </a:lnTo>
                <a:lnTo>
                  <a:pt x="105824" y="432197"/>
                </a:lnTo>
                <a:lnTo>
                  <a:pt x="146596" y="453981"/>
                </a:lnTo>
                <a:lnTo>
                  <a:pt x="191651" y="467748"/>
                </a:lnTo>
                <a:lnTo>
                  <a:pt x="240024" y="472549"/>
                </a:lnTo>
                <a:lnTo>
                  <a:pt x="288398" y="467748"/>
                </a:lnTo>
                <a:lnTo>
                  <a:pt x="333453" y="453981"/>
                </a:lnTo>
                <a:lnTo>
                  <a:pt x="374225" y="432197"/>
                </a:lnTo>
                <a:lnTo>
                  <a:pt x="409748" y="403346"/>
                </a:lnTo>
                <a:lnTo>
                  <a:pt x="439058" y="368378"/>
                </a:lnTo>
                <a:lnTo>
                  <a:pt x="461188" y="328244"/>
                </a:lnTo>
                <a:lnTo>
                  <a:pt x="475174" y="283893"/>
                </a:lnTo>
                <a:lnTo>
                  <a:pt x="480051" y="236275"/>
                </a:lnTo>
                <a:lnTo>
                  <a:pt x="475174" y="188657"/>
                </a:lnTo>
                <a:lnTo>
                  <a:pt x="461188" y="144306"/>
                </a:lnTo>
                <a:lnTo>
                  <a:pt x="439058" y="104171"/>
                </a:lnTo>
                <a:lnTo>
                  <a:pt x="409748" y="69203"/>
                </a:lnTo>
                <a:lnTo>
                  <a:pt x="374225" y="40351"/>
                </a:lnTo>
                <a:lnTo>
                  <a:pt x="333453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038440" y="5001070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1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1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5132150" y="5007273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6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575612" y="4500027"/>
            <a:ext cx="252025" cy="157516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670874" y="4553174"/>
            <a:ext cx="60325" cy="1419860"/>
          </a:xfrm>
          <a:custGeom>
            <a:avLst/>
            <a:gdLst/>
            <a:ahLst/>
            <a:cxnLst/>
            <a:rect l="l" t="t" r="r" b="b"/>
            <a:pathLst>
              <a:path w="60325" h="1419860">
                <a:moveTo>
                  <a:pt x="60029" y="1419429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434626" y="4339403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1" y="4800"/>
                </a:lnTo>
                <a:lnTo>
                  <a:pt x="146595" y="18567"/>
                </a:lnTo>
                <a:lnTo>
                  <a:pt x="105823" y="40351"/>
                </a:lnTo>
                <a:lnTo>
                  <a:pt x="70301" y="69203"/>
                </a:lnTo>
                <a:lnTo>
                  <a:pt x="40992" y="104171"/>
                </a:lnTo>
                <a:lnTo>
                  <a:pt x="18862" y="144306"/>
                </a:lnTo>
                <a:lnTo>
                  <a:pt x="4876" y="188657"/>
                </a:lnTo>
                <a:lnTo>
                  <a:pt x="0" y="236275"/>
                </a:lnTo>
                <a:lnTo>
                  <a:pt x="4876" y="283892"/>
                </a:lnTo>
                <a:lnTo>
                  <a:pt x="18862" y="328243"/>
                </a:lnTo>
                <a:lnTo>
                  <a:pt x="40992" y="368377"/>
                </a:lnTo>
                <a:lnTo>
                  <a:pt x="70301" y="403345"/>
                </a:lnTo>
                <a:lnTo>
                  <a:pt x="105823" y="432196"/>
                </a:lnTo>
                <a:lnTo>
                  <a:pt x="146595" y="453980"/>
                </a:lnTo>
                <a:lnTo>
                  <a:pt x="191651" y="467747"/>
                </a:lnTo>
                <a:lnTo>
                  <a:pt x="240024" y="472547"/>
                </a:lnTo>
                <a:lnTo>
                  <a:pt x="288397" y="467747"/>
                </a:lnTo>
                <a:lnTo>
                  <a:pt x="333452" y="453980"/>
                </a:lnTo>
                <a:lnTo>
                  <a:pt x="374223" y="432196"/>
                </a:lnTo>
                <a:lnTo>
                  <a:pt x="409746" y="403345"/>
                </a:lnTo>
                <a:lnTo>
                  <a:pt x="439055" y="368377"/>
                </a:lnTo>
                <a:lnTo>
                  <a:pt x="461185" y="328243"/>
                </a:lnTo>
                <a:lnTo>
                  <a:pt x="475170" y="283892"/>
                </a:lnTo>
                <a:lnTo>
                  <a:pt x="480047" y="236275"/>
                </a:lnTo>
                <a:lnTo>
                  <a:pt x="475170" y="188657"/>
                </a:lnTo>
                <a:lnTo>
                  <a:pt x="461185" y="144306"/>
                </a:lnTo>
                <a:lnTo>
                  <a:pt x="439055" y="104171"/>
                </a:lnTo>
                <a:lnTo>
                  <a:pt x="409746" y="69203"/>
                </a:lnTo>
                <a:lnTo>
                  <a:pt x="374223" y="40351"/>
                </a:lnTo>
                <a:lnTo>
                  <a:pt x="333452" y="18567"/>
                </a:lnTo>
                <a:lnTo>
                  <a:pt x="288397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434626" y="4339403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4528335" y="4345606"/>
            <a:ext cx="183515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685851" y="4529375"/>
            <a:ext cx="1422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latin typeface="Arial"/>
                <a:cs typeface="Arial"/>
              </a:rPr>
              <a:t>7</a:t>
            </a:r>
            <a:endParaRPr sz="165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490880" y="5736327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1" y="4800"/>
                </a:lnTo>
                <a:lnTo>
                  <a:pt x="146595" y="18567"/>
                </a:lnTo>
                <a:lnTo>
                  <a:pt x="105823" y="40351"/>
                </a:lnTo>
                <a:lnTo>
                  <a:pt x="70301" y="69203"/>
                </a:lnTo>
                <a:lnTo>
                  <a:pt x="40992" y="104171"/>
                </a:lnTo>
                <a:lnTo>
                  <a:pt x="18862" y="144306"/>
                </a:lnTo>
                <a:lnTo>
                  <a:pt x="4876" y="188657"/>
                </a:lnTo>
                <a:lnTo>
                  <a:pt x="0" y="236275"/>
                </a:lnTo>
                <a:lnTo>
                  <a:pt x="4876" y="283892"/>
                </a:lnTo>
                <a:lnTo>
                  <a:pt x="18862" y="328243"/>
                </a:lnTo>
                <a:lnTo>
                  <a:pt x="40992" y="368377"/>
                </a:lnTo>
                <a:lnTo>
                  <a:pt x="70301" y="403345"/>
                </a:lnTo>
                <a:lnTo>
                  <a:pt x="105823" y="432196"/>
                </a:lnTo>
                <a:lnTo>
                  <a:pt x="146595" y="453980"/>
                </a:lnTo>
                <a:lnTo>
                  <a:pt x="191651" y="467748"/>
                </a:lnTo>
                <a:lnTo>
                  <a:pt x="240024" y="472548"/>
                </a:lnTo>
                <a:lnTo>
                  <a:pt x="288397" y="467748"/>
                </a:lnTo>
                <a:lnTo>
                  <a:pt x="333452" y="453980"/>
                </a:lnTo>
                <a:lnTo>
                  <a:pt x="374224" y="432196"/>
                </a:lnTo>
                <a:lnTo>
                  <a:pt x="409747" y="403345"/>
                </a:lnTo>
                <a:lnTo>
                  <a:pt x="439056" y="368377"/>
                </a:lnTo>
                <a:lnTo>
                  <a:pt x="461187" y="328243"/>
                </a:lnTo>
                <a:lnTo>
                  <a:pt x="475173" y="283892"/>
                </a:lnTo>
                <a:lnTo>
                  <a:pt x="480049" y="236275"/>
                </a:lnTo>
                <a:lnTo>
                  <a:pt x="475173" y="188657"/>
                </a:lnTo>
                <a:lnTo>
                  <a:pt x="461187" y="144306"/>
                </a:lnTo>
                <a:lnTo>
                  <a:pt x="439056" y="104171"/>
                </a:lnTo>
                <a:lnTo>
                  <a:pt x="409747" y="69203"/>
                </a:lnTo>
                <a:lnTo>
                  <a:pt x="374224" y="40351"/>
                </a:lnTo>
                <a:lnTo>
                  <a:pt x="333452" y="18567"/>
                </a:lnTo>
                <a:lnTo>
                  <a:pt x="288397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490879" y="5736327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4584588" y="5742530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5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693068" y="4421267"/>
            <a:ext cx="834835" cy="83483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988961" y="4693642"/>
            <a:ext cx="441325" cy="443865"/>
          </a:xfrm>
          <a:custGeom>
            <a:avLst/>
            <a:gdLst/>
            <a:ahLst/>
            <a:cxnLst/>
            <a:rect l="l" t="t" r="r" b="b"/>
            <a:pathLst>
              <a:path w="441325" h="443864">
                <a:moveTo>
                  <a:pt x="440708" y="443346"/>
                </a:moveTo>
                <a:lnTo>
                  <a:pt x="0" y="0"/>
                </a:lnTo>
              </a:path>
            </a:pathLst>
          </a:custGeom>
          <a:ln w="4725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955902" y="4660384"/>
            <a:ext cx="215265" cy="215900"/>
          </a:xfrm>
          <a:custGeom>
            <a:avLst/>
            <a:gdLst/>
            <a:ahLst/>
            <a:cxnLst/>
            <a:rect l="l" t="t" r="r" b="b"/>
            <a:pathLst>
              <a:path w="215264" h="215900">
                <a:moveTo>
                  <a:pt x="0" y="0"/>
                </a:moveTo>
                <a:lnTo>
                  <a:pt x="51485" y="198042"/>
                </a:lnTo>
                <a:lnTo>
                  <a:pt x="55595" y="206477"/>
                </a:lnTo>
                <a:lnTo>
                  <a:pt x="62385" y="212472"/>
                </a:lnTo>
                <a:lnTo>
                  <a:pt x="70928" y="215483"/>
                </a:lnTo>
                <a:lnTo>
                  <a:pt x="80297" y="214966"/>
                </a:lnTo>
                <a:lnTo>
                  <a:pt x="88730" y="210855"/>
                </a:lnTo>
                <a:lnTo>
                  <a:pt x="94725" y="204064"/>
                </a:lnTo>
                <a:lnTo>
                  <a:pt x="97735" y="195522"/>
                </a:lnTo>
                <a:lnTo>
                  <a:pt x="97218" y="186155"/>
                </a:lnTo>
                <a:lnTo>
                  <a:pt x="66117" y="66513"/>
                </a:lnTo>
                <a:lnTo>
                  <a:pt x="213083" y="66513"/>
                </a:lnTo>
                <a:lnTo>
                  <a:pt x="212095" y="63655"/>
                </a:lnTo>
                <a:lnTo>
                  <a:pt x="206141" y="56829"/>
                </a:lnTo>
                <a:lnTo>
                  <a:pt x="197733" y="52666"/>
                </a:lnTo>
                <a:lnTo>
                  <a:pt x="0" y="0"/>
                </a:lnTo>
                <a:close/>
              </a:path>
              <a:path w="215264" h="215900">
                <a:moveTo>
                  <a:pt x="213083" y="66513"/>
                </a:moveTo>
                <a:lnTo>
                  <a:pt x="66117" y="66513"/>
                </a:lnTo>
                <a:lnTo>
                  <a:pt x="185571" y="98329"/>
                </a:lnTo>
                <a:lnTo>
                  <a:pt x="194934" y="98903"/>
                </a:lnTo>
                <a:lnTo>
                  <a:pt x="203495" y="95944"/>
                </a:lnTo>
                <a:lnTo>
                  <a:pt x="210321" y="89989"/>
                </a:lnTo>
                <a:lnTo>
                  <a:pt x="214483" y="81579"/>
                </a:lnTo>
                <a:lnTo>
                  <a:pt x="215055" y="72215"/>
                </a:lnTo>
                <a:lnTo>
                  <a:pt x="213083" y="66513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866337" y="5429371"/>
            <a:ext cx="834835" cy="78758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167990" y="5493466"/>
            <a:ext cx="443230" cy="394970"/>
          </a:xfrm>
          <a:custGeom>
            <a:avLst/>
            <a:gdLst/>
            <a:ahLst/>
            <a:cxnLst/>
            <a:rect l="l" t="t" r="r" b="b"/>
            <a:pathLst>
              <a:path w="443230" h="394970">
                <a:moveTo>
                  <a:pt x="443197" y="0"/>
                </a:moveTo>
                <a:lnTo>
                  <a:pt x="0" y="394524"/>
                </a:lnTo>
              </a:path>
            </a:pathLst>
          </a:custGeom>
          <a:ln w="4725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132964" y="5708412"/>
            <a:ext cx="219075" cy="210820"/>
          </a:xfrm>
          <a:custGeom>
            <a:avLst/>
            <a:gdLst/>
            <a:ahLst/>
            <a:cxnLst/>
            <a:rect l="l" t="t" r="r" b="b"/>
            <a:pathLst>
              <a:path w="219075" h="210820">
                <a:moveTo>
                  <a:pt x="83938" y="0"/>
                </a:moveTo>
                <a:lnTo>
                  <a:pt x="75228" y="2484"/>
                </a:lnTo>
                <a:lnTo>
                  <a:pt x="68084" y="8053"/>
                </a:lnTo>
                <a:lnTo>
                  <a:pt x="63466" y="16220"/>
                </a:lnTo>
                <a:lnTo>
                  <a:pt x="0" y="210756"/>
                </a:lnTo>
                <a:lnTo>
                  <a:pt x="200576" y="170244"/>
                </a:lnTo>
                <a:lnTo>
                  <a:pt x="209223" y="166604"/>
                </a:lnTo>
                <a:lnTo>
                  <a:pt x="215582" y="160154"/>
                </a:lnTo>
                <a:lnTo>
                  <a:pt x="219059" y="151790"/>
                </a:lnTo>
                <a:lnTo>
                  <a:pt x="219058" y="148399"/>
                </a:lnTo>
                <a:lnTo>
                  <a:pt x="70050" y="148399"/>
                </a:lnTo>
                <a:lnTo>
                  <a:pt x="108393" y="30876"/>
                </a:lnTo>
                <a:lnTo>
                  <a:pt x="109479" y="21558"/>
                </a:lnTo>
                <a:lnTo>
                  <a:pt x="106994" y="12848"/>
                </a:lnTo>
                <a:lnTo>
                  <a:pt x="101424" y="5704"/>
                </a:lnTo>
                <a:lnTo>
                  <a:pt x="93257" y="1086"/>
                </a:lnTo>
                <a:lnTo>
                  <a:pt x="83938" y="0"/>
                </a:lnTo>
                <a:close/>
              </a:path>
              <a:path w="219075" h="210820">
                <a:moveTo>
                  <a:pt x="200603" y="123925"/>
                </a:moveTo>
                <a:lnTo>
                  <a:pt x="191221" y="123925"/>
                </a:lnTo>
                <a:lnTo>
                  <a:pt x="70050" y="148399"/>
                </a:lnTo>
                <a:lnTo>
                  <a:pt x="219058" y="148399"/>
                </a:lnTo>
                <a:lnTo>
                  <a:pt x="219058" y="142407"/>
                </a:lnTo>
                <a:lnTo>
                  <a:pt x="215417" y="133760"/>
                </a:lnTo>
                <a:lnTo>
                  <a:pt x="208967" y="127401"/>
                </a:lnTo>
                <a:lnTo>
                  <a:pt x="200603" y="123925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795681" y="4342511"/>
            <a:ext cx="724574" cy="74032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895935" y="4609910"/>
            <a:ext cx="325755" cy="354965"/>
          </a:xfrm>
          <a:custGeom>
            <a:avLst/>
            <a:gdLst/>
            <a:ahLst/>
            <a:cxnLst/>
            <a:rect l="l" t="t" r="r" b="b"/>
            <a:pathLst>
              <a:path w="325755" h="354964">
                <a:moveTo>
                  <a:pt x="0" y="354341"/>
                </a:moveTo>
                <a:lnTo>
                  <a:pt x="325635" y="0"/>
                </a:lnTo>
              </a:path>
            </a:pathLst>
          </a:custGeom>
          <a:ln w="4725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041241" y="4575384"/>
            <a:ext cx="212090" cy="218440"/>
          </a:xfrm>
          <a:custGeom>
            <a:avLst/>
            <a:gdLst/>
            <a:ahLst/>
            <a:cxnLst/>
            <a:rect l="l" t="t" r="r" b="b"/>
            <a:pathLst>
              <a:path w="212089" h="218439">
                <a:moveTo>
                  <a:pt x="196968" y="69052"/>
                </a:moveTo>
                <a:lnTo>
                  <a:pt x="148598" y="69052"/>
                </a:lnTo>
                <a:lnTo>
                  <a:pt x="122212" y="189819"/>
                </a:lnTo>
                <a:lnTo>
                  <a:pt x="122061" y="199200"/>
                </a:lnTo>
                <a:lnTo>
                  <a:pt x="125404" y="207619"/>
                </a:lnTo>
                <a:lnTo>
                  <a:pt x="131660" y="214170"/>
                </a:lnTo>
                <a:lnTo>
                  <a:pt x="140247" y="217947"/>
                </a:lnTo>
                <a:lnTo>
                  <a:pt x="149628" y="218096"/>
                </a:lnTo>
                <a:lnTo>
                  <a:pt x="158047" y="214753"/>
                </a:lnTo>
                <a:lnTo>
                  <a:pt x="164598" y="208496"/>
                </a:lnTo>
                <a:lnTo>
                  <a:pt x="168375" y="199908"/>
                </a:lnTo>
                <a:lnTo>
                  <a:pt x="196968" y="69052"/>
                </a:lnTo>
                <a:close/>
              </a:path>
              <a:path w="212089" h="218439">
                <a:moveTo>
                  <a:pt x="212056" y="0"/>
                </a:moveTo>
                <a:lnTo>
                  <a:pt x="16542" y="60375"/>
                </a:lnTo>
                <a:lnTo>
                  <a:pt x="8303" y="64863"/>
                </a:lnTo>
                <a:lnTo>
                  <a:pt x="2622" y="71917"/>
                </a:lnTo>
                <a:lnTo>
                  <a:pt x="0" y="80586"/>
                </a:lnTo>
                <a:lnTo>
                  <a:pt x="939" y="89921"/>
                </a:lnTo>
                <a:lnTo>
                  <a:pt x="5426" y="98161"/>
                </a:lnTo>
                <a:lnTo>
                  <a:pt x="12480" y="103843"/>
                </a:lnTo>
                <a:lnTo>
                  <a:pt x="21150" y="106465"/>
                </a:lnTo>
                <a:lnTo>
                  <a:pt x="30485" y="105525"/>
                </a:lnTo>
                <a:lnTo>
                  <a:pt x="148598" y="69052"/>
                </a:lnTo>
                <a:lnTo>
                  <a:pt x="196968" y="69052"/>
                </a:lnTo>
                <a:lnTo>
                  <a:pt x="212056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387050" y="4641791"/>
            <a:ext cx="834835" cy="53555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467800" y="4880223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 h="0">
                <a:moveTo>
                  <a:pt x="0" y="0"/>
                </a:moveTo>
                <a:lnTo>
                  <a:pt x="444361" y="0"/>
                </a:lnTo>
              </a:path>
            </a:pathLst>
          </a:custGeom>
          <a:ln w="4725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746958" y="4774089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26464" y="0"/>
                </a:moveTo>
                <a:lnTo>
                  <a:pt x="17425" y="589"/>
                </a:lnTo>
                <a:lnTo>
                  <a:pt x="9267" y="4524"/>
                </a:lnTo>
                <a:lnTo>
                  <a:pt x="3029" y="11532"/>
                </a:lnTo>
                <a:lnTo>
                  <a:pt x="0" y="20412"/>
                </a:lnTo>
                <a:lnTo>
                  <a:pt x="590" y="29451"/>
                </a:lnTo>
                <a:lnTo>
                  <a:pt x="4526" y="37610"/>
                </a:lnTo>
                <a:lnTo>
                  <a:pt x="11534" y="43848"/>
                </a:lnTo>
                <a:lnTo>
                  <a:pt x="118313" y="106133"/>
                </a:lnTo>
                <a:lnTo>
                  <a:pt x="11534" y="168421"/>
                </a:lnTo>
                <a:lnTo>
                  <a:pt x="4526" y="174659"/>
                </a:lnTo>
                <a:lnTo>
                  <a:pt x="590" y="182817"/>
                </a:lnTo>
                <a:lnTo>
                  <a:pt x="0" y="191856"/>
                </a:lnTo>
                <a:lnTo>
                  <a:pt x="3029" y="200736"/>
                </a:lnTo>
                <a:lnTo>
                  <a:pt x="9267" y="207744"/>
                </a:lnTo>
                <a:lnTo>
                  <a:pt x="17425" y="211680"/>
                </a:lnTo>
                <a:lnTo>
                  <a:pt x="26464" y="212270"/>
                </a:lnTo>
                <a:lnTo>
                  <a:pt x="35344" y="209238"/>
                </a:lnTo>
                <a:lnTo>
                  <a:pt x="212096" y="106133"/>
                </a:lnTo>
                <a:lnTo>
                  <a:pt x="35344" y="3030"/>
                </a:lnTo>
                <a:lnTo>
                  <a:pt x="26464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387050" y="5224601"/>
            <a:ext cx="834835" cy="53555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467800" y="5464040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 h="0">
                <a:moveTo>
                  <a:pt x="0" y="0"/>
                </a:moveTo>
                <a:lnTo>
                  <a:pt x="444361" y="0"/>
                </a:lnTo>
              </a:path>
            </a:pathLst>
          </a:custGeom>
          <a:ln w="47254">
            <a:solidFill>
              <a:srgbClr val="043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746958" y="5357904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26464" y="0"/>
                </a:moveTo>
                <a:lnTo>
                  <a:pt x="17425" y="590"/>
                </a:lnTo>
                <a:lnTo>
                  <a:pt x="9267" y="4526"/>
                </a:lnTo>
                <a:lnTo>
                  <a:pt x="3029" y="11535"/>
                </a:lnTo>
                <a:lnTo>
                  <a:pt x="0" y="20414"/>
                </a:lnTo>
                <a:lnTo>
                  <a:pt x="590" y="29452"/>
                </a:lnTo>
                <a:lnTo>
                  <a:pt x="4526" y="37610"/>
                </a:lnTo>
                <a:lnTo>
                  <a:pt x="11534" y="43848"/>
                </a:lnTo>
                <a:lnTo>
                  <a:pt x="118313" y="106136"/>
                </a:lnTo>
                <a:lnTo>
                  <a:pt x="11534" y="168423"/>
                </a:lnTo>
                <a:lnTo>
                  <a:pt x="4526" y="174660"/>
                </a:lnTo>
                <a:lnTo>
                  <a:pt x="590" y="182817"/>
                </a:lnTo>
                <a:lnTo>
                  <a:pt x="0" y="191855"/>
                </a:lnTo>
                <a:lnTo>
                  <a:pt x="3029" y="200734"/>
                </a:lnTo>
                <a:lnTo>
                  <a:pt x="9267" y="207743"/>
                </a:lnTo>
                <a:lnTo>
                  <a:pt x="17425" y="211680"/>
                </a:lnTo>
                <a:lnTo>
                  <a:pt x="26464" y="212270"/>
                </a:lnTo>
                <a:lnTo>
                  <a:pt x="35344" y="209240"/>
                </a:lnTo>
                <a:lnTo>
                  <a:pt x="212096" y="106136"/>
                </a:lnTo>
                <a:lnTo>
                  <a:pt x="35344" y="3029"/>
                </a:lnTo>
                <a:lnTo>
                  <a:pt x="26464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6969301" y="4389286"/>
            <a:ext cx="781685" cy="1301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dirty="0" sz="2950" spc="10">
                <a:latin typeface="Arial"/>
                <a:cs typeface="Arial"/>
              </a:rPr>
              <a:t>BFS  </a:t>
            </a:r>
            <a:r>
              <a:rPr dirty="0" sz="2950" spc="10">
                <a:latin typeface="Arial"/>
                <a:cs typeface="Arial"/>
              </a:rPr>
              <a:t>D</a:t>
            </a:r>
            <a:r>
              <a:rPr dirty="0" sz="2950" spc="5">
                <a:latin typeface="Arial"/>
                <a:cs typeface="Arial"/>
              </a:rPr>
              <a:t>F</a:t>
            </a:r>
            <a:r>
              <a:rPr dirty="0" sz="2950" spc="10">
                <a:latin typeface="Arial"/>
                <a:cs typeface="Arial"/>
              </a:rPr>
              <a:t>S</a:t>
            </a:r>
            <a:endParaRPr sz="295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2937445" y="5240353"/>
            <a:ext cx="693071" cy="67731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028376" y="5315635"/>
            <a:ext cx="303530" cy="276225"/>
          </a:xfrm>
          <a:custGeom>
            <a:avLst/>
            <a:gdLst/>
            <a:ahLst/>
            <a:cxnLst/>
            <a:rect l="l" t="t" r="r" b="b"/>
            <a:pathLst>
              <a:path w="303529" h="276225">
                <a:moveTo>
                  <a:pt x="0" y="0"/>
                </a:moveTo>
                <a:lnTo>
                  <a:pt x="302987" y="275603"/>
                </a:lnTo>
              </a:path>
            </a:pathLst>
          </a:custGeom>
          <a:ln w="47254">
            <a:solidFill>
              <a:srgbClr val="043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147640" y="5411146"/>
            <a:ext cx="218440" cy="212090"/>
          </a:xfrm>
          <a:custGeom>
            <a:avLst/>
            <a:gdLst/>
            <a:ahLst/>
            <a:cxnLst/>
            <a:rect l="l" t="t" r="r" b="b"/>
            <a:pathLst>
              <a:path w="218439" h="212089">
                <a:moveTo>
                  <a:pt x="18752" y="122665"/>
                </a:moveTo>
                <a:lnTo>
                  <a:pt x="10352" y="126052"/>
                </a:lnTo>
                <a:lnTo>
                  <a:pt x="3834" y="132341"/>
                </a:lnTo>
                <a:lnTo>
                  <a:pt x="101" y="140949"/>
                </a:lnTo>
                <a:lnTo>
                  <a:pt x="0" y="150331"/>
                </a:lnTo>
                <a:lnTo>
                  <a:pt x="3386" y="158732"/>
                </a:lnTo>
                <a:lnTo>
                  <a:pt x="9676" y="165251"/>
                </a:lnTo>
                <a:lnTo>
                  <a:pt x="18284" y="168984"/>
                </a:lnTo>
                <a:lnTo>
                  <a:pt x="218411" y="211646"/>
                </a:lnTo>
                <a:lnTo>
                  <a:pt x="198570" y="148541"/>
                </a:lnTo>
                <a:lnTo>
                  <a:pt x="149034" y="148541"/>
                </a:lnTo>
                <a:lnTo>
                  <a:pt x="28134" y="122767"/>
                </a:lnTo>
                <a:lnTo>
                  <a:pt x="18752" y="122665"/>
                </a:lnTo>
                <a:close/>
              </a:path>
              <a:path w="218439" h="212089">
                <a:moveTo>
                  <a:pt x="136741" y="0"/>
                </a:moveTo>
                <a:lnTo>
                  <a:pt x="127410" y="988"/>
                </a:lnTo>
                <a:lnTo>
                  <a:pt x="119194" y="5518"/>
                </a:lnTo>
                <a:lnTo>
                  <a:pt x="113548" y="12601"/>
                </a:lnTo>
                <a:lnTo>
                  <a:pt x="110971" y="21284"/>
                </a:lnTo>
                <a:lnTo>
                  <a:pt x="111958" y="30614"/>
                </a:lnTo>
                <a:lnTo>
                  <a:pt x="149034" y="148541"/>
                </a:lnTo>
                <a:lnTo>
                  <a:pt x="198570" y="148541"/>
                </a:lnTo>
                <a:lnTo>
                  <a:pt x="157038" y="16440"/>
                </a:lnTo>
                <a:lnTo>
                  <a:pt x="152508" y="8223"/>
                </a:lnTo>
                <a:lnTo>
                  <a:pt x="145425" y="2577"/>
                </a:lnTo>
                <a:lnTo>
                  <a:pt x="136741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693523" y="5602640"/>
            <a:ext cx="1055358" cy="53555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770781" y="5751331"/>
            <a:ext cx="666750" cy="85725"/>
          </a:xfrm>
          <a:custGeom>
            <a:avLst/>
            <a:gdLst/>
            <a:ahLst/>
            <a:cxnLst/>
            <a:rect l="l" t="t" r="r" b="b"/>
            <a:pathLst>
              <a:path w="666750" h="85725">
                <a:moveTo>
                  <a:pt x="0" y="0"/>
                </a:moveTo>
                <a:lnTo>
                  <a:pt x="666250" y="85581"/>
                </a:lnTo>
              </a:path>
            </a:pathLst>
          </a:custGeom>
          <a:ln w="47254">
            <a:solidFill>
              <a:srgbClr val="043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262252" y="5713398"/>
            <a:ext cx="221615" cy="211454"/>
          </a:xfrm>
          <a:custGeom>
            <a:avLst/>
            <a:gdLst/>
            <a:ahLst/>
            <a:cxnLst/>
            <a:rect l="l" t="t" r="r" b="b"/>
            <a:pathLst>
              <a:path w="221614" h="211454">
                <a:moveTo>
                  <a:pt x="41652" y="0"/>
                </a:moveTo>
                <a:lnTo>
                  <a:pt x="33059" y="2864"/>
                </a:lnTo>
                <a:lnTo>
                  <a:pt x="25980" y="9020"/>
                </a:lnTo>
                <a:lnTo>
                  <a:pt x="21843" y="17442"/>
                </a:lnTo>
                <a:lnTo>
                  <a:pt x="21276" y="26482"/>
                </a:lnTo>
                <a:lnTo>
                  <a:pt x="24140" y="35075"/>
                </a:lnTo>
                <a:lnTo>
                  <a:pt x="30297" y="42156"/>
                </a:lnTo>
                <a:lnTo>
                  <a:pt x="128269" y="117538"/>
                </a:lnTo>
                <a:lnTo>
                  <a:pt x="14425" y="165715"/>
                </a:lnTo>
                <a:lnTo>
                  <a:pt x="6679" y="171008"/>
                </a:lnTo>
                <a:lnTo>
                  <a:pt x="1736" y="178598"/>
                </a:lnTo>
                <a:lnTo>
                  <a:pt x="0" y="187489"/>
                </a:lnTo>
                <a:lnTo>
                  <a:pt x="1874" y="196682"/>
                </a:lnTo>
                <a:lnTo>
                  <a:pt x="7168" y="204428"/>
                </a:lnTo>
                <a:lnTo>
                  <a:pt x="14759" y="209370"/>
                </a:lnTo>
                <a:lnTo>
                  <a:pt x="23649" y="211107"/>
                </a:lnTo>
                <a:lnTo>
                  <a:pt x="32843" y="209234"/>
                </a:lnTo>
                <a:lnTo>
                  <a:pt x="221287" y="129488"/>
                </a:lnTo>
                <a:lnTo>
                  <a:pt x="59113" y="4704"/>
                </a:lnTo>
                <a:lnTo>
                  <a:pt x="50692" y="567"/>
                </a:lnTo>
                <a:lnTo>
                  <a:pt x="41652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906398" y="5287606"/>
            <a:ext cx="677319" cy="70882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007569" y="5564044"/>
            <a:ext cx="280670" cy="303530"/>
          </a:xfrm>
          <a:custGeom>
            <a:avLst/>
            <a:gdLst/>
            <a:ahLst/>
            <a:cxnLst/>
            <a:rect l="l" t="t" r="r" b="b"/>
            <a:pathLst>
              <a:path w="280670" h="303529">
                <a:moveTo>
                  <a:pt x="0" y="303238"/>
                </a:moveTo>
                <a:lnTo>
                  <a:pt x="280252" y="0"/>
                </a:lnTo>
              </a:path>
            </a:pathLst>
          </a:custGeom>
          <a:ln w="47254">
            <a:solidFill>
              <a:srgbClr val="043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107361" y="5529609"/>
            <a:ext cx="212725" cy="218440"/>
          </a:xfrm>
          <a:custGeom>
            <a:avLst/>
            <a:gdLst/>
            <a:ahLst/>
            <a:cxnLst/>
            <a:rect l="l" t="t" r="r" b="b"/>
            <a:pathLst>
              <a:path w="212725" h="218439">
                <a:moveTo>
                  <a:pt x="197033" y="68872"/>
                </a:moveTo>
                <a:lnTo>
                  <a:pt x="148635" y="68872"/>
                </a:lnTo>
                <a:lnTo>
                  <a:pt x="121905" y="189564"/>
                </a:lnTo>
                <a:lnTo>
                  <a:pt x="121729" y="198946"/>
                </a:lnTo>
                <a:lnTo>
                  <a:pt x="125048" y="207374"/>
                </a:lnTo>
                <a:lnTo>
                  <a:pt x="131285" y="213941"/>
                </a:lnTo>
                <a:lnTo>
                  <a:pt x="139863" y="217743"/>
                </a:lnTo>
                <a:lnTo>
                  <a:pt x="149243" y="217919"/>
                </a:lnTo>
                <a:lnTo>
                  <a:pt x="157671" y="214599"/>
                </a:lnTo>
                <a:lnTo>
                  <a:pt x="164239" y="208361"/>
                </a:lnTo>
                <a:lnTo>
                  <a:pt x="168041" y="199782"/>
                </a:lnTo>
                <a:lnTo>
                  <a:pt x="197033" y="68872"/>
                </a:lnTo>
                <a:close/>
              </a:path>
              <a:path w="212725" h="218439">
                <a:moveTo>
                  <a:pt x="212286" y="0"/>
                </a:moveTo>
                <a:lnTo>
                  <a:pt x="16603" y="59823"/>
                </a:lnTo>
                <a:lnTo>
                  <a:pt x="8349" y="64288"/>
                </a:lnTo>
                <a:lnTo>
                  <a:pt x="2647" y="71327"/>
                </a:lnTo>
                <a:lnTo>
                  <a:pt x="0" y="79989"/>
                </a:lnTo>
                <a:lnTo>
                  <a:pt x="912" y="89327"/>
                </a:lnTo>
                <a:lnTo>
                  <a:pt x="5378" y="97579"/>
                </a:lnTo>
                <a:lnTo>
                  <a:pt x="12416" y="103281"/>
                </a:lnTo>
                <a:lnTo>
                  <a:pt x="21079" y="105928"/>
                </a:lnTo>
                <a:lnTo>
                  <a:pt x="30417" y="105015"/>
                </a:lnTo>
                <a:lnTo>
                  <a:pt x="148635" y="68872"/>
                </a:lnTo>
                <a:lnTo>
                  <a:pt x="197033" y="68872"/>
                </a:lnTo>
                <a:lnTo>
                  <a:pt x="212286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583261" y="4547282"/>
            <a:ext cx="1071109" cy="138614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685807" y="4608213"/>
            <a:ext cx="875665" cy="1197610"/>
          </a:xfrm>
          <a:custGeom>
            <a:avLst/>
            <a:gdLst/>
            <a:ahLst/>
            <a:cxnLst/>
            <a:rect l="l" t="t" r="r" b="b"/>
            <a:pathLst>
              <a:path w="875664" h="1197610">
                <a:moveTo>
                  <a:pt x="875373" y="1197317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96" name="object 9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28"/>
              </a:rPr>
              <a:t>http://cs224w.stanford.edu</a:t>
            </a:r>
          </a:p>
        </p:txBody>
      </p:sp>
      <p:sp>
        <p:nvSpPr>
          <p:cNvPr id="97" name="object 9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6072" y="347472"/>
            <a:ext cx="583082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80611" y="1946172"/>
            <a:ext cx="528320" cy="376555"/>
          </a:xfrm>
          <a:custGeom>
            <a:avLst/>
            <a:gdLst/>
            <a:ahLst/>
            <a:cxnLst/>
            <a:rect l="l" t="t" r="r" b="b"/>
            <a:pathLst>
              <a:path w="528319" h="376555">
                <a:moveTo>
                  <a:pt x="407772" y="0"/>
                </a:moveTo>
                <a:lnTo>
                  <a:pt x="402414" y="15279"/>
                </a:lnTo>
                <a:lnTo>
                  <a:pt x="424206" y="24736"/>
                </a:lnTo>
                <a:lnTo>
                  <a:pt x="442946" y="37826"/>
                </a:lnTo>
                <a:lnTo>
                  <a:pt x="471272" y="74909"/>
                </a:lnTo>
                <a:lnTo>
                  <a:pt x="487941" y="124940"/>
                </a:lnTo>
                <a:lnTo>
                  <a:pt x="493497" y="186331"/>
                </a:lnTo>
                <a:lnTo>
                  <a:pt x="492102" y="219533"/>
                </a:lnTo>
                <a:lnTo>
                  <a:pt x="480940" y="276782"/>
                </a:lnTo>
                <a:lnTo>
                  <a:pt x="458542" y="321493"/>
                </a:lnTo>
                <a:lnTo>
                  <a:pt x="424460" y="351655"/>
                </a:lnTo>
                <a:lnTo>
                  <a:pt x="403010" y="361156"/>
                </a:lnTo>
                <a:lnTo>
                  <a:pt x="407772" y="376435"/>
                </a:lnTo>
                <a:lnTo>
                  <a:pt x="459118" y="352349"/>
                </a:lnTo>
                <a:lnTo>
                  <a:pt x="496871" y="310653"/>
                </a:lnTo>
                <a:lnTo>
                  <a:pt x="520088" y="254818"/>
                </a:lnTo>
                <a:lnTo>
                  <a:pt x="527827" y="188316"/>
                </a:lnTo>
                <a:lnTo>
                  <a:pt x="525886" y="153807"/>
                </a:lnTo>
                <a:lnTo>
                  <a:pt x="510358" y="92638"/>
                </a:lnTo>
                <a:lnTo>
                  <a:pt x="479563" y="42843"/>
                </a:lnTo>
                <a:lnTo>
                  <a:pt x="435064" y="9853"/>
                </a:lnTo>
                <a:lnTo>
                  <a:pt x="407772" y="0"/>
                </a:lnTo>
                <a:close/>
              </a:path>
              <a:path w="528319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7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5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799401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40" b="1">
                <a:solidFill>
                  <a:srgbClr val="C00000"/>
                </a:solidFill>
                <a:latin typeface="Calibri"/>
                <a:cs typeface="Calibri"/>
              </a:rPr>
              <a:t>Two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classic </a:t>
            </a:r>
            <a:r>
              <a:rPr dirty="0" spc="-20" b="1">
                <a:solidFill>
                  <a:srgbClr val="C00000"/>
                </a:solidFill>
                <a:latin typeface="Calibri"/>
                <a:cs typeface="Calibri"/>
              </a:rPr>
              <a:t>strategies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define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neighborhood</a:t>
            </a:r>
          </a:p>
          <a:p>
            <a:pPr marL="12700">
              <a:lnSpc>
                <a:spcPts val="3815"/>
              </a:lnSpc>
              <a:tabLst>
                <a:tab pos="713740" algn="l"/>
                <a:tab pos="1236345" algn="l"/>
              </a:tabLst>
            </a:pPr>
            <a:r>
              <a:rPr dirty="0">
                <a:latin typeface="Cambria Math"/>
                <a:cs typeface="Cambria Math"/>
              </a:rPr>
              <a:t>𝑵</a:t>
            </a:r>
            <a:r>
              <a:rPr dirty="0" baseline="-15700" sz="3450">
                <a:latin typeface="Cambria Math"/>
                <a:cs typeface="Cambria Math"/>
              </a:rPr>
              <a:t>𝑹	</a:t>
            </a:r>
            <a:r>
              <a:rPr dirty="0" sz="3200">
                <a:latin typeface="Cambria Math"/>
                <a:cs typeface="Cambria Math"/>
              </a:rPr>
              <a:t>𝒖	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of a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given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32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𝒖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98880" y="4879872"/>
            <a:ext cx="509905" cy="376555"/>
          </a:xfrm>
          <a:custGeom>
            <a:avLst/>
            <a:gdLst/>
            <a:ahLst/>
            <a:cxnLst/>
            <a:rect l="l" t="t" r="r" b="b"/>
            <a:pathLst>
              <a:path w="509904" h="376554">
                <a:moveTo>
                  <a:pt x="389548" y="0"/>
                </a:moveTo>
                <a:lnTo>
                  <a:pt x="384190" y="15279"/>
                </a:lnTo>
                <a:lnTo>
                  <a:pt x="405981" y="24736"/>
                </a:lnTo>
                <a:lnTo>
                  <a:pt x="424721" y="37826"/>
                </a:lnTo>
                <a:lnTo>
                  <a:pt x="453048" y="74909"/>
                </a:lnTo>
                <a:lnTo>
                  <a:pt x="469717" y="124940"/>
                </a:lnTo>
                <a:lnTo>
                  <a:pt x="475273" y="186331"/>
                </a:lnTo>
                <a:lnTo>
                  <a:pt x="473878" y="219533"/>
                </a:lnTo>
                <a:lnTo>
                  <a:pt x="462716" y="276782"/>
                </a:lnTo>
                <a:lnTo>
                  <a:pt x="440317" y="321493"/>
                </a:lnTo>
                <a:lnTo>
                  <a:pt x="406235" y="351655"/>
                </a:lnTo>
                <a:lnTo>
                  <a:pt x="384785" y="361156"/>
                </a:lnTo>
                <a:lnTo>
                  <a:pt x="389548" y="376435"/>
                </a:lnTo>
                <a:lnTo>
                  <a:pt x="440893" y="352350"/>
                </a:lnTo>
                <a:lnTo>
                  <a:pt x="478646" y="310653"/>
                </a:lnTo>
                <a:lnTo>
                  <a:pt x="501863" y="254818"/>
                </a:lnTo>
                <a:lnTo>
                  <a:pt x="509602" y="188316"/>
                </a:lnTo>
                <a:lnTo>
                  <a:pt x="507661" y="153807"/>
                </a:lnTo>
                <a:lnTo>
                  <a:pt x="492134" y="92638"/>
                </a:lnTo>
                <a:lnTo>
                  <a:pt x="461339" y="42843"/>
                </a:lnTo>
                <a:lnTo>
                  <a:pt x="416839" y="9853"/>
                </a:lnTo>
                <a:lnTo>
                  <a:pt x="389548" y="0"/>
                </a:lnTo>
                <a:close/>
              </a:path>
              <a:path w="509904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99363" y="4765548"/>
            <a:ext cx="57156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32200" algn="l"/>
                <a:tab pos="4136390" algn="l"/>
              </a:tabLst>
            </a:pPr>
            <a:r>
              <a:rPr dirty="0" sz="3200" spc="-35" b="1">
                <a:solidFill>
                  <a:srgbClr val="C00000"/>
                </a:solidFill>
                <a:latin typeface="Calibri"/>
                <a:cs typeface="Calibri"/>
              </a:rPr>
              <a:t>Walk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3200" spc="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r>
              <a:rPr dirty="0" sz="32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10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3200" spc="-110">
                <a:solidFill>
                  <a:srgbClr val="C00000"/>
                </a:solidFill>
                <a:latin typeface="Cambria Math"/>
                <a:cs typeface="Cambria Math"/>
              </a:rPr>
              <a:t>𝑁</a:t>
            </a:r>
            <a:r>
              <a:rPr dirty="0" baseline="-15700" sz="3450" spc="-165">
                <a:solidFill>
                  <a:srgbClr val="C00000"/>
                </a:solidFill>
                <a:latin typeface="Cambria Math"/>
                <a:cs typeface="Cambria Math"/>
              </a:rPr>
              <a:t>&amp;	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𝑢	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size</a:t>
            </a:r>
            <a:r>
              <a:rPr dirty="0" sz="3200" spc="-1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3):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7299" y="5480728"/>
            <a:ext cx="509905" cy="376555"/>
          </a:xfrm>
          <a:custGeom>
            <a:avLst/>
            <a:gdLst/>
            <a:ahLst/>
            <a:cxnLst/>
            <a:rect l="l" t="t" r="r" b="b"/>
            <a:pathLst>
              <a:path w="509905" h="376554">
                <a:moveTo>
                  <a:pt x="389549" y="0"/>
                </a:moveTo>
                <a:lnTo>
                  <a:pt x="384191" y="15280"/>
                </a:lnTo>
                <a:lnTo>
                  <a:pt x="405982" y="24736"/>
                </a:lnTo>
                <a:lnTo>
                  <a:pt x="424722" y="37827"/>
                </a:lnTo>
                <a:lnTo>
                  <a:pt x="453049" y="74910"/>
                </a:lnTo>
                <a:lnTo>
                  <a:pt x="469718" y="124941"/>
                </a:lnTo>
                <a:lnTo>
                  <a:pt x="475274" y="186333"/>
                </a:lnTo>
                <a:lnTo>
                  <a:pt x="473879" y="219534"/>
                </a:lnTo>
                <a:lnTo>
                  <a:pt x="462716" y="276783"/>
                </a:lnTo>
                <a:lnTo>
                  <a:pt x="440318" y="321493"/>
                </a:lnTo>
                <a:lnTo>
                  <a:pt x="406236" y="351656"/>
                </a:lnTo>
                <a:lnTo>
                  <a:pt x="384787" y="361156"/>
                </a:lnTo>
                <a:lnTo>
                  <a:pt x="389549" y="376436"/>
                </a:lnTo>
                <a:lnTo>
                  <a:pt x="440894" y="352351"/>
                </a:lnTo>
                <a:lnTo>
                  <a:pt x="478647" y="310654"/>
                </a:lnTo>
                <a:lnTo>
                  <a:pt x="501864" y="254818"/>
                </a:lnTo>
                <a:lnTo>
                  <a:pt x="509604" y="188317"/>
                </a:lnTo>
                <a:lnTo>
                  <a:pt x="507663" y="153808"/>
                </a:lnTo>
                <a:lnTo>
                  <a:pt x="492135" y="92639"/>
                </a:lnTo>
                <a:lnTo>
                  <a:pt x="461340" y="42844"/>
                </a:lnTo>
                <a:lnTo>
                  <a:pt x="416840" y="9853"/>
                </a:lnTo>
                <a:lnTo>
                  <a:pt x="389549" y="0"/>
                </a:lnTo>
                <a:close/>
              </a:path>
              <a:path w="509905" h="376554">
                <a:moveTo>
                  <a:pt x="120055" y="0"/>
                </a:moveTo>
                <a:lnTo>
                  <a:pt x="68833" y="24135"/>
                </a:lnTo>
                <a:lnTo>
                  <a:pt x="31055" y="65980"/>
                </a:lnTo>
                <a:lnTo>
                  <a:pt x="7763" y="121915"/>
                </a:lnTo>
                <a:lnTo>
                  <a:pt x="0" y="188317"/>
                </a:lnTo>
                <a:lnTo>
                  <a:pt x="1934" y="222901"/>
                </a:lnTo>
                <a:lnTo>
                  <a:pt x="17412" y="284069"/>
                </a:lnTo>
                <a:lnTo>
                  <a:pt x="48133" y="333704"/>
                </a:lnTo>
                <a:lnTo>
                  <a:pt x="92683" y="366595"/>
                </a:lnTo>
                <a:lnTo>
                  <a:pt x="120055" y="376436"/>
                </a:lnTo>
                <a:lnTo>
                  <a:pt x="124818" y="361156"/>
                </a:lnTo>
                <a:lnTo>
                  <a:pt x="103367" y="351656"/>
                </a:lnTo>
                <a:lnTo>
                  <a:pt x="84857" y="338435"/>
                </a:lnTo>
                <a:lnTo>
                  <a:pt x="56654" y="300831"/>
                </a:lnTo>
                <a:lnTo>
                  <a:pt x="39911" y="249684"/>
                </a:lnTo>
                <a:lnTo>
                  <a:pt x="34330" y="186333"/>
                </a:lnTo>
                <a:lnTo>
                  <a:pt x="35725" y="154217"/>
                </a:lnTo>
                <a:lnTo>
                  <a:pt x="46887" y="98506"/>
                </a:lnTo>
                <a:lnTo>
                  <a:pt x="69323" y="54551"/>
                </a:lnTo>
                <a:lnTo>
                  <a:pt x="103702" y="24736"/>
                </a:lnTo>
                <a:lnTo>
                  <a:pt x="125412" y="15280"/>
                </a:lnTo>
                <a:lnTo>
                  <a:pt x="1200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93600" y="6199801"/>
            <a:ext cx="509905" cy="376555"/>
          </a:xfrm>
          <a:custGeom>
            <a:avLst/>
            <a:gdLst/>
            <a:ahLst/>
            <a:cxnLst/>
            <a:rect l="l" t="t" r="r" b="b"/>
            <a:pathLst>
              <a:path w="509905" h="376554">
                <a:moveTo>
                  <a:pt x="389548" y="0"/>
                </a:moveTo>
                <a:lnTo>
                  <a:pt x="384190" y="15279"/>
                </a:lnTo>
                <a:lnTo>
                  <a:pt x="405981" y="24736"/>
                </a:lnTo>
                <a:lnTo>
                  <a:pt x="424721" y="37827"/>
                </a:lnTo>
                <a:lnTo>
                  <a:pt x="453048" y="74910"/>
                </a:lnTo>
                <a:lnTo>
                  <a:pt x="469717" y="124941"/>
                </a:lnTo>
                <a:lnTo>
                  <a:pt x="475273" y="186332"/>
                </a:lnTo>
                <a:lnTo>
                  <a:pt x="473878" y="219533"/>
                </a:lnTo>
                <a:lnTo>
                  <a:pt x="462716" y="276783"/>
                </a:lnTo>
                <a:lnTo>
                  <a:pt x="440317" y="321493"/>
                </a:lnTo>
                <a:lnTo>
                  <a:pt x="406235" y="351655"/>
                </a:lnTo>
                <a:lnTo>
                  <a:pt x="384785" y="361156"/>
                </a:lnTo>
                <a:lnTo>
                  <a:pt x="389548" y="376435"/>
                </a:lnTo>
                <a:lnTo>
                  <a:pt x="440893" y="352350"/>
                </a:lnTo>
                <a:lnTo>
                  <a:pt x="478646" y="310653"/>
                </a:lnTo>
                <a:lnTo>
                  <a:pt x="501863" y="254818"/>
                </a:lnTo>
                <a:lnTo>
                  <a:pt x="509602" y="188317"/>
                </a:lnTo>
                <a:lnTo>
                  <a:pt x="507661" y="153807"/>
                </a:lnTo>
                <a:lnTo>
                  <a:pt x="492134" y="92639"/>
                </a:lnTo>
                <a:lnTo>
                  <a:pt x="461339" y="42843"/>
                </a:lnTo>
                <a:lnTo>
                  <a:pt x="416839" y="9853"/>
                </a:lnTo>
                <a:lnTo>
                  <a:pt x="389548" y="0"/>
                </a:lnTo>
                <a:close/>
              </a:path>
              <a:path w="509905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5"/>
                </a:lnTo>
                <a:lnTo>
                  <a:pt x="0" y="188317"/>
                </a:lnTo>
                <a:lnTo>
                  <a:pt x="1934" y="222901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2"/>
                </a:lnTo>
                <a:lnTo>
                  <a:pt x="35724" y="154216"/>
                </a:lnTo>
                <a:lnTo>
                  <a:pt x="46886" y="98505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20617" y="5216652"/>
            <a:ext cx="1351915" cy="1464310"/>
          </a:xfrm>
          <a:prstGeom prst="rect">
            <a:avLst/>
          </a:prstGeom>
        </p:spPr>
        <p:txBody>
          <a:bodyPr wrap="square" lIns="0" tIns="243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0"/>
              </a:spcBef>
              <a:tabLst>
                <a:tab pos="1019175" algn="l"/>
              </a:tabLst>
            </a:pPr>
            <a:r>
              <a:rPr dirty="0" baseline="11284" sz="4800" spc="75">
                <a:latin typeface="Cambria Math"/>
                <a:cs typeface="Cambria Math"/>
              </a:rPr>
              <a:t>𝑁</a:t>
            </a:r>
            <a:r>
              <a:rPr dirty="0" sz="2300" spc="50">
                <a:latin typeface="Cambria Math"/>
                <a:cs typeface="Cambria Math"/>
              </a:rPr>
              <a:t>012	</a:t>
            </a:r>
            <a:r>
              <a:rPr dirty="0" baseline="11284" sz="4800">
                <a:latin typeface="Cambria Math"/>
                <a:cs typeface="Cambria Math"/>
              </a:rPr>
              <a:t>𝑢</a:t>
            </a:r>
            <a:endParaRPr baseline="11284" sz="4800">
              <a:latin typeface="Cambria Math"/>
              <a:cs typeface="Cambria Math"/>
            </a:endParaRPr>
          </a:p>
          <a:p>
            <a:pPr marL="87630">
              <a:lnSpc>
                <a:spcPct val="100000"/>
              </a:lnSpc>
              <a:spcBef>
                <a:spcPts val="1820"/>
              </a:spcBef>
              <a:tabLst>
                <a:tab pos="1105535" algn="l"/>
              </a:tabLst>
            </a:pPr>
            <a:r>
              <a:rPr dirty="0" baseline="11284" sz="4800" spc="-390">
                <a:latin typeface="Cambria Math"/>
                <a:cs typeface="Cambria Math"/>
              </a:rPr>
              <a:t>𝑁</a:t>
            </a:r>
            <a:r>
              <a:rPr dirty="0" sz="2300" spc="285">
                <a:latin typeface="Cambria Math"/>
                <a:cs typeface="Cambria Math"/>
              </a:rPr>
              <a:t>6</a:t>
            </a:r>
            <a:r>
              <a:rPr dirty="0" sz="2300" spc="280">
                <a:latin typeface="Cambria Math"/>
                <a:cs typeface="Cambria Math"/>
              </a:rPr>
              <a:t>1</a:t>
            </a:r>
            <a:r>
              <a:rPr dirty="0" sz="2300" spc="-5">
                <a:latin typeface="Cambria Math"/>
                <a:cs typeface="Cambria Math"/>
              </a:rPr>
              <a:t>2</a:t>
            </a:r>
            <a:r>
              <a:rPr dirty="0" sz="2300">
                <a:latin typeface="Cambria Math"/>
                <a:cs typeface="Cambria Math"/>
              </a:rPr>
              <a:t>	</a:t>
            </a:r>
            <a:r>
              <a:rPr dirty="0" baseline="11284" sz="4800">
                <a:latin typeface="Cambria Math"/>
                <a:cs typeface="Cambria Math"/>
              </a:rPr>
              <a:t>𝑢</a:t>
            </a:r>
            <a:endParaRPr baseline="11284" sz="4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2808" y="5134355"/>
            <a:ext cx="2324735" cy="1464310"/>
          </a:xfrm>
          <a:prstGeom prst="rect">
            <a:avLst/>
          </a:prstGeom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3200">
                <a:latin typeface="Cambria Math"/>
                <a:cs typeface="Cambria Math"/>
              </a:rPr>
              <a:t>= { </a:t>
            </a:r>
            <a:r>
              <a:rPr dirty="0" sz="3200" spc="-5">
                <a:latin typeface="Cambria Math"/>
                <a:cs typeface="Cambria Math"/>
              </a:rPr>
              <a:t>𝑠</a:t>
            </a:r>
            <a:r>
              <a:rPr dirty="0" baseline="-15700" sz="3450" spc="-7">
                <a:latin typeface="Cambria Math"/>
                <a:cs typeface="Cambria Math"/>
              </a:rPr>
              <a:t>3</a:t>
            </a:r>
            <a:r>
              <a:rPr dirty="0" sz="3200" spc="-5">
                <a:latin typeface="Cambria Math"/>
                <a:cs typeface="Cambria Math"/>
              </a:rPr>
              <a:t>, </a:t>
            </a:r>
            <a:r>
              <a:rPr dirty="0" sz="3200" spc="15">
                <a:latin typeface="Cambria Math"/>
                <a:cs typeface="Cambria Math"/>
              </a:rPr>
              <a:t>𝑠</a:t>
            </a:r>
            <a:r>
              <a:rPr dirty="0" baseline="-15700" sz="3450" spc="22">
                <a:latin typeface="Cambria Math"/>
                <a:cs typeface="Cambria Math"/>
              </a:rPr>
              <a:t>4</a:t>
            </a:r>
            <a:r>
              <a:rPr dirty="0" sz="3200" spc="15">
                <a:latin typeface="Cambria Math"/>
                <a:cs typeface="Cambria Math"/>
              </a:rPr>
              <a:t>,</a:t>
            </a:r>
            <a:r>
              <a:rPr dirty="0" sz="3200" spc="-204">
                <a:latin typeface="Cambria Math"/>
                <a:cs typeface="Cambria Math"/>
              </a:rPr>
              <a:t> </a:t>
            </a:r>
            <a:r>
              <a:rPr dirty="0" sz="3200" spc="15">
                <a:latin typeface="Cambria Math"/>
                <a:cs typeface="Cambria Math"/>
              </a:rPr>
              <a:t>𝑠</a:t>
            </a:r>
            <a:r>
              <a:rPr dirty="0" baseline="-15700" sz="3450" spc="22">
                <a:latin typeface="Cambria Math"/>
                <a:cs typeface="Cambria Math"/>
              </a:rPr>
              <a:t>5</a:t>
            </a:r>
            <a:r>
              <a:rPr dirty="0" sz="3200" spc="15">
                <a:latin typeface="Cambria Math"/>
                <a:cs typeface="Cambria Math"/>
              </a:rPr>
              <a:t>}</a:t>
            </a:r>
            <a:endParaRPr sz="3200">
              <a:latin typeface="Cambria Math"/>
              <a:cs typeface="Cambria Math"/>
            </a:endParaRPr>
          </a:p>
          <a:p>
            <a:pPr marL="98425">
              <a:lnSpc>
                <a:spcPct val="100000"/>
              </a:lnSpc>
              <a:spcBef>
                <a:spcPts val="1825"/>
              </a:spcBef>
            </a:pPr>
            <a:r>
              <a:rPr dirty="0" sz="3200">
                <a:latin typeface="Cambria Math"/>
                <a:cs typeface="Cambria Math"/>
              </a:rPr>
              <a:t>= { 𝑠</a:t>
            </a:r>
            <a:r>
              <a:rPr dirty="0" baseline="-15700" sz="3450">
                <a:latin typeface="Cambria Math"/>
                <a:cs typeface="Cambria Math"/>
              </a:rPr>
              <a:t>7</a:t>
            </a:r>
            <a:r>
              <a:rPr dirty="0" sz="3200">
                <a:latin typeface="Cambria Math"/>
                <a:cs typeface="Cambria Math"/>
              </a:rPr>
              <a:t>, </a:t>
            </a:r>
            <a:r>
              <a:rPr dirty="0" sz="3200" spc="15">
                <a:latin typeface="Cambria Math"/>
                <a:cs typeface="Cambria Math"/>
              </a:rPr>
              <a:t>𝑠</a:t>
            </a:r>
            <a:r>
              <a:rPr dirty="0" baseline="-15700" sz="3450" spc="22">
                <a:latin typeface="Cambria Math"/>
                <a:cs typeface="Cambria Math"/>
              </a:rPr>
              <a:t>8</a:t>
            </a:r>
            <a:r>
              <a:rPr dirty="0" sz="3200" spc="15">
                <a:latin typeface="Cambria Math"/>
                <a:cs typeface="Cambria Math"/>
              </a:rPr>
              <a:t>,</a:t>
            </a:r>
            <a:r>
              <a:rPr dirty="0" sz="3200" spc="-210">
                <a:latin typeface="Cambria Math"/>
                <a:cs typeface="Cambria Math"/>
              </a:rPr>
              <a:t> </a:t>
            </a:r>
            <a:r>
              <a:rPr dirty="0" sz="3200" spc="15">
                <a:latin typeface="Cambria Math"/>
                <a:cs typeface="Cambria Math"/>
              </a:rPr>
              <a:t>𝑠</a:t>
            </a:r>
            <a:r>
              <a:rPr dirty="0" baseline="-15700" sz="3450" spc="22">
                <a:latin typeface="Cambria Math"/>
                <a:cs typeface="Cambria Math"/>
              </a:rPr>
              <a:t>9</a:t>
            </a:r>
            <a:r>
              <a:rPr dirty="0" sz="3200" spc="15">
                <a:latin typeface="Cambria Math"/>
                <a:cs typeface="Cambria Math"/>
              </a:rPr>
              <a:t>}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9719" y="5283708"/>
            <a:ext cx="4107179" cy="1257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6200"/>
              </a:lnSpc>
              <a:spcBef>
                <a:spcPts val="100"/>
              </a:spcBef>
            </a:pP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Local </a:t>
            </a:r>
            <a:r>
              <a:rPr dirty="0" sz="3200" spc="-10">
                <a:latin typeface="Calibri"/>
                <a:cs typeface="Calibri"/>
              </a:rPr>
              <a:t>microscopic view 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Global </a:t>
            </a:r>
            <a:r>
              <a:rPr dirty="0" sz="3200" spc="-10">
                <a:latin typeface="Calibri"/>
                <a:cs typeface="Calibri"/>
              </a:rPr>
              <a:t>macroscopic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view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02501" y="4213314"/>
            <a:ext cx="1669671" cy="330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87498" y="4293568"/>
            <a:ext cx="1502410" cy="112395"/>
          </a:xfrm>
          <a:custGeom>
            <a:avLst/>
            <a:gdLst/>
            <a:ahLst/>
            <a:cxnLst/>
            <a:rect l="l" t="t" r="r" b="b"/>
            <a:pathLst>
              <a:path w="1502410" h="112395">
                <a:moveTo>
                  <a:pt x="1502166" y="0"/>
                </a:moveTo>
                <a:lnTo>
                  <a:pt x="0" y="111814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83154" y="2811420"/>
            <a:ext cx="204770" cy="15909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89664" y="2854595"/>
            <a:ext cx="0" cy="1439545"/>
          </a:xfrm>
          <a:custGeom>
            <a:avLst/>
            <a:gdLst/>
            <a:ahLst/>
            <a:cxnLst/>
            <a:rect l="l" t="t" r="r" b="b"/>
            <a:pathLst>
              <a:path w="0" h="1439545">
                <a:moveTo>
                  <a:pt x="0" y="1438973"/>
                </a:moveTo>
                <a:lnTo>
                  <a:pt x="1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74330" y="2937433"/>
            <a:ext cx="803332" cy="8190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68447" y="2996777"/>
            <a:ext cx="609600" cy="631190"/>
          </a:xfrm>
          <a:custGeom>
            <a:avLst/>
            <a:gdLst/>
            <a:ahLst/>
            <a:cxnLst/>
            <a:rect l="l" t="t" r="r" b="b"/>
            <a:pathLst>
              <a:path w="609600" h="631189">
                <a:moveTo>
                  <a:pt x="0" y="630727"/>
                </a:moveTo>
                <a:lnTo>
                  <a:pt x="609036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27076" y="3551745"/>
            <a:ext cx="960848" cy="8348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23112" y="3627504"/>
            <a:ext cx="767080" cy="636270"/>
          </a:xfrm>
          <a:custGeom>
            <a:avLst/>
            <a:gdLst/>
            <a:ahLst/>
            <a:cxnLst/>
            <a:rect l="l" t="t" r="r" b="b"/>
            <a:pathLst>
              <a:path w="767079" h="636270">
                <a:moveTo>
                  <a:pt x="0" y="0"/>
                </a:moveTo>
                <a:lnTo>
                  <a:pt x="766552" y="636059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70997" y="3677760"/>
            <a:ext cx="787580" cy="6773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957287" y="3753319"/>
            <a:ext cx="605155" cy="471805"/>
          </a:xfrm>
          <a:custGeom>
            <a:avLst/>
            <a:gdLst/>
            <a:ahLst/>
            <a:cxnLst/>
            <a:rect l="l" t="t" r="r" b="b"/>
            <a:pathLst>
              <a:path w="605155" h="471804">
                <a:moveTo>
                  <a:pt x="0" y="471233"/>
                </a:moveTo>
                <a:lnTo>
                  <a:pt x="605101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918255" y="2858675"/>
            <a:ext cx="740326" cy="6930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10822" y="2927573"/>
            <a:ext cx="551815" cy="492125"/>
          </a:xfrm>
          <a:custGeom>
            <a:avLst/>
            <a:gdLst/>
            <a:ahLst/>
            <a:cxnLst/>
            <a:rect l="l" t="t" r="r" b="b"/>
            <a:pathLst>
              <a:path w="551814" h="492125">
                <a:moveTo>
                  <a:pt x="551567" y="491604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681979" y="2953184"/>
            <a:ext cx="267777" cy="13073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87563" y="2996778"/>
            <a:ext cx="53975" cy="1158875"/>
          </a:xfrm>
          <a:custGeom>
            <a:avLst/>
            <a:gdLst/>
            <a:ahLst/>
            <a:cxnLst/>
            <a:rect l="l" t="t" r="r" b="b"/>
            <a:pathLst>
              <a:path w="53975" h="1158875">
                <a:moveTo>
                  <a:pt x="0" y="1158574"/>
                </a:moveTo>
                <a:lnTo>
                  <a:pt x="53534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92089" y="3349976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2" y="0"/>
                </a:moveTo>
                <a:lnTo>
                  <a:pt x="191649" y="4800"/>
                </a:lnTo>
                <a:lnTo>
                  <a:pt x="146594" y="18567"/>
                </a:lnTo>
                <a:lnTo>
                  <a:pt x="105823" y="40351"/>
                </a:lnTo>
                <a:lnTo>
                  <a:pt x="70300" y="69202"/>
                </a:lnTo>
                <a:lnTo>
                  <a:pt x="40991" y="104170"/>
                </a:lnTo>
                <a:lnTo>
                  <a:pt x="18862" y="144305"/>
                </a:lnTo>
                <a:lnTo>
                  <a:pt x="4876" y="188656"/>
                </a:lnTo>
                <a:lnTo>
                  <a:pt x="0" y="236273"/>
                </a:lnTo>
                <a:lnTo>
                  <a:pt x="4876" y="283890"/>
                </a:lnTo>
                <a:lnTo>
                  <a:pt x="18862" y="328241"/>
                </a:lnTo>
                <a:lnTo>
                  <a:pt x="40991" y="368376"/>
                </a:lnTo>
                <a:lnTo>
                  <a:pt x="70300" y="403344"/>
                </a:lnTo>
                <a:lnTo>
                  <a:pt x="105823" y="432196"/>
                </a:lnTo>
                <a:lnTo>
                  <a:pt x="146594" y="453981"/>
                </a:lnTo>
                <a:lnTo>
                  <a:pt x="191649" y="467748"/>
                </a:lnTo>
                <a:lnTo>
                  <a:pt x="240022" y="472549"/>
                </a:lnTo>
                <a:lnTo>
                  <a:pt x="288395" y="467748"/>
                </a:lnTo>
                <a:lnTo>
                  <a:pt x="333451" y="453981"/>
                </a:lnTo>
                <a:lnTo>
                  <a:pt x="374222" y="432196"/>
                </a:lnTo>
                <a:lnTo>
                  <a:pt x="409745" y="403344"/>
                </a:lnTo>
                <a:lnTo>
                  <a:pt x="439054" y="368376"/>
                </a:lnTo>
                <a:lnTo>
                  <a:pt x="461185" y="328241"/>
                </a:lnTo>
                <a:lnTo>
                  <a:pt x="475170" y="283890"/>
                </a:lnTo>
                <a:lnTo>
                  <a:pt x="480047" y="236273"/>
                </a:lnTo>
                <a:lnTo>
                  <a:pt x="475170" y="188656"/>
                </a:lnTo>
                <a:lnTo>
                  <a:pt x="461185" y="144305"/>
                </a:lnTo>
                <a:lnTo>
                  <a:pt x="439054" y="104170"/>
                </a:lnTo>
                <a:lnTo>
                  <a:pt x="409745" y="69202"/>
                </a:lnTo>
                <a:lnTo>
                  <a:pt x="374222" y="40351"/>
                </a:lnTo>
                <a:lnTo>
                  <a:pt x="333451" y="18567"/>
                </a:lnTo>
                <a:lnTo>
                  <a:pt x="288395" y="4800"/>
                </a:lnTo>
                <a:lnTo>
                  <a:pt x="240022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92089" y="3349976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635354" y="3356176"/>
            <a:ext cx="20066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u</a:t>
            </a:r>
            <a:endParaRPr sz="24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997011" y="2685406"/>
            <a:ext cx="1354639" cy="26777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081123" y="2760503"/>
            <a:ext cx="1184275" cy="55244"/>
          </a:xfrm>
          <a:custGeom>
            <a:avLst/>
            <a:gdLst/>
            <a:ahLst/>
            <a:cxnLst/>
            <a:rect l="l" t="t" r="r" b="b"/>
            <a:pathLst>
              <a:path w="1184275" h="55244">
                <a:moveTo>
                  <a:pt x="1183846" y="55038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816549" y="2764165"/>
            <a:ext cx="913593" cy="3150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03585" y="2837001"/>
            <a:ext cx="739140" cy="113664"/>
          </a:xfrm>
          <a:custGeom>
            <a:avLst/>
            <a:gdLst/>
            <a:ahLst/>
            <a:cxnLst/>
            <a:rect l="l" t="t" r="r" b="b"/>
            <a:pathLst>
              <a:path w="739139" h="113664">
                <a:moveTo>
                  <a:pt x="738818" y="0"/>
                </a:moveTo>
                <a:lnTo>
                  <a:pt x="0" y="113078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564524" y="2890178"/>
            <a:ext cx="756077" cy="86633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59783" y="2950078"/>
            <a:ext cx="570230" cy="683895"/>
          </a:xfrm>
          <a:custGeom>
            <a:avLst/>
            <a:gdLst/>
            <a:ahLst/>
            <a:cxnLst/>
            <a:rect l="l" t="t" r="r" b="b"/>
            <a:pathLst>
              <a:path w="570229" h="683895">
                <a:moveTo>
                  <a:pt x="570059" y="683616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50932" y="4197561"/>
            <a:ext cx="913593" cy="28352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729689" y="4263564"/>
            <a:ext cx="750570" cy="83820"/>
          </a:xfrm>
          <a:custGeom>
            <a:avLst/>
            <a:gdLst/>
            <a:ahLst/>
            <a:cxnLst/>
            <a:rect l="l" t="t" r="r" b="b"/>
            <a:pathLst>
              <a:path w="750570" h="83820">
                <a:moveTo>
                  <a:pt x="750100" y="83438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226094" y="3630504"/>
            <a:ext cx="866338" cy="66156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318481" y="3705037"/>
            <a:ext cx="676910" cy="464820"/>
          </a:xfrm>
          <a:custGeom>
            <a:avLst/>
            <a:gdLst/>
            <a:ahLst/>
            <a:cxnLst/>
            <a:rect l="l" t="t" r="r" b="b"/>
            <a:pathLst>
              <a:path w="676910" h="464820">
                <a:moveTo>
                  <a:pt x="676465" y="464389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194589" y="2748414"/>
            <a:ext cx="787580" cy="100810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286672" y="2815542"/>
            <a:ext cx="596265" cy="818515"/>
          </a:xfrm>
          <a:custGeom>
            <a:avLst/>
            <a:gdLst/>
            <a:ahLst/>
            <a:cxnLst/>
            <a:rect l="l" t="t" r="r" b="b"/>
            <a:pathLst>
              <a:path w="596264" h="818514">
                <a:moveTo>
                  <a:pt x="0" y="818152"/>
                </a:moveTo>
                <a:lnTo>
                  <a:pt x="595758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674786" y="3567496"/>
            <a:ext cx="708822" cy="81908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779797" y="3633692"/>
            <a:ext cx="507365" cy="629920"/>
          </a:xfrm>
          <a:custGeom>
            <a:avLst/>
            <a:gdLst/>
            <a:ahLst/>
            <a:cxnLst/>
            <a:rect l="l" t="t" r="r" b="b"/>
            <a:pathLst>
              <a:path w="507364" h="629920">
                <a:moveTo>
                  <a:pt x="506874" y="0"/>
                </a:moveTo>
                <a:lnTo>
                  <a:pt x="0" y="62987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777398" y="3016192"/>
            <a:ext cx="315032" cy="102385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882430" y="3073275"/>
            <a:ext cx="113030" cy="860425"/>
          </a:xfrm>
          <a:custGeom>
            <a:avLst/>
            <a:gdLst/>
            <a:ahLst/>
            <a:cxnLst/>
            <a:rect l="l" t="t" r="r" b="b"/>
            <a:pathLst>
              <a:path w="113029" h="860425">
                <a:moveTo>
                  <a:pt x="112516" y="859879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547540" y="4155353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2" y="0"/>
                </a:moveTo>
                <a:lnTo>
                  <a:pt x="191649" y="4800"/>
                </a:lnTo>
                <a:lnTo>
                  <a:pt x="146595" y="18567"/>
                </a:lnTo>
                <a:lnTo>
                  <a:pt x="105823" y="40351"/>
                </a:lnTo>
                <a:lnTo>
                  <a:pt x="70301" y="69202"/>
                </a:lnTo>
                <a:lnTo>
                  <a:pt x="40992" y="104170"/>
                </a:lnTo>
                <a:lnTo>
                  <a:pt x="18862" y="144304"/>
                </a:lnTo>
                <a:lnTo>
                  <a:pt x="4876" y="188655"/>
                </a:lnTo>
                <a:lnTo>
                  <a:pt x="0" y="236272"/>
                </a:lnTo>
                <a:lnTo>
                  <a:pt x="4876" y="283889"/>
                </a:lnTo>
                <a:lnTo>
                  <a:pt x="18862" y="328240"/>
                </a:lnTo>
                <a:lnTo>
                  <a:pt x="40992" y="368375"/>
                </a:lnTo>
                <a:lnTo>
                  <a:pt x="70301" y="403343"/>
                </a:lnTo>
                <a:lnTo>
                  <a:pt x="105823" y="432195"/>
                </a:lnTo>
                <a:lnTo>
                  <a:pt x="146595" y="453979"/>
                </a:lnTo>
                <a:lnTo>
                  <a:pt x="191649" y="467747"/>
                </a:lnTo>
                <a:lnTo>
                  <a:pt x="240022" y="472547"/>
                </a:lnTo>
                <a:lnTo>
                  <a:pt x="288396" y="467747"/>
                </a:lnTo>
                <a:lnTo>
                  <a:pt x="333451" y="453979"/>
                </a:lnTo>
                <a:lnTo>
                  <a:pt x="374223" y="432195"/>
                </a:lnTo>
                <a:lnTo>
                  <a:pt x="409746" y="403343"/>
                </a:lnTo>
                <a:lnTo>
                  <a:pt x="439056" y="368375"/>
                </a:lnTo>
                <a:lnTo>
                  <a:pt x="461186" y="328240"/>
                </a:lnTo>
                <a:lnTo>
                  <a:pt x="475172" y="283889"/>
                </a:lnTo>
                <a:lnTo>
                  <a:pt x="480048" y="236272"/>
                </a:lnTo>
                <a:lnTo>
                  <a:pt x="475172" y="188655"/>
                </a:lnTo>
                <a:lnTo>
                  <a:pt x="461186" y="144304"/>
                </a:lnTo>
                <a:lnTo>
                  <a:pt x="439056" y="104170"/>
                </a:lnTo>
                <a:lnTo>
                  <a:pt x="409746" y="69202"/>
                </a:lnTo>
                <a:lnTo>
                  <a:pt x="374223" y="40351"/>
                </a:lnTo>
                <a:lnTo>
                  <a:pt x="333451" y="18567"/>
                </a:lnTo>
                <a:lnTo>
                  <a:pt x="288396" y="4800"/>
                </a:lnTo>
                <a:lnTo>
                  <a:pt x="2400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547540" y="4155353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641250" y="4161552"/>
            <a:ext cx="183515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98766" y="4345321"/>
            <a:ext cx="1422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latin typeface="Arial"/>
                <a:cs typeface="Arial"/>
              </a:rPr>
              <a:t>3</a:t>
            </a:r>
            <a:endParaRPr sz="165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264970" y="2579269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1" y="4800"/>
                </a:lnTo>
                <a:lnTo>
                  <a:pt x="146596" y="18567"/>
                </a:lnTo>
                <a:lnTo>
                  <a:pt x="105824" y="40351"/>
                </a:lnTo>
                <a:lnTo>
                  <a:pt x="70301" y="69201"/>
                </a:lnTo>
                <a:lnTo>
                  <a:pt x="40992" y="104169"/>
                </a:lnTo>
                <a:lnTo>
                  <a:pt x="18862" y="144304"/>
                </a:lnTo>
                <a:lnTo>
                  <a:pt x="4876" y="188655"/>
                </a:lnTo>
                <a:lnTo>
                  <a:pt x="0" y="236273"/>
                </a:lnTo>
                <a:lnTo>
                  <a:pt x="4876" y="283890"/>
                </a:lnTo>
                <a:lnTo>
                  <a:pt x="18862" y="328241"/>
                </a:lnTo>
                <a:lnTo>
                  <a:pt x="40992" y="368375"/>
                </a:lnTo>
                <a:lnTo>
                  <a:pt x="70301" y="403343"/>
                </a:lnTo>
                <a:lnTo>
                  <a:pt x="105824" y="432195"/>
                </a:lnTo>
                <a:lnTo>
                  <a:pt x="146596" y="453980"/>
                </a:lnTo>
                <a:lnTo>
                  <a:pt x="191651" y="467747"/>
                </a:lnTo>
                <a:lnTo>
                  <a:pt x="240024" y="472547"/>
                </a:lnTo>
                <a:lnTo>
                  <a:pt x="288398" y="467747"/>
                </a:lnTo>
                <a:lnTo>
                  <a:pt x="333454" y="453980"/>
                </a:lnTo>
                <a:lnTo>
                  <a:pt x="374226" y="432195"/>
                </a:lnTo>
                <a:lnTo>
                  <a:pt x="409749" y="403343"/>
                </a:lnTo>
                <a:lnTo>
                  <a:pt x="439058" y="368375"/>
                </a:lnTo>
                <a:lnTo>
                  <a:pt x="461188" y="328241"/>
                </a:lnTo>
                <a:lnTo>
                  <a:pt x="475174" y="283890"/>
                </a:lnTo>
                <a:lnTo>
                  <a:pt x="480051" y="236273"/>
                </a:lnTo>
                <a:lnTo>
                  <a:pt x="475174" y="188655"/>
                </a:lnTo>
                <a:lnTo>
                  <a:pt x="461188" y="144304"/>
                </a:lnTo>
                <a:lnTo>
                  <a:pt x="439058" y="104169"/>
                </a:lnTo>
                <a:lnTo>
                  <a:pt x="409749" y="69201"/>
                </a:lnTo>
                <a:lnTo>
                  <a:pt x="374226" y="40351"/>
                </a:lnTo>
                <a:lnTo>
                  <a:pt x="333454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264970" y="2579269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3358680" y="2585468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2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601072" y="2524230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6" y="0"/>
                </a:moveTo>
                <a:lnTo>
                  <a:pt x="191652" y="4800"/>
                </a:lnTo>
                <a:lnTo>
                  <a:pt x="146597" y="18567"/>
                </a:lnTo>
                <a:lnTo>
                  <a:pt x="105825" y="40351"/>
                </a:lnTo>
                <a:lnTo>
                  <a:pt x="70302" y="69202"/>
                </a:lnTo>
                <a:lnTo>
                  <a:pt x="40993" y="104169"/>
                </a:lnTo>
                <a:lnTo>
                  <a:pt x="18862" y="144304"/>
                </a:lnTo>
                <a:lnTo>
                  <a:pt x="4876" y="188654"/>
                </a:lnTo>
                <a:lnTo>
                  <a:pt x="0" y="236272"/>
                </a:lnTo>
                <a:lnTo>
                  <a:pt x="4876" y="283890"/>
                </a:lnTo>
                <a:lnTo>
                  <a:pt x="18862" y="328241"/>
                </a:lnTo>
                <a:lnTo>
                  <a:pt x="40993" y="368376"/>
                </a:lnTo>
                <a:lnTo>
                  <a:pt x="70302" y="403344"/>
                </a:lnTo>
                <a:lnTo>
                  <a:pt x="105825" y="432195"/>
                </a:lnTo>
                <a:lnTo>
                  <a:pt x="146597" y="453980"/>
                </a:lnTo>
                <a:lnTo>
                  <a:pt x="191652" y="467747"/>
                </a:lnTo>
                <a:lnTo>
                  <a:pt x="240026" y="472547"/>
                </a:lnTo>
                <a:lnTo>
                  <a:pt x="288399" y="467747"/>
                </a:lnTo>
                <a:lnTo>
                  <a:pt x="333454" y="453980"/>
                </a:lnTo>
                <a:lnTo>
                  <a:pt x="374226" y="432195"/>
                </a:lnTo>
                <a:lnTo>
                  <a:pt x="409749" y="403344"/>
                </a:lnTo>
                <a:lnTo>
                  <a:pt x="439058" y="368376"/>
                </a:lnTo>
                <a:lnTo>
                  <a:pt x="461188" y="328241"/>
                </a:lnTo>
                <a:lnTo>
                  <a:pt x="475174" y="283890"/>
                </a:lnTo>
                <a:lnTo>
                  <a:pt x="480051" y="236272"/>
                </a:lnTo>
                <a:lnTo>
                  <a:pt x="475174" y="188654"/>
                </a:lnTo>
                <a:lnTo>
                  <a:pt x="461188" y="144304"/>
                </a:lnTo>
                <a:lnTo>
                  <a:pt x="439058" y="104169"/>
                </a:lnTo>
                <a:lnTo>
                  <a:pt x="409749" y="69202"/>
                </a:lnTo>
                <a:lnTo>
                  <a:pt x="374226" y="40351"/>
                </a:lnTo>
                <a:lnTo>
                  <a:pt x="333454" y="18567"/>
                </a:lnTo>
                <a:lnTo>
                  <a:pt x="288399" y="4800"/>
                </a:lnTo>
                <a:lnTo>
                  <a:pt x="2400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601072" y="2524230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1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1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708498" y="2549331"/>
            <a:ext cx="272415" cy="365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00" spc="10">
                <a:latin typeface="Arial"/>
                <a:cs typeface="Arial"/>
              </a:rPr>
              <a:t>s</a:t>
            </a:r>
            <a:r>
              <a:rPr dirty="0" baseline="-21072" sz="2175" spc="22">
                <a:latin typeface="Arial"/>
                <a:cs typeface="Arial"/>
              </a:rPr>
              <a:t>1</a:t>
            </a:r>
            <a:endParaRPr baseline="-21072" sz="2175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249639" y="4027288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2" y="4800"/>
                </a:lnTo>
                <a:lnTo>
                  <a:pt x="146597" y="18567"/>
                </a:lnTo>
                <a:lnTo>
                  <a:pt x="105825" y="40351"/>
                </a:lnTo>
                <a:lnTo>
                  <a:pt x="70302" y="69203"/>
                </a:lnTo>
                <a:lnTo>
                  <a:pt x="40993" y="104171"/>
                </a:lnTo>
                <a:lnTo>
                  <a:pt x="18862" y="144306"/>
                </a:lnTo>
                <a:lnTo>
                  <a:pt x="4876" y="188657"/>
                </a:lnTo>
                <a:lnTo>
                  <a:pt x="0" y="236275"/>
                </a:lnTo>
                <a:lnTo>
                  <a:pt x="4876" y="283892"/>
                </a:lnTo>
                <a:lnTo>
                  <a:pt x="18862" y="328243"/>
                </a:lnTo>
                <a:lnTo>
                  <a:pt x="40993" y="368377"/>
                </a:lnTo>
                <a:lnTo>
                  <a:pt x="70302" y="403345"/>
                </a:lnTo>
                <a:lnTo>
                  <a:pt x="105825" y="432196"/>
                </a:lnTo>
                <a:lnTo>
                  <a:pt x="146597" y="453980"/>
                </a:lnTo>
                <a:lnTo>
                  <a:pt x="191652" y="467747"/>
                </a:lnTo>
                <a:lnTo>
                  <a:pt x="240024" y="472547"/>
                </a:lnTo>
                <a:lnTo>
                  <a:pt x="288398" y="467747"/>
                </a:lnTo>
                <a:lnTo>
                  <a:pt x="333454" y="453980"/>
                </a:lnTo>
                <a:lnTo>
                  <a:pt x="374225" y="432196"/>
                </a:lnTo>
                <a:lnTo>
                  <a:pt x="409748" y="403345"/>
                </a:lnTo>
                <a:lnTo>
                  <a:pt x="439057" y="368377"/>
                </a:lnTo>
                <a:lnTo>
                  <a:pt x="461187" y="328243"/>
                </a:lnTo>
                <a:lnTo>
                  <a:pt x="475173" y="283892"/>
                </a:lnTo>
                <a:lnTo>
                  <a:pt x="480049" y="236275"/>
                </a:lnTo>
                <a:lnTo>
                  <a:pt x="475173" y="188657"/>
                </a:lnTo>
                <a:lnTo>
                  <a:pt x="461187" y="144306"/>
                </a:lnTo>
                <a:lnTo>
                  <a:pt x="439057" y="104171"/>
                </a:lnTo>
                <a:lnTo>
                  <a:pt x="409748" y="69203"/>
                </a:lnTo>
                <a:lnTo>
                  <a:pt x="374225" y="40351"/>
                </a:lnTo>
                <a:lnTo>
                  <a:pt x="333454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249639" y="4027288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3343347" y="4033490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4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642404" y="2600724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1" y="4800"/>
                </a:lnTo>
                <a:lnTo>
                  <a:pt x="146596" y="18567"/>
                </a:lnTo>
                <a:lnTo>
                  <a:pt x="105825" y="40352"/>
                </a:lnTo>
                <a:lnTo>
                  <a:pt x="70301" y="69204"/>
                </a:lnTo>
                <a:lnTo>
                  <a:pt x="40992" y="104172"/>
                </a:lnTo>
                <a:lnTo>
                  <a:pt x="18862" y="144307"/>
                </a:lnTo>
                <a:lnTo>
                  <a:pt x="4876" y="188658"/>
                </a:lnTo>
                <a:lnTo>
                  <a:pt x="0" y="236275"/>
                </a:lnTo>
                <a:lnTo>
                  <a:pt x="4876" y="283892"/>
                </a:lnTo>
                <a:lnTo>
                  <a:pt x="18862" y="328243"/>
                </a:lnTo>
                <a:lnTo>
                  <a:pt x="40992" y="368377"/>
                </a:lnTo>
                <a:lnTo>
                  <a:pt x="70301" y="403345"/>
                </a:lnTo>
                <a:lnTo>
                  <a:pt x="105825" y="432196"/>
                </a:lnTo>
                <a:lnTo>
                  <a:pt x="146596" y="453980"/>
                </a:lnTo>
                <a:lnTo>
                  <a:pt x="191651" y="467747"/>
                </a:lnTo>
                <a:lnTo>
                  <a:pt x="240024" y="472547"/>
                </a:lnTo>
                <a:lnTo>
                  <a:pt x="288398" y="467747"/>
                </a:lnTo>
                <a:lnTo>
                  <a:pt x="333454" y="453980"/>
                </a:lnTo>
                <a:lnTo>
                  <a:pt x="374226" y="432196"/>
                </a:lnTo>
                <a:lnTo>
                  <a:pt x="409749" y="403345"/>
                </a:lnTo>
                <a:lnTo>
                  <a:pt x="439059" y="368377"/>
                </a:lnTo>
                <a:lnTo>
                  <a:pt x="461189" y="328243"/>
                </a:lnTo>
                <a:lnTo>
                  <a:pt x="475175" y="283892"/>
                </a:lnTo>
                <a:lnTo>
                  <a:pt x="480052" y="236275"/>
                </a:lnTo>
                <a:lnTo>
                  <a:pt x="475175" y="188658"/>
                </a:lnTo>
                <a:lnTo>
                  <a:pt x="461189" y="144307"/>
                </a:lnTo>
                <a:lnTo>
                  <a:pt x="439059" y="104172"/>
                </a:lnTo>
                <a:lnTo>
                  <a:pt x="409749" y="69204"/>
                </a:lnTo>
                <a:lnTo>
                  <a:pt x="374226" y="40352"/>
                </a:lnTo>
                <a:lnTo>
                  <a:pt x="333454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642404" y="2600724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5736115" y="2606927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8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754921" y="3933154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1" y="4800"/>
                </a:lnTo>
                <a:lnTo>
                  <a:pt x="146596" y="18567"/>
                </a:lnTo>
                <a:lnTo>
                  <a:pt x="105824" y="40351"/>
                </a:lnTo>
                <a:lnTo>
                  <a:pt x="70301" y="69202"/>
                </a:lnTo>
                <a:lnTo>
                  <a:pt x="40992" y="104170"/>
                </a:lnTo>
                <a:lnTo>
                  <a:pt x="18862" y="144305"/>
                </a:lnTo>
                <a:lnTo>
                  <a:pt x="4876" y="188656"/>
                </a:lnTo>
                <a:lnTo>
                  <a:pt x="0" y="236273"/>
                </a:lnTo>
                <a:lnTo>
                  <a:pt x="4876" y="283891"/>
                </a:lnTo>
                <a:lnTo>
                  <a:pt x="18862" y="328242"/>
                </a:lnTo>
                <a:lnTo>
                  <a:pt x="40992" y="368376"/>
                </a:lnTo>
                <a:lnTo>
                  <a:pt x="70301" y="403344"/>
                </a:lnTo>
                <a:lnTo>
                  <a:pt x="105824" y="432196"/>
                </a:lnTo>
                <a:lnTo>
                  <a:pt x="146596" y="453980"/>
                </a:lnTo>
                <a:lnTo>
                  <a:pt x="191651" y="467747"/>
                </a:lnTo>
                <a:lnTo>
                  <a:pt x="240024" y="472547"/>
                </a:lnTo>
                <a:lnTo>
                  <a:pt x="288398" y="467747"/>
                </a:lnTo>
                <a:lnTo>
                  <a:pt x="333454" y="453980"/>
                </a:lnTo>
                <a:lnTo>
                  <a:pt x="374226" y="432196"/>
                </a:lnTo>
                <a:lnTo>
                  <a:pt x="409749" y="403344"/>
                </a:lnTo>
                <a:lnTo>
                  <a:pt x="439058" y="368376"/>
                </a:lnTo>
                <a:lnTo>
                  <a:pt x="461188" y="328242"/>
                </a:lnTo>
                <a:lnTo>
                  <a:pt x="475174" y="283891"/>
                </a:lnTo>
                <a:lnTo>
                  <a:pt x="480051" y="236273"/>
                </a:lnTo>
                <a:lnTo>
                  <a:pt x="475174" y="188656"/>
                </a:lnTo>
                <a:lnTo>
                  <a:pt x="461188" y="144305"/>
                </a:lnTo>
                <a:lnTo>
                  <a:pt x="439058" y="104170"/>
                </a:lnTo>
                <a:lnTo>
                  <a:pt x="409749" y="69202"/>
                </a:lnTo>
                <a:lnTo>
                  <a:pt x="374226" y="40351"/>
                </a:lnTo>
                <a:lnTo>
                  <a:pt x="333454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754921" y="3933154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5848630" y="3939357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9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027352" y="3375470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1" y="4800"/>
                </a:lnTo>
                <a:lnTo>
                  <a:pt x="146595" y="18567"/>
                </a:lnTo>
                <a:lnTo>
                  <a:pt x="105823" y="40351"/>
                </a:lnTo>
                <a:lnTo>
                  <a:pt x="70301" y="69203"/>
                </a:lnTo>
                <a:lnTo>
                  <a:pt x="40992" y="104171"/>
                </a:lnTo>
                <a:lnTo>
                  <a:pt x="18862" y="144306"/>
                </a:lnTo>
                <a:lnTo>
                  <a:pt x="4876" y="188657"/>
                </a:lnTo>
                <a:lnTo>
                  <a:pt x="0" y="236275"/>
                </a:lnTo>
                <a:lnTo>
                  <a:pt x="4876" y="283892"/>
                </a:lnTo>
                <a:lnTo>
                  <a:pt x="18862" y="328243"/>
                </a:lnTo>
                <a:lnTo>
                  <a:pt x="40992" y="368377"/>
                </a:lnTo>
                <a:lnTo>
                  <a:pt x="70301" y="403345"/>
                </a:lnTo>
                <a:lnTo>
                  <a:pt x="105823" y="432196"/>
                </a:lnTo>
                <a:lnTo>
                  <a:pt x="146595" y="453980"/>
                </a:lnTo>
                <a:lnTo>
                  <a:pt x="191651" y="467747"/>
                </a:lnTo>
                <a:lnTo>
                  <a:pt x="240024" y="472547"/>
                </a:lnTo>
                <a:lnTo>
                  <a:pt x="288397" y="467747"/>
                </a:lnTo>
                <a:lnTo>
                  <a:pt x="333452" y="453980"/>
                </a:lnTo>
                <a:lnTo>
                  <a:pt x="374224" y="432196"/>
                </a:lnTo>
                <a:lnTo>
                  <a:pt x="409747" y="403345"/>
                </a:lnTo>
                <a:lnTo>
                  <a:pt x="439056" y="368377"/>
                </a:lnTo>
                <a:lnTo>
                  <a:pt x="461187" y="328243"/>
                </a:lnTo>
                <a:lnTo>
                  <a:pt x="475173" y="283892"/>
                </a:lnTo>
                <a:lnTo>
                  <a:pt x="480049" y="236275"/>
                </a:lnTo>
                <a:lnTo>
                  <a:pt x="475173" y="188657"/>
                </a:lnTo>
                <a:lnTo>
                  <a:pt x="461187" y="144306"/>
                </a:lnTo>
                <a:lnTo>
                  <a:pt x="439056" y="104171"/>
                </a:lnTo>
                <a:lnTo>
                  <a:pt x="409747" y="69203"/>
                </a:lnTo>
                <a:lnTo>
                  <a:pt x="374224" y="40351"/>
                </a:lnTo>
                <a:lnTo>
                  <a:pt x="333452" y="18567"/>
                </a:lnTo>
                <a:lnTo>
                  <a:pt x="288397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027352" y="3375470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1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1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5121061" y="3381673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6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564524" y="2874426"/>
            <a:ext cx="252025" cy="157516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659785" y="2927573"/>
            <a:ext cx="60325" cy="1419860"/>
          </a:xfrm>
          <a:custGeom>
            <a:avLst/>
            <a:gdLst/>
            <a:ahLst/>
            <a:cxnLst/>
            <a:rect l="l" t="t" r="r" b="b"/>
            <a:pathLst>
              <a:path w="60325" h="1419860">
                <a:moveTo>
                  <a:pt x="60029" y="1419429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423536" y="2713803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6" y="0"/>
                </a:moveTo>
                <a:lnTo>
                  <a:pt x="191652" y="4800"/>
                </a:lnTo>
                <a:lnTo>
                  <a:pt x="146596" y="18567"/>
                </a:lnTo>
                <a:lnTo>
                  <a:pt x="105824" y="40351"/>
                </a:lnTo>
                <a:lnTo>
                  <a:pt x="70301" y="69203"/>
                </a:lnTo>
                <a:lnTo>
                  <a:pt x="40992" y="104171"/>
                </a:lnTo>
                <a:lnTo>
                  <a:pt x="18862" y="144306"/>
                </a:lnTo>
                <a:lnTo>
                  <a:pt x="4876" y="188657"/>
                </a:lnTo>
                <a:lnTo>
                  <a:pt x="0" y="236275"/>
                </a:lnTo>
                <a:lnTo>
                  <a:pt x="4876" y="283892"/>
                </a:lnTo>
                <a:lnTo>
                  <a:pt x="18862" y="328243"/>
                </a:lnTo>
                <a:lnTo>
                  <a:pt x="40992" y="368377"/>
                </a:lnTo>
                <a:lnTo>
                  <a:pt x="70301" y="403345"/>
                </a:lnTo>
                <a:lnTo>
                  <a:pt x="105824" y="432196"/>
                </a:lnTo>
                <a:lnTo>
                  <a:pt x="146596" y="453980"/>
                </a:lnTo>
                <a:lnTo>
                  <a:pt x="191652" y="467747"/>
                </a:lnTo>
                <a:lnTo>
                  <a:pt x="240026" y="472547"/>
                </a:lnTo>
                <a:lnTo>
                  <a:pt x="288398" y="467747"/>
                </a:lnTo>
                <a:lnTo>
                  <a:pt x="333453" y="453980"/>
                </a:lnTo>
                <a:lnTo>
                  <a:pt x="374224" y="432196"/>
                </a:lnTo>
                <a:lnTo>
                  <a:pt x="409747" y="403345"/>
                </a:lnTo>
                <a:lnTo>
                  <a:pt x="439056" y="368377"/>
                </a:lnTo>
                <a:lnTo>
                  <a:pt x="461186" y="328243"/>
                </a:lnTo>
                <a:lnTo>
                  <a:pt x="475172" y="283892"/>
                </a:lnTo>
                <a:lnTo>
                  <a:pt x="480048" y="236275"/>
                </a:lnTo>
                <a:lnTo>
                  <a:pt x="475172" y="188657"/>
                </a:lnTo>
                <a:lnTo>
                  <a:pt x="461186" y="144306"/>
                </a:lnTo>
                <a:lnTo>
                  <a:pt x="439056" y="104171"/>
                </a:lnTo>
                <a:lnTo>
                  <a:pt x="409747" y="69203"/>
                </a:lnTo>
                <a:lnTo>
                  <a:pt x="374224" y="40351"/>
                </a:lnTo>
                <a:lnTo>
                  <a:pt x="333453" y="18567"/>
                </a:lnTo>
                <a:lnTo>
                  <a:pt x="288398" y="4800"/>
                </a:lnTo>
                <a:lnTo>
                  <a:pt x="2400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423536" y="2713803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4517247" y="2720006"/>
            <a:ext cx="183515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674763" y="2903774"/>
            <a:ext cx="1422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latin typeface="Arial"/>
                <a:cs typeface="Arial"/>
              </a:rPr>
              <a:t>7</a:t>
            </a:r>
            <a:endParaRPr sz="165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4479790" y="4110726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240024" y="0"/>
                </a:moveTo>
                <a:lnTo>
                  <a:pt x="191651" y="4800"/>
                </a:lnTo>
                <a:lnTo>
                  <a:pt x="146596" y="18567"/>
                </a:lnTo>
                <a:lnTo>
                  <a:pt x="105824" y="40351"/>
                </a:lnTo>
                <a:lnTo>
                  <a:pt x="70301" y="69203"/>
                </a:lnTo>
                <a:lnTo>
                  <a:pt x="40992" y="104171"/>
                </a:lnTo>
                <a:lnTo>
                  <a:pt x="18862" y="144306"/>
                </a:lnTo>
                <a:lnTo>
                  <a:pt x="4876" y="188657"/>
                </a:lnTo>
                <a:lnTo>
                  <a:pt x="0" y="236275"/>
                </a:lnTo>
                <a:lnTo>
                  <a:pt x="4876" y="283893"/>
                </a:lnTo>
                <a:lnTo>
                  <a:pt x="18862" y="328244"/>
                </a:lnTo>
                <a:lnTo>
                  <a:pt x="40992" y="368378"/>
                </a:lnTo>
                <a:lnTo>
                  <a:pt x="70301" y="403346"/>
                </a:lnTo>
                <a:lnTo>
                  <a:pt x="105824" y="432197"/>
                </a:lnTo>
                <a:lnTo>
                  <a:pt x="146596" y="453981"/>
                </a:lnTo>
                <a:lnTo>
                  <a:pt x="191651" y="467748"/>
                </a:lnTo>
                <a:lnTo>
                  <a:pt x="240024" y="472549"/>
                </a:lnTo>
                <a:lnTo>
                  <a:pt x="288398" y="467748"/>
                </a:lnTo>
                <a:lnTo>
                  <a:pt x="333453" y="453981"/>
                </a:lnTo>
                <a:lnTo>
                  <a:pt x="374225" y="432197"/>
                </a:lnTo>
                <a:lnTo>
                  <a:pt x="409748" y="403346"/>
                </a:lnTo>
                <a:lnTo>
                  <a:pt x="439058" y="368378"/>
                </a:lnTo>
                <a:lnTo>
                  <a:pt x="461188" y="328244"/>
                </a:lnTo>
                <a:lnTo>
                  <a:pt x="475174" y="283893"/>
                </a:lnTo>
                <a:lnTo>
                  <a:pt x="480051" y="236275"/>
                </a:lnTo>
                <a:lnTo>
                  <a:pt x="475174" y="188657"/>
                </a:lnTo>
                <a:lnTo>
                  <a:pt x="461188" y="144306"/>
                </a:lnTo>
                <a:lnTo>
                  <a:pt x="439058" y="104171"/>
                </a:lnTo>
                <a:lnTo>
                  <a:pt x="409748" y="69203"/>
                </a:lnTo>
                <a:lnTo>
                  <a:pt x="374225" y="40351"/>
                </a:lnTo>
                <a:lnTo>
                  <a:pt x="333453" y="18567"/>
                </a:lnTo>
                <a:lnTo>
                  <a:pt x="288398" y="4800"/>
                </a:lnTo>
                <a:lnTo>
                  <a:pt x="240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479790" y="4110726"/>
            <a:ext cx="480059" cy="473075"/>
          </a:xfrm>
          <a:custGeom>
            <a:avLst/>
            <a:gdLst/>
            <a:ahLst/>
            <a:cxnLst/>
            <a:rect l="l" t="t" r="r" b="b"/>
            <a:pathLst>
              <a:path w="480060" h="473075">
                <a:moveTo>
                  <a:pt x="0" y="236274"/>
                </a:moveTo>
                <a:lnTo>
                  <a:pt x="4876" y="188656"/>
                </a:lnTo>
                <a:lnTo>
                  <a:pt x="18862" y="144305"/>
                </a:lnTo>
                <a:lnTo>
                  <a:pt x="40992" y="104171"/>
                </a:lnTo>
                <a:lnTo>
                  <a:pt x="70301" y="69203"/>
                </a:lnTo>
                <a:lnTo>
                  <a:pt x="105824" y="40351"/>
                </a:lnTo>
                <a:lnTo>
                  <a:pt x="146596" y="18567"/>
                </a:lnTo>
                <a:lnTo>
                  <a:pt x="191651" y="4800"/>
                </a:lnTo>
                <a:lnTo>
                  <a:pt x="240024" y="0"/>
                </a:lnTo>
                <a:lnTo>
                  <a:pt x="288398" y="4800"/>
                </a:lnTo>
                <a:lnTo>
                  <a:pt x="333453" y="18567"/>
                </a:lnTo>
                <a:lnTo>
                  <a:pt x="374225" y="40351"/>
                </a:lnTo>
                <a:lnTo>
                  <a:pt x="409748" y="69203"/>
                </a:lnTo>
                <a:lnTo>
                  <a:pt x="439057" y="104171"/>
                </a:lnTo>
                <a:lnTo>
                  <a:pt x="461187" y="144305"/>
                </a:lnTo>
                <a:lnTo>
                  <a:pt x="475173" y="188656"/>
                </a:lnTo>
                <a:lnTo>
                  <a:pt x="480049" y="236274"/>
                </a:lnTo>
                <a:lnTo>
                  <a:pt x="475173" y="283891"/>
                </a:lnTo>
                <a:lnTo>
                  <a:pt x="461187" y="328242"/>
                </a:lnTo>
                <a:lnTo>
                  <a:pt x="439057" y="368377"/>
                </a:lnTo>
                <a:lnTo>
                  <a:pt x="409748" y="403345"/>
                </a:lnTo>
                <a:lnTo>
                  <a:pt x="374225" y="432196"/>
                </a:lnTo>
                <a:lnTo>
                  <a:pt x="333453" y="453980"/>
                </a:lnTo>
                <a:lnTo>
                  <a:pt x="288398" y="467748"/>
                </a:lnTo>
                <a:lnTo>
                  <a:pt x="240024" y="472548"/>
                </a:lnTo>
                <a:lnTo>
                  <a:pt x="191651" y="467748"/>
                </a:lnTo>
                <a:lnTo>
                  <a:pt x="146596" y="453980"/>
                </a:lnTo>
                <a:lnTo>
                  <a:pt x="105824" y="432196"/>
                </a:lnTo>
                <a:lnTo>
                  <a:pt x="70301" y="403345"/>
                </a:lnTo>
                <a:lnTo>
                  <a:pt x="40992" y="368377"/>
                </a:lnTo>
                <a:lnTo>
                  <a:pt x="18862" y="328242"/>
                </a:lnTo>
                <a:lnTo>
                  <a:pt x="4876" y="283891"/>
                </a:lnTo>
                <a:lnTo>
                  <a:pt x="0" y="236274"/>
                </a:lnTo>
                <a:close/>
              </a:path>
            </a:pathLst>
          </a:custGeom>
          <a:ln w="31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4573500" y="4116929"/>
            <a:ext cx="29972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10">
                <a:latin typeface="Arial"/>
                <a:cs typeface="Arial"/>
              </a:rPr>
              <a:t>s</a:t>
            </a:r>
            <a:r>
              <a:rPr dirty="0" baseline="-20202" sz="2475">
                <a:latin typeface="Arial"/>
                <a:cs typeface="Arial"/>
              </a:rPr>
              <a:t>5</a:t>
            </a:r>
            <a:endParaRPr baseline="-20202" sz="2475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681979" y="2795667"/>
            <a:ext cx="834835" cy="83483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977872" y="3068041"/>
            <a:ext cx="441325" cy="443865"/>
          </a:xfrm>
          <a:custGeom>
            <a:avLst/>
            <a:gdLst/>
            <a:ahLst/>
            <a:cxnLst/>
            <a:rect l="l" t="t" r="r" b="b"/>
            <a:pathLst>
              <a:path w="441325" h="443864">
                <a:moveTo>
                  <a:pt x="440708" y="443346"/>
                </a:moveTo>
                <a:lnTo>
                  <a:pt x="0" y="0"/>
                </a:lnTo>
              </a:path>
            </a:pathLst>
          </a:custGeom>
          <a:ln w="4725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944813" y="3034784"/>
            <a:ext cx="215265" cy="215900"/>
          </a:xfrm>
          <a:custGeom>
            <a:avLst/>
            <a:gdLst/>
            <a:ahLst/>
            <a:cxnLst/>
            <a:rect l="l" t="t" r="r" b="b"/>
            <a:pathLst>
              <a:path w="215264" h="215900">
                <a:moveTo>
                  <a:pt x="0" y="0"/>
                </a:moveTo>
                <a:lnTo>
                  <a:pt x="51485" y="198042"/>
                </a:lnTo>
                <a:lnTo>
                  <a:pt x="55596" y="206477"/>
                </a:lnTo>
                <a:lnTo>
                  <a:pt x="62386" y="212472"/>
                </a:lnTo>
                <a:lnTo>
                  <a:pt x="70929" y="215483"/>
                </a:lnTo>
                <a:lnTo>
                  <a:pt x="80298" y="214966"/>
                </a:lnTo>
                <a:lnTo>
                  <a:pt x="88731" y="210855"/>
                </a:lnTo>
                <a:lnTo>
                  <a:pt x="94725" y="204064"/>
                </a:lnTo>
                <a:lnTo>
                  <a:pt x="97737" y="195522"/>
                </a:lnTo>
                <a:lnTo>
                  <a:pt x="97219" y="186155"/>
                </a:lnTo>
                <a:lnTo>
                  <a:pt x="66117" y="66513"/>
                </a:lnTo>
                <a:lnTo>
                  <a:pt x="213084" y="66513"/>
                </a:lnTo>
                <a:lnTo>
                  <a:pt x="212096" y="63655"/>
                </a:lnTo>
                <a:lnTo>
                  <a:pt x="206142" y="56829"/>
                </a:lnTo>
                <a:lnTo>
                  <a:pt x="197733" y="52666"/>
                </a:lnTo>
                <a:lnTo>
                  <a:pt x="0" y="0"/>
                </a:lnTo>
                <a:close/>
              </a:path>
              <a:path w="215264" h="215900">
                <a:moveTo>
                  <a:pt x="213084" y="66513"/>
                </a:moveTo>
                <a:lnTo>
                  <a:pt x="66117" y="66513"/>
                </a:lnTo>
                <a:lnTo>
                  <a:pt x="185571" y="98329"/>
                </a:lnTo>
                <a:lnTo>
                  <a:pt x="194935" y="98903"/>
                </a:lnTo>
                <a:lnTo>
                  <a:pt x="203495" y="95943"/>
                </a:lnTo>
                <a:lnTo>
                  <a:pt x="210321" y="89989"/>
                </a:lnTo>
                <a:lnTo>
                  <a:pt x="214483" y="81579"/>
                </a:lnTo>
                <a:lnTo>
                  <a:pt x="215056" y="72215"/>
                </a:lnTo>
                <a:lnTo>
                  <a:pt x="213084" y="66513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855247" y="3803771"/>
            <a:ext cx="834835" cy="78758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156902" y="3867866"/>
            <a:ext cx="443230" cy="394970"/>
          </a:xfrm>
          <a:custGeom>
            <a:avLst/>
            <a:gdLst/>
            <a:ahLst/>
            <a:cxnLst/>
            <a:rect l="l" t="t" r="r" b="b"/>
            <a:pathLst>
              <a:path w="443230" h="394970">
                <a:moveTo>
                  <a:pt x="443197" y="0"/>
                </a:moveTo>
                <a:lnTo>
                  <a:pt x="0" y="394524"/>
                </a:lnTo>
              </a:path>
            </a:pathLst>
          </a:custGeom>
          <a:ln w="4725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121876" y="4082812"/>
            <a:ext cx="219075" cy="210820"/>
          </a:xfrm>
          <a:custGeom>
            <a:avLst/>
            <a:gdLst/>
            <a:ahLst/>
            <a:cxnLst/>
            <a:rect l="l" t="t" r="r" b="b"/>
            <a:pathLst>
              <a:path w="219075" h="210820">
                <a:moveTo>
                  <a:pt x="83938" y="0"/>
                </a:moveTo>
                <a:lnTo>
                  <a:pt x="75227" y="2484"/>
                </a:lnTo>
                <a:lnTo>
                  <a:pt x="68084" y="8053"/>
                </a:lnTo>
                <a:lnTo>
                  <a:pt x="63466" y="16220"/>
                </a:lnTo>
                <a:lnTo>
                  <a:pt x="0" y="210756"/>
                </a:lnTo>
                <a:lnTo>
                  <a:pt x="200574" y="170244"/>
                </a:lnTo>
                <a:lnTo>
                  <a:pt x="209222" y="166604"/>
                </a:lnTo>
                <a:lnTo>
                  <a:pt x="215581" y="160154"/>
                </a:lnTo>
                <a:lnTo>
                  <a:pt x="219058" y="151790"/>
                </a:lnTo>
                <a:lnTo>
                  <a:pt x="219057" y="148399"/>
                </a:lnTo>
                <a:lnTo>
                  <a:pt x="70049" y="148399"/>
                </a:lnTo>
                <a:lnTo>
                  <a:pt x="108391" y="30877"/>
                </a:lnTo>
                <a:lnTo>
                  <a:pt x="109479" y="21558"/>
                </a:lnTo>
                <a:lnTo>
                  <a:pt x="106994" y="12848"/>
                </a:lnTo>
                <a:lnTo>
                  <a:pt x="101424" y="5704"/>
                </a:lnTo>
                <a:lnTo>
                  <a:pt x="93256" y="1086"/>
                </a:lnTo>
                <a:lnTo>
                  <a:pt x="83938" y="0"/>
                </a:lnTo>
                <a:close/>
              </a:path>
              <a:path w="219075" h="210820">
                <a:moveTo>
                  <a:pt x="200603" y="123924"/>
                </a:moveTo>
                <a:lnTo>
                  <a:pt x="191221" y="123926"/>
                </a:lnTo>
                <a:lnTo>
                  <a:pt x="70049" y="148399"/>
                </a:lnTo>
                <a:lnTo>
                  <a:pt x="219057" y="148399"/>
                </a:lnTo>
                <a:lnTo>
                  <a:pt x="219057" y="142407"/>
                </a:lnTo>
                <a:lnTo>
                  <a:pt x="215416" y="133760"/>
                </a:lnTo>
                <a:lnTo>
                  <a:pt x="208966" y="127401"/>
                </a:lnTo>
                <a:lnTo>
                  <a:pt x="200603" y="123924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784591" y="2716911"/>
            <a:ext cx="724574" cy="74032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884846" y="2984310"/>
            <a:ext cx="325755" cy="354965"/>
          </a:xfrm>
          <a:custGeom>
            <a:avLst/>
            <a:gdLst/>
            <a:ahLst/>
            <a:cxnLst/>
            <a:rect l="l" t="t" r="r" b="b"/>
            <a:pathLst>
              <a:path w="325755" h="354964">
                <a:moveTo>
                  <a:pt x="0" y="354341"/>
                </a:moveTo>
                <a:lnTo>
                  <a:pt x="325635" y="0"/>
                </a:lnTo>
              </a:path>
            </a:pathLst>
          </a:custGeom>
          <a:ln w="4725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030151" y="2949784"/>
            <a:ext cx="212090" cy="218440"/>
          </a:xfrm>
          <a:custGeom>
            <a:avLst/>
            <a:gdLst/>
            <a:ahLst/>
            <a:cxnLst/>
            <a:rect l="l" t="t" r="r" b="b"/>
            <a:pathLst>
              <a:path w="212089" h="218439">
                <a:moveTo>
                  <a:pt x="196969" y="69051"/>
                </a:moveTo>
                <a:lnTo>
                  <a:pt x="148600" y="69051"/>
                </a:lnTo>
                <a:lnTo>
                  <a:pt x="122212" y="189819"/>
                </a:lnTo>
                <a:lnTo>
                  <a:pt x="122061" y="199200"/>
                </a:lnTo>
                <a:lnTo>
                  <a:pt x="125404" y="207619"/>
                </a:lnTo>
                <a:lnTo>
                  <a:pt x="131661" y="214170"/>
                </a:lnTo>
                <a:lnTo>
                  <a:pt x="140248" y="217947"/>
                </a:lnTo>
                <a:lnTo>
                  <a:pt x="149630" y="218096"/>
                </a:lnTo>
                <a:lnTo>
                  <a:pt x="158048" y="214753"/>
                </a:lnTo>
                <a:lnTo>
                  <a:pt x="164599" y="208496"/>
                </a:lnTo>
                <a:lnTo>
                  <a:pt x="168376" y="199908"/>
                </a:lnTo>
                <a:lnTo>
                  <a:pt x="196969" y="69051"/>
                </a:lnTo>
                <a:close/>
              </a:path>
              <a:path w="212089" h="218439">
                <a:moveTo>
                  <a:pt x="212058" y="0"/>
                </a:moveTo>
                <a:lnTo>
                  <a:pt x="16544" y="60375"/>
                </a:lnTo>
                <a:lnTo>
                  <a:pt x="8304" y="64863"/>
                </a:lnTo>
                <a:lnTo>
                  <a:pt x="2622" y="71917"/>
                </a:lnTo>
                <a:lnTo>
                  <a:pt x="0" y="80586"/>
                </a:lnTo>
                <a:lnTo>
                  <a:pt x="939" y="89921"/>
                </a:lnTo>
                <a:lnTo>
                  <a:pt x="5427" y="98161"/>
                </a:lnTo>
                <a:lnTo>
                  <a:pt x="12481" y="103843"/>
                </a:lnTo>
                <a:lnTo>
                  <a:pt x="21150" y="106465"/>
                </a:lnTo>
                <a:lnTo>
                  <a:pt x="30486" y="105525"/>
                </a:lnTo>
                <a:lnTo>
                  <a:pt x="148600" y="69051"/>
                </a:lnTo>
                <a:lnTo>
                  <a:pt x="196969" y="69051"/>
                </a:lnTo>
                <a:lnTo>
                  <a:pt x="212058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375962" y="3016191"/>
            <a:ext cx="834835" cy="53555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456712" y="3254623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 h="0">
                <a:moveTo>
                  <a:pt x="0" y="0"/>
                </a:moveTo>
                <a:lnTo>
                  <a:pt x="444361" y="0"/>
                </a:lnTo>
              </a:path>
            </a:pathLst>
          </a:custGeom>
          <a:ln w="4725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735869" y="3148489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26464" y="0"/>
                </a:moveTo>
                <a:lnTo>
                  <a:pt x="17425" y="589"/>
                </a:lnTo>
                <a:lnTo>
                  <a:pt x="9267" y="4524"/>
                </a:lnTo>
                <a:lnTo>
                  <a:pt x="3029" y="11532"/>
                </a:lnTo>
                <a:lnTo>
                  <a:pt x="0" y="20412"/>
                </a:lnTo>
                <a:lnTo>
                  <a:pt x="590" y="29451"/>
                </a:lnTo>
                <a:lnTo>
                  <a:pt x="4526" y="37610"/>
                </a:lnTo>
                <a:lnTo>
                  <a:pt x="11535" y="43848"/>
                </a:lnTo>
                <a:lnTo>
                  <a:pt x="118312" y="106133"/>
                </a:lnTo>
                <a:lnTo>
                  <a:pt x="11535" y="168421"/>
                </a:lnTo>
                <a:lnTo>
                  <a:pt x="4526" y="174659"/>
                </a:lnTo>
                <a:lnTo>
                  <a:pt x="590" y="182817"/>
                </a:lnTo>
                <a:lnTo>
                  <a:pt x="0" y="191856"/>
                </a:lnTo>
                <a:lnTo>
                  <a:pt x="3029" y="200736"/>
                </a:lnTo>
                <a:lnTo>
                  <a:pt x="9267" y="207744"/>
                </a:lnTo>
                <a:lnTo>
                  <a:pt x="17425" y="211680"/>
                </a:lnTo>
                <a:lnTo>
                  <a:pt x="26464" y="212270"/>
                </a:lnTo>
                <a:lnTo>
                  <a:pt x="35344" y="209238"/>
                </a:lnTo>
                <a:lnTo>
                  <a:pt x="212095" y="106133"/>
                </a:lnTo>
                <a:lnTo>
                  <a:pt x="35344" y="3030"/>
                </a:lnTo>
                <a:lnTo>
                  <a:pt x="26464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375962" y="3599000"/>
            <a:ext cx="834835" cy="53555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456712" y="3838440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 h="0">
                <a:moveTo>
                  <a:pt x="0" y="0"/>
                </a:moveTo>
                <a:lnTo>
                  <a:pt x="444361" y="0"/>
                </a:lnTo>
              </a:path>
            </a:pathLst>
          </a:custGeom>
          <a:ln w="47254">
            <a:solidFill>
              <a:srgbClr val="043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735869" y="3732304"/>
            <a:ext cx="212725" cy="212725"/>
          </a:xfrm>
          <a:custGeom>
            <a:avLst/>
            <a:gdLst/>
            <a:ahLst/>
            <a:cxnLst/>
            <a:rect l="l" t="t" r="r" b="b"/>
            <a:pathLst>
              <a:path w="212725" h="212725">
                <a:moveTo>
                  <a:pt x="26464" y="0"/>
                </a:moveTo>
                <a:lnTo>
                  <a:pt x="17425" y="590"/>
                </a:lnTo>
                <a:lnTo>
                  <a:pt x="9267" y="4526"/>
                </a:lnTo>
                <a:lnTo>
                  <a:pt x="3029" y="11535"/>
                </a:lnTo>
                <a:lnTo>
                  <a:pt x="0" y="20414"/>
                </a:lnTo>
                <a:lnTo>
                  <a:pt x="590" y="29452"/>
                </a:lnTo>
                <a:lnTo>
                  <a:pt x="4526" y="37610"/>
                </a:lnTo>
                <a:lnTo>
                  <a:pt x="11535" y="43848"/>
                </a:lnTo>
                <a:lnTo>
                  <a:pt x="118312" y="106136"/>
                </a:lnTo>
                <a:lnTo>
                  <a:pt x="11535" y="168423"/>
                </a:lnTo>
                <a:lnTo>
                  <a:pt x="4526" y="174660"/>
                </a:lnTo>
                <a:lnTo>
                  <a:pt x="590" y="182817"/>
                </a:lnTo>
                <a:lnTo>
                  <a:pt x="0" y="191855"/>
                </a:lnTo>
                <a:lnTo>
                  <a:pt x="3029" y="200734"/>
                </a:lnTo>
                <a:lnTo>
                  <a:pt x="9267" y="207743"/>
                </a:lnTo>
                <a:lnTo>
                  <a:pt x="17425" y="211680"/>
                </a:lnTo>
                <a:lnTo>
                  <a:pt x="26464" y="212270"/>
                </a:lnTo>
                <a:lnTo>
                  <a:pt x="35344" y="209240"/>
                </a:lnTo>
                <a:lnTo>
                  <a:pt x="212095" y="106136"/>
                </a:lnTo>
                <a:lnTo>
                  <a:pt x="35344" y="3029"/>
                </a:lnTo>
                <a:lnTo>
                  <a:pt x="26464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6958211" y="2763686"/>
            <a:ext cx="781685" cy="1301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dirty="0" sz="2950" spc="10">
                <a:latin typeface="Arial"/>
                <a:cs typeface="Arial"/>
              </a:rPr>
              <a:t>BFS  </a:t>
            </a:r>
            <a:r>
              <a:rPr dirty="0" sz="2950" spc="10">
                <a:latin typeface="Arial"/>
                <a:cs typeface="Arial"/>
              </a:rPr>
              <a:t>D</a:t>
            </a:r>
            <a:r>
              <a:rPr dirty="0" sz="2950" spc="5">
                <a:latin typeface="Arial"/>
                <a:cs typeface="Arial"/>
              </a:rPr>
              <a:t>F</a:t>
            </a:r>
            <a:r>
              <a:rPr dirty="0" sz="2950" spc="10">
                <a:latin typeface="Arial"/>
                <a:cs typeface="Arial"/>
              </a:rPr>
              <a:t>S</a:t>
            </a:r>
            <a:endParaRPr sz="295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2926355" y="3614753"/>
            <a:ext cx="693071" cy="67731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017286" y="3690034"/>
            <a:ext cx="303530" cy="276225"/>
          </a:xfrm>
          <a:custGeom>
            <a:avLst/>
            <a:gdLst/>
            <a:ahLst/>
            <a:cxnLst/>
            <a:rect l="l" t="t" r="r" b="b"/>
            <a:pathLst>
              <a:path w="303529" h="276225">
                <a:moveTo>
                  <a:pt x="0" y="0"/>
                </a:moveTo>
                <a:lnTo>
                  <a:pt x="302987" y="275603"/>
                </a:lnTo>
              </a:path>
            </a:pathLst>
          </a:custGeom>
          <a:ln w="47254">
            <a:solidFill>
              <a:srgbClr val="043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136551" y="3785546"/>
            <a:ext cx="218440" cy="212090"/>
          </a:xfrm>
          <a:custGeom>
            <a:avLst/>
            <a:gdLst/>
            <a:ahLst/>
            <a:cxnLst/>
            <a:rect l="l" t="t" r="r" b="b"/>
            <a:pathLst>
              <a:path w="218439" h="212089">
                <a:moveTo>
                  <a:pt x="18752" y="122665"/>
                </a:moveTo>
                <a:lnTo>
                  <a:pt x="10351" y="126052"/>
                </a:lnTo>
                <a:lnTo>
                  <a:pt x="3834" y="132341"/>
                </a:lnTo>
                <a:lnTo>
                  <a:pt x="102" y="140949"/>
                </a:lnTo>
                <a:lnTo>
                  <a:pt x="0" y="150331"/>
                </a:lnTo>
                <a:lnTo>
                  <a:pt x="3386" y="158732"/>
                </a:lnTo>
                <a:lnTo>
                  <a:pt x="9675" y="165250"/>
                </a:lnTo>
                <a:lnTo>
                  <a:pt x="18283" y="168984"/>
                </a:lnTo>
                <a:lnTo>
                  <a:pt x="218411" y="211646"/>
                </a:lnTo>
                <a:lnTo>
                  <a:pt x="198570" y="148541"/>
                </a:lnTo>
                <a:lnTo>
                  <a:pt x="149033" y="148541"/>
                </a:lnTo>
                <a:lnTo>
                  <a:pt x="28134" y="122767"/>
                </a:lnTo>
                <a:lnTo>
                  <a:pt x="18752" y="122665"/>
                </a:lnTo>
                <a:close/>
              </a:path>
              <a:path w="218439" h="212089">
                <a:moveTo>
                  <a:pt x="136741" y="0"/>
                </a:moveTo>
                <a:lnTo>
                  <a:pt x="127410" y="988"/>
                </a:lnTo>
                <a:lnTo>
                  <a:pt x="119194" y="5517"/>
                </a:lnTo>
                <a:lnTo>
                  <a:pt x="113548" y="12600"/>
                </a:lnTo>
                <a:lnTo>
                  <a:pt x="110971" y="21284"/>
                </a:lnTo>
                <a:lnTo>
                  <a:pt x="111957" y="30614"/>
                </a:lnTo>
                <a:lnTo>
                  <a:pt x="149033" y="148541"/>
                </a:lnTo>
                <a:lnTo>
                  <a:pt x="198570" y="148541"/>
                </a:lnTo>
                <a:lnTo>
                  <a:pt x="157037" y="16440"/>
                </a:lnTo>
                <a:lnTo>
                  <a:pt x="152508" y="8223"/>
                </a:lnTo>
                <a:lnTo>
                  <a:pt x="145425" y="2577"/>
                </a:lnTo>
                <a:lnTo>
                  <a:pt x="136741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682434" y="3977040"/>
            <a:ext cx="1055358" cy="53555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759692" y="4125732"/>
            <a:ext cx="666750" cy="85725"/>
          </a:xfrm>
          <a:custGeom>
            <a:avLst/>
            <a:gdLst/>
            <a:ahLst/>
            <a:cxnLst/>
            <a:rect l="l" t="t" r="r" b="b"/>
            <a:pathLst>
              <a:path w="666750" h="85725">
                <a:moveTo>
                  <a:pt x="0" y="0"/>
                </a:moveTo>
                <a:lnTo>
                  <a:pt x="666250" y="85581"/>
                </a:lnTo>
              </a:path>
            </a:pathLst>
          </a:custGeom>
          <a:ln w="47254">
            <a:solidFill>
              <a:srgbClr val="043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251162" y="4087798"/>
            <a:ext cx="221615" cy="211454"/>
          </a:xfrm>
          <a:custGeom>
            <a:avLst/>
            <a:gdLst/>
            <a:ahLst/>
            <a:cxnLst/>
            <a:rect l="l" t="t" r="r" b="b"/>
            <a:pathLst>
              <a:path w="221614" h="211454">
                <a:moveTo>
                  <a:pt x="41653" y="0"/>
                </a:moveTo>
                <a:lnTo>
                  <a:pt x="33060" y="2864"/>
                </a:lnTo>
                <a:lnTo>
                  <a:pt x="25981" y="9020"/>
                </a:lnTo>
                <a:lnTo>
                  <a:pt x="21843" y="17442"/>
                </a:lnTo>
                <a:lnTo>
                  <a:pt x="21276" y="26482"/>
                </a:lnTo>
                <a:lnTo>
                  <a:pt x="24141" y="35075"/>
                </a:lnTo>
                <a:lnTo>
                  <a:pt x="30296" y="42156"/>
                </a:lnTo>
                <a:lnTo>
                  <a:pt x="128269" y="117538"/>
                </a:lnTo>
                <a:lnTo>
                  <a:pt x="14426" y="165715"/>
                </a:lnTo>
                <a:lnTo>
                  <a:pt x="6680" y="171009"/>
                </a:lnTo>
                <a:lnTo>
                  <a:pt x="1736" y="178598"/>
                </a:lnTo>
                <a:lnTo>
                  <a:pt x="0" y="187488"/>
                </a:lnTo>
                <a:lnTo>
                  <a:pt x="1874" y="196682"/>
                </a:lnTo>
                <a:lnTo>
                  <a:pt x="7168" y="204427"/>
                </a:lnTo>
                <a:lnTo>
                  <a:pt x="14759" y="209370"/>
                </a:lnTo>
                <a:lnTo>
                  <a:pt x="23650" y="211107"/>
                </a:lnTo>
                <a:lnTo>
                  <a:pt x="32844" y="209234"/>
                </a:lnTo>
                <a:lnTo>
                  <a:pt x="221288" y="129487"/>
                </a:lnTo>
                <a:lnTo>
                  <a:pt x="59114" y="4705"/>
                </a:lnTo>
                <a:lnTo>
                  <a:pt x="50693" y="567"/>
                </a:lnTo>
                <a:lnTo>
                  <a:pt x="41653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895308" y="3662006"/>
            <a:ext cx="677319" cy="70882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996479" y="3938443"/>
            <a:ext cx="280670" cy="303530"/>
          </a:xfrm>
          <a:custGeom>
            <a:avLst/>
            <a:gdLst/>
            <a:ahLst/>
            <a:cxnLst/>
            <a:rect l="l" t="t" r="r" b="b"/>
            <a:pathLst>
              <a:path w="280670" h="303529">
                <a:moveTo>
                  <a:pt x="0" y="303238"/>
                </a:moveTo>
                <a:lnTo>
                  <a:pt x="280252" y="0"/>
                </a:lnTo>
              </a:path>
            </a:pathLst>
          </a:custGeom>
          <a:ln w="47254">
            <a:solidFill>
              <a:srgbClr val="0433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096273" y="3904009"/>
            <a:ext cx="212725" cy="218440"/>
          </a:xfrm>
          <a:custGeom>
            <a:avLst/>
            <a:gdLst/>
            <a:ahLst/>
            <a:cxnLst/>
            <a:rect l="l" t="t" r="r" b="b"/>
            <a:pathLst>
              <a:path w="212725" h="218439">
                <a:moveTo>
                  <a:pt x="197032" y="68872"/>
                </a:moveTo>
                <a:lnTo>
                  <a:pt x="148633" y="68872"/>
                </a:lnTo>
                <a:lnTo>
                  <a:pt x="121904" y="189564"/>
                </a:lnTo>
                <a:lnTo>
                  <a:pt x="121728" y="198946"/>
                </a:lnTo>
                <a:lnTo>
                  <a:pt x="125047" y="207373"/>
                </a:lnTo>
                <a:lnTo>
                  <a:pt x="131284" y="213941"/>
                </a:lnTo>
                <a:lnTo>
                  <a:pt x="139862" y="217742"/>
                </a:lnTo>
                <a:lnTo>
                  <a:pt x="149243" y="217918"/>
                </a:lnTo>
                <a:lnTo>
                  <a:pt x="157670" y="214599"/>
                </a:lnTo>
                <a:lnTo>
                  <a:pt x="164239" y="208361"/>
                </a:lnTo>
                <a:lnTo>
                  <a:pt x="168040" y="199782"/>
                </a:lnTo>
                <a:lnTo>
                  <a:pt x="197032" y="68872"/>
                </a:lnTo>
                <a:close/>
              </a:path>
              <a:path w="212725" h="218439">
                <a:moveTo>
                  <a:pt x="212285" y="0"/>
                </a:moveTo>
                <a:lnTo>
                  <a:pt x="16603" y="59823"/>
                </a:lnTo>
                <a:lnTo>
                  <a:pt x="8349" y="64288"/>
                </a:lnTo>
                <a:lnTo>
                  <a:pt x="2646" y="71326"/>
                </a:lnTo>
                <a:lnTo>
                  <a:pt x="0" y="79988"/>
                </a:lnTo>
                <a:lnTo>
                  <a:pt x="912" y="89326"/>
                </a:lnTo>
                <a:lnTo>
                  <a:pt x="5377" y="97579"/>
                </a:lnTo>
                <a:lnTo>
                  <a:pt x="12415" y="103281"/>
                </a:lnTo>
                <a:lnTo>
                  <a:pt x="21078" y="105927"/>
                </a:lnTo>
                <a:lnTo>
                  <a:pt x="30416" y="105015"/>
                </a:lnTo>
                <a:lnTo>
                  <a:pt x="148633" y="68872"/>
                </a:lnTo>
                <a:lnTo>
                  <a:pt x="197032" y="68872"/>
                </a:lnTo>
                <a:lnTo>
                  <a:pt x="212285" y="0"/>
                </a:lnTo>
                <a:close/>
              </a:path>
            </a:pathLst>
          </a:custGeom>
          <a:solidFill>
            <a:srgbClr val="04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572173" y="2921681"/>
            <a:ext cx="1071109" cy="138614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674719" y="2982613"/>
            <a:ext cx="875665" cy="1197610"/>
          </a:xfrm>
          <a:custGeom>
            <a:avLst/>
            <a:gdLst/>
            <a:ahLst/>
            <a:cxnLst/>
            <a:rect l="l" t="t" r="r" b="b"/>
            <a:pathLst>
              <a:path w="875664" h="1197610">
                <a:moveTo>
                  <a:pt x="875373" y="1197317"/>
                </a:moveTo>
                <a:lnTo>
                  <a:pt x="0" y="0"/>
                </a:lnTo>
              </a:path>
            </a:pathLst>
          </a:custGeom>
          <a:ln w="47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04" name="object 10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28"/>
              </a:rPr>
              <a:t>http://cs224w.stanford.edu</a:t>
            </a:r>
          </a:p>
        </p:txBody>
      </p:sp>
      <p:sp>
        <p:nvSpPr>
          <p:cNvPr id="105" name="object 105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71856"/>
            <a:ext cx="2871216" cy="402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2143" y="4314444"/>
            <a:ext cx="2679065" cy="1491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200" spc="-95">
                <a:solidFill>
                  <a:srgbClr val="C00000"/>
                </a:solidFill>
                <a:latin typeface="Arial"/>
                <a:cs typeface="Arial"/>
              </a:rPr>
              <a:t>BFS:</a:t>
            </a:r>
            <a:endParaRPr sz="3200">
              <a:latin typeface="Arial"/>
              <a:cs typeface="Arial"/>
            </a:endParaRPr>
          </a:p>
          <a:p>
            <a:pPr algn="ctr" marL="12065" marR="5080" indent="-635">
              <a:lnSpc>
                <a:spcPts val="3790"/>
              </a:lnSpc>
              <a:spcBef>
                <a:spcPts val="240"/>
              </a:spcBef>
            </a:pPr>
            <a:r>
              <a:rPr dirty="0" sz="3200" spc="-45">
                <a:latin typeface="Arial"/>
                <a:cs typeface="Arial"/>
              </a:rPr>
              <a:t>Micro-view </a:t>
            </a:r>
            <a:r>
              <a:rPr dirty="0" sz="3200" spc="-35">
                <a:latin typeface="Arial"/>
                <a:cs typeface="Arial"/>
              </a:rPr>
              <a:t>of  </a:t>
            </a:r>
            <a:r>
              <a:rPr dirty="0" sz="3200" spc="-105">
                <a:latin typeface="Arial"/>
                <a:cs typeface="Arial"/>
              </a:rPr>
              <a:t>n</a:t>
            </a:r>
            <a:r>
              <a:rPr dirty="0" sz="3200" spc="-95">
                <a:latin typeface="Arial"/>
                <a:cs typeface="Arial"/>
              </a:rPr>
              <a:t>e</a:t>
            </a:r>
            <a:r>
              <a:rPr dirty="0" sz="3200" spc="-45">
                <a:latin typeface="Arial"/>
                <a:cs typeface="Arial"/>
              </a:rPr>
              <a:t>i</a:t>
            </a:r>
            <a:r>
              <a:rPr dirty="0" sz="3200" spc="-95">
                <a:latin typeface="Arial"/>
                <a:cs typeface="Arial"/>
              </a:rPr>
              <a:t>g</a:t>
            </a:r>
            <a:r>
              <a:rPr dirty="0" sz="3200" spc="-15">
                <a:latin typeface="Arial"/>
                <a:cs typeface="Arial"/>
              </a:rPr>
              <a:t>h</a:t>
            </a:r>
            <a:r>
              <a:rPr dirty="0" sz="3200" spc="-5">
                <a:latin typeface="Arial"/>
                <a:cs typeface="Arial"/>
              </a:rPr>
              <a:t>b</a:t>
            </a:r>
            <a:r>
              <a:rPr dirty="0" sz="3200" spc="-10">
                <a:latin typeface="Arial"/>
                <a:cs typeface="Arial"/>
              </a:rPr>
              <a:t>o</a:t>
            </a:r>
            <a:r>
              <a:rPr dirty="0" sz="3200" spc="-85">
                <a:latin typeface="Arial"/>
                <a:cs typeface="Arial"/>
              </a:rPr>
              <a:t>u</a:t>
            </a:r>
            <a:r>
              <a:rPr dirty="0" sz="3200" spc="-45">
                <a:latin typeface="Arial"/>
                <a:cs typeface="Arial"/>
              </a:rPr>
              <a:t>r</a:t>
            </a:r>
            <a:r>
              <a:rPr dirty="0" sz="3200" spc="-45">
                <a:latin typeface="Arial"/>
                <a:cs typeface="Arial"/>
              </a:rPr>
              <a:t>h</a:t>
            </a:r>
            <a:r>
              <a:rPr dirty="0" sz="3200" spc="-40">
                <a:latin typeface="Arial"/>
                <a:cs typeface="Arial"/>
              </a:rPr>
              <a:t>o</a:t>
            </a:r>
            <a:r>
              <a:rPr dirty="0" sz="3200" spc="-10">
                <a:latin typeface="Arial"/>
                <a:cs typeface="Arial"/>
              </a:rPr>
              <a:t>o</a:t>
            </a:r>
            <a:r>
              <a:rPr dirty="0" sz="3200" spc="50">
                <a:latin typeface="Arial"/>
                <a:cs typeface="Arial"/>
              </a:rPr>
              <a:t>d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0990" y="3206635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4">
                <a:moveTo>
                  <a:pt x="198729" y="0"/>
                </a:moveTo>
                <a:lnTo>
                  <a:pt x="145899" y="6156"/>
                </a:lnTo>
                <a:lnTo>
                  <a:pt x="98427" y="23530"/>
                </a:lnTo>
                <a:lnTo>
                  <a:pt x="58206" y="50480"/>
                </a:lnTo>
                <a:lnTo>
                  <a:pt x="27132" y="85362"/>
                </a:lnTo>
                <a:lnTo>
                  <a:pt x="7098" y="126533"/>
                </a:lnTo>
                <a:lnTo>
                  <a:pt x="0" y="172351"/>
                </a:lnTo>
                <a:lnTo>
                  <a:pt x="7098" y="218169"/>
                </a:lnTo>
                <a:lnTo>
                  <a:pt x="27132" y="259340"/>
                </a:lnTo>
                <a:lnTo>
                  <a:pt x="58206" y="294221"/>
                </a:lnTo>
                <a:lnTo>
                  <a:pt x="98427" y="321171"/>
                </a:lnTo>
                <a:lnTo>
                  <a:pt x="145899" y="338545"/>
                </a:lnTo>
                <a:lnTo>
                  <a:pt x="198729" y="344702"/>
                </a:lnTo>
                <a:lnTo>
                  <a:pt x="251559" y="338545"/>
                </a:lnTo>
                <a:lnTo>
                  <a:pt x="299031" y="321171"/>
                </a:lnTo>
                <a:lnTo>
                  <a:pt x="339251" y="294221"/>
                </a:lnTo>
                <a:lnTo>
                  <a:pt x="370325" y="259340"/>
                </a:lnTo>
                <a:lnTo>
                  <a:pt x="390359" y="218169"/>
                </a:lnTo>
                <a:lnTo>
                  <a:pt x="397457" y="172351"/>
                </a:lnTo>
                <a:lnTo>
                  <a:pt x="390359" y="126533"/>
                </a:lnTo>
                <a:lnTo>
                  <a:pt x="370325" y="85362"/>
                </a:lnTo>
                <a:lnTo>
                  <a:pt x="339251" y="50480"/>
                </a:lnTo>
                <a:lnTo>
                  <a:pt x="299031" y="23530"/>
                </a:lnTo>
                <a:lnTo>
                  <a:pt x="251559" y="6156"/>
                </a:lnTo>
                <a:lnTo>
                  <a:pt x="198729" y="0"/>
                </a:lnTo>
                <a:close/>
              </a:path>
            </a:pathLst>
          </a:custGeom>
          <a:solidFill>
            <a:srgbClr val="A2C4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0990" y="3206635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4">
                <a:moveTo>
                  <a:pt x="0" y="172351"/>
                </a:moveTo>
                <a:lnTo>
                  <a:pt x="7098" y="126533"/>
                </a:lnTo>
                <a:lnTo>
                  <a:pt x="27132" y="85362"/>
                </a:lnTo>
                <a:lnTo>
                  <a:pt x="58206" y="50480"/>
                </a:lnTo>
                <a:lnTo>
                  <a:pt x="98426" y="23530"/>
                </a:lnTo>
                <a:lnTo>
                  <a:pt x="145898" y="6156"/>
                </a:lnTo>
                <a:lnTo>
                  <a:pt x="198729" y="0"/>
                </a:lnTo>
                <a:lnTo>
                  <a:pt x="251559" y="6156"/>
                </a:lnTo>
                <a:lnTo>
                  <a:pt x="299031" y="23530"/>
                </a:lnTo>
                <a:lnTo>
                  <a:pt x="339251" y="50480"/>
                </a:lnTo>
                <a:lnTo>
                  <a:pt x="370325" y="85362"/>
                </a:lnTo>
                <a:lnTo>
                  <a:pt x="390359" y="126533"/>
                </a:lnTo>
                <a:lnTo>
                  <a:pt x="397458" y="172351"/>
                </a:lnTo>
                <a:lnTo>
                  <a:pt x="390359" y="218168"/>
                </a:lnTo>
                <a:lnTo>
                  <a:pt x="370325" y="259339"/>
                </a:lnTo>
                <a:lnTo>
                  <a:pt x="339251" y="294221"/>
                </a:lnTo>
                <a:lnTo>
                  <a:pt x="299031" y="321171"/>
                </a:lnTo>
                <a:lnTo>
                  <a:pt x="251559" y="338545"/>
                </a:lnTo>
                <a:lnTo>
                  <a:pt x="198729" y="344702"/>
                </a:lnTo>
                <a:lnTo>
                  <a:pt x="145898" y="338545"/>
                </a:lnTo>
                <a:lnTo>
                  <a:pt x="98426" y="321171"/>
                </a:lnTo>
                <a:lnTo>
                  <a:pt x="58206" y="294221"/>
                </a:lnTo>
                <a:lnTo>
                  <a:pt x="27132" y="259339"/>
                </a:lnTo>
                <a:lnTo>
                  <a:pt x="7098" y="218168"/>
                </a:lnTo>
                <a:lnTo>
                  <a:pt x="0" y="17235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06370" y="3049524"/>
            <a:ext cx="266065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i="1">
                <a:latin typeface="Corbel"/>
                <a:cs typeface="Corbel"/>
              </a:rPr>
              <a:t>u</a:t>
            </a:r>
            <a:endParaRPr sz="38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37721" y="2683149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5">
                <a:moveTo>
                  <a:pt x="198729" y="0"/>
                </a:moveTo>
                <a:lnTo>
                  <a:pt x="145899" y="6156"/>
                </a:lnTo>
                <a:lnTo>
                  <a:pt x="98426" y="23530"/>
                </a:lnTo>
                <a:lnTo>
                  <a:pt x="58206" y="50480"/>
                </a:lnTo>
                <a:lnTo>
                  <a:pt x="27132" y="85361"/>
                </a:lnTo>
                <a:lnTo>
                  <a:pt x="7098" y="126532"/>
                </a:lnTo>
                <a:lnTo>
                  <a:pt x="0" y="172350"/>
                </a:lnTo>
                <a:lnTo>
                  <a:pt x="7098" y="218168"/>
                </a:lnTo>
                <a:lnTo>
                  <a:pt x="27132" y="259339"/>
                </a:lnTo>
                <a:lnTo>
                  <a:pt x="58206" y="294221"/>
                </a:lnTo>
                <a:lnTo>
                  <a:pt x="98426" y="321170"/>
                </a:lnTo>
                <a:lnTo>
                  <a:pt x="145899" y="338545"/>
                </a:lnTo>
                <a:lnTo>
                  <a:pt x="198729" y="344702"/>
                </a:lnTo>
                <a:lnTo>
                  <a:pt x="251559" y="338545"/>
                </a:lnTo>
                <a:lnTo>
                  <a:pt x="299031" y="321170"/>
                </a:lnTo>
                <a:lnTo>
                  <a:pt x="339251" y="294221"/>
                </a:lnTo>
                <a:lnTo>
                  <a:pt x="370325" y="259339"/>
                </a:lnTo>
                <a:lnTo>
                  <a:pt x="390359" y="218168"/>
                </a:lnTo>
                <a:lnTo>
                  <a:pt x="397457" y="172350"/>
                </a:lnTo>
                <a:lnTo>
                  <a:pt x="390359" y="126532"/>
                </a:lnTo>
                <a:lnTo>
                  <a:pt x="370325" y="85361"/>
                </a:lnTo>
                <a:lnTo>
                  <a:pt x="339251" y="50480"/>
                </a:lnTo>
                <a:lnTo>
                  <a:pt x="299031" y="23530"/>
                </a:lnTo>
                <a:lnTo>
                  <a:pt x="251559" y="6156"/>
                </a:lnTo>
                <a:lnTo>
                  <a:pt x="198729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37721" y="2683149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5">
                <a:moveTo>
                  <a:pt x="0" y="172351"/>
                </a:moveTo>
                <a:lnTo>
                  <a:pt x="7098" y="126533"/>
                </a:lnTo>
                <a:lnTo>
                  <a:pt x="27132" y="85362"/>
                </a:lnTo>
                <a:lnTo>
                  <a:pt x="58206" y="50480"/>
                </a:lnTo>
                <a:lnTo>
                  <a:pt x="98426" y="23530"/>
                </a:lnTo>
                <a:lnTo>
                  <a:pt x="145898" y="6156"/>
                </a:lnTo>
                <a:lnTo>
                  <a:pt x="198729" y="0"/>
                </a:lnTo>
                <a:lnTo>
                  <a:pt x="251559" y="6156"/>
                </a:lnTo>
                <a:lnTo>
                  <a:pt x="299031" y="23530"/>
                </a:lnTo>
                <a:lnTo>
                  <a:pt x="339251" y="50480"/>
                </a:lnTo>
                <a:lnTo>
                  <a:pt x="370325" y="85362"/>
                </a:lnTo>
                <a:lnTo>
                  <a:pt x="390359" y="126533"/>
                </a:lnTo>
                <a:lnTo>
                  <a:pt x="397458" y="172351"/>
                </a:lnTo>
                <a:lnTo>
                  <a:pt x="390359" y="218168"/>
                </a:lnTo>
                <a:lnTo>
                  <a:pt x="370325" y="259339"/>
                </a:lnTo>
                <a:lnTo>
                  <a:pt x="339251" y="294221"/>
                </a:lnTo>
                <a:lnTo>
                  <a:pt x="299031" y="321171"/>
                </a:lnTo>
                <a:lnTo>
                  <a:pt x="251559" y="338545"/>
                </a:lnTo>
                <a:lnTo>
                  <a:pt x="198729" y="344702"/>
                </a:lnTo>
                <a:lnTo>
                  <a:pt x="145898" y="338545"/>
                </a:lnTo>
                <a:lnTo>
                  <a:pt x="98426" y="321171"/>
                </a:lnTo>
                <a:lnTo>
                  <a:pt x="58206" y="294221"/>
                </a:lnTo>
                <a:lnTo>
                  <a:pt x="27132" y="259339"/>
                </a:lnTo>
                <a:lnTo>
                  <a:pt x="7098" y="218168"/>
                </a:lnTo>
                <a:lnTo>
                  <a:pt x="0" y="17235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24995" y="2776681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5">
                <a:moveTo>
                  <a:pt x="198729" y="0"/>
                </a:moveTo>
                <a:lnTo>
                  <a:pt x="145899" y="6156"/>
                </a:lnTo>
                <a:lnTo>
                  <a:pt x="98427" y="23530"/>
                </a:lnTo>
                <a:lnTo>
                  <a:pt x="58206" y="50480"/>
                </a:lnTo>
                <a:lnTo>
                  <a:pt x="27132" y="85361"/>
                </a:lnTo>
                <a:lnTo>
                  <a:pt x="7098" y="126532"/>
                </a:lnTo>
                <a:lnTo>
                  <a:pt x="0" y="172350"/>
                </a:lnTo>
                <a:lnTo>
                  <a:pt x="7098" y="218168"/>
                </a:lnTo>
                <a:lnTo>
                  <a:pt x="27132" y="259339"/>
                </a:lnTo>
                <a:lnTo>
                  <a:pt x="58206" y="294221"/>
                </a:lnTo>
                <a:lnTo>
                  <a:pt x="98427" y="321171"/>
                </a:lnTo>
                <a:lnTo>
                  <a:pt x="145899" y="338545"/>
                </a:lnTo>
                <a:lnTo>
                  <a:pt x="198729" y="344702"/>
                </a:lnTo>
                <a:lnTo>
                  <a:pt x="251559" y="338545"/>
                </a:lnTo>
                <a:lnTo>
                  <a:pt x="299031" y="321171"/>
                </a:lnTo>
                <a:lnTo>
                  <a:pt x="339251" y="294221"/>
                </a:lnTo>
                <a:lnTo>
                  <a:pt x="370325" y="259339"/>
                </a:lnTo>
                <a:lnTo>
                  <a:pt x="390359" y="218168"/>
                </a:lnTo>
                <a:lnTo>
                  <a:pt x="397457" y="172350"/>
                </a:lnTo>
                <a:lnTo>
                  <a:pt x="390359" y="126532"/>
                </a:lnTo>
                <a:lnTo>
                  <a:pt x="370325" y="85361"/>
                </a:lnTo>
                <a:lnTo>
                  <a:pt x="339251" y="50480"/>
                </a:lnTo>
                <a:lnTo>
                  <a:pt x="299031" y="23530"/>
                </a:lnTo>
                <a:lnTo>
                  <a:pt x="251559" y="6156"/>
                </a:lnTo>
                <a:lnTo>
                  <a:pt x="198729" y="0"/>
                </a:lnTo>
                <a:close/>
              </a:path>
            </a:pathLst>
          </a:custGeom>
          <a:solidFill>
            <a:srgbClr val="D5A6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24995" y="2776681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5">
                <a:moveTo>
                  <a:pt x="0" y="172351"/>
                </a:moveTo>
                <a:lnTo>
                  <a:pt x="7098" y="126533"/>
                </a:lnTo>
                <a:lnTo>
                  <a:pt x="27132" y="85362"/>
                </a:lnTo>
                <a:lnTo>
                  <a:pt x="58206" y="50480"/>
                </a:lnTo>
                <a:lnTo>
                  <a:pt x="98426" y="23530"/>
                </a:lnTo>
                <a:lnTo>
                  <a:pt x="145898" y="6156"/>
                </a:lnTo>
                <a:lnTo>
                  <a:pt x="198729" y="0"/>
                </a:lnTo>
                <a:lnTo>
                  <a:pt x="251559" y="6156"/>
                </a:lnTo>
                <a:lnTo>
                  <a:pt x="299031" y="23530"/>
                </a:lnTo>
                <a:lnTo>
                  <a:pt x="339251" y="50480"/>
                </a:lnTo>
                <a:lnTo>
                  <a:pt x="370325" y="85362"/>
                </a:lnTo>
                <a:lnTo>
                  <a:pt x="390359" y="126533"/>
                </a:lnTo>
                <a:lnTo>
                  <a:pt x="397458" y="172351"/>
                </a:lnTo>
                <a:lnTo>
                  <a:pt x="390359" y="218168"/>
                </a:lnTo>
                <a:lnTo>
                  <a:pt x="370325" y="259339"/>
                </a:lnTo>
                <a:lnTo>
                  <a:pt x="339251" y="294221"/>
                </a:lnTo>
                <a:lnTo>
                  <a:pt x="299031" y="321171"/>
                </a:lnTo>
                <a:lnTo>
                  <a:pt x="251559" y="338545"/>
                </a:lnTo>
                <a:lnTo>
                  <a:pt x="198729" y="344702"/>
                </a:lnTo>
                <a:lnTo>
                  <a:pt x="145898" y="338545"/>
                </a:lnTo>
                <a:lnTo>
                  <a:pt x="98426" y="321171"/>
                </a:lnTo>
                <a:lnTo>
                  <a:pt x="58206" y="294221"/>
                </a:lnTo>
                <a:lnTo>
                  <a:pt x="27132" y="259339"/>
                </a:lnTo>
                <a:lnTo>
                  <a:pt x="7098" y="218168"/>
                </a:lnTo>
                <a:lnTo>
                  <a:pt x="0" y="17235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49614" y="3206635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4">
                <a:moveTo>
                  <a:pt x="198728" y="0"/>
                </a:moveTo>
                <a:lnTo>
                  <a:pt x="145898" y="6156"/>
                </a:lnTo>
                <a:lnTo>
                  <a:pt x="98426" y="23530"/>
                </a:lnTo>
                <a:lnTo>
                  <a:pt x="58206" y="50480"/>
                </a:lnTo>
                <a:lnTo>
                  <a:pt x="27132" y="85362"/>
                </a:lnTo>
                <a:lnTo>
                  <a:pt x="7098" y="126533"/>
                </a:lnTo>
                <a:lnTo>
                  <a:pt x="0" y="172351"/>
                </a:lnTo>
                <a:lnTo>
                  <a:pt x="7098" y="218169"/>
                </a:lnTo>
                <a:lnTo>
                  <a:pt x="27132" y="259340"/>
                </a:lnTo>
                <a:lnTo>
                  <a:pt x="58206" y="294221"/>
                </a:lnTo>
                <a:lnTo>
                  <a:pt x="98426" y="321171"/>
                </a:lnTo>
                <a:lnTo>
                  <a:pt x="145898" y="338545"/>
                </a:lnTo>
                <a:lnTo>
                  <a:pt x="198728" y="344702"/>
                </a:lnTo>
                <a:lnTo>
                  <a:pt x="251558" y="338545"/>
                </a:lnTo>
                <a:lnTo>
                  <a:pt x="299031" y="321171"/>
                </a:lnTo>
                <a:lnTo>
                  <a:pt x="339251" y="294221"/>
                </a:lnTo>
                <a:lnTo>
                  <a:pt x="370325" y="259340"/>
                </a:lnTo>
                <a:lnTo>
                  <a:pt x="390359" y="218169"/>
                </a:lnTo>
                <a:lnTo>
                  <a:pt x="397457" y="172351"/>
                </a:lnTo>
                <a:lnTo>
                  <a:pt x="390359" y="126533"/>
                </a:lnTo>
                <a:lnTo>
                  <a:pt x="370325" y="85362"/>
                </a:lnTo>
                <a:lnTo>
                  <a:pt x="339251" y="50480"/>
                </a:lnTo>
                <a:lnTo>
                  <a:pt x="299031" y="23530"/>
                </a:lnTo>
                <a:lnTo>
                  <a:pt x="251558" y="6156"/>
                </a:lnTo>
                <a:lnTo>
                  <a:pt x="198728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49614" y="3206635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4">
                <a:moveTo>
                  <a:pt x="0" y="172351"/>
                </a:moveTo>
                <a:lnTo>
                  <a:pt x="7098" y="126533"/>
                </a:lnTo>
                <a:lnTo>
                  <a:pt x="27132" y="85362"/>
                </a:lnTo>
                <a:lnTo>
                  <a:pt x="58206" y="50480"/>
                </a:lnTo>
                <a:lnTo>
                  <a:pt x="98426" y="23530"/>
                </a:lnTo>
                <a:lnTo>
                  <a:pt x="145898" y="6156"/>
                </a:lnTo>
                <a:lnTo>
                  <a:pt x="198729" y="0"/>
                </a:lnTo>
                <a:lnTo>
                  <a:pt x="251559" y="6156"/>
                </a:lnTo>
                <a:lnTo>
                  <a:pt x="299031" y="23530"/>
                </a:lnTo>
                <a:lnTo>
                  <a:pt x="339251" y="50480"/>
                </a:lnTo>
                <a:lnTo>
                  <a:pt x="370325" y="85362"/>
                </a:lnTo>
                <a:lnTo>
                  <a:pt x="390359" y="126533"/>
                </a:lnTo>
                <a:lnTo>
                  <a:pt x="397458" y="172351"/>
                </a:lnTo>
                <a:lnTo>
                  <a:pt x="390359" y="218168"/>
                </a:lnTo>
                <a:lnTo>
                  <a:pt x="370325" y="259339"/>
                </a:lnTo>
                <a:lnTo>
                  <a:pt x="339251" y="294221"/>
                </a:lnTo>
                <a:lnTo>
                  <a:pt x="299031" y="321171"/>
                </a:lnTo>
                <a:lnTo>
                  <a:pt x="251559" y="338545"/>
                </a:lnTo>
                <a:lnTo>
                  <a:pt x="198729" y="344702"/>
                </a:lnTo>
                <a:lnTo>
                  <a:pt x="145898" y="338545"/>
                </a:lnTo>
                <a:lnTo>
                  <a:pt x="98426" y="321171"/>
                </a:lnTo>
                <a:lnTo>
                  <a:pt x="58206" y="294221"/>
                </a:lnTo>
                <a:lnTo>
                  <a:pt x="27132" y="259339"/>
                </a:lnTo>
                <a:lnTo>
                  <a:pt x="7098" y="218168"/>
                </a:lnTo>
                <a:lnTo>
                  <a:pt x="0" y="17235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85359" y="3669133"/>
            <a:ext cx="363220" cy="377825"/>
          </a:xfrm>
          <a:custGeom>
            <a:avLst/>
            <a:gdLst/>
            <a:ahLst/>
            <a:cxnLst/>
            <a:rect l="l" t="t" r="r" b="b"/>
            <a:pathLst>
              <a:path w="363219" h="377825">
                <a:moveTo>
                  <a:pt x="181578" y="0"/>
                </a:moveTo>
                <a:lnTo>
                  <a:pt x="133307" y="6738"/>
                </a:lnTo>
                <a:lnTo>
                  <a:pt x="89932" y="25753"/>
                </a:lnTo>
                <a:lnTo>
                  <a:pt x="53182" y="55248"/>
                </a:lnTo>
                <a:lnTo>
                  <a:pt x="24790" y="93424"/>
                </a:lnTo>
                <a:lnTo>
                  <a:pt x="6486" y="138484"/>
                </a:lnTo>
                <a:lnTo>
                  <a:pt x="0" y="188629"/>
                </a:lnTo>
                <a:lnTo>
                  <a:pt x="6486" y="238774"/>
                </a:lnTo>
                <a:lnTo>
                  <a:pt x="24790" y="283834"/>
                </a:lnTo>
                <a:lnTo>
                  <a:pt x="53182" y="322010"/>
                </a:lnTo>
                <a:lnTo>
                  <a:pt x="89932" y="351505"/>
                </a:lnTo>
                <a:lnTo>
                  <a:pt x="133307" y="370520"/>
                </a:lnTo>
                <a:lnTo>
                  <a:pt x="181578" y="377258"/>
                </a:lnTo>
                <a:lnTo>
                  <a:pt x="229849" y="370520"/>
                </a:lnTo>
                <a:lnTo>
                  <a:pt x="273224" y="351505"/>
                </a:lnTo>
                <a:lnTo>
                  <a:pt x="309974" y="322010"/>
                </a:lnTo>
                <a:lnTo>
                  <a:pt x="338366" y="283834"/>
                </a:lnTo>
                <a:lnTo>
                  <a:pt x="356671" y="238774"/>
                </a:lnTo>
                <a:lnTo>
                  <a:pt x="363157" y="188629"/>
                </a:lnTo>
                <a:lnTo>
                  <a:pt x="356671" y="138484"/>
                </a:lnTo>
                <a:lnTo>
                  <a:pt x="338366" y="93424"/>
                </a:lnTo>
                <a:lnTo>
                  <a:pt x="309974" y="55248"/>
                </a:lnTo>
                <a:lnTo>
                  <a:pt x="273224" y="25753"/>
                </a:lnTo>
                <a:lnTo>
                  <a:pt x="229849" y="6738"/>
                </a:lnTo>
                <a:lnTo>
                  <a:pt x="181578" y="0"/>
                </a:lnTo>
                <a:close/>
              </a:path>
            </a:pathLst>
          </a:custGeom>
          <a:solidFill>
            <a:srgbClr val="D5A6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85360" y="3669133"/>
            <a:ext cx="363220" cy="377825"/>
          </a:xfrm>
          <a:custGeom>
            <a:avLst/>
            <a:gdLst/>
            <a:ahLst/>
            <a:cxnLst/>
            <a:rect l="l" t="t" r="r" b="b"/>
            <a:pathLst>
              <a:path w="363219" h="377825">
                <a:moveTo>
                  <a:pt x="181578" y="0"/>
                </a:moveTo>
                <a:lnTo>
                  <a:pt x="229849" y="6738"/>
                </a:lnTo>
                <a:lnTo>
                  <a:pt x="273224" y="25753"/>
                </a:lnTo>
                <a:lnTo>
                  <a:pt x="309973" y="55248"/>
                </a:lnTo>
                <a:lnTo>
                  <a:pt x="338366" y="93424"/>
                </a:lnTo>
                <a:lnTo>
                  <a:pt x="356670" y="138484"/>
                </a:lnTo>
                <a:lnTo>
                  <a:pt x="363157" y="188629"/>
                </a:lnTo>
                <a:lnTo>
                  <a:pt x="356670" y="238774"/>
                </a:lnTo>
                <a:lnTo>
                  <a:pt x="338366" y="283834"/>
                </a:lnTo>
                <a:lnTo>
                  <a:pt x="309973" y="322010"/>
                </a:lnTo>
                <a:lnTo>
                  <a:pt x="273224" y="351505"/>
                </a:lnTo>
                <a:lnTo>
                  <a:pt x="229849" y="370520"/>
                </a:lnTo>
                <a:lnTo>
                  <a:pt x="181578" y="377259"/>
                </a:lnTo>
                <a:lnTo>
                  <a:pt x="133307" y="370520"/>
                </a:lnTo>
                <a:lnTo>
                  <a:pt x="89932" y="351505"/>
                </a:lnTo>
                <a:lnTo>
                  <a:pt x="53183" y="322010"/>
                </a:lnTo>
                <a:lnTo>
                  <a:pt x="24790" y="283834"/>
                </a:lnTo>
                <a:lnTo>
                  <a:pt x="6486" y="238774"/>
                </a:lnTo>
                <a:lnTo>
                  <a:pt x="0" y="188629"/>
                </a:lnTo>
                <a:lnTo>
                  <a:pt x="6486" y="138484"/>
                </a:lnTo>
                <a:lnTo>
                  <a:pt x="24790" y="93424"/>
                </a:lnTo>
                <a:lnTo>
                  <a:pt x="53183" y="55248"/>
                </a:lnTo>
                <a:lnTo>
                  <a:pt x="89932" y="25753"/>
                </a:lnTo>
                <a:lnTo>
                  <a:pt x="133307" y="6738"/>
                </a:lnTo>
                <a:lnTo>
                  <a:pt x="1815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29499" y="3787431"/>
            <a:ext cx="376555" cy="377825"/>
          </a:xfrm>
          <a:custGeom>
            <a:avLst/>
            <a:gdLst/>
            <a:ahLst/>
            <a:cxnLst/>
            <a:rect l="l" t="t" r="r" b="b"/>
            <a:pathLst>
              <a:path w="376555" h="377825">
                <a:moveTo>
                  <a:pt x="188121" y="0"/>
                </a:moveTo>
                <a:lnTo>
                  <a:pt x="138111" y="6738"/>
                </a:lnTo>
                <a:lnTo>
                  <a:pt x="93173" y="25753"/>
                </a:lnTo>
                <a:lnTo>
                  <a:pt x="55099" y="55248"/>
                </a:lnTo>
                <a:lnTo>
                  <a:pt x="25684" y="93424"/>
                </a:lnTo>
                <a:lnTo>
                  <a:pt x="6719" y="138484"/>
                </a:lnTo>
                <a:lnTo>
                  <a:pt x="0" y="188630"/>
                </a:lnTo>
                <a:lnTo>
                  <a:pt x="6719" y="238775"/>
                </a:lnTo>
                <a:lnTo>
                  <a:pt x="25684" y="283835"/>
                </a:lnTo>
                <a:lnTo>
                  <a:pt x="55099" y="322011"/>
                </a:lnTo>
                <a:lnTo>
                  <a:pt x="93173" y="351506"/>
                </a:lnTo>
                <a:lnTo>
                  <a:pt x="138111" y="370521"/>
                </a:lnTo>
                <a:lnTo>
                  <a:pt x="188121" y="377259"/>
                </a:lnTo>
                <a:lnTo>
                  <a:pt x="238131" y="370521"/>
                </a:lnTo>
                <a:lnTo>
                  <a:pt x="283069" y="351506"/>
                </a:lnTo>
                <a:lnTo>
                  <a:pt x="321142" y="322011"/>
                </a:lnTo>
                <a:lnTo>
                  <a:pt x="350557" y="283835"/>
                </a:lnTo>
                <a:lnTo>
                  <a:pt x="369521" y="238775"/>
                </a:lnTo>
                <a:lnTo>
                  <a:pt x="376241" y="188630"/>
                </a:lnTo>
                <a:lnTo>
                  <a:pt x="369521" y="138484"/>
                </a:lnTo>
                <a:lnTo>
                  <a:pt x="350557" y="93424"/>
                </a:lnTo>
                <a:lnTo>
                  <a:pt x="321142" y="55248"/>
                </a:lnTo>
                <a:lnTo>
                  <a:pt x="283069" y="25753"/>
                </a:lnTo>
                <a:lnTo>
                  <a:pt x="238131" y="6738"/>
                </a:lnTo>
                <a:lnTo>
                  <a:pt x="188121" y="0"/>
                </a:lnTo>
                <a:close/>
              </a:path>
            </a:pathLst>
          </a:custGeom>
          <a:solidFill>
            <a:srgbClr val="D5A6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29500" y="3787431"/>
            <a:ext cx="376555" cy="377825"/>
          </a:xfrm>
          <a:custGeom>
            <a:avLst/>
            <a:gdLst/>
            <a:ahLst/>
            <a:cxnLst/>
            <a:rect l="l" t="t" r="r" b="b"/>
            <a:pathLst>
              <a:path w="376555" h="377825">
                <a:moveTo>
                  <a:pt x="188120" y="0"/>
                </a:moveTo>
                <a:lnTo>
                  <a:pt x="238130" y="6738"/>
                </a:lnTo>
                <a:lnTo>
                  <a:pt x="283068" y="25753"/>
                </a:lnTo>
                <a:lnTo>
                  <a:pt x="321141" y="55248"/>
                </a:lnTo>
                <a:lnTo>
                  <a:pt x="350557" y="93424"/>
                </a:lnTo>
                <a:lnTo>
                  <a:pt x="369521" y="138484"/>
                </a:lnTo>
                <a:lnTo>
                  <a:pt x="376241" y="188629"/>
                </a:lnTo>
                <a:lnTo>
                  <a:pt x="369521" y="238774"/>
                </a:lnTo>
                <a:lnTo>
                  <a:pt x="350557" y="283834"/>
                </a:lnTo>
                <a:lnTo>
                  <a:pt x="321141" y="322010"/>
                </a:lnTo>
                <a:lnTo>
                  <a:pt x="283068" y="351505"/>
                </a:lnTo>
                <a:lnTo>
                  <a:pt x="238130" y="370520"/>
                </a:lnTo>
                <a:lnTo>
                  <a:pt x="188120" y="377259"/>
                </a:lnTo>
                <a:lnTo>
                  <a:pt x="138110" y="370520"/>
                </a:lnTo>
                <a:lnTo>
                  <a:pt x="93172" y="351505"/>
                </a:lnTo>
                <a:lnTo>
                  <a:pt x="55099" y="322010"/>
                </a:lnTo>
                <a:lnTo>
                  <a:pt x="25683" y="283834"/>
                </a:lnTo>
                <a:lnTo>
                  <a:pt x="6719" y="238774"/>
                </a:lnTo>
                <a:lnTo>
                  <a:pt x="0" y="188629"/>
                </a:lnTo>
                <a:lnTo>
                  <a:pt x="6719" y="138484"/>
                </a:lnTo>
                <a:lnTo>
                  <a:pt x="25683" y="93424"/>
                </a:lnTo>
                <a:lnTo>
                  <a:pt x="55099" y="55248"/>
                </a:lnTo>
                <a:lnTo>
                  <a:pt x="93172" y="25753"/>
                </a:lnTo>
                <a:lnTo>
                  <a:pt x="138110" y="6738"/>
                </a:lnTo>
                <a:lnTo>
                  <a:pt x="18812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37721" y="2683149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5">
                <a:moveTo>
                  <a:pt x="198729" y="0"/>
                </a:moveTo>
                <a:lnTo>
                  <a:pt x="145899" y="6156"/>
                </a:lnTo>
                <a:lnTo>
                  <a:pt x="98426" y="23530"/>
                </a:lnTo>
                <a:lnTo>
                  <a:pt x="58206" y="50480"/>
                </a:lnTo>
                <a:lnTo>
                  <a:pt x="27132" y="85361"/>
                </a:lnTo>
                <a:lnTo>
                  <a:pt x="7098" y="126532"/>
                </a:lnTo>
                <a:lnTo>
                  <a:pt x="0" y="172350"/>
                </a:lnTo>
                <a:lnTo>
                  <a:pt x="7098" y="218168"/>
                </a:lnTo>
                <a:lnTo>
                  <a:pt x="27132" y="259339"/>
                </a:lnTo>
                <a:lnTo>
                  <a:pt x="58206" y="294221"/>
                </a:lnTo>
                <a:lnTo>
                  <a:pt x="98426" y="321170"/>
                </a:lnTo>
                <a:lnTo>
                  <a:pt x="145899" y="338545"/>
                </a:lnTo>
                <a:lnTo>
                  <a:pt x="198729" y="344702"/>
                </a:lnTo>
                <a:lnTo>
                  <a:pt x="251559" y="338545"/>
                </a:lnTo>
                <a:lnTo>
                  <a:pt x="299031" y="321170"/>
                </a:lnTo>
                <a:lnTo>
                  <a:pt x="339251" y="294221"/>
                </a:lnTo>
                <a:lnTo>
                  <a:pt x="370325" y="259339"/>
                </a:lnTo>
                <a:lnTo>
                  <a:pt x="390359" y="218168"/>
                </a:lnTo>
                <a:lnTo>
                  <a:pt x="397457" y="172350"/>
                </a:lnTo>
                <a:lnTo>
                  <a:pt x="390359" y="126532"/>
                </a:lnTo>
                <a:lnTo>
                  <a:pt x="370325" y="85361"/>
                </a:lnTo>
                <a:lnTo>
                  <a:pt x="339251" y="50480"/>
                </a:lnTo>
                <a:lnTo>
                  <a:pt x="299031" y="23530"/>
                </a:lnTo>
                <a:lnTo>
                  <a:pt x="251559" y="6156"/>
                </a:lnTo>
                <a:lnTo>
                  <a:pt x="198729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837721" y="2683149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5">
                <a:moveTo>
                  <a:pt x="397458" y="172351"/>
                </a:moveTo>
                <a:lnTo>
                  <a:pt x="390359" y="126533"/>
                </a:lnTo>
                <a:lnTo>
                  <a:pt x="370325" y="85362"/>
                </a:lnTo>
                <a:lnTo>
                  <a:pt x="339251" y="50480"/>
                </a:lnTo>
                <a:lnTo>
                  <a:pt x="299031" y="23530"/>
                </a:lnTo>
                <a:lnTo>
                  <a:pt x="251559" y="6156"/>
                </a:lnTo>
                <a:lnTo>
                  <a:pt x="198729" y="0"/>
                </a:lnTo>
                <a:lnTo>
                  <a:pt x="145898" y="6156"/>
                </a:lnTo>
                <a:lnTo>
                  <a:pt x="98426" y="23530"/>
                </a:lnTo>
                <a:lnTo>
                  <a:pt x="58206" y="50480"/>
                </a:lnTo>
                <a:lnTo>
                  <a:pt x="27132" y="85362"/>
                </a:lnTo>
                <a:lnTo>
                  <a:pt x="7098" y="126533"/>
                </a:lnTo>
                <a:lnTo>
                  <a:pt x="0" y="172351"/>
                </a:lnTo>
                <a:lnTo>
                  <a:pt x="7098" y="218168"/>
                </a:lnTo>
                <a:lnTo>
                  <a:pt x="27132" y="259339"/>
                </a:lnTo>
                <a:lnTo>
                  <a:pt x="58206" y="294221"/>
                </a:lnTo>
                <a:lnTo>
                  <a:pt x="98426" y="321171"/>
                </a:lnTo>
                <a:lnTo>
                  <a:pt x="145898" y="338545"/>
                </a:lnTo>
                <a:lnTo>
                  <a:pt x="198729" y="344702"/>
                </a:lnTo>
                <a:lnTo>
                  <a:pt x="251559" y="338545"/>
                </a:lnTo>
                <a:lnTo>
                  <a:pt x="299031" y="321171"/>
                </a:lnTo>
                <a:lnTo>
                  <a:pt x="339251" y="294221"/>
                </a:lnTo>
                <a:lnTo>
                  <a:pt x="370325" y="259339"/>
                </a:lnTo>
                <a:lnTo>
                  <a:pt x="390359" y="218168"/>
                </a:lnTo>
                <a:lnTo>
                  <a:pt x="397458" y="17235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350446" y="2776681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5">
                <a:moveTo>
                  <a:pt x="198729" y="0"/>
                </a:moveTo>
                <a:lnTo>
                  <a:pt x="145899" y="6156"/>
                </a:lnTo>
                <a:lnTo>
                  <a:pt x="98426" y="23530"/>
                </a:lnTo>
                <a:lnTo>
                  <a:pt x="58206" y="50480"/>
                </a:lnTo>
                <a:lnTo>
                  <a:pt x="27132" y="85361"/>
                </a:lnTo>
                <a:lnTo>
                  <a:pt x="7098" y="126532"/>
                </a:lnTo>
                <a:lnTo>
                  <a:pt x="0" y="172350"/>
                </a:lnTo>
                <a:lnTo>
                  <a:pt x="7098" y="218168"/>
                </a:lnTo>
                <a:lnTo>
                  <a:pt x="27132" y="259339"/>
                </a:lnTo>
                <a:lnTo>
                  <a:pt x="58206" y="294221"/>
                </a:lnTo>
                <a:lnTo>
                  <a:pt x="98426" y="321171"/>
                </a:lnTo>
                <a:lnTo>
                  <a:pt x="145899" y="338545"/>
                </a:lnTo>
                <a:lnTo>
                  <a:pt x="198729" y="344702"/>
                </a:lnTo>
                <a:lnTo>
                  <a:pt x="251559" y="338545"/>
                </a:lnTo>
                <a:lnTo>
                  <a:pt x="299031" y="321171"/>
                </a:lnTo>
                <a:lnTo>
                  <a:pt x="339251" y="294221"/>
                </a:lnTo>
                <a:lnTo>
                  <a:pt x="370325" y="259339"/>
                </a:lnTo>
                <a:lnTo>
                  <a:pt x="390359" y="218168"/>
                </a:lnTo>
                <a:lnTo>
                  <a:pt x="397457" y="172350"/>
                </a:lnTo>
                <a:lnTo>
                  <a:pt x="390359" y="126532"/>
                </a:lnTo>
                <a:lnTo>
                  <a:pt x="370325" y="85361"/>
                </a:lnTo>
                <a:lnTo>
                  <a:pt x="339251" y="50480"/>
                </a:lnTo>
                <a:lnTo>
                  <a:pt x="299031" y="23530"/>
                </a:lnTo>
                <a:lnTo>
                  <a:pt x="251559" y="6156"/>
                </a:lnTo>
                <a:lnTo>
                  <a:pt x="198729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50446" y="2776681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10" h="344805">
                <a:moveTo>
                  <a:pt x="397458" y="172351"/>
                </a:moveTo>
                <a:lnTo>
                  <a:pt x="390359" y="126533"/>
                </a:lnTo>
                <a:lnTo>
                  <a:pt x="370325" y="85362"/>
                </a:lnTo>
                <a:lnTo>
                  <a:pt x="339251" y="50480"/>
                </a:lnTo>
                <a:lnTo>
                  <a:pt x="299031" y="23530"/>
                </a:lnTo>
                <a:lnTo>
                  <a:pt x="251559" y="6156"/>
                </a:lnTo>
                <a:lnTo>
                  <a:pt x="198729" y="0"/>
                </a:lnTo>
                <a:lnTo>
                  <a:pt x="145898" y="6156"/>
                </a:lnTo>
                <a:lnTo>
                  <a:pt x="98426" y="23530"/>
                </a:lnTo>
                <a:lnTo>
                  <a:pt x="58206" y="50480"/>
                </a:lnTo>
                <a:lnTo>
                  <a:pt x="27132" y="85362"/>
                </a:lnTo>
                <a:lnTo>
                  <a:pt x="7098" y="126533"/>
                </a:lnTo>
                <a:lnTo>
                  <a:pt x="0" y="172351"/>
                </a:lnTo>
                <a:lnTo>
                  <a:pt x="7098" y="218168"/>
                </a:lnTo>
                <a:lnTo>
                  <a:pt x="27132" y="259339"/>
                </a:lnTo>
                <a:lnTo>
                  <a:pt x="58206" y="294221"/>
                </a:lnTo>
                <a:lnTo>
                  <a:pt x="98426" y="321171"/>
                </a:lnTo>
                <a:lnTo>
                  <a:pt x="145898" y="338545"/>
                </a:lnTo>
                <a:lnTo>
                  <a:pt x="198729" y="344702"/>
                </a:lnTo>
                <a:lnTo>
                  <a:pt x="251559" y="338545"/>
                </a:lnTo>
                <a:lnTo>
                  <a:pt x="299031" y="321171"/>
                </a:lnTo>
                <a:lnTo>
                  <a:pt x="339251" y="294221"/>
                </a:lnTo>
                <a:lnTo>
                  <a:pt x="370325" y="259339"/>
                </a:lnTo>
                <a:lnTo>
                  <a:pt x="390359" y="218168"/>
                </a:lnTo>
                <a:lnTo>
                  <a:pt x="397458" y="17235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25828" y="3206635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09" h="344804">
                <a:moveTo>
                  <a:pt x="198728" y="0"/>
                </a:moveTo>
                <a:lnTo>
                  <a:pt x="145898" y="6156"/>
                </a:lnTo>
                <a:lnTo>
                  <a:pt x="98426" y="23530"/>
                </a:lnTo>
                <a:lnTo>
                  <a:pt x="58206" y="50480"/>
                </a:lnTo>
                <a:lnTo>
                  <a:pt x="27132" y="85362"/>
                </a:lnTo>
                <a:lnTo>
                  <a:pt x="7098" y="126533"/>
                </a:lnTo>
                <a:lnTo>
                  <a:pt x="0" y="172351"/>
                </a:lnTo>
                <a:lnTo>
                  <a:pt x="7098" y="218169"/>
                </a:lnTo>
                <a:lnTo>
                  <a:pt x="27132" y="259340"/>
                </a:lnTo>
                <a:lnTo>
                  <a:pt x="58206" y="294221"/>
                </a:lnTo>
                <a:lnTo>
                  <a:pt x="98426" y="321171"/>
                </a:lnTo>
                <a:lnTo>
                  <a:pt x="145898" y="338545"/>
                </a:lnTo>
                <a:lnTo>
                  <a:pt x="198728" y="344702"/>
                </a:lnTo>
                <a:lnTo>
                  <a:pt x="251558" y="338545"/>
                </a:lnTo>
                <a:lnTo>
                  <a:pt x="299031" y="321171"/>
                </a:lnTo>
                <a:lnTo>
                  <a:pt x="339251" y="294221"/>
                </a:lnTo>
                <a:lnTo>
                  <a:pt x="370325" y="259340"/>
                </a:lnTo>
                <a:lnTo>
                  <a:pt x="390359" y="218169"/>
                </a:lnTo>
                <a:lnTo>
                  <a:pt x="397458" y="172351"/>
                </a:lnTo>
                <a:lnTo>
                  <a:pt x="390359" y="126533"/>
                </a:lnTo>
                <a:lnTo>
                  <a:pt x="370325" y="85362"/>
                </a:lnTo>
                <a:lnTo>
                  <a:pt x="339251" y="50480"/>
                </a:lnTo>
                <a:lnTo>
                  <a:pt x="299031" y="23530"/>
                </a:lnTo>
                <a:lnTo>
                  <a:pt x="251558" y="6156"/>
                </a:lnTo>
                <a:lnTo>
                  <a:pt x="198728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25829" y="3206635"/>
            <a:ext cx="397510" cy="344805"/>
          </a:xfrm>
          <a:custGeom>
            <a:avLst/>
            <a:gdLst/>
            <a:ahLst/>
            <a:cxnLst/>
            <a:rect l="l" t="t" r="r" b="b"/>
            <a:pathLst>
              <a:path w="397509" h="344804">
                <a:moveTo>
                  <a:pt x="397458" y="172351"/>
                </a:moveTo>
                <a:lnTo>
                  <a:pt x="390359" y="126533"/>
                </a:lnTo>
                <a:lnTo>
                  <a:pt x="370325" y="85362"/>
                </a:lnTo>
                <a:lnTo>
                  <a:pt x="339251" y="50480"/>
                </a:lnTo>
                <a:lnTo>
                  <a:pt x="299031" y="23530"/>
                </a:lnTo>
                <a:lnTo>
                  <a:pt x="251559" y="6156"/>
                </a:lnTo>
                <a:lnTo>
                  <a:pt x="198729" y="0"/>
                </a:lnTo>
                <a:lnTo>
                  <a:pt x="145898" y="6156"/>
                </a:lnTo>
                <a:lnTo>
                  <a:pt x="98426" y="23530"/>
                </a:lnTo>
                <a:lnTo>
                  <a:pt x="58206" y="50480"/>
                </a:lnTo>
                <a:lnTo>
                  <a:pt x="27132" y="85362"/>
                </a:lnTo>
                <a:lnTo>
                  <a:pt x="7098" y="126533"/>
                </a:lnTo>
                <a:lnTo>
                  <a:pt x="0" y="172351"/>
                </a:lnTo>
                <a:lnTo>
                  <a:pt x="7098" y="218168"/>
                </a:lnTo>
                <a:lnTo>
                  <a:pt x="27132" y="259339"/>
                </a:lnTo>
                <a:lnTo>
                  <a:pt x="58206" y="294221"/>
                </a:lnTo>
                <a:lnTo>
                  <a:pt x="98426" y="321171"/>
                </a:lnTo>
                <a:lnTo>
                  <a:pt x="145898" y="338545"/>
                </a:lnTo>
                <a:lnTo>
                  <a:pt x="198729" y="344702"/>
                </a:lnTo>
                <a:lnTo>
                  <a:pt x="251559" y="338545"/>
                </a:lnTo>
                <a:lnTo>
                  <a:pt x="299031" y="321171"/>
                </a:lnTo>
                <a:lnTo>
                  <a:pt x="339251" y="294221"/>
                </a:lnTo>
                <a:lnTo>
                  <a:pt x="370325" y="259339"/>
                </a:lnTo>
                <a:lnTo>
                  <a:pt x="390359" y="218168"/>
                </a:lnTo>
                <a:lnTo>
                  <a:pt x="397458" y="17235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24382" y="3669133"/>
            <a:ext cx="363220" cy="377825"/>
          </a:xfrm>
          <a:custGeom>
            <a:avLst/>
            <a:gdLst/>
            <a:ahLst/>
            <a:cxnLst/>
            <a:rect l="l" t="t" r="r" b="b"/>
            <a:pathLst>
              <a:path w="363219" h="377825">
                <a:moveTo>
                  <a:pt x="181578" y="0"/>
                </a:moveTo>
                <a:lnTo>
                  <a:pt x="133307" y="6738"/>
                </a:lnTo>
                <a:lnTo>
                  <a:pt x="89932" y="25753"/>
                </a:lnTo>
                <a:lnTo>
                  <a:pt x="53182" y="55248"/>
                </a:lnTo>
                <a:lnTo>
                  <a:pt x="24790" y="93424"/>
                </a:lnTo>
                <a:lnTo>
                  <a:pt x="6486" y="138484"/>
                </a:lnTo>
                <a:lnTo>
                  <a:pt x="0" y="188629"/>
                </a:lnTo>
                <a:lnTo>
                  <a:pt x="6486" y="238774"/>
                </a:lnTo>
                <a:lnTo>
                  <a:pt x="24790" y="283834"/>
                </a:lnTo>
                <a:lnTo>
                  <a:pt x="53182" y="322010"/>
                </a:lnTo>
                <a:lnTo>
                  <a:pt x="89932" y="351505"/>
                </a:lnTo>
                <a:lnTo>
                  <a:pt x="133307" y="370520"/>
                </a:lnTo>
                <a:lnTo>
                  <a:pt x="181578" y="377258"/>
                </a:lnTo>
                <a:lnTo>
                  <a:pt x="229849" y="370520"/>
                </a:lnTo>
                <a:lnTo>
                  <a:pt x="273224" y="351505"/>
                </a:lnTo>
                <a:lnTo>
                  <a:pt x="309974" y="322010"/>
                </a:lnTo>
                <a:lnTo>
                  <a:pt x="338366" y="283834"/>
                </a:lnTo>
                <a:lnTo>
                  <a:pt x="356671" y="238774"/>
                </a:lnTo>
                <a:lnTo>
                  <a:pt x="363157" y="188629"/>
                </a:lnTo>
                <a:lnTo>
                  <a:pt x="356671" y="138484"/>
                </a:lnTo>
                <a:lnTo>
                  <a:pt x="338366" y="93424"/>
                </a:lnTo>
                <a:lnTo>
                  <a:pt x="309974" y="55248"/>
                </a:lnTo>
                <a:lnTo>
                  <a:pt x="273224" y="25753"/>
                </a:lnTo>
                <a:lnTo>
                  <a:pt x="229849" y="6738"/>
                </a:lnTo>
                <a:lnTo>
                  <a:pt x="181578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24382" y="3669133"/>
            <a:ext cx="363220" cy="377825"/>
          </a:xfrm>
          <a:custGeom>
            <a:avLst/>
            <a:gdLst/>
            <a:ahLst/>
            <a:cxnLst/>
            <a:rect l="l" t="t" r="r" b="b"/>
            <a:pathLst>
              <a:path w="363219" h="377825">
                <a:moveTo>
                  <a:pt x="181578" y="0"/>
                </a:moveTo>
                <a:lnTo>
                  <a:pt x="133307" y="6738"/>
                </a:lnTo>
                <a:lnTo>
                  <a:pt x="89932" y="25753"/>
                </a:lnTo>
                <a:lnTo>
                  <a:pt x="53183" y="55248"/>
                </a:lnTo>
                <a:lnTo>
                  <a:pt x="24790" y="93424"/>
                </a:lnTo>
                <a:lnTo>
                  <a:pt x="6486" y="138484"/>
                </a:lnTo>
                <a:lnTo>
                  <a:pt x="0" y="188629"/>
                </a:lnTo>
                <a:lnTo>
                  <a:pt x="6486" y="238774"/>
                </a:lnTo>
                <a:lnTo>
                  <a:pt x="24790" y="283834"/>
                </a:lnTo>
                <a:lnTo>
                  <a:pt x="53183" y="322010"/>
                </a:lnTo>
                <a:lnTo>
                  <a:pt x="89932" y="351505"/>
                </a:lnTo>
                <a:lnTo>
                  <a:pt x="133307" y="370520"/>
                </a:lnTo>
                <a:lnTo>
                  <a:pt x="181578" y="377259"/>
                </a:lnTo>
                <a:lnTo>
                  <a:pt x="229849" y="370520"/>
                </a:lnTo>
                <a:lnTo>
                  <a:pt x="273224" y="351505"/>
                </a:lnTo>
                <a:lnTo>
                  <a:pt x="309973" y="322010"/>
                </a:lnTo>
                <a:lnTo>
                  <a:pt x="338366" y="283834"/>
                </a:lnTo>
                <a:lnTo>
                  <a:pt x="356670" y="238774"/>
                </a:lnTo>
                <a:lnTo>
                  <a:pt x="363157" y="188629"/>
                </a:lnTo>
                <a:lnTo>
                  <a:pt x="356670" y="138484"/>
                </a:lnTo>
                <a:lnTo>
                  <a:pt x="338366" y="93424"/>
                </a:lnTo>
                <a:lnTo>
                  <a:pt x="309973" y="55248"/>
                </a:lnTo>
                <a:lnTo>
                  <a:pt x="273224" y="25753"/>
                </a:lnTo>
                <a:lnTo>
                  <a:pt x="229849" y="6738"/>
                </a:lnTo>
                <a:lnTo>
                  <a:pt x="1815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70661" y="3070901"/>
            <a:ext cx="212725" cy="193675"/>
          </a:xfrm>
          <a:custGeom>
            <a:avLst/>
            <a:gdLst/>
            <a:ahLst/>
            <a:cxnLst/>
            <a:rect l="l" t="t" r="r" b="b"/>
            <a:pathLst>
              <a:path w="212725" h="193675">
                <a:moveTo>
                  <a:pt x="111925" y="78078"/>
                </a:moveTo>
                <a:lnTo>
                  <a:pt x="0" y="179212"/>
                </a:lnTo>
                <a:lnTo>
                  <a:pt x="12771" y="193347"/>
                </a:lnTo>
                <a:lnTo>
                  <a:pt x="124696" y="92212"/>
                </a:lnTo>
                <a:lnTo>
                  <a:pt x="111925" y="78078"/>
                </a:lnTo>
                <a:close/>
              </a:path>
              <a:path w="212725" h="193675">
                <a:moveTo>
                  <a:pt x="185370" y="69564"/>
                </a:moveTo>
                <a:lnTo>
                  <a:pt x="121348" y="69564"/>
                </a:lnTo>
                <a:lnTo>
                  <a:pt x="134119" y="83698"/>
                </a:lnTo>
                <a:lnTo>
                  <a:pt x="124696" y="92212"/>
                </a:lnTo>
                <a:lnTo>
                  <a:pt x="160883" y="132260"/>
                </a:lnTo>
                <a:lnTo>
                  <a:pt x="185370" y="69564"/>
                </a:lnTo>
                <a:close/>
              </a:path>
              <a:path w="212725" h="193675">
                <a:moveTo>
                  <a:pt x="121348" y="69564"/>
                </a:moveTo>
                <a:lnTo>
                  <a:pt x="111925" y="78078"/>
                </a:lnTo>
                <a:lnTo>
                  <a:pt x="124696" y="92212"/>
                </a:lnTo>
                <a:lnTo>
                  <a:pt x="134119" y="83698"/>
                </a:lnTo>
                <a:lnTo>
                  <a:pt x="121348" y="69564"/>
                </a:lnTo>
                <a:close/>
              </a:path>
              <a:path w="212725" h="193675">
                <a:moveTo>
                  <a:pt x="212540" y="0"/>
                </a:moveTo>
                <a:lnTo>
                  <a:pt x="75737" y="38030"/>
                </a:lnTo>
                <a:lnTo>
                  <a:pt x="111925" y="78078"/>
                </a:lnTo>
                <a:lnTo>
                  <a:pt x="121348" y="69564"/>
                </a:lnTo>
                <a:lnTo>
                  <a:pt x="185370" y="69564"/>
                </a:lnTo>
                <a:lnTo>
                  <a:pt x="21254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235178" y="3315487"/>
            <a:ext cx="215265" cy="127000"/>
          </a:xfrm>
          <a:custGeom>
            <a:avLst/>
            <a:gdLst/>
            <a:ahLst/>
            <a:cxnLst/>
            <a:rect l="l" t="t" r="r" b="b"/>
            <a:pathLst>
              <a:path w="215264" h="127000">
                <a:moveTo>
                  <a:pt x="87641" y="0"/>
                </a:moveTo>
                <a:lnTo>
                  <a:pt x="87641" y="127000"/>
                </a:lnTo>
                <a:lnTo>
                  <a:pt x="195591" y="73025"/>
                </a:lnTo>
                <a:lnTo>
                  <a:pt x="100341" y="73025"/>
                </a:lnTo>
                <a:lnTo>
                  <a:pt x="100341" y="53975"/>
                </a:lnTo>
                <a:lnTo>
                  <a:pt x="195591" y="53975"/>
                </a:lnTo>
                <a:lnTo>
                  <a:pt x="87641" y="0"/>
                </a:lnTo>
                <a:close/>
              </a:path>
              <a:path w="215264" h="127000">
                <a:moveTo>
                  <a:pt x="87641" y="53975"/>
                </a:moveTo>
                <a:lnTo>
                  <a:pt x="0" y="53975"/>
                </a:lnTo>
                <a:lnTo>
                  <a:pt x="0" y="73025"/>
                </a:lnTo>
                <a:lnTo>
                  <a:pt x="87641" y="73025"/>
                </a:lnTo>
                <a:lnTo>
                  <a:pt x="87641" y="53975"/>
                </a:lnTo>
                <a:close/>
              </a:path>
              <a:path w="215264" h="127000">
                <a:moveTo>
                  <a:pt x="195591" y="53975"/>
                </a:moveTo>
                <a:lnTo>
                  <a:pt x="100341" y="53975"/>
                </a:lnTo>
                <a:lnTo>
                  <a:pt x="100341" y="73025"/>
                </a:lnTo>
                <a:lnTo>
                  <a:pt x="195591" y="73025"/>
                </a:lnTo>
                <a:lnTo>
                  <a:pt x="214641" y="63500"/>
                </a:lnTo>
                <a:lnTo>
                  <a:pt x="195591" y="5397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72950" y="3027851"/>
            <a:ext cx="127000" cy="179070"/>
          </a:xfrm>
          <a:custGeom>
            <a:avLst/>
            <a:gdLst/>
            <a:ahLst/>
            <a:cxnLst/>
            <a:rect l="l" t="t" r="r" b="b"/>
            <a:pathLst>
              <a:path w="127000" h="179069">
                <a:moveTo>
                  <a:pt x="73025" y="126999"/>
                </a:moveTo>
                <a:lnTo>
                  <a:pt x="53975" y="126999"/>
                </a:lnTo>
                <a:lnTo>
                  <a:pt x="53976" y="178896"/>
                </a:lnTo>
                <a:lnTo>
                  <a:pt x="73026" y="178896"/>
                </a:lnTo>
                <a:lnTo>
                  <a:pt x="73025" y="126999"/>
                </a:lnTo>
                <a:close/>
              </a:path>
              <a:path w="127000" h="179069">
                <a:moveTo>
                  <a:pt x="63500" y="0"/>
                </a:moveTo>
                <a:lnTo>
                  <a:pt x="0" y="127000"/>
                </a:lnTo>
                <a:lnTo>
                  <a:pt x="53975" y="126999"/>
                </a:lnTo>
                <a:lnTo>
                  <a:pt x="53975" y="114300"/>
                </a:lnTo>
                <a:lnTo>
                  <a:pt x="120650" y="114300"/>
                </a:lnTo>
                <a:lnTo>
                  <a:pt x="63500" y="0"/>
                </a:lnTo>
                <a:close/>
              </a:path>
              <a:path w="127000" h="179069">
                <a:moveTo>
                  <a:pt x="73025" y="114300"/>
                </a:moveTo>
                <a:lnTo>
                  <a:pt x="53975" y="114300"/>
                </a:lnTo>
                <a:lnTo>
                  <a:pt x="53975" y="126999"/>
                </a:lnTo>
                <a:lnTo>
                  <a:pt x="73025" y="126999"/>
                </a:lnTo>
                <a:lnTo>
                  <a:pt x="73025" y="114300"/>
                </a:lnTo>
                <a:close/>
              </a:path>
              <a:path w="127000" h="179069">
                <a:moveTo>
                  <a:pt x="120650" y="114300"/>
                </a:moveTo>
                <a:lnTo>
                  <a:pt x="73025" y="114300"/>
                </a:lnTo>
                <a:lnTo>
                  <a:pt x="73025" y="126999"/>
                </a:lnTo>
                <a:lnTo>
                  <a:pt x="127000" y="126998"/>
                </a:lnTo>
                <a:lnTo>
                  <a:pt x="120650" y="11430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89698" y="3070901"/>
            <a:ext cx="212725" cy="193675"/>
          </a:xfrm>
          <a:custGeom>
            <a:avLst/>
            <a:gdLst/>
            <a:ahLst/>
            <a:cxnLst/>
            <a:rect l="l" t="t" r="r" b="b"/>
            <a:pathLst>
              <a:path w="212725" h="193675">
                <a:moveTo>
                  <a:pt x="100615" y="78078"/>
                </a:moveTo>
                <a:lnTo>
                  <a:pt x="87843" y="92212"/>
                </a:lnTo>
                <a:lnTo>
                  <a:pt x="199768" y="193347"/>
                </a:lnTo>
                <a:lnTo>
                  <a:pt x="212540" y="179212"/>
                </a:lnTo>
                <a:lnTo>
                  <a:pt x="100615" y="78078"/>
                </a:lnTo>
                <a:close/>
              </a:path>
              <a:path w="212725" h="193675">
                <a:moveTo>
                  <a:pt x="0" y="0"/>
                </a:moveTo>
                <a:lnTo>
                  <a:pt x="51657" y="132260"/>
                </a:lnTo>
                <a:lnTo>
                  <a:pt x="87843" y="92212"/>
                </a:lnTo>
                <a:lnTo>
                  <a:pt x="78421" y="83698"/>
                </a:lnTo>
                <a:lnTo>
                  <a:pt x="91192" y="69564"/>
                </a:lnTo>
                <a:lnTo>
                  <a:pt x="108308" y="69564"/>
                </a:lnTo>
                <a:lnTo>
                  <a:pt x="136801" y="38030"/>
                </a:lnTo>
                <a:lnTo>
                  <a:pt x="0" y="0"/>
                </a:lnTo>
                <a:close/>
              </a:path>
              <a:path w="212725" h="193675">
                <a:moveTo>
                  <a:pt x="91192" y="69564"/>
                </a:moveTo>
                <a:lnTo>
                  <a:pt x="78421" y="83698"/>
                </a:lnTo>
                <a:lnTo>
                  <a:pt x="87843" y="92212"/>
                </a:lnTo>
                <a:lnTo>
                  <a:pt x="100615" y="78078"/>
                </a:lnTo>
                <a:lnTo>
                  <a:pt x="91192" y="69564"/>
                </a:lnTo>
                <a:close/>
              </a:path>
              <a:path w="212725" h="193675">
                <a:moveTo>
                  <a:pt x="108308" y="69564"/>
                </a:moveTo>
                <a:lnTo>
                  <a:pt x="91192" y="69564"/>
                </a:lnTo>
                <a:lnTo>
                  <a:pt x="100615" y="78078"/>
                </a:lnTo>
                <a:lnTo>
                  <a:pt x="108308" y="6956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623080" y="3315485"/>
            <a:ext cx="215265" cy="127000"/>
          </a:xfrm>
          <a:custGeom>
            <a:avLst/>
            <a:gdLst/>
            <a:ahLst/>
            <a:cxnLst/>
            <a:rect l="l" t="t" r="r" b="b"/>
            <a:pathLst>
              <a:path w="215264" h="127000">
                <a:moveTo>
                  <a:pt x="127000" y="0"/>
                </a:moveTo>
                <a:lnTo>
                  <a:pt x="0" y="63500"/>
                </a:lnTo>
                <a:lnTo>
                  <a:pt x="126998" y="127000"/>
                </a:lnTo>
                <a:lnTo>
                  <a:pt x="126999" y="73025"/>
                </a:lnTo>
                <a:lnTo>
                  <a:pt x="114300" y="73025"/>
                </a:lnTo>
                <a:lnTo>
                  <a:pt x="114300" y="53975"/>
                </a:lnTo>
                <a:lnTo>
                  <a:pt x="126999" y="53975"/>
                </a:lnTo>
                <a:lnTo>
                  <a:pt x="127000" y="0"/>
                </a:lnTo>
                <a:close/>
              </a:path>
              <a:path w="215264" h="127000">
                <a:moveTo>
                  <a:pt x="126999" y="53975"/>
                </a:moveTo>
                <a:lnTo>
                  <a:pt x="126999" y="73025"/>
                </a:lnTo>
                <a:lnTo>
                  <a:pt x="214640" y="73026"/>
                </a:lnTo>
                <a:lnTo>
                  <a:pt x="214640" y="53976"/>
                </a:lnTo>
                <a:lnTo>
                  <a:pt x="126999" y="53975"/>
                </a:lnTo>
                <a:close/>
              </a:path>
              <a:path w="215264" h="127000">
                <a:moveTo>
                  <a:pt x="114300" y="53975"/>
                </a:moveTo>
                <a:lnTo>
                  <a:pt x="114300" y="73025"/>
                </a:lnTo>
                <a:lnTo>
                  <a:pt x="126999" y="73025"/>
                </a:lnTo>
                <a:lnTo>
                  <a:pt x="126999" y="53975"/>
                </a:lnTo>
                <a:lnTo>
                  <a:pt x="114300" y="5397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964464" y="3550583"/>
            <a:ext cx="127000" cy="236854"/>
          </a:xfrm>
          <a:custGeom>
            <a:avLst/>
            <a:gdLst/>
            <a:ahLst/>
            <a:cxnLst/>
            <a:rect l="l" t="t" r="r" b="b"/>
            <a:pathLst>
              <a:path w="127000" h="236854">
                <a:moveTo>
                  <a:pt x="0" y="105079"/>
                </a:moveTo>
                <a:lnTo>
                  <a:pt x="53244" y="236708"/>
                </a:lnTo>
                <a:lnTo>
                  <a:pt x="121540" y="123522"/>
                </a:lnTo>
                <a:lnTo>
                  <a:pt x="71790" y="123522"/>
                </a:lnTo>
                <a:lnTo>
                  <a:pt x="52800" y="122013"/>
                </a:lnTo>
                <a:lnTo>
                  <a:pt x="53805" y="109353"/>
                </a:lnTo>
                <a:lnTo>
                  <a:pt x="0" y="105079"/>
                </a:lnTo>
                <a:close/>
              </a:path>
              <a:path w="127000" h="236854">
                <a:moveTo>
                  <a:pt x="53805" y="109353"/>
                </a:moveTo>
                <a:lnTo>
                  <a:pt x="52800" y="122013"/>
                </a:lnTo>
                <a:lnTo>
                  <a:pt x="71790" y="123522"/>
                </a:lnTo>
                <a:lnTo>
                  <a:pt x="72796" y="110861"/>
                </a:lnTo>
                <a:lnTo>
                  <a:pt x="53805" y="109353"/>
                </a:lnTo>
                <a:close/>
              </a:path>
              <a:path w="127000" h="236854">
                <a:moveTo>
                  <a:pt x="72796" y="110861"/>
                </a:moveTo>
                <a:lnTo>
                  <a:pt x="71790" y="123522"/>
                </a:lnTo>
                <a:lnTo>
                  <a:pt x="121540" y="123522"/>
                </a:lnTo>
                <a:lnTo>
                  <a:pt x="126601" y="115135"/>
                </a:lnTo>
                <a:lnTo>
                  <a:pt x="72796" y="110861"/>
                </a:lnTo>
                <a:close/>
              </a:path>
              <a:path w="127000" h="236854">
                <a:moveTo>
                  <a:pt x="62490" y="0"/>
                </a:moveTo>
                <a:lnTo>
                  <a:pt x="53805" y="109353"/>
                </a:lnTo>
                <a:lnTo>
                  <a:pt x="72796" y="110861"/>
                </a:lnTo>
                <a:lnTo>
                  <a:pt x="81480" y="1508"/>
                </a:lnTo>
                <a:lnTo>
                  <a:pt x="6249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170683" y="3493602"/>
            <a:ext cx="267970" cy="231140"/>
          </a:xfrm>
          <a:custGeom>
            <a:avLst/>
            <a:gdLst/>
            <a:ahLst/>
            <a:cxnLst/>
            <a:rect l="l" t="t" r="r" b="b"/>
            <a:pathLst>
              <a:path w="267969" h="231139">
                <a:moveTo>
                  <a:pt x="165108" y="155530"/>
                </a:moveTo>
                <a:lnTo>
                  <a:pt x="130050" y="196569"/>
                </a:lnTo>
                <a:lnTo>
                  <a:pt x="267858" y="230778"/>
                </a:lnTo>
                <a:lnTo>
                  <a:pt x="239516" y="163779"/>
                </a:lnTo>
                <a:lnTo>
                  <a:pt x="174764" y="163779"/>
                </a:lnTo>
                <a:lnTo>
                  <a:pt x="165108" y="155530"/>
                </a:lnTo>
                <a:close/>
              </a:path>
              <a:path w="267969" h="231139">
                <a:moveTo>
                  <a:pt x="177482" y="141045"/>
                </a:moveTo>
                <a:lnTo>
                  <a:pt x="165108" y="155530"/>
                </a:lnTo>
                <a:lnTo>
                  <a:pt x="174764" y="163779"/>
                </a:lnTo>
                <a:lnTo>
                  <a:pt x="187138" y="149294"/>
                </a:lnTo>
                <a:lnTo>
                  <a:pt x="177482" y="141045"/>
                </a:lnTo>
                <a:close/>
              </a:path>
              <a:path w="267969" h="231139">
                <a:moveTo>
                  <a:pt x="212539" y="100007"/>
                </a:moveTo>
                <a:lnTo>
                  <a:pt x="177482" y="141045"/>
                </a:lnTo>
                <a:lnTo>
                  <a:pt x="187138" y="149294"/>
                </a:lnTo>
                <a:lnTo>
                  <a:pt x="174764" y="163779"/>
                </a:lnTo>
                <a:lnTo>
                  <a:pt x="239516" y="163779"/>
                </a:lnTo>
                <a:lnTo>
                  <a:pt x="212539" y="100007"/>
                </a:lnTo>
                <a:close/>
              </a:path>
              <a:path w="267969" h="231139">
                <a:moveTo>
                  <a:pt x="12373" y="0"/>
                </a:moveTo>
                <a:lnTo>
                  <a:pt x="0" y="14484"/>
                </a:lnTo>
                <a:lnTo>
                  <a:pt x="165108" y="155530"/>
                </a:lnTo>
                <a:lnTo>
                  <a:pt x="177482" y="141045"/>
                </a:lnTo>
                <a:lnTo>
                  <a:pt x="12373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634256" y="3493613"/>
            <a:ext cx="267970" cy="231140"/>
          </a:xfrm>
          <a:custGeom>
            <a:avLst/>
            <a:gdLst/>
            <a:ahLst/>
            <a:cxnLst/>
            <a:rect l="l" t="t" r="r" b="b"/>
            <a:pathLst>
              <a:path w="267969" h="231139">
                <a:moveTo>
                  <a:pt x="55317" y="100006"/>
                </a:moveTo>
                <a:lnTo>
                  <a:pt x="0" y="230778"/>
                </a:lnTo>
                <a:lnTo>
                  <a:pt x="137807" y="196569"/>
                </a:lnTo>
                <a:lnTo>
                  <a:pt x="109796" y="163779"/>
                </a:lnTo>
                <a:lnTo>
                  <a:pt x="93093" y="163779"/>
                </a:lnTo>
                <a:lnTo>
                  <a:pt x="80719" y="149294"/>
                </a:lnTo>
                <a:lnTo>
                  <a:pt x="90376" y="141045"/>
                </a:lnTo>
                <a:lnTo>
                  <a:pt x="55317" y="100006"/>
                </a:lnTo>
                <a:close/>
              </a:path>
              <a:path w="267969" h="231139">
                <a:moveTo>
                  <a:pt x="90376" y="141045"/>
                </a:moveTo>
                <a:lnTo>
                  <a:pt x="80719" y="149294"/>
                </a:lnTo>
                <a:lnTo>
                  <a:pt x="93093" y="163779"/>
                </a:lnTo>
                <a:lnTo>
                  <a:pt x="102749" y="155530"/>
                </a:lnTo>
                <a:lnTo>
                  <a:pt x="90376" y="141045"/>
                </a:lnTo>
                <a:close/>
              </a:path>
              <a:path w="267969" h="231139">
                <a:moveTo>
                  <a:pt x="102749" y="155530"/>
                </a:moveTo>
                <a:lnTo>
                  <a:pt x="93093" y="163779"/>
                </a:lnTo>
                <a:lnTo>
                  <a:pt x="109796" y="163779"/>
                </a:lnTo>
                <a:lnTo>
                  <a:pt x="102749" y="155530"/>
                </a:lnTo>
                <a:close/>
              </a:path>
              <a:path w="267969" h="231139">
                <a:moveTo>
                  <a:pt x="255483" y="0"/>
                </a:moveTo>
                <a:lnTo>
                  <a:pt x="90376" y="141045"/>
                </a:lnTo>
                <a:lnTo>
                  <a:pt x="102749" y="155530"/>
                </a:lnTo>
                <a:lnTo>
                  <a:pt x="267856" y="14484"/>
                </a:lnTo>
                <a:lnTo>
                  <a:pt x="255483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102025" y="4347972"/>
            <a:ext cx="2679065" cy="1491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200" spc="-125">
                <a:solidFill>
                  <a:srgbClr val="C00000"/>
                </a:solidFill>
                <a:latin typeface="Arial"/>
                <a:cs typeface="Arial"/>
              </a:rPr>
              <a:t>DFS:</a:t>
            </a:r>
            <a:endParaRPr sz="3200">
              <a:latin typeface="Arial"/>
              <a:cs typeface="Arial"/>
            </a:endParaRPr>
          </a:p>
          <a:p>
            <a:pPr algn="ctr" marL="12065" marR="5080" indent="-635">
              <a:lnSpc>
                <a:spcPts val="3790"/>
              </a:lnSpc>
              <a:spcBef>
                <a:spcPts val="240"/>
              </a:spcBef>
            </a:pPr>
            <a:r>
              <a:rPr dirty="0" sz="3200" spc="-45">
                <a:latin typeface="Arial"/>
                <a:cs typeface="Arial"/>
              </a:rPr>
              <a:t>Macro-view </a:t>
            </a:r>
            <a:r>
              <a:rPr dirty="0" sz="3200" spc="-35">
                <a:latin typeface="Arial"/>
                <a:cs typeface="Arial"/>
              </a:rPr>
              <a:t>of  </a:t>
            </a:r>
            <a:r>
              <a:rPr dirty="0" sz="3200" spc="-105">
                <a:latin typeface="Arial"/>
                <a:cs typeface="Arial"/>
              </a:rPr>
              <a:t>n</a:t>
            </a:r>
            <a:r>
              <a:rPr dirty="0" sz="3200" spc="-95">
                <a:latin typeface="Arial"/>
                <a:cs typeface="Arial"/>
              </a:rPr>
              <a:t>e</a:t>
            </a:r>
            <a:r>
              <a:rPr dirty="0" sz="3200" spc="-45">
                <a:latin typeface="Arial"/>
                <a:cs typeface="Arial"/>
              </a:rPr>
              <a:t>i</a:t>
            </a:r>
            <a:r>
              <a:rPr dirty="0" sz="3200" spc="-95">
                <a:latin typeface="Arial"/>
                <a:cs typeface="Arial"/>
              </a:rPr>
              <a:t>g</a:t>
            </a:r>
            <a:r>
              <a:rPr dirty="0" sz="3200" spc="-15">
                <a:latin typeface="Arial"/>
                <a:cs typeface="Arial"/>
              </a:rPr>
              <a:t>h</a:t>
            </a:r>
            <a:r>
              <a:rPr dirty="0" sz="3200" spc="-5">
                <a:latin typeface="Arial"/>
                <a:cs typeface="Arial"/>
              </a:rPr>
              <a:t>b</a:t>
            </a:r>
            <a:r>
              <a:rPr dirty="0" sz="3200" spc="-10">
                <a:latin typeface="Arial"/>
                <a:cs typeface="Arial"/>
              </a:rPr>
              <a:t>o</a:t>
            </a:r>
            <a:r>
              <a:rPr dirty="0" sz="3200" spc="-85">
                <a:latin typeface="Arial"/>
                <a:cs typeface="Arial"/>
              </a:rPr>
              <a:t>u</a:t>
            </a:r>
            <a:r>
              <a:rPr dirty="0" sz="3200" spc="-45">
                <a:latin typeface="Arial"/>
                <a:cs typeface="Arial"/>
              </a:rPr>
              <a:t>r</a:t>
            </a:r>
            <a:r>
              <a:rPr dirty="0" sz="3200" spc="-45">
                <a:latin typeface="Arial"/>
                <a:cs typeface="Arial"/>
              </a:rPr>
              <a:t>h</a:t>
            </a:r>
            <a:r>
              <a:rPr dirty="0" sz="3200" spc="-40">
                <a:latin typeface="Arial"/>
                <a:cs typeface="Arial"/>
              </a:rPr>
              <a:t>o</a:t>
            </a:r>
            <a:r>
              <a:rPr dirty="0" sz="3200" spc="-10">
                <a:latin typeface="Arial"/>
                <a:cs typeface="Arial"/>
              </a:rPr>
              <a:t>o</a:t>
            </a:r>
            <a:r>
              <a:rPr dirty="0" sz="3200" spc="50">
                <a:latin typeface="Arial"/>
                <a:cs typeface="Arial"/>
              </a:rPr>
              <a:t>d</a:t>
            </a:r>
            <a:endParaRPr sz="3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526023" y="1865376"/>
            <a:ext cx="2758439" cy="24109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47395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605301" y="1946172"/>
            <a:ext cx="528320" cy="376555"/>
          </a:xfrm>
          <a:custGeom>
            <a:avLst/>
            <a:gdLst/>
            <a:ahLst/>
            <a:cxnLst/>
            <a:rect l="l" t="t" r="r" b="b"/>
            <a:pathLst>
              <a:path w="528320" h="376555">
                <a:moveTo>
                  <a:pt x="407772" y="0"/>
                </a:moveTo>
                <a:lnTo>
                  <a:pt x="402414" y="15279"/>
                </a:lnTo>
                <a:lnTo>
                  <a:pt x="424205" y="24736"/>
                </a:lnTo>
                <a:lnTo>
                  <a:pt x="442945" y="37826"/>
                </a:lnTo>
                <a:lnTo>
                  <a:pt x="471272" y="74909"/>
                </a:lnTo>
                <a:lnTo>
                  <a:pt x="487941" y="124940"/>
                </a:lnTo>
                <a:lnTo>
                  <a:pt x="493497" y="186331"/>
                </a:lnTo>
                <a:lnTo>
                  <a:pt x="492102" y="219533"/>
                </a:lnTo>
                <a:lnTo>
                  <a:pt x="480940" y="276782"/>
                </a:lnTo>
                <a:lnTo>
                  <a:pt x="458541" y="321493"/>
                </a:lnTo>
                <a:lnTo>
                  <a:pt x="424459" y="351655"/>
                </a:lnTo>
                <a:lnTo>
                  <a:pt x="403010" y="361156"/>
                </a:lnTo>
                <a:lnTo>
                  <a:pt x="407772" y="376435"/>
                </a:lnTo>
                <a:lnTo>
                  <a:pt x="459118" y="352349"/>
                </a:lnTo>
                <a:lnTo>
                  <a:pt x="496870" y="310653"/>
                </a:lnTo>
                <a:lnTo>
                  <a:pt x="520088" y="254818"/>
                </a:lnTo>
                <a:lnTo>
                  <a:pt x="527827" y="188316"/>
                </a:lnTo>
                <a:lnTo>
                  <a:pt x="525886" y="153807"/>
                </a:lnTo>
                <a:lnTo>
                  <a:pt x="510358" y="92638"/>
                </a:lnTo>
                <a:lnTo>
                  <a:pt x="479563" y="42843"/>
                </a:lnTo>
                <a:lnTo>
                  <a:pt x="435063" y="9853"/>
                </a:lnTo>
                <a:lnTo>
                  <a:pt x="407772" y="0"/>
                </a:lnTo>
                <a:close/>
              </a:path>
              <a:path w="5283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8001000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  <a:tabLst>
                <a:tab pos="6238240" algn="l"/>
              </a:tabLst>
            </a:pP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Biased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fixed-length random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walk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𝑹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that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given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a 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𝒖 </a:t>
            </a:r>
            <a:r>
              <a:rPr dirty="0" spc="-25" b="1">
                <a:solidFill>
                  <a:srgbClr val="C00000"/>
                </a:solidFill>
                <a:latin typeface="Calibri"/>
                <a:cs typeface="Calibri"/>
              </a:rPr>
              <a:t>generates</a:t>
            </a:r>
            <a:r>
              <a:rPr dirty="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neighborhood</a:t>
            </a:r>
            <a:r>
              <a:rPr dirty="0" spc="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𝑵</a:t>
            </a:r>
            <a:r>
              <a:rPr dirty="0" baseline="-15700" sz="3450">
                <a:solidFill>
                  <a:srgbClr val="C00000"/>
                </a:solidFill>
                <a:latin typeface="Cambria Math"/>
                <a:cs typeface="Cambria Math"/>
              </a:rPr>
              <a:t>𝑹	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𝒖</a:t>
            </a:r>
            <a:endParaRPr sz="3200">
              <a:latin typeface="Cambria Math"/>
              <a:cs typeface="Cambria Math"/>
            </a:endParaRPr>
          </a:p>
          <a:p>
            <a:pPr marL="451484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pc="-60"/>
              <a:t>Two </a:t>
            </a:r>
            <a:r>
              <a:rPr dirty="0" spc="-20"/>
              <a:t>parameters: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956563" y="2804329"/>
            <a:ext cx="5574030" cy="237807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Return parameter</a:t>
            </a:r>
            <a:r>
              <a:rPr dirty="0" sz="2800" spc="-3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00FF"/>
                </a:solidFill>
                <a:latin typeface="Cambria Math"/>
                <a:cs typeface="Cambria Math"/>
              </a:rPr>
              <a:t>𝒑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Return </a:t>
            </a:r>
            <a:r>
              <a:rPr dirty="0" sz="2400" spc="-5">
                <a:latin typeface="Calibri"/>
                <a:cs typeface="Calibri"/>
              </a:rPr>
              <a:t>back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previous</a:t>
            </a:r>
            <a:r>
              <a:rPr dirty="0" sz="2400" spc="-5">
                <a:latin typeface="Calibri"/>
                <a:cs typeface="Calibri"/>
              </a:rPr>
              <a:t> node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In-out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parameter</a:t>
            </a:r>
            <a:r>
              <a:rPr dirty="0" sz="2800" spc="-4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00FF"/>
                </a:solidFill>
                <a:latin typeface="Cambria Math"/>
                <a:cs typeface="Cambria Math"/>
              </a:rPr>
              <a:t>𝒒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Moving </a:t>
            </a:r>
            <a:r>
              <a:rPr dirty="0" sz="2400" spc="-10">
                <a:latin typeface="Calibri"/>
                <a:cs typeface="Calibri"/>
              </a:rPr>
              <a:t>outwards </a:t>
            </a:r>
            <a:r>
              <a:rPr dirty="0" sz="2400" spc="-15">
                <a:latin typeface="Calibri"/>
                <a:cs typeface="Calibri"/>
              </a:rPr>
              <a:t>(DFS) </a:t>
            </a:r>
            <a:r>
              <a:rPr dirty="0" sz="2400" spc="-5">
                <a:latin typeface="Calibri"/>
                <a:cs typeface="Calibri"/>
              </a:rPr>
              <a:t>vs. </a:t>
            </a:r>
            <a:r>
              <a:rPr dirty="0" sz="2400" spc="-15">
                <a:latin typeface="Calibri"/>
                <a:cs typeface="Calibri"/>
              </a:rPr>
              <a:t>inwards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85">
                <a:latin typeface="Calibri"/>
                <a:cs typeface="Calibri"/>
              </a:rPr>
              <a:t>(BFS)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25">
                <a:latin typeface="Calibri"/>
                <a:cs typeface="Calibri"/>
              </a:rPr>
              <a:t>Intuitively, </a:t>
            </a:r>
            <a:r>
              <a:rPr dirty="0" sz="2400">
                <a:latin typeface="Cambria Math"/>
                <a:cs typeface="Cambria Math"/>
              </a:rPr>
              <a:t>𝑞 </a:t>
            </a:r>
            <a:r>
              <a:rPr dirty="0" sz="2400" spc="-5">
                <a:latin typeface="Calibri"/>
                <a:cs typeface="Calibri"/>
              </a:rPr>
              <a:t>is the </a:t>
            </a:r>
            <a:r>
              <a:rPr dirty="0" sz="2400" spc="-15">
                <a:latin typeface="Calibri"/>
                <a:cs typeface="Calibri"/>
              </a:rPr>
              <a:t>“ratio”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20">
                <a:latin typeface="Calibri"/>
                <a:cs typeface="Calibri"/>
              </a:rPr>
              <a:t>BFS </a:t>
            </a:r>
            <a:r>
              <a:rPr dirty="0" sz="2400" spc="-5">
                <a:latin typeface="Calibri"/>
                <a:cs typeface="Calibri"/>
              </a:rPr>
              <a:t>vs.</a:t>
            </a:r>
            <a:r>
              <a:rPr dirty="0" sz="2400" spc="9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DFS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38886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17500" marR="5080">
              <a:lnSpc>
                <a:spcPts val="3790"/>
              </a:lnSpc>
              <a:spcBef>
                <a:spcPts val="265"/>
              </a:spcBef>
            </a:pP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Biased 2</a:t>
            </a:r>
            <a:r>
              <a:rPr dirty="0" baseline="26455" sz="3150" spc="-7" b="1">
                <a:solidFill>
                  <a:srgbClr val="C00000"/>
                </a:solidFill>
                <a:latin typeface="Calibri"/>
                <a:cs typeface="Calibri"/>
              </a:rPr>
              <a:t>nd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-order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random walks explore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network 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neighborhoods: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8963" y="5919723"/>
            <a:ext cx="63811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latin typeface="Calibri"/>
                <a:cs typeface="Calibri"/>
              </a:rPr>
              <a:t>Idea: </a:t>
            </a:r>
            <a:r>
              <a:rPr dirty="0" sz="2800" spc="-10">
                <a:latin typeface="Calibri"/>
                <a:cs typeface="Calibri"/>
              </a:rPr>
              <a:t>Remember </a:t>
            </a:r>
            <a:r>
              <a:rPr dirty="0" sz="2800" spc="-15">
                <a:latin typeface="Calibri"/>
                <a:cs typeface="Calibri"/>
              </a:rPr>
              <a:t>where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walk </a:t>
            </a:r>
            <a:r>
              <a:rPr dirty="0" sz="2800" spc="-10">
                <a:latin typeface="Calibri"/>
                <a:cs typeface="Calibri"/>
              </a:rPr>
              <a:t>came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from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95537" y="3937469"/>
            <a:ext cx="4564275" cy="1856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63149" y="3935984"/>
            <a:ext cx="31623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70">
                <a:latin typeface="Arial"/>
                <a:cs typeface="Arial"/>
              </a:rPr>
              <a:t>s</a:t>
            </a:r>
            <a:r>
              <a:rPr dirty="0" baseline="-18518" sz="2700" spc="-7">
                <a:latin typeface="Arial"/>
                <a:cs typeface="Arial"/>
              </a:rPr>
              <a:t>2</a:t>
            </a:r>
            <a:endParaRPr baseline="-18518"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4973779" y="4518152"/>
            <a:ext cx="2800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50">
                <a:latin typeface="Arial"/>
                <a:cs typeface="Arial"/>
              </a:rPr>
              <a:t>w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2330" y="5277103"/>
            <a:ext cx="2095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5">
                <a:latin typeface="Arial"/>
                <a:cs typeface="Arial"/>
              </a:rPr>
              <a:t>u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4426" y="5210047"/>
            <a:ext cx="1445260" cy="68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140"/>
              </a:lnSpc>
              <a:spcBef>
                <a:spcPts val="100"/>
              </a:spcBef>
            </a:pPr>
            <a:r>
              <a:rPr dirty="0" sz="2700" spc="-35">
                <a:latin typeface="Arial"/>
                <a:cs typeface="Arial"/>
              </a:rPr>
              <a:t>s</a:t>
            </a:r>
            <a:r>
              <a:rPr dirty="0" baseline="-18518" sz="2700" spc="-52">
                <a:latin typeface="Arial"/>
                <a:cs typeface="Arial"/>
              </a:rPr>
              <a:t>1</a:t>
            </a:r>
            <a:endParaRPr baseline="-18518" sz="2700">
              <a:latin typeface="Arial"/>
              <a:cs typeface="Arial"/>
            </a:endParaRPr>
          </a:p>
          <a:p>
            <a:pPr marL="391795">
              <a:lnSpc>
                <a:spcPts val="2060"/>
              </a:lnSpc>
            </a:pPr>
            <a:r>
              <a:rPr dirty="0" sz="1750" spc="10">
                <a:solidFill>
                  <a:srgbClr val="0070C0"/>
                </a:solidFill>
                <a:latin typeface="Arial"/>
                <a:cs typeface="Arial"/>
              </a:rPr>
              <a:t>Back </a:t>
            </a:r>
            <a:r>
              <a:rPr dirty="0" sz="1750" spc="30">
                <a:solidFill>
                  <a:srgbClr val="0070C0"/>
                </a:solidFill>
                <a:latin typeface="Arial"/>
                <a:cs typeface="Arial"/>
              </a:rPr>
              <a:t>to</a:t>
            </a:r>
            <a:r>
              <a:rPr dirty="0" sz="1750" spc="-7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70C0"/>
                </a:solidFill>
                <a:latin typeface="Cambria Math"/>
                <a:cs typeface="Cambria Math"/>
              </a:rPr>
              <a:t>𝒔</a:t>
            </a:r>
            <a:r>
              <a:rPr dirty="0" baseline="-14957" sz="1950" spc="-7">
                <a:solidFill>
                  <a:srgbClr val="0070C0"/>
                </a:solidFill>
                <a:latin typeface="Cambria Math"/>
                <a:cs typeface="Cambria Math"/>
              </a:rPr>
              <a:t>𝟏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6563" y="2332227"/>
            <a:ext cx="7969250" cy="158242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Rnd. </a:t>
            </a:r>
            <a:r>
              <a:rPr dirty="0" sz="2800" spc="-15">
                <a:latin typeface="Calibri"/>
                <a:cs typeface="Calibri"/>
              </a:rPr>
              <a:t>walk </a:t>
            </a:r>
            <a:r>
              <a:rPr dirty="0" sz="2800" spc="-10">
                <a:latin typeface="Calibri"/>
                <a:cs typeface="Calibri"/>
              </a:rPr>
              <a:t>just </a:t>
            </a:r>
            <a:r>
              <a:rPr dirty="0" sz="2800" spc="-30">
                <a:latin typeface="Calibri"/>
                <a:cs typeface="Calibri"/>
              </a:rPr>
              <a:t>traversed </a:t>
            </a:r>
            <a:r>
              <a:rPr dirty="0" sz="2800" spc="-15">
                <a:latin typeface="Calibri"/>
                <a:cs typeface="Calibri"/>
              </a:rPr>
              <a:t>edge </a:t>
            </a:r>
            <a:r>
              <a:rPr dirty="0" sz="2800">
                <a:latin typeface="Cambria Math"/>
                <a:cs typeface="Cambria Math"/>
              </a:rPr>
              <a:t>(𝑠</a:t>
            </a:r>
            <a:r>
              <a:rPr dirty="0" baseline="-16666" sz="3000">
                <a:latin typeface="Cambria Math"/>
                <a:cs typeface="Cambria Math"/>
              </a:rPr>
              <a:t>7</a:t>
            </a:r>
            <a:r>
              <a:rPr dirty="0" sz="2800">
                <a:latin typeface="Cambria Math"/>
                <a:cs typeface="Cambria Math"/>
              </a:rPr>
              <a:t>, </a:t>
            </a:r>
            <a:r>
              <a:rPr dirty="0" sz="2800" spc="30">
                <a:latin typeface="Cambria Math"/>
                <a:cs typeface="Cambria Math"/>
              </a:rPr>
              <a:t>𝑤) </a:t>
            </a:r>
            <a:r>
              <a:rPr dirty="0" sz="2800" spc="-5">
                <a:latin typeface="Calibri"/>
                <a:cs typeface="Calibri"/>
              </a:rPr>
              <a:t>and is now </a:t>
            </a:r>
            <a:r>
              <a:rPr dirty="0" sz="2800" spc="-15">
                <a:latin typeface="Calibri"/>
                <a:cs typeface="Calibri"/>
              </a:rPr>
              <a:t>at  </a:t>
            </a:r>
            <a:r>
              <a:rPr dirty="0" sz="2800" spc="-220">
                <a:solidFill>
                  <a:srgbClr val="008000"/>
                </a:solidFill>
                <a:latin typeface="Cambria Math"/>
                <a:cs typeface="Cambria Math"/>
              </a:rPr>
              <a:t>𝑤</a:t>
            </a:r>
            <a:endParaRPr sz="28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Insight: </a:t>
            </a:r>
            <a:r>
              <a:rPr dirty="0" sz="2800" spc="-10">
                <a:latin typeface="Calibri"/>
                <a:cs typeface="Calibri"/>
              </a:rPr>
              <a:t>Neighbors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𝑤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5">
                <a:latin typeface="Calibri"/>
                <a:cs typeface="Calibri"/>
              </a:rPr>
              <a:t>only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be:</a:t>
            </a:r>
            <a:endParaRPr sz="2800">
              <a:latin typeface="Calibri"/>
              <a:cs typeface="Calibri"/>
            </a:endParaRPr>
          </a:p>
          <a:p>
            <a:pPr marL="2228215">
              <a:lnSpc>
                <a:spcPct val="100000"/>
              </a:lnSpc>
              <a:spcBef>
                <a:spcPts val="2080"/>
              </a:spcBef>
            </a:pPr>
            <a:r>
              <a:rPr dirty="0" sz="1750" spc="-20">
                <a:solidFill>
                  <a:srgbClr val="FF0000"/>
                </a:solidFill>
                <a:latin typeface="Arial"/>
                <a:cs typeface="Arial"/>
              </a:rPr>
              <a:t>Same </a:t>
            </a:r>
            <a:r>
              <a:rPr dirty="0" sz="1750">
                <a:solidFill>
                  <a:srgbClr val="FF0000"/>
                </a:solidFill>
                <a:latin typeface="Arial"/>
                <a:cs typeface="Arial"/>
              </a:rPr>
              <a:t>distance </a:t>
            </a:r>
            <a:r>
              <a:rPr dirty="0" sz="1750" spc="3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7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FF0000"/>
                </a:solidFill>
                <a:latin typeface="Cambria Math"/>
                <a:cs typeface="Cambria Math"/>
              </a:rPr>
              <a:t>𝒔</a:t>
            </a:r>
            <a:r>
              <a:rPr dirty="0" baseline="-14957" sz="1950" spc="-7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1875" y="3900170"/>
            <a:ext cx="1511935" cy="1004569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2700" spc="-35">
                <a:latin typeface="Arial"/>
                <a:cs typeface="Arial"/>
              </a:rPr>
              <a:t>s</a:t>
            </a:r>
            <a:r>
              <a:rPr dirty="0" baseline="-18518" sz="2700" spc="-52">
                <a:latin typeface="Arial"/>
                <a:cs typeface="Arial"/>
              </a:rPr>
              <a:t>3</a:t>
            </a:r>
            <a:endParaRPr baseline="-18518" sz="27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919"/>
              </a:spcBef>
            </a:pPr>
            <a:r>
              <a:rPr dirty="0" sz="1750" spc="-30">
                <a:solidFill>
                  <a:srgbClr val="9A3130"/>
                </a:solidFill>
                <a:latin typeface="Arial"/>
                <a:cs typeface="Arial"/>
              </a:rPr>
              <a:t>Farther </a:t>
            </a:r>
            <a:r>
              <a:rPr dirty="0" sz="1750" spc="-5">
                <a:solidFill>
                  <a:srgbClr val="9A3130"/>
                </a:solidFill>
                <a:latin typeface="Arial"/>
                <a:cs typeface="Arial"/>
              </a:rPr>
              <a:t>from</a:t>
            </a:r>
            <a:r>
              <a:rPr dirty="0" sz="1750" spc="10">
                <a:solidFill>
                  <a:srgbClr val="9A313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9A3130"/>
                </a:solidFill>
                <a:latin typeface="Cambria Math"/>
                <a:cs typeface="Cambria Math"/>
              </a:rPr>
              <a:t>𝒔</a:t>
            </a:r>
            <a:r>
              <a:rPr dirty="0" baseline="-14957" sz="1950" spc="-7">
                <a:solidFill>
                  <a:srgbClr val="9A3130"/>
                </a:solidFill>
                <a:latin typeface="Cambria Math"/>
                <a:cs typeface="Cambria Math"/>
              </a:rPr>
              <a:t>𝟏</a:t>
            </a:r>
            <a:endParaRPr baseline="-1495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38886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63395"/>
            <a:ext cx="7576184" cy="1068070"/>
          </a:xfrm>
          <a:prstGeom prst="rect"/>
        </p:spPr>
        <p:txBody>
          <a:bodyPr wrap="square" lIns="0" tIns="463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3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40" b="1">
                <a:latin typeface="Calibri"/>
                <a:cs typeface="Calibri"/>
              </a:rPr>
              <a:t>Walker </a:t>
            </a:r>
            <a:r>
              <a:rPr dirty="0" spc="-10" b="1">
                <a:latin typeface="Calibri"/>
                <a:cs typeface="Calibri"/>
              </a:rPr>
              <a:t>came over </a:t>
            </a:r>
            <a:r>
              <a:rPr dirty="0" spc="-15" b="1">
                <a:latin typeface="Calibri"/>
                <a:cs typeface="Calibri"/>
              </a:rPr>
              <a:t>edge </a:t>
            </a:r>
            <a:r>
              <a:rPr dirty="0" spc="15">
                <a:latin typeface="Cambria Math"/>
                <a:cs typeface="Cambria Math"/>
              </a:rPr>
              <a:t>(𝐬</a:t>
            </a:r>
            <a:r>
              <a:rPr dirty="0" baseline="-15700" sz="3450" spc="22">
                <a:latin typeface="Cambria Math"/>
                <a:cs typeface="Cambria Math"/>
              </a:rPr>
              <a:t>𝟏</a:t>
            </a:r>
            <a:r>
              <a:rPr dirty="0" sz="3200" spc="15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𝐰</a:t>
            </a:r>
            <a:r>
              <a:rPr dirty="0" sz="3200" b="1">
                <a:latin typeface="Calibri"/>
                <a:cs typeface="Calibri"/>
              </a:rPr>
              <a:t>) </a:t>
            </a:r>
            <a:r>
              <a:rPr dirty="0" sz="3200" spc="-5" b="1">
                <a:latin typeface="Calibri"/>
                <a:cs typeface="Calibri"/>
              </a:rPr>
              <a:t>and </a:t>
            </a:r>
            <a:r>
              <a:rPr dirty="0" sz="3200" b="1">
                <a:latin typeface="Calibri"/>
                <a:cs typeface="Calibri"/>
              </a:rPr>
              <a:t>is </a:t>
            </a:r>
            <a:r>
              <a:rPr dirty="0" sz="3200" spc="-20" b="1">
                <a:latin typeface="Calibri"/>
                <a:cs typeface="Calibri"/>
              </a:rPr>
              <a:t>at</a:t>
            </a:r>
            <a:r>
              <a:rPr dirty="0" sz="3200" spc="-150" b="1"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𝐰</a:t>
            </a:r>
            <a:r>
              <a:rPr dirty="0" sz="3200" b="1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265"/>
              </a:spcBef>
            </a:pPr>
            <a:r>
              <a:rPr dirty="0" spc="-15" b="1">
                <a:latin typeface="Calibri"/>
                <a:cs typeface="Calibri"/>
              </a:rPr>
              <a:t>Where to </a:t>
            </a:r>
            <a:r>
              <a:rPr dirty="0" spc="-20" b="1">
                <a:latin typeface="Calibri"/>
                <a:cs typeface="Calibri"/>
              </a:rPr>
              <a:t>go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spc="-15" b="1">
                <a:latin typeface="Calibri"/>
                <a:cs typeface="Calibri"/>
              </a:rPr>
              <a:t>next?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4549866"/>
            <a:ext cx="5933440" cy="150558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10">
                <a:solidFill>
                  <a:srgbClr val="0070C0"/>
                </a:solidFill>
                <a:latin typeface="Cambria Math"/>
                <a:cs typeface="Cambria Math"/>
              </a:rPr>
              <a:t>𝑝</a:t>
            </a:r>
            <a:r>
              <a:rPr dirty="0" sz="3200" spc="10">
                <a:latin typeface="Cambria Math"/>
                <a:cs typeface="Cambria Math"/>
              </a:rPr>
              <a:t>, </a:t>
            </a:r>
            <a:r>
              <a:rPr dirty="0" sz="3200">
                <a:solidFill>
                  <a:srgbClr val="9A3130"/>
                </a:solidFill>
                <a:latin typeface="Cambria Math"/>
                <a:cs typeface="Cambria Math"/>
              </a:rPr>
              <a:t>𝑞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transition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probabilities</a:t>
            </a:r>
            <a:endParaRPr sz="3200">
              <a:latin typeface="Calibri"/>
              <a:cs typeface="Calibri"/>
            </a:endParaRPr>
          </a:p>
          <a:p>
            <a:pPr lvl="1" marL="643890" indent="-457200">
              <a:lnSpc>
                <a:spcPct val="100000"/>
              </a:lnSpc>
              <a:spcBef>
                <a:spcPts val="350"/>
              </a:spcBef>
              <a:buClr>
                <a:srgbClr val="60B5CC"/>
              </a:buClr>
              <a:buFont typeface="Malgun Gothic"/>
              <a:buChar char="▪"/>
              <a:tabLst>
                <a:tab pos="643255" algn="l"/>
                <a:tab pos="643890" algn="l"/>
              </a:tabLst>
            </a:pP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𝑝 </a:t>
            </a:r>
            <a:r>
              <a:rPr dirty="0" sz="2800">
                <a:latin typeface="Calibri"/>
                <a:cs typeface="Calibri"/>
              </a:rPr>
              <a:t>… </a:t>
            </a:r>
            <a:r>
              <a:rPr dirty="0" sz="2800" spc="-15">
                <a:latin typeface="Calibri"/>
                <a:cs typeface="Calibri"/>
              </a:rPr>
              <a:t>return parameter</a:t>
            </a:r>
            <a:endParaRPr sz="2800">
              <a:latin typeface="Calibri"/>
              <a:cs typeface="Calibri"/>
            </a:endParaRPr>
          </a:p>
          <a:p>
            <a:pPr lvl="1" marL="643890" indent="-457200">
              <a:lnSpc>
                <a:spcPct val="100000"/>
              </a:lnSpc>
              <a:spcBef>
                <a:spcPts val="335"/>
              </a:spcBef>
              <a:buClr>
                <a:srgbClr val="60B5CC"/>
              </a:buClr>
              <a:buFont typeface="Malgun Gothic"/>
              <a:buChar char="▪"/>
              <a:tabLst>
                <a:tab pos="643255" algn="l"/>
                <a:tab pos="643890" algn="l"/>
              </a:tabLst>
            </a:pPr>
            <a:r>
              <a:rPr dirty="0" sz="2800">
                <a:solidFill>
                  <a:srgbClr val="9A3130"/>
                </a:solidFill>
                <a:latin typeface="Cambria Math"/>
                <a:cs typeface="Cambria Math"/>
              </a:rPr>
              <a:t>𝑞 </a:t>
            </a:r>
            <a:r>
              <a:rPr dirty="0" sz="2800">
                <a:latin typeface="Calibri"/>
                <a:cs typeface="Calibri"/>
              </a:rPr>
              <a:t>… </a:t>
            </a:r>
            <a:r>
              <a:rPr dirty="0" sz="2800" spc="-20">
                <a:latin typeface="Calibri"/>
                <a:cs typeface="Calibri"/>
              </a:rPr>
              <a:t>”walk </a:t>
            </a:r>
            <a:r>
              <a:rPr dirty="0" sz="2800" spc="-10">
                <a:latin typeface="Calibri"/>
                <a:cs typeface="Calibri"/>
              </a:rPr>
              <a:t>away”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parameter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1089" y="2541523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2741" y="3492500"/>
            <a:ext cx="507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9A3130"/>
                </a:solidFill>
                <a:latin typeface="Cambria Math"/>
                <a:cs typeface="Cambria Math"/>
              </a:rPr>
              <a:t>1/</a:t>
            </a:r>
            <a:r>
              <a:rPr dirty="0" sz="2400">
                <a:solidFill>
                  <a:srgbClr val="9A3130"/>
                </a:solidFill>
                <a:latin typeface="Cambria Math"/>
                <a:cs typeface="Cambria Math"/>
              </a:rPr>
              <a:t>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8724" y="3964940"/>
            <a:ext cx="5130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70C0"/>
                </a:solidFill>
                <a:latin typeface="Cambria Math"/>
                <a:cs typeface="Cambria Math"/>
              </a:rPr>
              <a:t>1/</a:t>
            </a:r>
            <a:r>
              <a:rPr dirty="0" sz="2400">
                <a:solidFill>
                  <a:srgbClr val="0070C0"/>
                </a:solidFill>
                <a:latin typeface="Cambria Math"/>
                <a:cs typeface="Cambria Math"/>
              </a:rPr>
              <a:t>𝑝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12020" y="2841243"/>
            <a:ext cx="2166620" cy="1303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</a:pP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1/𝑝, </a:t>
            </a:r>
            <a:r>
              <a:rPr dirty="0" sz="2400" spc="5">
                <a:solidFill>
                  <a:srgbClr val="008000"/>
                </a:solidFill>
                <a:latin typeface="Cambria Math"/>
                <a:cs typeface="Cambria Math"/>
              </a:rPr>
              <a:t>1/𝑞,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1 </a:t>
            </a:r>
            <a:r>
              <a:rPr dirty="0" sz="2800">
                <a:solidFill>
                  <a:srgbClr val="008000"/>
                </a:solidFill>
                <a:latin typeface="Arial"/>
                <a:cs typeface="Arial"/>
              </a:rPr>
              <a:t>are  </a:t>
            </a:r>
            <a:r>
              <a:rPr dirty="0" sz="2800" spc="0">
                <a:solidFill>
                  <a:srgbClr val="008000"/>
                </a:solidFill>
                <a:latin typeface="Arial"/>
                <a:cs typeface="Arial"/>
              </a:rPr>
              <a:t>unnorma</a:t>
            </a:r>
            <a:r>
              <a:rPr dirty="0" sz="2800">
                <a:solidFill>
                  <a:srgbClr val="008000"/>
                </a:solidFill>
                <a:latin typeface="Arial"/>
                <a:cs typeface="Arial"/>
              </a:rPr>
              <a:t>liz</a:t>
            </a:r>
            <a:r>
              <a:rPr dirty="0" sz="2800" spc="0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dirty="0" sz="2800">
                <a:solidFill>
                  <a:srgbClr val="008000"/>
                </a:solidFill>
                <a:latin typeface="Arial"/>
                <a:cs typeface="Arial"/>
              </a:rPr>
              <a:t>d  </a:t>
            </a:r>
            <a:r>
              <a:rPr dirty="0" sz="2800" spc="-5">
                <a:solidFill>
                  <a:srgbClr val="008000"/>
                </a:solidFill>
                <a:latin typeface="Arial"/>
                <a:cs typeface="Arial"/>
              </a:rPr>
              <a:t>probabilities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81137" y="2577134"/>
            <a:ext cx="4564275" cy="1887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900025" y="3850640"/>
            <a:ext cx="31623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70">
                <a:latin typeface="Arial"/>
                <a:cs typeface="Arial"/>
              </a:rPr>
              <a:t>s</a:t>
            </a:r>
            <a:r>
              <a:rPr dirty="0" baseline="-18518" sz="2700" spc="-7">
                <a:latin typeface="Arial"/>
                <a:cs typeface="Arial"/>
              </a:rPr>
              <a:t>1</a:t>
            </a:r>
            <a:endParaRPr baseline="-18518" sz="27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2948749" y="2576576"/>
            <a:ext cx="31623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70">
                <a:latin typeface="Arial"/>
                <a:cs typeface="Arial"/>
              </a:rPr>
              <a:t>s</a:t>
            </a:r>
            <a:r>
              <a:rPr dirty="0" baseline="-18518" sz="2700" spc="-7">
                <a:latin typeface="Arial"/>
                <a:cs typeface="Arial"/>
              </a:rPr>
              <a:t>2</a:t>
            </a:r>
            <a:endParaRPr baseline="-18518"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9379" y="3158744"/>
            <a:ext cx="2800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50">
                <a:latin typeface="Arial"/>
                <a:cs typeface="Arial"/>
              </a:rPr>
              <a:t>w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87475" y="2716783"/>
            <a:ext cx="1905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5">
                <a:latin typeface="Arial"/>
                <a:cs typeface="Arial"/>
              </a:rPr>
              <a:t>s</a:t>
            </a:r>
            <a:endParaRPr sz="2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50988" y="290728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77930" y="3917696"/>
            <a:ext cx="2095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5">
                <a:latin typeface="Arial"/>
                <a:cs typeface="Arial"/>
              </a:rPr>
              <a:t>u</a:t>
            </a:r>
            <a:endParaRPr sz="2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47525" y="3948176"/>
            <a:ext cx="1905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5">
                <a:latin typeface="Arial"/>
                <a:cs typeface="Arial"/>
              </a:rPr>
              <a:t>s</a:t>
            </a:r>
            <a:endParaRPr sz="2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11038" y="413867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1169" y="2757932"/>
            <a:ext cx="507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9A3130"/>
                </a:solidFill>
                <a:latin typeface="Cambria Math"/>
                <a:cs typeface="Cambria Math"/>
              </a:rPr>
              <a:t>1/</a:t>
            </a:r>
            <a:r>
              <a:rPr dirty="0" sz="2400">
                <a:solidFill>
                  <a:srgbClr val="9A3130"/>
                </a:solidFill>
                <a:latin typeface="Cambria Math"/>
                <a:cs typeface="Cambria Math"/>
              </a:rPr>
              <a:t>𝑞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38886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761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40" b="1">
                <a:latin typeface="Calibri"/>
                <a:cs typeface="Calibri"/>
              </a:rPr>
              <a:t>Walker </a:t>
            </a:r>
            <a:r>
              <a:rPr dirty="0" spc="-10" b="1">
                <a:latin typeface="Calibri"/>
                <a:cs typeface="Calibri"/>
              </a:rPr>
              <a:t>came over </a:t>
            </a:r>
            <a:r>
              <a:rPr dirty="0" spc="-15" b="1">
                <a:latin typeface="Calibri"/>
                <a:cs typeface="Calibri"/>
              </a:rPr>
              <a:t>edge </a:t>
            </a:r>
            <a:r>
              <a:rPr dirty="0" spc="15">
                <a:latin typeface="Cambria Math"/>
                <a:cs typeface="Cambria Math"/>
              </a:rPr>
              <a:t>(𝐬</a:t>
            </a:r>
            <a:r>
              <a:rPr dirty="0" baseline="-15700" sz="3450" spc="22">
                <a:latin typeface="Cambria Math"/>
                <a:cs typeface="Cambria Math"/>
              </a:rPr>
              <a:t>𝟏</a:t>
            </a:r>
            <a:r>
              <a:rPr dirty="0" sz="3200" spc="15">
                <a:latin typeface="Cambria Math"/>
                <a:cs typeface="Cambria Math"/>
              </a:rPr>
              <a:t>, </a:t>
            </a:r>
            <a:r>
              <a:rPr dirty="0" sz="3200">
                <a:latin typeface="Cambria Math"/>
                <a:cs typeface="Cambria Math"/>
              </a:rPr>
              <a:t>𝐰</a:t>
            </a:r>
            <a:r>
              <a:rPr dirty="0" sz="3200" b="1">
                <a:latin typeface="Calibri"/>
                <a:cs typeface="Calibri"/>
              </a:rPr>
              <a:t>) </a:t>
            </a:r>
            <a:r>
              <a:rPr dirty="0" sz="3200" spc="-5" b="1">
                <a:latin typeface="Calibri"/>
                <a:cs typeface="Calibri"/>
              </a:rPr>
              <a:t>and </a:t>
            </a:r>
            <a:r>
              <a:rPr dirty="0" sz="3200" b="1">
                <a:latin typeface="Calibri"/>
                <a:cs typeface="Calibri"/>
              </a:rPr>
              <a:t>is </a:t>
            </a:r>
            <a:r>
              <a:rPr dirty="0" sz="3200" spc="-20" b="1">
                <a:latin typeface="Calibri"/>
                <a:cs typeface="Calibri"/>
              </a:rPr>
              <a:t>at</a:t>
            </a:r>
            <a:r>
              <a:rPr dirty="0" sz="3200" spc="-150" b="1"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𝐰</a:t>
            </a:r>
            <a:r>
              <a:rPr dirty="0" sz="3200" b="1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149" y="1933956"/>
            <a:ext cx="31337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 b="1">
                <a:latin typeface="Calibri"/>
                <a:cs typeface="Calibri"/>
              </a:rPr>
              <a:t>Where to </a:t>
            </a:r>
            <a:r>
              <a:rPr dirty="0" sz="3200" spc="-20" b="1">
                <a:latin typeface="Calibri"/>
                <a:cs typeface="Calibri"/>
              </a:rPr>
              <a:t>go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next?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4987035"/>
            <a:ext cx="4483100" cy="10439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 b="1">
                <a:latin typeface="Calibri"/>
                <a:cs typeface="Calibri"/>
              </a:rPr>
              <a:t>BFS-like </a:t>
            </a:r>
            <a:r>
              <a:rPr dirty="0" sz="2800" spc="-10">
                <a:latin typeface="Calibri"/>
                <a:cs typeface="Calibri"/>
              </a:rPr>
              <a:t>walk: Low </a:t>
            </a:r>
            <a:r>
              <a:rPr dirty="0" sz="2800" spc="-15">
                <a:latin typeface="Calibri"/>
                <a:cs typeface="Calibri"/>
              </a:rPr>
              <a:t>value </a:t>
            </a:r>
            <a:r>
              <a:rPr dirty="0" sz="2800" spc="-5">
                <a:latin typeface="Calibri"/>
                <a:cs typeface="Calibri"/>
              </a:rPr>
              <a:t>of  </a:t>
            </a:r>
            <a:r>
              <a:rPr dirty="0" sz="2800" spc="-204">
                <a:solidFill>
                  <a:srgbClr val="0070C0"/>
                </a:solidFill>
                <a:latin typeface="Cambria Math"/>
                <a:cs typeface="Cambria Math"/>
              </a:rPr>
              <a:t>𝑝</a:t>
            </a:r>
            <a:endParaRPr sz="28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 b="1">
                <a:latin typeface="Calibri"/>
                <a:cs typeface="Calibri"/>
              </a:rPr>
              <a:t>DFS-like </a:t>
            </a:r>
            <a:r>
              <a:rPr dirty="0" sz="2800" spc="-10">
                <a:latin typeface="Calibri"/>
                <a:cs typeface="Calibri"/>
              </a:rPr>
              <a:t>walk: Low </a:t>
            </a:r>
            <a:r>
              <a:rPr dirty="0" sz="2800" spc="-15">
                <a:latin typeface="Calibri"/>
                <a:cs typeface="Calibri"/>
              </a:rPr>
              <a:t>value </a:t>
            </a:r>
            <a:r>
              <a:rPr dirty="0" sz="2800" spc="-5">
                <a:latin typeface="Calibri"/>
                <a:cs typeface="Calibri"/>
              </a:rPr>
              <a:t>of  </a:t>
            </a:r>
            <a:r>
              <a:rPr dirty="0" sz="2800" spc="-270">
                <a:solidFill>
                  <a:srgbClr val="9A3130"/>
                </a:solidFill>
                <a:latin typeface="Cambria Math"/>
                <a:cs typeface="Cambria Math"/>
              </a:rPr>
              <a:t>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363" y="6009132"/>
            <a:ext cx="77838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>
                <a:solidFill>
                  <a:srgbClr val="C00000"/>
                </a:solidFill>
                <a:latin typeface="Cambria Math"/>
                <a:cs typeface="Cambria Math"/>
              </a:rPr>
              <a:t>𝑁</a:t>
            </a:r>
            <a:r>
              <a:rPr dirty="0" baseline="-15700" sz="3450" spc="-37">
                <a:solidFill>
                  <a:srgbClr val="C00000"/>
                </a:solidFill>
                <a:latin typeface="Cambria Math"/>
                <a:cs typeface="Cambria Math"/>
              </a:rPr>
              <a:t>&amp;</a:t>
            </a:r>
            <a:r>
              <a:rPr dirty="0" sz="3200" spc="-25">
                <a:solidFill>
                  <a:srgbClr val="C00000"/>
                </a:solidFill>
                <a:latin typeface="Cambria Math"/>
                <a:cs typeface="Cambria Math"/>
              </a:rPr>
              <a:t>(𝑢) 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are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nodes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visited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by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biased</a:t>
            </a:r>
            <a:r>
              <a:rPr dirty="0" sz="3200" spc="10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walk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0340" y="3324859"/>
            <a:ext cx="8896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8000"/>
                </a:solidFill>
                <a:latin typeface="Cambria Math"/>
                <a:cs typeface="Cambria Math"/>
              </a:rPr>
              <a:t>w</a:t>
            </a:r>
            <a:r>
              <a:rPr dirty="0" sz="3600" spc="10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3600">
                <a:solidFill>
                  <a:srgbClr val="9A3130"/>
                </a:solidFill>
                <a:latin typeface="Cambria Math"/>
                <a:cs typeface="Cambria Math"/>
              </a:rPr>
              <a:t>→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45106" y="2819401"/>
            <a:ext cx="617220" cy="2062480"/>
          </a:xfrm>
          <a:prstGeom prst="rect">
            <a:avLst/>
          </a:prstGeom>
          <a:ln w="38100">
            <a:solidFill>
              <a:srgbClr val="9611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algn="just" marL="116205" marR="111125">
              <a:lnSpc>
                <a:spcPct val="100800"/>
              </a:lnSpc>
              <a:spcBef>
                <a:spcPts val="75"/>
              </a:spcBef>
            </a:pPr>
            <a:r>
              <a:rPr dirty="0" sz="3200" spc="-35">
                <a:solidFill>
                  <a:srgbClr val="0070C0"/>
                </a:solidFill>
                <a:latin typeface="Arial"/>
                <a:cs typeface="Arial"/>
              </a:rPr>
              <a:t>s</a:t>
            </a:r>
            <a:r>
              <a:rPr dirty="0" baseline="-18518" sz="3150" spc="-52">
                <a:solidFill>
                  <a:srgbClr val="0070C0"/>
                </a:solidFill>
                <a:latin typeface="Arial"/>
                <a:cs typeface="Arial"/>
              </a:rPr>
              <a:t>1  </a:t>
            </a:r>
            <a:r>
              <a:rPr dirty="0" sz="3200" spc="-35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baseline="-18518" sz="3150" spc="-52">
                <a:solidFill>
                  <a:srgbClr val="FF0000"/>
                </a:solidFill>
                <a:latin typeface="Arial"/>
                <a:cs typeface="Arial"/>
              </a:rPr>
              <a:t>2  </a:t>
            </a:r>
            <a:r>
              <a:rPr dirty="0" sz="3200" spc="-35">
                <a:solidFill>
                  <a:srgbClr val="9A3130"/>
                </a:solidFill>
                <a:latin typeface="Arial"/>
                <a:cs typeface="Arial"/>
              </a:rPr>
              <a:t>s</a:t>
            </a:r>
            <a:r>
              <a:rPr dirty="0" baseline="-18518" sz="3150" spc="-52">
                <a:solidFill>
                  <a:srgbClr val="9A3130"/>
                </a:solidFill>
                <a:latin typeface="Arial"/>
                <a:cs typeface="Arial"/>
              </a:rPr>
              <a:t>3  </a:t>
            </a:r>
            <a:r>
              <a:rPr dirty="0" sz="3200" spc="-35">
                <a:solidFill>
                  <a:srgbClr val="9A3130"/>
                </a:solidFill>
                <a:latin typeface="Arial"/>
                <a:cs typeface="Arial"/>
              </a:rPr>
              <a:t>s</a:t>
            </a:r>
            <a:r>
              <a:rPr dirty="0" baseline="-18518" sz="3150" spc="-52">
                <a:solidFill>
                  <a:srgbClr val="9A3130"/>
                </a:solidFill>
                <a:latin typeface="Arial"/>
                <a:cs typeface="Arial"/>
              </a:rPr>
              <a:t>4</a:t>
            </a:r>
            <a:endParaRPr baseline="-18518" sz="3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62800" y="2819400"/>
            <a:ext cx="847725" cy="2028189"/>
          </a:xfrm>
          <a:prstGeom prst="rect">
            <a:avLst/>
          </a:prstGeom>
          <a:ln w="38100">
            <a:solidFill>
              <a:srgbClr val="9611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 marR="109855">
              <a:lnSpc>
                <a:spcPts val="3815"/>
              </a:lnSpc>
              <a:spcBef>
                <a:spcPts val="105"/>
              </a:spcBef>
            </a:pP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1/𝑝</a:t>
            </a:r>
            <a:endParaRPr sz="3200">
              <a:latin typeface="Cambria Math"/>
              <a:cs typeface="Cambria Math"/>
            </a:endParaRPr>
          </a:p>
          <a:p>
            <a:pPr algn="ctr" marR="105410">
              <a:lnSpc>
                <a:spcPts val="3754"/>
              </a:lnSpc>
            </a:pPr>
            <a:r>
              <a:rPr dirty="0" sz="320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3200">
              <a:latin typeface="Cambria Math"/>
              <a:cs typeface="Cambria Math"/>
            </a:endParaRPr>
          </a:p>
          <a:p>
            <a:pPr algn="ctr" marR="117475">
              <a:lnSpc>
                <a:spcPts val="3754"/>
              </a:lnSpc>
            </a:pPr>
            <a:r>
              <a:rPr dirty="0" sz="3200">
                <a:solidFill>
                  <a:srgbClr val="9A3130"/>
                </a:solidFill>
                <a:latin typeface="Cambria Math"/>
                <a:cs typeface="Cambria Math"/>
              </a:rPr>
              <a:t>1/𝑞</a:t>
            </a:r>
            <a:endParaRPr sz="3200">
              <a:latin typeface="Cambria Math"/>
              <a:cs typeface="Cambria Math"/>
            </a:endParaRPr>
          </a:p>
          <a:p>
            <a:pPr algn="ctr" marR="117475">
              <a:lnSpc>
                <a:spcPts val="3815"/>
              </a:lnSpc>
            </a:pPr>
            <a:r>
              <a:rPr dirty="0" sz="3200">
                <a:solidFill>
                  <a:srgbClr val="9A3130"/>
                </a:solidFill>
                <a:latin typeface="Cambria Math"/>
                <a:cs typeface="Cambria Math"/>
              </a:rPr>
              <a:t>1/𝑞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55759" y="4960620"/>
            <a:ext cx="1499235" cy="8731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14"/>
              </a:spcBef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Unnormalized  transition prob.  segmented based  on distance from</a:t>
            </a:r>
            <a:r>
              <a:rPr dirty="0" sz="1400" spc="-8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008000"/>
                </a:solidFill>
                <a:latin typeface="Cambria Math"/>
                <a:cs typeface="Cambria Math"/>
              </a:rPr>
              <a:t>𝑠</a:t>
            </a:r>
            <a:r>
              <a:rPr dirty="0" baseline="-16666" sz="1500" spc="-30">
                <a:solidFill>
                  <a:srgbClr val="008000"/>
                </a:solidFill>
                <a:latin typeface="Cambria Math"/>
                <a:cs typeface="Cambria Math"/>
              </a:rPr>
              <a:t>!</a:t>
            </a:r>
            <a:endParaRPr baseline="-16666" sz="15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61889" y="2663444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33541" y="3614420"/>
            <a:ext cx="507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9A3130"/>
                </a:solidFill>
                <a:latin typeface="Cambria Math"/>
                <a:cs typeface="Cambria Math"/>
              </a:rPr>
              <a:t>1/</a:t>
            </a:r>
            <a:r>
              <a:rPr dirty="0" sz="2400">
                <a:solidFill>
                  <a:srgbClr val="9A3130"/>
                </a:solidFill>
                <a:latin typeface="Cambria Math"/>
                <a:cs typeface="Cambria Math"/>
              </a:rPr>
              <a:t>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69524" y="4086859"/>
            <a:ext cx="5130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70C0"/>
                </a:solidFill>
                <a:latin typeface="Cambria Math"/>
                <a:cs typeface="Cambria Math"/>
              </a:rPr>
              <a:t>1/</a:t>
            </a:r>
            <a:r>
              <a:rPr dirty="0" sz="2400">
                <a:solidFill>
                  <a:srgbClr val="0070C0"/>
                </a:solidFill>
                <a:latin typeface="Cambria Math"/>
                <a:cs typeface="Cambria Math"/>
              </a:rPr>
              <a:t>𝑝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937" y="2699054"/>
            <a:ext cx="4564276" cy="1887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680825" y="3972559"/>
            <a:ext cx="31623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70">
                <a:latin typeface="Arial"/>
                <a:cs typeface="Arial"/>
              </a:rPr>
              <a:t>s</a:t>
            </a:r>
            <a:r>
              <a:rPr dirty="0" baseline="-18518" sz="2700" spc="-7">
                <a:latin typeface="Arial"/>
                <a:cs typeface="Arial"/>
              </a:rPr>
              <a:t>1</a:t>
            </a:r>
            <a:endParaRPr baseline="-18518" sz="27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1729549" y="2698495"/>
            <a:ext cx="31623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70">
                <a:latin typeface="Arial"/>
                <a:cs typeface="Arial"/>
              </a:rPr>
              <a:t>s</a:t>
            </a:r>
            <a:r>
              <a:rPr dirty="0" baseline="-18518" sz="2700" spc="-7">
                <a:latin typeface="Arial"/>
                <a:cs typeface="Arial"/>
              </a:rPr>
              <a:t>2</a:t>
            </a:r>
            <a:endParaRPr baseline="-18518" sz="2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40181" y="3280664"/>
            <a:ext cx="2800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50">
                <a:latin typeface="Arial"/>
                <a:cs typeface="Arial"/>
              </a:rPr>
              <a:t>w</a:t>
            </a:r>
            <a:endParaRPr sz="2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31788" y="302920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8730" y="4039615"/>
            <a:ext cx="2095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5">
                <a:latin typeface="Arial"/>
                <a:cs typeface="Arial"/>
              </a:rPr>
              <a:t>u</a:t>
            </a:r>
            <a:endParaRPr sz="2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28325" y="4070096"/>
            <a:ext cx="1905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5">
                <a:latin typeface="Arial"/>
                <a:cs typeface="Arial"/>
              </a:rPr>
              <a:t>s</a:t>
            </a:r>
            <a:endParaRPr sz="2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91838" y="42605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31969" y="2841752"/>
            <a:ext cx="1026794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8360" algn="l"/>
              </a:tabLst>
            </a:pPr>
            <a:r>
              <a:rPr dirty="0" sz="2400" spc="-5">
                <a:solidFill>
                  <a:srgbClr val="9A3130"/>
                </a:solidFill>
                <a:latin typeface="Cambria Math"/>
                <a:cs typeface="Cambria Math"/>
              </a:rPr>
              <a:t>1/</a:t>
            </a:r>
            <a:r>
              <a:rPr dirty="0" sz="2400">
                <a:solidFill>
                  <a:srgbClr val="9A3130"/>
                </a:solidFill>
                <a:latin typeface="Cambria Math"/>
                <a:cs typeface="Cambria Math"/>
              </a:rPr>
              <a:t>𝑞	</a:t>
            </a:r>
            <a:r>
              <a:rPr dirty="0" sz="2700" spc="-55">
                <a:latin typeface="Arial"/>
                <a:cs typeface="Arial"/>
              </a:rPr>
              <a:t>s</a:t>
            </a:r>
            <a:endParaRPr sz="2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27140" y="2455333"/>
            <a:ext cx="2621280" cy="232473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916940" algn="l"/>
                <a:tab pos="1712595" algn="l"/>
              </a:tabLst>
            </a:pPr>
            <a:r>
              <a:rPr dirty="0" baseline="1984" sz="2100" spc="-37" b="1">
                <a:solidFill>
                  <a:srgbClr val="008000"/>
                </a:solidFill>
                <a:latin typeface="Arial"/>
                <a:cs typeface="Arial"/>
              </a:rPr>
              <a:t>Target</a:t>
            </a:r>
            <a:r>
              <a:rPr dirty="0" baseline="1984" sz="2100" spc="-12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baseline="1984" sz="2100">
                <a:solidFill>
                  <a:srgbClr val="008000"/>
                </a:solidFill>
                <a:latin typeface="Cambria Math"/>
                <a:cs typeface="Cambria Math"/>
              </a:rPr>
              <a:t>𝒕	</a:t>
            </a:r>
            <a:r>
              <a:rPr dirty="0" sz="1400" spc="-5" b="1">
                <a:solidFill>
                  <a:srgbClr val="008000"/>
                </a:solidFill>
                <a:latin typeface="Arial"/>
                <a:cs typeface="Arial"/>
              </a:rPr>
              <a:t>Prob.	Dist. </a:t>
            </a:r>
            <a:r>
              <a:rPr dirty="0" sz="1400" spc="0">
                <a:solidFill>
                  <a:srgbClr val="008000"/>
                </a:solidFill>
                <a:latin typeface="Cambria Math"/>
                <a:cs typeface="Cambria Math"/>
              </a:rPr>
              <a:t>(𝒔</a:t>
            </a:r>
            <a:r>
              <a:rPr dirty="0" baseline="-16666" sz="1500" spc="0">
                <a:solidFill>
                  <a:srgbClr val="008000"/>
                </a:solidFill>
                <a:latin typeface="Cambria Math"/>
                <a:cs typeface="Cambria Math"/>
              </a:rPr>
              <a:t>𝟏</a:t>
            </a:r>
            <a:r>
              <a:rPr dirty="0" sz="1400" spc="0">
                <a:solidFill>
                  <a:srgbClr val="008000"/>
                </a:solidFill>
                <a:latin typeface="Cambria Math"/>
                <a:cs typeface="Cambria Math"/>
              </a:rPr>
              <a:t>,</a:t>
            </a:r>
            <a:r>
              <a:rPr dirty="0" sz="1400" spc="-15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solidFill>
                  <a:srgbClr val="008000"/>
                </a:solidFill>
                <a:latin typeface="Cambria Math"/>
                <a:cs typeface="Cambria Math"/>
              </a:rPr>
              <a:t>𝒕)</a:t>
            </a:r>
            <a:endParaRPr sz="1400">
              <a:latin typeface="Cambria Math"/>
              <a:cs typeface="Cambria Math"/>
            </a:endParaRPr>
          </a:p>
          <a:p>
            <a:pPr algn="r" marR="478155">
              <a:lnSpc>
                <a:spcPct val="100000"/>
              </a:lnSpc>
              <a:spcBef>
                <a:spcPts val="1225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algn="r" marR="478155">
              <a:lnSpc>
                <a:spcPct val="100000"/>
              </a:lnSpc>
              <a:spcBef>
                <a:spcPts val="1005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algn="r" marR="478155">
              <a:lnSpc>
                <a:spcPct val="100000"/>
              </a:lnSpc>
              <a:spcBef>
                <a:spcPts val="935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  <a:p>
            <a:pPr algn="r" marR="478155">
              <a:lnSpc>
                <a:spcPct val="100000"/>
              </a:lnSpc>
              <a:spcBef>
                <a:spcPts val="1005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6072" y="347472"/>
            <a:ext cx="48524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9363" y="1653540"/>
            <a:ext cx="8168005" cy="3802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1484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1) </a:t>
            </a:r>
            <a:r>
              <a:rPr dirty="0" sz="3200" spc="-10">
                <a:latin typeface="Calibri"/>
                <a:cs typeface="Calibri"/>
              </a:rPr>
              <a:t>Compute </a:t>
            </a:r>
            <a:r>
              <a:rPr dirty="0" sz="3200" spc="-15">
                <a:latin typeface="Calibri"/>
                <a:cs typeface="Calibri"/>
              </a:rPr>
              <a:t>random </a:t>
            </a:r>
            <a:r>
              <a:rPr dirty="0" sz="3200" spc="-10">
                <a:latin typeface="Calibri"/>
                <a:cs typeface="Calibri"/>
              </a:rPr>
              <a:t>walk</a:t>
            </a:r>
            <a:r>
              <a:rPr dirty="0" sz="3200" spc="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probabilities</a:t>
            </a:r>
            <a:endParaRPr sz="3200">
              <a:latin typeface="Calibri"/>
              <a:cs typeface="Calibri"/>
            </a:endParaRPr>
          </a:p>
          <a:p>
            <a:pPr marL="451484" marR="5080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2) </a:t>
            </a:r>
            <a:r>
              <a:rPr dirty="0" sz="3200" spc="-10">
                <a:latin typeface="Calibri"/>
                <a:cs typeface="Calibri"/>
              </a:rPr>
              <a:t>Simulate </a:t>
            </a:r>
            <a:r>
              <a:rPr dirty="0" sz="3200">
                <a:latin typeface="Cambria Math"/>
                <a:cs typeface="Cambria Math"/>
              </a:rPr>
              <a:t>𝑟 </a:t>
            </a:r>
            <a:r>
              <a:rPr dirty="0" sz="3200" spc="-15">
                <a:latin typeface="Calibri"/>
                <a:cs typeface="Calibri"/>
              </a:rPr>
              <a:t>random walks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10">
                <a:latin typeface="Calibri"/>
                <a:cs typeface="Calibri"/>
              </a:rPr>
              <a:t>length </a:t>
            </a:r>
            <a:r>
              <a:rPr dirty="0" sz="3200">
                <a:latin typeface="Cambria Math"/>
                <a:cs typeface="Cambria Math"/>
              </a:rPr>
              <a:t>𝑙 </a:t>
            </a:r>
            <a:r>
              <a:rPr dirty="0" sz="3200" spc="-15">
                <a:latin typeface="Calibri"/>
                <a:cs typeface="Calibri"/>
              </a:rPr>
              <a:t>starting  </a:t>
            </a:r>
            <a:r>
              <a:rPr dirty="0" sz="3200" spc="-20">
                <a:latin typeface="Calibri"/>
                <a:cs typeface="Calibri"/>
              </a:rPr>
              <a:t>from </a:t>
            </a:r>
            <a:r>
              <a:rPr dirty="0" sz="3200" spc="-5">
                <a:latin typeface="Calibri"/>
                <a:cs typeface="Calibri"/>
              </a:rPr>
              <a:t>each </a:t>
            </a:r>
            <a:r>
              <a:rPr dirty="0" sz="3200">
                <a:latin typeface="Calibri"/>
                <a:cs typeface="Calibri"/>
              </a:rPr>
              <a:t>node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𝑢</a:t>
            </a:r>
            <a:endParaRPr sz="3200">
              <a:latin typeface="Cambria Math"/>
              <a:cs typeface="Cambria Math"/>
            </a:endParaRPr>
          </a:p>
          <a:p>
            <a:pPr marL="451484" indent="-320040">
              <a:lnSpc>
                <a:spcPts val="36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3) </a:t>
            </a:r>
            <a:r>
              <a:rPr dirty="0" sz="3200" spc="-15">
                <a:latin typeface="Calibri"/>
                <a:cs typeface="Calibri"/>
              </a:rPr>
              <a:t>Optimize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node2vec objective</a:t>
            </a:r>
            <a:r>
              <a:rPr dirty="0" sz="3200" spc="6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using</a:t>
            </a:r>
            <a:endParaRPr sz="3200">
              <a:latin typeface="Calibri"/>
              <a:cs typeface="Calibri"/>
            </a:endParaRPr>
          </a:p>
          <a:p>
            <a:pPr marL="451484">
              <a:lnSpc>
                <a:spcPct val="100000"/>
              </a:lnSpc>
              <a:spcBef>
                <a:spcPts val="75"/>
              </a:spcBef>
            </a:pPr>
            <a:r>
              <a:rPr dirty="0" sz="3200" spc="-10">
                <a:latin typeface="Calibri"/>
                <a:cs typeface="Calibri"/>
              </a:rPr>
              <a:t>Stochastic </a:t>
            </a:r>
            <a:r>
              <a:rPr dirty="0" sz="3200" spc="-15">
                <a:latin typeface="Calibri"/>
                <a:cs typeface="Calibri"/>
              </a:rPr>
              <a:t>Gradient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Descent</a:t>
            </a:r>
            <a:endParaRPr sz="3200">
              <a:latin typeface="Calibri"/>
              <a:cs typeface="Calibri"/>
            </a:endParaRPr>
          </a:p>
          <a:p>
            <a:pPr marL="654050" indent="-641350">
              <a:lnSpc>
                <a:spcPts val="3815"/>
              </a:lnSpc>
              <a:spcBef>
                <a:spcPts val="2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653415" algn="l"/>
                <a:tab pos="65405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Linear-time</a:t>
            </a:r>
            <a:r>
              <a:rPr dirty="0" sz="3200" spc="-6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complexity</a:t>
            </a:r>
            <a:endParaRPr sz="3200">
              <a:latin typeface="Calibri"/>
              <a:cs typeface="Calibri"/>
            </a:endParaRPr>
          </a:p>
          <a:p>
            <a:pPr marL="654050" indent="-64135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653415" algn="l"/>
                <a:tab pos="654050" algn="l"/>
              </a:tabLst>
            </a:pPr>
            <a:r>
              <a:rPr dirty="0" sz="3200" spc="-5">
                <a:latin typeface="Calibri"/>
                <a:cs typeface="Calibri"/>
              </a:rPr>
              <a:t>All </a:t>
            </a:r>
            <a:r>
              <a:rPr dirty="0" sz="3200">
                <a:latin typeface="Calibri"/>
                <a:cs typeface="Calibri"/>
              </a:rPr>
              <a:t>3 </a:t>
            </a:r>
            <a:r>
              <a:rPr dirty="0" sz="3200" spc="-20">
                <a:latin typeface="Calibri"/>
                <a:cs typeface="Calibri"/>
              </a:rPr>
              <a:t>steps are </a:t>
            </a:r>
            <a:r>
              <a:rPr dirty="0" sz="3200">
                <a:solidFill>
                  <a:srgbClr val="008000"/>
                </a:solidFill>
                <a:latin typeface="Calibri"/>
                <a:cs typeface="Calibri"/>
              </a:rPr>
              <a:t>individually</a:t>
            </a:r>
            <a:r>
              <a:rPr dirty="0" sz="3200" spc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008000"/>
                </a:solidFill>
                <a:latin typeface="Calibri"/>
                <a:cs typeface="Calibri"/>
              </a:rPr>
              <a:t>parallelizable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9663"/>
            <a:ext cx="6059424" cy="408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232"/>
            <a:ext cx="591756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7777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30" b="1">
                <a:latin typeface="Calibri"/>
                <a:cs typeface="Calibri"/>
              </a:rPr>
              <a:t>Different </a:t>
            </a:r>
            <a:r>
              <a:rPr dirty="0" sz="2700" spc="-20" b="1">
                <a:latin typeface="Calibri"/>
                <a:cs typeface="Calibri"/>
              </a:rPr>
              <a:t>kinds </a:t>
            </a:r>
            <a:r>
              <a:rPr dirty="0" sz="2700" spc="-10" b="1">
                <a:latin typeface="Calibri"/>
                <a:cs typeface="Calibri"/>
              </a:rPr>
              <a:t>of </a:t>
            </a:r>
            <a:r>
              <a:rPr dirty="0" sz="2700" spc="-20" b="1">
                <a:latin typeface="Calibri"/>
                <a:cs typeface="Calibri"/>
              </a:rPr>
              <a:t>biased </a:t>
            </a:r>
            <a:r>
              <a:rPr dirty="0" sz="2700" spc="-30" b="1">
                <a:latin typeface="Calibri"/>
                <a:cs typeface="Calibri"/>
              </a:rPr>
              <a:t>random</a:t>
            </a:r>
            <a:r>
              <a:rPr dirty="0" sz="2700" spc="-90" b="1">
                <a:latin typeface="Calibri"/>
                <a:cs typeface="Calibri"/>
              </a:rPr>
              <a:t> </a:t>
            </a:r>
            <a:r>
              <a:rPr dirty="0" sz="2700" spc="-25" b="1">
                <a:latin typeface="Calibri"/>
                <a:cs typeface="Calibri"/>
              </a:rPr>
              <a:t>walks: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755139"/>
            <a:ext cx="7725409" cy="404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Based on node </a:t>
            </a:r>
            <a:r>
              <a:rPr dirty="0" sz="2400" spc="-10">
                <a:latin typeface="Calibri"/>
                <a:cs typeface="Calibri"/>
              </a:rPr>
              <a:t>attributes </a:t>
            </a:r>
            <a:r>
              <a:rPr dirty="0" sz="2400" spc="-5">
                <a:latin typeface="Calibri"/>
                <a:cs typeface="Calibri"/>
              </a:rPr>
              <a:t>(</a:t>
            </a:r>
            <a:r>
              <a:rPr dirty="0" sz="2400" spc="-5" u="heavy">
                <a:solidFill>
                  <a:srgbClr val="168BBA"/>
                </a:solidFill>
                <a:latin typeface="Calibri"/>
                <a:cs typeface="Calibri"/>
              </a:rPr>
              <a:t>Dong et al.,</a:t>
            </a:r>
            <a:r>
              <a:rPr dirty="0" sz="2400" spc="-30" u="heavy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10" u="heavy">
                <a:solidFill>
                  <a:srgbClr val="168BBA"/>
                </a:solidFill>
                <a:latin typeface="Calibri"/>
                <a:cs typeface="Calibri"/>
              </a:rPr>
              <a:t>2017</a:t>
            </a:r>
            <a:r>
              <a:rPr dirty="0" sz="2400" spc="-10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Based on learned </a:t>
            </a:r>
            <a:r>
              <a:rPr dirty="0" sz="2400" spc="-10">
                <a:latin typeface="Calibri"/>
                <a:cs typeface="Calibri"/>
              </a:rPr>
              <a:t>weights </a:t>
            </a:r>
            <a:r>
              <a:rPr dirty="0" sz="2400" spc="-5">
                <a:latin typeface="Calibri"/>
                <a:cs typeface="Calibri"/>
              </a:rPr>
              <a:t>(</a:t>
            </a:r>
            <a:r>
              <a:rPr dirty="0" sz="2400" spc="-5" u="heavy">
                <a:solidFill>
                  <a:srgbClr val="168BBA"/>
                </a:solidFill>
                <a:latin typeface="Calibri"/>
                <a:cs typeface="Calibri"/>
              </a:rPr>
              <a:t>Abu-El-Haija et al.,</a:t>
            </a:r>
            <a:r>
              <a:rPr dirty="0" sz="2400" spc="0" u="heavy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5" u="heavy">
                <a:solidFill>
                  <a:srgbClr val="168BBA"/>
                </a:solidFill>
                <a:latin typeface="Calibri"/>
                <a:cs typeface="Calibri"/>
              </a:rPr>
              <a:t>2017</a:t>
            </a:r>
            <a:r>
              <a:rPr dirty="0" sz="2400" spc="-5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805"/>
              </a:spcBef>
              <a:buClr>
                <a:srgbClr val="F0AD00"/>
              </a:buClr>
              <a:buSzPct val="77777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25" b="1">
                <a:latin typeface="Calibri"/>
                <a:cs typeface="Calibri"/>
              </a:rPr>
              <a:t>Alternative optimization</a:t>
            </a:r>
            <a:r>
              <a:rPr dirty="0" sz="2700" spc="-90" b="1">
                <a:latin typeface="Calibri"/>
                <a:cs typeface="Calibri"/>
              </a:rPr>
              <a:t> </a:t>
            </a:r>
            <a:r>
              <a:rPr dirty="0" sz="2700" spc="-20" b="1">
                <a:latin typeface="Calibri"/>
                <a:cs typeface="Calibri"/>
              </a:rPr>
              <a:t>schemes:</a:t>
            </a:r>
            <a:endParaRPr sz="27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800"/>
              </a:lnSpc>
              <a:spcBef>
                <a:spcPts val="5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Directly </a:t>
            </a:r>
            <a:r>
              <a:rPr dirty="0" sz="2400" spc="-15">
                <a:latin typeface="Calibri"/>
                <a:cs typeface="Calibri"/>
              </a:rPr>
              <a:t>optimize </a:t>
            </a:r>
            <a:r>
              <a:rPr dirty="0" sz="2400" spc="-5">
                <a:latin typeface="Calibri"/>
                <a:cs typeface="Calibri"/>
              </a:rPr>
              <a:t>based on 1-hop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5">
                <a:latin typeface="Calibri"/>
                <a:cs typeface="Calibri"/>
              </a:rPr>
              <a:t>2-hop </a:t>
            </a:r>
            <a:r>
              <a:rPr dirty="0" sz="2400" spc="-10">
                <a:latin typeface="Calibri"/>
                <a:cs typeface="Calibri"/>
              </a:rPr>
              <a:t>random </a:t>
            </a:r>
            <a:r>
              <a:rPr dirty="0" sz="2400" spc="-140">
                <a:latin typeface="Calibri"/>
                <a:cs typeface="Calibri"/>
              </a:rPr>
              <a:t>walk  </a:t>
            </a:r>
            <a:r>
              <a:rPr dirty="0" sz="2400" spc="-10">
                <a:latin typeface="Calibri"/>
                <a:cs typeface="Calibri"/>
              </a:rPr>
              <a:t>probabilities </a:t>
            </a:r>
            <a:r>
              <a:rPr dirty="0" sz="2400" spc="-5">
                <a:latin typeface="Calibri"/>
                <a:cs typeface="Calibri"/>
              </a:rPr>
              <a:t>(as in</a:t>
            </a:r>
            <a:r>
              <a:rPr dirty="0" sz="2400" spc="-5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5" u="heavy">
                <a:solidFill>
                  <a:srgbClr val="168BBA"/>
                </a:solidFill>
                <a:latin typeface="Calibri"/>
                <a:cs typeface="Calibri"/>
              </a:rPr>
              <a:t>LINE </a:t>
            </a:r>
            <a:r>
              <a:rPr dirty="0" sz="2400" spc="-15" u="heavy">
                <a:solidFill>
                  <a:srgbClr val="168BBA"/>
                </a:solidFill>
                <a:latin typeface="Calibri"/>
                <a:cs typeface="Calibri"/>
              </a:rPr>
              <a:t>from </a:t>
            </a:r>
            <a:r>
              <a:rPr dirty="0" sz="2400" spc="-50" u="heavy">
                <a:solidFill>
                  <a:srgbClr val="168BBA"/>
                </a:solidFill>
                <a:latin typeface="Calibri"/>
                <a:cs typeface="Calibri"/>
              </a:rPr>
              <a:t>Tang </a:t>
            </a:r>
            <a:r>
              <a:rPr dirty="0" sz="2400" spc="-5" u="heavy">
                <a:solidFill>
                  <a:srgbClr val="168BBA"/>
                </a:solidFill>
                <a:latin typeface="Calibri"/>
                <a:cs typeface="Calibri"/>
              </a:rPr>
              <a:t>et al.</a:t>
            </a:r>
            <a:r>
              <a:rPr dirty="0" sz="2400" spc="35" u="heavy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5" u="heavy">
                <a:solidFill>
                  <a:srgbClr val="168BBA"/>
                </a:solidFill>
                <a:latin typeface="Calibri"/>
                <a:cs typeface="Calibri"/>
              </a:rPr>
              <a:t>2015</a:t>
            </a:r>
            <a:r>
              <a:rPr dirty="0" sz="2400" spc="-5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710"/>
              </a:spcBef>
              <a:buClr>
                <a:srgbClr val="F0AD00"/>
              </a:buClr>
              <a:buSzPct val="77777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25" b="1">
                <a:latin typeface="Calibri"/>
                <a:cs typeface="Calibri"/>
              </a:rPr>
              <a:t>Network preprocessing</a:t>
            </a:r>
            <a:r>
              <a:rPr dirty="0" sz="2700" spc="-55" b="1">
                <a:latin typeface="Calibri"/>
                <a:cs typeface="Calibri"/>
              </a:rPr>
              <a:t> </a:t>
            </a:r>
            <a:r>
              <a:rPr dirty="0" sz="2700" spc="-25" b="1">
                <a:latin typeface="Calibri"/>
                <a:cs typeface="Calibri"/>
              </a:rPr>
              <a:t>techniques:</a:t>
            </a:r>
            <a:endParaRPr sz="2700">
              <a:latin typeface="Calibri"/>
              <a:cs typeface="Calibri"/>
            </a:endParaRPr>
          </a:p>
          <a:p>
            <a:pPr lvl="1" marL="625475" marR="68580" indent="-274320">
              <a:lnSpc>
                <a:spcPct val="104200"/>
              </a:lnSpc>
              <a:spcBef>
                <a:spcPts val="5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Run </a:t>
            </a:r>
            <a:r>
              <a:rPr dirty="0" sz="2400" spc="-10">
                <a:latin typeface="Calibri"/>
                <a:cs typeface="Calibri"/>
              </a:rPr>
              <a:t>random </a:t>
            </a:r>
            <a:r>
              <a:rPr dirty="0" sz="2400" spc="-15">
                <a:latin typeface="Calibri"/>
                <a:cs typeface="Calibri"/>
              </a:rPr>
              <a:t>walks </a:t>
            </a:r>
            <a:r>
              <a:rPr dirty="0" sz="2400" spc="-5">
                <a:latin typeface="Calibri"/>
                <a:cs typeface="Calibri"/>
              </a:rPr>
              <a:t>on modified </a:t>
            </a:r>
            <a:r>
              <a:rPr dirty="0" sz="2400" spc="-15">
                <a:latin typeface="Calibri"/>
                <a:cs typeface="Calibri"/>
              </a:rPr>
              <a:t>versions </a:t>
            </a:r>
            <a:r>
              <a:rPr dirty="0" sz="2400" spc="-5">
                <a:latin typeface="Calibri"/>
                <a:cs typeface="Calibri"/>
              </a:rPr>
              <a:t>of the original  </a:t>
            </a:r>
            <a:r>
              <a:rPr dirty="0" sz="2400" spc="-10">
                <a:latin typeface="Calibri"/>
                <a:cs typeface="Calibri"/>
              </a:rPr>
              <a:t>network </a:t>
            </a:r>
            <a:r>
              <a:rPr dirty="0" sz="2400" spc="-5">
                <a:latin typeface="Calibri"/>
                <a:cs typeface="Calibri"/>
              </a:rPr>
              <a:t>(e.g.,</a:t>
            </a:r>
            <a:r>
              <a:rPr dirty="0" sz="2400" spc="-5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10" u="heavy">
                <a:solidFill>
                  <a:srgbClr val="168BBA"/>
                </a:solidFill>
                <a:latin typeface="Calibri"/>
                <a:cs typeface="Calibri"/>
              </a:rPr>
              <a:t>Ribeiro </a:t>
            </a:r>
            <a:r>
              <a:rPr dirty="0" sz="2400" spc="-5" u="heavy">
                <a:solidFill>
                  <a:srgbClr val="168BBA"/>
                </a:solidFill>
                <a:latin typeface="Calibri"/>
                <a:cs typeface="Calibri"/>
              </a:rPr>
              <a:t>et al. </a:t>
            </a:r>
            <a:r>
              <a:rPr dirty="0" sz="2400" spc="-30" u="heavy">
                <a:solidFill>
                  <a:srgbClr val="168BBA"/>
                </a:solidFill>
                <a:latin typeface="Calibri"/>
                <a:cs typeface="Calibri"/>
              </a:rPr>
              <a:t>2017’s </a:t>
            </a:r>
            <a:r>
              <a:rPr dirty="0" sz="2400" spc="-10" u="heavy">
                <a:solidFill>
                  <a:srgbClr val="168BBA"/>
                </a:solidFill>
                <a:latin typeface="Calibri"/>
                <a:cs typeface="Calibri"/>
              </a:rPr>
              <a:t>struct2vec</a:t>
            </a:r>
            <a:r>
              <a:rPr dirty="0" sz="2400" spc="-10">
                <a:latin typeface="Calibri"/>
                <a:cs typeface="Calibri"/>
              </a:rPr>
              <a:t>,</a:t>
            </a:r>
            <a:r>
              <a:rPr dirty="0" sz="2400" spc="-10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5" u="heavy">
                <a:solidFill>
                  <a:srgbClr val="168BBA"/>
                </a:solidFill>
                <a:latin typeface="Calibri"/>
                <a:cs typeface="Calibri"/>
              </a:rPr>
              <a:t>Chen et al. </a:t>
            </a:r>
            <a:r>
              <a:rPr dirty="0" sz="2400" spc="-5" u="heavy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30" u="heavy">
                <a:solidFill>
                  <a:srgbClr val="168BBA"/>
                </a:solidFill>
                <a:latin typeface="Calibri"/>
                <a:cs typeface="Calibri"/>
              </a:rPr>
              <a:t>2016’s</a:t>
            </a:r>
            <a:r>
              <a:rPr dirty="0" sz="2400" spc="-90" u="heavy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5" u="heavy">
                <a:solidFill>
                  <a:srgbClr val="168BBA"/>
                </a:solidFill>
                <a:latin typeface="Calibri"/>
                <a:cs typeface="Calibri"/>
              </a:rPr>
              <a:t>HARP</a:t>
            </a:r>
            <a:r>
              <a:rPr dirty="0" sz="2400" spc="-5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3858767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55559" cy="197358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just"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Core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idea: </a:t>
            </a:r>
            <a:r>
              <a:rPr dirty="0" spc="-5"/>
              <a:t>Embed nodes so </a:t>
            </a:r>
            <a:r>
              <a:rPr dirty="0" spc="-10"/>
              <a:t>that distances </a:t>
            </a:r>
            <a:r>
              <a:rPr dirty="0"/>
              <a:t>in  </a:t>
            </a:r>
            <a:r>
              <a:rPr dirty="0" spc="-5"/>
              <a:t>embedding space </a:t>
            </a:r>
            <a:r>
              <a:rPr dirty="0" spc="-15"/>
              <a:t>reflect </a:t>
            </a:r>
            <a:r>
              <a:rPr dirty="0" spc="-5"/>
              <a:t>node similarities </a:t>
            </a:r>
            <a:r>
              <a:rPr dirty="0"/>
              <a:t>in  the </a:t>
            </a:r>
            <a:r>
              <a:rPr dirty="0" spc="-5"/>
              <a:t>original</a:t>
            </a:r>
            <a:r>
              <a:rPr dirty="0" spc="-50"/>
              <a:t> </a:t>
            </a:r>
            <a:r>
              <a:rPr dirty="0" spc="-10"/>
              <a:t>network.</a:t>
            </a: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1">
                <a:latin typeface="Calibri"/>
                <a:cs typeface="Calibri"/>
              </a:rPr>
              <a:t>Different </a:t>
            </a:r>
            <a:r>
              <a:rPr dirty="0" spc="-5" b="1">
                <a:latin typeface="Calibri"/>
                <a:cs typeface="Calibri"/>
              </a:rPr>
              <a:t>notions </a:t>
            </a:r>
            <a:r>
              <a:rPr dirty="0" b="1">
                <a:latin typeface="Calibri"/>
                <a:cs typeface="Calibri"/>
              </a:rPr>
              <a:t>of </a:t>
            </a:r>
            <a:r>
              <a:rPr dirty="0" spc="-5" b="1">
                <a:latin typeface="Calibri"/>
                <a:cs typeface="Calibri"/>
              </a:rPr>
              <a:t>node</a:t>
            </a:r>
            <a:r>
              <a:rPr dirty="0" spc="0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similarity: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3310635"/>
            <a:ext cx="6766559" cy="154940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Naïve: </a:t>
            </a:r>
            <a:r>
              <a:rPr dirty="0" sz="2800" spc="-5">
                <a:latin typeface="Calibri"/>
                <a:cs typeface="Calibri"/>
              </a:rPr>
              <a:t>similar if </a:t>
            </a:r>
            <a:r>
              <a:rPr dirty="0" sz="2800">
                <a:latin typeface="Calibri"/>
                <a:cs typeface="Calibri"/>
              </a:rPr>
              <a:t>2 </a:t>
            </a: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15">
                <a:latin typeface="Calibri"/>
                <a:cs typeface="Calibri"/>
              </a:rPr>
              <a:t>are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connected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Neighborhood </a:t>
            </a:r>
            <a:r>
              <a:rPr dirty="0" sz="2800" spc="-15">
                <a:latin typeface="Calibri"/>
                <a:cs typeface="Calibri"/>
              </a:rPr>
              <a:t>overlap </a:t>
            </a:r>
            <a:r>
              <a:rPr dirty="0" sz="2800" spc="-20">
                <a:latin typeface="Calibri"/>
                <a:cs typeface="Calibri"/>
              </a:rPr>
              <a:t>(covered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0">
                <a:latin typeface="Calibri"/>
                <a:cs typeface="Calibri"/>
              </a:rPr>
              <a:t>Lecture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254">
                <a:latin typeface="Calibri"/>
                <a:cs typeface="Calibri"/>
              </a:rPr>
              <a:t>2)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Random </a:t>
            </a:r>
            <a:r>
              <a:rPr dirty="0" sz="2800" spc="-15">
                <a:latin typeface="Calibri"/>
                <a:cs typeface="Calibri"/>
              </a:rPr>
              <a:t>walk </a:t>
            </a:r>
            <a:r>
              <a:rPr dirty="0" sz="2800" spc="-10">
                <a:latin typeface="Calibri"/>
                <a:cs typeface="Calibri"/>
              </a:rPr>
              <a:t>approaches </a:t>
            </a:r>
            <a:r>
              <a:rPr dirty="0" sz="2800" spc="-15" b="1">
                <a:latin typeface="Calibri"/>
                <a:cs typeface="Calibri"/>
              </a:rPr>
              <a:t>(covered</a:t>
            </a:r>
            <a:r>
              <a:rPr dirty="0" sz="2800" spc="65" b="1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today)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3858767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02297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So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what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method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should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use..?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No </a:t>
            </a:r>
            <a:r>
              <a:rPr dirty="0"/>
              <a:t>one </a:t>
            </a:r>
            <a:r>
              <a:rPr dirty="0" spc="-5"/>
              <a:t>method wins </a:t>
            </a:r>
            <a:r>
              <a:rPr dirty="0"/>
              <a:t>in all</a:t>
            </a:r>
            <a:r>
              <a:rPr dirty="0" spc="-20"/>
              <a:t> </a:t>
            </a:r>
            <a:r>
              <a:rPr dirty="0" spc="-10"/>
              <a:t>cases….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402839"/>
            <a:ext cx="7933055" cy="31927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25475" marR="5080" indent="-274320">
              <a:lnSpc>
                <a:spcPct val="98900"/>
              </a:lnSpc>
              <a:spcBef>
                <a:spcPts val="1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10">
                <a:latin typeface="Calibri"/>
                <a:cs typeface="Calibri"/>
              </a:rPr>
              <a:t>E.g., </a:t>
            </a:r>
            <a:r>
              <a:rPr dirty="0" sz="2700" spc="-25">
                <a:latin typeface="Calibri"/>
                <a:cs typeface="Calibri"/>
              </a:rPr>
              <a:t>node2vec </a:t>
            </a:r>
            <a:r>
              <a:rPr dirty="0" sz="2700" spc="-30">
                <a:latin typeface="Calibri"/>
                <a:cs typeface="Calibri"/>
              </a:rPr>
              <a:t>performs better </a:t>
            </a:r>
            <a:r>
              <a:rPr dirty="0" sz="2700" spc="-10">
                <a:latin typeface="Calibri"/>
                <a:cs typeface="Calibri"/>
              </a:rPr>
              <a:t>on </a:t>
            </a:r>
            <a:r>
              <a:rPr dirty="0" sz="2700" spc="-15">
                <a:latin typeface="Calibri"/>
                <a:cs typeface="Calibri"/>
              </a:rPr>
              <a:t>node </a:t>
            </a:r>
            <a:r>
              <a:rPr dirty="0" sz="2700" spc="-60">
                <a:latin typeface="Calibri"/>
                <a:cs typeface="Calibri"/>
              </a:rPr>
              <a:t>classification  </a:t>
            </a:r>
            <a:r>
              <a:rPr dirty="0" sz="2700" spc="-15">
                <a:latin typeface="Calibri"/>
                <a:cs typeface="Calibri"/>
              </a:rPr>
              <a:t>while </a:t>
            </a:r>
            <a:r>
              <a:rPr dirty="0" sz="2700" spc="-25">
                <a:latin typeface="Calibri"/>
                <a:cs typeface="Calibri"/>
              </a:rPr>
              <a:t>alternative methods perform </a:t>
            </a:r>
            <a:r>
              <a:rPr dirty="0" sz="2700" spc="-35">
                <a:latin typeface="Calibri"/>
                <a:cs typeface="Calibri"/>
              </a:rPr>
              <a:t>better </a:t>
            </a:r>
            <a:r>
              <a:rPr dirty="0" sz="2700" spc="-10">
                <a:latin typeface="Calibri"/>
                <a:cs typeface="Calibri"/>
              </a:rPr>
              <a:t>on </a:t>
            </a:r>
            <a:r>
              <a:rPr dirty="0" sz="2700" spc="-15">
                <a:latin typeface="Calibri"/>
                <a:cs typeface="Calibri"/>
              </a:rPr>
              <a:t>link  </a:t>
            </a:r>
            <a:r>
              <a:rPr dirty="0" sz="2700" spc="-20">
                <a:latin typeface="Calibri"/>
                <a:cs typeface="Calibri"/>
              </a:rPr>
              <a:t>prediction </a:t>
            </a:r>
            <a:r>
              <a:rPr dirty="0" sz="2700" spc="-25">
                <a:latin typeface="Calibri"/>
                <a:cs typeface="Calibri"/>
              </a:rPr>
              <a:t>(</a:t>
            </a:r>
            <a:r>
              <a:rPr dirty="0" sz="2700" spc="-25" u="heavy">
                <a:solidFill>
                  <a:srgbClr val="168BBA"/>
                </a:solidFill>
                <a:latin typeface="Calibri"/>
                <a:cs typeface="Calibri"/>
              </a:rPr>
              <a:t>Goyal </a:t>
            </a:r>
            <a:r>
              <a:rPr dirty="0" sz="2700" spc="-15" u="heavy">
                <a:solidFill>
                  <a:srgbClr val="168BBA"/>
                </a:solidFill>
                <a:latin typeface="Calibri"/>
                <a:cs typeface="Calibri"/>
              </a:rPr>
              <a:t>and </a:t>
            </a:r>
            <a:r>
              <a:rPr dirty="0" sz="2700" spc="-40" u="heavy">
                <a:solidFill>
                  <a:srgbClr val="168BBA"/>
                </a:solidFill>
                <a:latin typeface="Calibri"/>
                <a:cs typeface="Calibri"/>
              </a:rPr>
              <a:t>Ferrara, </a:t>
            </a:r>
            <a:r>
              <a:rPr dirty="0" sz="2700" spc="-15" u="heavy">
                <a:solidFill>
                  <a:srgbClr val="168BBA"/>
                </a:solidFill>
                <a:latin typeface="Calibri"/>
                <a:cs typeface="Calibri"/>
              </a:rPr>
              <a:t>2017</a:t>
            </a:r>
            <a:r>
              <a:rPr dirty="0" sz="2700" spc="-55" u="heavy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700" spc="-20" u="heavy">
                <a:solidFill>
                  <a:srgbClr val="168BBA"/>
                </a:solidFill>
                <a:latin typeface="Calibri"/>
                <a:cs typeface="Calibri"/>
              </a:rPr>
              <a:t>survey</a:t>
            </a:r>
            <a:r>
              <a:rPr dirty="0" sz="2700" spc="-20">
                <a:latin typeface="Calibri"/>
                <a:cs typeface="Calibri"/>
              </a:rPr>
              <a:t>)</a:t>
            </a:r>
            <a:endParaRPr sz="2700">
              <a:latin typeface="Calibri"/>
              <a:cs typeface="Calibri"/>
            </a:endParaRPr>
          </a:p>
          <a:p>
            <a:pPr marL="332740" marR="156845" indent="-320040">
              <a:lnSpc>
                <a:spcPts val="3890"/>
              </a:lnSpc>
              <a:spcBef>
                <a:spcPts val="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Random </a:t>
            </a:r>
            <a:r>
              <a:rPr dirty="0" sz="3200" spc="-10">
                <a:latin typeface="Calibri"/>
                <a:cs typeface="Calibri"/>
              </a:rPr>
              <a:t>walk approaches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15">
                <a:latin typeface="Calibri"/>
                <a:cs typeface="Calibri"/>
              </a:rPr>
              <a:t>generally more  efficient</a:t>
            </a:r>
            <a:endParaRPr sz="3200">
              <a:latin typeface="Calibri"/>
              <a:cs typeface="Calibri"/>
            </a:endParaRPr>
          </a:p>
          <a:p>
            <a:pPr marL="332740" marR="542925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general: </a:t>
            </a:r>
            <a:r>
              <a:rPr dirty="0" sz="3200" spc="-10">
                <a:latin typeface="Calibri"/>
                <a:cs typeface="Calibri"/>
              </a:rPr>
              <a:t>Must </a:t>
            </a:r>
            <a:r>
              <a:rPr dirty="0" sz="3200" spc="-5">
                <a:latin typeface="Calibri"/>
                <a:cs typeface="Calibri"/>
              </a:rPr>
              <a:t>choose definition </a:t>
            </a:r>
            <a:r>
              <a:rPr dirty="0" sz="3200">
                <a:latin typeface="Calibri"/>
                <a:cs typeface="Calibri"/>
              </a:rPr>
              <a:t>of node  </a:t>
            </a:r>
            <a:r>
              <a:rPr dirty="0" sz="3200" spc="-5">
                <a:latin typeface="Calibri"/>
                <a:cs typeface="Calibri"/>
              </a:rPr>
              <a:t>similarity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15">
                <a:latin typeface="Calibri"/>
                <a:cs typeface="Calibri"/>
              </a:rPr>
              <a:t>matches </a:t>
            </a:r>
            <a:r>
              <a:rPr dirty="0" sz="3200" spc="-10">
                <a:latin typeface="Calibri"/>
                <a:cs typeface="Calibri"/>
              </a:rPr>
              <a:t>your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application!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718559"/>
            <a:ext cx="6531864" cy="1298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78628"/>
            <a:ext cx="5547995" cy="12496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CS224W: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Machine Learning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with Graphs 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Jure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Stanford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3200" spc="-15">
                <a:solidFill>
                  <a:srgbClr val="FFFFFF"/>
                </a:solidFill>
                <a:latin typeface="Arial"/>
                <a:cs typeface="Arial"/>
                <a:hlinkClick r:id="rId5"/>
              </a:rPr>
              <a:t>http://cs224w.stanford.edu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4535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936865" cy="95821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332740" marR="5080" indent="-320040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2390140" algn="l"/>
              </a:tabLst>
            </a:pPr>
            <a:r>
              <a:rPr dirty="0" spc="-5" b="1">
                <a:latin typeface="Calibri"/>
                <a:cs typeface="Calibri"/>
              </a:rPr>
              <a:t>Goal:</a:t>
            </a:r>
            <a:r>
              <a:rPr dirty="0" spc="10" b="1">
                <a:latin typeface="Calibri"/>
                <a:cs typeface="Calibri"/>
              </a:rPr>
              <a:t> </a:t>
            </a:r>
            <a:r>
              <a:rPr dirty="0" spc="-35"/>
              <a:t>Want	</a:t>
            </a:r>
            <a:r>
              <a:rPr dirty="0" spc="-15"/>
              <a:t>to </a:t>
            </a:r>
            <a:r>
              <a:rPr dirty="0" spc="-5"/>
              <a:t>embed </a:t>
            </a:r>
            <a:r>
              <a:rPr dirty="0"/>
              <a:t>a </a:t>
            </a:r>
            <a:r>
              <a:rPr dirty="0" spc="-10"/>
              <a:t>subgraph </a:t>
            </a:r>
            <a:r>
              <a:rPr dirty="0" spc="-5"/>
              <a:t>or </a:t>
            </a:r>
            <a:r>
              <a:rPr dirty="0"/>
              <a:t>an</a:t>
            </a:r>
            <a:r>
              <a:rPr dirty="0" spc="-5"/>
              <a:t> </a:t>
            </a:r>
            <a:r>
              <a:rPr dirty="0" spc="-15"/>
              <a:t>entire </a:t>
            </a:r>
            <a:r>
              <a:rPr dirty="0"/>
              <a:t> </a:t>
            </a:r>
            <a:r>
              <a:rPr dirty="0" spc="-15"/>
              <a:t>graph </a:t>
            </a:r>
            <a:r>
              <a:rPr dirty="0" spc="60">
                <a:latin typeface="Cambria Math"/>
                <a:cs typeface="Cambria Math"/>
              </a:rPr>
              <a:t>𝐺</a:t>
            </a:r>
            <a:r>
              <a:rPr dirty="0" spc="60"/>
              <a:t>. </a:t>
            </a:r>
            <a:r>
              <a:rPr dirty="0" spc="-15"/>
              <a:t>Graph </a:t>
            </a:r>
            <a:r>
              <a:rPr dirty="0" spc="-5"/>
              <a:t>embedding:</a:t>
            </a:r>
            <a:r>
              <a:rPr dirty="0" spc="-25"/>
              <a:t> </a:t>
            </a:r>
            <a:r>
              <a:rPr dirty="0" spc="25">
                <a:solidFill>
                  <a:srgbClr val="C00000"/>
                </a:solidFill>
                <a:latin typeface="Cambria Math"/>
                <a:cs typeface="Cambria Math"/>
              </a:rPr>
              <a:t>𝐳</a:t>
            </a:r>
            <a:r>
              <a:rPr dirty="0" baseline="-15700" sz="3450" spc="37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sz="3200" spc="25"/>
              <a:t>.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4891242"/>
            <a:ext cx="6354445" cy="150812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0" b="1">
                <a:solidFill>
                  <a:srgbClr val="C00000"/>
                </a:solidFill>
                <a:latin typeface="Calibri"/>
                <a:cs typeface="Calibri"/>
              </a:rPr>
              <a:t>Tasks: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Classifying </a:t>
            </a:r>
            <a:r>
              <a:rPr dirty="0" sz="2800" spc="-20">
                <a:latin typeface="Calibri"/>
                <a:cs typeface="Calibri"/>
              </a:rPr>
              <a:t>toxic </a:t>
            </a:r>
            <a:r>
              <a:rPr dirty="0" sz="2800" spc="-5">
                <a:latin typeface="Calibri"/>
                <a:cs typeface="Calibri"/>
              </a:rPr>
              <a:t>vs. </a:t>
            </a:r>
            <a:r>
              <a:rPr dirty="0" sz="2800" spc="-15">
                <a:latin typeface="Calibri"/>
                <a:cs typeface="Calibri"/>
              </a:rPr>
              <a:t>non-toxic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molecules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Identifying </a:t>
            </a:r>
            <a:r>
              <a:rPr dirty="0" sz="2800" spc="-5">
                <a:latin typeface="Calibri"/>
                <a:cs typeface="Calibri"/>
              </a:rPr>
              <a:t>anomalous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6799" y="2209800"/>
            <a:ext cx="7466282" cy="2590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6437" y="2569965"/>
            <a:ext cx="3413760" cy="1864360"/>
          </a:xfrm>
          <a:custGeom>
            <a:avLst/>
            <a:gdLst/>
            <a:ahLst/>
            <a:cxnLst/>
            <a:rect l="l" t="t" r="r" b="b"/>
            <a:pathLst>
              <a:path w="3413760" h="1864360">
                <a:moveTo>
                  <a:pt x="3033" y="1123334"/>
                </a:moveTo>
                <a:lnTo>
                  <a:pt x="436" y="1090500"/>
                </a:lnTo>
                <a:lnTo>
                  <a:pt x="0" y="1057717"/>
                </a:lnTo>
                <a:lnTo>
                  <a:pt x="1688" y="1025008"/>
                </a:lnTo>
                <a:lnTo>
                  <a:pt x="11307" y="959907"/>
                </a:lnTo>
                <a:lnTo>
                  <a:pt x="29022" y="895384"/>
                </a:lnTo>
                <a:lnTo>
                  <a:pt x="54561" y="831624"/>
                </a:lnTo>
                <a:lnTo>
                  <a:pt x="87655" y="768816"/>
                </a:lnTo>
                <a:lnTo>
                  <a:pt x="128031" y="707145"/>
                </a:lnTo>
                <a:lnTo>
                  <a:pt x="175420" y="646798"/>
                </a:lnTo>
                <a:lnTo>
                  <a:pt x="201659" y="617179"/>
                </a:lnTo>
                <a:lnTo>
                  <a:pt x="229549" y="587962"/>
                </a:lnTo>
                <a:lnTo>
                  <a:pt x="259057" y="559168"/>
                </a:lnTo>
                <a:lnTo>
                  <a:pt x="290149" y="530823"/>
                </a:lnTo>
                <a:lnTo>
                  <a:pt x="322790" y="502949"/>
                </a:lnTo>
                <a:lnTo>
                  <a:pt x="356947" y="475569"/>
                </a:lnTo>
                <a:lnTo>
                  <a:pt x="392586" y="448707"/>
                </a:lnTo>
                <a:lnTo>
                  <a:pt x="429674" y="422385"/>
                </a:lnTo>
                <a:lnTo>
                  <a:pt x="468175" y="396629"/>
                </a:lnTo>
                <a:lnTo>
                  <a:pt x="508057" y="371460"/>
                </a:lnTo>
                <a:lnTo>
                  <a:pt x="549286" y="346902"/>
                </a:lnTo>
                <a:lnTo>
                  <a:pt x="591827" y="322979"/>
                </a:lnTo>
                <a:lnTo>
                  <a:pt x="635647" y="299713"/>
                </a:lnTo>
                <a:lnTo>
                  <a:pt x="680712" y="277129"/>
                </a:lnTo>
                <a:lnTo>
                  <a:pt x="726987" y="255248"/>
                </a:lnTo>
                <a:lnTo>
                  <a:pt x="774440" y="234096"/>
                </a:lnTo>
                <a:lnTo>
                  <a:pt x="823036" y="213695"/>
                </a:lnTo>
                <a:lnTo>
                  <a:pt x="872742" y="194068"/>
                </a:lnTo>
                <a:lnTo>
                  <a:pt x="923523" y="175239"/>
                </a:lnTo>
                <a:lnTo>
                  <a:pt x="975346" y="157232"/>
                </a:lnTo>
                <a:lnTo>
                  <a:pt x="1028177" y="140068"/>
                </a:lnTo>
                <a:lnTo>
                  <a:pt x="1081981" y="123773"/>
                </a:lnTo>
                <a:lnTo>
                  <a:pt x="1136725" y="108368"/>
                </a:lnTo>
                <a:lnTo>
                  <a:pt x="1192376" y="93879"/>
                </a:lnTo>
                <a:lnTo>
                  <a:pt x="1248899" y="80327"/>
                </a:lnTo>
                <a:lnTo>
                  <a:pt x="1306260" y="67736"/>
                </a:lnTo>
                <a:lnTo>
                  <a:pt x="1364426" y="56129"/>
                </a:lnTo>
                <a:lnTo>
                  <a:pt x="1423363" y="45531"/>
                </a:lnTo>
                <a:lnTo>
                  <a:pt x="1483036" y="35963"/>
                </a:lnTo>
                <a:lnTo>
                  <a:pt x="1543412" y="27451"/>
                </a:lnTo>
                <a:lnTo>
                  <a:pt x="1604457" y="20016"/>
                </a:lnTo>
                <a:lnTo>
                  <a:pt x="1665632" y="13732"/>
                </a:lnTo>
                <a:lnTo>
                  <a:pt x="1726393" y="8648"/>
                </a:lnTo>
                <a:lnTo>
                  <a:pt x="1786702" y="4748"/>
                </a:lnTo>
                <a:lnTo>
                  <a:pt x="1846522" y="2016"/>
                </a:lnTo>
                <a:lnTo>
                  <a:pt x="1905813" y="439"/>
                </a:lnTo>
                <a:lnTo>
                  <a:pt x="1964539" y="0"/>
                </a:lnTo>
                <a:lnTo>
                  <a:pt x="2022659" y="683"/>
                </a:lnTo>
                <a:lnTo>
                  <a:pt x="2080137" y="2475"/>
                </a:lnTo>
                <a:lnTo>
                  <a:pt x="2136935" y="5359"/>
                </a:lnTo>
                <a:lnTo>
                  <a:pt x="2193013" y="9321"/>
                </a:lnTo>
                <a:lnTo>
                  <a:pt x="2248334" y="14345"/>
                </a:lnTo>
                <a:lnTo>
                  <a:pt x="2302859" y="20416"/>
                </a:lnTo>
                <a:lnTo>
                  <a:pt x="2356551" y="27518"/>
                </a:lnTo>
                <a:lnTo>
                  <a:pt x="2409371" y="35637"/>
                </a:lnTo>
                <a:lnTo>
                  <a:pt x="2461281" y="44757"/>
                </a:lnTo>
                <a:lnTo>
                  <a:pt x="2512242" y="54862"/>
                </a:lnTo>
                <a:lnTo>
                  <a:pt x="2562217" y="65939"/>
                </a:lnTo>
                <a:lnTo>
                  <a:pt x="2611168" y="77970"/>
                </a:lnTo>
                <a:lnTo>
                  <a:pt x="2659055" y="90942"/>
                </a:lnTo>
                <a:lnTo>
                  <a:pt x="2705841" y="104839"/>
                </a:lnTo>
                <a:lnTo>
                  <a:pt x="2751488" y="119646"/>
                </a:lnTo>
                <a:lnTo>
                  <a:pt x="2795958" y="135347"/>
                </a:lnTo>
                <a:lnTo>
                  <a:pt x="2839211" y="151927"/>
                </a:lnTo>
                <a:lnTo>
                  <a:pt x="2881211" y="169371"/>
                </a:lnTo>
                <a:lnTo>
                  <a:pt x="2921919" y="187663"/>
                </a:lnTo>
                <a:lnTo>
                  <a:pt x="2961296" y="206789"/>
                </a:lnTo>
                <a:lnTo>
                  <a:pt x="2999305" y="226733"/>
                </a:lnTo>
                <a:lnTo>
                  <a:pt x="3035907" y="247481"/>
                </a:lnTo>
                <a:lnTo>
                  <a:pt x="3071064" y="269015"/>
                </a:lnTo>
                <a:lnTo>
                  <a:pt x="3104737" y="291323"/>
                </a:lnTo>
                <a:lnTo>
                  <a:pt x="3136890" y="314387"/>
                </a:lnTo>
                <a:lnTo>
                  <a:pt x="3167483" y="338193"/>
                </a:lnTo>
                <a:lnTo>
                  <a:pt x="3223837" y="387971"/>
                </a:lnTo>
                <a:lnTo>
                  <a:pt x="3273495" y="440533"/>
                </a:lnTo>
                <a:lnTo>
                  <a:pt x="3316150" y="495758"/>
                </a:lnTo>
                <a:lnTo>
                  <a:pt x="3351497" y="553524"/>
                </a:lnTo>
                <a:lnTo>
                  <a:pt x="3379230" y="613709"/>
                </a:lnTo>
                <a:lnTo>
                  <a:pt x="3399045" y="676191"/>
                </a:lnTo>
                <a:lnTo>
                  <a:pt x="3410634" y="740847"/>
                </a:lnTo>
                <a:lnTo>
                  <a:pt x="3413667" y="806464"/>
                </a:lnTo>
                <a:lnTo>
                  <a:pt x="3411978" y="839172"/>
                </a:lnTo>
                <a:lnTo>
                  <a:pt x="3402360" y="904273"/>
                </a:lnTo>
                <a:lnTo>
                  <a:pt x="3384645" y="968797"/>
                </a:lnTo>
                <a:lnTo>
                  <a:pt x="3359105" y="1032556"/>
                </a:lnTo>
                <a:lnTo>
                  <a:pt x="3326012" y="1095365"/>
                </a:lnTo>
                <a:lnTo>
                  <a:pt x="3285635" y="1157036"/>
                </a:lnTo>
                <a:lnTo>
                  <a:pt x="3238247" y="1217383"/>
                </a:lnTo>
                <a:lnTo>
                  <a:pt x="3212008" y="1247002"/>
                </a:lnTo>
                <a:lnTo>
                  <a:pt x="3184117" y="1276219"/>
                </a:lnTo>
                <a:lnTo>
                  <a:pt x="3154609" y="1305012"/>
                </a:lnTo>
                <a:lnTo>
                  <a:pt x="3123518" y="1333358"/>
                </a:lnTo>
                <a:lnTo>
                  <a:pt x="3090877" y="1361232"/>
                </a:lnTo>
                <a:lnTo>
                  <a:pt x="3056719" y="1388612"/>
                </a:lnTo>
                <a:lnTo>
                  <a:pt x="3021080" y="1415474"/>
                </a:lnTo>
                <a:lnTo>
                  <a:pt x="2983993" y="1441795"/>
                </a:lnTo>
                <a:lnTo>
                  <a:pt x="2945491" y="1467552"/>
                </a:lnTo>
                <a:lnTo>
                  <a:pt x="2905609" y="1492721"/>
                </a:lnTo>
                <a:lnTo>
                  <a:pt x="2864381" y="1517279"/>
                </a:lnTo>
                <a:lnTo>
                  <a:pt x="2821840" y="1541202"/>
                </a:lnTo>
                <a:lnTo>
                  <a:pt x="2778020" y="1564468"/>
                </a:lnTo>
                <a:lnTo>
                  <a:pt x="2732955" y="1587052"/>
                </a:lnTo>
                <a:lnTo>
                  <a:pt x="2686679" y="1608932"/>
                </a:lnTo>
                <a:lnTo>
                  <a:pt x="2639226" y="1630085"/>
                </a:lnTo>
                <a:lnTo>
                  <a:pt x="2590630" y="1650486"/>
                </a:lnTo>
                <a:lnTo>
                  <a:pt x="2540924" y="1670112"/>
                </a:lnTo>
                <a:lnTo>
                  <a:pt x="2490143" y="1688941"/>
                </a:lnTo>
                <a:lnTo>
                  <a:pt x="2438320" y="1706949"/>
                </a:lnTo>
                <a:lnTo>
                  <a:pt x="2385490" y="1724112"/>
                </a:lnTo>
                <a:lnTo>
                  <a:pt x="2331686" y="1740408"/>
                </a:lnTo>
                <a:lnTo>
                  <a:pt x="2276941" y="1755812"/>
                </a:lnTo>
                <a:lnTo>
                  <a:pt x="2221290" y="1770302"/>
                </a:lnTo>
                <a:lnTo>
                  <a:pt x="2164768" y="1783854"/>
                </a:lnTo>
                <a:lnTo>
                  <a:pt x="2107406" y="1796445"/>
                </a:lnTo>
                <a:lnTo>
                  <a:pt x="2049240" y="1808051"/>
                </a:lnTo>
                <a:lnTo>
                  <a:pt x="1990304" y="1818650"/>
                </a:lnTo>
                <a:lnTo>
                  <a:pt x="1930631" y="1828217"/>
                </a:lnTo>
                <a:lnTo>
                  <a:pt x="1870254" y="1836730"/>
                </a:lnTo>
                <a:lnTo>
                  <a:pt x="1809209" y="1844165"/>
                </a:lnTo>
                <a:lnTo>
                  <a:pt x="1748035" y="1850449"/>
                </a:lnTo>
                <a:lnTo>
                  <a:pt x="1687274" y="1855533"/>
                </a:lnTo>
                <a:lnTo>
                  <a:pt x="1626964" y="1859433"/>
                </a:lnTo>
                <a:lnTo>
                  <a:pt x="1567145" y="1862164"/>
                </a:lnTo>
                <a:lnTo>
                  <a:pt x="1507853" y="1863742"/>
                </a:lnTo>
                <a:lnTo>
                  <a:pt x="1449128" y="1864181"/>
                </a:lnTo>
                <a:lnTo>
                  <a:pt x="1391007" y="1863497"/>
                </a:lnTo>
                <a:lnTo>
                  <a:pt x="1333529" y="1861706"/>
                </a:lnTo>
                <a:lnTo>
                  <a:pt x="1276732" y="1858821"/>
                </a:lnTo>
                <a:lnTo>
                  <a:pt x="1220654" y="1854860"/>
                </a:lnTo>
                <a:lnTo>
                  <a:pt x="1165333" y="1849836"/>
                </a:lnTo>
                <a:lnTo>
                  <a:pt x="1110807" y="1843765"/>
                </a:lnTo>
                <a:lnTo>
                  <a:pt x="1057115" y="1836663"/>
                </a:lnTo>
                <a:lnTo>
                  <a:pt x="1004295" y="1828544"/>
                </a:lnTo>
                <a:lnTo>
                  <a:pt x="952386" y="1819424"/>
                </a:lnTo>
                <a:lnTo>
                  <a:pt x="901424" y="1809318"/>
                </a:lnTo>
                <a:lnTo>
                  <a:pt x="851449" y="1798242"/>
                </a:lnTo>
                <a:lnTo>
                  <a:pt x="802499" y="1786210"/>
                </a:lnTo>
                <a:lnTo>
                  <a:pt x="754611" y="1773238"/>
                </a:lnTo>
                <a:lnTo>
                  <a:pt x="707825" y="1759342"/>
                </a:lnTo>
                <a:lnTo>
                  <a:pt x="662178" y="1744535"/>
                </a:lnTo>
                <a:lnTo>
                  <a:pt x="617709" y="1728834"/>
                </a:lnTo>
                <a:lnTo>
                  <a:pt x="574455" y="1712254"/>
                </a:lnTo>
                <a:lnTo>
                  <a:pt x="532455" y="1694810"/>
                </a:lnTo>
                <a:lnTo>
                  <a:pt x="491748" y="1676518"/>
                </a:lnTo>
                <a:lnTo>
                  <a:pt x="452371" y="1657392"/>
                </a:lnTo>
                <a:lnTo>
                  <a:pt x="414362" y="1637447"/>
                </a:lnTo>
                <a:lnTo>
                  <a:pt x="377760" y="1616700"/>
                </a:lnTo>
                <a:lnTo>
                  <a:pt x="342603" y="1595165"/>
                </a:lnTo>
                <a:lnTo>
                  <a:pt x="308929" y="1572858"/>
                </a:lnTo>
                <a:lnTo>
                  <a:pt x="276777" y="1549794"/>
                </a:lnTo>
                <a:lnTo>
                  <a:pt x="246184" y="1525987"/>
                </a:lnTo>
                <a:lnTo>
                  <a:pt x="189829" y="1476210"/>
                </a:lnTo>
                <a:lnTo>
                  <a:pt x="140172" y="1423648"/>
                </a:lnTo>
                <a:lnTo>
                  <a:pt x="97517" y="1368422"/>
                </a:lnTo>
                <a:lnTo>
                  <a:pt x="62170" y="1310657"/>
                </a:lnTo>
                <a:lnTo>
                  <a:pt x="34436" y="1250472"/>
                </a:lnTo>
                <a:lnTo>
                  <a:pt x="14622" y="1187990"/>
                </a:lnTo>
                <a:lnTo>
                  <a:pt x="3033" y="1123334"/>
                </a:lnTo>
                <a:close/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825231" y="2831067"/>
            <a:ext cx="414020" cy="369570"/>
          </a:xfrm>
          <a:prstGeom prst="rect">
            <a:avLst/>
          </a:prstGeom>
          <a:solidFill>
            <a:srgbClr val="CC9A97"/>
          </a:solidFill>
        </p:spPr>
        <p:txBody>
          <a:bodyPr wrap="square" lIns="0" tIns="0" rIns="0" bIns="0" rtlCol="0" vert="horz">
            <a:spAutoFit/>
          </a:bodyPr>
          <a:lstStyle/>
          <a:p>
            <a:pPr marL="43180">
              <a:lnSpc>
                <a:spcPts val="2790"/>
              </a:lnSpc>
            </a:pPr>
            <a:r>
              <a:rPr dirty="0" sz="2400" spc="225">
                <a:latin typeface="Cambria Math"/>
                <a:cs typeface="Cambria Math"/>
              </a:rPr>
              <a:t>𝒛</a:t>
            </a:r>
            <a:r>
              <a:rPr dirty="0" baseline="-15432" sz="2700" spc="337">
                <a:latin typeface="Cambria Math"/>
                <a:cs typeface="Cambria Math"/>
              </a:rPr>
              <a:t>"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41920" y="2908005"/>
            <a:ext cx="584835" cy="223520"/>
          </a:xfrm>
          <a:custGeom>
            <a:avLst/>
            <a:gdLst/>
            <a:ahLst/>
            <a:cxnLst/>
            <a:rect l="l" t="t" r="r" b="b"/>
            <a:pathLst>
              <a:path w="584835" h="223519">
                <a:moveTo>
                  <a:pt x="510363" y="0"/>
                </a:moveTo>
                <a:lnTo>
                  <a:pt x="0" y="164804"/>
                </a:lnTo>
                <a:lnTo>
                  <a:pt x="122274" y="223282"/>
                </a:lnTo>
                <a:lnTo>
                  <a:pt x="584791" y="101008"/>
                </a:lnTo>
                <a:lnTo>
                  <a:pt x="5103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58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277368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23945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1">
                <a:latin typeface="Calibri"/>
                <a:cs typeface="Calibri"/>
              </a:rPr>
              <a:t>Simple idea</a:t>
            </a:r>
            <a:r>
              <a:rPr dirty="0" spc="-6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1: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58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741932"/>
            <a:ext cx="7133590" cy="446341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332740" marR="1304925" indent="-320040">
              <a:lnSpc>
                <a:spcPts val="3410"/>
              </a:lnSpc>
              <a:spcBef>
                <a:spcPts val="5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Run a </a:t>
            </a:r>
            <a:r>
              <a:rPr dirty="0" sz="3200" spc="-20">
                <a:latin typeface="Calibri"/>
                <a:cs typeface="Calibri"/>
              </a:rPr>
              <a:t>standard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 spc="-5">
                <a:latin typeface="Calibri"/>
                <a:cs typeface="Calibri"/>
              </a:rPr>
              <a:t>embedding  </a:t>
            </a:r>
            <a:r>
              <a:rPr dirty="0" sz="3200" spc="-10">
                <a:latin typeface="Calibri"/>
                <a:cs typeface="Calibri"/>
              </a:rPr>
              <a:t>technique </a:t>
            </a:r>
            <a:r>
              <a:rPr dirty="0" sz="3200" spc="-5" i="1">
                <a:latin typeface="Calibri"/>
                <a:cs typeface="Calibri"/>
              </a:rPr>
              <a:t>on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(sub)graph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𝐺</a:t>
            </a:r>
            <a:endParaRPr sz="3200">
              <a:latin typeface="Cambria Math"/>
              <a:cs typeface="Cambria Math"/>
            </a:endParaRPr>
          </a:p>
          <a:p>
            <a:pPr marL="332740" marR="821690" indent="-320040">
              <a:lnSpc>
                <a:spcPts val="3379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Then </a:t>
            </a:r>
            <a:r>
              <a:rPr dirty="0" sz="3200" spc="-15">
                <a:latin typeface="Calibri"/>
                <a:cs typeface="Calibri"/>
              </a:rPr>
              <a:t>just </a:t>
            </a:r>
            <a:r>
              <a:rPr dirty="0" sz="3200" spc="-5">
                <a:latin typeface="Calibri"/>
                <a:cs typeface="Calibri"/>
              </a:rPr>
              <a:t>sum </a:t>
            </a:r>
            <a:r>
              <a:rPr dirty="0" sz="3200">
                <a:latin typeface="Calibri"/>
                <a:cs typeface="Calibri"/>
              </a:rPr>
              <a:t>(or </a:t>
            </a:r>
            <a:r>
              <a:rPr dirty="0" sz="3200" spc="-25">
                <a:latin typeface="Calibri"/>
                <a:cs typeface="Calibri"/>
              </a:rPr>
              <a:t>average)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node  embeddings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10">
                <a:latin typeface="Calibri"/>
                <a:cs typeface="Calibri"/>
              </a:rPr>
              <a:t>(sub)graph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𝐺</a:t>
            </a:r>
            <a:endParaRPr sz="3200">
              <a:latin typeface="Cambria Math"/>
              <a:cs typeface="Cambria Math"/>
            </a:endParaRPr>
          </a:p>
          <a:p>
            <a:pPr marL="2367280">
              <a:lnSpc>
                <a:spcPct val="100000"/>
              </a:lnSpc>
              <a:spcBef>
                <a:spcPts val="3170"/>
              </a:spcBef>
            </a:pPr>
            <a:r>
              <a:rPr dirty="0" sz="4000" spc="-5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5325" sz="4350" spc="-7">
                <a:solidFill>
                  <a:srgbClr val="C00000"/>
                </a:solidFill>
                <a:latin typeface="Cambria Math"/>
                <a:cs typeface="Cambria Math"/>
              </a:rPr>
              <a:t>𝑮 </a:t>
            </a:r>
            <a:r>
              <a:rPr dirty="0" sz="4000">
                <a:solidFill>
                  <a:srgbClr val="C00000"/>
                </a:solidFill>
                <a:latin typeface="Cambria Math"/>
                <a:cs typeface="Cambria Math"/>
              </a:rPr>
              <a:t>= </a:t>
            </a:r>
            <a:r>
              <a:rPr dirty="0" sz="4000" spc="2825">
                <a:solidFill>
                  <a:srgbClr val="C00000"/>
                </a:solidFill>
                <a:latin typeface="Cambria Math"/>
                <a:cs typeface="Cambria Math"/>
              </a:rPr>
              <a:t>#</a:t>
            </a:r>
            <a:r>
              <a:rPr dirty="0" sz="4000" spc="50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4000" spc="-130">
                <a:solidFill>
                  <a:srgbClr val="C00000"/>
                </a:solidFill>
                <a:latin typeface="Cambria Math"/>
                <a:cs typeface="Cambria Math"/>
              </a:rPr>
              <a:t>𝑧</a:t>
            </a:r>
            <a:r>
              <a:rPr dirty="0" baseline="-15325" sz="4350" spc="-195">
                <a:solidFill>
                  <a:srgbClr val="C00000"/>
                </a:solidFill>
                <a:latin typeface="Cambria Math"/>
                <a:cs typeface="Cambria Math"/>
              </a:rPr>
              <a:t>#</a:t>
            </a:r>
            <a:endParaRPr baseline="-15325" sz="4350">
              <a:latin typeface="Cambria Math"/>
              <a:cs typeface="Cambria Math"/>
            </a:endParaRPr>
          </a:p>
          <a:p>
            <a:pPr algn="ctr" marL="680720">
              <a:lnSpc>
                <a:spcPct val="100000"/>
              </a:lnSpc>
              <a:spcBef>
                <a:spcPts val="1410"/>
              </a:spcBef>
            </a:pPr>
            <a:r>
              <a:rPr dirty="0" sz="2900" spc="-254">
                <a:solidFill>
                  <a:srgbClr val="C00000"/>
                </a:solidFill>
                <a:latin typeface="Cambria Math"/>
                <a:cs typeface="Cambria Math"/>
              </a:rPr>
              <a:t>#∈%</a:t>
            </a:r>
            <a:endParaRPr sz="2900">
              <a:latin typeface="Cambria Math"/>
              <a:cs typeface="Cambria Math"/>
            </a:endParaRPr>
          </a:p>
          <a:p>
            <a:pPr marL="332740" marR="5080" indent="-320040">
              <a:lnSpc>
                <a:spcPts val="3500"/>
              </a:lnSpc>
              <a:spcBef>
                <a:spcPts val="96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Used by</a:t>
            </a:r>
            <a:r>
              <a:rPr dirty="0" sz="3200" spc="-5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3200" spc="-5" u="heavy">
                <a:solidFill>
                  <a:srgbClr val="168BBA"/>
                </a:solidFill>
                <a:latin typeface="Calibri"/>
                <a:cs typeface="Calibri"/>
              </a:rPr>
              <a:t>Duvenaud </a:t>
            </a:r>
            <a:r>
              <a:rPr dirty="0" sz="3200" spc="-15" u="heavy">
                <a:solidFill>
                  <a:srgbClr val="168BBA"/>
                </a:solidFill>
                <a:latin typeface="Calibri"/>
                <a:cs typeface="Calibri"/>
              </a:rPr>
              <a:t>et </a:t>
            </a:r>
            <a:r>
              <a:rPr dirty="0" sz="3200" u="heavy">
                <a:solidFill>
                  <a:srgbClr val="168BBA"/>
                </a:solidFill>
                <a:latin typeface="Calibri"/>
                <a:cs typeface="Calibri"/>
              </a:rPr>
              <a:t>al., 2016</a:t>
            </a:r>
            <a:r>
              <a:rPr dirty="0" sz="3200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classify  molecules based on their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graph</a:t>
            </a:r>
            <a:r>
              <a:rPr dirty="0" sz="3200" spc="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structure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277368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7524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Idea </a:t>
            </a:r>
            <a:r>
              <a:rPr dirty="0" b="1">
                <a:latin typeface="Calibri"/>
                <a:cs typeface="Calibri"/>
              </a:rPr>
              <a:t>2: </a:t>
            </a:r>
            <a:r>
              <a:rPr dirty="0" spc="-10"/>
              <a:t>Introduce </a:t>
            </a:r>
            <a:r>
              <a:rPr dirty="0"/>
              <a:t>a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“virtual node” </a:t>
            </a:r>
            <a:r>
              <a:rPr dirty="0" spc="-30"/>
              <a:t>to  </a:t>
            </a:r>
            <a:r>
              <a:rPr dirty="0" spc="-20"/>
              <a:t>represent </a:t>
            </a:r>
            <a:r>
              <a:rPr dirty="0"/>
              <a:t>the </a:t>
            </a:r>
            <a:r>
              <a:rPr dirty="0" spc="-10"/>
              <a:t>(sub)graph </a:t>
            </a:r>
            <a:r>
              <a:rPr dirty="0"/>
              <a:t>and </a:t>
            </a:r>
            <a:r>
              <a:rPr dirty="0" spc="-5"/>
              <a:t>run </a:t>
            </a:r>
            <a:r>
              <a:rPr dirty="0"/>
              <a:t>a </a:t>
            </a:r>
            <a:r>
              <a:rPr dirty="0" spc="-20"/>
              <a:t>standard  </a:t>
            </a:r>
            <a:r>
              <a:rPr dirty="0" spc="-15"/>
              <a:t>graph </a:t>
            </a:r>
            <a:r>
              <a:rPr dirty="0" spc="-5"/>
              <a:t>embedding</a:t>
            </a:r>
            <a:r>
              <a:rPr dirty="0" spc="40"/>
              <a:t> </a:t>
            </a:r>
            <a:r>
              <a:rPr dirty="0" spc="-10"/>
              <a:t>technique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5247132"/>
            <a:ext cx="6739255" cy="101028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32740" marR="5080" indent="-320040">
              <a:lnSpc>
                <a:spcPct val="101899"/>
              </a:lnSpc>
              <a:spcBef>
                <a:spcPts val="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Proposed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by</a:t>
            </a:r>
            <a:r>
              <a:rPr dirty="0" sz="3200" spc="-5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3200" u="heavy">
                <a:solidFill>
                  <a:srgbClr val="168BBA"/>
                </a:solidFill>
                <a:latin typeface="Calibri"/>
                <a:cs typeface="Calibri"/>
              </a:rPr>
              <a:t>Li </a:t>
            </a:r>
            <a:r>
              <a:rPr dirty="0" sz="3200" spc="-15" u="heavy">
                <a:solidFill>
                  <a:srgbClr val="168BBA"/>
                </a:solidFill>
                <a:latin typeface="Calibri"/>
                <a:cs typeface="Calibri"/>
              </a:rPr>
              <a:t>et </a:t>
            </a:r>
            <a:r>
              <a:rPr dirty="0" sz="3200" u="heavy">
                <a:solidFill>
                  <a:srgbClr val="168BBA"/>
                </a:solidFill>
                <a:latin typeface="Calibri"/>
                <a:cs typeface="Calibri"/>
              </a:rPr>
              <a:t>al., 2016</a:t>
            </a:r>
            <a:r>
              <a:rPr dirty="0" sz="3200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as a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general 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technique </a:t>
            </a:r>
            <a:r>
              <a:rPr dirty="0" sz="3200" spc="-30">
                <a:solidFill>
                  <a:srgbClr val="0000FF"/>
                </a:solidFill>
                <a:latin typeface="Calibri"/>
                <a:cs typeface="Calibri"/>
              </a:rPr>
              <a:t>for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subgraph</a:t>
            </a:r>
            <a:r>
              <a:rPr dirty="0" sz="3200" spc="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embedding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99616" y="2971800"/>
            <a:ext cx="6539580" cy="22692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58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2514600"/>
            <a:ext cx="4969742" cy="3657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1439" y="390143"/>
            <a:ext cx="8906256" cy="4693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4095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0299"/>
              </a:lnSpc>
              <a:spcBef>
                <a:spcPts val="85"/>
              </a:spcBef>
            </a:pPr>
            <a:r>
              <a:rPr dirty="0" spc="-20">
                <a:solidFill>
                  <a:srgbClr val="C00000"/>
                </a:solidFill>
              </a:rPr>
              <a:t>States </a:t>
            </a:r>
            <a:r>
              <a:rPr dirty="0">
                <a:solidFill>
                  <a:srgbClr val="C00000"/>
                </a:solidFill>
              </a:rPr>
              <a:t>in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anonymous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walks </a:t>
            </a:r>
            <a:r>
              <a:rPr dirty="0" spc="-10">
                <a:solidFill>
                  <a:srgbClr val="C00000"/>
                </a:solidFill>
              </a:rPr>
              <a:t>correspond </a:t>
            </a:r>
            <a:r>
              <a:rPr dirty="0" spc="-15">
                <a:solidFill>
                  <a:srgbClr val="C00000"/>
                </a:solidFill>
              </a:rPr>
              <a:t>to </a:t>
            </a:r>
            <a:r>
              <a:rPr dirty="0">
                <a:solidFill>
                  <a:srgbClr val="C00000"/>
                </a:solidFill>
              </a:rPr>
              <a:t>the  </a:t>
            </a:r>
            <a:r>
              <a:rPr dirty="0" spc="-15">
                <a:solidFill>
                  <a:srgbClr val="C00000"/>
                </a:solidFill>
              </a:rPr>
              <a:t>index </a:t>
            </a:r>
            <a:r>
              <a:rPr dirty="0">
                <a:solidFill>
                  <a:srgbClr val="C00000"/>
                </a:solidFill>
              </a:rPr>
              <a:t>of the </a:t>
            </a:r>
            <a:r>
              <a:rPr dirty="0" spc="-20" b="1">
                <a:solidFill>
                  <a:srgbClr val="C00000"/>
                </a:solidFill>
                <a:latin typeface="Calibri"/>
                <a:cs typeface="Calibri"/>
              </a:rPr>
              <a:t>first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time </a:t>
            </a:r>
            <a:r>
              <a:rPr dirty="0" spc="-15">
                <a:solidFill>
                  <a:srgbClr val="C00000"/>
                </a:solidFill>
              </a:rPr>
              <a:t>we </a:t>
            </a:r>
            <a:r>
              <a:rPr dirty="0" spc="-10">
                <a:solidFill>
                  <a:srgbClr val="C00000"/>
                </a:solidFill>
              </a:rPr>
              <a:t>visited </a:t>
            </a:r>
            <a:r>
              <a:rPr dirty="0">
                <a:solidFill>
                  <a:srgbClr val="C00000"/>
                </a:solidFill>
              </a:rPr>
              <a:t>the </a:t>
            </a:r>
            <a:r>
              <a:rPr dirty="0" spc="-5">
                <a:solidFill>
                  <a:srgbClr val="C00000"/>
                </a:solidFill>
              </a:rPr>
              <a:t>node </a:t>
            </a:r>
            <a:r>
              <a:rPr dirty="0">
                <a:solidFill>
                  <a:srgbClr val="C00000"/>
                </a:solidFill>
              </a:rPr>
              <a:t>in a  </a:t>
            </a:r>
            <a:r>
              <a:rPr dirty="0" spc="-15">
                <a:solidFill>
                  <a:srgbClr val="C00000"/>
                </a:solidFill>
              </a:rPr>
              <a:t>random</a:t>
            </a:r>
            <a:r>
              <a:rPr dirty="0" spc="-65">
                <a:solidFill>
                  <a:srgbClr val="C00000"/>
                </a:solidFill>
              </a:rPr>
              <a:t> </a:t>
            </a:r>
            <a:r>
              <a:rPr dirty="0" spc="-10">
                <a:solidFill>
                  <a:srgbClr val="C00000"/>
                </a:solidFill>
              </a:rPr>
              <a:t>walk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58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535940" y="6429755"/>
            <a:ext cx="62033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Anonymous </a:t>
            </a:r>
            <a:r>
              <a:rPr dirty="0" sz="1400" spc="-15">
                <a:solidFill>
                  <a:srgbClr val="008000"/>
                </a:solidFill>
                <a:latin typeface="Arial"/>
                <a:cs typeface="Arial"/>
              </a:rPr>
              <a:t>Walk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Embeddings, ICML 2018</a:t>
            </a:r>
            <a:r>
              <a:rPr dirty="0" sz="1400" spc="7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15" u="sng">
                <a:solidFill>
                  <a:srgbClr val="168BBA"/>
                </a:solidFill>
                <a:latin typeface="Arial"/>
                <a:cs typeface="Arial"/>
              </a:rPr>
              <a:t>https://arxiv.org/pdf/1805.11921.pdf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488" y="387095"/>
            <a:ext cx="8906256" cy="472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44434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Agnostic </a:t>
            </a:r>
            <a:r>
              <a:rPr dirty="0" spc="-15"/>
              <a:t>to </a:t>
            </a:r>
            <a:r>
              <a:rPr dirty="0"/>
              <a:t>the </a:t>
            </a:r>
            <a:r>
              <a:rPr dirty="0" spc="-5"/>
              <a:t>identity of </a:t>
            </a:r>
            <a:r>
              <a:rPr dirty="0"/>
              <a:t>the </a:t>
            </a:r>
            <a:r>
              <a:rPr dirty="0" spc="-5"/>
              <a:t>nodes </a:t>
            </a:r>
            <a:r>
              <a:rPr dirty="0" spc="-10"/>
              <a:t>visited  </a:t>
            </a:r>
            <a:r>
              <a:rPr dirty="0" spc="-5"/>
              <a:t>(hence</a:t>
            </a:r>
            <a:r>
              <a:rPr dirty="0" spc="-20"/>
              <a:t> </a:t>
            </a:r>
            <a:r>
              <a:rPr dirty="0" spc="-10"/>
              <a:t>anonymous)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Example</a:t>
            </a:r>
            <a:r>
              <a:rPr dirty="0" spc="-70"/>
              <a:t> </a:t>
            </a:r>
            <a:r>
              <a:rPr dirty="0" spc="-10"/>
              <a:t>RW1: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3303523"/>
            <a:ext cx="2145665" cy="185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0">
                <a:latin typeface="Calibri"/>
                <a:cs typeface="Calibri"/>
              </a:rPr>
              <a:t>Step </a:t>
            </a:r>
            <a:r>
              <a:rPr dirty="0" sz="2400" spc="-5" b="1">
                <a:latin typeface="Calibri"/>
                <a:cs typeface="Calibri"/>
              </a:rPr>
              <a:t>1</a:t>
            </a:r>
            <a:r>
              <a:rPr dirty="0" sz="2400" spc="-5">
                <a:latin typeface="Calibri"/>
                <a:cs typeface="Calibri"/>
              </a:rPr>
              <a:t>: node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5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0">
                <a:latin typeface="Calibri"/>
                <a:cs typeface="Calibri"/>
              </a:rPr>
              <a:t>Step </a:t>
            </a:r>
            <a:r>
              <a:rPr dirty="0" sz="2400" spc="-5" b="1">
                <a:latin typeface="Calibri"/>
                <a:cs typeface="Calibri"/>
              </a:rPr>
              <a:t>2</a:t>
            </a:r>
            <a:r>
              <a:rPr dirty="0" sz="2400" spc="-5">
                <a:latin typeface="Calibri"/>
                <a:cs typeface="Calibri"/>
              </a:rPr>
              <a:t>: node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845"/>
              </a:lnSpc>
              <a:spcBef>
                <a:spcPts val="25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0">
                <a:latin typeface="Calibri"/>
                <a:cs typeface="Calibri"/>
              </a:rPr>
              <a:t>Step </a:t>
            </a:r>
            <a:r>
              <a:rPr dirty="0" sz="2400" spc="-5" b="1">
                <a:latin typeface="Calibri"/>
                <a:cs typeface="Calibri"/>
              </a:rPr>
              <a:t>3</a:t>
            </a:r>
            <a:r>
              <a:rPr dirty="0" sz="2400" spc="-5">
                <a:latin typeface="Calibri"/>
                <a:cs typeface="Calibri"/>
              </a:rPr>
              <a:t>: node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845"/>
              </a:lnSpc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0">
                <a:latin typeface="Calibri"/>
                <a:cs typeface="Calibri"/>
              </a:rPr>
              <a:t>Step </a:t>
            </a:r>
            <a:r>
              <a:rPr dirty="0" sz="2400" spc="-5" b="1">
                <a:latin typeface="Calibri"/>
                <a:cs typeface="Calibri"/>
              </a:rPr>
              <a:t>4</a:t>
            </a:r>
            <a:r>
              <a:rPr dirty="0" sz="2400" spc="-5">
                <a:latin typeface="Calibri"/>
                <a:cs typeface="Calibri"/>
              </a:rPr>
              <a:t>: node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0">
                <a:latin typeface="Calibri"/>
                <a:cs typeface="Calibri"/>
              </a:rPr>
              <a:t>Step </a:t>
            </a:r>
            <a:r>
              <a:rPr dirty="0" sz="2400" spc="-5" b="1">
                <a:latin typeface="Calibri"/>
                <a:cs typeface="Calibri"/>
              </a:rPr>
              <a:t>5</a:t>
            </a:r>
            <a:r>
              <a:rPr dirty="0" sz="2400" spc="-5">
                <a:latin typeface="Calibri"/>
                <a:cs typeface="Calibri"/>
              </a:rPr>
              <a:t>: node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5501132"/>
            <a:ext cx="57359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0">
                <a:latin typeface="Calibri"/>
                <a:cs typeface="Calibri"/>
              </a:rPr>
              <a:t>Note: RW2 gives </a:t>
            </a:r>
            <a:r>
              <a:rPr dirty="0" sz="2400" spc="-5">
                <a:latin typeface="Calibri"/>
                <a:cs typeface="Calibri"/>
              </a:rPr>
              <a:t>the same </a:t>
            </a:r>
            <a:r>
              <a:rPr dirty="0" sz="2400" spc="-10">
                <a:latin typeface="Calibri"/>
                <a:cs typeface="Calibri"/>
              </a:rPr>
              <a:t>anonymous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walk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66433" y="2408379"/>
            <a:ext cx="850447" cy="828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04469" y="3507199"/>
            <a:ext cx="668020" cy="85725"/>
          </a:xfrm>
          <a:custGeom>
            <a:avLst/>
            <a:gdLst/>
            <a:ahLst/>
            <a:cxnLst/>
            <a:rect l="l" t="t" r="r" b="b"/>
            <a:pathLst>
              <a:path w="668020" h="85725">
                <a:moveTo>
                  <a:pt x="581705" y="57149"/>
                </a:moveTo>
                <a:lnTo>
                  <a:pt x="581705" y="85725"/>
                </a:lnTo>
                <a:lnTo>
                  <a:pt x="638855" y="57150"/>
                </a:lnTo>
                <a:lnTo>
                  <a:pt x="581705" y="57149"/>
                </a:lnTo>
                <a:close/>
              </a:path>
              <a:path w="668020" h="85725">
                <a:moveTo>
                  <a:pt x="581705" y="28574"/>
                </a:moveTo>
                <a:lnTo>
                  <a:pt x="581705" y="57149"/>
                </a:lnTo>
                <a:lnTo>
                  <a:pt x="603884" y="57148"/>
                </a:lnTo>
                <a:lnTo>
                  <a:pt x="610280" y="50753"/>
                </a:lnTo>
                <a:lnTo>
                  <a:pt x="610279" y="34970"/>
                </a:lnTo>
                <a:lnTo>
                  <a:pt x="603883" y="28575"/>
                </a:lnTo>
                <a:lnTo>
                  <a:pt x="581705" y="28574"/>
                </a:lnTo>
                <a:close/>
              </a:path>
              <a:path w="668020" h="85725">
                <a:moveTo>
                  <a:pt x="581705" y="0"/>
                </a:moveTo>
                <a:lnTo>
                  <a:pt x="581705" y="28574"/>
                </a:lnTo>
                <a:lnTo>
                  <a:pt x="595993" y="28575"/>
                </a:lnTo>
                <a:lnTo>
                  <a:pt x="603883" y="28575"/>
                </a:lnTo>
                <a:lnTo>
                  <a:pt x="610279" y="34970"/>
                </a:lnTo>
                <a:lnTo>
                  <a:pt x="610280" y="50753"/>
                </a:lnTo>
                <a:lnTo>
                  <a:pt x="603883" y="57150"/>
                </a:lnTo>
                <a:lnTo>
                  <a:pt x="638858" y="57148"/>
                </a:lnTo>
                <a:lnTo>
                  <a:pt x="667430" y="42862"/>
                </a:lnTo>
                <a:lnTo>
                  <a:pt x="581705" y="0"/>
                </a:lnTo>
                <a:close/>
              </a:path>
              <a:path w="668020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0" y="50753"/>
                </a:lnTo>
                <a:lnTo>
                  <a:pt x="6396" y="57148"/>
                </a:lnTo>
                <a:lnTo>
                  <a:pt x="581705" y="57149"/>
                </a:lnTo>
                <a:lnTo>
                  <a:pt x="581705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04469" y="3866428"/>
            <a:ext cx="668020" cy="85725"/>
          </a:xfrm>
          <a:custGeom>
            <a:avLst/>
            <a:gdLst/>
            <a:ahLst/>
            <a:cxnLst/>
            <a:rect l="l" t="t" r="r" b="b"/>
            <a:pathLst>
              <a:path w="668020" h="85725">
                <a:moveTo>
                  <a:pt x="581705" y="57149"/>
                </a:moveTo>
                <a:lnTo>
                  <a:pt x="581705" y="85725"/>
                </a:lnTo>
                <a:lnTo>
                  <a:pt x="638855" y="57150"/>
                </a:lnTo>
                <a:lnTo>
                  <a:pt x="581705" y="57149"/>
                </a:lnTo>
                <a:close/>
              </a:path>
              <a:path w="668020" h="85725">
                <a:moveTo>
                  <a:pt x="581705" y="28574"/>
                </a:moveTo>
                <a:lnTo>
                  <a:pt x="581705" y="57149"/>
                </a:lnTo>
                <a:lnTo>
                  <a:pt x="603884" y="57148"/>
                </a:lnTo>
                <a:lnTo>
                  <a:pt x="610280" y="50753"/>
                </a:lnTo>
                <a:lnTo>
                  <a:pt x="610279" y="34970"/>
                </a:lnTo>
                <a:lnTo>
                  <a:pt x="603883" y="28575"/>
                </a:lnTo>
                <a:lnTo>
                  <a:pt x="581705" y="28574"/>
                </a:lnTo>
                <a:close/>
              </a:path>
              <a:path w="668020" h="85725">
                <a:moveTo>
                  <a:pt x="581705" y="0"/>
                </a:moveTo>
                <a:lnTo>
                  <a:pt x="581705" y="28574"/>
                </a:lnTo>
                <a:lnTo>
                  <a:pt x="595993" y="28575"/>
                </a:lnTo>
                <a:lnTo>
                  <a:pt x="603883" y="28575"/>
                </a:lnTo>
                <a:lnTo>
                  <a:pt x="610279" y="34970"/>
                </a:lnTo>
                <a:lnTo>
                  <a:pt x="610280" y="50753"/>
                </a:lnTo>
                <a:lnTo>
                  <a:pt x="603883" y="57150"/>
                </a:lnTo>
                <a:lnTo>
                  <a:pt x="638858" y="57148"/>
                </a:lnTo>
                <a:lnTo>
                  <a:pt x="667430" y="42862"/>
                </a:lnTo>
                <a:lnTo>
                  <a:pt x="581705" y="0"/>
                </a:lnTo>
                <a:close/>
              </a:path>
              <a:path w="668020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581705" y="57149"/>
                </a:lnTo>
                <a:lnTo>
                  <a:pt x="581705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04469" y="4235182"/>
            <a:ext cx="668020" cy="85725"/>
          </a:xfrm>
          <a:custGeom>
            <a:avLst/>
            <a:gdLst/>
            <a:ahLst/>
            <a:cxnLst/>
            <a:rect l="l" t="t" r="r" b="b"/>
            <a:pathLst>
              <a:path w="668020" h="85725">
                <a:moveTo>
                  <a:pt x="581705" y="57149"/>
                </a:moveTo>
                <a:lnTo>
                  <a:pt x="581705" y="85725"/>
                </a:lnTo>
                <a:lnTo>
                  <a:pt x="638855" y="57150"/>
                </a:lnTo>
                <a:lnTo>
                  <a:pt x="581705" y="57149"/>
                </a:lnTo>
                <a:close/>
              </a:path>
              <a:path w="668020" h="85725">
                <a:moveTo>
                  <a:pt x="581705" y="28574"/>
                </a:moveTo>
                <a:lnTo>
                  <a:pt x="581705" y="57149"/>
                </a:lnTo>
                <a:lnTo>
                  <a:pt x="603884" y="57148"/>
                </a:lnTo>
                <a:lnTo>
                  <a:pt x="610280" y="50753"/>
                </a:lnTo>
                <a:lnTo>
                  <a:pt x="610279" y="34970"/>
                </a:lnTo>
                <a:lnTo>
                  <a:pt x="603883" y="28575"/>
                </a:lnTo>
                <a:lnTo>
                  <a:pt x="581705" y="28574"/>
                </a:lnTo>
                <a:close/>
              </a:path>
              <a:path w="668020" h="85725">
                <a:moveTo>
                  <a:pt x="581705" y="0"/>
                </a:moveTo>
                <a:lnTo>
                  <a:pt x="581705" y="28574"/>
                </a:lnTo>
                <a:lnTo>
                  <a:pt x="595993" y="28575"/>
                </a:lnTo>
                <a:lnTo>
                  <a:pt x="603883" y="28575"/>
                </a:lnTo>
                <a:lnTo>
                  <a:pt x="610279" y="34970"/>
                </a:lnTo>
                <a:lnTo>
                  <a:pt x="610280" y="50753"/>
                </a:lnTo>
                <a:lnTo>
                  <a:pt x="603883" y="57150"/>
                </a:lnTo>
                <a:lnTo>
                  <a:pt x="638858" y="57148"/>
                </a:lnTo>
                <a:lnTo>
                  <a:pt x="667430" y="42862"/>
                </a:lnTo>
                <a:lnTo>
                  <a:pt x="581705" y="0"/>
                </a:lnTo>
                <a:close/>
              </a:path>
              <a:path w="668020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0" y="50753"/>
                </a:lnTo>
                <a:lnTo>
                  <a:pt x="6396" y="57148"/>
                </a:lnTo>
                <a:lnTo>
                  <a:pt x="581705" y="57149"/>
                </a:lnTo>
                <a:lnTo>
                  <a:pt x="581705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04469" y="4590328"/>
            <a:ext cx="668020" cy="85725"/>
          </a:xfrm>
          <a:custGeom>
            <a:avLst/>
            <a:gdLst/>
            <a:ahLst/>
            <a:cxnLst/>
            <a:rect l="l" t="t" r="r" b="b"/>
            <a:pathLst>
              <a:path w="668020" h="85725">
                <a:moveTo>
                  <a:pt x="581705" y="57149"/>
                </a:moveTo>
                <a:lnTo>
                  <a:pt x="581705" y="85725"/>
                </a:lnTo>
                <a:lnTo>
                  <a:pt x="638855" y="57150"/>
                </a:lnTo>
                <a:lnTo>
                  <a:pt x="581705" y="57149"/>
                </a:lnTo>
                <a:close/>
              </a:path>
              <a:path w="668020" h="85725">
                <a:moveTo>
                  <a:pt x="581705" y="28574"/>
                </a:moveTo>
                <a:lnTo>
                  <a:pt x="581705" y="57149"/>
                </a:lnTo>
                <a:lnTo>
                  <a:pt x="603884" y="57148"/>
                </a:lnTo>
                <a:lnTo>
                  <a:pt x="610280" y="50753"/>
                </a:lnTo>
                <a:lnTo>
                  <a:pt x="610280" y="34970"/>
                </a:lnTo>
                <a:lnTo>
                  <a:pt x="603883" y="28575"/>
                </a:lnTo>
                <a:lnTo>
                  <a:pt x="581705" y="28574"/>
                </a:lnTo>
                <a:close/>
              </a:path>
              <a:path w="668020" h="85725">
                <a:moveTo>
                  <a:pt x="581705" y="0"/>
                </a:moveTo>
                <a:lnTo>
                  <a:pt x="581705" y="28574"/>
                </a:lnTo>
                <a:lnTo>
                  <a:pt x="595993" y="28575"/>
                </a:lnTo>
                <a:lnTo>
                  <a:pt x="603883" y="28575"/>
                </a:lnTo>
                <a:lnTo>
                  <a:pt x="610280" y="34970"/>
                </a:lnTo>
                <a:lnTo>
                  <a:pt x="610280" y="50753"/>
                </a:lnTo>
                <a:lnTo>
                  <a:pt x="603883" y="57150"/>
                </a:lnTo>
                <a:lnTo>
                  <a:pt x="638858" y="57148"/>
                </a:lnTo>
                <a:lnTo>
                  <a:pt x="667430" y="42862"/>
                </a:lnTo>
                <a:lnTo>
                  <a:pt x="581705" y="0"/>
                </a:lnTo>
                <a:close/>
              </a:path>
              <a:path w="668020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581705" y="57149"/>
                </a:lnTo>
                <a:lnTo>
                  <a:pt x="581705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04469" y="4941392"/>
            <a:ext cx="668020" cy="85725"/>
          </a:xfrm>
          <a:custGeom>
            <a:avLst/>
            <a:gdLst/>
            <a:ahLst/>
            <a:cxnLst/>
            <a:rect l="l" t="t" r="r" b="b"/>
            <a:pathLst>
              <a:path w="668020" h="85725">
                <a:moveTo>
                  <a:pt x="581705" y="57149"/>
                </a:moveTo>
                <a:lnTo>
                  <a:pt x="581705" y="85725"/>
                </a:lnTo>
                <a:lnTo>
                  <a:pt x="638855" y="57150"/>
                </a:lnTo>
                <a:lnTo>
                  <a:pt x="581705" y="57149"/>
                </a:lnTo>
                <a:close/>
              </a:path>
              <a:path w="668020" h="85725">
                <a:moveTo>
                  <a:pt x="581705" y="28574"/>
                </a:moveTo>
                <a:lnTo>
                  <a:pt x="581705" y="57149"/>
                </a:lnTo>
                <a:lnTo>
                  <a:pt x="603884" y="57148"/>
                </a:lnTo>
                <a:lnTo>
                  <a:pt x="610280" y="50753"/>
                </a:lnTo>
                <a:lnTo>
                  <a:pt x="610279" y="34970"/>
                </a:lnTo>
                <a:lnTo>
                  <a:pt x="603883" y="28575"/>
                </a:lnTo>
                <a:lnTo>
                  <a:pt x="581705" y="28574"/>
                </a:lnTo>
                <a:close/>
              </a:path>
              <a:path w="668020" h="85725">
                <a:moveTo>
                  <a:pt x="581705" y="0"/>
                </a:moveTo>
                <a:lnTo>
                  <a:pt x="581705" y="28574"/>
                </a:lnTo>
                <a:lnTo>
                  <a:pt x="595993" y="28575"/>
                </a:lnTo>
                <a:lnTo>
                  <a:pt x="603883" y="28575"/>
                </a:lnTo>
                <a:lnTo>
                  <a:pt x="610279" y="34970"/>
                </a:lnTo>
                <a:lnTo>
                  <a:pt x="610280" y="50753"/>
                </a:lnTo>
                <a:lnTo>
                  <a:pt x="603883" y="57150"/>
                </a:lnTo>
                <a:lnTo>
                  <a:pt x="638858" y="57148"/>
                </a:lnTo>
                <a:lnTo>
                  <a:pt x="667430" y="42862"/>
                </a:lnTo>
                <a:lnTo>
                  <a:pt x="581705" y="0"/>
                </a:lnTo>
                <a:close/>
              </a:path>
              <a:path w="668020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581705" y="57149"/>
                </a:lnTo>
                <a:lnTo>
                  <a:pt x="581705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071076" y="3276091"/>
            <a:ext cx="4426585" cy="18726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libri"/>
                <a:cs typeface="Calibri"/>
              </a:rPr>
              <a:t>node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>
                <a:latin typeface="Calibri"/>
                <a:cs typeface="Calibri"/>
              </a:rPr>
              <a:t>2 </a:t>
            </a:r>
            <a:r>
              <a:rPr dirty="0" sz="2400" spc="-15">
                <a:latin typeface="Calibri"/>
                <a:cs typeface="Calibri"/>
              </a:rPr>
              <a:t>(different from </a:t>
            </a:r>
            <a:r>
              <a:rPr dirty="0" sz="2400" spc="-5">
                <a:latin typeface="Calibri"/>
                <a:cs typeface="Calibri"/>
              </a:rPr>
              <a:t>node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1)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99200"/>
              </a:lnSpc>
              <a:spcBef>
                <a:spcPts val="95"/>
              </a:spcBef>
            </a:pP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>
                <a:latin typeface="Calibri"/>
                <a:cs typeface="Calibri"/>
              </a:rPr>
              <a:t>3 </a:t>
            </a:r>
            <a:r>
              <a:rPr dirty="0" sz="2400" spc="-15">
                <a:latin typeface="Calibri"/>
                <a:cs typeface="Calibri"/>
              </a:rPr>
              <a:t>(different from </a:t>
            </a:r>
            <a:r>
              <a:rPr dirty="0" sz="2400" spc="-5">
                <a:latin typeface="Calibri"/>
                <a:cs typeface="Calibri"/>
              </a:rPr>
              <a:t>node 1, 2)  node </a:t>
            </a:r>
            <a:r>
              <a:rPr dirty="0" sz="2400">
                <a:latin typeface="Calibri"/>
                <a:cs typeface="Calibri"/>
              </a:rPr>
              <a:t>2 </a:t>
            </a:r>
            <a:r>
              <a:rPr dirty="0" sz="2400" spc="-5">
                <a:latin typeface="Calibri"/>
                <a:cs typeface="Calibri"/>
              </a:rPr>
              <a:t>(same </a:t>
            </a:r>
            <a:r>
              <a:rPr dirty="0" sz="2400">
                <a:latin typeface="Calibri"/>
                <a:cs typeface="Calibri"/>
              </a:rPr>
              <a:t>as </a:t>
            </a:r>
            <a:r>
              <a:rPr dirty="0" sz="2400" spc="-5">
                <a:latin typeface="Calibri"/>
                <a:cs typeface="Calibri"/>
              </a:rPr>
              <a:t>the node in </a:t>
            </a:r>
            <a:r>
              <a:rPr dirty="0" sz="2400" spc="-20">
                <a:latin typeface="Calibri"/>
                <a:cs typeface="Calibri"/>
              </a:rPr>
              <a:t>step </a:t>
            </a:r>
            <a:r>
              <a:rPr dirty="0" sz="2400" spc="-5">
                <a:latin typeface="Calibri"/>
                <a:cs typeface="Calibri"/>
              </a:rPr>
              <a:t>2)  node </a:t>
            </a:r>
            <a:r>
              <a:rPr dirty="0" sz="2400">
                <a:latin typeface="Calibri"/>
                <a:cs typeface="Calibri"/>
              </a:rPr>
              <a:t>3 </a:t>
            </a:r>
            <a:r>
              <a:rPr dirty="0" sz="2400" spc="-5">
                <a:latin typeface="Calibri"/>
                <a:cs typeface="Calibri"/>
              </a:rPr>
              <a:t>(same </a:t>
            </a:r>
            <a:r>
              <a:rPr dirty="0" sz="2400">
                <a:latin typeface="Calibri"/>
                <a:cs typeface="Calibri"/>
              </a:rPr>
              <a:t>as </a:t>
            </a:r>
            <a:r>
              <a:rPr dirty="0" sz="2400" spc="-5">
                <a:latin typeface="Calibri"/>
                <a:cs typeface="Calibri"/>
              </a:rPr>
              <a:t>the node in </a:t>
            </a:r>
            <a:r>
              <a:rPr dirty="0" sz="2400" spc="-20">
                <a:latin typeface="Calibri"/>
                <a:cs typeface="Calibri"/>
              </a:rPr>
              <a:t>step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3)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80402" y="5574079"/>
            <a:ext cx="834055" cy="8286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58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849112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5114035"/>
            <a:ext cx="80187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latin typeface="Calibri"/>
                <a:cs typeface="Calibri"/>
              </a:rPr>
              <a:t>Number of </a:t>
            </a:r>
            <a:r>
              <a:rPr dirty="0" sz="3000" spc="-10" b="1">
                <a:latin typeface="Calibri"/>
                <a:cs typeface="Calibri"/>
              </a:rPr>
              <a:t>anonymous </a:t>
            </a:r>
            <a:r>
              <a:rPr dirty="0" sz="3000" spc="-15" b="1">
                <a:latin typeface="Calibri"/>
                <a:cs typeface="Calibri"/>
              </a:rPr>
              <a:t>walks grows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exponentially: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5658611"/>
            <a:ext cx="6395720" cy="815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311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0">
                <a:solidFill>
                  <a:srgbClr val="E66C7D"/>
                </a:solidFill>
                <a:latin typeface="Calibri"/>
                <a:cs typeface="Calibri"/>
              </a:rPr>
              <a:t>There are </a:t>
            </a:r>
            <a:r>
              <a:rPr dirty="0" sz="2600">
                <a:solidFill>
                  <a:srgbClr val="E66C7D"/>
                </a:solidFill>
                <a:latin typeface="Calibri"/>
                <a:cs typeface="Calibri"/>
              </a:rPr>
              <a:t>5 </a:t>
            </a:r>
            <a:r>
              <a:rPr dirty="0" sz="2600" spc="-5">
                <a:solidFill>
                  <a:srgbClr val="E66C7D"/>
                </a:solidFill>
                <a:latin typeface="Calibri"/>
                <a:cs typeface="Calibri"/>
              </a:rPr>
              <a:t>anon. </a:t>
            </a:r>
            <a:r>
              <a:rPr dirty="0" sz="2600" spc="-10">
                <a:solidFill>
                  <a:srgbClr val="E66C7D"/>
                </a:solidFill>
                <a:latin typeface="Calibri"/>
                <a:cs typeface="Calibri"/>
              </a:rPr>
              <a:t>walks </a:t>
            </a:r>
            <a:r>
              <a:rPr dirty="0" sz="2600" spc="-85">
                <a:solidFill>
                  <a:srgbClr val="E66C7D"/>
                </a:solidFill>
                <a:latin typeface="Cambria Math"/>
                <a:cs typeface="Cambria Math"/>
              </a:rPr>
              <a:t>𝑤</a:t>
            </a:r>
            <a:r>
              <a:rPr dirty="0" baseline="-16081" sz="2850" spc="-127">
                <a:solidFill>
                  <a:srgbClr val="E66C7D"/>
                </a:solidFill>
                <a:latin typeface="Cambria Math"/>
                <a:cs typeface="Cambria Math"/>
              </a:rPr>
              <a:t>"  </a:t>
            </a:r>
            <a:r>
              <a:rPr dirty="0" sz="2600">
                <a:solidFill>
                  <a:srgbClr val="E66C7D"/>
                </a:solidFill>
                <a:latin typeface="Calibri"/>
                <a:cs typeface="Calibri"/>
              </a:rPr>
              <a:t>of </a:t>
            </a:r>
            <a:r>
              <a:rPr dirty="0" sz="2600" spc="-10">
                <a:solidFill>
                  <a:srgbClr val="E66C7D"/>
                </a:solidFill>
                <a:latin typeface="Calibri"/>
                <a:cs typeface="Calibri"/>
              </a:rPr>
              <a:t>length</a:t>
            </a:r>
            <a:r>
              <a:rPr dirty="0" sz="2600" spc="-210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600" spc="-5">
                <a:solidFill>
                  <a:srgbClr val="E66C7D"/>
                </a:solidFill>
                <a:latin typeface="Calibri"/>
                <a:cs typeface="Calibri"/>
              </a:rPr>
              <a:t>3:</a:t>
            </a:r>
            <a:endParaRPr sz="2600">
              <a:latin typeface="Calibri"/>
              <a:cs typeface="Calibri"/>
            </a:endParaRPr>
          </a:p>
          <a:p>
            <a:pPr marL="287020">
              <a:lnSpc>
                <a:spcPts val="3110"/>
              </a:lnSpc>
            </a:pPr>
            <a:r>
              <a:rPr dirty="0" sz="2600" spc="25">
                <a:latin typeface="Cambria Math"/>
                <a:cs typeface="Cambria Math"/>
              </a:rPr>
              <a:t>𝑤</a:t>
            </a:r>
            <a:r>
              <a:rPr dirty="0" baseline="-16081" sz="2850" spc="37">
                <a:latin typeface="Cambria Math"/>
                <a:cs typeface="Cambria Math"/>
              </a:rPr>
              <a:t>*</a:t>
            </a:r>
            <a:r>
              <a:rPr dirty="0" sz="2600" spc="25">
                <a:latin typeface="Calibri"/>
                <a:cs typeface="Calibri"/>
              </a:rPr>
              <a:t>=111, </a:t>
            </a:r>
            <a:r>
              <a:rPr dirty="0" sz="2600" spc="-55">
                <a:latin typeface="Cambria Math"/>
                <a:cs typeface="Cambria Math"/>
              </a:rPr>
              <a:t>𝑤</a:t>
            </a:r>
            <a:r>
              <a:rPr dirty="0" baseline="-16081" sz="2850" spc="-82">
                <a:latin typeface="Cambria Math"/>
                <a:cs typeface="Cambria Math"/>
              </a:rPr>
              <a:t>+</a:t>
            </a:r>
            <a:r>
              <a:rPr dirty="0" sz="2600" spc="-55">
                <a:latin typeface="Calibri"/>
                <a:cs typeface="Calibri"/>
              </a:rPr>
              <a:t>=112, </a:t>
            </a:r>
            <a:r>
              <a:rPr dirty="0" sz="2600" spc="225">
                <a:latin typeface="Cambria Math"/>
                <a:cs typeface="Cambria Math"/>
              </a:rPr>
              <a:t>𝑤</a:t>
            </a:r>
            <a:r>
              <a:rPr dirty="0" baseline="-16081" sz="2850" spc="337">
                <a:latin typeface="Cambria Math"/>
                <a:cs typeface="Cambria Math"/>
              </a:rPr>
              <a:t>,</a:t>
            </a:r>
            <a:r>
              <a:rPr dirty="0" sz="2600" spc="225">
                <a:latin typeface="Calibri"/>
                <a:cs typeface="Calibri"/>
              </a:rPr>
              <a:t>= </a:t>
            </a:r>
            <a:r>
              <a:rPr dirty="0" sz="2600" spc="-10">
                <a:latin typeface="Calibri"/>
                <a:cs typeface="Calibri"/>
              </a:rPr>
              <a:t>121, </a:t>
            </a:r>
            <a:r>
              <a:rPr dirty="0" sz="2600" spc="125">
                <a:latin typeface="Cambria Math"/>
                <a:cs typeface="Cambria Math"/>
              </a:rPr>
              <a:t>𝑤</a:t>
            </a:r>
            <a:r>
              <a:rPr dirty="0" baseline="-16081" sz="2850" spc="187">
                <a:latin typeface="Cambria Math"/>
                <a:cs typeface="Cambria Math"/>
              </a:rPr>
              <a:t>-</a:t>
            </a:r>
            <a:r>
              <a:rPr dirty="0" sz="2600" spc="125">
                <a:latin typeface="Calibri"/>
                <a:cs typeface="Calibri"/>
              </a:rPr>
              <a:t>= </a:t>
            </a:r>
            <a:r>
              <a:rPr dirty="0" sz="2600" spc="-10">
                <a:latin typeface="Calibri"/>
                <a:cs typeface="Calibri"/>
              </a:rPr>
              <a:t>122, </a:t>
            </a:r>
            <a:r>
              <a:rPr dirty="0" sz="2600" spc="225">
                <a:latin typeface="Cambria Math"/>
                <a:cs typeface="Cambria Math"/>
              </a:rPr>
              <a:t>𝑤</a:t>
            </a:r>
            <a:r>
              <a:rPr dirty="0" baseline="-16081" sz="2850" spc="337">
                <a:latin typeface="Cambria Math"/>
                <a:cs typeface="Cambria Math"/>
              </a:rPr>
              <a:t>.</a:t>
            </a:r>
            <a:r>
              <a:rPr dirty="0" sz="2600" spc="225">
                <a:latin typeface="Calibri"/>
                <a:cs typeface="Calibri"/>
              </a:rPr>
              <a:t>=</a:t>
            </a:r>
            <a:r>
              <a:rPr dirty="0" sz="2600" spc="-3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123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8461" y="1253218"/>
            <a:ext cx="5627076" cy="3657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58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7985759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651750" cy="139128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332740" marR="5080" indent="-320040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Simulate anonymous </a:t>
            </a:r>
            <a:r>
              <a:rPr dirty="0" spc="-20"/>
              <a:t>walks </a:t>
            </a:r>
            <a:r>
              <a:rPr dirty="0" spc="105">
                <a:latin typeface="Cambria Math"/>
                <a:cs typeface="Cambria Math"/>
              </a:rPr>
              <a:t>𝑤</a:t>
            </a:r>
            <a:r>
              <a:rPr dirty="0" baseline="-15700" sz="3450" spc="157">
                <a:latin typeface="Cambria Math"/>
                <a:cs typeface="Cambria Math"/>
              </a:rPr>
              <a:t>. </a:t>
            </a:r>
            <a:r>
              <a:rPr dirty="0" sz="3200" spc="-5"/>
              <a:t>of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𝑙 </a:t>
            </a:r>
            <a:r>
              <a:rPr dirty="0" sz="3200" spc="-20"/>
              <a:t>steps </a:t>
            </a:r>
            <a:r>
              <a:rPr dirty="0" sz="3200"/>
              <a:t>and  </a:t>
            </a:r>
            <a:r>
              <a:rPr dirty="0" sz="3200" spc="-25"/>
              <a:t>record </a:t>
            </a:r>
            <a:r>
              <a:rPr dirty="0" sz="3200" spc="-5"/>
              <a:t>their</a:t>
            </a:r>
            <a:r>
              <a:rPr dirty="0" sz="3200" spc="-25"/>
              <a:t> </a:t>
            </a:r>
            <a:r>
              <a:rPr dirty="0" sz="3200" spc="-10"/>
              <a:t>counts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3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1">
                <a:solidFill>
                  <a:srgbClr val="E66C7D"/>
                </a:solidFill>
                <a:latin typeface="Calibri"/>
                <a:cs typeface="Calibri"/>
              </a:rPr>
              <a:t>Represent </a:t>
            </a:r>
            <a:r>
              <a:rPr dirty="0" spc="-5" b="1">
                <a:solidFill>
                  <a:srgbClr val="E66C7D"/>
                </a:solidFill>
                <a:latin typeface="Calibri"/>
                <a:cs typeface="Calibri"/>
              </a:rPr>
              <a:t>the </a:t>
            </a:r>
            <a:r>
              <a:rPr dirty="0" spc="-20" b="1">
                <a:solidFill>
                  <a:srgbClr val="E66C7D"/>
                </a:solidFill>
                <a:latin typeface="Calibri"/>
                <a:cs typeface="Calibri"/>
              </a:rPr>
              <a:t>graph </a:t>
            </a:r>
            <a:r>
              <a:rPr dirty="0" spc="-5" b="1">
                <a:solidFill>
                  <a:srgbClr val="E66C7D"/>
                </a:solidFill>
                <a:latin typeface="Calibri"/>
                <a:cs typeface="Calibri"/>
              </a:rPr>
              <a:t>as </a:t>
            </a:r>
            <a:r>
              <a:rPr dirty="0" b="1">
                <a:solidFill>
                  <a:srgbClr val="E66C7D"/>
                </a:solidFill>
                <a:latin typeface="Calibri"/>
                <a:cs typeface="Calibri"/>
              </a:rPr>
              <a:t>a</a:t>
            </a:r>
            <a:r>
              <a:rPr dirty="0" spc="2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E66C7D"/>
                </a:solidFill>
                <a:latin typeface="Calibri"/>
                <a:cs typeface="Calibri"/>
              </a:rPr>
              <a:t>probability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58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619756"/>
            <a:ext cx="8315959" cy="35356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distribution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over </a:t>
            </a: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these</a:t>
            </a:r>
            <a:r>
              <a:rPr dirty="0" sz="3200" spc="-5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E66C7D"/>
                </a:solidFill>
                <a:latin typeface="Calibri"/>
                <a:cs typeface="Calibri"/>
              </a:rPr>
              <a:t>walks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30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For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𝑙  =</a:t>
            </a:r>
            <a:r>
              <a:rPr dirty="0" sz="2800" spc="-29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endParaRPr sz="28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3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Then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15">
                <a:latin typeface="Calibri"/>
                <a:cs typeface="Calibri"/>
              </a:rPr>
              <a:t>represent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as </a:t>
            </a:r>
            <a:r>
              <a:rPr dirty="0" sz="2800">
                <a:latin typeface="Calibri"/>
                <a:cs typeface="Calibri"/>
              </a:rPr>
              <a:t>a 5-dim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vector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ts val="2735"/>
              </a:lnSpc>
              <a:spcBef>
                <a:spcPts val="32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Since </a:t>
            </a:r>
            <a:r>
              <a:rPr dirty="0" sz="2400" spc="-10">
                <a:latin typeface="Calibri"/>
                <a:cs typeface="Calibri"/>
              </a:rPr>
              <a:t>there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>
                <a:latin typeface="Calibri"/>
                <a:cs typeface="Calibri"/>
              </a:rPr>
              <a:t>5 </a:t>
            </a:r>
            <a:r>
              <a:rPr dirty="0" sz="2400" spc="-10">
                <a:latin typeface="Calibri"/>
                <a:cs typeface="Calibri"/>
              </a:rPr>
              <a:t>anonymous </a:t>
            </a:r>
            <a:r>
              <a:rPr dirty="0" sz="2400" spc="-15">
                <a:latin typeface="Calibri"/>
                <a:cs typeface="Calibri"/>
              </a:rPr>
              <a:t>walks </a:t>
            </a:r>
            <a:r>
              <a:rPr dirty="0" sz="2400" spc="-285">
                <a:latin typeface="Cambria Math"/>
                <a:cs typeface="Cambria Math"/>
              </a:rPr>
              <a:t>𝑤</a:t>
            </a:r>
            <a:r>
              <a:rPr dirty="0" baseline="-15432" sz="2700" spc="-427">
                <a:latin typeface="Cambria Math"/>
                <a:cs typeface="Cambria Math"/>
              </a:rPr>
              <a:t>#    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0">
                <a:latin typeface="Calibri"/>
                <a:cs typeface="Calibri"/>
              </a:rPr>
              <a:t>length </a:t>
            </a:r>
            <a:r>
              <a:rPr dirty="0" sz="2400" spc="-5">
                <a:latin typeface="Calibri"/>
                <a:cs typeface="Calibri"/>
              </a:rPr>
              <a:t>3: 111,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65">
                <a:latin typeface="Calibri"/>
                <a:cs typeface="Calibri"/>
              </a:rPr>
              <a:t>112,</a:t>
            </a:r>
            <a:endParaRPr sz="2400">
              <a:latin typeface="Calibri"/>
              <a:cs typeface="Calibri"/>
            </a:endParaRPr>
          </a:p>
          <a:p>
            <a:pPr marL="890269">
              <a:lnSpc>
                <a:spcPts val="2735"/>
              </a:lnSpc>
            </a:pPr>
            <a:r>
              <a:rPr dirty="0" sz="2400" spc="-5">
                <a:latin typeface="Calibri"/>
                <a:cs typeface="Calibri"/>
              </a:rPr>
              <a:t>121, 122,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123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25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r>
              <a:rPr dirty="0" baseline="-16666" sz="3000" spc="37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sz="2800" spc="25">
                <a:latin typeface="Cambria Math"/>
                <a:cs typeface="Cambria Math"/>
              </a:rPr>
              <a:t>[𝑖] </a:t>
            </a:r>
            <a:r>
              <a:rPr dirty="0" sz="2800">
                <a:latin typeface="Calibri"/>
                <a:cs typeface="Calibri"/>
              </a:rPr>
              <a:t>= </a:t>
            </a:r>
            <a:r>
              <a:rPr dirty="0" sz="2800" spc="-10">
                <a:latin typeface="Calibri"/>
                <a:cs typeface="Calibri"/>
              </a:rPr>
              <a:t>probability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anonymous </a:t>
            </a:r>
            <a:r>
              <a:rPr dirty="0" sz="2800" spc="-15">
                <a:latin typeface="Calibri"/>
                <a:cs typeface="Calibri"/>
              </a:rPr>
              <a:t>walk </a:t>
            </a:r>
            <a:r>
              <a:rPr dirty="0" sz="2800" spc="-254">
                <a:latin typeface="Cambria Math"/>
                <a:cs typeface="Cambria Math"/>
              </a:rPr>
              <a:t>𝑤</a:t>
            </a:r>
            <a:r>
              <a:rPr dirty="0" baseline="-16666" sz="3000" spc="-382">
                <a:latin typeface="Cambria Math"/>
                <a:cs typeface="Cambria Math"/>
              </a:rPr>
              <a:t>5   </a:t>
            </a:r>
            <a:r>
              <a:rPr dirty="0" sz="2800" spc="-5">
                <a:latin typeface="Calibri"/>
                <a:cs typeface="Calibri"/>
              </a:rPr>
              <a:t>in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𝐺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958583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756285" marR="145605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756920" algn="l"/>
              </a:tabLst>
            </a:pP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Sampling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anonymous walks: </a:t>
            </a:r>
            <a:r>
              <a:rPr dirty="0" spc="-20"/>
              <a:t>Generate  </a:t>
            </a:r>
            <a:r>
              <a:rPr dirty="0" spc="-5"/>
              <a:t>independently </a:t>
            </a:r>
            <a:r>
              <a:rPr dirty="0"/>
              <a:t>a </a:t>
            </a:r>
            <a:r>
              <a:rPr dirty="0" spc="-10"/>
              <a:t>set </a:t>
            </a:r>
            <a:r>
              <a:rPr dirty="0"/>
              <a:t>of </a:t>
            </a:r>
            <a:r>
              <a:rPr dirty="0">
                <a:solidFill>
                  <a:srgbClr val="C00000"/>
                </a:solidFill>
                <a:latin typeface="Cambria Math"/>
                <a:cs typeface="Cambria Math"/>
              </a:rPr>
              <a:t>𝑚 </a:t>
            </a:r>
            <a:r>
              <a:rPr dirty="0" spc="-15"/>
              <a:t>random</a:t>
            </a:r>
            <a:r>
              <a:rPr dirty="0" spc="75"/>
              <a:t> </a:t>
            </a:r>
            <a:r>
              <a:rPr dirty="0" spc="-15"/>
              <a:t>walks</a:t>
            </a:r>
          </a:p>
          <a:p>
            <a:pPr marL="756285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756920" algn="l"/>
              </a:tabLst>
            </a:pPr>
            <a:r>
              <a:rPr dirty="0" spc="-20">
                <a:solidFill>
                  <a:srgbClr val="60B5CC"/>
                </a:solidFill>
              </a:rPr>
              <a:t>Represent </a:t>
            </a:r>
            <a:r>
              <a:rPr dirty="0">
                <a:solidFill>
                  <a:srgbClr val="60B5CC"/>
                </a:solidFill>
              </a:rPr>
              <a:t>the </a:t>
            </a:r>
            <a:r>
              <a:rPr dirty="0" spc="-15">
                <a:solidFill>
                  <a:srgbClr val="60B5CC"/>
                </a:solidFill>
              </a:rPr>
              <a:t>graph </a:t>
            </a:r>
            <a:r>
              <a:rPr dirty="0">
                <a:solidFill>
                  <a:srgbClr val="60B5CC"/>
                </a:solidFill>
              </a:rPr>
              <a:t>as a </a:t>
            </a:r>
            <a:r>
              <a:rPr dirty="0" spc="-10">
                <a:solidFill>
                  <a:srgbClr val="60B5CC"/>
                </a:solidFill>
              </a:rPr>
              <a:t>probability </a:t>
            </a:r>
            <a:r>
              <a:rPr dirty="0" spc="-5">
                <a:solidFill>
                  <a:srgbClr val="60B5CC"/>
                </a:solidFill>
              </a:rPr>
              <a:t>distribution  </a:t>
            </a:r>
            <a:r>
              <a:rPr dirty="0" spc="-15">
                <a:solidFill>
                  <a:srgbClr val="60B5CC"/>
                </a:solidFill>
              </a:rPr>
              <a:t>over </a:t>
            </a:r>
            <a:r>
              <a:rPr dirty="0" spc="-5">
                <a:solidFill>
                  <a:srgbClr val="60B5CC"/>
                </a:solidFill>
              </a:rPr>
              <a:t>these</a:t>
            </a:r>
            <a:r>
              <a:rPr dirty="0" spc="-50">
                <a:solidFill>
                  <a:srgbClr val="60B5CC"/>
                </a:solidFill>
              </a:rPr>
              <a:t> </a:t>
            </a:r>
            <a:r>
              <a:rPr dirty="0" spc="-15">
                <a:solidFill>
                  <a:srgbClr val="60B5CC"/>
                </a:solidFill>
              </a:rPr>
              <a:t>walks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3548815"/>
            <a:ext cx="8171180" cy="157988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How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many random walks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𝑚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do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we</a:t>
            </a:r>
            <a:r>
              <a:rPr dirty="0" sz="3200" spc="1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need?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20">
                <a:latin typeface="Calibri"/>
                <a:cs typeface="Calibri"/>
              </a:rPr>
              <a:t>want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distribution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15">
                <a:latin typeface="Calibri"/>
                <a:cs typeface="Calibri"/>
              </a:rPr>
              <a:t>error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more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 spc="-125">
                <a:latin typeface="Calibri"/>
                <a:cs typeface="Calibri"/>
              </a:rPr>
              <a:t>than</a:t>
            </a:r>
            <a:endParaRPr sz="2800">
              <a:latin typeface="Calibri"/>
              <a:cs typeface="Calibri"/>
            </a:endParaRPr>
          </a:p>
          <a:p>
            <a:pPr marL="625475">
              <a:lnSpc>
                <a:spcPct val="100000"/>
              </a:lnSpc>
              <a:spcBef>
                <a:spcPts val="45"/>
              </a:spcBef>
            </a:pPr>
            <a:r>
              <a:rPr dirty="0" sz="2800">
                <a:latin typeface="Cambria Math"/>
                <a:cs typeface="Cambria Math"/>
              </a:rPr>
              <a:t>𝜀 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5">
                <a:latin typeface="Calibri"/>
                <a:cs typeface="Calibri"/>
              </a:rPr>
              <a:t>prob. </a:t>
            </a:r>
            <a:r>
              <a:rPr dirty="0" sz="2800" spc="-5">
                <a:latin typeface="Calibri"/>
                <a:cs typeface="Calibri"/>
              </a:rPr>
              <a:t>less than</a:t>
            </a:r>
            <a:r>
              <a:rPr dirty="0" sz="2800" spc="-375">
                <a:latin typeface="Calibri"/>
                <a:cs typeface="Calibri"/>
              </a:rPr>
              <a:t> </a:t>
            </a:r>
            <a:r>
              <a:rPr dirty="0" sz="2800" spc="50">
                <a:latin typeface="Cambria Math"/>
                <a:cs typeface="Cambria Math"/>
              </a:rPr>
              <a:t>𝛿</a:t>
            </a:r>
            <a:r>
              <a:rPr dirty="0" sz="2800" spc="5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339" y="6421628"/>
            <a:ext cx="55149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where: </a:t>
            </a:r>
            <a:r>
              <a:rPr dirty="0" sz="1800">
                <a:latin typeface="Cambria Math"/>
                <a:cs typeface="Cambria Math"/>
              </a:rPr>
              <a:t>𝜂  </a:t>
            </a:r>
            <a:r>
              <a:rPr dirty="0" sz="1800">
                <a:latin typeface="Arial"/>
                <a:cs typeface="Arial"/>
              </a:rPr>
              <a:t>is </a:t>
            </a:r>
            <a:r>
              <a:rPr dirty="0" sz="1800" spc="-5">
                <a:latin typeface="Arial"/>
                <a:cs typeface="Arial"/>
              </a:rPr>
              <a:t>the total number of anon. walks of length</a:t>
            </a:r>
            <a:r>
              <a:rPr dirty="0" sz="1800" spc="-254">
                <a:latin typeface="Arial"/>
                <a:cs typeface="Arial"/>
              </a:rPr>
              <a:t> </a:t>
            </a:r>
            <a:r>
              <a:rPr dirty="0" sz="1800" spc="25">
                <a:latin typeface="Cambria Math"/>
                <a:cs typeface="Cambria Math"/>
              </a:rPr>
              <a:t>𝑙</a:t>
            </a:r>
            <a:r>
              <a:rPr dirty="0" sz="1800" spc="25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07200" y="5015484"/>
            <a:ext cx="2164715" cy="1510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45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08000"/>
                </a:solidFill>
                <a:latin typeface="Arial"/>
                <a:cs typeface="Arial"/>
              </a:rPr>
              <a:t>For</a:t>
            </a:r>
            <a:r>
              <a:rPr dirty="0" sz="1400" spc="-8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008000"/>
                </a:solidFill>
                <a:latin typeface="Arial"/>
                <a:cs typeface="Arial"/>
              </a:rPr>
              <a:t>example: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45"/>
              </a:lnSpc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There are </a:t>
            </a:r>
            <a:r>
              <a:rPr dirty="0" sz="1400">
                <a:solidFill>
                  <a:srgbClr val="008000"/>
                </a:solidFill>
                <a:latin typeface="Cambria Math"/>
                <a:cs typeface="Cambria Math"/>
              </a:rPr>
              <a:t>𝜂 =</a:t>
            </a:r>
            <a:r>
              <a:rPr dirty="0" sz="1400" spc="10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Cambria Math"/>
                <a:cs typeface="Cambria Math"/>
              </a:rPr>
              <a:t>877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anonymous walks of</a:t>
            </a:r>
            <a:r>
              <a:rPr dirty="0" sz="14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length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400">
                <a:solidFill>
                  <a:srgbClr val="008000"/>
                </a:solidFill>
                <a:latin typeface="Cambria Math"/>
                <a:cs typeface="Cambria Math"/>
              </a:rPr>
              <a:t>𝑙  = </a:t>
            </a:r>
            <a:r>
              <a:rPr dirty="0" sz="1400" spc="-5">
                <a:solidFill>
                  <a:srgbClr val="008000"/>
                </a:solidFill>
                <a:latin typeface="Cambria Math"/>
                <a:cs typeface="Cambria Math"/>
              </a:rPr>
              <a:t>7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. If </a:t>
            </a:r>
            <a:r>
              <a:rPr dirty="0" sz="1400">
                <a:solidFill>
                  <a:srgbClr val="008000"/>
                </a:solidFill>
                <a:latin typeface="Arial"/>
                <a:cs typeface="Arial"/>
              </a:rPr>
              <a:t>we</a:t>
            </a:r>
            <a:r>
              <a:rPr dirty="0" sz="1400" spc="-20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set</a:t>
            </a:r>
            <a:endParaRPr sz="1400">
              <a:latin typeface="Arial"/>
              <a:cs typeface="Arial"/>
            </a:endParaRPr>
          </a:p>
          <a:p>
            <a:pPr marL="12700" marR="137160">
              <a:lnSpc>
                <a:spcPts val="1700"/>
              </a:lnSpc>
              <a:spcBef>
                <a:spcPts val="40"/>
              </a:spcBef>
            </a:pPr>
            <a:r>
              <a:rPr dirty="0" sz="1400">
                <a:solidFill>
                  <a:srgbClr val="008000"/>
                </a:solidFill>
                <a:latin typeface="Cambria Math"/>
                <a:cs typeface="Cambria Math"/>
              </a:rPr>
              <a:t>𝜀 = </a:t>
            </a:r>
            <a:r>
              <a:rPr dirty="0" sz="1400" spc="-5">
                <a:solidFill>
                  <a:srgbClr val="008000"/>
                </a:solidFill>
                <a:latin typeface="Cambria Math"/>
                <a:cs typeface="Cambria Math"/>
              </a:rPr>
              <a:t>0.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1 and </a:t>
            </a:r>
            <a:r>
              <a:rPr dirty="0" sz="1400">
                <a:solidFill>
                  <a:srgbClr val="008000"/>
                </a:solidFill>
                <a:latin typeface="Cambria Math"/>
                <a:cs typeface="Cambria Math"/>
              </a:rPr>
              <a:t>𝛿 = </a:t>
            </a:r>
            <a:r>
              <a:rPr dirty="0" sz="1400" spc="-5">
                <a:solidFill>
                  <a:srgbClr val="008000"/>
                </a:solidFill>
                <a:latin typeface="Cambria Math"/>
                <a:cs typeface="Cambria Math"/>
              </a:rPr>
              <a:t>0.01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then  </a:t>
            </a:r>
            <a:r>
              <a:rPr dirty="0" sz="140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need to</a:t>
            </a:r>
            <a:r>
              <a:rPr dirty="0" sz="1400" spc="-11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generate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50"/>
              </a:lnSpc>
            </a:pPr>
            <a:r>
              <a:rPr dirty="0" sz="1400" spc="-5">
                <a:solidFill>
                  <a:srgbClr val="008000"/>
                </a:solidFill>
                <a:latin typeface="Cambria Math"/>
                <a:cs typeface="Cambria Math"/>
              </a:rPr>
              <a:t>𝑚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=122,500 random</a:t>
            </a:r>
            <a:r>
              <a:rPr dirty="0" sz="14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walks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76220" y="5461000"/>
            <a:ext cx="0" cy="692150"/>
          </a:xfrm>
          <a:custGeom>
            <a:avLst/>
            <a:gdLst/>
            <a:ahLst/>
            <a:cxnLst/>
            <a:rect l="l" t="t" r="r" b="b"/>
            <a:pathLst>
              <a:path w="0" h="692150">
                <a:moveTo>
                  <a:pt x="0" y="0"/>
                </a:moveTo>
                <a:lnTo>
                  <a:pt x="0" y="692150"/>
                </a:lnTo>
              </a:path>
            </a:pathLst>
          </a:custGeom>
          <a:ln w="340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05898" y="5453379"/>
            <a:ext cx="87630" cy="0"/>
          </a:xfrm>
          <a:custGeom>
            <a:avLst/>
            <a:gdLst/>
            <a:ahLst/>
            <a:cxnLst/>
            <a:rect l="l" t="t" r="r" b="b"/>
            <a:pathLst>
              <a:path w="87629" h="0">
                <a:moveTo>
                  <a:pt x="0" y="0"/>
                </a:moveTo>
                <a:lnTo>
                  <a:pt x="87337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81240" y="5461000"/>
            <a:ext cx="0" cy="692150"/>
          </a:xfrm>
          <a:custGeom>
            <a:avLst/>
            <a:gdLst/>
            <a:ahLst/>
            <a:cxnLst/>
            <a:rect l="l" t="t" r="r" b="b"/>
            <a:pathLst>
              <a:path w="0" h="692150">
                <a:moveTo>
                  <a:pt x="0" y="0"/>
                </a:moveTo>
                <a:lnTo>
                  <a:pt x="0" y="692150"/>
                </a:lnTo>
              </a:path>
            </a:pathLst>
          </a:custGeom>
          <a:ln w="340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64224" y="5453379"/>
            <a:ext cx="87630" cy="0"/>
          </a:xfrm>
          <a:custGeom>
            <a:avLst/>
            <a:gdLst/>
            <a:ahLst/>
            <a:cxnLst/>
            <a:rect l="l" t="t" r="r" b="b"/>
            <a:pathLst>
              <a:path w="87630" h="0">
                <a:moveTo>
                  <a:pt x="0" y="0"/>
                </a:moveTo>
                <a:lnTo>
                  <a:pt x="87336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62368" y="5799234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 h="0">
                <a:moveTo>
                  <a:pt x="0" y="0"/>
                </a:moveTo>
                <a:lnTo>
                  <a:pt x="3429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146683" y="5663691"/>
            <a:ext cx="3543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6865" sz="4200" spc="225">
                <a:latin typeface="Cambria Math"/>
                <a:cs typeface="Cambria Math"/>
              </a:rPr>
              <a:t>𝜀</a:t>
            </a:r>
            <a:r>
              <a:rPr dirty="0" sz="2000" spc="-220">
                <a:latin typeface="Cambria Math"/>
                <a:cs typeface="Cambria Math"/>
              </a:rPr>
              <a:t>H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6954" y="5634567"/>
            <a:ext cx="1228090" cy="329565"/>
          </a:xfrm>
          <a:custGeom>
            <a:avLst/>
            <a:gdLst/>
            <a:ahLst/>
            <a:cxnLst/>
            <a:rect l="l" t="t" r="r" b="b"/>
            <a:pathLst>
              <a:path w="1228089" h="329564">
                <a:moveTo>
                  <a:pt x="1122587" y="0"/>
                </a:moveTo>
                <a:lnTo>
                  <a:pt x="1117899" y="13369"/>
                </a:lnTo>
                <a:lnTo>
                  <a:pt x="1136966" y="21644"/>
                </a:lnTo>
                <a:lnTo>
                  <a:pt x="1153363" y="33098"/>
                </a:lnTo>
                <a:lnTo>
                  <a:pt x="1178149" y="65546"/>
                </a:lnTo>
                <a:lnTo>
                  <a:pt x="1192735" y="109323"/>
                </a:lnTo>
                <a:lnTo>
                  <a:pt x="1197597" y="163041"/>
                </a:lnTo>
                <a:lnTo>
                  <a:pt x="1196376" y="192092"/>
                </a:lnTo>
                <a:lnTo>
                  <a:pt x="1186609" y="242185"/>
                </a:lnTo>
                <a:lnTo>
                  <a:pt x="1167010" y="281306"/>
                </a:lnTo>
                <a:lnTo>
                  <a:pt x="1137189" y="307699"/>
                </a:lnTo>
                <a:lnTo>
                  <a:pt x="1118420" y="316011"/>
                </a:lnTo>
                <a:lnTo>
                  <a:pt x="1122587" y="329381"/>
                </a:lnTo>
                <a:lnTo>
                  <a:pt x="1167514" y="308306"/>
                </a:lnTo>
                <a:lnTo>
                  <a:pt x="1200548" y="271822"/>
                </a:lnTo>
                <a:lnTo>
                  <a:pt x="1220863" y="222966"/>
                </a:lnTo>
                <a:lnTo>
                  <a:pt x="1227635" y="164777"/>
                </a:lnTo>
                <a:lnTo>
                  <a:pt x="1225937" y="134581"/>
                </a:lnTo>
                <a:lnTo>
                  <a:pt x="1212350" y="81059"/>
                </a:lnTo>
                <a:lnTo>
                  <a:pt x="1185405" y="37488"/>
                </a:lnTo>
                <a:lnTo>
                  <a:pt x="1146467" y="8621"/>
                </a:lnTo>
                <a:lnTo>
                  <a:pt x="1122587" y="0"/>
                </a:lnTo>
                <a:close/>
              </a:path>
              <a:path w="1228089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82147" y="5634567"/>
            <a:ext cx="437515" cy="329565"/>
          </a:xfrm>
          <a:custGeom>
            <a:avLst/>
            <a:gdLst/>
            <a:ahLst/>
            <a:cxnLst/>
            <a:rect l="l" t="t" r="r" b="b"/>
            <a:pathLst>
              <a:path w="437514" h="329564">
                <a:moveTo>
                  <a:pt x="332012" y="0"/>
                </a:moveTo>
                <a:lnTo>
                  <a:pt x="327324" y="13369"/>
                </a:lnTo>
                <a:lnTo>
                  <a:pt x="346391" y="21644"/>
                </a:lnTo>
                <a:lnTo>
                  <a:pt x="362788" y="33098"/>
                </a:lnTo>
                <a:lnTo>
                  <a:pt x="387574" y="65546"/>
                </a:lnTo>
                <a:lnTo>
                  <a:pt x="402160" y="109323"/>
                </a:lnTo>
                <a:lnTo>
                  <a:pt x="407022" y="163041"/>
                </a:lnTo>
                <a:lnTo>
                  <a:pt x="405801" y="192092"/>
                </a:lnTo>
                <a:lnTo>
                  <a:pt x="396034" y="242185"/>
                </a:lnTo>
                <a:lnTo>
                  <a:pt x="376435" y="281306"/>
                </a:lnTo>
                <a:lnTo>
                  <a:pt x="346614" y="307699"/>
                </a:lnTo>
                <a:lnTo>
                  <a:pt x="327845" y="316011"/>
                </a:lnTo>
                <a:lnTo>
                  <a:pt x="332012" y="329381"/>
                </a:lnTo>
                <a:lnTo>
                  <a:pt x="376939" y="308306"/>
                </a:lnTo>
                <a:lnTo>
                  <a:pt x="409973" y="271822"/>
                </a:lnTo>
                <a:lnTo>
                  <a:pt x="430288" y="222966"/>
                </a:lnTo>
                <a:lnTo>
                  <a:pt x="437060" y="164777"/>
                </a:lnTo>
                <a:lnTo>
                  <a:pt x="435362" y="134581"/>
                </a:lnTo>
                <a:lnTo>
                  <a:pt x="421775" y="81059"/>
                </a:lnTo>
                <a:lnTo>
                  <a:pt x="394829" y="37488"/>
                </a:lnTo>
                <a:lnTo>
                  <a:pt x="355892" y="8621"/>
                </a:lnTo>
                <a:lnTo>
                  <a:pt x="332012" y="0"/>
                </a:lnTo>
                <a:close/>
              </a:path>
              <a:path w="437514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44666" y="5532627"/>
            <a:ext cx="47663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9965" algn="l"/>
                <a:tab pos="1320800" algn="l"/>
                <a:tab pos="2078355" algn="l"/>
                <a:tab pos="3300095" algn="l"/>
                <a:tab pos="4253230" algn="l"/>
                <a:tab pos="4605655" algn="l"/>
              </a:tabLst>
            </a:pPr>
            <a:r>
              <a:rPr dirty="0" sz="2800">
                <a:latin typeface="Cambria Math"/>
                <a:cs typeface="Cambria Math"/>
              </a:rPr>
              <a:t>𝑚</a:t>
            </a:r>
            <a:r>
              <a:rPr dirty="0" sz="2800" spc="204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baseline="41666" sz="4200">
                <a:latin typeface="Cambria Math"/>
                <a:cs typeface="Cambria Math"/>
              </a:rPr>
              <a:t>2	</a:t>
            </a:r>
            <a:r>
              <a:rPr dirty="0" sz="2800">
                <a:latin typeface="Cambria Math"/>
                <a:cs typeface="Cambria Math"/>
              </a:rPr>
              <a:t>(l</a:t>
            </a:r>
            <a:r>
              <a:rPr dirty="0" sz="2800" spc="-5">
                <a:latin typeface="Cambria Math"/>
                <a:cs typeface="Cambria Math"/>
              </a:rPr>
              <a:t>o</a:t>
            </a:r>
            <a:r>
              <a:rPr dirty="0" sz="2800">
                <a:latin typeface="Cambria Math"/>
                <a:cs typeface="Cambria Math"/>
              </a:rPr>
              <a:t>g	</a:t>
            </a:r>
            <a:r>
              <a:rPr dirty="0" sz="2800" spc="-5">
                <a:latin typeface="Cambria Math"/>
                <a:cs typeface="Cambria Math"/>
              </a:rPr>
              <a:t>2</a:t>
            </a:r>
            <a:r>
              <a:rPr dirty="0" baseline="29166" sz="3000" spc="825">
                <a:latin typeface="Cambria Math"/>
                <a:cs typeface="Cambria Math"/>
              </a:rPr>
              <a:t>I</a:t>
            </a:r>
            <a:r>
              <a:rPr dirty="0" baseline="29166" sz="3000" spc="209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− 2	− l</a:t>
            </a:r>
            <a:r>
              <a:rPr dirty="0" sz="2800" spc="-5">
                <a:latin typeface="Cambria Math"/>
                <a:cs typeface="Cambria Math"/>
              </a:rPr>
              <a:t>o</a:t>
            </a:r>
            <a:r>
              <a:rPr dirty="0" sz="2800">
                <a:latin typeface="Cambria Math"/>
                <a:cs typeface="Cambria Math"/>
              </a:rPr>
              <a:t>g	𝛿	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58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4856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8081009" cy="526224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224790">
              <a:lnSpc>
                <a:spcPts val="3790"/>
              </a:lnSpc>
              <a:spcBef>
                <a:spcPts val="265"/>
              </a:spcBef>
            </a:pPr>
            <a:r>
              <a:rPr dirty="0" sz="3200" spc="-5">
                <a:latin typeface="Calibri"/>
                <a:cs typeface="Calibri"/>
              </a:rPr>
              <a:t>Rather </a:t>
            </a:r>
            <a:r>
              <a:rPr dirty="0" sz="3200">
                <a:latin typeface="Calibri"/>
                <a:cs typeface="Calibri"/>
              </a:rPr>
              <a:t>than </a:t>
            </a:r>
            <a:r>
              <a:rPr dirty="0" sz="3200" spc="-5">
                <a:latin typeface="Calibri"/>
                <a:cs typeface="Calibri"/>
              </a:rPr>
              <a:t>simply </a:t>
            </a:r>
            <a:r>
              <a:rPr dirty="0" sz="3200" spc="-20">
                <a:latin typeface="Calibri"/>
                <a:cs typeface="Calibri"/>
              </a:rPr>
              <a:t>represent </a:t>
            </a:r>
            <a:r>
              <a:rPr dirty="0" sz="3200" spc="-5">
                <a:latin typeface="Calibri"/>
                <a:cs typeface="Calibri"/>
              </a:rPr>
              <a:t>each </a:t>
            </a:r>
            <a:r>
              <a:rPr dirty="0" sz="3200" spc="-10">
                <a:latin typeface="Calibri"/>
                <a:cs typeface="Calibri"/>
              </a:rPr>
              <a:t>walk </a:t>
            </a:r>
            <a:r>
              <a:rPr dirty="0" sz="3200" spc="-5">
                <a:latin typeface="Calibri"/>
                <a:cs typeface="Calibri"/>
              </a:rPr>
              <a:t>by </a:t>
            </a:r>
            <a:r>
              <a:rPr dirty="0" sz="3200">
                <a:latin typeface="Calibri"/>
                <a:cs typeface="Calibri"/>
              </a:rPr>
              <a:t>the  </a:t>
            </a:r>
            <a:r>
              <a:rPr dirty="0" sz="3200" spc="-15">
                <a:latin typeface="Calibri"/>
                <a:cs typeface="Calibri"/>
              </a:rPr>
              <a:t>fraction </a:t>
            </a:r>
            <a:r>
              <a:rPr dirty="0" sz="3200" spc="-5">
                <a:latin typeface="Calibri"/>
                <a:cs typeface="Calibri"/>
              </a:rPr>
              <a:t>of times </a:t>
            </a:r>
            <a:r>
              <a:rPr dirty="0" sz="3200">
                <a:latin typeface="Calibri"/>
                <a:cs typeface="Calibri"/>
              </a:rPr>
              <a:t>it </a:t>
            </a:r>
            <a:r>
              <a:rPr dirty="0" sz="3200" spc="-15">
                <a:latin typeface="Calibri"/>
                <a:cs typeface="Calibri"/>
              </a:rPr>
              <a:t>occurs, we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learn</a:t>
            </a:r>
            <a:r>
              <a:rPr dirty="0" sz="3200" spc="7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embedding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770"/>
              </a:lnSpc>
            </a:pP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𝒛</a:t>
            </a:r>
            <a:r>
              <a:rPr dirty="0" baseline="-15700" sz="3450" spc="-7">
                <a:solidFill>
                  <a:srgbClr val="0000FF"/>
                </a:solidFill>
                <a:latin typeface="Cambria Math"/>
                <a:cs typeface="Cambria Math"/>
              </a:rPr>
              <a:t>𝒊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anonymous walk</a:t>
            </a:r>
            <a:r>
              <a:rPr dirty="0" sz="3200" spc="1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𝒘</a:t>
            </a:r>
            <a:r>
              <a:rPr dirty="0" baseline="-15700" sz="3450">
                <a:solidFill>
                  <a:srgbClr val="0000FF"/>
                </a:solidFill>
                <a:latin typeface="Cambria Math"/>
                <a:cs typeface="Cambria Math"/>
              </a:rPr>
              <a:t>𝒊</a:t>
            </a:r>
            <a:endParaRPr baseline="-15700" sz="3450">
              <a:latin typeface="Cambria Math"/>
              <a:cs typeface="Cambria Math"/>
            </a:endParaRPr>
          </a:p>
          <a:p>
            <a:pPr marL="332740" marR="5080" indent="-320040">
              <a:lnSpc>
                <a:spcPts val="391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Learn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20" b="1">
                <a:latin typeface="Calibri"/>
                <a:cs typeface="Calibri"/>
              </a:rPr>
              <a:t>graph </a:t>
            </a:r>
            <a:r>
              <a:rPr dirty="0" sz="3200" spc="-5" b="1">
                <a:latin typeface="Calibri"/>
                <a:cs typeface="Calibri"/>
              </a:rPr>
              <a:t>embedding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r>
              <a:rPr dirty="0" baseline="-15700" sz="3450">
                <a:solidFill>
                  <a:srgbClr val="C00000"/>
                </a:solidFill>
                <a:latin typeface="Cambria Math"/>
                <a:cs typeface="Cambria Math"/>
              </a:rPr>
              <a:t>𝑮 </a:t>
            </a:r>
            <a:r>
              <a:rPr dirty="0" sz="3200" spc="-15" b="1">
                <a:latin typeface="Calibri"/>
                <a:cs typeface="Calibri"/>
              </a:rPr>
              <a:t>together </a:t>
            </a:r>
            <a:r>
              <a:rPr dirty="0" sz="3200" b="1">
                <a:latin typeface="Calibri"/>
                <a:cs typeface="Calibri"/>
              </a:rPr>
              <a:t>with </a:t>
            </a:r>
            <a:r>
              <a:rPr dirty="0" sz="3200" spc="-5" b="1">
                <a:latin typeface="Calibri"/>
                <a:cs typeface="Calibri"/>
              </a:rPr>
              <a:t>all  the </a:t>
            </a:r>
            <a:r>
              <a:rPr dirty="0" sz="3200" spc="-15" b="1">
                <a:latin typeface="Calibri"/>
                <a:cs typeface="Calibri"/>
              </a:rPr>
              <a:t>anonymous walk </a:t>
            </a:r>
            <a:r>
              <a:rPr dirty="0" sz="3200" spc="-5" b="1">
                <a:latin typeface="Calibri"/>
                <a:cs typeface="Calibri"/>
              </a:rPr>
              <a:t>embeddings</a:t>
            </a:r>
            <a:r>
              <a:rPr dirty="0" sz="3200" spc="0" b="1"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𝒛</a:t>
            </a:r>
            <a:r>
              <a:rPr dirty="0" baseline="-15700" sz="3450" spc="-7">
                <a:solidFill>
                  <a:srgbClr val="0000FF"/>
                </a:solidFill>
                <a:latin typeface="Cambria Math"/>
                <a:cs typeface="Cambria Math"/>
              </a:rPr>
              <a:t>𝒊</a:t>
            </a:r>
            <a:endParaRPr baseline="-15700" sz="3450">
              <a:latin typeface="Cambria Math"/>
              <a:cs typeface="Cambria Math"/>
            </a:endParaRPr>
          </a:p>
          <a:p>
            <a:pPr marL="332740">
              <a:lnSpc>
                <a:spcPts val="3625"/>
              </a:lnSpc>
            </a:pP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𝑍 = </a:t>
            </a:r>
            <a:r>
              <a:rPr dirty="0" sz="3200" spc="100">
                <a:solidFill>
                  <a:srgbClr val="0070C0"/>
                </a:solidFill>
                <a:latin typeface="Cambria Math"/>
                <a:cs typeface="Cambria Math"/>
              </a:rPr>
              <a:t>{𝑧</a:t>
            </a:r>
            <a:r>
              <a:rPr dirty="0" baseline="-15700" sz="3450" spc="150">
                <a:solidFill>
                  <a:srgbClr val="0070C0"/>
                </a:solidFill>
                <a:latin typeface="Cambria Math"/>
                <a:cs typeface="Cambria Math"/>
              </a:rPr>
              <a:t>.</a:t>
            </a:r>
            <a:r>
              <a:rPr dirty="0" sz="3200" spc="100">
                <a:solidFill>
                  <a:srgbClr val="0070C0"/>
                </a:solidFill>
                <a:latin typeface="Cambria Math"/>
                <a:cs typeface="Cambria Math"/>
              </a:rPr>
              <a:t>: 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𝑖 = 1 … </a:t>
            </a:r>
            <a:r>
              <a:rPr dirty="0" sz="3200" spc="25">
                <a:solidFill>
                  <a:srgbClr val="0070C0"/>
                </a:solidFill>
                <a:latin typeface="Cambria Math"/>
                <a:cs typeface="Cambria Math"/>
              </a:rPr>
              <a:t>𝜂}</a:t>
            </a:r>
            <a:r>
              <a:rPr dirty="0" sz="3200" spc="25">
                <a:latin typeface="Calibri"/>
                <a:cs typeface="Calibri"/>
              </a:rPr>
              <a:t>, </a:t>
            </a:r>
            <a:r>
              <a:rPr dirty="0" sz="3200" spc="-15">
                <a:latin typeface="Calibri"/>
                <a:cs typeface="Calibri"/>
              </a:rPr>
              <a:t>where </a:t>
            </a:r>
            <a:r>
              <a:rPr dirty="0" sz="3200">
                <a:solidFill>
                  <a:srgbClr val="0070C0"/>
                </a:solidFill>
                <a:latin typeface="Cambria Math"/>
                <a:cs typeface="Cambria Math"/>
              </a:rPr>
              <a:t>𝜂 </a:t>
            </a:r>
            <a:r>
              <a:rPr dirty="0" sz="3200">
                <a:latin typeface="Calibri"/>
                <a:cs typeface="Calibri"/>
              </a:rPr>
              <a:t>is the </a:t>
            </a:r>
            <a:r>
              <a:rPr dirty="0" sz="3200" spc="-5">
                <a:latin typeface="Calibri"/>
                <a:cs typeface="Calibri"/>
              </a:rPr>
              <a:t>number</a:t>
            </a:r>
            <a:r>
              <a:rPr dirty="0" sz="3200" spc="3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</a:pPr>
            <a:r>
              <a:rPr dirty="0" sz="3200" spc="-5">
                <a:latin typeface="Calibri"/>
                <a:cs typeface="Calibri"/>
              </a:rPr>
              <a:t>sampled </a:t>
            </a:r>
            <a:r>
              <a:rPr dirty="0" sz="3200" spc="-10">
                <a:latin typeface="Calibri"/>
                <a:cs typeface="Calibri"/>
              </a:rPr>
              <a:t>anonymous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walks.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15"/>
              </a:lnSpc>
              <a:spcBef>
                <a:spcPts val="2975"/>
              </a:spcBef>
            </a:pPr>
            <a:r>
              <a:rPr dirty="0" sz="3200" spc="-5" b="1">
                <a:latin typeface="Calibri"/>
                <a:cs typeface="Calibri"/>
              </a:rPr>
              <a:t>How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spc="-5" b="1">
                <a:latin typeface="Calibri"/>
                <a:cs typeface="Calibri"/>
              </a:rPr>
              <a:t>embed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walks?</a:t>
            </a:r>
            <a:endParaRPr sz="3200">
              <a:latin typeface="Calibri"/>
              <a:cs typeface="Calibri"/>
            </a:endParaRPr>
          </a:p>
          <a:p>
            <a:pPr marL="332740" marR="568960" indent="-320040">
              <a:lnSpc>
                <a:spcPts val="3790"/>
              </a:lnSpc>
              <a:spcBef>
                <a:spcPts val="1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Idea: </a:t>
            </a:r>
            <a:r>
              <a:rPr dirty="0" sz="3200" spc="-5">
                <a:latin typeface="Calibri"/>
                <a:cs typeface="Calibri"/>
              </a:rPr>
              <a:t>Embed </a:t>
            </a:r>
            <a:r>
              <a:rPr dirty="0" sz="3200" spc="-15">
                <a:latin typeface="Calibri"/>
                <a:cs typeface="Calibri"/>
              </a:rPr>
              <a:t>walks </a:t>
            </a:r>
            <a:r>
              <a:rPr dirty="0" sz="3200" spc="-20">
                <a:latin typeface="Calibri"/>
                <a:cs typeface="Calibri"/>
              </a:rPr>
              <a:t>s.t.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next </a:t>
            </a:r>
            <a:r>
              <a:rPr dirty="0" sz="3200" spc="-10">
                <a:latin typeface="Calibri"/>
                <a:cs typeface="Calibri"/>
              </a:rPr>
              <a:t>walk can </a:t>
            </a:r>
            <a:r>
              <a:rPr dirty="0" sz="3200">
                <a:latin typeface="Calibri"/>
                <a:cs typeface="Calibri"/>
              </a:rPr>
              <a:t>be  </a:t>
            </a:r>
            <a:r>
              <a:rPr dirty="0" sz="3200" spc="-15">
                <a:latin typeface="Calibri"/>
                <a:cs typeface="Calibri"/>
              </a:rPr>
              <a:t>predicted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8978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3555"/>
            <a:ext cx="62280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/>
              <a:t>A </a:t>
            </a:r>
            <a:r>
              <a:rPr dirty="0" sz="3000" spc="-15"/>
              <a:t>vector </a:t>
            </a:r>
            <a:r>
              <a:rPr dirty="0" sz="3000" spc="-20"/>
              <a:t>parameter 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5151" sz="3300">
                <a:solidFill>
                  <a:srgbClr val="C00000"/>
                </a:solidFill>
                <a:latin typeface="Cambria Math"/>
                <a:cs typeface="Cambria Math"/>
              </a:rPr>
              <a:t>𝑮 </a:t>
            </a:r>
            <a:r>
              <a:rPr dirty="0" sz="3000" spc="-25"/>
              <a:t>for </a:t>
            </a:r>
            <a:r>
              <a:rPr dirty="0" sz="3000" spc="-5"/>
              <a:t>input</a:t>
            </a:r>
            <a:r>
              <a:rPr dirty="0" sz="3000" spc="100"/>
              <a:t> </a:t>
            </a:r>
            <a:r>
              <a:rPr dirty="0" sz="3000" spc="-15"/>
              <a:t>graph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729740"/>
            <a:ext cx="6776084" cy="788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765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embedding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15">
                <a:latin typeface="Calibri"/>
                <a:cs typeface="Calibri"/>
              </a:rPr>
              <a:t>entire graph to </a:t>
            </a:r>
            <a:r>
              <a:rPr dirty="0" sz="2600" spc="-5">
                <a:latin typeface="Calibri"/>
                <a:cs typeface="Calibri"/>
              </a:rPr>
              <a:t>be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learned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24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>
                <a:latin typeface="Calibri"/>
                <a:cs typeface="Calibri"/>
              </a:rPr>
              <a:t>Starting </a:t>
            </a:r>
            <a:r>
              <a:rPr dirty="0" sz="3000" spc="-15">
                <a:latin typeface="Calibri"/>
                <a:cs typeface="Calibri"/>
              </a:rPr>
              <a:t>from </a:t>
            </a:r>
            <a:r>
              <a:rPr dirty="0" sz="3000" spc="-5" b="1">
                <a:solidFill>
                  <a:srgbClr val="7030A0"/>
                </a:solidFill>
                <a:latin typeface="Calibri"/>
                <a:cs typeface="Calibri"/>
              </a:rPr>
              <a:t>node </a:t>
            </a:r>
            <a:r>
              <a:rPr dirty="0" sz="3000" b="1">
                <a:solidFill>
                  <a:srgbClr val="7030A0"/>
                </a:solidFill>
                <a:latin typeface="Calibri"/>
                <a:cs typeface="Calibri"/>
              </a:rPr>
              <a:t>1</a:t>
            </a:r>
            <a:r>
              <a:rPr dirty="0" sz="3000">
                <a:latin typeface="Calibri"/>
                <a:cs typeface="Calibri"/>
              </a:rPr>
              <a:t>: </a:t>
            </a:r>
            <a:r>
              <a:rPr dirty="0" sz="3000" spc="-5">
                <a:latin typeface="Calibri"/>
                <a:cs typeface="Calibri"/>
              </a:rPr>
              <a:t>Sample</a:t>
            </a:r>
            <a:r>
              <a:rPr dirty="0" sz="3000" spc="-10">
                <a:latin typeface="Calibri"/>
                <a:cs typeface="Calibri"/>
              </a:rPr>
              <a:t> anonymous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8149" y="2389123"/>
            <a:ext cx="292989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5">
                <a:latin typeface="Calibri"/>
                <a:cs typeface="Calibri"/>
              </a:rPr>
              <a:t>random walks,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0">
                <a:latin typeface="Calibri"/>
                <a:cs typeface="Calibri"/>
              </a:rPr>
              <a:t>e.g.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67813" y="5415279"/>
            <a:ext cx="47498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45">
                <a:solidFill>
                  <a:srgbClr val="0000FF"/>
                </a:solidFill>
                <a:latin typeface="Cambria Math"/>
                <a:cs typeface="Cambria Math"/>
              </a:rPr>
              <a:t>/</a:t>
            </a:r>
            <a:r>
              <a:rPr dirty="0" sz="1900" spc="320">
                <a:solidFill>
                  <a:srgbClr val="0000FF"/>
                </a:solidFill>
                <a:latin typeface="Cambria Math"/>
                <a:cs typeface="Cambria Math"/>
              </a:rPr>
              <a:t>0</a:t>
            </a:r>
            <a:r>
              <a:rPr dirty="0" sz="1900" spc="215">
                <a:solidFill>
                  <a:srgbClr val="0000FF"/>
                </a:solidFill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3495547"/>
            <a:ext cx="7576820" cy="247650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332740" marR="5080" indent="-320040">
              <a:lnSpc>
                <a:spcPts val="2900"/>
              </a:lnSpc>
              <a:spcBef>
                <a:spcPts val="78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Learn </a:t>
            </a:r>
            <a:r>
              <a:rPr dirty="0" sz="3000" spc="-20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predict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walks that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co-occur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3000" spc="-15">
                <a:solidFill>
                  <a:srgbClr val="C00000"/>
                </a:solidFill>
                <a:latin typeface="Cambria Math"/>
                <a:cs typeface="Cambria Math"/>
              </a:rPr>
              <a:t>𝚫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-size 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window </a:t>
            </a:r>
            <a:r>
              <a:rPr dirty="0" sz="3000">
                <a:latin typeface="Calibri"/>
                <a:cs typeface="Calibri"/>
              </a:rPr>
              <a:t>(e.g. </a:t>
            </a:r>
            <a:r>
              <a:rPr dirty="0" sz="3000" spc="-15">
                <a:latin typeface="Calibri"/>
                <a:cs typeface="Calibri"/>
              </a:rPr>
              <a:t>predict </a:t>
            </a:r>
            <a:r>
              <a:rPr dirty="0" sz="3000" spc="285">
                <a:latin typeface="Cambria Math"/>
                <a:cs typeface="Cambria Math"/>
              </a:rPr>
              <a:t>𝑤</a:t>
            </a:r>
            <a:r>
              <a:rPr dirty="0" baseline="-15151" sz="3300" spc="427">
                <a:latin typeface="Cambria Math"/>
                <a:cs typeface="Cambria Math"/>
              </a:rPr>
              <a:t>; </a:t>
            </a:r>
            <a:r>
              <a:rPr dirty="0" sz="3000" spc="-10">
                <a:latin typeface="Calibri"/>
                <a:cs typeface="Calibri"/>
              </a:rPr>
              <a:t>given </a:t>
            </a:r>
            <a:r>
              <a:rPr dirty="0" sz="3000" spc="-160">
                <a:latin typeface="Cambria Math"/>
                <a:cs typeface="Cambria Math"/>
              </a:rPr>
              <a:t>𝑤</a:t>
            </a:r>
            <a:r>
              <a:rPr dirty="0" baseline="-15151" sz="3300" spc="-240">
                <a:latin typeface="Cambria Math"/>
                <a:cs typeface="Cambria Math"/>
              </a:rPr>
              <a:t>&lt;</a:t>
            </a:r>
            <a:r>
              <a:rPr dirty="0" sz="3000" spc="-160">
                <a:latin typeface="Calibri"/>
                <a:cs typeface="Calibri"/>
              </a:rPr>
              <a:t>, </a:t>
            </a:r>
            <a:r>
              <a:rPr dirty="0" sz="3000" spc="-240">
                <a:latin typeface="Cambria Math"/>
                <a:cs typeface="Cambria Math"/>
              </a:rPr>
              <a:t>𝑤</a:t>
            </a:r>
            <a:r>
              <a:rPr dirty="0" baseline="-15151" sz="3300" spc="-359">
                <a:latin typeface="Cambria Math"/>
                <a:cs typeface="Cambria Math"/>
              </a:rPr>
              <a:t>=   </a:t>
            </a:r>
            <a:r>
              <a:rPr dirty="0" sz="3000" spc="-5">
                <a:latin typeface="Calibri"/>
                <a:cs typeface="Calibri"/>
              </a:rPr>
              <a:t>if </a:t>
            </a:r>
            <a:r>
              <a:rPr dirty="0" sz="3000">
                <a:latin typeface="Cambria Math"/>
                <a:cs typeface="Cambria Math"/>
              </a:rPr>
              <a:t>Δ =</a:t>
            </a:r>
            <a:r>
              <a:rPr dirty="0" sz="3000" spc="12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1</a:t>
            </a:r>
            <a:r>
              <a:rPr dirty="0" sz="3000">
                <a:latin typeface="Calibri"/>
                <a:cs typeface="Calibri"/>
              </a:rPr>
              <a:t>)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280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>
                <a:latin typeface="Calibri"/>
                <a:cs typeface="Calibri"/>
              </a:rPr>
              <a:t>Objective:</a:t>
            </a:r>
            <a:r>
              <a:rPr dirty="0" sz="3000" spc="-425">
                <a:latin typeface="Calibri"/>
                <a:cs typeface="Calibri"/>
              </a:rPr>
              <a:t> </a:t>
            </a:r>
            <a:r>
              <a:rPr dirty="0" baseline="-33625" sz="2850" spc="345">
                <a:solidFill>
                  <a:srgbClr val="0000FF"/>
                </a:solidFill>
                <a:latin typeface="Cambria Math"/>
                <a:cs typeface="Cambria Math"/>
              </a:rPr>
              <a:t>231</a:t>
            </a:r>
            <a:endParaRPr baseline="-33625" sz="2850">
              <a:latin typeface="Cambria Math"/>
              <a:cs typeface="Cambria Math"/>
            </a:endParaRPr>
          </a:p>
          <a:p>
            <a:pPr marL="1289050">
              <a:lnSpc>
                <a:spcPct val="100000"/>
              </a:lnSpc>
              <a:spcBef>
                <a:spcPts val="1814"/>
              </a:spcBef>
            </a:pPr>
            <a:r>
              <a:rPr dirty="0" sz="2600" spc="-5">
                <a:solidFill>
                  <a:srgbClr val="0000FF"/>
                </a:solidFill>
                <a:latin typeface="Cambria Math"/>
                <a:cs typeface="Cambria Math"/>
              </a:rPr>
              <a:t>max</a:t>
            </a:r>
            <a:r>
              <a:rPr dirty="0" sz="2600" spc="6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600" spc="2340">
                <a:solidFill>
                  <a:srgbClr val="0000FF"/>
                </a:solidFill>
                <a:latin typeface="Cambria Math"/>
                <a:cs typeface="Cambria Math"/>
              </a:rPr>
              <a:t>?</a:t>
            </a:r>
            <a:r>
              <a:rPr dirty="0" sz="2600" spc="6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600" spc="-10">
                <a:solidFill>
                  <a:srgbClr val="0000FF"/>
                </a:solidFill>
                <a:latin typeface="Cambria Math"/>
                <a:cs typeface="Cambria Math"/>
              </a:rPr>
              <a:t>log</a:t>
            </a:r>
            <a:r>
              <a:rPr dirty="0" sz="2600" spc="-14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600" spc="40">
                <a:solidFill>
                  <a:srgbClr val="0000FF"/>
                </a:solidFill>
                <a:latin typeface="Cambria Math"/>
                <a:cs typeface="Cambria Math"/>
              </a:rPr>
              <a:t>𝑃(𝑤</a:t>
            </a:r>
            <a:r>
              <a:rPr dirty="0" baseline="-16081" sz="2850" spc="60">
                <a:solidFill>
                  <a:srgbClr val="0000FF"/>
                </a:solidFill>
                <a:latin typeface="Cambria Math"/>
                <a:cs typeface="Cambria Math"/>
              </a:rPr>
              <a:t>/</a:t>
            </a:r>
            <a:r>
              <a:rPr dirty="0" sz="2600" spc="40">
                <a:solidFill>
                  <a:srgbClr val="0000FF"/>
                </a:solidFill>
                <a:latin typeface="Cambria Math"/>
                <a:cs typeface="Cambria Math"/>
              </a:rPr>
              <a:t>|𝑤</a:t>
            </a:r>
            <a:r>
              <a:rPr dirty="0" baseline="-16081" sz="2850" spc="60">
                <a:solidFill>
                  <a:srgbClr val="0000FF"/>
                </a:solidFill>
                <a:latin typeface="Cambria Math"/>
                <a:cs typeface="Cambria Math"/>
              </a:rPr>
              <a:t>/31</a:t>
            </a:r>
            <a:r>
              <a:rPr dirty="0" sz="2600" spc="4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2600" spc="-14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600">
                <a:solidFill>
                  <a:srgbClr val="0000FF"/>
                </a:solidFill>
                <a:latin typeface="Cambria Math"/>
                <a:cs typeface="Cambria Math"/>
              </a:rPr>
              <a:t>…</a:t>
            </a:r>
            <a:r>
              <a:rPr dirty="0" sz="2600" spc="-15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60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2600" spc="-14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600" spc="90">
                <a:solidFill>
                  <a:srgbClr val="0000FF"/>
                </a:solidFill>
                <a:latin typeface="Cambria Math"/>
                <a:cs typeface="Cambria Math"/>
              </a:rPr>
              <a:t>𝑤</a:t>
            </a:r>
            <a:r>
              <a:rPr dirty="0" baseline="-16081" sz="2850" spc="135">
                <a:solidFill>
                  <a:srgbClr val="0000FF"/>
                </a:solidFill>
                <a:latin typeface="Cambria Math"/>
                <a:cs typeface="Cambria Math"/>
              </a:rPr>
              <a:t>/41</a:t>
            </a:r>
            <a:r>
              <a:rPr dirty="0" sz="2600" spc="9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2600" spc="-14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600" spc="15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6081" sz="2850" spc="22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sz="2600" spc="15">
                <a:solidFill>
                  <a:srgbClr val="0000FF"/>
                </a:solidFill>
                <a:latin typeface="Cambria Math"/>
                <a:cs typeface="Cambria Math"/>
              </a:rPr>
              <a:t>)</a:t>
            </a:r>
            <a:endParaRPr sz="26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147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latin typeface="Calibri"/>
                <a:cs typeface="Calibri"/>
              </a:rPr>
              <a:t>Sum the </a:t>
            </a:r>
            <a:r>
              <a:rPr dirty="0" sz="3000" spc="-10">
                <a:latin typeface="Calibri"/>
                <a:cs typeface="Calibri"/>
              </a:rPr>
              <a:t>objective </a:t>
            </a:r>
            <a:r>
              <a:rPr dirty="0" sz="3000" spc="-15">
                <a:latin typeface="Calibri"/>
                <a:cs typeface="Calibri"/>
              </a:rPr>
              <a:t>over </a:t>
            </a:r>
            <a:r>
              <a:rPr dirty="0" sz="3000" spc="-5">
                <a:latin typeface="Calibri"/>
                <a:cs typeface="Calibri"/>
              </a:rPr>
              <a:t>all nodes in the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graph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19696" y="2717485"/>
            <a:ext cx="955221" cy="7953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70301" y="2736398"/>
            <a:ext cx="2536596" cy="7953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535678" y="2401316"/>
            <a:ext cx="27539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3440" algn="l"/>
                <a:tab pos="1672589" algn="l"/>
                <a:tab pos="2491105" algn="l"/>
              </a:tabLst>
            </a:pPr>
            <a:r>
              <a:rPr dirty="0" sz="1800" spc="-110">
                <a:latin typeface="Cambria Math"/>
                <a:cs typeface="Cambria Math"/>
              </a:rPr>
              <a:t>𝑤</a:t>
            </a:r>
            <a:r>
              <a:rPr dirty="0" baseline="-14957" sz="1950" spc="-217">
                <a:latin typeface="Cambria Math"/>
                <a:cs typeface="Cambria Math"/>
              </a:rPr>
              <a:t>&amp;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 spc="-65">
                <a:latin typeface="Cambria Math"/>
                <a:cs typeface="Cambria Math"/>
              </a:rPr>
              <a:t>𝑤</a:t>
            </a:r>
            <a:r>
              <a:rPr dirty="0" baseline="-14957" sz="1950" spc="652">
                <a:latin typeface="Cambria Math"/>
                <a:cs typeface="Cambria Math"/>
              </a:rPr>
              <a:t>'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 spc="-65">
                <a:latin typeface="Cambria Math"/>
                <a:cs typeface="Cambria Math"/>
              </a:rPr>
              <a:t>𝑤</a:t>
            </a:r>
            <a:r>
              <a:rPr dirty="0" baseline="-14957" sz="1950" spc="307">
                <a:latin typeface="Cambria Math"/>
                <a:cs typeface="Cambria Math"/>
              </a:rPr>
              <a:t>(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 spc="-120">
                <a:latin typeface="Cambria Math"/>
                <a:cs typeface="Cambria Math"/>
              </a:rPr>
              <a:t>𝑤</a:t>
            </a:r>
            <a:r>
              <a:rPr dirty="0" baseline="-14957" sz="1950" spc="307">
                <a:latin typeface="Cambria Math"/>
                <a:cs typeface="Cambria Math"/>
              </a:rPr>
              <a:t>)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26378" y="1295400"/>
            <a:ext cx="1011881" cy="12743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6"/>
              </a:rPr>
              <a:t>http://cs224w.stanford.edu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8978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2032"/>
            <a:ext cx="806132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b="1">
                <a:solidFill>
                  <a:srgbClr val="C00000"/>
                </a:solidFill>
                <a:latin typeface="Calibri"/>
                <a:cs typeface="Calibri"/>
              </a:rPr>
              <a:t>Run </a:t>
            </a:r>
            <a:r>
              <a:rPr dirty="0" sz="2700">
                <a:solidFill>
                  <a:srgbClr val="C00000"/>
                </a:solidFill>
                <a:latin typeface="Cambria Math"/>
                <a:cs typeface="Cambria Math"/>
              </a:rPr>
              <a:t>𝑻 </a:t>
            </a:r>
            <a:r>
              <a:rPr dirty="0" sz="2700" spc="-15" b="1">
                <a:solidFill>
                  <a:srgbClr val="C00000"/>
                </a:solidFill>
                <a:latin typeface="Calibri"/>
                <a:cs typeface="Calibri"/>
              </a:rPr>
              <a:t>different random walks from </a:t>
            </a:r>
            <a:r>
              <a:rPr dirty="0" sz="2700">
                <a:solidFill>
                  <a:srgbClr val="C00000"/>
                </a:solidFill>
                <a:latin typeface="Cambria Math"/>
                <a:cs typeface="Cambria Math"/>
              </a:rPr>
              <a:t>𝒖 </a:t>
            </a:r>
            <a:r>
              <a:rPr dirty="0" sz="2700" spc="-5" b="1">
                <a:solidFill>
                  <a:srgbClr val="C00000"/>
                </a:solidFill>
                <a:latin typeface="Calibri"/>
                <a:cs typeface="Calibri"/>
              </a:rPr>
              <a:t>each of length</a:t>
            </a:r>
            <a:r>
              <a:rPr dirty="0" sz="2700" spc="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C00000"/>
                </a:solidFill>
                <a:latin typeface="Cambria Math"/>
                <a:cs typeface="Cambria Math"/>
              </a:rPr>
              <a:t>𝒍</a:t>
            </a:r>
            <a:r>
              <a:rPr dirty="0" sz="2700" b="1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3958" y="1701605"/>
            <a:ext cx="429895" cy="318135"/>
          </a:xfrm>
          <a:custGeom>
            <a:avLst/>
            <a:gdLst/>
            <a:ahLst/>
            <a:cxnLst/>
            <a:rect l="l" t="t" r="r" b="b"/>
            <a:pathLst>
              <a:path w="429895" h="318135">
                <a:moveTo>
                  <a:pt x="328598" y="0"/>
                </a:moveTo>
                <a:lnTo>
                  <a:pt x="324077" y="12891"/>
                </a:lnTo>
                <a:lnTo>
                  <a:pt x="342463" y="20871"/>
                </a:lnTo>
                <a:lnTo>
                  <a:pt x="358276" y="31916"/>
                </a:lnTo>
                <a:lnTo>
                  <a:pt x="382177" y="63205"/>
                </a:lnTo>
                <a:lnTo>
                  <a:pt x="396240" y="105419"/>
                </a:lnTo>
                <a:lnTo>
                  <a:pt x="400928" y="157218"/>
                </a:lnTo>
                <a:lnTo>
                  <a:pt x="399751" y="185231"/>
                </a:lnTo>
                <a:lnTo>
                  <a:pt x="390333" y="233535"/>
                </a:lnTo>
                <a:lnTo>
                  <a:pt x="371435" y="271259"/>
                </a:lnTo>
                <a:lnTo>
                  <a:pt x="342678" y="296709"/>
                </a:lnTo>
                <a:lnTo>
                  <a:pt x="324580" y="304725"/>
                </a:lnTo>
                <a:lnTo>
                  <a:pt x="328598" y="317618"/>
                </a:lnTo>
                <a:lnTo>
                  <a:pt x="371921" y="297295"/>
                </a:lnTo>
                <a:lnTo>
                  <a:pt x="403774" y="262114"/>
                </a:lnTo>
                <a:lnTo>
                  <a:pt x="423364" y="215003"/>
                </a:lnTo>
                <a:lnTo>
                  <a:pt x="429894" y="158892"/>
                </a:lnTo>
                <a:lnTo>
                  <a:pt x="428257" y="129775"/>
                </a:lnTo>
                <a:lnTo>
                  <a:pt x="415155" y="78164"/>
                </a:lnTo>
                <a:lnTo>
                  <a:pt x="389172" y="36149"/>
                </a:lnTo>
                <a:lnTo>
                  <a:pt x="351625" y="8314"/>
                </a:lnTo>
                <a:lnTo>
                  <a:pt x="328598" y="0"/>
                </a:lnTo>
                <a:close/>
              </a:path>
              <a:path w="429895" h="318135">
                <a:moveTo>
                  <a:pt x="101296" y="0"/>
                </a:moveTo>
                <a:lnTo>
                  <a:pt x="58078" y="20363"/>
                </a:lnTo>
                <a:lnTo>
                  <a:pt x="26203" y="55670"/>
                </a:lnTo>
                <a:lnTo>
                  <a:pt x="6551" y="102866"/>
                </a:lnTo>
                <a:lnTo>
                  <a:pt x="0" y="158892"/>
                </a:lnTo>
                <a:lnTo>
                  <a:pt x="1632" y="188072"/>
                </a:lnTo>
                <a:lnTo>
                  <a:pt x="14692" y="239683"/>
                </a:lnTo>
                <a:lnTo>
                  <a:pt x="40613" y="281562"/>
                </a:lnTo>
                <a:lnTo>
                  <a:pt x="78201" y="309314"/>
                </a:lnTo>
                <a:lnTo>
                  <a:pt x="101296" y="317618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5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1" y="83114"/>
                </a:lnTo>
                <a:lnTo>
                  <a:pt x="58491" y="46028"/>
                </a:lnTo>
                <a:lnTo>
                  <a:pt x="87499" y="20871"/>
                </a:lnTo>
                <a:lnTo>
                  <a:pt x="105817" y="12891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45970" y="1700809"/>
            <a:ext cx="2098675" cy="319405"/>
          </a:xfrm>
          <a:custGeom>
            <a:avLst/>
            <a:gdLst/>
            <a:ahLst/>
            <a:cxnLst/>
            <a:rect l="l" t="t" r="r" b="b"/>
            <a:pathLst>
              <a:path w="2098675" h="319405">
                <a:moveTo>
                  <a:pt x="1995631" y="0"/>
                </a:moveTo>
                <a:lnTo>
                  <a:pt x="1991278" y="0"/>
                </a:lnTo>
                <a:lnTo>
                  <a:pt x="1991278" y="12724"/>
                </a:lnTo>
                <a:lnTo>
                  <a:pt x="1993789" y="12724"/>
                </a:lnTo>
                <a:lnTo>
                  <a:pt x="2005269" y="13514"/>
                </a:lnTo>
                <a:lnTo>
                  <a:pt x="2042094" y="42129"/>
                </a:lnTo>
                <a:lnTo>
                  <a:pt x="2045526" y="67139"/>
                </a:lnTo>
                <a:lnTo>
                  <a:pt x="2045317" y="73345"/>
                </a:lnTo>
                <a:lnTo>
                  <a:pt x="2044689" y="80241"/>
                </a:lnTo>
                <a:lnTo>
                  <a:pt x="2043642" y="87827"/>
                </a:lnTo>
                <a:lnTo>
                  <a:pt x="2042177" y="96104"/>
                </a:lnTo>
                <a:lnTo>
                  <a:pt x="2039945" y="107602"/>
                </a:lnTo>
                <a:lnTo>
                  <a:pt x="2038828" y="115806"/>
                </a:lnTo>
                <a:lnTo>
                  <a:pt x="2038828" y="130205"/>
                </a:lnTo>
                <a:lnTo>
                  <a:pt x="2041618" y="137990"/>
                </a:lnTo>
                <a:lnTo>
                  <a:pt x="2052781" y="150158"/>
                </a:lnTo>
                <a:lnTo>
                  <a:pt x="2059423" y="154650"/>
                </a:lnTo>
                <a:lnTo>
                  <a:pt x="2067124" y="157552"/>
                </a:lnTo>
                <a:lnTo>
                  <a:pt x="2067124" y="160566"/>
                </a:lnTo>
                <a:lnTo>
                  <a:pt x="2059423" y="163468"/>
                </a:lnTo>
                <a:lnTo>
                  <a:pt x="2052781" y="167961"/>
                </a:lnTo>
                <a:lnTo>
                  <a:pt x="2041618" y="180127"/>
                </a:lnTo>
                <a:lnTo>
                  <a:pt x="2038828" y="187914"/>
                </a:lnTo>
                <a:lnTo>
                  <a:pt x="2038828" y="202312"/>
                </a:lnTo>
                <a:lnTo>
                  <a:pt x="2039945" y="210516"/>
                </a:lnTo>
                <a:lnTo>
                  <a:pt x="2042177" y="222013"/>
                </a:lnTo>
                <a:lnTo>
                  <a:pt x="2043642" y="230291"/>
                </a:lnTo>
                <a:lnTo>
                  <a:pt x="2044689" y="237877"/>
                </a:lnTo>
                <a:lnTo>
                  <a:pt x="2045317" y="244774"/>
                </a:lnTo>
                <a:lnTo>
                  <a:pt x="2045526" y="250979"/>
                </a:lnTo>
                <a:lnTo>
                  <a:pt x="2044668" y="265028"/>
                </a:lnTo>
                <a:lnTo>
                  <a:pt x="2024272" y="299456"/>
                </a:lnTo>
                <a:lnTo>
                  <a:pt x="1993789" y="306566"/>
                </a:lnTo>
                <a:lnTo>
                  <a:pt x="1991278" y="306566"/>
                </a:lnTo>
                <a:lnTo>
                  <a:pt x="1991278" y="319291"/>
                </a:lnTo>
                <a:lnTo>
                  <a:pt x="1995631" y="319291"/>
                </a:lnTo>
                <a:lnTo>
                  <a:pt x="2014064" y="317915"/>
                </a:lnTo>
                <a:lnTo>
                  <a:pt x="2054484" y="301292"/>
                </a:lnTo>
                <a:lnTo>
                  <a:pt x="2072770" y="264798"/>
                </a:lnTo>
                <a:lnTo>
                  <a:pt x="2073990" y="247966"/>
                </a:lnTo>
                <a:lnTo>
                  <a:pt x="2073744" y="240777"/>
                </a:lnTo>
                <a:lnTo>
                  <a:pt x="2073006" y="233106"/>
                </a:lnTo>
                <a:lnTo>
                  <a:pt x="2071776" y="224954"/>
                </a:lnTo>
                <a:lnTo>
                  <a:pt x="2070054" y="216321"/>
                </a:lnTo>
                <a:lnTo>
                  <a:pt x="2067431" y="204489"/>
                </a:lnTo>
                <a:lnTo>
                  <a:pt x="2066119" y="196564"/>
                </a:lnTo>
                <a:lnTo>
                  <a:pt x="2066119" y="184844"/>
                </a:lnTo>
                <a:lnTo>
                  <a:pt x="2068771" y="178565"/>
                </a:lnTo>
                <a:lnTo>
                  <a:pt x="2079374" y="168854"/>
                </a:lnTo>
                <a:lnTo>
                  <a:pt x="2087383" y="166259"/>
                </a:lnTo>
                <a:lnTo>
                  <a:pt x="2098099" y="165924"/>
                </a:lnTo>
                <a:lnTo>
                  <a:pt x="2098099" y="152195"/>
                </a:lnTo>
                <a:lnTo>
                  <a:pt x="2087383" y="151860"/>
                </a:lnTo>
                <a:lnTo>
                  <a:pt x="2079374" y="149264"/>
                </a:lnTo>
                <a:lnTo>
                  <a:pt x="2068771" y="139553"/>
                </a:lnTo>
                <a:lnTo>
                  <a:pt x="2066119" y="133275"/>
                </a:lnTo>
                <a:lnTo>
                  <a:pt x="2066119" y="121555"/>
                </a:lnTo>
                <a:lnTo>
                  <a:pt x="2067431" y="113629"/>
                </a:lnTo>
                <a:lnTo>
                  <a:pt x="2070054" y="101798"/>
                </a:lnTo>
                <a:lnTo>
                  <a:pt x="2071776" y="93165"/>
                </a:lnTo>
                <a:lnTo>
                  <a:pt x="2073006" y="85013"/>
                </a:lnTo>
                <a:lnTo>
                  <a:pt x="2073744" y="77342"/>
                </a:lnTo>
                <a:lnTo>
                  <a:pt x="2073990" y="70153"/>
                </a:lnTo>
                <a:lnTo>
                  <a:pt x="2072770" y="53834"/>
                </a:lnTo>
                <a:lnTo>
                  <a:pt x="2054484" y="17998"/>
                </a:lnTo>
                <a:lnTo>
                  <a:pt x="2014064" y="1375"/>
                </a:lnTo>
                <a:lnTo>
                  <a:pt x="1995631" y="0"/>
                </a:lnTo>
                <a:close/>
              </a:path>
              <a:path w="2098675" h="319405">
                <a:moveTo>
                  <a:pt x="106822" y="0"/>
                </a:moveTo>
                <a:lnTo>
                  <a:pt x="102468" y="0"/>
                </a:lnTo>
                <a:lnTo>
                  <a:pt x="84035" y="1375"/>
                </a:lnTo>
                <a:lnTo>
                  <a:pt x="43616" y="17998"/>
                </a:lnTo>
                <a:lnTo>
                  <a:pt x="25329" y="53740"/>
                </a:lnTo>
                <a:lnTo>
                  <a:pt x="24220" y="73177"/>
                </a:lnTo>
                <a:lnTo>
                  <a:pt x="24356" y="77175"/>
                </a:lnTo>
                <a:lnTo>
                  <a:pt x="25094" y="84845"/>
                </a:lnTo>
                <a:lnTo>
                  <a:pt x="26323" y="92997"/>
                </a:lnTo>
                <a:lnTo>
                  <a:pt x="28045" y="101630"/>
                </a:lnTo>
                <a:lnTo>
                  <a:pt x="30667" y="113461"/>
                </a:lnTo>
                <a:lnTo>
                  <a:pt x="31979" y="121387"/>
                </a:lnTo>
                <a:lnTo>
                  <a:pt x="31979" y="133107"/>
                </a:lnTo>
                <a:lnTo>
                  <a:pt x="29329" y="139386"/>
                </a:lnTo>
                <a:lnTo>
                  <a:pt x="18724" y="149097"/>
                </a:lnTo>
                <a:lnTo>
                  <a:pt x="10716" y="151692"/>
                </a:lnTo>
                <a:lnTo>
                  <a:pt x="0" y="152027"/>
                </a:lnTo>
                <a:lnTo>
                  <a:pt x="0" y="165756"/>
                </a:lnTo>
                <a:lnTo>
                  <a:pt x="10716" y="166091"/>
                </a:lnTo>
                <a:lnTo>
                  <a:pt x="18724" y="168686"/>
                </a:lnTo>
                <a:lnTo>
                  <a:pt x="29329" y="178398"/>
                </a:lnTo>
                <a:lnTo>
                  <a:pt x="31979" y="184677"/>
                </a:lnTo>
                <a:lnTo>
                  <a:pt x="31979" y="196396"/>
                </a:lnTo>
                <a:lnTo>
                  <a:pt x="30667" y="204321"/>
                </a:lnTo>
                <a:lnTo>
                  <a:pt x="28045" y="216153"/>
                </a:lnTo>
                <a:lnTo>
                  <a:pt x="26323" y="224786"/>
                </a:lnTo>
                <a:lnTo>
                  <a:pt x="25094" y="232938"/>
                </a:lnTo>
                <a:lnTo>
                  <a:pt x="24356" y="240609"/>
                </a:lnTo>
                <a:lnTo>
                  <a:pt x="24110" y="247798"/>
                </a:lnTo>
                <a:lnTo>
                  <a:pt x="25329" y="264703"/>
                </a:lnTo>
                <a:lnTo>
                  <a:pt x="43616" y="301292"/>
                </a:lnTo>
                <a:lnTo>
                  <a:pt x="84035" y="317915"/>
                </a:lnTo>
                <a:lnTo>
                  <a:pt x="102468" y="319291"/>
                </a:lnTo>
                <a:lnTo>
                  <a:pt x="106822" y="319291"/>
                </a:lnTo>
                <a:lnTo>
                  <a:pt x="106822" y="306566"/>
                </a:lnTo>
                <a:lnTo>
                  <a:pt x="104310" y="306566"/>
                </a:lnTo>
                <a:lnTo>
                  <a:pt x="92830" y="305776"/>
                </a:lnTo>
                <a:lnTo>
                  <a:pt x="56006" y="276826"/>
                </a:lnTo>
                <a:lnTo>
                  <a:pt x="52574" y="250812"/>
                </a:lnTo>
                <a:lnTo>
                  <a:pt x="52783" y="244607"/>
                </a:lnTo>
                <a:lnTo>
                  <a:pt x="53411" y="237710"/>
                </a:lnTo>
                <a:lnTo>
                  <a:pt x="54457" y="230123"/>
                </a:lnTo>
                <a:lnTo>
                  <a:pt x="55921" y="221846"/>
                </a:lnTo>
                <a:lnTo>
                  <a:pt x="58154" y="210350"/>
                </a:lnTo>
                <a:lnTo>
                  <a:pt x="59270" y="202145"/>
                </a:lnTo>
                <a:lnTo>
                  <a:pt x="59270" y="187746"/>
                </a:lnTo>
                <a:lnTo>
                  <a:pt x="56480" y="179960"/>
                </a:lnTo>
                <a:lnTo>
                  <a:pt x="45318" y="167793"/>
                </a:lnTo>
                <a:lnTo>
                  <a:pt x="38676" y="163301"/>
                </a:lnTo>
                <a:lnTo>
                  <a:pt x="30975" y="160398"/>
                </a:lnTo>
                <a:lnTo>
                  <a:pt x="30975" y="157384"/>
                </a:lnTo>
                <a:lnTo>
                  <a:pt x="38676" y="154482"/>
                </a:lnTo>
                <a:lnTo>
                  <a:pt x="45318" y="149990"/>
                </a:lnTo>
                <a:lnTo>
                  <a:pt x="56480" y="137824"/>
                </a:lnTo>
                <a:lnTo>
                  <a:pt x="59270" y="130037"/>
                </a:lnTo>
                <a:lnTo>
                  <a:pt x="59270" y="115638"/>
                </a:lnTo>
                <a:lnTo>
                  <a:pt x="58154" y="107434"/>
                </a:lnTo>
                <a:lnTo>
                  <a:pt x="55921" y="95938"/>
                </a:lnTo>
                <a:lnTo>
                  <a:pt x="54457" y="87660"/>
                </a:lnTo>
                <a:lnTo>
                  <a:pt x="53411" y="80073"/>
                </a:lnTo>
                <a:lnTo>
                  <a:pt x="52783" y="73177"/>
                </a:lnTo>
                <a:lnTo>
                  <a:pt x="52574" y="66972"/>
                </a:lnTo>
                <a:lnTo>
                  <a:pt x="53432" y="53509"/>
                </a:lnTo>
                <a:lnTo>
                  <a:pt x="73826" y="19835"/>
                </a:lnTo>
                <a:lnTo>
                  <a:pt x="104310" y="12724"/>
                </a:lnTo>
                <a:lnTo>
                  <a:pt x="106822" y="12724"/>
                </a:lnTo>
                <a:lnTo>
                  <a:pt x="1068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84839" y="1769364"/>
            <a:ext cx="16109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2615" algn="l"/>
                <a:tab pos="1441450" algn="l"/>
              </a:tabLst>
            </a:pPr>
            <a:r>
              <a:rPr dirty="0" sz="2000" spc="40">
                <a:latin typeface="Cambria Math"/>
                <a:cs typeface="Cambria Math"/>
              </a:rPr>
              <a:t>7</a:t>
            </a:r>
            <a:r>
              <a:rPr dirty="0" sz="2000" spc="40">
                <a:latin typeface="Cambria Math"/>
                <a:cs typeface="Cambria Math"/>
              </a:rPr>
              <a:t>	</a:t>
            </a:r>
            <a:r>
              <a:rPr dirty="0" sz="2000" spc="-220">
                <a:latin typeface="Cambria Math"/>
                <a:cs typeface="Cambria Math"/>
              </a:rPr>
              <a:t>H</a:t>
            </a:r>
            <a:r>
              <a:rPr dirty="0" sz="2000" spc="-220">
                <a:latin typeface="Cambria Math"/>
                <a:cs typeface="Cambria Math"/>
              </a:rPr>
              <a:t>	</a:t>
            </a:r>
            <a:r>
              <a:rPr dirty="0" sz="2000" spc="610">
                <a:latin typeface="Cambria Math"/>
                <a:cs typeface="Cambria Math"/>
              </a:rPr>
              <a:t>J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1863" y="1601216"/>
            <a:ext cx="33528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7110" algn="l"/>
                <a:tab pos="1490345" algn="l"/>
              </a:tabLst>
            </a:pPr>
            <a:r>
              <a:rPr dirty="0" sz="2700" spc="330">
                <a:latin typeface="Cambria Math"/>
                <a:cs typeface="Cambria Math"/>
              </a:rPr>
              <a:t>𝑁</a:t>
            </a:r>
            <a:r>
              <a:rPr dirty="0" baseline="-15277" sz="3000" spc="494">
                <a:latin typeface="Cambria Math"/>
                <a:cs typeface="Cambria Math"/>
              </a:rPr>
              <a:t>.</a:t>
            </a:r>
            <a:r>
              <a:rPr dirty="0" baseline="-15277" sz="3000" spc="75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𝑢	=	</a:t>
            </a:r>
            <a:r>
              <a:rPr dirty="0" sz="2700" spc="350">
                <a:latin typeface="Cambria Math"/>
                <a:cs typeface="Cambria Math"/>
              </a:rPr>
              <a:t>𝑤</a:t>
            </a:r>
            <a:r>
              <a:rPr dirty="0" baseline="29166" sz="3000" spc="525">
                <a:latin typeface="Cambria Math"/>
                <a:cs typeface="Cambria Math"/>
              </a:rPr>
              <a:t>'</a:t>
            </a:r>
            <a:r>
              <a:rPr dirty="0" sz="2700" spc="350">
                <a:latin typeface="Cambria Math"/>
                <a:cs typeface="Cambria Math"/>
              </a:rPr>
              <a:t>,</a:t>
            </a:r>
            <a:r>
              <a:rPr dirty="0" sz="2700" spc="-175">
                <a:latin typeface="Cambria Math"/>
                <a:cs typeface="Cambria Math"/>
              </a:rPr>
              <a:t> </a:t>
            </a:r>
            <a:r>
              <a:rPr dirty="0" sz="2700" spc="484">
                <a:latin typeface="Cambria Math"/>
                <a:cs typeface="Cambria Math"/>
              </a:rPr>
              <a:t>𝑤</a:t>
            </a:r>
            <a:r>
              <a:rPr dirty="0" baseline="29166" sz="3000" spc="727">
                <a:latin typeface="Cambria Math"/>
                <a:cs typeface="Cambria Math"/>
              </a:rPr>
              <a:t>'</a:t>
            </a:r>
            <a:r>
              <a:rPr dirty="0" baseline="29166" sz="3000" spc="-67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…</a:t>
            </a:r>
            <a:r>
              <a:rPr dirty="0" sz="2700" spc="-175">
                <a:latin typeface="Cambria Math"/>
                <a:cs typeface="Cambria Math"/>
              </a:rPr>
              <a:t> </a:t>
            </a:r>
            <a:r>
              <a:rPr dirty="0" sz="2700" spc="484">
                <a:latin typeface="Cambria Math"/>
                <a:cs typeface="Cambria Math"/>
              </a:rPr>
              <a:t>𝑤</a:t>
            </a:r>
            <a:r>
              <a:rPr dirty="0" baseline="29166" sz="3000" spc="727">
                <a:latin typeface="Cambria Math"/>
                <a:cs typeface="Cambria Math"/>
              </a:rPr>
              <a:t>'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23197" y="3933444"/>
            <a:ext cx="3848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90">
                <a:solidFill>
                  <a:srgbClr val="D60093"/>
                </a:solidFill>
                <a:latin typeface="Cambria Math"/>
                <a:cs typeface="Cambria Math"/>
              </a:rPr>
              <a:t>K</a:t>
            </a:r>
            <a:r>
              <a:rPr dirty="0" sz="2000" spc="-15">
                <a:solidFill>
                  <a:srgbClr val="D60093"/>
                </a:solidFill>
                <a:latin typeface="Cambria Math"/>
                <a:cs typeface="Cambria Math"/>
              </a:rPr>
              <a:t>,</a:t>
            </a:r>
            <a:r>
              <a:rPr dirty="0" sz="2000" spc="-380">
                <a:solidFill>
                  <a:srgbClr val="D60093"/>
                </a:solidFill>
                <a:latin typeface="Cambria Math"/>
                <a:cs typeface="Cambria Math"/>
              </a:rPr>
              <a:t>M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80664" y="3888740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 h="0">
                <a:moveTo>
                  <a:pt x="0" y="0"/>
                </a:moveTo>
                <a:lnTo>
                  <a:pt x="215900" y="0"/>
                </a:lnTo>
              </a:path>
            </a:pathLst>
          </a:custGeom>
          <a:ln w="254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67709" y="3862832"/>
            <a:ext cx="2298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D60093"/>
                </a:solidFill>
                <a:latin typeface="Cambria Math"/>
                <a:cs typeface="Cambria Math"/>
              </a:rPr>
              <a:t>𝑇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59873" y="4162044"/>
            <a:ext cx="4946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55">
                <a:solidFill>
                  <a:srgbClr val="D60093"/>
                </a:solidFill>
                <a:latin typeface="Cambria Math"/>
                <a:cs typeface="Cambria Math"/>
              </a:rPr>
              <a:t>N</a:t>
            </a:r>
            <a:r>
              <a:rPr dirty="0" sz="2000" spc="325">
                <a:solidFill>
                  <a:srgbClr val="D60093"/>
                </a:solidFill>
                <a:latin typeface="Cambria Math"/>
                <a:cs typeface="Cambria Math"/>
              </a:rPr>
              <a:t>6</a:t>
            </a:r>
            <a:r>
              <a:rPr dirty="0" sz="2000" spc="25">
                <a:solidFill>
                  <a:srgbClr val="D60093"/>
                </a:solidFill>
                <a:latin typeface="Cambria Math"/>
                <a:cs typeface="Cambria Math"/>
              </a:rPr>
              <a:t>O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108" y="2162048"/>
            <a:ext cx="7933690" cy="1382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915"/>
              </a:lnSpc>
              <a:spcBef>
                <a:spcPts val="1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 b="1">
                <a:solidFill>
                  <a:srgbClr val="C00000"/>
                </a:solidFill>
                <a:latin typeface="Calibri"/>
                <a:cs typeface="Calibri"/>
              </a:rPr>
              <a:t>Learn </a:t>
            </a:r>
            <a:r>
              <a:rPr dirty="0" sz="27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700" spc="-10" b="1">
                <a:solidFill>
                  <a:srgbClr val="C00000"/>
                </a:solidFill>
                <a:latin typeface="Calibri"/>
                <a:cs typeface="Calibri"/>
              </a:rPr>
              <a:t>predict </a:t>
            </a:r>
            <a:r>
              <a:rPr dirty="0" sz="2700" spc="-15" b="1">
                <a:solidFill>
                  <a:srgbClr val="C00000"/>
                </a:solidFill>
                <a:latin typeface="Calibri"/>
                <a:cs typeface="Calibri"/>
              </a:rPr>
              <a:t>walks </a:t>
            </a:r>
            <a:r>
              <a:rPr dirty="0" sz="2700" spc="-10" b="1">
                <a:solidFill>
                  <a:srgbClr val="C00000"/>
                </a:solidFill>
                <a:latin typeface="Calibri"/>
                <a:cs typeface="Calibri"/>
              </a:rPr>
              <a:t>that co-occur </a:t>
            </a:r>
            <a:r>
              <a:rPr dirty="0" sz="2700" spc="-5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2700" spc="-15">
                <a:solidFill>
                  <a:srgbClr val="C00000"/>
                </a:solidFill>
                <a:latin typeface="Cambria Math"/>
                <a:cs typeface="Cambria Math"/>
              </a:rPr>
              <a:t>𝚫</a:t>
            </a:r>
            <a:r>
              <a:rPr dirty="0" sz="2700" spc="-15" b="1">
                <a:solidFill>
                  <a:srgbClr val="C00000"/>
                </a:solidFill>
                <a:latin typeface="Calibri"/>
                <a:cs typeface="Calibri"/>
              </a:rPr>
              <a:t>-size</a:t>
            </a:r>
            <a:r>
              <a:rPr dirty="0" sz="2700" spc="1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700" spc="-5" b="1">
                <a:solidFill>
                  <a:srgbClr val="C00000"/>
                </a:solidFill>
                <a:latin typeface="Calibri"/>
                <a:cs typeface="Calibri"/>
              </a:rPr>
              <a:t>window</a:t>
            </a:r>
            <a:endParaRPr sz="2700">
              <a:latin typeface="Calibri"/>
              <a:cs typeface="Calibri"/>
            </a:endParaRPr>
          </a:p>
          <a:p>
            <a:pPr marL="332740" indent="-320040">
              <a:lnSpc>
                <a:spcPts val="2590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20">
                <a:latin typeface="Calibri"/>
                <a:cs typeface="Calibri"/>
              </a:rPr>
              <a:t>Estimate </a:t>
            </a:r>
            <a:r>
              <a:rPr dirty="0" sz="2700" spc="-10">
                <a:latin typeface="Calibri"/>
                <a:cs typeface="Calibri"/>
              </a:rPr>
              <a:t>embedding </a:t>
            </a:r>
            <a:r>
              <a:rPr dirty="0" sz="2700" spc="-245">
                <a:latin typeface="Cambria Math"/>
                <a:cs typeface="Cambria Math"/>
              </a:rPr>
              <a:t>𝑧</a:t>
            </a:r>
            <a:r>
              <a:rPr dirty="0" baseline="-15277" sz="3000" spc="-367">
                <a:latin typeface="Cambria Math"/>
                <a:cs typeface="Cambria Math"/>
              </a:rPr>
              <a:t>5   </a:t>
            </a:r>
            <a:r>
              <a:rPr dirty="0" sz="2700">
                <a:latin typeface="Calibri"/>
                <a:cs typeface="Calibri"/>
              </a:rPr>
              <a:t>of </a:t>
            </a:r>
            <a:r>
              <a:rPr dirty="0" sz="2700" spc="-10">
                <a:latin typeface="Calibri"/>
                <a:cs typeface="Calibri"/>
              </a:rPr>
              <a:t>anonymous </a:t>
            </a:r>
            <a:r>
              <a:rPr dirty="0" sz="2700" spc="-15">
                <a:latin typeface="Calibri"/>
                <a:cs typeface="Calibri"/>
              </a:rPr>
              <a:t>walk</a:t>
            </a:r>
            <a:r>
              <a:rPr dirty="0" sz="2700" spc="40">
                <a:latin typeface="Calibri"/>
                <a:cs typeface="Calibri"/>
              </a:rPr>
              <a:t> </a:t>
            </a:r>
            <a:r>
              <a:rPr dirty="0" sz="2700" spc="-250">
                <a:latin typeface="Cambria Math"/>
                <a:cs typeface="Cambria Math"/>
              </a:rPr>
              <a:t>𝑤</a:t>
            </a:r>
            <a:r>
              <a:rPr dirty="0" baseline="-15277" sz="3000" spc="-375">
                <a:latin typeface="Cambria Math"/>
                <a:cs typeface="Cambria Math"/>
              </a:rPr>
              <a:t>5</a:t>
            </a:r>
            <a:endParaRPr baseline="-15277" sz="3000">
              <a:latin typeface="Cambria Math"/>
              <a:cs typeface="Cambria Math"/>
            </a:endParaRPr>
          </a:p>
          <a:p>
            <a:pPr marL="332740">
              <a:lnSpc>
                <a:spcPts val="2845"/>
              </a:lnSpc>
            </a:pPr>
            <a:r>
              <a:rPr dirty="0" sz="2700" spc="-10">
                <a:latin typeface="Calibri"/>
                <a:cs typeface="Calibri"/>
              </a:rPr>
              <a:t>Let </a:t>
            </a:r>
            <a:r>
              <a:rPr dirty="0" sz="2700">
                <a:latin typeface="Cambria Math"/>
                <a:cs typeface="Cambria Math"/>
              </a:rPr>
              <a:t>𝜂 </a:t>
            </a:r>
            <a:r>
              <a:rPr dirty="0" sz="2700" spc="-5">
                <a:latin typeface="Calibri"/>
                <a:cs typeface="Calibri"/>
              </a:rPr>
              <a:t>be </a:t>
            </a:r>
            <a:r>
              <a:rPr dirty="0" sz="2700" spc="-10">
                <a:latin typeface="Calibri"/>
                <a:cs typeface="Calibri"/>
              </a:rPr>
              <a:t>number </a:t>
            </a:r>
            <a:r>
              <a:rPr dirty="0" sz="2700">
                <a:latin typeface="Calibri"/>
                <a:cs typeface="Calibri"/>
              </a:rPr>
              <a:t>of </a:t>
            </a:r>
            <a:r>
              <a:rPr dirty="0" sz="2700" spc="-5">
                <a:latin typeface="Calibri"/>
                <a:cs typeface="Calibri"/>
              </a:rPr>
              <a:t>all possible </a:t>
            </a:r>
            <a:r>
              <a:rPr dirty="0" sz="2700" spc="-15">
                <a:latin typeface="Calibri"/>
                <a:cs typeface="Calibri"/>
              </a:rPr>
              <a:t>walk</a:t>
            </a:r>
            <a:r>
              <a:rPr dirty="0" sz="2700" spc="10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embeddings</a:t>
            </a:r>
            <a:endParaRPr sz="2700">
              <a:latin typeface="Calibri"/>
              <a:cs typeface="Calibri"/>
            </a:endParaRPr>
          </a:p>
          <a:p>
            <a:pPr algn="ctr" marR="1547495">
              <a:lnSpc>
                <a:spcPts val="2330"/>
              </a:lnSpc>
            </a:pPr>
            <a:r>
              <a:rPr dirty="0" sz="2000" spc="325">
                <a:solidFill>
                  <a:srgbClr val="D60093"/>
                </a:solidFill>
                <a:latin typeface="Cambria Math"/>
                <a:cs typeface="Cambria Math"/>
              </a:rPr>
              <a:t>JPO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73917" y="3732809"/>
            <a:ext cx="3347720" cy="319405"/>
          </a:xfrm>
          <a:custGeom>
            <a:avLst/>
            <a:gdLst/>
            <a:ahLst/>
            <a:cxnLst/>
            <a:rect l="l" t="t" r="r" b="b"/>
            <a:pathLst>
              <a:path w="3347720" h="319404">
                <a:moveTo>
                  <a:pt x="552432" y="3839"/>
                </a:moveTo>
                <a:lnTo>
                  <a:pt x="526647" y="3839"/>
                </a:lnTo>
                <a:lnTo>
                  <a:pt x="526647" y="315428"/>
                </a:lnTo>
                <a:lnTo>
                  <a:pt x="552432" y="315428"/>
                </a:lnTo>
                <a:lnTo>
                  <a:pt x="552432" y="3839"/>
                </a:lnTo>
                <a:close/>
              </a:path>
              <a:path w="3347720" h="319404">
                <a:moveTo>
                  <a:pt x="101296" y="796"/>
                </a:moveTo>
                <a:lnTo>
                  <a:pt x="58077" y="21159"/>
                </a:lnTo>
                <a:lnTo>
                  <a:pt x="26202" y="56466"/>
                </a:lnTo>
                <a:lnTo>
                  <a:pt x="6550" y="103661"/>
                </a:lnTo>
                <a:lnTo>
                  <a:pt x="0" y="159688"/>
                </a:lnTo>
                <a:lnTo>
                  <a:pt x="1632" y="188869"/>
                </a:lnTo>
                <a:lnTo>
                  <a:pt x="14692" y="240479"/>
                </a:lnTo>
                <a:lnTo>
                  <a:pt x="40612" y="282358"/>
                </a:lnTo>
                <a:lnTo>
                  <a:pt x="78201" y="310110"/>
                </a:lnTo>
                <a:lnTo>
                  <a:pt x="101296" y="318414"/>
                </a:lnTo>
                <a:lnTo>
                  <a:pt x="105314" y="305521"/>
                </a:lnTo>
                <a:lnTo>
                  <a:pt x="87216" y="297505"/>
                </a:lnTo>
                <a:lnTo>
                  <a:pt x="71597" y="286350"/>
                </a:lnTo>
                <a:lnTo>
                  <a:pt x="47801" y="254622"/>
                </a:lnTo>
                <a:lnTo>
                  <a:pt x="33675" y="211467"/>
                </a:lnTo>
                <a:lnTo>
                  <a:pt x="28966" y="158014"/>
                </a:lnTo>
                <a:lnTo>
                  <a:pt x="30143" y="130916"/>
                </a:lnTo>
                <a:lnTo>
                  <a:pt x="39561" y="83910"/>
                </a:lnTo>
                <a:lnTo>
                  <a:pt x="58491" y="46823"/>
                </a:lnTo>
                <a:lnTo>
                  <a:pt x="87498" y="21667"/>
                </a:lnTo>
                <a:lnTo>
                  <a:pt x="105816" y="13688"/>
                </a:lnTo>
                <a:lnTo>
                  <a:pt x="101296" y="796"/>
                </a:lnTo>
                <a:close/>
              </a:path>
              <a:path w="3347720" h="319404">
                <a:moveTo>
                  <a:pt x="3245112" y="0"/>
                </a:moveTo>
                <a:lnTo>
                  <a:pt x="3240759" y="0"/>
                </a:lnTo>
                <a:lnTo>
                  <a:pt x="3240759" y="12724"/>
                </a:lnTo>
                <a:lnTo>
                  <a:pt x="3243271" y="12724"/>
                </a:lnTo>
                <a:lnTo>
                  <a:pt x="3254750" y="13514"/>
                </a:lnTo>
                <a:lnTo>
                  <a:pt x="3291575" y="42129"/>
                </a:lnTo>
                <a:lnTo>
                  <a:pt x="3295007" y="67139"/>
                </a:lnTo>
                <a:lnTo>
                  <a:pt x="3294798" y="73345"/>
                </a:lnTo>
                <a:lnTo>
                  <a:pt x="3294170" y="80241"/>
                </a:lnTo>
                <a:lnTo>
                  <a:pt x="3293124" y="87827"/>
                </a:lnTo>
                <a:lnTo>
                  <a:pt x="3291659" y="96104"/>
                </a:lnTo>
                <a:lnTo>
                  <a:pt x="3289427" y="107602"/>
                </a:lnTo>
                <a:lnTo>
                  <a:pt x="3288310" y="115806"/>
                </a:lnTo>
                <a:lnTo>
                  <a:pt x="3288310" y="130205"/>
                </a:lnTo>
                <a:lnTo>
                  <a:pt x="3291100" y="137990"/>
                </a:lnTo>
                <a:lnTo>
                  <a:pt x="3302262" y="150157"/>
                </a:lnTo>
                <a:lnTo>
                  <a:pt x="3308904" y="154650"/>
                </a:lnTo>
                <a:lnTo>
                  <a:pt x="3316606" y="157552"/>
                </a:lnTo>
                <a:lnTo>
                  <a:pt x="3316606" y="160566"/>
                </a:lnTo>
                <a:lnTo>
                  <a:pt x="3308904" y="163468"/>
                </a:lnTo>
                <a:lnTo>
                  <a:pt x="3302262" y="167961"/>
                </a:lnTo>
                <a:lnTo>
                  <a:pt x="3291100" y="180127"/>
                </a:lnTo>
                <a:lnTo>
                  <a:pt x="3288310" y="187913"/>
                </a:lnTo>
                <a:lnTo>
                  <a:pt x="3288310" y="202312"/>
                </a:lnTo>
                <a:lnTo>
                  <a:pt x="3289427" y="210516"/>
                </a:lnTo>
                <a:lnTo>
                  <a:pt x="3291659" y="222013"/>
                </a:lnTo>
                <a:lnTo>
                  <a:pt x="3293124" y="230291"/>
                </a:lnTo>
                <a:lnTo>
                  <a:pt x="3294170" y="237877"/>
                </a:lnTo>
                <a:lnTo>
                  <a:pt x="3294798" y="244774"/>
                </a:lnTo>
                <a:lnTo>
                  <a:pt x="3295007" y="250979"/>
                </a:lnTo>
                <a:lnTo>
                  <a:pt x="3294149" y="265028"/>
                </a:lnTo>
                <a:lnTo>
                  <a:pt x="3273754" y="299455"/>
                </a:lnTo>
                <a:lnTo>
                  <a:pt x="3243271" y="306566"/>
                </a:lnTo>
                <a:lnTo>
                  <a:pt x="3240759" y="306566"/>
                </a:lnTo>
                <a:lnTo>
                  <a:pt x="3240759" y="319291"/>
                </a:lnTo>
                <a:lnTo>
                  <a:pt x="3245112" y="319291"/>
                </a:lnTo>
                <a:lnTo>
                  <a:pt x="3263545" y="317915"/>
                </a:lnTo>
                <a:lnTo>
                  <a:pt x="3303965" y="301292"/>
                </a:lnTo>
                <a:lnTo>
                  <a:pt x="3322251" y="264798"/>
                </a:lnTo>
                <a:lnTo>
                  <a:pt x="3323470" y="247966"/>
                </a:lnTo>
                <a:lnTo>
                  <a:pt x="3323224" y="240777"/>
                </a:lnTo>
                <a:lnTo>
                  <a:pt x="3322487" y="233106"/>
                </a:lnTo>
                <a:lnTo>
                  <a:pt x="3321257" y="224954"/>
                </a:lnTo>
                <a:lnTo>
                  <a:pt x="3319536" y="216321"/>
                </a:lnTo>
                <a:lnTo>
                  <a:pt x="3316913" y="204489"/>
                </a:lnTo>
                <a:lnTo>
                  <a:pt x="3315601" y="196564"/>
                </a:lnTo>
                <a:lnTo>
                  <a:pt x="3315601" y="184843"/>
                </a:lnTo>
                <a:lnTo>
                  <a:pt x="3318253" y="178565"/>
                </a:lnTo>
                <a:lnTo>
                  <a:pt x="3328856" y="168854"/>
                </a:lnTo>
                <a:lnTo>
                  <a:pt x="3336865" y="166259"/>
                </a:lnTo>
                <a:lnTo>
                  <a:pt x="3347581" y="165924"/>
                </a:lnTo>
                <a:lnTo>
                  <a:pt x="3347581" y="152194"/>
                </a:lnTo>
                <a:lnTo>
                  <a:pt x="3336865" y="151860"/>
                </a:lnTo>
                <a:lnTo>
                  <a:pt x="3328856" y="149264"/>
                </a:lnTo>
                <a:lnTo>
                  <a:pt x="3318253" y="139553"/>
                </a:lnTo>
                <a:lnTo>
                  <a:pt x="3315601" y="133275"/>
                </a:lnTo>
                <a:lnTo>
                  <a:pt x="3315601" y="121554"/>
                </a:lnTo>
                <a:lnTo>
                  <a:pt x="3316913" y="113629"/>
                </a:lnTo>
                <a:lnTo>
                  <a:pt x="3319536" y="101798"/>
                </a:lnTo>
                <a:lnTo>
                  <a:pt x="3321257" y="93164"/>
                </a:lnTo>
                <a:lnTo>
                  <a:pt x="3322487" y="85012"/>
                </a:lnTo>
                <a:lnTo>
                  <a:pt x="3323224" y="77342"/>
                </a:lnTo>
                <a:lnTo>
                  <a:pt x="3323470" y="70153"/>
                </a:lnTo>
                <a:lnTo>
                  <a:pt x="3322251" y="53834"/>
                </a:lnTo>
                <a:lnTo>
                  <a:pt x="3303965" y="17998"/>
                </a:lnTo>
                <a:lnTo>
                  <a:pt x="3263545" y="1375"/>
                </a:lnTo>
                <a:lnTo>
                  <a:pt x="3245112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593022" y="3634232"/>
            <a:ext cx="32746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2680" algn="l"/>
                <a:tab pos="2874645" algn="l"/>
              </a:tabLst>
            </a:pPr>
            <a:r>
              <a:rPr dirty="0" sz="2700">
                <a:solidFill>
                  <a:srgbClr val="D60093"/>
                </a:solidFill>
                <a:latin typeface="Cambria Math"/>
                <a:cs typeface="Cambria Math"/>
              </a:rPr>
              <a:t>m</a:t>
            </a:r>
            <a:r>
              <a:rPr dirty="0" sz="2700" spc="-5">
                <a:solidFill>
                  <a:srgbClr val="D60093"/>
                </a:solidFill>
                <a:latin typeface="Cambria Math"/>
                <a:cs typeface="Cambria Math"/>
              </a:rPr>
              <a:t>a</a:t>
            </a:r>
            <a:r>
              <a:rPr dirty="0" sz="2700">
                <a:solidFill>
                  <a:srgbClr val="D60093"/>
                </a:solidFill>
                <a:latin typeface="Cambria Math"/>
                <a:cs typeface="Cambria Math"/>
              </a:rPr>
              <a:t>x</a:t>
            </a:r>
            <a:r>
              <a:rPr dirty="0" sz="2700" spc="-6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baseline="42181" sz="4050">
                <a:solidFill>
                  <a:srgbClr val="D60093"/>
                </a:solidFill>
                <a:latin typeface="Cambria Math"/>
                <a:cs typeface="Cambria Math"/>
              </a:rPr>
              <a:t>1</a:t>
            </a:r>
            <a:r>
              <a:rPr dirty="0" baseline="42181" sz="4050" spc="247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700" spc="2860">
                <a:solidFill>
                  <a:srgbClr val="D60093"/>
                </a:solidFill>
                <a:latin typeface="Cambria Math"/>
                <a:cs typeface="Cambria Math"/>
              </a:rPr>
              <a:t>:</a:t>
            </a:r>
            <a:r>
              <a:rPr dirty="0" sz="2700" spc="7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700">
                <a:solidFill>
                  <a:srgbClr val="D60093"/>
                </a:solidFill>
                <a:latin typeface="Cambria Math"/>
                <a:cs typeface="Cambria Math"/>
              </a:rPr>
              <a:t>log</a:t>
            </a:r>
            <a:r>
              <a:rPr dirty="0" sz="2700" spc="-14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700">
                <a:solidFill>
                  <a:srgbClr val="D60093"/>
                </a:solidFill>
                <a:latin typeface="Cambria Math"/>
                <a:cs typeface="Cambria Math"/>
              </a:rPr>
              <a:t>𝑃	𝑤	{𝑤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16016" y="3793235"/>
            <a:ext cx="11099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7380" algn="l"/>
              </a:tabLst>
            </a:pPr>
            <a:r>
              <a:rPr dirty="0" sz="2000" spc="-484">
                <a:solidFill>
                  <a:srgbClr val="D60093"/>
                </a:solidFill>
                <a:latin typeface="Cambria Math"/>
                <a:cs typeface="Cambria Math"/>
              </a:rPr>
              <a:t>N</a:t>
            </a:r>
            <a:r>
              <a:rPr dirty="0" sz="2000" spc="-484">
                <a:solidFill>
                  <a:srgbClr val="D60093"/>
                </a:solidFill>
                <a:latin typeface="Cambria Math"/>
                <a:cs typeface="Cambria Math"/>
              </a:rPr>
              <a:t>	</a:t>
            </a:r>
            <a:r>
              <a:rPr dirty="0" sz="2000" spc="-455">
                <a:solidFill>
                  <a:srgbClr val="D60093"/>
                </a:solidFill>
                <a:latin typeface="Cambria Math"/>
                <a:cs typeface="Cambria Math"/>
              </a:rPr>
              <a:t>N</a:t>
            </a:r>
            <a:r>
              <a:rPr dirty="0" sz="2000" spc="295">
                <a:solidFill>
                  <a:srgbClr val="D60093"/>
                </a:solidFill>
                <a:latin typeface="Cambria Math"/>
                <a:cs typeface="Cambria Math"/>
              </a:rPr>
              <a:t>P</a:t>
            </a:r>
            <a:r>
              <a:rPr dirty="0" sz="2000" spc="25">
                <a:solidFill>
                  <a:srgbClr val="D60093"/>
                </a:solidFill>
                <a:latin typeface="Cambria Math"/>
                <a:cs typeface="Cambria Math"/>
              </a:rPr>
              <a:t>O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12344" y="3634232"/>
            <a:ext cx="208026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D60093"/>
                </a:solidFill>
                <a:latin typeface="Cambria Math"/>
                <a:cs typeface="Cambria Math"/>
              </a:rPr>
              <a:t>, … , </a:t>
            </a:r>
            <a:r>
              <a:rPr dirty="0" sz="2700" spc="-65">
                <a:solidFill>
                  <a:srgbClr val="D60093"/>
                </a:solidFill>
                <a:latin typeface="Cambria Math"/>
                <a:cs typeface="Cambria Math"/>
              </a:rPr>
              <a:t>𝑤</a:t>
            </a:r>
            <a:r>
              <a:rPr dirty="0" baseline="-15277" sz="3000" spc="-97">
                <a:solidFill>
                  <a:srgbClr val="D60093"/>
                </a:solidFill>
                <a:latin typeface="Cambria Math"/>
                <a:cs typeface="Cambria Math"/>
              </a:rPr>
              <a:t>NQO</a:t>
            </a:r>
            <a:r>
              <a:rPr dirty="0" sz="2700" spc="-65">
                <a:solidFill>
                  <a:srgbClr val="D60093"/>
                </a:solidFill>
                <a:latin typeface="Cambria Math"/>
                <a:cs typeface="Cambria Math"/>
              </a:rPr>
              <a:t>,</a:t>
            </a:r>
            <a:r>
              <a:rPr dirty="0" sz="2700" spc="-27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700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5277" sz="3000">
                <a:solidFill>
                  <a:srgbClr val="C00000"/>
                </a:solidFill>
                <a:latin typeface="Cambria Math"/>
                <a:cs typeface="Cambria Math"/>
              </a:rPr>
              <a:t>𝑮 </a:t>
            </a:r>
            <a:r>
              <a:rPr dirty="0" sz="2700">
                <a:solidFill>
                  <a:srgbClr val="D60093"/>
                </a:solidFill>
                <a:latin typeface="Cambria Math"/>
                <a:cs typeface="Cambria Math"/>
              </a:rPr>
              <a:t>)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94723" y="4675817"/>
            <a:ext cx="2475230" cy="236854"/>
          </a:xfrm>
          <a:custGeom>
            <a:avLst/>
            <a:gdLst/>
            <a:ahLst/>
            <a:cxnLst/>
            <a:rect l="l" t="t" r="r" b="b"/>
            <a:pathLst>
              <a:path w="2475229" h="236854">
                <a:moveTo>
                  <a:pt x="408155" y="2867"/>
                </a:moveTo>
                <a:lnTo>
                  <a:pt x="389055" y="2867"/>
                </a:lnTo>
                <a:lnTo>
                  <a:pt x="389055" y="233674"/>
                </a:lnTo>
                <a:lnTo>
                  <a:pt x="408155" y="233674"/>
                </a:lnTo>
                <a:lnTo>
                  <a:pt x="408155" y="2867"/>
                </a:lnTo>
                <a:close/>
              </a:path>
              <a:path w="2475229" h="236854">
                <a:moveTo>
                  <a:pt x="75034" y="623"/>
                </a:moveTo>
                <a:lnTo>
                  <a:pt x="30164" y="27400"/>
                </a:lnTo>
                <a:lnTo>
                  <a:pt x="4852" y="76819"/>
                </a:lnTo>
                <a:lnTo>
                  <a:pt x="0" y="118320"/>
                </a:lnTo>
                <a:lnTo>
                  <a:pt x="1209" y="139935"/>
                </a:lnTo>
                <a:lnTo>
                  <a:pt x="10882" y="178165"/>
                </a:lnTo>
                <a:lnTo>
                  <a:pt x="42943" y="220841"/>
                </a:lnTo>
                <a:lnTo>
                  <a:pt x="75034" y="235896"/>
                </a:lnTo>
                <a:lnTo>
                  <a:pt x="78011" y="226345"/>
                </a:lnTo>
                <a:lnTo>
                  <a:pt x="64604" y="220408"/>
                </a:lnTo>
                <a:lnTo>
                  <a:pt x="53035" y="212144"/>
                </a:lnTo>
                <a:lnTo>
                  <a:pt x="29304" y="173612"/>
                </a:lnTo>
                <a:lnTo>
                  <a:pt x="21456" y="117081"/>
                </a:lnTo>
                <a:lnTo>
                  <a:pt x="22328" y="97009"/>
                </a:lnTo>
                <a:lnTo>
                  <a:pt x="35408" y="47442"/>
                </a:lnTo>
                <a:lnTo>
                  <a:pt x="64813" y="16083"/>
                </a:lnTo>
                <a:lnTo>
                  <a:pt x="78383" y="10172"/>
                </a:lnTo>
                <a:lnTo>
                  <a:pt x="75034" y="623"/>
                </a:lnTo>
                <a:close/>
              </a:path>
              <a:path w="2475229" h="236854">
                <a:moveTo>
                  <a:pt x="2399309" y="0"/>
                </a:moveTo>
                <a:lnTo>
                  <a:pt x="2396084" y="0"/>
                </a:lnTo>
                <a:lnTo>
                  <a:pt x="2396084" y="9425"/>
                </a:lnTo>
                <a:lnTo>
                  <a:pt x="2397945" y="9425"/>
                </a:lnTo>
                <a:lnTo>
                  <a:pt x="2406448" y="10011"/>
                </a:lnTo>
                <a:lnTo>
                  <a:pt x="2435633" y="39706"/>
                </a:lnTo>
                <a:lnTo>
                  <a:pt x="2436268" y="49733"/>
                </a:lnTo>
                <a:lnTo>
                  <a:pt x="2436268" y="55520"/>
                </a:lnTo>
                <a:lnTo>
                  <a:pt x="2435442" y="62673"/>
                </a:lnTo>
                <a:lnTo>
                  <a:pt x="2432135" y="79705"/>
                </a:lnTo>
                <a:lnTo>
                  <a:pt x="2431307" y="85783"/>
                </a:lnTo>
                <a:lnTo>
                  <a:pt x="2431307" y="96448"/>
                </a:lnTo>
                <a:lnTo>
                  <a:pt x="2433374" y="102215"/>
                </a:lnTo>
                <a:lnTo>
                  <a:pt x="2441643" y="111227"/>
                </a:lnTo>
                <a:lnTo>
                  <a:pt x="2446562" y="114556"/>
                </a:lnTo>
                <a:lnTo>
                  <a:pt x="2452267" y="116706"/>
                </a:lnTo>
                <a:lnTo>
                  <a:pt x="2452267" y="118938"/>
                </a:lnTo>
                <a:lnTo>
                  <a:pt x="2446562" y="121088"/>
                </a:lnTo>
                <a:lnTo>
                  <a:pt x="2441643" y="124415"/>
                </a:lnTo>
                <a:lnTo>
                  <a:pt x="2433374" y="133428"/>
                </a:lnTo>
                <a:lnTo>
                  <a:pt x="2431307" y="139195"/>
                </a:lnTo>
                <a:lnTo>
                  <a:pt x="2431307" y="149861"/>
                </a:lnTo>
                <a:lnTo>
                  <a:pt x="2432135" y="155938"/>
                </a:lnTo>
                <a:lnTo>
                  <a:pt x="2435442" y="172971"/>
                </a:lnTo>
                <a:lnTo>
                  <a:pt x="2436268" y="180122"/>
                </a:lnTo>
                <a:lnTo>
                  <a:pt x="2436268" y="185911"/>
                </a:lnTo>
                <a:lnTo>
                  <a:pt x="2435633" y="196317"/>
                </a:lnTo>
                <a:lnTo>
                  <a:pt x="2406448" y="226502"/>
                </a:lnTo>
                <a:lnTo>
                  <a:pt x="2397945" y="227087"/>
                </a:lnTo>
                <a:lnTo>
                  <a:pt x="2396084" y="227087"/>
                </a:lnTo>
                <a:lnTo>
                  <a:pt x="2396084" y="236512"/>
                </a:lnTo>
                <a:lnTo>
                  <a:pt x="2399309" y="236512"/>
                </a:lnTo>
                <a:lnTo>
                  <a:pt x="2412963" y="235493"/>
                </a:lnTo>
                <a:lnTo>
                  <a:pt x="2449224" y="215897"/>
                </a:lnTo>
                <a:lnTo>
                  <a:pt x="2457352" y="183678"/>
                </a:lnTo>
                <a:lnTo>
                  <a:pt x="2457352" y="176815"/>
                </a:lnTo>
                <a:lnTo>
                  <a:pt x="2456380" y="169002"/>
                </a:lnTo>
                <a:lnTo>
                  <a:pt x="2452494" y="151474"/>
                </a:lnTo>
                <a:lnTo>
                  <a:pt x="2451522" y="145602"/>
                </a:lnTo>
                <a:lnTo>
                  <a:pt x="2451522" y="136921"/>
                </a:lnTo>
                <a:lnTo>
                  <a:pt x="2453487" y="132270"/>
                </a:lnTo>
                <a:lnTo>
                  <a:pt x="2461342" y="125077"/>
                </a:lnTo>
                <a:lnTo>
                  <a:pt x="2467274" y="123155"/>
                </a:lnTo>
                <a:lnTo>
                  <a:pt x="2475212" y="122906"/>
                </a:lnTo>
                <a:lnTo>
                  <a:pt x="2475212" y="112737"/>
                </a:lnTo>
                <a:lnTo>
                  <a:pt x="2467274" y="112488"/>
                </a:lnTo>
                <a:lnTo>
                  <a:pt x="2461342" y="110567"/>
                </a:lnTo>
                <a:lnTo>
                  <a:pt x="2453487" y="103372"/>
                </a:lnTo>
                <a:lnTo>
                  <a:pt x="2451522" y="98722"/>
                </a:lnTo>
                <a:lnTo>
                  <a:pt x="2451522" y="90040"/>
                </a:lnTo>
                <a:lnTo>
                  <a:pt x="2452494" y="84170"/>
                </a:lnTo>
                <a:lnTo>
                  <a:pt x="2456380" y="66641"/>
                </a:lnTo>
                <a:lnTo>
                  <a:pt x="2457352" y="58828"/>
                </a:lnTo>
                <a:lnTo>
                  <a:pt x="2457352" y="51965"/>
                </a:lnTo>
                <a:lnTo>
                  <a:pt x="2456449" y="39877"/>
                </a:lnTo>
                <a:lnTo>
                  <a:pt x="2434760" y="7685"/>
                </a:lnTo>
                <a:lnTo>
                  <a:pt x="2412963" y="1019"/>
                </a:lnTo>
                <a:lnTo>
                  <a:pt x="239930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14164" y="4796790"/>
            <a:ext cx="1397000" cy="0"/>
          </a:xfrm>
          <a:custGeom>
            <a:avLst/>
            <a:gdLst/>
            <a:ahLst/>
            <a:cxnLst/>
            <a:rect l="l" t="t" r="r" b="b"/>
            <a:pathLst>
              <a:path w="1397000" h="0">
                <a:moveTo>
                  <a:pt x="0" y="0"/>
                </a:moveTo>
                <a:lnTo>
                  <a:pt x="1397000" y="0"/>
                </a:lnTo>
              </a:path>
            </a:pathLst>
          </a:custGeom>
          <a:ln w="127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65474" y="4575384"/>
            <a:ext cx="350520" cy="176530"/>
          </a:xfrm>
          <a:custGeom>
            <a:avLst/>
            <a:gdLst/>
            <a:ahLst/>
            <a:cxnLst/>
            <a:rect l="l" t="t" r="r" b="b"/>
            <a:pathLst>
              <a:path w="350520" h="176529">
                <a:moveTo>
                  <a:pt x="293721" y="0"/>
                </a:moveTo>
                <a:lnTo>
                  <a:pt x="291211" y="7162"/>
                </a:lnTo>
                <a:lnTo>
                  <a:pt x="301425" y="11595"/>
                </a:lnTo>
                <a:lnTo>
                  <a:pt x="310209" y="17731"/>
                </a:lnTo>
                <a:lnTo>
                  <a:pt x="331301" y="58565"/>
                </a:lnTo>
                <a:lnTo>
                  <a:pt x="333905" y="87342"/>
                </a:lnTo>
                <a:lnTo>
                  <a:pt x="333251" y="102906"/>
                </a:lnTo>
                <a:lnTo>
                  <a:pt x="323441" y="141014"/>
                </a:lnTo>
                <a:lnTo>
                  <a:pt x="291490" y="169292"/>
                </a:lnTo>
                <a:lnTo>
                  <a:pt x="293721" y="176453"/>
                </a:lnTo>
                <a:lnTo>
                  <a:pt x="327435" y="156423"/>
                </a:lnTo>
                <a:lnTo>
                  <a:pt x="346370" y="119446"/>
                </a:lnTo>
                <a:lnTo>
                  <a:pt x="349998" y="88273"/>
                </a:lnTo>
                <a:lnTo>
                  <a:pt x="349088" y="72097"/>
                </a:lnTo>
                <a:lnTo>
                  <a:pt x="335441" y="30928"/>
                </a:lnTo>
                <a:lnTo>
                  <a:pt x="306514" y="4618"/>
                </a:lnTo>
                <a:lnTo>
                  <a:pt x="293721" y="0"/>
                </a:lnTo>
                <a:close/>
              </a:path>
              <a:path w="350520" h="176529">
                <a:moveTo>
                  <a:pt x="56276" y="0"/>
                </a:moveTo>
                <a:lnTo>
                  <a:pt x="22623" y="20082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11" y="145619"/>
                </a:lnTo>
                <a:lnTo>
                  <a:pt x="43445" y="171841"/>
                </a:lnTo>
                <a:lnTo>
                  <a:pt x="56276" y="176453"/>
                </a:lnTo>
                <a:lnTo>
                  <a:pt x="58508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8" y="117039"/>
                </a:lnTo>
                <a:lnTo>
                  <a:pt x="16092" y="87342"/>
                </a:lnTo>
                <a:lnTo>
                  <a:pt x="16746" y="72288"/>
                </a:lnTo>
                <a:lnTo>
                  <a:pt x="26556" y="35114"/>
                </a:lnTo>
                <a:lnTo>
                  <a:pt x="58787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17173" y="4515103"/>
            <a:ext cx="10052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">
                <a:solidFill>
                  <a:srgbClr val="008000"/>
                </a:solidFill>
                <a:latin typeface="Cambria Math"/>
                <a:cs typeface="Cambria Math"/>
              </a:rPr>
              <a:t>123(4  </a:t>
            </a:r>
            <a:r>
              <a:rPr dirty="0" sz="1500" spc="30">
                <a:solidFill>
                  <a:srgbClr val="008000"/>
                </a:solidFill>
                <a:latin typeface="Cambria Math"/>
                <a:cs typeface="Cambria Math"/>
              </a:rPr>
              <a:t>5</a:t>
            </a:r>
            <a:r>
              <a:rPr dirty="0" baseline="-13888" sz="1800" spc="44">
                <a:solidFill>
                  <a:srgbClr val="008000"/>
                </a:solidFill>
                <a:latin typeface="Cambria Math"/>
                <a:cs typeface="Cambria Math"/>
              </a:rPr>
              <a:t>&amp;</a:t>
            </a:r>
            <a:r>
              <a:rPr dirty="0" baseline="-13888" sz="1800" spc="15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500">
                <a:solidFill>
                  <a:srgbClr val="008000"/>
                </a:solidFill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36782" y="4909820"/>
            <a:ext cx="2876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65">
                <a:solidFill>
                  <a:srgbClr val="008000"/>
                </a:solidFill>
                <a:latin typeface="Cambria Math"/>
                <a:cs typeface="Cambria Math"/>
              </a:rPr>
              <a:t>$</a:t>
            </a:r>
            <a:r>
              <a:rPr dirty="0" sz="1200" spc="605">
                <a:solidFill>
                  <a:srgbClr val="008000"/>
                </a:solidFill>
                <a:latin typeface="Cambria Math"/>
                <a:cs typeface="Cambria Math"/>
              </a:rPr>
              <a:t>'</a:t>
            </a:r>
            <a:r>
              <a:rPr dirty="0" sz="1200" spc="210">
                <a:solidFill>
                  <a:srgbClr val="008000"/>
                </a:solidFill>
                <a:latin typeface="Cambria Math"/>
                <a:cs typeface="Cambria Math"/>
              </a:rPr>
              <a:t>(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67713" y="4600955"/>
            <a:ext cx="359600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𝑃  </a:t>
            </a:r>
            <a:r>
              <a:rPr dirty="0" sz="2000" spc="135">
                <a:solidFill>
                  <a:srgbClr val="008000"/>
                </a:solidFill>
                <a:latin typeface="Cambria Math"/>
                <a:cs typeface="Cambria Math"/>
              </a:rPr>
              <a:t>𝑤</a:t>
            </a:r>
            <a:r>
              <a:rPr dirty="0" baseline="-14814" sz="2250" spc="202">
                <a:solidFill>
                  <a:srgbClr val="008000"/>
                </a:solidFill>
                <a:latin typeface="Cambria Math"/>
                <a:cs typeface="Cambria Math"/>
              </a:rPr>
              <a:t>, </a:t>
            </a:r>
            <a:r>
              <a:rPr dirty="0" sz="2000" spc="254">
                <a:solidFill>
                  <a:srgbClr val="008000"/>
                </a:solidFill>
                <a:latin typeface="Cambria Math"/>
                <a:cs typeface="Cambria Math"/>
              </a:rPr>
              <a:t>{𝑤</a:t>
            </a:r>
            <a:r>
              <a:rPr dirty="0" baseline="-14814" sz="2250" spc="382">
                <a:solidFill>
                  <a:srgbClr val="008000"/>
                </a:solidFill>
                <a:latin typeface="Cambria Math"/>
                <a:cs typeface="Cambria Math"/>
              </a:rPr>
              <a:t>,-.</a:t>
            </a:r>
            <a:r>
              <a:rPr dirty="0" sz="2000" spc="254">
                <a:solidFill>
                  <a:srgbClr val="008000"/>
                </a:solidFill>
                <a:latin typeface="Cambria Math"/>
                <a:cs typeface="Cambria Math"/>
              </a:rPr>
              <a:t>,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… , </a:t>
            </a:r>
            <a:r>
              <a:rPr dirty="0" sz="2000" spc="260">
                <a:solidFill>
                  <a:srgbClr val="008000"/>
                </a:solidFill>
                <a:latin typeface="Cambria Math"/>
                <a:cs typeface="Cambria Math"/>
              </a:rPr>
              <a:t>𝑤</a:t>
            </a:r>
            <a:r>
              <a:rPr dirty="0" baseline="-14814" sz="2250" spc="390">
                <a:solidFill>
                  <a:srgbClr val="008000"/>
                </a:solidFill>
                <a:latin typeface="Cambria Math"/>
                <a:cs typeface="Cambria Math"/>
              </a:rPr>
              <a:t>,/.</a:t>
            </a:r>
            <a:r>
              <a:rPr dirty="0" sz="2000" spc="260">
                <a:solidFill>
                  <a:srgbClr val="008000"/>
                </a:solidFill>
                <a:latin typeface="Cambria Math"/>
                <a:cs typeface="Cambria Math"/>
              </a:rPr>
              <a:t>,</a:t>
            </a:r>
            <a:r>
              <a:rPr dirty="0" sz="2000" spc="-13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4814" sz="2250">
                <a:solidFill>
                  <a:srgbClr val="C00000"/>
                </a:solidFill>
                <a:latin typeface="Cambria Math"/>
                <a:cs typeface="Cambria Math"/>
              </a:rPr>
              <a:t>𝑮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) = </a:t>
            </a:r>
            <a:r>
              <a:rPr dirty="0" baseline="-35185" sz="2250" spc="187">
                <a:solidFill>
                  <a:srgbClr val="008000"/>
                </a:solidFill>
                <a:latin typeface="Cambria Math"/>
                <a:cs typeface="Cambria Math"/>
              </a:rPr>
              <a:t>∑</a:t>
            </a:r>
            <a:r>
              <a:rPr dirty="0" baseline="-11574" sz="1800" spc="187">
                <a:solidFill>
                  <a:srgbClr val="008000"/>
                </a:solidFill>
                <a:latin typeface="Cambria Math"/>
                <a:cs typeface="Cambria Math"/>
              </a:rPr>
              <a:t>)</a:t>
            </a:r>
            <a:endParaRPr baseline="-11574"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88152" y="4873244"/>
            <a:ext cx="83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60">
                <a:solidFill>
                  <a:srgbClr val="008000"/>
                </a:solidFill>
                <a:latin typeface="Cambria Math"/>
                <a:cs typeface="Cambria Math"/>
              </a:rPr>
              <a:t>$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41074" y="4795520"/>
            <a:ext cx="9931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65">
                <a:solidFill>
                  <a:srgbClr val="008000"/>
                </a:solidFill>
                <a:latin typeface="Cambria Math"/>
                <a:cs typeface="Cambria Math"/>
              </a:rPr>
              <a:t>123(4(5</a:t>
            </a:r>
            <a:r>
              <a:rPr dirty="0" sz="1500" spc="5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500" spc="-15">
                <a:solidFill>
                  <a:srgbClr val="008000"/>
                </a:solidFill>
                <a:latin typeface="Cambria Math"/>
                <a:cs typeface="Cambria Math"/>
              </a:rPr>
              <a:t>))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78531" y="5222540"/>
            <a:ext cx="441959" cy="235585"/>
          </a:xfrm>
          <a:custGeom>
            <a:avLst/>
            <a:gdLst/>
            <a:ahLst/>
            <a:cxnLst/>
            <a:rect l="l" t="t" r="r" b="b"/>
            <a:pathLst>
              <a:path w="441960" h="235585">
                <a:moveTo>
                  <a:pt x="366483" y="0"/>
                </a:moveTo>
                <a:lnTo>
                  <a:pt x="363134" y="9549"/>
                </a:lnTo>
                <a:lnTo>
                  <a:pt x="376753" y="15459"/>
                </a:lnTo>
                <a:lnTo>
                  <a:pt x="388466" y="23641"/>
                </a:lnTo>
                <a:lnTo>
                  <a:pt x="412248" y="61565"/>
                </a:lnTo>
                <a:lnTo>
                  <a:pt x="420061" y="116457"/>
                </a:lnTo>
                <a:lnTo>
                  <a:pt x="419189" y="137208"/>
                </a:lnTo>
                <a:lnTo>
                  <a:pt x="406109" y="188019"/>
                </a:lnTo>
                <a:lnTo>
                  <a:pt x="376913" y="219784"/>
                </a:lnTo>
                <a:lnTo>
                  <a:pt x="363507" y="225722"/>
                </a:lnTo>
                <a:lnTo>
                  <a:pt x="366483" y="235272"/>
                </a:lnTo>
                <a:lnTo>
                  <a:pt x="411433" y="208564"/>
                </a:lnTo>
                <a:lnTo>
                  <a:pt x="436680" y="159261"/>
                </a:lnTo>
                <a:lnTo>
                  <a:pt x="441518" y="117697"/>
                </a:lnTo>
                <a:lnTo>
                  <a:pt x="440304" y="96129"/>
                </a:lnTo>
                <a:lnTo>
                  <a:pt x="430599" y="57899"/>
                </a:lnTo>
                <a:lnTo>
                  <a:pt x="398497" y="15083"/>
                </a:lnTo>
                <a:lnTo>
                  <a:pt x="383540" y="6158"/>
                </a:lnTo>
                <a:lnTo>
                  <a:pt x="366483" y="0"/>
                </a:lnTo>
                <a:close/>
              </a:path>
              <a:path w="44196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267713" y="5146547"/>
            <a:ext cx="7696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𝑦</a:t>
            </a:r>
            <a:r>
              <a:rPr dirty="0" sz="2000" spc="33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𝑤</a:t>
            </a:r>
            <a:r>
              <a:rPr dirty="0" baseline="-14814" sz="2250">
                <a:solidFill>
                  <a:srgbClr val="008000"/>
                </a:solidFill>
                <a:latin typeface="Cambria Math"/>
                <a:cs typeface="Cambria Math"/>
              </a:rPr>
              <a:t>,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05221" y="5130650"/>
            <a:ext cx="2343150" cy="419100"/>
          </a:xfrm>
          <a:custGeom>
            <a:avLst/>
            <a:gdLst/>
            <a:ahLst/>
            <a:cxnLst/>
            <a:rect l="l" t="t" r="r" b="b"/>
            <a:pathLst>
              <a:path w="2343150" h="419100">
                <a:moveTo>
                  <a:pt x="2252196" y="0"/>
                </a:moveTo>
                <a:lnTo>
                  <a:pt x="2248227" y="9922"/>
                </a:lnTo>
                <a:lnTo>
                  <a:pt x="2263843" y="22615"/>
                </a:lnTo>
                <a:lnTo>
                  <a:pt x="2277698" y="39114"/>
                </a:lnTo>
                <a:lnTo>
                  <a:pt x="2300131" y="83530"/>
                </a:lnTo>
                <a:lnTo>
                  <a:pt x="2314317" y="141061"/>
                </a:lnTo>
                <a:lnTo>
                  <a:pt x="2319045" y="209599"/>
                </a:lnTo>
                <a:lnTo>
                  <a:pt x="2317870" y="244682"/>
                </a:lnTo>
                <a:lnTo>
                  <a:pt x="2308476" y="307314"/>
                </a:lnTo>
                <a:lnTo>
                  <a:pt x="2289958" y="359218"/>
                </a:lnTo>
                <a:lnTo>
                  <a:pt x="2263943" y="396301"/>
                </a:lnTo>
                <a:lnTo>
                  <a:pt x="2248227" y="409028"/>
                </a:lnTo>
                <a:lnTo>
                  <a:pt x="2252196" y="418951"/>
                </a:lnTo>
                <a:lnTo>
                  <a:pt x="2289481" y="389123"/>
                </a:lnTo>
                <a:lnTo>
                  <a:pt x="2318238" y="341312"/>
                </a:lnTo>
                <a:lnTo>
                  <a:pt x="2336609" y="279920"/>
                </a:lnTo>
                <a:lnTo>
                  <a:pt x="2342733" y="209351"/>
                </a:lnTo>
                <a:lnTo>
                  <a:pt x="2341202" y="172733"/>
                </a:lnTo>
                <a:lnTo>
                  <a:pt x="2328955" y="106753"/>
                </a:lnTo>
                <a:lnTo>
                  <a:pt x="2304925" y="51438"/>
                </a:lnTo>
                <a:lnTo>
                  <a:pt x="2271904" y="12743"/>
                </a:lnTo>
                <a:lnTo>
                  <a:pt x="2252196" y="0"/>
                </a:lnTo>
                <a:close/>
              </a:path>
              <a:path w="2343150" h="419100">
                <a:moveTo>
                  <a:pt x="90413" y="0"/>
                </a:moveTo>
                <a:lnTo>
                  <a:pt x="53222" y="29889"/>
                </a:lnTo>
                <a:lnTo>
                  <a:pt x="24494" y="77391"/>
                </a:lnTo>
                <a:lnTo>
                  <a:pt x="6123" y="138534"/>
                </a:lnTo>
                <a:lnTo>
                  <a:pt x="0" y="209351"/>
                </a:lnTo>
                <a:lnTo>
                  <a:pt x="1530" y="245783"/>
                </a:lnTo>
                <a:lnTo>
                  <a:pt x="13778" y="311763"/>
                </a:lnTo>
                <a:lnTo>
                  <a:pt x="37800" y="367466"/>
                </a:lnTo>
                <a:lnTo>
                  <a:pt x="70759" y="406285"/>
                </a:lnTo>
                <a:lnTo>
                  <a:pt x="90413" y="418951"/>
                </a:lnTo>
                <a:lnTo>
                  <a:pt x="94505" y="409028"/>
                </a:lnTo>
                <a:lnTo>
                  <a:pt x="78739" y="396301"/>
                </a:lnTo>
                <a:lnTo>
                  <a:pt x="64802" y="379697"/>
                </a:lnTo>
                <a:lnTo>
                  <a:pt x="42416" y="334863"/>
                </a:lnTo>
                <a:lnTo>
                  <a:pt x="28371" y="277254"/>
                </a:lnTo>
                <a:lnTo>
                  <a:pt x="23689" y="209599"/>
                </a:lnTo>
                <a:lnTo>
                  <a:pt x="24871" y="173954"/>
                </a:lnTo>
                <a:lnTo>
                  <a:pt x="34327" y="110920"/>
                </a:lnTo>
                <a:lnTo>
                  <a:pt x="52939" y="59419"/>
                </a:lnTo>
                <a:lnTo>
                  <a:pt x="78890" y="22615"/>
                </a:lnTo>
                <a:lnTo>
                  <a:pt x="94505" y="9922"/>
                </a:lnTo>
                <a:lnTo>
                  <a:pt x="9041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77564" y="534289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864990" y="5338064"/>
            <a:ext cx="2609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">
                <a:solidFill>
                  <a:srgbClr val="008000"/>
                </a:solidFill>
                <a:latin typeface="Cambria Math"/>
                <a:cs typeface="Cambria Math"/>
              </a:rPr>
              <a:t>8</a:t>
            </a:r>
            <a:r>
              <a:rPr dirty="0" sz="1500" spc="690">
                <a:solidFill>
                  <a:srgbClr val="008000"/>
                </a:solidFill>
                <a:latin typeface="Cambria Math"/>
                <a:cs typeface="Cambria Math"/>
              </a:rPr>
              <a:t>.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19079" y="5271008"/>
            <a:ext cx="2355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200">
                <a:solidFill>
                  <a:srgbClr val="008000"/>
                </a:solidFill>
                <a:latin typeface="Cambria Math"/>
                <a:cs typeface="Cambria Math"/>
              </a:rPr>
              <a:t>'</a:t>
            </a:r>
            <a:r>
              <a:rPr dirty="0" sz="1500" spc="254">
                <a:solidFill>
                  <a:srgbClr val="008000"/>
                </a:solidFill>
                <a:latin typeface="Cambria Math"/>
                <a:cs typeface="Cambria Math"/>
              </a:rPr>
              <a:t>9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00211" y="5146547"/>
            <a:ext cx="33585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7135" algn="l"/>
              </a:tabLst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= 𝑏 +</a:t>
            </a:r>
            <a:r>
              <a:rPr dirty="0" sz="2000" spc="15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𝑈</a:t>
            </a:r>
            <a:r>
              <a:rPr dirty="0" sz="2000" spc="3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⋅	</a:t>
            </a:r>
            <a:r>
              <a:rPr dirty="0" sz="2000" spc="0">
                <a:solidFill>
                  <a:srgbClr val="008000"/>
                </a:solidFill>
                <a:latin typeface="Cambria Math"/>
                <a:cs typeface="Cambria Math"/>
              </a:rPr>
              <a:t>𝑐𝑎𝑡( </a:t>
            </a:r>
            <a:r>
              <a:rPr dirty="0" baseline="44444" sz="2250" spc="44">
                <a:solidFill>
                  <a:srgbClr val="008000"/>
                </a:solidFill>
                <a:latin typeface="Cambria Math"/>
                <a:cs typeface="Cambria Math"/>
              </a:rPr>
              <a:t>7 </a:t>
            </a:r>
            <a:r>
              <a:rPr dirty="0" baseline="2777" sz="3000" spc="509">
                <a:solidFill>
                  <a:srgbClr val="008000"/>
                </a:solidFill>
                <a:latin typeface="Cambria Math"/>
                <a:cs typeface="Cambria Math"/>
              </a:rPr>
              <a:t>∑</a:t>
            </a:r>
            <a:r>
              <a:rPr dirty="0" baseline="29629" sz="2250" spc="509">
                <a:solidFill>
                  <a:srgbClr val="008000"/>
                </a:solidFill>
                <a:latin typeface="Cambria Math"/>
                <a:cs typeface="Cambria Math"/>
              </a:rPr>
              <a:t>. </a:t>
            </a:r>
            <a:r>
              <a:rPr dirty="0" baseline="-18518" sz="2250" spc="937">
                <a:solidFill>
                  <a:srgbClr val="008000"/>
                </a:solidFill>
                <a:latin typeface="Cambria Math"/>
                <a:cs typeface="Cambria Math"/>
              </a:rPr>
              <a:t>-.</a:t>
            </a:r>
            <a:r>
              <a:rPr dirty="0" baseline="-18518" sz="2250" spc="-157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 spc="50">
                <a:solidFill>
                  <a:srgbClr val="008000"/>
                </a:solidFill>
                <a:latin typeface="Cambria Math"/>
                <a:cs typeface="Cambria Math"/>
              </a:rPr>
              <a:t>𝑧</a:t>
            </a:r>
            <a:r>
              <a:rPr dirty="0" baseline="-14814" sz="2250" spc="75">
                <a:solidFill>
                  <a:srgbClr val="008000"/>
                </a:solidFill>
                <a:latin typeface="Cambria Math"/>
                <a:cs typeface="Cambria Math"/>
              </a:rPr>
              <a:t>'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, </a:t>
            </a:r>
            <a:r>
              <a:rPr dirty="0" sz="2000" spc="5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4814" sz="2250" spc="7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sz="2000" spc="5">
                <a:solidFill>
                  <a:srgbClr val="008000"/>
                </a:solidFill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124964" y="5749290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320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115947" y="5751067"/>
            <a:ext cx="205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0">
                <a:solidFill>
                  <a:srgbClr val="0000FF"/>
                </a:solidFill>
                <a:latin typeface="Cambria Math"/>
                <a:cs typeface="Cambria Math"/>
              </a:rPr>
              <a:t>+,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01773" y="5693155"/>
            <a:ext cx="417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70">
                <a:solidFill>
                  <a:srgbClr val="0000FF"/>
                </a:solidFill>
                <a:latin typeface="Cambria Math"/>
                <a:cs typeface="Cambria Math"/>
              </a:rPr>
              <a:t>-</a:t>
            </a:r>
            <a:r>
              <a:rPr dirty="0" sz="1200" spc="650">
                <a:solidFill>
                  <a:srgbClr val="0000FF"/>
                </a:solidFill>
                <a:latin typeface="Cambria Math"/>
                <a:cs typeface="Cambria Math"/>
              </a:rPr>
              <a:t>.</a:t>
            </a:r>
            <a:r>
              <a:rPr dirty="0" sz="1200" spc="300">
                <a:solidFill>
                  <a:srgbClr val="0000FF"/>
                </a:solidFill>
                <a:latin typeface="Cambria Math"/>
                <a:cs typeface="Cambria Math"/>
              </a:rPr>
              <a:t>/</a:t>
            </a:r>
            <a:r>
              <a:rPr dirty="0" sz="1200" spc="55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32508" y="5577839"/>
            <a:ext cx="109728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6BB76D"/>
              </a:buClr>
              <a:buFont typeface="Malgun Gothic"/>
              <a:buChar char="▪"/>
              <a:tabLst>
                <a:tab pos="195580" algn="l"/>
              </a:tabLst>
            </a:pPr>
            <a:r>
              <a:rPr dirty="0" sz="1700" spc="0">
                <a:solidFill>
                  <a:srgbClr val="0000FF"/>
                </a:solidFill>
                <a:latin typeface="Cambria Math"/>
                <a:cs typeface="Cambria Math"/>
              </a:rPr>
              <a:t>𝑐𝑎𝑡( </a:t>
            </a:r>
            <a:r>
              <a:rPr dirty="0" baseline="46296" sz="1800" spc="262">
                <a:solidFill>
                  <a:srgbClr val="0000FF"/>
                </a:solidFill>
                <a:latin typeface="Cambria Math"/>
                <a:cs typeface="Cambria Math"/>
              </a:rPr>
              <a:t>*</a:t>
            </a:r>
            <a:r>
              <a:rPr dirty="0" baseline="46296" sz="1800" spc="307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baseline="1633" sz="2550" spc="315">
                <a:solidFill>
                  <a:srgbClr val="0000FF"/>
                </a:solidFill>
                <a:latin typeface="Cambria Math"/>
                <a:cs typeface="Cambria Math"/>
              </a:rPr>
              <a:t>∑</a:t>
            </a:r>
            <a:r>
              <a:rPr dirty="0" baseline="32407" sz="1800" spc="315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endParaRPr baseline="32407"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33700" y="5577840"/>
            <a:ext cx="6123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0000FF"/>
                </a:solidFill>
                <a:latin typeface="Cambria Math"/>
                <a:cs typeface="Cambria Math"/>
              </a:rPr>
              <a:t>𝑧</a:t>
            </a:r>
            <a:r>
              <a:rPr dirty="0" baseline="-16203" sz="1800" spc="-15">
                <a:solidFill>
                  <a:srgbClr val="0000FF"/>
                </a:solidFill>
                <a:latin typeface="Cambria Math"/>
                <a:cs typeface="Cambria Math"/>
              </a:rPr>
              <a:t>- </a:t>
            </a:r>
            <a:r>
              <a:rPr dirty="0" sz="1700">
                <a:solidFill>
                  <a:srgbClr val="0000FF"/>
                </a:solidFill>
                <a:latin typeface="Cambria Math"/>
                <a:cs typeface="Cambria Math"/>
              </a:rPr>
              <a:t>, </a:t>
            </a:r>
            <a:r>
              <a:rPr dirty="0" sz="1700" spc="15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6203" sz="1800" spc="22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sz="1700" spc="15">
                <a:solidFill>
                  <a:srgbClr val="0000FF"/>
                </a:solidFill>
                <a:latin typeface="Cambria Math"/>
                <a:cs typeface="Cambria Math"/>
              </a:rPr>
              <a:t>) </a:t>
            </a:r>
            <a:r>
              <a:rPr dirty="0" sz="1700" spc="-5">
                <a:latin typeface="Calibri"/>
                <a:cs typeface="Calibri"/>
              </a:rPr>
              <a:t>means an </a:t>
            </a:r>
            <a:r>
              <a:rPr dirty="0" sz="1700" spc="-20">
                <a:latin typeface="Calibri"/>
                <a:cs typeface="Calibri"/>
              </a:rPr>
              <a:t>average </a:t>
            </a:r>
            <a:r>
              <a:rPr dirty="0" sz="1700">
                <a:latin typeface="Calibri"/>
                <a:cs typeface="Calibri"/>
              </a:rPr>
              <a:t>of </a:t>
            </a:r>
            <a:r>
              <a:rPr dirty="0" sz="1700" spc="-10">
                <a:latin typeface="Calibri"/>
                <a:cs typeface="Calibri"/>
              </a:rPr>
              <a:t>anonymous walk </a:t>
            </a:r>
            <a:r>
              <a:rPr dirty="0" sz="1700" spc="-5">
                <a:latin typeface="Calibri"/>
                <a:cs typeface="Calibri"/>
              </a:rPr>
              <a:t>embeddings in </a:t>
            </a:r>
            <a:r>
              <a:rPr dirty="0" sz="1700" spc="-30">
                <a:latin typeface="Calibri"/>
                <a:cs typeface="Calibri"/>
              </a:rPr>
              <a:t>window,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15389" y="5818632"/>
            <a:ext cx="37496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latin typeface="Calibri"/>
                <a:cs typeface="Calibri"/>
              </a:rPr>
              <a:t>concatenated </a:t>
            </a:r>
            <a:r>
              <a:rPr dirty="0" sz="1700" spc="-5">
                <a:latin typeface="Calibri"/>
                <a:cs typeface="Calibri"/>
              </a:rPr>
              <a:t>with the </a:t>
            </a:r>
            <a:r>
              <a:rPr dirty="0" sz="1700" spc="-15">
                <a:latin typeface="Calibri"/>
                <a:cs typeface="Calibri"/>
              </a:rPr>
              <a:t>graph </a:t>
            </a:r>
            <a:r>
              <a:rPr dirty="0" sz="1700" spc="-5">
                <a:latin typeface="Calibri"/>
                <a:cs typeface="Calibri"/>
              </a:rPr>
              <a:t>embedding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38775" y="5927852"/>
            <a:ext cx="1282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45539" y="6071615"/>
            <a:ext cx="6823709" cy="647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2295" indent="-182880">
              <a:lnSpc>
                <a:spcPct val="100000"/>
              </a:lnSpc>
              <a:spcBef>
                <a:spcPts val="100"/>
              </a:spcBef>
              <a:buClr>
                <a:srgbClr val="6BB76D"/>
              </a:buClr>
              <a:buFont typeface="Malgun Gothic"/>
              <a:buChar char="▪"/>
              <a:tabLst>
                <a:tab pos="582930" algn="l"/>
              </a:tabLst>
            </a:pPr>
            <a:r>
              <a:rPr dirty="0" sz="1700">
                <a:latin typeface="Cambria Math"/>
                <a:cs typeface="Cambria Math"/>
              </a:rPr>
              <a:t>𝑏  ∈ </a:t>
            </a:r>
            <a:r>
              <a:rPr dirty="0" sz="1700" spc="-5">
                <a:latin typeface="Cambria Math"/>
                <a:cs typeface="Cambria Math"/>
              </a:rPr>
              <a:t>ℝ</a:t>
            </a:r>
            <a:r>
              <a:rPr dirty="0" sz="1700" spc="-5">
                <a:latin typeface="Calibri"/>
                <a:cs typeface="Calibri"/>
              </a:rPr>
              <a:t>, </a:t>
            </a:r>
            <a:r>
              <a:rPr dirty="0" sz="1700">
                <a:latin typeface="Cambria Math"/>
                <a:cs typeface="Cambria Math"/>
              </a:rPr>
              <a:t>𝑈  ∈ </a:t>
            </a:r>
            <a:r>
              <a:rPr dirty="0" sz="1700" spc="85">
                <a:latin typeface="Cambria Math"/>
                <a:cs typeface="Cambria Math"/>
              </a:rPr>
              <a:t>ℝ</a:t>
            </a:r>
            <a:r>
              <a:rPr dirty="0" baseline="27777" sz="1800" spc="127">
                <a:latin typeface="Cambria Math"/>
                <a:cs typeface="Cambria Math"/>
              </a:rPr>
              <a:t>1 </a:t>
            </a:r>
            <a:r>
              <a:rPr dirty="0" sz="1700" spc="-15">
                <a:latin typeface="Calibri"/>
                <a:cs typeface="Calibri"/>
              </a:rPr>
              <a:t>are </a:t>
            </a:r>
            <a:r>
              <a:rPr dirty="0" sz="1700" spc="-10">
                <a:latin typeface="Calibri"/>
                <a:cs typeface="Calibri"/>
              </a:rPr>
              <a:t>learnable </a:t>
            </a:r>
            <a:r>
              <a:rPr dirty="0" sz="1700" spc="-15">
                <a:latin typeface="Calibri"/>
                <a:cs typeface="Calibri"/>
              </a:rPr>
              <a:t>parameters. </a:t>
            </a:r>
            <a:r>
              <a:rPr dirty="0" sz="1700" spc="-5">
                <a:latin typeface="Calibri"/>
                <a:cs typeface="Calibri"/>
              </a:rPr>
              <a:t>This </a:t>
            </a:r>
            <a:r>
              <a:rPr dirty="0" sz="1700" spc="-10">
                <a:latin typeface="Calibri"/>
                <a:cs typeface="Calibri"/>
              </a:rPr>
              <a:t>represents </a:t>
            </a:r>
            <a:r>
              <a:rPr dirty="0" sz="1700">
                <a:latin typeface="Calibri"/>
                <a:cs typeface="Calibri"/>
              </a:rPr>
              <a:t>a </a:t>
            </a:r>
            <a:r>
              <a:rPr dirty="0" sz="1700" spc="-5">
                <a:latin typeface="Calibri"/>
                <a:cs typeface="Calibri"/>
              </a:rPr>
              <a:t>linear</a:t>
            </a:r>
            <a:r>
              <a:rPr dirty="0" sz="1700" spc="-204">
                <a:latin typeface="Calibri"/>
                <a:cs typeface="Calibri"/>
              </a:rPr>
              <a:t> </a:t>
            </a:r>
            <a:r>
              <a:rPr dirty="0" sz="1700" spc="-40">
                <a:latin typeface="Calibri"/>
                <a:cs typeface="Calibri"/>
              </a:rPr>
              <a:t>layer.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Anonymous </a:t>
            </a:r>
            <a:r>
              <a:rPr dirty="0" sz="1200" spc="-15">
                <a:solidFill>
                  <a:srgbClr val="008000"/>
                </a:solidFill>
                <a:latin typeface="Arial"/>
                <a:cs typeface="Arial"/>
              </a:rPr>
              <a:t>Walk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Embeddings, ICML 2018</a:t>
            </a:r>
            <a:r>
              <a:rPr dirty="0" sz="1200" spc="2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 spc="-10" u="sng">
                <a:solidFill>
                  <a:srgbClr val="168BBA"/>
                </a:solidFill>
                <a:latin typeface="Arial"/>
                <a:cs typeface="Arial"/>
              </a:rPr>
              <a:t>https://arxiv.org/pdf/1805.11921.pdf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096000" y="4739628"/>
            <a:ext cx="565150" cy="215900"/>
          </a:xfrm>
          <a:custGeom>
            <a:avLst/>
            <a:gdLst/>
            <a:ahLst/>
            <a:cxnLst/>
            <a:rect l="l" t="t" r="r" b="b"/>
            <a:pathLst>
              <a:path w="565150" h="215900">
                <a:moveTo>
                  <a:pt x="67346" y="134686"/>
                </a:moveTo>
                <a:lnTo>
                  <a:pt x="0" y="202878"/>
                </a:lnTo>
                <a:lnTo>
                  <a:pt x="94962" y="215841"/>
                </a:lnTo>
                <a:lnTo>
                  <a:pt x="88188" y="195934"/>
                </a:lnTo>
                <a:lnTo>
                  <a:pt x="64761" y="195934"/>
                </a:lnTo>
                <a:lnTo>
                  <a:pt x="56644" y="191938"/>
                </a:lnTo>
                <a:lnTo>
                  <a:pt x="51560" y="176998"/>
                </a:lnTo>
                <a:lnTo>
                  <a:pt x="55556" y="168882"/>
                </a:lnTo>
                <a:lnTo>
                  <a:pt x="76552" y="161737"/>
                </a:lnTo>
                <a:lnTo>
                  <a:pt x="67346" y="134686"/>
                </a:lnTo>
                <a:close/>
              </a:path>
              <a:path w="565150" h="215900">
                <a:moveTo>
                  <a:pt x="76552" y="161737"/>
                </a:moveTo>
                <a:lnTo>
                  <a:pt x="55556" y="168882"/>
                </a:lnTo>
                <a:lnTo>
                  <a:pt x="51560" y="176998"/>
                </a:lnTo>
                <a:lnTo>
                  <a:pt x="56644" y="191938"/>
                </a:lnTo>
                <a:lnTo>
                  <a:pt x="64761" y="195934"/>
                </a:lnTo>
                <a:lnTo>
                  <a:pt x="85757" y="188789"/>
                </a:lnTo>
                <a:lnTo>
                  <a:pt x="76552" y="161737"/>
                </a:lnTo>
                <a:close/>
              </a:path>
              <a:path w="565150" h="215900">
                <a:moveTo>
                  <a:pt x="85757" y="188789"/>
                </a:moveTo>
                <a:lnTo>
                  <a:pt x="64761" y="195934"/>
                </a:lnTo>
                <a:lnTo>
                  <a:pt x="88188" y="195934"/>
                </a:lnTo>
                <a:lnTo>
                  <a:pt x="85757" y="188789"/>
                </a:lnTo>
                <a:close/>
              </a:path>
              <a:path w="565150" h="215900">
                <a:moveTo>
                  <a:pt x="551861" y="0"/>
                </a:moveTo>
                <a:lnTo>
                  <a:pt x="76552" y="161737"/>
                </a:lnTo>
                <a:lnTo>
                  <a:pt x="85757" y="188789"/>
                </a:lnTo>
                <a:lnTo>
                  <a:pt x="561066" y="27051"/>
                </a:lnTo>
                <a:lnTo>
                  <a:pt x="565062" y="18934"/>
                </a:lnTo>
                <a:lnTo>
                  <a:pt x="559978" y="3994"/>
                </a:lnTo>
                <a:lnTo>
                  <a:pt x="551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723734" y="4377435"/>
            <a:ext cx="2279650" cy="510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dirty="0" sz="1600" spc="-5">
                <a:latin typeface="Calibri"/>
                <a:cs typeface="Calibri"/>
              </a:rPr>
              <a:t>All possible</a:t>
            </a:r>
            <a:r>
              <a:rPr dirty="0" sz="1600" spc="-8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walks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10"/>
              </a:lnSpc>
            </a:pPr>
            <a:r>
              <a:rPr dirty="0" sz="1600" spc="-10">
                <a:latin typeface="Calibri"/>
                <a:cs typeface="Calibri"/>
              </a:rPr>
              <a:t>(require negative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sampling)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42" name="object 42"/>
          <p:cNvSpPr txBox="1"/>
          <p:nvPr/>
        </p:nvSpPr>
        <p:spPr>
          <a:xfrm>
            <a:off x="1194526" y="3703828"/>
            <a:ext cx="12065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" b="1">
                <a:solidFill>
                  <a:srgbClr val="0070C0"/>
                </a:solidFill>
                <a:latin typeface="Calibri"/>
                <a:cs typeface="Calibri"/>
              </a:rPr>
              <a:t>O</a:t>
            </a:r>
            <a:r>
              <a:rPr dirty="0" sz="2200" spc="-10" b="1">
                <a:solidFill>
                  <a:srgbClr val="0070C0"/>
                </a:solidFill>
                <a:latin typeface="Calibri"/>
                <a:cs typeface="Calibri"/>
              </a:rPr>
              <a:t>b</a:t>
            </a:r>
            <a:r>
              <a:rPr dirty="0" sz="2200" b="1">
                <a:solidFill>
                  <a:srgbClr val="0070C0"/>
                </a:solidFill>
                <a:latin typeface="Calibri"/>
                <a:cs typeface="Calibri"/>
              </a:rPr>
              <a:t>j</a:t>
            </a:r>
            <a:r>
              <a:rPr dirty="0" sz="2200" spc="0" b="1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dirty="0" sz="2200" b="1">
                <a:solidFill>
                  <a:srgbClr val="0070C0"/>
                </a:solidFill>
                <a:latin typeface="Calibri"/>
                <a:cs typeface="Calibri"/>
              </a:rPr>
              <a:t>c</a:t>
            </a:r>
            <a:r>
              <a:rPr dirty="0" sz="2200" spc="-5" b="1">
                <a:solidFill>
                  <a:srgbClr val="0070C0"/>
                </a:solidFill>
                <a:latin typeface="Calibri"/>
                <a:cs typeface="Calibri"/>
              </a:rPr>
              <a:t>ti</a:t>
            </a:r>
            <a:r>
              <a:rPr dirty="0" sz="2200" spc="-25" b="1">
                <a:solidFill>
                  <a:srgbClr val="0070C0"/>
                </a:solidFill>
                <a:latin typeface="Calibri"/>
                <a:cs typeface="Calibri"/>
              </a:rPr>
              <a:t>v</a:t>
            </a:r>
            <a:r>
              <a:rPr dirty="0" sz="2200" spc="0" b="1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dirty="0" sz="2200" b="1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8978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4476750" cy="2768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24765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/>
              <a:t>We </a:t>
            </a:r>
            <a:r>
              <a:rPr dirty="0" sz="3000" spc="-15"/>
              <a:t>obtain </a:t>
            </a:r>
            <a:r>
              <a:rPr dirty="0" sz="3000" spc="-5"/>
              <a:t>the </a:t>
            </a:r>
            <a:r>
              <a:rPr dirty="0" sz="3000" spc="-15"/>
              <a:t>graph  </a:t>
            </a:r>
            <a:r>
              <a:rPr dirty="0" sz="3000" spc="-5"/>
              <a:t>embedding 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5151" sz="3300">
                <a:solidFill>
                  <a:srgbClr val="C00000"/>
                </a:solidFill>
                <a:latin typeface="Cambria Math"/>
                <a:cs typeface="Cambria Math"/>
              </a:rPr>
              <a:t>𝑮 </a:t>
            </a:r>
            <a:r>
              <a:rPr dirty="0" sz="3000" spc="-5"/>
              <a:t>(learnable  </a:t>
            </a:r>
            <a:r>
              <a:rPr dirty="0" sz="3000" spc="-15"/>
              <a:t>parameter) after  optimization</a:t>
            </a:r>
            <a:endParaRPr sz="3000">
              <a:latin typeface="Cambria Math"/>
              <a:cs typeface="Cambria Math"/>
            </a:endParaRPr>
          </a:p>
          <a:p>
            <a:pPr marL="332740" marR="508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/>
              <a:t>Use </a:t>
            </a:r>
            <a:r>
              <a:rPr dirty="0" sz="3000" spc="5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5151" sz="3300" spc="7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sz="3000" spc="5"/>
              <a:t>to </a:t>
            </a:r>
            <a:r>
              <a:rPr dirty="0" sz="3000" spc="-25"/>
              <a:t>make </a:t>
            </a:r>
            <a:r>
              <a:rPr dirty="0" sz="3000" spc="-10"/>
              <a:t>predictions  </a:t>
            </a:r>
            <a:r>
              <a:rPr dirty="0" sz="3000"/>
              <a:t>(e.g. </a:t>
            </a:r>
            <a:r>
              <a:rPr dirty="0" sz="3000" spc="-15"/>
              <a:t>graph</a:t>
            </a:r>
            <a:r>
              <a:rPr dirty="0" sz="3000" spc="-35"/>
              <a:t> </a:t>
            </a:r>
            <a:r>
              <a:rPr dirty="0" sz="3000" spc="-10"/>
              <a:t>classification)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4180332"/>
            <a:ext cx="341884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Option1</a:t>
            </a:r>
            <a:r>
              <a:rPr dirty="0" sz="2600" spc="-5">
                <a:latin typeface="Calibri"/>
                <a:cs typeface="Calibri"/>
              </a:rPr>
              <a:t>: </a:t>
            </a:r>
            <a:r>
              <a:rPr dirty="0" sz="2600" spc="-10">
                <a:latin typeface="Calibri"/>
                <a:cs typeface="Calibri"/>
              </a:rPr>
              <a:t>Inner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75">
                <a:latin typeface="Calibri"/>
                <a:cs typeface="Calibri"/>
              </a:rPr>
              <a:t>product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1401" y="4766055"/>
            <a:ext cx="3092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">
                <a:solidFill>
                  <a:srgbClr val="C00000"/>
                </a:solidFill>
                <a:latin typeface="Cambria Math"/>
                <a:cs typeface="Cambria Math"/>
              </a:rPr>
              <a:t>𝑮</a:t>
            </a:r>
            <a:r>
              <a:rPr dirty="0" baseline="-13888" sz="2400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endParaRPr baseline="-13888"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7861" y="4843779"/>
            <a:ext cx="1473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0883" y="4600955"/>
            <a:ext cx="342201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</a:tabLst>
            </a:pPr>
            <a:r>
              <a:rPr dirty="0" sz="2600" spc="-15">
                <a:latin typeface="Calibri"/>
                <a:cs typeface="Calibri"/>
              </a:rPr>
              <a:t>Kernel </a:t>
            </a:r>
            <a:r>
              <a:rPr dirty="0" sz="2600" spc="50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30701" sz="2850" spc="75">
                <a:latin typeface="Cambria Math"/>
                <a:cs typeface="Cambria Math"/>
              </a:rPr>
              <a:t>2</a:t>
            </a:r>
            <a:r>
              <a:rPr dirty="0" baseline="30701" sz="2850" spc="712">
                <a:latin typeface="Cambria Math"/>
                <a:cs typeface="Cambria Math"/>
              </a:rPr>
              <a:t> </a:t>
            </a:r>
            <a:r>
              <a:rPr dirty="0" sz="2600" spc="-5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6081" sz="2850" spc="-7">
                <a:solidFill>
                  <a:srgbClr val="C00000"/>
                </a:solidFill>
                <a:latin typeface="Cambria Math"/>
                <a:cs typeface="Cambria Math"/>
              </a:rPr>
              <a:t>𝑮	</a:t>
            </a:r>
            <a:r>
              <a:rPr dirty="0" sz="2600" spc="-10">
                <a:latin typeface="Calibri"/>
                <a:cs typeface="Calibri"/>
              </a:rPr>
              <a:t>(Lecture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2)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563" y="5106923"/>
            <a:ext cx="3602354" cy="122364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287020" marR="5080" indent="-274320">
              <a:lnSpc>
                <a:spcPct val="101200"/>
              </a:lnSpc>
              <a:spcBef>
                <a:spcPts val="6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Option2</a:t>
            </a:r>
            <a:r>
              <a:rPr dirty="0" sz="2600" spc="-5">
                <a:latin typeface="Calibri"/>
                <a:cs typeface="Calibri"/>
              </a:rPr>
              <a:t>: Use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15">
                <a:latin typeface="Calibri"/>
                <a:cs typeface="Calibri"/>
              </a:rPr>
              <a:t>neural  </a:t>
            </a:r>
            <a:r>
              <a:rPr dirty="0" sz="2600" spc="-10">
                <a:latin typeface="Calibri"/>
                <a:cs typeface="Calibri"/>
              </a:rPr>
              <a:t>network that </a:t>
            </a:r>
            <a:r>
              <a:rPr dirty="0" sz="2600" spc="-25">
                <a:latin typeface="Calibri"/>
                <a:cs typeface="Calibri"/>
              </a:rPr>
              <a:t>takes </a:t>
            </a:r>
            <a:r>
              <a:rPr dirty="0" sz="2600" spc="-5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6081" sz="2850" spc="-7">
                <a:solidFill>
                  <a:srgbClr val="C00000"/>
                </a:solidFill>
                <a:latin typeface="Cambria Math"/>
                <a:cs typeface="Cambria Math"/>
              </a:rPr>
              <a:t>𝑮 </a:t>
            </a:r>
            <a:r>
              <a:rPr dirty="0" sz="2600">
                <a:latin typeface="Calibri"/>
                <a:cs typeface="Calibri"/>
              </a:rPr>
              <a:t>as  </a:t>
            </a:r>
            <a:r>
              <a:rPr dirty="0" sz="2600" spc="-5">
                <a:latin typeface="Calibri"/>
                <a:cs typeface="Calibri"/>
              </a:rPr>
              <a:t>input </a:t>
            </a:r>
            <a:r>
              <a:rPr dirty="0" sz="2600" spc="-15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classify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67342" y="2349907"/>
            <a:ext cx="3776657" cy="39733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041045" y="1880107"/>
            <a:ext cx="29286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70C0"/>
                </a:solidFill>
                <a:latin typeface="Arial"/>
                <a:cs typeface="Arial"/>
              </a:rPr>
              <a:t>Overall</a:t>
            </a:r>
            <a:r>
              <a:rPr dirty="0" sz="2400" spc="-13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0070C0"/>
                </a:solidFill>
                <a:latin typeface="Arial"/>
                <a:cs typeface="Arial"/>
              </a:rPr>
              <a:t>Architecture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011159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60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pc="-5" b="1">
                <a:solidFill>
                  <a:srgbClr val="0070C0"/>
                </a:solidFill>
                <a:latin typeface="Calibri"/>
                <a:cs typeface="Calibri"/>
              </a:rPr>
              <a:t>discussed </a:t>
            </a:r>
            <a:r>
              <a:rPr dirty="0" b="1">
                <a:solidFill>
                  <a:srgbClr val="0070C0"/>
                </a:solidFill>
                <a:latin typeface="Calibri"/>
                <a:cs typeface="Calibri"/>
              </a:rPr>
              <a:t>3 </a:t>
            </a:r>
            <a:r>
              <a:rPr dirty="0" spc="-5" b="1">
                <a:solidFill>
                  <a:srgbClr val="0070C0"/>
                </a:solidFill>
                <a:latin typeface="Calibri"/>
                <a:cs typeface="Calibri"/>
              </a:rPr>
              <a:t>ideas </a:t>
            </a:r>
            <a:r>
              <a:rPr dirty="0" spc="-15" b="1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dirty="0" spc="-20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r>
              <a:rPr dirty="0" spc="3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pc="-5" b="1">
                <a:solidFill>
                  <a:srgbClr val="0070C0"/>
                </a:solidFill>
                <a:latin typeface="Calibri"/>
                <a:cs typeface="Calibri"/>
              </a:rPr>
              <a:t>embeddings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Approach </a:t>
            </a:r>
            <a:r>
              <a:rPr dirty="0" b="1">
                <a:solidFill>
                  <a:srgbClr val="C00000"/>
                </a:solidFill>
                <a:latin typeface="Calibri"/>
                <a:cs typeface="Calibri"/>
              </a:rPr>
              <a:t>1: </a:t>
            </a:r>
            <a:r>
              <a:rPr dirty="0" spc="-5" b="1">
                <a:latin typeface="Calibri"/>
                <a:cs typeface="Calibri"/>
              </a:rPr>
              <a:t>Embed nodes and </a:t>
            </a:r>
            <a:r>
              <a:rPr dirty="0" spc="-30" b="1">
                <a:latin typeface="Calibri"/>
                <a:cs typeface="Calibri"/>
              </a:rPr>
              <a:t>sum/avg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them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656332"/>
            <a:ext cx="8234680" cy="369125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1574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Approach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2: </a:t>
            </a:r>
            <a:r>
              <a:rPr dirty="0" sz="3200" spc="-20" b="1">
                <a:latin typeface="Calibri"/>
                <a:cs typeface="Calibri"/>
              </a:rPr>
              <a:t>Create </a:t>
            </a:r>
            <a:r>
              <a:rPr dirty="0" sz="3200" spc="-10" b="1">
                <a:latin typeface="Calibri"/>
                <a:cs typeface="Calibri"/>
              </a:rPr>
              <a:t>super-node that </a:t>
            </a:r>
            <a:r>
              <a:rPr dirty="0" sz="3200" spc="-5" b="1">
                <a:latin typeface="Calibri"/>
                <a:cs typeface="Calibri"/>
              </a:rPr>
              <a:t>spans the  (sub) </a:t>
            </a:r>
            <a:r>
              <a:rPr dirty="0" sz="3200" spc="-20" b="1">
                <a:latin typeface="Calibri"/>
                <a:cs typeface="Calibri"/>
              </a:rPr>
              <a:t>graph </a:t>
            </a:r>
            <a:r>
              <a:rPr dirty="0" sz="3200" spc="-5" b="1">
                <a:latin typeface="Calibri"/>
                <a:cs typeface="Calibri"/>
              </a:rPr>
              <a:t>and then embed </a:t>
            </a:r>
            <a:r>
              <a:rPr dirty="0" sz="3200" spc="-15" b="1">
                <a:latin typeface="Calibri"/>
                <a:cs typeface="Calibri"/>
              </a:rPr>
              <a:t>that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node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4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Approach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3: </a:t>
            </a:r>
            <a:r>
              <a:rPr dirty="0" sz="3200" spc="-10" b="1">
                <a:latin typeface="Calibri"/>
                <a:cs typeface="Calibri"/>
              </a:rPr>
              <a:t>Anonymous </a:t>
            </a:r>
            <a:r>
              <a:rPr dirty="0" sz="3200" spc="-30" b="1">
                <a:latin typeface="Calibri"/>
                <a:cs typeface="Calibri"/>
              </a:rPr>
              <a:t>Walk</a:t>
            </a:r>
            <a:r>
              <a:rPr dirty="0" sz="3200" spc="-5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Embeddings</a:t>
            </a:r>
            <a:endParaRPr sz="3200">
              <a:latin typeface="Calibri"/>
              <a:cs typeface="Calibri"/>
            </a:endParaRPr>
          </a:p>
          <a:p>
            <a:pPr lvl="1" marL="625475" marR="290195" indent="-274320">
              <a:lnSpc>
                <a:spcPts val="3310"/>
              </a:lnSpc>
              <a:spcBef>
                <a:spcPts val="9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Idea </a:t>
            </a:r>
            <a:r>
              <a:rPr dirty="0" sz="2800" b="1">
                <a:latin typeface="Calibri"/>
                <a:cs typeface="Calibri"/>
              </a:rPr>
              <a:t>1: </a:t>
            </a:r>
            <a:r>
              <a:rPr dirty="0" sz="2800" spc="-5" b="1">
                <a:latin typeface="Calibri"/>
                <a:cs typeface="Calibri"/>
              </a:rPr>
              <a:t>Sample the anon. </a:t>
            </a:r>
            <a:r>
              <a:rPr dirty="0" sz="2800" spc="-10" b="1">
                <a:latin typeface="Calibri"/>
                <a:cs typeface="Calibri"/>
              </a:rPr>
              <a:t>walks </a:t>
            </a:r>
            <a:r>
              <a:rPr dirty="0" sz="2800" spc="-5" b="1">
                <a:latin typeface="Calibri"/>
                <a:cs typeface="Calibri"/>
              </a:rPr>
              <a:t>and </a:t>
            </a:r>
            <a:r>
              <a:rPr dirty="0" sz="2800" spc="-15" b="1">
                <a:latin typeface="Calibri"/>
                <a:cs typeface="Calibri"/>
              </a:rPr>
              <a:t>represent </a:t>
            </a:r>
            <a:r>
              <a:rPr dirty="0" sz="2800" spc="-200" b="1">
                <a:latin typeface="Calibri"/>
                <a:cs typeface="Calibri"/>
              </a:rPr>
              <a:t>the  </a:t>
            </a:r>
            <a:r>
              <a:rPr dirty="0" sz="2800" spc="-15" b="1">
                <a:latin typeface="Calibri"/>
                <a:cs typeface="Calibri"/>
              </a:rPr>
              <a:t>graph </a:t>
            </a:r>
            <a:r>
              <a:rPr dirty="0" sz="2800" b="1">
                <a:latin typeface="Calibri"/>
                <a:cs typeface="Calibri"/>
              </a:rPr>
              <a:t>as </a:t>
            </a:r>
            <a:r>
              <a:rPr dirty="0" sz="2800" spc="-10" b="1">
                <a:latin typeface="Calibri"/>
                <a:cs typeface="Calibri"/>
              </a:rPr>
              <a:t>fraction </a:t>
            </a:r>
            <a:r>
              <a:rPr dirty="0" sz="2800" spc="-5" b="1">
                <a:latin typeface="Calibri"/>
                <a:cs typeface="Calibri"/>
              </a:rPr>
              <a:t>of times </a:t>
            </a:r>
            <a:r>
              <a:rPr dirty="0" sz="2800" b="1">
                <a:latin typeface="Calibri"/>
                <a:cs typeface="Calibri"/>
              </a:rPr>
              <a:t>each </a:t>
            </a:r>
            <a:r>
              <a:rPr dirty="0" sz="2800" spc="-5" b="1">
                <a:latin typeface="Calibri"/>
                <a:cs typeface="Calibri"/>
              </a:rPr>
              <a:t>anon </a:t>
            </a:r>
            <a:r>
              <a:rPr dirty="0" sz="2800" spc="-10" b="1">
                <a:latin typeface="Calibri"/>
                <a:cs typeface="Calibri"/>
              </a:rPr>
              <a:t>walk</a:t>
            </a:r>
            <a:r>
              <a:rPr dirty="0" sz="2800" spc="2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occurs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ts val="3310"/>
              </a:lnSpc>
              <a:spcBef>
                <a:spcPts val="7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Idea </a:t>
            </a:r>
            <a:r>
              <a:rPr dirty="0" sz="2800" b="1">
                <a:latin typeface="Calibri"/>
                <a:cs typeface="Calibri"/>
              </a:rPr>
              <a:t>2: </a:t>
            </a:r>
            <a:r>
              <a:rPr dirty="0" sz="2800" spc="-5" b="1">
                <a:latin typeface="Calibri"/>
                <a:cs typeface="Calibri"/>
              </a:rPr>
              <a:t>Embed </a:t>
            </a:r>
            <a:r>
              <a:rPr dirty="0" sz="2800" spc="-10" b="1">
                <a:latin typeface="Calibri"/>
                <a:cs typeface="Calibri"/>
              </a:rPr>
              <a:t>anonymous walks, </a:t>
            </a:r>
            <a:r>
              <a:rPr dirty="0" sz="2800" spc="-15" b="1">
                <a:latin typeface="Calibri"/>
                <a:cs typeface="Calibri"/>
              </a:rPr>
              <a:t>concatenate </a:t>
            </a:r>
            <a:r>
              <a:rPr dirty="0" sz="2800" spc="-75" b="1">
                <a:latin typeface="Calibri"/>
                <a:cs typeface="Calibri"/>
              </a:rPr>
              <a:t>their  </a:t>
            </a:r>
            <a:r>
              <a:rPr dirty="0" sz="2800" spc="-5" b="1">
                <a:latin typeface="Calibri"/>
                <a:cs typeface="Calibri"/>
              </a:rPr>
              <a:t>embeddings </a:t>
            </a:r>
            <a:r>
              <a:rPr dirty="0" sz="2800" spc="-15" b="1">
                <a:latin typeface="Calibri"/>
                <a:cs typeface="Calibri"/>
              </a:rPr>
              <a:t>to </a:t>
            </a:r>
            <a:r>
              <a:rPr dirty="0" sz="2800" spc="-20" b="1">
                <a:latin typeface="Calibri"/>
                <a:cs typeface="Calibri"/>
              </a:rPr>
              <a:t>get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15" b="1">
                <a:latin typeface="Calibri"/>
                <a:cs typeface="Calibri"/>
              </a:rPr>
              <a:t>graph</a:t>
            </a:r>
            <a:r>
              <a:rPr dirty="0" sz="2800" spc="-1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embedding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604759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964170" cy="24701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>
                <a:latin typeface="Calibri"/>
                <a:cs typeface="Calibri"/>
              </a:rPr>
              <a:t>will </a:t>
            </a:r>
            <a:r>
              <a:rPr dirty="0" sz="3200" spc="-5">
                <a:latin typeface="Calibri"/>
                <a:cs typeface="Calibri"/>
              </a:rPr>
              <a:t>discuss </a:t>
            </a:r>
            <a:r>
              <a:rPr dirty="0" sz="3200" spc="-15">
                <a:latin typeface="Calibri"/>
                <a:cs typeface="Calibri"/>
              </a:rPr>
              <a:t>more </a:t>
            </a:r>
            <a:r>
              <a:rPr dirty="0" sz="3200" spc="-10">
                <a:latin typeface="Calibri"/>
                <a:cs typeface="Calibri"/>
              </a:rPr>
              <a:t>advanced </a:t>
            </a:r>
            <a:r>
              <a:rPr dirty="0" sz="3200" spc="-30">
                <a:latin typeface="Calibri"/>
                <a:cs typeface="Calibri"/>
              </a:rPr>
              <a:t>ways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obtain 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 spc="-5">
                <a:latin typeface="Calibri"/>
                <a:cs typeface="Calibri"/>
              </a:rPr>
              <a:t>embeddings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0">
                <a:latin typeface="Calibri"/>
                <a:cs typeface="Calibri"/>
              </a:rPr>
              <a:t>Lecture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8.</a:t>
            </a:r>
            <a:endParaRPr sz="3200">
              <a:latin typeface="Calibri"/>
              <a:cs typeface="Calibri"/>
            </a:endParaRPr>
          </a:p>
          <a:p>
            <a:pPr marL="332740" marR="65405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15" b="1">
                <a:latin typeface="Calibri"/>
                <a:cs typeface="Calibri"/>
              </a:rPr>
              <a:t>hierarchically </a:t>
            </a:r>
            <a:r>
              <a:rPr dirty="0" sz="3200" spc="-15">
                <a:latin typeface="Calibri"/>
                <a:cs typeface="Calibri"/>
              </a:rPr>
              <a:t>cluster </a:t>
            </a: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5">
                <a:latin typeface="Calibri"/>
                <a:cs typeface="Calibri"/>
              </a:rPr>
              <a:t>graphs, 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30" b="1">
                <a:latin typeface="Calibri"/>
                <a:cs typeface="Calibri"/>
              </a:rPr>
              <a:t>sum/avg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node embeddings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according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795"/>
              </a:lnSpc>
            </a:pP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5">
                <a:latin typeface="Calibri"/>
                <a:cs typeface="Calibri"/>
              </a:rPr>
              <a:t>these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clusters.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7175" y="3928962"/>
            <a:ext cx="8854168" cy="24303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771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0132"/>
            <a:ext cx="61156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dirty="0" sz="3000" spc="-20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use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embeddings 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𝒛</a:t>
            </a:r>
            <a:r>
              <a:rPr dirty="0" baseline="-15151" sz="3300">
                <a:solidFill>
                  <a:srgbClr val="C00000"/>
                </a:solidFill>
                <a:latin typeface="Cambria Math"/>
                <a:cs typeface="Cambria Math"/>
              </a:rPr>
              <a:t>𝒊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3000" spc="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nodes: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8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0"/>
              <a:t>Clustering/community detection: </a:t>
            </a:r>
            <a:r>
              <a:rPr dirty="0" spc="-15" b="0">
                <a:latin typeface="Calibri"/>
                <a:cs typeface="Calibri"/>
              </a:rPr>
              <a:t>Cluster </a:t>
            </a:r>
            <a:r>
              <a:rPr dirty="0" spc="-10" b="0">
                <a:latin typeface="Calibri"/>
                <a:cs typeface="Calibri"/>
              </a:rPr>
              <a:t>points</a:t>
            </a:r>
            <a:r>
              <a:rPr dirty="0" spc="110" b="0"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8000"/>
                </a:solidFill>
                <a:latin typeface="Cambria Math"/>
                <a:cs typeface="Cambria Math"/>
              </a:rPr>
              <a:t>𝒛</a:t>
            </a:r>
            <a:r>
              <a:rPr dirty="0" baseline="-16081" sz="2850" spc="-7" b="0">
                <a:solidFill>
                  <a:srgbClr val="008000"/>
                </a:solidFill>
                <a:latin typeface="Cambria Math"/>
                <a:cs typeface="Cambria Math"/>
              </a:rPr>
              <a:t>𝒊</a:t>
            </a:r>
            <a:endParaRPr baseline="-16081" sz="285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28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/>
              <a:t>Node </a:t>
            </a:r>
            <a:r>
              <a:rPr dirty="0" spc="-5"/>
              <a:t>classification: </a:t>
            </a:r>
            <a:r>
              <a:rPr dirty="0" spc="-10" b="0">
                <a:latin typeface="Calibri"/>
                <a:cs typeface="Calibri"/>
              </a:rPr>
              <a:t>Predict </a:t>
            </a:r>
            <a:r>
              <a:rPr dirty="0" spc="-5" b="0">
                <a:latin typeface="Calibri"/>
                <a:cs typeface="Calibri"/>
              </a:rPr>
              <a:t>label </a:t>
            </a:r>
            <a:r>
              <a:rPr dirty="0" b="0">
                <a:latin typeface="Calibri"/>
                <a:cs typeface="Calibri"/>
              </a:rPr>
              <a:t>of </a:t>
            </a:r>
            <a:r>
              <a:rPr dirty="0" spc="-5" b="0">
                <a:latin typeface="Calibri"/>
                <a:cs typeface="Calibri"/>
              </a:rPr>
              <a:t>node </a:t>
            </a:r>
            <a:r>
              <a:rPr dirty="0" b="0">
                <a:latin typeface="Cambria Math"/>
                <a:cs typeface="Cambria Math"/>
              </a:rPr>
              <a:t>𝑖 </a:t>
            </a:r>
            <a:r>
              <a:rPr dirty="0" spc="-5" b="0">
                <a:latin typeface="Calibri"/>
                <a:cs typeface="Calibri"/>
              </a:rPr>
              <a:t>based </a:t>
            </a:r>
            <a:r>
              <a:rPr dirty="0" b="0">
                <a:latin typeface="Calibri"/>
                <a:cs typeface="Calibri"/>
              </a:rPr>
              <a:t>on</a:t>
            </a:r>
            <a:r>
              <a:rPr dirty="0" spc="25" b="0"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8000"/>
                </a:solidFill>
                <a:latin typeface="Cambria Math"/>
                <a:cs typeface="Cambria Math"/>
              </a:rPr>
              <a:t>𝒛</a:t>
            </a:r>
            <a:r>
              <a:rPr dirty="0" baseline="-16081" sz="2850" spc="-7" b="0">
                <a:solidFill>
                  <a:srgbClr val="008000"/>
                </a:solidFill>
                <a:latin typeface="Cambria Math"/>
                <a:cs typeface="Cambria Math"/>
              </a:rPr>
              <a:t>𝒊</a:t>
            </a:r>
            <a:endParaRPr baseline="-16081" sz="285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48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5"/>
              <a:t>Link prediction: </a:t>
            </a:r>
            <a:r>
              <a:rPr dirty="0" spc="-10" b="0">
                <a:latin typeface="Calibri"/>
                <a:cs typeface="Calibri"/>
              </a:rPr>
              <a:t>Predict edge </a:t>
            </a:r>
            <a:r>
              <a:rPr dirty="0" spc="15" b="0">
                <a:latin typeface="Cambria Math"/>
                <a:cs typeface="Cambria Math"/>
              </a:rPr>
              <a:t>(𝑖, 𝑗) </a:t>
            </a:r>
            <a:r>
              <a:rPr dirty="0" spc="-5" b="0">
                <a:latin typeface="Calibri"/>
                <a:cs typeface="Calibri"/>
              </a:rPr>
              <a:t>based </a:t>
            </a:r>
            <a:r>
              <a:rPr dirty="0" b="0">
                <a:latin typeface="Calibri"/>
                <a:cs typeface="Calibri"/>
              </a:rPr>
              <a:t>on </a:t>
            </a:r>
            <a:r>
              <a:rPr dirty="0" spc="10" b="0">
                <a:solidFill>
                  <a:srgbClr val="008000"/>
                </a:solidFill>
                <a:latin typeface="Cambria Math"/>
                <a:cs typeface="Cambria Math"/>
              </a:rPr>
              <a:t>(𝒛</a:t>
            </a:r>
            <a:r>
              <a:rPr dirty="0" baseline="-16081" sz="2850" spc="15" b="0">
                <a:solidFill>
                  <a:srgbClr val="008000"/>
                </a:solidFill>
                <a:latin typeface="Cambria Math"/>
                <a:cs typeface="Cambria Math"/>
              </a:rPr>
              <a:t>𝒊</a:t>
            </a:r>
            <a:r>
              <a:rPr dirty="0" sz="2600" spc="10" b="0">
                <a:solidFill>
                  <a:srgbClr val="008000"/>
                </a:solidFill>
                <a:latin typeface="Cambria Math"/>
                <a:cs typeface="Cambria Math"/>
              </a:rPr>
              <a:t>,</a:t>
            </a:r>
            <a:r>
              <a:rPr dirty="0" sz="2600" spc="-330" b="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600" spc="15" b="0">
                <a:solidFill>
                  <a:srgbClr val="008000"/>
                </a:solidFill>
                <a:latin typeface="Cambria Math"/>
                <a:cs typeface="Cambria Math"/>
              </a:rPr>
              <a:t>𝒛</a:t>
            </a:r>
            <a:r>
              <a:rPr dirty="0" baseline="-16081" sz="2850" spc="22" b="0">
                <a:solidFill>
                  <a:srgbClr val="008000"/>
                </a:solidFill>
                <a:latin typeface="Cambria Math"/>
                <a:cs typeface="Cambria Math"/>
              </a:rPr>
              <a:t>𝒋</a:t>
            </a:r>
            <a:r>
              <a:rPr dirty="0" sz="2600" spc="15" b="0">
                <a:solidFill>
                  <a:srgbClr val="008000"/>
                </a:solidFill>
                <a:latin typeface="Cambria Math"/>
                <a:cs typeface="Cambria Math"/>
              </a:rPr>
              <a:t>)</a:t>
            </a:r>
            <a:endParaRPr sz="2600">
              <a:latin typeface="Cambria Math"/>
              <a:cs typeface="Cambria Math"/>
            </a:endParaRPr>
          </a:p>
          <a:p>
            <a:pPr lvl="1" marL="552450" marR="429895" indent="-228600">
              <a:lnSpc>
                <a:spcPts val="2400"/>
              </a:lnSpc>
              <a:spcBef>
                <a:spcPts val="75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200" spc="-10">
                <a:latin typeface="Calibri"/>
                <a:cs typeface="Calibri"/>
              </a:rPr>
              <a:t>Where we can: </a:t>
            </a:r>
            <a:r>
              <a:rPr dirty="0" sz="2200" spc="-15">
                <a:latin typeface="Calibri"/>
                <a:cs typeface="Calibri"/>
              </a:rPr>
              <a:t>concatenate, avg, </a:t>
            </a:r>
            <a:r>
              <a:rPr dirty="0" sz="2200" spc="-10">
                <a:latin typeface="Calibri"/>
                <a:cs typeface="Calibri"/>
              </a:rPr>
              <a:t>product, </a:t>
            </a:r>
            <a:r>
              <a:rPr dirty="0" sz="2200">
                <a:latin typeface="Calibri"/>
                <a:cs typeface="Calibri"/>
              </a:rPr>
              <a:t>or </a:t>
            </a:r>
            <a:r>
              <a:rPr dirty="0" sz="2200" spc="-30">
                <a:latin typeface="Calibri"/>
                <a:cs typeface="Calibri"/>
              </a:rPr>
              <a:t>take </a:t>
            </a:r>
            <a:r>
              <a:rPr dirty="0" sz="2200">
                <a:latin typeface="Calibri"/>
                <a:cs typeface="Calibri"/>
              </a:rPr>
              <a:t>a </a:t>
            </a:r>
            <a:r>
              <a:rPr dirty="0" sz="2200" spc="-60">
                <a:latin typeface="Calibri"/>
                <a:cs typeface="Calibri"/>
              </a:rPr>
              <a:t>difference  </a:t>
            </a:r>
            <a:r>
              <a:rPr dirty="0" sz="2200" spc="-10">
                <a:latin typeface="Calibri"/>
                <a:cs typeface="Calibri"/>
              </a:rPr>
              <a:t>between </a:t>
            </a:r>
            <a:r>
              <a:rPr dirty="0" sz="2200" spc="-5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embeddings:</a:t>
            </a:r>
            <a:endParaRPr sz="2200">
              <a:latin typeface="Calibri"/>
              <a:cs typeface="Calibri"/>
            </a:endParaRPr>
          </a:p>
          <a:p>
            <a:pPr lvl="2" marL="771525" indent="-182880">
              <a:lnSpc>
                <a:spcPct val="100000"/>
              </a:lnSpc>
              <a:spcBef>
                <a:spcPts val="305"/>
              </a:spcBef>
              <a:buClr>
                <a:srgbClr val="6BB76D"/>
              </a:buClr>
              <a:buFont typeface="Malgun Gothic"/>
              <a:buChar char="▪"/>
              <a:tabLst>
                <a:tab pos="771525" algn="l"/>
              </a:tabLst>
            </a:pPr>
            <a:r>
              <a:rPr dirty="0" sz="1900" spc="-10">
                <a:latin typeface="Calibri"/>
                <a:cs typeface="Calibri"/>
              </a:rPr>
              <a:t>Concatenate: </a:t>
            </a:r>
            <a:r>
              <a:rPr dirty="0" sz="1900" spc="-45">
                <a:latin typeface="Cambria Math"/>
                <a:cs typeface="Cambria Math"/>
              </a:rPr>
              <a:t>𝑓(𝑧</a:t>
            </a:r>
            <a:r>
              <a:rPr dirty="0" baseline="-15873" sz="2100" spc="-67">
                <a:latin typeface="Cambria Math"/>
                <a:cs typeface="Cambria Math"/>
              </a:rPr>
              <a:t>2</a:t>
            </a:r>
            <a:r>
              <a:rPr dirty="0" sz="1900" spc="-45">
                <a:latin typeface="Cambria Math"/>
                <a:cs typeface="Cambria Math"/>
              </a:rPr>
              <a:t>, </a:t>
            </a:r>
            <a:r>
              <a:rPr dirty="0" sz="1900" spc="-70">
                <a:latin typeface="Cambria Math"/>
                <a:cs typeface="Cambria Math"/>
              </a:rPr>
              <a:t>𝑧</a:t>
            </a:r>
            <a:r>
              <a:rPr dirty="0" baseline="-15873" sz="2100" spc="-104">
                <a:latin typeface="Cambria Math"/>
                <a:cs typeface="Cambria Math"/>
              </a:rPr>
              <a:t>3</a:t>
            </a:r>
            <a:r>
              <a:rPr dirty="0" sz="1900" spc="-70">
                <a:latin typeface="Cambria Math"/>
                <a:cs typeface="Cambria Math"/>
              </a:rPr>
              <a:t>)</a:t>
            </a:r>
            <a:r>
              <a:rPr dirty="0" sz="1900" spc="-70">
                <a:latin typeface="Calibri"/>
                <a:cs typeface="Calibri"/>
              </a:rPr>
              <a:t>= </a:t>
            </a:r>
            <a:r>
              <a:rPr dirty="0" sz="1900" spc="-40">
                <a:latin typeface="Cambria Math"/>
                <a:cs typeface="Cambria Math"/>
              </a:rPr>
              <a:t>𝑔([𝑧</a:t>
            </a:r>
            <a:r>
              <a:rPr dirty="0" baseline="-15873" sz="2100" spc="-60">
                <a:latin typeface="Cambria Math"/>
                <a:cs typeface="Cambria Math"/>
              </a:rPr>
              <a:t>2</a:t>
            </a:r>
            <a:r>
              <a:rPr dirty="0" sz="1900" spc="-40">
                <a:latin typeface="Cambria Math"/>
                <a:cs typeface="Cambria Math"/>
              </a:rPr>
              <a:t>,</a:t>
            </a:r>
            <a:r>
              <a:rPr dirty="0" sz="1900" spc="-105">
                <a:latin typeface="Cambria Math"/>
                <a:cs typeface="Cambria Math"/>
              </a:rPr>
              <a:t> </a:t>
            </a:r>
            <a:r>
              <a:rPr dirty="0" sz="1900" spc="-70">
                <a:latin typeface="Cambria Math"/>
                <a:cs typeface="Cambria Math"/>
              </a:rPr>
              <a:t>𝑧</a:t>
            </a:r>
            <a:r>
              <a:rPr dirty="0" baseline="-15873" sz="2100" spc="-104">
                <a:latin typeface="Cambria Math"/>
                <a:cs typeface="Cambria Math"/>
              </a:rPr>
              <a:t>3</a:t>
            </a:r>
            <a:r>
              <a:rPr dirty="0" sz="1900" spc="-70">
                <a:latin typeface="Cambria Math"/>
                <a:cs typeface="Cambria Math"/>
              </a:rPr>
              <a:t>])</a:t>
            </a:r>
            <a:endParaRPr sz="1900">
              <a:latin typeface="Cambria Math"/>
              <a:cs typeface="Cambria Math"/>
            </a:endParaRPr>
          </a:p>
          <a:p>
            <a:pPr lvl="2" marL="771525" indent="-182880">
              <a:lnSpc>
                <a:spcPct val="100000"/>
              </a:lnSpc>
              <a:spcBef>
                <a:spcPts val="430"/>
              </a:spcBef>
              <a:buClr>
                <a:srgbClr val="6BB76D"/>
              </a:buClr>
              <a:buFont typeface="Malgun Gothic"/>
              <a:buChar char="▪"/>
              <a:tabLst>
                <a:tab pos="771525" algn="l"/>
              </a:tabLst>
            </a:pPr>
            <a:r>
              <a:rPr dirty="0" sz="1900" spc="-5">
                <a:latin typeface="Calibri"/>
                <a:cs typeface="Calibri"/>
              </a:rPr>
              <a:t>Hadamard: </a:t>
            </a:r>
            <a:r>
              <a:rPr dirty="0" sz="1900" spc="-45">
                <a:latin typeface="Cambria Math"/>
                <a:cs typeface="Cambria Math"/>
              </a:rPr>
              <a:t>𝑓(𝑧</a:t>
            </a:r>
            <a:r>
              <a:rPr dirty="0" baseline="-15873" sz="2100" spc="-67">
                <a:latin typeface="Cambria Math"/>
                <a:cs typeface="Cambria Math"/>
              </a:rPr>
              <a:t>2</a:t>
            </a:r>
            <a:r>
              <a:rPr dirty="0" sz="1900" spc="-45">
                <a:latin typeface="Cambria Math"/>
                <a:cs typeface="Cambria Math"/>
              </a:rPr>
              <a:t>, </a:t>
            </a:r>
            <a:r>
              <a:rPr dirty="0" sz="1900" spc="-70">
                <a:latin typeface="Cambria Math"/>
                <a:cs typeface="Cambria Math"/>
              </a:rPr>
              <a:t>𝑧</a:t>
            </a:r>
            <a:r>
              <a:rPr dirty="0" baseline="-15873" sz="2100" spc="-104">
                <a:latin typeface="Cambria Math"/>
                <a:cs typeface="Cambria Math"/>
              </a:rPr>
              <a:t>3</a:t>
            </a:r>
            <a:r>
              <a:rPr dirty="0" sz="1900" spc="-70">
                <a:latin typeface="Cambria Math"/>
                <a:cs typeface="Cambria Math"/>
              </a:rPr>
              <a:t>)</a:t>
            </a:r>
            <a:r>
              <a:rPr dirty="0" sz="1900" spc="-70">
                <a:latin typeface="Calibri"/>
                <a:cs typeface="Calibri"/>
              </a:rPr>
              <a:t>= </a:t>
            </a:r>
            <a:r>
              <a:rPr dirty="0" sz="1900" spc="-80">
                <a:latin typeface="Cambria Math"/>
                <a:cs typeface="Cambria Math"/>
              </a:rPr>
              <a:t>𝑔(𝑧</a:t>
            </a:r>
            <a:r>
              <a:rPr dirty="0" baseline="-15873" sz="2100" spc="-120">
                <a:latin typeface="Cambria Math"/>
                <a:cs typeface="Cambria Math"/>
              </a:rPr>
              <a:t>2  </a:t>
            </a:r>
            <a:r>
              <a:rPr dirty="0" sz="1900">
                <a:latin typeface="Cambria Math"/>
                <a:cs typeface="Cambria Math"/>
              </a:rPr>
              <a:t>∗ </a:t>
            </a:r>
            <a:r>
              <a:rPr dirty="0" sz="1900" spc="-90">
                <a:latin typeface="Cambria Math"/>
                <a:cs typeface="Cambria Math"/>
              </a:rPr>
              <a:t>𝑧</a:t>
            </a:r>
            <a:r>
              <a:rPr dirty="0" baseline="-15873" sz="2100" spc="-135">
                <a:latin typeface="Cambria Math"/>
                <a:cs typeface="Cambria Math"/>
              </a:rPr>
              <a:t>3</a:t>
            </a:r>
            <a:r>
              <a:rPr dirty="0" sz="1900" spc="-90">
                <a:latin typeface="Cambria Math"/>
                <a:cs typeface="Cambria Math"/>
              </a:rPr>
              <a:t>)   </a:t>
            </a:r>
            <a:r>
              <a:rPr dirty="0" sz="1900" spc="-5">
                <a:latin typeface="Calibri"/>
                <a:cs typeface="Calibri"/>
              </a:rPr>
              <a:t>(per </a:t>
            </a:r>
            <a:r>
              <a:rPr dirty="0" sz="1900" spc="-10">
                <a:latin typeface="Calibri"/>
                <a:cs typeface="Calibri"/>
              </a:rPr>
              <a:t>coordinate</a:t>
            </a:r>
            <a:r>
              <a:rPr dirty="0" sz="1900" spc="-18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product)</a:t>
            </a:r>
            <a:endParaRPr sz="1900">
              <a:latin typeface="Calibri"/>
              <a:cs typeface="Calibri"/>
            </a:endParaRPr>
          </a:p>
          <a:p>
            <a:pPr lvl="2" marL="771525" indent="-182880">
              <a:lnSpc>
                <a:spcPct val="100000"/>
              </a:lnSpc>
              <a:spcBef>
                <a:spcPts val="405"/>
              </a:spcBef>
              <a:buClr>
                <a:srgbClr val="6BB76D"/>
              </a:buClr>
              <a:buFont typeface="Malgun Gothic"/>
              <a:buChar char="▪"/>
              <a:tabLst>
                <a:tab pos="771525" algn="l"/>
              </a:tabLst>
            </a:pPr>
            <a:r>
              <a:rPr dirty="0" sz="1900" spc="-20">
                <a:latin typeface="Calibri"/>
                <a:cs typeface="Calibri"/>
              </a:rPr>
              <a:t>Sum/Avg: </a:t>
            </a:r>
            <a:r>
              <a:rPr dirty="0" sz="1900" spc="-45">
                <a:latin typeface="Cambria Math"/>
                <a:cs typeface="Cambria Math"/>
              </a:rPr>
              <a:t>𝑓(𝑧</a:t>
            </a:r>
            <a:r>
              <a:rPr dirty="0" baseline="-15873" sz="2100" spc="-67">
                <a:latin typeface="Cambria Math"/>
                <a:cs typeface="Cambria Math"/>
              </a:rPr>
              <a:t>2</a:t>
            </a:r>
            <a:r>
              <a:rPr dirty="0" sz="1900" spc="-45">
                <a:latin typeface="Cambria Math"/>
                <a:cs typeface="Cambria Math"/>
              </a:rPr>
              <a:t>, </a:t>
            </a:r>
            <a:r>
              <a:rPr dirty="0" sz="1900" spc="-70">
                <a:latin typeface="Cambria Math"/>
                <a:cs typeface="Cambria Math"/>
              </a:rPr>
              <a:t>𝑧</a:t>
            </a:r>
            <a:r>
              <a:rPr dirty="0" baseline="-15873" sz="2100" spc="-104">
                <a:latin typeface="Cambria Math"/>
                <a:cs typeface="Cambria Math"/>
              </a:rPr>
              <a:t>3</a:t>
            </a:r>
            <a:r>
              <a:rPr dirty="0" sz="1900" spc="-70">
                <a:latin typeface="Cambria Math"/>
                <a:cs typeface="Cambria Math"/>
              </a:rPr>
              <a:t>)</a:t>
            </a:r>
            <a:r>
              <a:rPr dirty="0" sz="1900" spc="-70">
                <a:latin typeface="Calibri"/>
                <a:cs typeface="Calibri"/>
              </a:rPr>
              <a:t>= </a:t>
            </a:r>
            <a:r>
              <a:rPr dirty="0" sz="1900" spc="-80">
                <a:latin typeface="Cambria Math"/>
                <a:cs typeface="Cambria Math"/>
              </a:rPr>
              <a:t>𝑔(𝑧</a:t>
            </a:r>
            <a:r>
              <a:rPr dirty="0" baseline="-15873" sz="2100" spc="-120">
                <a:latin typeface="Cambria Math"/>
                <a:cs typeface="Cambria Math"/>
              </a:rPr>
              <a:t>2  </a:t>
            </a:r>
            <a:r>
              <a:rPr dirty="0" sz="1900">
                <a:latin typeface="Cambria Math"/>
                <a:cs typeface="Cambria Math"/>
              </a:rPr>
              <a:t>+</a:t>
            </a:r>
            <a:r>
              <a:rPr dirty="0" sz="1900" spc="-40">
                <a:latin typeface="Cambria Math"/>
                <a:cs typeface="Cambria Math"/>
              </a:rPr>
              <a:t> </a:t>
            </a:r>
            <a:r>
              <a:rPr dirty="0" sz="1900" spc="-90">
                <a:latin typeface="Cambria Math"/>
                <a:cs typeface="Cambria Math"/>
              </a:rPr>
              <a:t>𝑧</a:t>
            </a:r>
            <a:r>
              <a:rPr dirty="0" baseline="-15873" sz="2100" spc="-135">
                <a:latin typeface="Cambria Math"/>
                <a:cs typeface="Cambria Math"/>
              </a:rPr>
              <a:t>3</a:t>
            </a:r>
            <a:r>
              <a:rPr dirty="0" sz="1900" spc="-90">
                <a:latin typeface="Cambria Math"/>
                <a:cs typeface="Cambria Math"/>
              </a:rPr>
              <a:t>)</a:t>
            </a:r>
            <a:endParaRPr sz="1900">
              <a:latin typeface="Cambria Math"/>
              <a:cs typeface="Cambria Math"/>
            </a:endParaRPr>
          </a:p>
          <a:p>
            <a:pPr lvl="2" marL="771525" indent="-182880">
              <a:lnSpc>
                <a:spcPct val="100000"/>
              </a:lnSpc>
              <a:spcBef>
                <a:spcPts val="430"/>
              </a:spcBef>
              <a:buClr>
                <a:srgbClr val="6BB76D"/>
              </a:buClr>
              <a:buFont typeface="Malgun Gothic"/>
              <a:buChar char="▪"/>
              <a:tabLst>
                <a:tab pos="771525" algn="l"/>
              </a:tabLst>
            </a:pPr>
            <a:r>
              <a:rPr dirty="0" sz="1900" spc="-10">
                <a:latin typeface="Calibri"/>
                <a:cs typeface="Calibri"/>
              </a:rPr>
              <a:t>Distance: </a:t>
            </a:r>
            <a:r>
              <a:rPr dirty="0" sz="1900" spc="-45">
                <a:latin typeface="Cambria Math"/>
                <a:cs typeface="Cambria Math"/>
              </a:rPr>
              <a:t>𝑓(𝑧</a:t>
            </a:r>
            <a:r>
              <a:rPr dirty="0" baseline="-15873" sz="2100" spc="-67">
                <a:latin typeface="Cambria Math"/>
                <a:cs typeface="Cambria Math"/>
              </a:rPr>
              <a:t>2</a:t>
            </a:r>
            <a:r>
              <a:rPr dirty="0" sz="1900" spc="-45">
                <a:latin typeface="Cambria Math"/>
                <a:cs typeface="Cambria Math"/>
              </a:rPr>
              <a:t>, </a:t>
            </a:r>
            <a:r>
              <a:rPr dirty="0" sz="1900" spc="-70">
                <a:latin typeface="Cambria Math"/>
                <a:cs typeface="Cambria Math"/>
              </a:rPr>
              <a:t>𝑧</a:t>
            </a:r>
            <a:r>
              <a:rPr dirty="0" baseline="-15873" sz="2100" spc="-104">
                <a:latin typeface="Cambria Math"/>
                <a:cs typeface="Cambria Math"/>
              </a:rPr>
              <a:t>3</a:t>
            </a:r>
            <a:r>
              <a:rPr dirty="0" sz="1900" spc="-70">
                <a:latin typeface="Cambria Math"/>
                <a:cs typeface="Cambria Math"/>
              </a:rPr>
              <a:t>)</a:t>
            </a:r>
            <a:r>
              <a:rPr dirty="0" sz="1900" spc="-70">
                <a:latin typeface="Calibri"/>
                <a:cs typeface="Calibri"/>
              </a:rPr>
              <a:t>= </a:t>
            </a:r>
            <a:r>
              <a:rPr dirty="0" sz="1900" spc="-55">
                <a:latin typeface="Cambria Math"/>
                <a:cs typeface="Cambria Math"/>
              </a:rPr>
              <a:t>𝑔(||𝑧</a:t>
            </a:r>
            <a:r>
              <a:rPr dirty="0" baseline="-15873" sz="2100" spc="-82">
                <a:latin typeface="Cambria Math"/>
                <a:cs typeface="Cambria Math"/>
              </a:rPr>
              <a:t>2  </a:t>
            </a:r>
            <a:r>
              <a:rPr dirty="0" sz="1900">
                <a:latin typeface="Cambria Math"/>
                <a:cs typeface="Cambria Math"/>
              </a:rPr>
              <a:t>−</a:t>
            </a:r>
            <a:r>
              <a:rPr dirty="0" sz="1900" spc="-75">
                <a:latin typeface="Cambria Math"/>
                <a:cs typeface="Cambria Math"/>
              </a:rPr>
              <a:t> </a:t>
            </a:r>
            <a:r>
              <a:rPr dirty="0" sz="1900" spc="-35">
                <a:latin typeface="Cambria Math"/>
                <a:cs typeface="Cambria Math"/>
              </a:rPr>
              <a:t>𝑧</a:t>
            </a:r>
            <a:r>
              <a:rPr dirty="0" baseline="-15873" sz="2100" spc="-52">
                <a:latin typeface="Cambria Math"/>
                <a:cs typeface="Cambria Math"/>
              </a:rPr>
              <a:t>3</a:t>
            </a:r>
            <a:r>
              <a:rPr dirty="0" sz="1900" spc="-35">
                <a:latin typeface="Cambria Math"/>
                <a:cs typeface="Cambria Math"/>
              </a:rPr>
              <a:t>|</a:t>
            </a:r>
            <a:r>
              <a:rPr dirty="0" baseline="1461" sz="2850" spc="-52">
                <a:latin typeface="Cambria Math"/>
                <a:cs typeface="Cambria Math"/>
              </a:rPr>
              <a:t>|</a:t>
            </a:r>
            <a:r>
              <a:rPr dirty="0" baseline="-15873" sz="2100" spc="-52">
                <a:latin typeface="Cambria Math"/>
                <a:cs typeface="Cambria Math"/>
              </a:rPr>
              <a:t>4</a:t>
            </a:r>
            <a:r>
              <a:rPr dirty="0" sz="1900" spc="-35">
                <a:latin typeface="Cambria Math"/>
                <a:cs typeface="Cambria Math"/>
              </a:rPr>
              <a:t>)</a:t>
            </a:r>
            <a:endParaRPr sz="1900">
              <a:latin typeface="Cambria Math"/>
              <a:cs typeface="Cambria Math"/>
            </a:endParaRPr>
          </a:p>
          <a:p>
            <a:pPr marL="287020" marR="5080" indent="-274320">
              <a:lnSpc>
                <a:spcPts val="281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15"/>
              <a:t>Graph </a:t>
            </a:r>
            <a:r>
              <a:rPr dirty="0" spc="-5"/>
              <a:t>classification</a:t>
            </a:r>
            <a:r>
              <a:rPr dirty="0" spc="-5" b="0">
                <a:latin typeface="Calibri"/>
                <a:cs typeface="Calibri"/>
              </a:rPr>
              <a:t>: </a:t>
            </a:r>
            <a:r>
              <a:rPr dirty="0" spc="-15" b="0">
                <a:latin typeface="Calibri"/>
                <a:cs typeface="Calibri"/>
              </a:rPr>
              <a:t>graph </a:t>
            </a:r>
            <a:r>
              <a:rPr dirty="0" spc="-5" b="0">
                <a:latin typeface="Calibri"/>
                <a:cs typeface="Calibri"/>
              </a:rPr>
              <a:t>embedding </a:t>
            </a:r>
            <a:r>
              <a:rPr dirty="0" spc="-5" b="0">
                <a:solidFill>
                  <a:srgbClr val="008000"/>
                </a:solidFill>
                <a:latin typeface="Cambria Math"/>
                <a:cs typeface="Cambria Math"/>
              </a:rPr>
              <a:t>𝒛</a:t>
            </a:r>
            <a:r>
              <a:rPr dirty="0" baseline="-16081" sz="2850" spc="-7" b="0">
                <a:solidFill>
                  <a:srgbClr val="008000"/>
                </a:solidFill>
                <a:latin typeface="Cambria Math"/>
                <a:cs typeface="Cambria Math"/>
              </a:rPr>
              <a:t>𝑮 </a:t>
            </a:r>
            <a:r>
              <a:rPr dirty="0" sz="2600" b="0">
                <a:latin typeface="Calibri"/>
                <a:cs typeface="Calibri"/>
              </a:rPr>
              <a:t>via </a:t>
            </a:r>
            <a:r>
              <a:rPr dirty="0" sz="2600" spc="-45" b="0">
                <a:latin typeface="Calibri"/>
                <a:cs typeface="Calibri"/>
              </a:rPr>
              <a:t>aggregating  </a:t>
            </a:r>
            <a:r>
              <a:rPr dirty="0" sz="2600" spc="-5" b="0">
                <a:latin typeface="Calibri"/>
                <a:cs typeface="Calibri"/>
              </a:rPr>
              <a:t>node embeddings </a:t>
            </a:r>
            <a:r>
              <a:rPr dirty="0" sz="2600" b="0">
                <a:latin typeface="Calibri"/>
                <a:cs typeface="Calibri"/>
              </a:rPr>
              <a:t>or </a:t>
            </a:r>
            <a:r>
              <a:rPr dirty="0" sz="2600" spc="-10" b="0">
                <a:latin typeface="Calibri"/>
                <a:cs typeface="Calibri"/>
              </a:rPr>
              <a:t>anonymous random</a:t>
            </a:r>
            <a:r>
              <a:rPr dirty="0" sz="2600" spc="-65" b="0">
                <a:latin typeface="Calibri"/>
                <a:cs typeface="Calibri"/>
              </a:rPr>
              <a:t> </a:t>
            </a:r>
            <a:r>
              <a:rPr dirty="0" sz="2600" spc="-10" b="0">
                <a:latin typeface="Calibri"/>
                <a:cs typeface="Calibri"/>
              </a:rPr>
              <a:t>walks.</a:t>
            </a:r>
            <a:endParaRPr sz="2600">
              <a:latin typeface="Calibri"/>
              <a:cs typeface="Calibri"/>
            </a:endParaRPr>
          </a:p>
          <a:p>
            <a:pPr marL="287020">
              <a:lnSpc>
                <a:spcPts val="2860"/>
              </a:lnSpc>
            </a:pPr>
            <a:r>
              <a:rPr dirty="0" spc="-10" b="0">
                <a:latin typeface="Calibri"/>
                <a:cs typeface="Calibri"/>
              </a:rPr>
              <a:t>Predict </a:t>
            </a:r>
            <a:r>
              <a:rPr dirty="0" spc="-5" b="0">
                <a:latin typeface="Calibri"/>
                <a:cs typeface="Calibri"/>
              </a:rPr>
              <a:t>label based </a:t>
            </a:r>
            <a:r>
              <a:rPr dirty="0" b="0">
                <a:latin typeface="Calibri"/>
                <a:cs typeface="Calibri"/>
              </a:rPr>
              <a:t>on </a:t>
            </a:r>
            <a:r>
              <a:rPr dirty="0" spc="-15" b="0">
                <a:latin typeface="Calibri"/>
                <a:cs typeface="Calibri"/>
              </a:rPr>
              <a:t>graph </a:t>
            </a:r>
            <a:r>
              <a:rPr dirty="0" spc="-5" b="0">
                <a:latin typeface="Calibri"/>
                <a:cs typeface="Calibri"/>
              </a:rPr>
              <a:t>embedding</a:t>
            </a:r>
            <a:r>
              <a:rPr dirty="0" spc="-25" b="0">
                <a:latin typeface="Calibri"/>
                <a:cs typeface="Calibri"/>
              </a:rPr>
              <a:t> </a:t>
            </a:r>
            <a:r>
              <a:rPr dirty="0" spc="-40" b="0">
                <a:latin typeface="Cambria Math"/>
                <a:cs typeface="Cambria Math"/>
              </a:rPr>
              <a:t>𝑧</a:t>
            </a:r>
            <a:r>
              <a:rPr dirty="0" baseline="-16081" sz="2850" spc="-60" b="0">
                <a:latin typeface="Cambria Math"/>
                <a:cs typeface="Cambria Math"/>
              </a:rPr>
              <a:t>D</a:t>
            </a:r>
            <a:endParaRPr baseline="-16081" sz="28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38607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3555"/>
            <a:ext cx="8383905" cy="1205230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855"/>
              </a:spcBef>
            </a:pPr>
            <a:r>
              <a:rPr dirty="0" sz="3000" spc="-55">
                <a:solidFill>
                  <a:srgbClr val="0070C0"/>
                </a:solidFill>
              </a:rPr>
              <a:t>We </a:t>
            </a:r>
            <a:r>
              <a:rPr dirty="0" sz="3000" spc="-5">
                <a:solidFill>
                  <a:srgbClr val="0070C0"/>
                </a:solidFill>
              </a:rPr>
              <a:t>discussed </a:t>
            </a:r>
            <a:r>
              <a:rPr dirty="0" sz="3000" spc="-15" b="1">
                <a:solidFill>
                  <a:srgbClr val="0070C0"/>
                </a:solidFill>
                <a:latin typeface="Calibri"/>
                <a:cs typeface="Calibri"/>
              </a:rPr>
              <a:t>graph representation </a:t>
            </a:r>
            <a:r>
              <a:rPr dirty="0" sz="3000" b="1">
                <a:solidFill>
                  <a:srgbClr val="0070C0"/>
                </a:solidFill>
                <a:latin typeface="Calibri"/>
                <a:cs typeface="Calibri"/>
              </a:rPr>
              <a:t>learning</a:t>
            </a:r>
            <a:r>
              <a:rPr dirty="0" sz="3000">
                <a:solidFill>
                  <a:srgbClr val="0070C0"/>
                </a:solidFill>
              </a:rPr>
              <a:t>, a </a:t>
            </a:r>
            <a:r>
              <a:rPr dirty="0" sz="3000" spc="-30">
                <a:solidFill>
                  <a:srgbClr val="0070C0"/>
                </a:solidFill>
              </a:rPr>
              <a:t>way </a:t>
            </a:r>
            <a:r>
              <a:rPr dirty="0" sz="3000" spc="-20">
                <a:solidFill>
                  <a:srgbClr val="0070C0"/>
                </a:solidFill>
              </a:rPr>
              <a:t>to  </a:t>
            </a:r>
            <a:r>
              <a:rPr dirty="0" sz="3000" spc="-5">
                <a:solidFill>
                  <a:srgbClr val="0070C0"/>
                </a:solidFill>
              </a:rPr>
              <a:t>learn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node and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graph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embeddings </a:t>
            </a:r>
            <a:r>
              <a:rPr dirty="0" sz="3000" spc="-25">
                <a:solidFill>
                  <a:srgbClr val="0070C0"/>
                </a:solidFill>
              </a:rPr>
              <a:t>for </a:t>
            </a:r>
            <a:r>
              <a:rPr dirty="0" sz="3000" spc="-15">
                <a:solidFill>
                  <a:srgbClr val="0070C0"/>
                </a:solidFill>
              </a:rPr>
              <a:t>downstream  tasks,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without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feature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 engineering</a:t>
            </a:r>
            <a:r>
              <a:rPr dirty="0" sz="3000" spc="-5">
                <a:solidFill>
                  <a:srgbClr val="0070C0"/>
                </a:solidFill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617723"/>
            <a:ext cx="8144509" cy="37230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Encoder-decoder</a:t>
            </a:r>
            <a:r>
              <a:rPr dirty="0" sz="30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framework: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ts val="3110"/>
              </a:lnSpc>
              <a:spcBef>
                <a:spcPts val="1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latin typeface="Calibri"/>
                <a:cs typeface="Calibri"/>
              </a:rPr>
              <a:t>Encoder: embedding</a:t>
            </a:r>
            <a:r>
              <a:rPr dirty="0" sz="2600" spc="-3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lookup</a:t>
            </a:r>
            <a:endParaRPr sz="2600">
              <a:latin typeface="Calibri"/>
              <a:cs typeface="Calibri"/>
            </a:endParaRPr>
          </a:p>
          <a:p>
            <a:pPr lvl="1" marL="625475" marR="183515" indent="-274320">
              <a:lnSpc>
                <a:spcPts val="2500"/>
              </a:lnSpc>
              <a:spcBef>
                <a:spcPts val="5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latin typeface="Calibri"/>
                <a:cs typeface="Calibri"/>
              </a:rPr>
              <a:t>Decoder: </a:t>
            </a:r>
            <a:r>
              <a:rPr dirty="0" sz="2600" spc="-10" b="1">
                <a:latin typeface="Calibri"/>
                <a:cs typeface="Calibri"/>
              </a:rPr>
              <a:t>predict score </a:t>
            </a:r>
            <a:r>
              <a:rPr dirty="0" sz="2600" b="1">
                <a:latin typeface="Calibri"/>
                <a:cs typeface="Calibri"/>
              </a:rPr>
              <a:t>based on </a:t>
            </a:r>
            <a:r>
              <a:rPr dirty="0" sz="2600" spc="-5" b="1">
                <a:latin typeface="Calibri"/>
                <a:cs typeface="Calibri"/>
              </a:rPr>
              <a:t>embedding </a:t>
            </a:r>
            <a:r>
              <a:rPr dirty="0" sz="2600" spc="-15" b="1">
                <a:latin typeface="Calibri"/>
                <a:cs typeface="Calibri"/>
              </a:rPr>
              <a:t>to </a:t>
            </a:r>
            <a:r>
              <a:rPr dirty="0" sz="2600" spc="-114" b="1">
                <a:latin typeface="Calibri"/>
                <a:cs typeface="Calibri"/>
              </a:rPr>
              <a:t>match  </a:t>
            </a:r>
            <a:r>
              <a:rPr dirty="0" sz="2600" b="1">
                <a:latin typeface="Calibri"/>
                <a:cs typeface="Calibri"/>
              </a:rPr>
              <a:t>node</a:t>
            </a:r>
            <a:r>
              <a:rPr dirty="0" sz="2600" spc="-80" b="1">
                <a:latin typeface="Calibri"/>
                <a:cs typeface="Calibri"/>
              </a:rPr>
              <a:t> </a:t>
            </a:r>
            <a:r>
              <a:rPr dirty="0" sz="2600" spc="-5" b="1">
                <a:latin typeface="Calibri"/>
                <a:cs typeface="Calibri"/>
              </a:rPr>
              <a:t>similarity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595"/>
              </a:lnSpc>
              <a:spcBef>
                <a:spcPts val="129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Node similarity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measure: </a:t>
            </a:r>
            <a:r>
              <a:rPr dirty="0" sz="3000" spc="-5" b="1">
                <a:latin typeface="Calibri"/>
                <a:cs typeface="Calibri"/>
              </a:rPr>
              <a:t>(biased) </a:t>
            </a:r>
            <a:r>
              <a:rPr dirty="0" sz="3000" spc="-15" b="1">
                <a:latin typeface="Calibri"/>
                <a:cs typeface="Calibri"/>
              </a:rPr>
              <a:t>random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spc="-15" b="1">
                <a:latin typeface="Calibri"/>
                <a:cs typeface="Calibri"/>
              </a:rPr>
              <a:t>walk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ts val="3115"/>
              </a:lnSpc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 b="1">
                <a:latin typeface="Calibri"/>
                <a:cs typeface="Calibri"/>
              </a:rPr>
              <a:t>Examples: </a:t>
            </a:r>
            <a:r>
              <a:rPr dirty="0" sz="2600" spc="-15" b="1">
                <a:latin typeface="Calibri"/>
                <a:cs typeface="Calibri"/>
              </a:rPr>
              <a:t>DeepWalk, </a:t>
            </a:r>
            <a:r>
              <a:rPr dirty="0" sz="2600" spc="-20" b="1">
                <a:latin typeface="Calibri"/>
                <a:cs typeface="Calibri"/>
              </a:rPr>
              <a:t>Node2Vec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60B5CC"/>
              </a:buClr>
              <a:buFont typeface="Malgun Gothic"/>
              <a:buChar char="▪"/>
            </a:pPr>
            <a:endParaRPr sz="2500">
              <a:latin typeface="Times New Roman"/>
              <a:cs typeface="Times New Roman"/>
            </a:endParaRPr>
          </a:p>
          <a:p>
            <a:pPr marL="332740" marR="5080" indent="-320040">
              <a:lnSpc>
                <a:spcPts val="29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Extension </a:t>
            </a:r>
            <a:r>
              <a:rPr dirty="0" sz="3000" spc="-20" b="1">
                <a:solidFill>
                  <a:srgbClr val="C00000"/>
                </a:solidFill>
                <a:latin typeface="Calibri"/>
                <a:cs typeface="Calibri"/>
              </a:rPr>
              <a:t>to Graph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embedding: </a:t>
            </a:r>
            <a:r>
              <a:rPr dirty="0" sz="3000" spc="-5" b="1">
                <a:latin typeface="Calibri"/>
                <a:cs typeface="Calibri"/>
              </a:rPr>
              <a:t>Node embedding  </a:t>
            </a:r>
            <a:r>
              <a:rPr dirty="0" sz="3000" spc="-15" b="1">
                <a:latin typeface="Calibri"/>
                <a:cs typeface="Calibri"/>
              </a:rPr>
              <a:t>aggregation </a:t>
            </a:r>
            <a:r>
              <a:rPr dirty="0" sz="3000" spc="-5" b="1">
                <a:latin typeface="Calibri"/>
                <a:cs typeface="Calibri"/>
              </a:rPr>
              <a:t>and </a:t>
            </a:r>
            <a:r>
              <a:rPr dirty="0" sz="3000" spc="-10" b="1">
                <a:latin typeface="Calibri"/>
                <a:cs typeface="Calibri"/>
              </a:rPr>
              <a:t>Anonymous </a:t>
            </a:r>
            <a:r>
              <a:rPr dirty="0" sz="3000" spc="-30" b="1">
                <a:latin typeface="Calibri"/>
                <a:cs typeface="Calibri"/>
              </a:rPr>
              <a:t>Walk</a:t>
            </a:r>
            <a:r>
              <a:rPr dirty="0" sz="3000" spc="25" b="1">
                <a:latin typeface="Calibri"/>
                <a:cs typeface="Calibri"/>
              </a:rPr>
              <a:t> </a:t>
            </a:r>
            <a:r>
              <a:rPr dirty="0" sz="3000" spc="-5" b="1">
                <a:latin typeface="Calibri"/>
                <a:cs typeface="Calibri"/>
              </a:rPr>
              <a:t>Embeddings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2026-10-20T23:43:07Z</dcterms:created>
  <dcterms:modified xsi:type="dcterms:W3CDTF">2026-10-20T23:43:07Z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2021-02-15T00:00:00Z</vt:filetime>
  </property>
  <property fmtid="{D5CDD505-2E9C-101B-9397-08002B2CF9AE}" pid="3" name="LastSaved">
    <vt:filetime>2026-10-20T00:00:00Z</vt:filetime>
  </property>
</Properties>
</file>