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BB76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585216" y="341375"/>
            <a:ext cx="8314944" cy="5638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BB76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BB76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7871" y="1318260"/>
            <a:ext cx="8202930" cy="998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BB76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108" y="2414523"/>
            <a:ext cx="7923530" cy="2532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4227" y="6699893"/>
            <a:ext cx="40068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hyperlink" Target="http://cs224w.stanford.edu/" TargetMode="External"/><Relationship Id="rId4" Type="http://schemas.openxmlformats.org/officeDocument/2006/relationships/image" Target="../media/image7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hyperlink" Target="http://cs224w.stanford.edu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Relationship Id="rId4" Type="http://schemas.openxmlformats.org/officeDocument/2006/relationships/hyperlink" Target="http://cs224w.stanford.edu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cs224w.stanford.edu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hyperlink" Target="http://cs224w.stanford.edu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hyperlink" Target="http://cs224w.stanford.edu/" TargetMode="External"/><Relationship Id="rId4" Type="http://schemas.openxmlformats.org/officeDocument/2006/relationships/image" Target="../media/image1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Relationship Id="rId4" Type="http://schemas.openxmlformats.org/officeDocument/2006/relationships/hyperlink" Target="http://cs224w.stanford.edu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Relationship Id="rId4" Type="http://schemas.openxmlformats.org/officeDocument/2006/relationships/hyperlink" Target="http://cs224w.stanford.edu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Relationship Id="rId4" Type="http://schemas.openxmlformats.org/officeDocument/2006/relationships/hyperlink" Target="http://cs224w.stanford.edu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jpg"/><Relationship Id="rId5" Type="http://schemas.openxmlformats.org/officeDocument/2006/relationships/hyperlink" Target="http://cs224w.stanford.edu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jpg"/><Relationship Id="rId4" Type="http://schemas.openxmlformats.org/officeDocument/2006/relationships/image" Target="../media/image29.png"/><Relationship Id="rId5" Type="http://schemas.openxmlformats.org/officeDocument/2006/relationships/hyperlink" Target="http://cs224w.stanford.edu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hyperlink" Target="http://cs224w.stanford.edu/" TargetMode="External"/><Relationship Id="rId4" Type="http://schemas.openxmlformats.org/officeDocument/2006/relationships/image" Target="../media/image31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jpg"/><Relationship Id="rId4" Type="http://schemas.openxmlformats.org/officeDocument/2006/relationships/hyperlink" Target="http://cs224w.stanford.edu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hyperlink" Target="http://cs224w.stanford.edu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hyperlink" Target="http://cs224w.stanford.edu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hyperlink" Target="http://cs224w.stanford.edu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hyperlink" Target="http://cs224w.stanford.edu/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hyperlink" Target="http://cs224w.stanford.edu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hyperlink" Target="http://cs224w.stanford.edu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hyperlink" Target="http://cs224w.stanford.edu/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hyperlink" Target="http://cs224w.stanford.edu/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hyperlink" Target="http://cs224w.stanford.edu/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hyperlink" Target="http://cs224w.stanford.edu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hyperlink" Target="http://cs224w.stanford.edu/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hyperlink" Target="http://cs224w.stanford.edu/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hyperlink" Target="http://cs224w.stanford.edu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jpg"/><Relationship Id="rId4" Type="http://schemas.openxmlformats.org/officeDocument/2006/relationships/hyperlink" Target="http://cs224w.stanford.edu/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jpg"/><Relationship Id="rId3" Type="http://schemas.openxmlformats.org/officeDocument/2006/relationships/image" Target="../media/image56.png"/><Relationship Id="rId4" Type="http://schemas.openxmlformats.org/officeDocument/2006/relationships/hyperlink" Target="http://cs224w.stanford.edu/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hyperlink" Target="http://cs224w.stanford.edu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hyperlink" Target="http://cs224w.stanford.edu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hyperlink" Target="http://cs224w.stanford.edu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jpg"/><Relationship Id="rId5" Type="http://schemas.openxmlformats.org/officeDocument/2006/relationships/image" Target="../media/image63.jpg"/><Relationship Id="rId6" Type="http://schemas.openxmlformats.org/officeDocument/2006/relationships/hyperlink" Target="http://cs224w.stanford.edu/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hyperlink" Target="http://cs224w.stanford.edu/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hyperlink" Target="http://cs224w.stanford.edu/" TargetMode="Externa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hyperlink" Target="http://cs224w.stanford.edu/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hyperlink" Target="http://cs224w.stanford.edu/" TargetMode="Externa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hyperlink" Target="http://cs224w.stanford.edu/" TargetMode="Externa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hyperlink" Target="http://cs224w.stanford.edu/" TargetMode="Externa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hyperlink" Target="http://cs224w.stanford.edu/" TargetMode="Externa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png"/><Relationship Id="rId3" Type="http://schemas.openxmlformats.org/officeDocument/2006/relationships/hyperlink" Target="http://cs224w.stanford.edu/" TargetMode="External"/><Relationship Id="rId4" Type="http://schemas.openxmlformats.org/officeDocument/2006/relationships/image" Target="../media/image76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78.jpg"/><Relationship Id="rId4" Type="http://schemas.openxmlformats.org/officeDocument/2006/relationships/hyperlink" Target="http://cs224w.stanford.edu/" TargetMode="Externa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hyperlink" Target="http://cs224w.stanford.edu/" TargetMode="Externa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hyperlink" Target="http://cs224w.stanford.edu/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83.jpg"/><Relationship Id="rId4" Type="http://schemas.openxmlformats.org/officeDocument/2006/relationships/image" Target="../media/image84.jpg"/><Relationship Id="rId5" Type="http://schemas.openxmlformats.org/officeDocument/2006/relationships/image" Target="../media/image85.jpg"/><Relationship Id="rId6" Type="http://schemas.openxmlformats.org/officeDocument/2006/relationships/hyperlink" Target="http://cs224w.stanford.edu/" TargetMode="Externa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jpg"/><Relationship Id="rId4" Type="http://schemas.openxmlformats.org/officeDocument/2006/relationships/image" Target="../media/image88.jpg"/><Relationship Id="rId5" Type="http://schemas.openxmlformats.org/officeDocument/2006/relationships/image" Target="../media/image89.jpg"/><Relationship Id="rId6" Type="http://schemas.openxmlformats.org/officeDocument/2006/relationships/hyperlink" Target="http://cs224w.stanford.edu/" TargetMode="Externa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hyperlink" Target="http://cs224w.stanford.edu/" TargetMode="Externa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hyperlink" Target="http://cs224w.stanford.edu/" TargetMode="Externa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hyperlink" Target="http://cs224w.stanford.edu/" TargetMode="Externa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hyperlink" Target="http://cs224w.stanford.edu/" TargetMode="Externa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3" Type="http://schemas.openxmlformats.org/officeDocument/2006/relationships/hyperlink" Target="http://cs224w.stanford.edu/" TargetMode="External"/><Relationship Id="rId4" Type="http://schemas.openxmlformats.org/officeDocument/2006/relationships/image" Target="../media/image97.png"/><Relationship Id="rId5" Type="http://schemas.openxmlformats.org/officeDocument/2006/relationships/image" Target="../media/image98.jp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jpg"/><Relationship Id="rId3" Type="http://schemas.openxmlformats.org/officeDocument/2006/relationships/image" Target="../media/image100.png"/><Relationship Id="rId4" Type="http://schemas.openxmlformats.org/officeDocument/2006/relationships/hyperlink" Target="http://cs224w.stanford.edu/" TargetMode="Externa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jpg"/><Relationship Id="rId5" Type="http://schemas.openxmlformats.org/officeDocument/2006/relationships/hyperlink" Target="http://cs224w.stanford.edu/" TargetMode="Externa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hyperlink" Target="http://cs224w.stanford.edu/" TargetMode="Externa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7.png"/><Relationship Id="rId3" Type="http://schemas.openxmlformats.org/officeDocument/2006/relationships/hyperlink" Target="http://cs224w.stanford.edu/" TargetMode="External"/><Relationship Id="rId4" Type="http://schemas.openxmlformats.org/officeDocument/2006/relationships/image" Target="../media/image108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png"/><Relationship Id="rId3" Type="http://schemas.openxmlformats.org/officeDocument/2006/relationships/image" Target="../media/image110.jpg"/><Relationship Id="rId4" Type="http://schemas.openxmlformats.org/officeDocument/2006/relationships/hyperlink" Target="http://cs224w.stanford.edu/" TargetMode="Externa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Relationship Id="rId3" Type="http://schemas.openxmlformats.org/officeDocument/2006/relationships/hyperlink" Target="http://cs224w.stanford.edu/" TargetMode="Externa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png"/><Relationship Id="rId3" Type="http://schemas.openxmlformats.org/officeDocument/2006/relationships/hyperlink" Target="http://cs224w.stanford.edu/" TargetMode="Externa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png"/><Relationship Id="rId3" Type="http://schemas.openxmlformats.org/officeDocument/2006/relationships/image" Target="../media/image114.jpg"/><Relationship Id="rId4" Type="http://schemas.openxmlformats.org/officeDocument/2006/relationships/hyperlink" Target="http://cs224w.stanford.edu/" TargetMode="Externa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5.png"/><Relationship Id="rId3" Type="http://schemas.openxmlformats.org/officeDocument/2006/relationships/image" Target="../media/image116.jpg"/><Relationship Id="rId4" Type="http://schemas.openxmlformats.org/officeDocument/2006/relationships/hyperlink" Target="http://cs224w.stanford.edu/" TargetMode="Externa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3" Type="http://schemas.openxmlformats.org/officeDocument/2006/relationships/image" Target="../media/image118.jpg"/><Relationship Id="rId4" Type="http://schemas.openxmlformats.org/officeDocument/2006/relationships/image" Target="../media/image119.jpg"/><Relationship Id="rId5" Type="http://schemas.openxmlformats.org/officeDocument/2006/relationships/hyperlink" Target="http://cs224w.stanford.edu/" TargetMode="Externa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hyperlink" Target="http://cs224w.stanford.edu/" TargetMode="Externa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png"/><Relationship Id="rId3" Type="http://schemas.openxmlformats.org/officeDocument/2006/relationships/hyperlink" Target="http://cs224w.stanford.edu/" TargetMode="Externa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ng"/><Relationship Id="rId3" Type="http://schemas.openxmlformats.org/officeDocument/2006/relationships/hyperlink" Target="http://cs224w.stanford.edu/" TargetMode="Externa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png"/><Relationship Id="rId3" Type="http://schemas.openxmlformats.org/officeDocument/2006/relationships/hyperlink" Target="http://cs224w.stanford.edu/" TargetMode="Externa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Relationship Id="rId8" Type="http://schemas.openxmlformats.org/officeDocument/2006/relationships/image" Target="../media/image130.png"/><Relationship Id="rId9" Type="http://schemas.openxmlformats.org/officeDocument/2006/relationships/image" Target="../media/image131.png"/><Relationship Id="rId10" Type="http://schemas.openxmlformats.org/officeDocument/2006/relationships/image" Target="../media/image132.png"/><Relationship Id="rId11" Type="http://schemas.openxmlformats.org/officeDocument/2006/relationships/image" Target="../media/image133.png"/><Relationship Id="rId12" Type="http://schemas.openxmlformats.org/officeDocument/2006/relationships/image" Target="../media/image134.png"/><Relationship Id="rId13" Type="http://schemas.openxmlformats.org/officeDocument/2006/relationships/image" Target="../media/image135.png"/><Relationship Id="rId14" Type="http://schemas.openxmlformats.org/officeDocument/2006/relationships/image" Target="../media/image136.png"/><Relationship Id="rId15" Type="http://schemas.openxmlformats.org/officeDocument/2006/relationships/image" Target="../media/image137.png"/><Relationship Id="rId16" Type="http://schemas.openxmlformats.org/officeDocument/2006/relationships/image" Target="../media/image138.png"/><Relationship Id="rId17" Type="http://schemas.openxmlformats.org/officeDocument/2006/relationships/hyperlink" Target="http://cs224w.stanford.edu/" TargetMode="Externa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jpg"/><Relationship Id="rId4" Type="http://schemas.openxmlformats.org/officeDocument/2006/relationships/image" Target="../media/image141.png"/><Relationship Id="rId5" Type="http://schemas.openxmlformats.org/officeDocument/2006/relationships/hyperlink" Target="http://cs224w.stanford.edu/" TargetMode="Externa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2.png"/><Relationship Id="rId3" Type="http://schemas.openxmlformats.org/officeDocument/2006/relationships/hyperlink" Target="http://cs224w.stanford.edu/" TargetMode="Externa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png"/><Relationship Id="rId3" Type="http://schemas.openxmlformats.org/officeDocument/2006/relationships/hyperlink" Target="http://cs224w.stanford.edu/" TargetMode="Externa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4.png"/><Relationship Id="rId3" Type="http://schemas.openxmlformats.org/officeDocument/2006/relationships/hyperlink" Target="http://cs224w.stanford.edu/" TargetMode="Externa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png"/><Relationship Id="rId3" Type="http://schemas.openxmlformats.org/officeDocument/2006/relationships/hyperlink" Target="http://cs224w.stanford.edu/" TargetMode="Externa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6.png"/><Relationship Id="rId3" Type="http://schemas.openxmlformats.org/officeDocument/2006/relationships/hyperlink" Target="http://cs224w.stanford.edu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40" y="3002279"/>
            <a:ext cx="6352032" cy="2014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3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5216" y="347472"/>
            <a:ext cx="7019544" cy="551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992" y="1600200"/>
            <a:ext cx="8229599" cy="4746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11524" y="3726370"/>
            <a:ext cx="43180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100">
                <a:latin typeface="Arial"/>
                <a:cs typeface="Arial"/>
              </a:rPr>
              <a:t>…</a:t>
            </a:r>
            <a:endParaRPr sz="3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43400" y="4282064"/>
            <a:ext cx="4648200" cy="2322195"/>
          </a:xfrm>
          <a:custGeom>
            <a:avLst/>
            <a:gdLst/>
            <a:ahLst/>
            <a:cxnLst/>
            <a:rect l="l" t="t" r="r" b="b"/>
            <a:pathLst>
              <a:path w="4648200" h="2322195">
                <a:moveTo>
                  <a:pt x="4648200" y="1088139"/>
                </a:moveTo>
                <a:lnTo>
                  <a:pt x="0" y="1088139"/>
                </a:lnTo>
                <a:lnTo>
                  <a:pt x="0" y="2322053"/>
                </a:lnTo>
                <a:lnTo>
                  <a:pt x="4648200" y="2322053"/>
                </a:lnTo>
                <a:lnTo>
                  <a:pt x="4648200" y="1088139"/>
                </a:lnTo>
                <a:close/>
              </a:path>
              <a:path w="4648200" h="2322195">
                <a:moveTo>
                  <a:pt x="4397754" y="0"/>
                </a:moveTo>
                <a:lnTo>
                  <a:pt x="2711450" y="1088139"/>
                </a:lnTo>
                <a:lnTo>
                  <a:pt x="3873500" y="1088139"/>
                </a:lnTo>
                <a:lnTo>
                  <a:pt x="43977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14825" y="4253570"/>
            <a:ext cx="4705350" cy="2379345"/>
          </a:xfrm>
          <a:custGeom>
            <a:avLst/>
            <a:gdLst/>
            <a:ahLst/>
            <a:cxnLst/>
            <a:rect l="l" t="t" r="r" b="b"/>
            <a:pathLst>
              <a:path w="4705350" h="2379345">
                <a:moveTo>
                  <a:pt x="4428475" y="0"/>
                </a:moveTo>
                <a:lnTo>
                  <a:pt x="4419400" y="769"/>
                </a:lnTo>
                <a:lnTo>
                  <a:pt x="4410835" y="4484"/>
                </a:lnTo>
                <a:lnTo>
                  <a:pt x="2731606" y="1088058"/>
                </a:lnTo>
                <a:lnTo>
                  <a:pt x="28575" y="1088058"/>
                </a:lnTo>
                <a:lnTo>
                  <a:pt x="17452" y="1090304"/>
                </a:lnTo>
                <a:lnTo>
                  <a:pt x="8369" y="1096428"/>
                </a:lnTo>
                <a:lnTo>
                  <a:pt x="2245" y="1105511"/>
                </a:lnTo>
                <a:lnTo>
                  <a:pt x="0" y="1116633"/>
                </a:lnTo>
                <a:lnTo>
                  <a:pt x="0" y="2350547"/>
                </a:lnTo>
                <a:lnTo>
                  <a:pt x="2245" y="2361670"/>
                </a:lnTo>
                <a:lnTo>
                  <a:pt x="8369" y="2370752"/>
                </a:lnTo>
                <a:lnTo>
                  <a:pt x="17452" y="2376876"/>
                </a:lnTo>
                <a:lnTo>
                  <a:pt x="28575" y="2379122"/>
                </a:lnTo>
                <a:lnTo>
                  <a:pt x="4676775" y="2379122"/>
                </a:lnTo>
                <a:lnTo>
                  <a:pt x="4687897" y="2376876"/>
                </a:lnTo>
                <a:lnTo>
                  <a:pt x="4696980" y="2370752"/>
                </a:lnTo>
                <a:lnTo>
                  <a:pt x="4703104" y="2361670"/>
                </a:lnTo>
                <a:lnTo>
                  <a:pt x="4705350" y="2350547"/>
                </a:lnTo>
                <a:lnTo>
                  <a:pt x="4705350" y="2344832"/>
                </a:lnTo>
                <a:lnTo>
                  <a:pt x="34289" y="2344832"/>
                </a:lnTo>
                <a:lnTo>
                  <a:pt x="34289" y="1122348"/>
                </a:lnTo>
                <a:lnTo>
                  <a:pt x="2741123" y="1122348"/>
                </a:lnTo>
                <a:lnTo>
                  <a:pt x="2742200" y="1122031"/>
                </a:lnTo>
                <a:lnTo>
                  <a:pt x="4375546" y="68064"/>
                </a:lnTo>
                <a:lnTo>
                  <a:pt x="4400586" y="16092"/>
                </a:lnTo>
                <a:lnTo>
                  <a:pt x="4451807" y="16092"/>
                </a:lnTo>
                <a:lnTo>
                  <a:pt x="4451139" y="14312"/>
                </a:lnTo>
                <a:lnTo>
                  <a:pt x="4445243" y="7075"/>
                </a:lnTo>
                <a:lnTo>
                  <a:pt x="4437332" y="2120"/>
                </a:lnTo>
                <a:lnTo>
                  <a:pt x="4428475" y="0"/>
                </a:lnTo>
                <a:close/>
              </a:path>
              <a:path w="4705350" h="2379345">
                <a:moveTo>
                  <a:pt x="4454464" y="26013"/>
                </a:moveTo>
                <a:lnTo>
                  <a:pt x="4421181" y="26013"/>
                </a:lnTo>
                <a:lnTo>
                  <a:pt x="4429427" y="33296"/>
                </a:lnTo>
                <a:lnTo>
                  <a:pt x="4426724" y="35041"/>
                </a:lnTo>
                <a:lnTo>
                  <a:pt x="4435624" y="42900"/>
                </a:lnTo>
                <a:lnTo>
                  <a:pt x="4432921" y="44644"/>
                </a:lnTo>
                <a:lnTo>
                  <a:pt x="4441822" y="52504"/>
                </a:lnTo>
                <a:lnTo>
                  <a:pt x="4393347" y="83784"/>
                </a:lnTo>
                <a:lnTo>
                  <a:pt x="3896072" y="1115923"/>
                </a:lnTo>
                <a:lnTo>
                  <a:pt x="3896189" y="1118008"/>
                </a:lnTo>
                <a:lnTo>
                  <a:pt x="3898281" y="1121337"/>
                </a:lnTo>
                <a:lnTo>
                  <a:pt x="3900109" y="1122348"/>
                </a:lnTo>
                <a:lnTo>
                  <a:pt x="4671059" y="1122348"/>
                </a:lnTo>
                <a:lnTo>
                  <a:pt x="4671059" y="2344832"/>
                </a:lnTo>
                <a:lnTo>
                  <a:pt x="4705350" y="2344832"/>
                </a:lnTo>
                <a:lnTo>
                  <a:pt x="4705350" y="1116633"/>
                </a:lnTo>
                <a:lnTo>
                  <a:pt x="4703104" y="1105511"/>
                </a:lnTo>
                <a:lnTo>
                  <a:pt x="4696980" y="1096428"/>
                </a:lnTo>
                <a:lnTo>
                  <a:pt x="4687897" y="1090304"/>
                </a:lnTo>
                <a:lnTo>
                  <a:pt x="4676775" y="1088058"/>
                </a:lnTo>
                <a:lnTo>
                  <a:pt x="3947560" y="1088058"/>
                </a:lnTo>
                <a:lnTo>
                  <a:pt x="4452072" y="40896"/>
                </a:lnTo>
                <a:lnTo>
                  <a:pt x="4454698" y="31938"/>
                </a:lnTo>
                <a:lnTo>
                  <a:pt x="4454464" y="26013"/>
                </a:lnTo>
                <a:close/>
              </a:path>
              <a:path w="4705350" h="2379345">
                <a:moveTo>
                  <a:pt x="4366036" y="87804"/>
                </a:moveTo>
                <a:lnTo>
                  <a:pt x="2746550" y="1132827"/>
                </a:lnTo>
                <a:lnTo>
                  <a:pt x="2743321" y="1133778"/>
                </a:lnTo>
                <a:lnTo>
                  <a:pt x="45720" y="1133778"/>
                </a:lnTo>
                <a:lnTo>
                  <a:pt x="45720" y="2333402"/>
                </a:lnTo>
                <a:lnTo>
                  <a:pt x="4659630" y="2333402"/>
                </a:lnTo>
                <a:lnTo>
                  <a:pt x="4659630" y="2321972"/>
                </a:lnTo>
                <a:lnTo>
                  <a:pt x="57150" y="2321972"/>
                </a:lnTo>
                <a:lnTo>
                  <a:pt x="57150" y="1145208"/>
                </a:lnTo>
                <a:lnTo>
                  <a:pt x="2745520" y="1145208"/>
                </a:lnTo>
                <a:lnTo>
                  <a:pt x="2750900" y="1143623"/>
                </a:lnTo>
                <a:lnTo>
                  <a:pt x="4356525" y="107544"/>
                </a:lnTo>
                <a:lnTo>
                  <a:pt x="4366036" y="87804"/>
                </a:lnTo>
                <a:close/>
              </a:path>
              <a:path w="4705350" h="2379345">
                <a:moveTo>
                  <a:pt x="4374935" y="95665"/>
                </a:moveTo>
                <a:lnTo>
                  <a:pt x="4356525" y="107544"/>
                </a:lnTo>
                <a:lnTo>
                  <a:pt x="3876332" y="1104230"/>
                </a:lnTo>
                <a:lnTo>
                  <a:pt x="3874038" y="1111108"/>
                </a:lnTo>
                <a:lnTo>
                  <a:pt x="3873544" y="1118231"/>
                </a:lnTo>
                <a:lnTo>
                  <a:pt x="3874831" y="1125255"/>
                </a:lnTo>
                <a:lnTo>
                  <a:pt x="3902075" y="1145208"/>
                </a:lnTo>
                <a:lnTo>
                  <a:pt x="4648200" y="1145208"/>
                </a:lnTo>
                <a:lnTo>
                  <a:pt x="4648200" y="2321972"/>
                </a:lnTo>
                <a:lnTo>
                  <a:pt x="4659630" y="2321972"/>
                </a:lnTo>
                <a:lnTo>
                  <a:pt x="4659630" y="1133778"/>
                </a:lnTo>
                <a:lnTo>
                  <a:pt x="3896177" y="1133778"/>
                </a:lnTo>
                <a:lnTo>
                  <a:pt x="3890694" y="1130747"/>
                </a:lnTo>
                <a:lnTo>
                  <a:pt x="3884419" y="1120759"/>
                </a:lnTo>
                <a:lnTo>
                  <a:pt x="3884068" y="1114505"/>
                </a:lnTo>
                <a:lnTo>
                  <a:pt x="4374935" y="95665"/>
                </a:lnTo>
                <a:close/>
              </a:path>
              <a:path w="4705350" h="2379345">
                <a:moveTo>
                  <a:pt x="4384445" y="75925"/>
                </a:moveTo>
                <a:lnTo>
                  <a:pt x="4366036" y="87804"/>
                </a:lnTo>
                <a:lnTo>
                  <a:pt x="4356525" y="107544"/>
                </a:lnTo>
                <a:lnTo>
                  <a:pt x="4374935" y="95665"/>
                </a:lnTo>
                <a:lnTo>
                  <a:pt x="4384445" y="75925"/>
                </a:lnTo>
                <a:close/>
              </a:path>
              <a:path w="4705350" h="2379345">
                <a:moveTo>
                  <a:pt x="4402858" y="64044"/>
                </a:moveTo>
                <a:lnTo>
                  <a:pt x="4384445" y="75925"/>
                </a:lnTo>
                <a:lnTo>
                  <a:pt x="4374935" y="95665"/>
                </a:lnTo>
                <a:lnTo>
                  <a:pt x="4393347" y="83784"/>
                </a:lnTo>
                <a:lnTo>
                  <a:pt x="4402858" y="64044"/>
                </a:lnTo>
                <a:close/>
              </a:path>
              <a:path w="4705350" h="2379345">
                <a:moveTo>
                  <a:pt x="4393956" y="56185"/>
                </a:moveTo>
                <a:lnTo>
                  <a:pt x="4375546" y="68064"/>
                </a:lnTo>
                <a:lnTo>
                  <a:pt x="4366036" y="87804"/>
                </a:lnTo>
                <a:lnTo>
                  <a:pt x="4384445" y="75925"/>
                </a:lnTo>
                <a:lnTo>
                  <a:pt x="4393956" y="56185"/>
                </a:lnTo>
                <a:close/>
              </a:path>
              <a:path w="4705350" h="2379345">
                <a:moveTo>
                  <a:pt x="4432921" y="44644"/>
                </a:moveTo>
                <a:lnTo>
                  <a:pt x="4402858" y="64044"/>
                </a:lnTo>
                <a:lnTo>
                  <a:pt x="4393347" y="83784"/>
                </a:lnTo>
                <a:lnTo>
                  <a:pt x="4441822" y="52504"/>
                </a:lnTo>
                <a:lnTo>
                  <a:pt x="4432921" y="44644"/>
                </a:lnTo>
                <a:close/>
              </a:path>
              <a:path w="4705350" h="2379345">
                <a:moveTo>
                  <a:pt x="4400586" y="16092"/>
                </a:moveTo>
                <a:lnTo>
                  <a:pt x="4375546" y="68064"/>
                </a:lnTo>
                <a:lnTo>
                  <a:pt x="4393956" y="56185"/>
                </a:lnTo>
                <a:lnTo>
                  <a:pt x="4409486" y="23950"/>
                </a:lnTo>
                <a:lnTo>
                  <a:pt x="4400586" y="16092"/>
                </a:lnTo>
                <a:close/>
              </a:path>
              <a:path w="4705350" h="2379345">
                <a:moveTo>
                  <a:pt x="4424021" y="36785"/>
                </a:moveTo>
                <a:lnTo>
                  <a:pt x="4412368" y="44304"/>
                </a:lnTo>
                <a:lnTo>
                  <a:pt x="4402858" y="64044"/>
                </a:lnTo>
                <a:lnTo>
                  <a:pt x="4432921" y="44644"/>
                </a:lnTo>
                <a:lnTo>
                  <a:pt x="4424021" y="36785"/>
                </a:lnTo>
                <a:close/>
              </a:path>
              <a:path w="4705350" h="2379345">
                <a:moveTo>
                  <a:pt x="4409486" y="23950"/>
                </a:moveTo>
                <a:lnTo>
                  <a:pt x="4393956" y="56185"/>
                </a:lnTo>
                <a:lnTo>
                  <a:pt x="4412368" y="44304"/>
                </a:lnTo>
                <a:lnTo>
                  <a:pt x="4418387" y="31811"/>
                </a:lnTo>
                <a:lnTo>
                  <a:pt x="4409486" y="23950"/>
                </a:lnTo>
                <a:close/>
              </a:path>
              <a:path w="4705350" h="2379345">
                <a:moveTo>
                  <a:pt x="4418387" y="31811"/>
                </a:moveTo>
                <a:lnTo>
                  <a:pt x="4412368" y="44304"/>
                </a:lnTo>
                <a:lnTo>
                  <a:pt x="4424021" y="36785"/>
                </a:lnTo>
                <a:lnTo>
                  <a:pt x="4418387" y="31811"/>
                </a:lnTo>
                <a:close/>
              </a:path>
              <a:path w="4705350" h="2379345">
                <a:moveTo>
                  <a:pt x="4419784" y="28912"/>
                </a:moveTo>
                <a:lnTo>
                  <a:pt x="4418387" y="31811"/>
                </a:lnTo>
                <a:lnTo>
                  <a:pt x="4424021" y="36785"/>
                </a:lnTo>
                <a:lnTo>
                  <a:pt x="4426724" y="35041"/>
                </a:lnTo>
                <a:lnTo>
                  <a:pt x="4419784" y="28912"/>
                </a:lnTo>
                <a:close/>
              </a:path>
              <a:path w="4705350" h="2379345">
                <a:moveTo>
                  <a:pt x="4421181" y="26013"/>
                </a:moveTo>
                <a:lnTo>
                  <a:pt x="4419784" y="28912"/>
                </a:lnTo>
                <a:lnTo>
                  <a:pt x="4426724" y="35041"/>
                </a:lnTo>
                <a:lnTo>
                  <a:pt x="4429427" y="33296"/>
                </a:lnTo>
                <a:lnTo>
                  <a:pt x="4421181" y="26013"/>
                </a:lnTo>
                <a:close/>
              </a:path>
              <a:path w="4705350" h="2379345">
                <a:moveTo>
                  <a:pt x="4453668" y="21052"/>
                </a:moveTo>
                <a:lnTo>
                  <a:pt x="4410882" y="21052"/>
                </a:lnTo>
                <a:lnTo>
                  <a:pt x="4419784" y="28912"/>
                </a:lnTo>
                <a:lnTo>
                  <a:pt x="4421181" y="26013"/>
                </a:lnTo>
                <a:lnTo>
                  <a:pt x="4454464" y="26013"/>
                </a:lnTo>
                <a:lnTo>
                  <a:pt x="4454338" y="22839"/>
                </a:lnTo>
                <a:lnTo>
                  <a:pt x="4453668" y="21052"/>
                </a:lnTo>
                <a:close/>
              </a:path>
              <a:path w="4705350" h="2379345">
                <a:moveTo>
                  <a:pt x="4451807" y="16092"/>
                </a:moveTo>
                <a:lnTo>
                  <a:pt x="4400586" y="16092"/>
                </a:lnTo>
                <a:lnTo>
                  <a:pt x="4409486" y="23950"/>
                </a:lnTo>
                <a:lnTo>
                  <a:pt x="4410882" y="21052"/>
                </a:lnTo>
                <a:lnTo>
                  <a:pt x="4453668" y="21052"/>
                </a:lnTo>
                <a:lnTo>
                  <a:pt x="4451807" y="160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422141" y="5424932"/>
            <a:ext cx="4366895" cy="11258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Output: </a:t>
            </a:r>
            <a:r>
              <a:rPr dirty="0" sz="2400">
                <a:latin typeface="Arial"/>
                <a:cs typeface="Arial"/>
              </a:rPr>
              <a:t>Node embeddings.  </a:t>
            </a:r>
            <a:r>
              <a:rPr dirty="0" sz="2400" spc="-5">
                <a:latin typeface="Arial"/>
                <a:cs typeface="Arial"/>
              </a:rPr>
              <a:t>Also, </a:t>
            </a:r>
            <a:r>
              <a:rPr dirty="0" sz="2400">
                <a:latin typeface="Arial"/>
                <a:cs typeface="Arial"/>
              </a:rPr>
              <a:t>we can embed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subgraphs,  graphs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5656" y="347472"/>
            <a:ext cx="7528559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2446020" marR="5080" indent="-1452245">
              <a:lnSpc>
                <a:spcPts val="3790"/>
              </a:lnSpc>
              <a:spcBef>
                <a:spcPts val="265"/>
              </a:spcBef>
            </a:pPr>
            <a:r>
              <a:rPr dirty="0" spc="-5" b="0">
                <a:solidFill>
                  <a:srgbClr val="C00000"/>
                </a:solidFill>
                <a:latin typeface="Calibri"/>
                <a:cs typeface="Calibri"/>
              </a:rPr>
              <a:t>Idea: 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Node’s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neighborhood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defines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computation</a:t>
            </a:r>
            <a:r>
              <a:rPr dirty="0" spc="-4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</a:t>
            </a:r>
          </a:p>
        </p:txBody>
      </p:sp>
      <p:sp>
        <p:nvSpPr>
          <p:cNvPr id="4" name="object 4"/>
          <p:cNvSpPr/>
          <p:nvPr/>
        </p:nvSpPr>
        <p:spPr>
          <a:xfrm>
            <a:off x="1752600" y="2362200"/>
            <a:ext cx="5715001" cy="24968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57740" y="4777232"/>
            <a:ext cx="2125980" cy="67818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 indent="121285">
              <a:lnSpc>
                <a:spcPct val="103800"/>
              </a:lnSpc>
              <a:spcBef>
                <a:spcPts val="5"/>
              </a:spcBef>
            </a:pPr>
            <a:r>
              <a:rPr dirty="0" sz="2100">
                <a:solidFill>
                  <a:srgbClr val="C00000"/>
                </a:solidFill>
                <a:latin typeface="Calibri"/>
                <a:cs typeface="Calibri"/>
              </a:rPr>
              <a:t>Determine </a:t>
            </a:r>
            <a:r>
              <a:rPr dirty="0" sz="2100" spc="5">
                <a:solidFill>
                  <a:srgbClr val="C00000"/>
                </a:solidFill>
                <a:latin typeface="Calibri"/>
                <a:cs typeface="Calibri"/>
              </a:rPr>
              <a:t>node  </a:t>
            </a:r>
            <a:r>
              <a:rPr dirty="0" sz="2100">
                <a:solidFill>
                  <a:srgbClr val="C00000"/>
                </a:solidFill>
                <a:latin typeface="Calibri"/>
                <a:cs typeface="Calibri"/>
              </a:rPr>
              <a:t>computation</a:t>
            </a:r>
            <a:r>
              <a:rPr dirty="0" sz="2100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 spc="-5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06356" y="3458171"/>
            <a:ext cx="220979" cy="217804"/>
          </a:xfrm>
          <a:custGeom>
            <a:avLst/>
            <a:gdLst/>
            <a:ahLst/>
            <a:cxnLst/>
            <a:rect l="l" t="t" r="r" b="b"/>
            <a:pathLst>
              <a:path w="220979" h="217804">
                <a:moveTo>
                  <a:pt x="112270" y="0"/>
                </a:moveTo>
                <a:lnTo>
                  <a:pt x="69159" y="7789"/>
                </a:lnTo>
                <a:lnTo>
                  <a:pt x="33669" y="30463"/>
                </a:lnTo>
                <a:lnTo>
                  <a:pt x="9412" y="64589"/>
                </a:lnTo>
                <a:lnTo>
                  <a:pt x="0" y="106734"/>
                </a:lnTo>
                <a:lnTo>
                  <a:pt x="7935" y="149181"/>
                </a:lnTo>
                <a:lnTo>
                  <a:pt x="30987" y="184133"/>
                </a:lnTo>
                <a:lnTo>
                  <a:pt x="65663" y="208033"/>
                </a:lnTo>
                <a:lnTo>
                  <a:pt x="108477" y="217322"/>
                </a:lnTo>
                <a:lnTo>
                  <a:pt x="151588" y="209533"/>
                </a:lnTo>
                <a:lnTo>
                  <a:pt x="187078" y="186858"/>
                </a:lnTo>
                <a:lnTo>
                  <a:pt x="211334" y="152732"/>
                </a:lnTo>
                <a:lnTo>
                  <a:pt x="220746" y="110587"/>
                </a:lnTo>
                <a:lnTo>
                  <a:pt x="212811" y="68140"/>
                </a:lnTo>
                <a:lnTo>
                  <a:pt x="189760" y="33187"/>
                </a:lnTo>
                <a:lnTo>
                  <a:pt x="155083" y="9288"/>
                </a:lnTo>
                <a:lnTo>
                  <a:pt x="1122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04772" y="3456580"/>
            <a:ext cx="224154" cy="220979"/>
          </a:xfrm>
          <a:custGeom>
            <a:avLst/>
            <a:gdLst/>
            <a:ahLst/>
            <a:cxnLst/>
            <a:rect l="l" t="t" r="r" b="b"/>
            <a:pathLst>
              <a:path w="224154" h="220979">
                <a:moveTo>
                  <a:pt x="113828" y="0"/>
                </a:moveTo>
                <a:lnTo>
                  <a:pt x="70110" y="7919"/>
                </a:lnTo>
                <a:lnTo>
                  <a:pt x="34121" y="30937"/>
                </a:lnTo>
                <a:lnTo>
                  <a:pt x="9523" y="65577"/>
                </a:lnTo>
                <a:lnTo>
                  <a:pt x="0" y="108216"/>
                </a:lnTo>
                <a:lnTo>
                  <a:pt x="373" y="119499"/>
                </a:lnTo>
                <a:lnTo>
                  <a:pt x="18074" y="170327"/>
                </a:lnTo>
                <a:lnTo>
                  <a:pt x="47831" y="200626"/>
                </a:lnTo>
                <a:lnTo>
                  <a:pt x="87566" y="217882"/>
                </a:lnTo>
                <a:lnTo>
                  <a:pt x="110084" y="220505"/>
                </a:lnTo>
                <a:lnTo>
                  <a:pt x="132679" y="218649"/>
                </a:lnTo>
                <a:lnTo>
                  <a:pt x="132869" y="218594"/>
                </a:lnTo>
                <a:lnTo>
                  <a:pt x="110065" y="218594"/>
                </a:lnTo>
                <a:lnTo>
                  <a:pt x="87923" y="216006"/>
                </a:lnTo>
                <a:lnTo>
                  <a:pt x="48855" y="199016"/>
                </a:lnTo>
                <a:lnTo>
                  <a:pt x="19640" y="169232"/>
                </a:lnTo>
                <a:lnTo>
                  <a:pt x="3755" y="130196"/>
                </a:lnTo>
                <a:lnTo>
                  <a:pt x="1910" y="108216"/>
                </a:lnTo>
                <a:lnTo>
                  <a:pt x="2645" y="97496"/>
                </a:lnTo>
                <a:lnTo>
                  <a:pt x="21755" y="48086"/>
                </a:lnTo>
                <a:lnTo>
                  <a:pt x="51991" y="19339"/>
                </a:lnTo>
                <a:lnTo>
                  <a:pt x="91629" y="3723"/>
                </a:lnTo>
                <a:lnTo>
                  <a:pt x="113849" y="1910"/>
                </a:lnTo>
                <a:lnTo>
                  <a:pt x="130230" y="1910"/>
                </a:lnTo>
                <a:lnTo>
                  <a:pt x="113828" y="0"/>
                </a:lnTo>
                <a:close/>
              </a:path>
              <a:path w="224154" h="220979">
                <a:moveTo>
                  <a:pt x="130230" y="1910"/>
                </a:moveTo>
                <a:lnTo>
                  <a:pt x="113849" y="1910"/>
                </a:lnTo>
                <a:lnTo>
                  <a:pt x="135991" y="4498"/>
                </a:lnTo>
                <a:lnTo>
                  <a:pt x="156540" y="11172"/>
                </a:lnTo>
                <a:lnTo>
                  <a:pt x="191115" y="35002"/>
                </a:lnTo>
                <a:lnTo>
                  <a:pt x="214100" y="69852"/>
                </a:lnTo>
                <a:lnTo>
                  <a:pt x="222004" y="112288"/>
                </a:lnTo>
                <a:lnTo>
                  <a:pt x="221269" y="123008"/>
                </a:lnTo>
                <a:lnTo>
                  <a:pt x="202159" y="172419"/>
                </a:lnTo>
                <a:lnTo>
                  <a:pt x="171923" y="201164"/>
                </a:lnTo>
                <a:lnTo>
                  <a:pt x="132285" y="216780"/>
                </a:lnTo>
                <a:lnTo>
                  <a:pt x="110065" y="218594"/>
                </a:lnTo>
                <a:lnTo>
                  <a:pt x="132869" y="218594"/>
                </a:lnTo>
                <a:lnTo>
                  <a:pt x="172994" y="202745"/>
                </a:lnTo>
                <a:lnTo>
                  <a:pt x="203746" y="173483"/>
                </a:lnTo>
                <a:lnTo>
                  <a:pt x="221270" y="134308"/>
                </a:lnTo>
                <a:lnTo>
                  <a:pt x="223914" y="112288"/>
                </a:lnTo>
                <a:lnTo>
                  <a:pt x="223541" y="101005"/>
                </a:lnTo>
                <a:lnTo>
                  <a:pt x="205840" y="50177"/>
                </a:lnTo>
                <a:lnTo>
                  <a:pt x="176081" y="19876"/>
                </a:lnTo>
                <a:lnTo>
                  <a:pt x="136348" y="2622"/>
                </a:lnTo>
                <a:lnTo>
                  <a:pt x="130230" y="1910"/>
                </a:lnTo>
                <a:close/>
              </a:path>
              <a:path w="224154" h="220979">
                <a:moveTo>
                  <a:pt x="113837" y="2547"/>
                </a:moveTo>
                <a:lnTo>
                  <a:pt x="71094" y="10270"/>
                </a:lnTo>
                <a:lnTo>
                  <a:pt x="35911" y="32748"/>
                </a:lnTo>
                <a:lnTo>
                  <a:pt x="11869" y="66573"/>
                </a:lnTo>
                <a:lnTo>
                  <a:pt x="2546" y="108216"/>
                </a:lnTo>
                <a:lnTo>
                  <a:pt x="2923" y="119499"/>
                </a:lnTo>
                <a:lnTo>
                  <a:pt x="20172" y="168880"/>
                </a:lnTo>
                <a:lnTo>
                  <a:pt x="49217" y="198490"/>
                </a:lnTo>
                <a:lnTo>
                  <a:pt x="88059" y="215383"/>
                </a:lnTo>
                <a:lnTo>
                  <a:pt x="110077" y="217956"/>
                </a:lnTo>
                <a:lnTo>
                  <a:pt x="117888" y="217318"/>
                </a:lnTo>
                <a:lnTo>
                  <a:pt x="110088" y="217318"/>
                </a:lnTo>
                <a:lnTo>
                  <a:pt x="88196" y="214759"/>
                </a:lnTo>
                <a:lnTo>
                  <a:pt x="49579" y="197966"/>
                </a:lnTo>
                <a:lnTo>
                  <a:pt x="20704" y="168530"/>
                </a:lnTo>
                <a:lnTo>
                  <a:pt x="5001" y="129928"/>
                </a:lnTo>
                <a:lnTo>
                  <a:pt x="3183" y="108216"/>
                </a:lnTo>
                <a:lnTo>
                  <a:pt x="3912" y="97496"/>
                </a:lnTo>
                <a:lnTo>
                  <a:pt x="22793" y="48825"/>
                </a:lnTo>
                <a:lnTo>
                  <a:pt x="52678" y="20415"/>
                </a:lnTo>
                <a:lnTo>
                  <a:pt x="91857" y="4979"/>
                </a:lnTo>
                <a:lnTo>
                  <a:pt x="113826" y="3186"/>
                </a:lnTo>
                <a:lnTo>
                  <a:pt x="119301" y="3186"/>
                </a:lnTo>
                <a:lnTo>
                  <a:pt x="113837" y="2547"/>
                </a:lnTo>
                <a:close/>
              </a:path>
              <a:path w="224154" h="220979">
                <a:moveTo>
                  <a:pt x="119301" y="3186"/>
                </a:moveTo>
                <a:lnTo>
                  <a:pt x="113826" y="3186"/>
                </a:lnTo>
                <a:lnTo>
                  <a:pt x="135718" y="5745"/>
                </a:lnTo>
                <a:lnTo>
                  <a:pt x="156029" y="12341"/>
                </a:lnTo>
                <a:lnTo>
                  <a:pt x="190205" y="35895"/>
                </a:lnTo>
                <a:lnTo>
                  <a:pt x="212918" y="70333"/>
                </a:lnTo>
                <a:lnTo>
                  <a:pt x="220613" y="108216"/>
                </a:lnTo>
                <a:lnTo>
                  <a:pt x="220731" y="112288"/>
                </a:lnTo>
                <a:lnTo>
                  <a:pt x="220002" y="123008"/>
                </a:lnTo>
                <a:lnTo>
                  <a:pt x="201119" y="171678"/>
                </a:lnTo>
                <a:lnTo>
                  <a:pt x="171236" y="200089"/>
                </a:lnTo>
                <a:lnTo>
                  <a:pt x="132057" y="215525"/>
                </a:lnTo>
                <a:lnTo>
                  <a:pt x="110088" y="217318"/>
                </a:lnTo>
                <a:lnTo>
                  <a:pt x="117888" y="217318"/>
                </a:lnTo>
                <a:lnTo>
                  <a:pt x="171592" y="200616"/>
                </a:lnTo>
                <a:lnTo>
                  <a:pt x="201640" y="172049"/>
                </a:lnTo>
                <a:lnTo>
                  <a:pt x="218728" y="133960"/>
                </a:lnTo>
                <a:lnTo>
                  <a:pt x="221368" y="112288"/>
                </a:lnTo>
                <a:lnTo>
                  <a:pt x="220991" y="101005"/>
                </a:lnTo>
                <a:lnTo>
                  <a:pt x="203742" y="51622"/>
                </a:lnTo>
                <a:lnTo>
                  <a:pt x="174697" y="22012"/>
                </a:lnTo>
                <a:lnTo>
                  <a:pt x="135855" y="5121"/>
                </a:lnTo>
                <a:lnTo>
                  <a:pt x="119301" y="31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 rot="60000">
            <a:off x="3186155" y="3458222"/>
            <a:ext cx="213273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0"/>
              </a:lnSpc>
            </a:pPr>
            <a:r>
              <a:rPr dirty="0" sz="1600">
                <a:solidFill>
                  <a:srgbClr val="FFFFFF"/>
                </a:solidFill>
                <a:latin typeface="Cambria Math"/>
                <a:cs typeface="Cambria Math"/>
              </a:rPr>
              <a:t>𝑖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7492" y="4777232"/>
            <a:ext cx="2467610" cy="67818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 indent="424815">
              <a:lnSpc>
                <a:spcPct val="103800"/>
              </a:lnSpc>
              <a:spcBef>
                <a:spcPts val="5"/>
              </a:spcBef>
            </a:pPr>
            <a:r>
              <a:rPr dirty="0" sz="2100" spc="-5">
                <a:solidFill>
                  <a:srgbClr val="C00000"/>
                </a:solidFill>
                <a:latin typeface="Calibri"/>
                <a:cs typeface="Calibri"/>
              </a:rPr>
              <a:t>Propagate </a:t>
            </a:r>
            <a:r>
              <a:rPr dirty="0" sz="2100" spc="0">
                <a:solidFill>
                  <a:srgbClr val="C00000"/>
                </a:solidFill>
                <a:latin typeface="Calibri"/>
                <a:cs typeface="Calibri"/>
              </a:rPr>
              <a:t>and  </a:t>
            </a:r>
            <a:r>
              <a:rPr dirty="0" sz="2100" spc="-10">
                <a:solidFill>
                  <a:srgbClr val="C00000"/>
                </a:solidFill>
                <a:latin typeface="Calibri"/>
                <a:cs typeface="Calibri"/>
              </a:rPr>
              <a:t>transform</a:t>
            </a:r>
            <a:r>
              <a:rPr dirty="0" sz="2100" spc="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 spc="-5">
                <a:solidFill>
                  <a:srgbClr val="C00000"/>
                </a:solidFill>
                <a:latin typeface="Calibri"/>
                <a:cs typeface="Calibri"/>
              </a:rPr>
              <a:t>information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43598" y="3497737"/>
            <a:ext cx="182880" cy="179705"/>
          </a:xfrm>
          <a:custGeom>
            <a:avLst/>
            <a:gdLst/>
            <a:ahLst/>
            <a:cxnLst/>
            <a:rect l="l" t="t" r="r" b="b"/>
            <a:pathLst>
              <a:path w="182879" h="179704">
                <a:moveTo>
                  <a:pt x="91258" y="0"/>
                </a:moveTo>
                <a:lnTo>
                  <a:pt x="55736" y="7060"/>
                </a:lnTo>
                <a:lnTo>
                  <a:pt x="26729" y="26314"/>
                </a:lnTo>
                <a:lnTo>
                  <a:pt x="7171" y="54871"/>
                </a:lnTo>
                <a:lnTo>
                  <a:pt x="0" y="89842"/>
                </a:lnTo>
                <a:lnTo>
                  <a:pt x="7171" y="124813"/>
                </a:lnTo>
                <a:lnTo>
                  <a:pt x="26729" y="153371"/>
                </a:lnTo>
                <a:lnTo>
                  <a:pt x="55736" y="172625"/>
                </a:lnTo>
                <a:lnTo>
                  <a:pt x="91258" y="179685"/>
                </a:lnTo>
                <a:lnTo>
                  <a:pt x="126780" y="172625"/>
                </a:lnTo>
                <a:lnTo>
                  <a:pt x="155788" y="153371"/>
                </a:lnTo>
                <a:lnTo>
                  <a:pt x="175345" y="124813"/>
                </a:lnTo>
                <a:lnTo>
                  <a:pt x="182516" y="89842"/>
                </a:lnTo>
                <a:lnTo>
                  <a:pt x="175345" y="54871"/>
                </a:lnTo>
                <a:lnTo>
                  <a:pt x="155788" y="26314"/>
                </a:lnTo>
                <a:lnTo>
                  <a:pt x="126780" y="7060"/>
                </a:lnTo>
                <a:lnTo>
                  <a:pt x="912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42019" y="3496147"/>
            <a:ext cx="186055" cy="182880"/>
          </a:xfrm>
          <a:custGeom>
            <a:avLst/>
            <a:gdLst/>
            <a:ahLst/>
            <a:cxnLst/>
            <a:rect l="l" t="t" r="r" b="b"/>
            <a:pathLst>
              <a:path w="186054" h="182879">
                <a:moveTo>
                  <a:pt x="92890" y="0"/>
                </a:moveTo>
                <a:lnTo>
                  <a:pt x="40891" y="15637"/>
                </a:lnTo>
                <a:lnTo>
                  <a:pt x="7268" y="55883"/>
                </a:lnTo>
                <a:lnTo>
                  <a:pt x="0" y="91271"/>
                </a:lnTo>
                <a:lnTo>
                  <a:pt x="11" y="91594"/>
                </a:lnTo>
                <a:lnTo>
                  <a:pt x="15881" y="142607"/>
                </a:lnTo>
                <a:lnTo>
                  <a:pt x="56752" y="175704"/>
                </a:lnTo>
                <a:lnTo>
                  <a:pt x="92785" y="182866"/>
                </a:lnTo>
                <a:lnTo>
                  <a:pt x="111592" y="181000"/>
                </a:lnTo>
                <a:lnTo>
                  <a:pt x="111733" y="180957"/>
                </a:lnTo>
                <a:lnTo>
                  <a:pt x="92837" y="180957"/>
                </a:lnTo>
                <a:lnTo>
                  <a:pt x="74508" y="179138"/>
                </a:lnTo>
                <a:lnTo>
                  <a:pt x="28532" y="154734"/>
                </a:lnTo>
                <a:lnTo>
                  <a:pt x="3850" y="109808"/>
                </a:lnTo>
                <a:lnTo>
                  <a:pt x="1915" y="91271"/>
                </a:lnTo>
                <a:lnTo>
                  <a:pt x="3745" y="73390"/>
                </a:lnTo>
                <a:lnTo>
                  <a:pt x="28532" y="28131"/>
                </a:lnTo>
                <a:lnTo>
                  <a:pt x="74508" y="3727"/>
                </a:lnTo>
                <a:lnTo>
                  <a:pt x="92837" y="1908"/>
                </a:lnTo>
                <a:lnTo>
                  <a:pt x="111699" y="1908"/>
                </a:lnTo>
                <a:lnTo>
                  <a:pt x="111491" y="1845"/>
                </a:lnTo>
                <a:lnTo>
                  <a:pt x="92890" y="0"/>
                </a:lnTo>
                <a:close/>
              </a:path>
              <a:path w="186054" h="182879">
                <a:moveTo>
                  <a:pt x="111699" y="1908"/>
                </a:moveTo>
                <a:lnTo>
                  <a:pt x="92837" y="1908"/>
                </a:lnTo>
                <a:lnTo>
                  <a:pt x="111167" y="3727"/>
                </a:lnTo>
                <a:lnTo>
                  <a:pt x="128237" y="8944"/>
                </a:lnTo>
                <a:lnTo>
                  <a:pt x="168247" y="41380"/>
                </a:lnTo>
                <a:lnTo>
                  <a:pt x="183760" y="91271"/>
                </a:lnTo>
                <a:lnTo>
                  <a:pt x="183760" y="91594"/>
                </a:lnTo>
                <a:lnTo>
                  <a:pt x="168247" y="141485"/>
                </a:lnTo>
                <a:lnTo>
                  <a:pt x="128237" y="173921"/>
                </a:lnTo>
                <a:lnTo>
                  <a:pt x="92837" y="180957"/>
                </a:lnTo>
                <a:lnTo>
                  <a:pt x="111733" y="180957"/>
                </a:lnTo>
                <a:lnTo>
                  <a:pt x="158519" y="156058"/>
                </a:lnTo>
                <a:lnTo>
                  <a:pt x="183776" y="109914"/>
                </a:lnTo>
                <a:lnTo>
                  <a:pt x="185675" y="91594"/>
                </a:lnTo>
                <a:lnTo>
                  <a:pt x="185675" y="91271"/>
                </a:lnTo>
                <a:lnTo>
                  <a:pt x="169793" y="40259"/>
                </a:lnTo>
                <a:lnTo>
                  <a:pt x="128921" y="7161"/>
                </a:lnTo>
                <a:lnTo>
                  <a:pt x="111699" y="1908"/>
                </a:lnTo>
                <a:close/>
              </a:path>
              <a:path w="186054" h="182879">
                <a:moveTo>
                  <a:pt x="92837" y="2546"/>
                </a:moveTo>
                <a:lnTo>
                  <a:pt x="42343" y="17730"/>
                </a:lnTo>
                <a:lnTo>
                  <a:pt x="9630" y="56838"/>
                </a:lnTo>
                <a:lnTo>
                  <a:pt x="2553" y="91271"/>
                </a:lnTo>
                <a:lnTo>
                  <a:pt x="2553" y="91594"/>
                </a:lnTo>
                <a:lnTo>
                  <a:pt x="17954" y="141124"/>
                </a:lnTo>
                <a:lnTo>
                  <a:pt x="57682" y="173332"/>
                </a:lnTo>
                <a:lnTo>
                  <a:pt x="92837" y="180319"/>
                </a:lnTo>
                <a:lnTo>
                  <a:pt x="99272" y="179680"/>
                </a:lnTo>
                <a:lnTo>
                  <a:pt x="92837" y="179680"/>
                </a:lnTo>
                <a:lnTo>
                  <a:pt x="74758" y="177887"/>
                </a:lnTo>
                <a:lnTo>
                  <a:pt x="29427" y="153826"/>
                </a:lnTo>
                <a:lnTo>
                  <a:pt x="4996" y="109216"/>
                </a:lnTo>
                <a:lnTo>
                  <a:pt x="3191" y="91271"/>
                </a:lnTo>
                <a:lnTo>
                  <a:pt x="4996" y="73649"/>
                </a:lnTo>
                <a:lnTo>
                  <a:pt x="29427" y="29039"/>
                </a:lnTo>
                <a:lnTo>
                  <a:pt x="74758" y="4978"/>
                </a:lnTo>
                <a:lnTo>
                  <a:pt x="92837" y="3185"/>
                </a:lnTo>
                <a:lnTo>
                  <a:pt x="99272" y="3185"/>
                </a:lnTo>
                <a:lnTo>
                  <a:pt x="92837" y="2546"/>
                </a:lnTo>
                <a:close/>
              </a:path>
              <a:path w="186054" h="182879">
                <a:moveTo>
                  <a:pt x="99272" y="3185"/>
                </a:moveTo>
                <a:lnTo>
                  <a:pt x="92837" y="3185"/>
                </a:lnTo>
                <a:lnTo>
                  <a:pt x="110915" y="4978"/>
                </a:lnTo>
                <a:lnTo>
                  <a:pt x="127748" y="10123"/>
                </a:lnTo>
                <a:lnTo>
                  <a:pt x="167194" y="42101"/>
                </a:lnTo>
                <a:lnTo>
                  <a:pt x="182484" y="91271"/>
                </a:lnTo>
                <a:lnTo>
                  <a:pt x="182484" y="91594"/>
                </a:lnTo>
                <a:lnTo>
                  <a:pt x="167194" y="140764"/>
                </a:lnTo>
                <a:lnTo>
                  <a:pt x="127748" y="172742"/>
                </a:lnTo>
                <a:lnTo>
                  <a:pt x="92837" y="179680"/>
                </a:lnTo>
                <a:lnTo>
                  <a:pt x="99272" y="179680"/>
                </a:lnTo>
                <a:lnTo>
                  <a:pt x="143331" y="165135"/>
                </a:lnTo>
                <a:lnTo>
                  <a:pt x="176045" y="126027"/>
                </a:lnTo>
                <a:lnTo>
                  <a:pt x="183121" y="91271"/>
                </a:lnTo>
                <a:lnTo>
                  <a:pt x="181317" y="73649"/>
                </a:lnTo>
                <a:lnTo>
                  <a:pt x="156695" y="28586"/>
                </a:lnTo>
                <a:lnTo>
                  <a:pt x="111041" y="4353"/>
                </a:lnTo>
                <a:lnTo>
                  <a:pt x="99272" y="31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965737" y="3441700"/>
            <a:ext cx="901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Cambria Math"/>
                <a:cs typeface="Cambria Math"/>
              </a:rPr>
              <a:t>𝑖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8055" y="5560059"/>
            <a:ext cx="7228205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150620" marR="5080" indent="-1138555">
              <a:lnSpc>
                <a:spcPct val="101400"/>
              </a:lnSpc>
              <a:spcBef>
                <a:spcPts val="50"/>
              </a:spcBef>
            </a:pPr>
            <a:r>
              <a:rPr dirty="0" sz="2800" spc="-5" b="1">
                <a:solidFill>
                  <a:srgbClr val="0070C0"/>
                </a:solidFill>
                <a:latin typeface="Corbel"/>
                <a:cs typeface="Corbel"/>
              </a:rPr>
              <a:t>Learn how </a:t>
            </a:r>
            <a:r>
              <a:rPr dirty="0" sz="2800" b="1">
                <a:solidFill>
                  <a:srgbClr val="0070C0"/>
                </a:solidFill>
                <a:latin typeface="Corbel"/>
                <a:cs typeface="Corbel"/>
              </a:rPr>
              <a:t>to </a:t>
            </a:r>
            <a:r>
              <a:rPr dirty="0" sz="2800" spc="-5" b="1">
                <a:solidFill>
                  <a:srgbClr val="0070C0"/>
                </a:solidFill>
                <a:latin typeface="Corbel"/>
                <a:cs typeface="Corbel"/>
              </a:rPr>
              <a:t>propagate information across </a:t>
            </a:r>
            <a:r>
              <a:rPr dirty="0" sz="2800" spc="-10" b="1">
                <a:solidFill>
                  <a:srgbClr val="0070C0"/>
                </a:solidFill>
                <a:latin typeface="Corbel"/>
                <a:cs typeface="Corbel"/>
              </a:rPr>
              <a:t>the  </a:t>
            </a:r>
            <a:r>
              <a:rPr dirty="0" sz="2800" spc="-5" b="1">
                <a:solidFill>
                  <a:srgbClr val="0070C0"/>
                </a:solidFill>
                <a:latin typeface="Corbel"/>
                <a:cs typeface="Corbel"/>
              </a:rPr>
              <a:t>graph </a:t>
            </a:r>
            <a:r>
              <a:rPr dirty="0" sz="2800" b="1">
                <a:solidFill>
                  <a:srgbClr val="0070C0"/>
                </a:solidFill>
                <a:latin typeface="Corbel"/>
                <a:cs typeface="Corbel"/>
              </a:rPr>
              <a:t>to </a:t>
            </a:r>
            <a:r>
              <a:rPr dirty="0" sz="2800" spc="-5" b="1">
                <a:solidFill>
                  <a:srgbClr val="0070C0"/>
                </a:solidFill>
                <a:latin typeface="Corbel"/>
                <a:cs typeface="Corbel"/>
              </a:rPr>
              <a:t>compute node</a:t>
            </a:r>
            <a:r>
              <a:rPr dirty="0" sz="2800" spc="-40" b="1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dirty="0" sz="2800" spc="-5" b="1">
                <a:solidFill>
                  <a:srgbClr val="0070C0"/>
                </a:solidFill>
                <a:latin typeface="Corbel"/>
                <a:cs typeface="Corbel"/>
              </a:rPr>
              <a:t>features</a:t>
            </a:r>
            <a:endParaRPr sz="2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1779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D60093"/>
                </a:solidFill>
              </a:rPr>
              <a:t>Intuition: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Nodes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aggregate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information from 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their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neighbors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using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neural</a:t>
            </a:r>
            <a:r>
              <a:rPr dirty="0" spc="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networks</a:t>
            </a:r>
          </a:p>
        </p:txBody>
      </p:sp>
      <p:sp>
        <p:nvSpPr>
          <p:cNvPr id="3" name="object 3"/>
          <p:cNvSpPr/>
          <p:nvPr/>
        </p:nvSpPr>
        <p:spPr>
          <a:xfrm>
            <a:off x="4668711" y="4313521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4" y="0"/>
                </a:moveTo>
                <a:lnTo>
                  <a:pt x="0" y="64476"/>
                </a:lnTo>
                <a:lnTo>
                  <a:pt x="128954" y="128954"/>
                </a:lnTo>
                <a:lnTo>
                  <a:pt x="128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41561" y="3973597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796183"/>
                </a:moveTo>
                <a:lnTo>
                  <a:pt x="876282" y="796183"/>
                </a:lnTo>
                <a:lnTo>
                  <a:pt x="876282" y="0"/>
                </a:lnTo>
                <a:lnTo>
                  <a:pt x="0" y="0"/>
                </a:lnTo>
                <a:lnTo>
                  <a:pt x="0" y="796183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41561" y="3973597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0"/>
                </a:moveTo>
                <a:lnTo>
                  <a:pt x="876282" y="0"/>
                </a:lnTo>
                <a:lnTo>
                  <a:pt x="876282" y="796184"/>
                </a:lnTo>
                <a:lnTo>
                  <a:pt x="0" y="796184"/>
                </a:lnTo>
                <a:lnTo>
                  <a:pt x="0" y="0"/>
                </a:lnTo>
                <a:close/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07083" y="4668251"/>
            <a:ext cx="703580" cy="451484"/>
          </a:xfrm>
          <a:custGeom>
            <a:avLst/>
            <a:gdLst/>
            <a:ahLst/>
            <a:cxnLst/>
            <a:rect l="l" t="t" r="r" b="b"/>
            <a:pathLst>
              <a:path w="703580" h="451485">
                <a:moveTo>
                  <a:pt x="0" y="439768"/>
                </a:moveTo>
                <a:lnTo>
                  <a:pt x="695820" y="0"/>
                </a:lnTo>
                <a:lnTo>
                  <a:pt x="702996" y="11355"/>
                </a:lnTo>
                <a:lnTo>
                  <a:pt x="7176" y="451123"/>
                </a:lnTo>
                <a:lnTo>
                  <a:pt x="0" y="4397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30302" y="4381568"/>
            <a:ext cx="970915" cy="0"/>
          </a:xfrm>
          <a:custGeom>
            <a:avLst/>
            <a:gdLst/>
            <a:ahLst/>
            <a:cxnLst/>
            <a:rect l="l" t="t" r="r" b="b"/>
            <a:pathLst>
              <a:path w="970915" h="0">
                <a:moveTo>
                  <a:pt x="0" y="0"/>
                </a:moveTo>
                <a:lnTo>
                  <a:pt x="13432" y="0"/>
                </a:lnTo>
                <a:lnTo>
                  <a:pt x="970700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14781" y="4317090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3" y="0"/>
                </a:moveTo>
                <a:lnTo>
                  <a:pt x="0" y="64477"/>
                </a:lnTo>
                <a:lnTo>
                  <a:pt x="128953" y="128954"/>
                </a:lnTo>
                <a:lnTo>
                  <a:pt x="12895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19413" y="4592381"/>
            <a:ext cx="865505" cy="728980"/>
          </a:xfrm>
          <a:custGeom>
            <a:avLst/>
            <a:gdLst/>
            <a:ahLst/>
            <a:cxnLst/>
            <a:rect l="l" t="t" r="r" b="b"/>
            <a:pathLst>
              <a:path w="865504" h="728979">
                <a:moveTo>
                  <a:pt x="0" y="0"/>
                </a:moveTo>
                <a:lnTo>
                  <a:pt x="10273" y="8654"/>
                </a:lnTo>
                <a:lnTo>
                  <a:pt x="864975" y="728624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31061" y="4517956"/>
            <a:ext cx="140335" cy="132715"/>
          </a:xfrm>
          <a:custGeom>
            <a:avLst/>
            <a:gdLst/>
            <a:ahLst/>
            <a:cxnLst/>
            <a:rect l="l" t="t" r="r" b="b"/>
            <a:pathLst>
              <a:path w="140335" h="132714">
                <a:moveTo>
                  <a:pt x="0" y="0"/>
                </a:moveTo>
                <a:lnTo>
                  <a:pt x="57086" y="132391"/>
                </a:lnTo>
                <a:lnTo>
                  <a:pt x="140164" y="3376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21767" y="3384147"/>
            <a:ext cx="963930" cy="760095"/>
          </a:xfrm>
          <a:custGeom>
            <a:avLst/>
            <a:gdLst/>
            <a:ahLst/>
            <a:cxnLst/>
            <a:rect l="l" t="t" r="r" b="b"/>
            <a:pathLst>
              <a:path w="963929" h="760095">
                <a:moveTo>
                  <a:pt x="0" y="760034"/>
                </a:moveTo>
                <a:lnTo>
                  <a:pt x="10547" y="751716"/>
                </a:lnTo>
                <a:lnTo>
                  <a:pt x="963693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831061" y="4085238"/>
            <a:ext cx="141605" cy="130810"/>
          </a:xfrm>
          <a:custGeom>
            <a:avLst/>
            <a:gdLst/>
            <a:ahLst/>
            <a:cxnLst/>
            <a:rect l="l" t="t" r="r" b="b"/>
            <a:pathLst>
              <a:path w="141604" h="130810">
                <a:moveTo>
                  <a:pt x="61325" y="0"/>
                </a:moveTo>
                <a:lnTo>
                  <a:pt x="0" y="130481"/>
                </a:lnTo>
                <a:lnTo>
                  <a:pt x="141182" y="101253"/>
                </a:lnTo>
                <a:lnTo>
                  <a:pt x="6132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66686" y="2916941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299008" y="0"/>
                </a:moveTo>
                <a:lnTo>
                  <a:pt x="0" y="85738"/>
                </a:lnTo>
                <a:lnTo>
                  <a:pt x="94053" y="413738"/>
                </a:lnTo>
                <a:lnTo>
                  <a:pt x="393059" y="328000"/>
                </a:lnTo>
                <a:lnTo>
                  <a:pt x="29900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66686" y="2916940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0" y="85739"/>
                </a:moveTo>
                <a:lnTo>
                  <a:pt x="299008" y="0"/>
                </a:lnTo>
                <a:lnTo>
                  <a:pt x="393060" y="327998"/>
                </a:lnTo>
                <a:lnTo>
                  <a:pt x="94052" y="413738"/>
                </a:lnTo>
                <a:lnTo>
                  <a:pt x="0" y="85739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799077" y="2723895"/>
            <a:ext cx="751840" cy="290830"/>
          </a:xfrm>
          <a:custGeom>
            <a:avLst/>
            <a:gdLst/>
            <a:ahLst/>
            <a:cxnLst/>
            <a:rect l="l" t="t" r="r" b="b"/>
            <a:pathLst>
              <a:path w="751840" h="290830">
                <a:moveTo>
                  <a:pt x="0" y="290642"/>
                </a:moveTo>
                <a:lnTo>
                  <a:pt x="6264" y="288220"/>
                </a:lnTo>
                <a:lnTo>
                  <a:pt x="751708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730168" y="2974529"/>
            <a:ext cx="90170" cy="75565"/>
          </a:xfrm>
          <a:custGeom>
            <a:avLst/>
            <a:gdLst/>
            <a:ahLst/>
            <a:cxnLst/>
            <a:rect l="l" t="t" r="r" b="b"/>
            <a:pathLst>
              <a:path w="90170" h="75564">
                <a:moveTo>
                  <a:pt x="60639" y="0"/>
                </a:moveTo>
                <a:lnTo>
                  <a:pt x="0" y="66652"/>
                </a:lnTo>
                <a:lnTo>
                  <a:pt x="89706" y="75173"/>
                </a:lnTo>
                <a:lnTo>
                  <a:pt x="6063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37489" y="3173164"/>
            <a:ext cx="78105" cy="25400"/>
          </a:xfrm>
          <a:custGeom>
            <a:avLst/>
            <a:gdLst/>
            <a:ahLst/>
            <a:cxnLst/>
            <a:rect l="l" t="t" r="r" b="b"/>
            <a:pathLst>
              <a:path w="78104" h="25400">
                <a:moveTo>
                  <a:pt x="78082" y="0"/>
                </a:moveTo>
                <a:lnTo>
                  <a:pt x="12782" y="21082"/>
                </a:lnTo>
                <a:lnTo>
                  <a:pt x="0" y="25209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227555" y="3132889"/>
            <a:ext cx="142875" cy="123189"/>
          </a:xfrm>
          <a:custGeom>
            <a:avLst/>
            <a:gdLst/>
            <a:ahLst/>
            <a:cxnLst/>
            <a:rect l="l" t="t" r="r" b="b"/>
            <a:pathLst>
              <a:path w="142875" h="123189">
                <a:moveTo>
                  <a:pt x="102906" y="0"/>
                </a:moveTo>
                <a:lnTo>
                  <a:pt x="0" y="100978"/>
                </a:lnTo>
                <a:lnTo>
                  <a:pt x="142527" y="122717"/>
                </a:lnTo>
                <a:lnTo>
                  <a:pt x="102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96346" y="4128573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310868" y="0"/>
                </a:moveTo>
                <a:lnTo>
                  <a:pt x="0" y="10857"/>
                </a:lnTo>
                <a:lnTo>
                  <a:pt x="11907" y="351866"/>
                </a:lnTo>
                <a:lnTo>
                  <a:pt x="322775" y="341010"/>
                </a:lnTo>
                <a:lnTo>
                  <a:pt x="31086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96346" y="4128574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0" y="10855"/>
                </a:moveTo>
                <a:lnTo>
                  <a:pt x="310868" y="0"/>
                </a:lnTo>
                <a:lnTo>
                  <a:pt x="322776" y="341009"/>
                </a:lnTo>
                <a:lnTo>
                  <a:pt x="11908" y="351865"/>
                </a:lnTo>
                <a:lnTo>
                  <a:pt x="0" y="10855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20676" y="4316676"/>
            <a:ext cx="81915" cy="5715"/>
          </a:xfrm>
          <a:custGeom>
            <a:avLst/>
            <a:gdLst/>
            <a:ahLst/>
            <a:cxnLst/>
            <a:rect l="l" t="t" r="r" b="b"/>
            <a:pathLst>
              <a:path w="81915" h="5714">
                <a:moveTo>
                  <a:pt x="81861" y="0"/>
                </a:moveTo>
                <a:lnTo>
                  <a:pt x="13401" y="4659"/>
                </a:lnTo>
                <a:lnTo>
                  <a:pt x="0" y="5571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05422" y="4257008"/>
            <a:ext cx="133350" cy="128905"/>
          </a:xfrm>
          <a:custGeom>
            <a:avLst/>
            <a:gdLst/>
            <a:ahLst/>
            <a:cxnLst/>
            <a:rect l="l" t="t" r="r" b="b"/>
            <a:pathLst>
              <a:path w="133350" h="128904">
                <a:moveTo>
                  <a:pt x="124277" y="0"/>
                </a:moveTo>
                <a:lnTo>
                  <a:pt x="0" y="73084"/>
                </a:lnTo>
                <a:lnTo>
                  <a:pt x="133033" y="128657"/>
                </a:lnTo>
                <a:lnTo>
                  <a:pt x="124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90335" y="5243736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7" y="0"/>
                </a:moveTo>
                <a:lnTo>
                  <a:pt x="0" y="331792"/>
                </a:lnTo>
                <a:lnTo>
                  <a:pt x="302467" y="404392"/>
                </a:lnTo>
                <a:lnTo>
                  <a:pt x="382104" y="72599"/>
                </a:lnTo>
                <a:lnTo>
                  <a:pt x="7963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90334" y="5243736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8" y="0"/>
                </a:moveTo>
                <a:lnTo>
                  <a:pt x="382105" y="72599"/>
                </a:lnTo>
                <a:lnTo>
                  <a:pt x="302466" y="404392"/>
                </a:lnTo>
                <a:lnTo>
                  <a:pt x="0" y="331793"/>
                </a:lnTo>
                <a:lnTo>
                  <a:pt x="79638" y="0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707217" y="5509901"/>
            <a:ext cx="653415" cy="157480"/>
          </a:xfrm>
          <a:custGeom>
            <a:avLst/>
            <a:gdLst/>
            <a:ahLst/>
            <a:cxnLst/>
            <a:rect l="l" t="t" r="r" b="b"/>
            <a:pathLst>
              <a:path w="653415" h="157479">
                <a:moveTo>
                  <a:pt x="0" y="0"/>
                </a:moveTo>
                <a:lnTo>
                  <a:pt x="6530" y="1570"/>
                </a:lnTo>
                <a:lnTo>
                  <a:pt x="653344" y="157081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35385" y="5472288"/>
            <a:ext cx="88265" cy="78740"/>
          </a:xfrm>
          <a:custGeom>
            <a:avLst/>
            <a:gdLst/>
            <a:ahLst/>
            <a:cxnLst/>
            <a:rect l="l" t="t" r="r" b="b"/>
            <a:pathLst>
              <a:path w="88265" h="78739">
                <a:moveTo>
                  <a:pt x="87783" y="0"/>
                </a:moveTo>
                <a:lnTo>
                  <a:pt x="0" y="20341"/>
                </a:lnTo>
                <a:lnTo>
                  <a:pt x="68943" y="78364"/>
                </a:lnTo>
                <a:lnTo>
                  <a:pt x="8778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248206" y="5399687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80373" y="16503"/>
                </a:moveTo>
                <a:lnTo>
                  <a:pt x="13158" y="2701"/>
                </a:lnTo>
                <a:lnTo>
                  <a:pt x="0" y="0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135046" y="5339229"/>
            <a:ext cx="139700" cy="126364"/>
          </a:xfrm>
          <a:custGeom>
            <a:avLst/>
            <a:gdLst/>
            <a:ahLst/>
            <a:cxnLst/>
            <a:rect l="l" t="t" r="r" b="b"/>
            <a:pathLst>
              <a:path w="139700" h="126364">
                <a:moveTo>
                  <a:pt x="139287" y="0"/>
                </a:moveTo>
                <a:lnTo>
                  <a:pt x="0" y="37221"/>
                </a:lnTo>
                <a:lnTo>
                  <a:pt x="113348" y="126319"/>
                </a:lnTo>
                <a:lnTo>
                  <a:pt x="139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90488" y="4463686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0"/>
                </a:moveTo>
                <a:lnTo>
                  <a:pt x="5487" y="3872"/>
                </a:lnTo>
                <a:lnTo>
                  <a:pt x="584294" y="412389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730128" y="4421084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0" y="0"/>
                </a:moveTo>
                <a:lnTo>
                  <a:pt x="42611" y="79397"/>
                </a:lnTo>
                <a:lnTo>
                  <a:pt x="89085" y="13550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819818" y="4361348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0"/>
                </a:moveTo>
                <a:lnTo>
                  <a:pt x="6434" y="1924"/>
                </a:lnTo>
                <a:lnTo>
                  <a:pt x="685173" y="20494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749035" y="4324666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765" y="0"/>
                </a:moveTo>
                <a:lnTo>
                  <a:pt x="0" y="15510"/>
                </a:lnTo>
                <a:lnTo>
                  <a:pt x="65669" y="77214"/>
                </a:lnTo>
                <a:lnTo>
                  <a:pt x="8876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93073" y="3768148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412389"/>
                </a:moveTo>
                <a:lnTo>
                  <a:pt x="5487" y="408516"/>
                </a:lnTo>
                <a:lnTo>
                  <a:pt x="584294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32712" y="4143742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42609" y="0"/>
                </a:moveTo>
                <a:lnTo>
                  <a:pt x="0" y="79397"/>
                </a:lnTo>
                <a:lnTo>
                  <a:pt x="89084" y="65846"/>
                </a:lnTo>
                <a:lnTo>
                  <a:pt x="4260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822403" y="4077930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204945"/>
                </a:moveTo>
                <a:lnTo>
                  <a:pt x="6434" y="203020"/>
                </a:lnTo>
                <a:lnTo>
                  <a:pt x="685173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751621" y="4242343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65667" y="0"/>
                </a:moveTo>
                <a:lnTo>
                  <a:pt x="0" y="61704"/>
                </a:lnTo>
                <a:lnTo>
                  <a:pt x="88765" y="77214"/>
                </a:lnTo>
                <a:lnTo>
                  <a:pt x="6566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008457" y="4066109"/>
            <a:ext cx="687070" cy="1033144"/>
          </a:xfrm>
          <a:custGeom>
            <a:avLst/>
            <a:gdLst/>
            <a:ahLst/>
            <a:cxnLst/>
            <a:rect l="l" t="t" r="r" b="b"/>
            <a:pathLst>
              <a:path w="687069" h="1033145">
                <a:moveTo>
                  <a:pt x="0" y="1025403"/>
                </a:moveTo>
                <a:lnTo>
                  <a:pt x="675821" y="0"/>
                </a:lnTo>
                <a:lnTo>
                  <a:pt x="687036" y="7392"/>
                </a:lnTo>
                <a:lnTo>
                  <a:pt x="11215" y="1032795"/>
                </a:lnTo>
                <a:lnTo>
                  <a:pt x="0" y="102540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189925" y="3968743"/>
            <a:ext cx="1515110" cy="137160"/>
          </a:xfrm>
          <a:custGeom>
            <a:avLst/>
            <a:gdLst/>
            <a:ahLst/>
            <a:cxnLst/>
            <a:rect l="l" t="t" r="r" b="b"/>
            <a:pathLst>
              <a:path w="1515110" h="137160">
                <a:moveTo>
                  <a:pt x="1090" y="0"/>
                </a:moveTo>
                <a:lnTo>
                  <a:pt x="1514947" y="123251"/>
                </a:lnTo>
                <a:lnTo>
                  <a:pt x="1513857" y="136639"/>
                </a:lnTo>
                <a:lnTo>
                  <a:pt x="0" y="13388"/>
                </a:lnTo>
                <a:lnTo>
                  <a:pt x="109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11673" y="3324031"/>
            <a:ext cx="337185" cy="777875"/>
          </a:xfrm>
          <a:custGeom>
            <a:avLst/>
            <a:gdLst/>
            <a:ahLst/>
            <a:cxnLst/>
            <a:rect l="l" t="t" r="r" b="b"/>
            <a:pathLst>
              <a:path w="337185" h="777875">
                <a:moveTo>
                  <a:pt x="12386" y="0"/>
                </a:moveTo>
                <a:lnTo>
                  <a:pt x="336607" y="772555"/>
                </a:lnTo>
                <a:lnTo>
                  <a:pt x="324221" y="777754"/>
                </a:lnTo>
                <a:lnTo>
                  <a:pt x="0" y="5198"/>
                </a:lnTo>
                <a:lnTo>
                  <a:pt x="1238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134940" y="3349341"/>
            <a:ext cx="1270" cy="344805"/>
          </a:xfrm>
          <a:custGeom>
            <a:avLst/>
            <a:gdLst/>
            <a:ahLst/>
            <a:cxnLst/>
            <a:rect l="l" t="t" r="r" b="b"/>
            <a:pathLst>
              <a:path w="1269" h="344804">
                <a:moveTo>
                  <a:pt x="0" y="0"/>
                </a:moveTo>
                <a:lnTo>
                  <a:pt x="1147" y="338007"/>
                </a:lnTo>
                <a:lnTo>
                  <a:pt x="1169" y="344723"/>
                </a:lnTo>
              </a:path>
            </a:pathLst>
          </a:custGeom>
          <a:ln w="13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095789" y="3687211"/>
            <a:ext cx="80645" cy="81280"/>
          </a:xfrm>
          <a:custGeom>
            <a:avLst/>
            <a:gdLst/>
            <a:ahLst/>
            <a:cxnLst/>
            <a:rect l="l" t="t" r="r" b="b"/>
            <a:pathLst>
              <a:path w="80644" h="81279">
                <a:moveTo>
                  <a:pt x="80595" y="0"/>
                </a:moveTo>
                <a:lnTo>
                  <a:pt x="0" y="273"/>
                </a:lnTo>
                <a:lnTo>
                  <a:pt x="40571" y="80732"/>
                </a:lnTo>
                <a:lnTo>
                  <a:pt x="80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83468" y="3118889"/>
            <a:ext cx="10674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40">
                <a:latin typeface="Arial"/>
                <a:cs typeface="Arial"/>
              </a:rPr>
              <a:t>TARGET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0">
                <a:latin typeface="Arial"/>
                <a:cs typeface="Arial"/>
              </a:rPr>
              <a:t>NODE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68385" y="3305397"/>
            <a:ext cx="1108710" cy="652145"/>
          </a:xfrm>
          <a:custGeom>
            <a:avLst/>
            <a:gdLst/>
            <a:ahLst/>
            <a:cxnLst/>
            <a:rect l="l" t="t" r="r" b="b"/>
            <a:pathLst>
              <a:path w="1108710" h="652145">
                <a:moveTo>
                  <a:pt x="1108298" y="11613"/>
                </a:moveTo>
                <a:lnTo>
                  <a:pt x="6750" y="651955"/>
                </a:lnTo>
                <a:lnTo>
                  <a:pt x="0" y="640342"/>
                </a:lnTo>
                <a:lnTo>
                  <a:pt x="1101547" y="0"/>
                </a:lnTo>
                <a:lnTo>
                  <a:pt x="1108298" y="1161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144956" y="313526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222259" y="3108143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64765" y="4032711"/>
            <a:ext cx="409575" cy="883919"/>
          </a:xfrm>
          <a:custGeom>
            <a:avLst/>
            <a:gdLst/>
            <a:ahLst/>
            <a:cxnLst/>
            <a:rect l="l" t="t" r="r" b="b"/>
            <a:pathLst>
              <a:path w="409575" h="883920">
                <a:moveTo>
                  <a:pt x="409552" y="5537"/>
                </a:moveTo>
                <a:lnTo>
                  <a:pt x="12238" y="883703"/>
                </a:lnTo>
                <a:lnTo>
                  <a:pt x="0" y="878165"/>
                </a:lnTo>
                <a:lnTo>
                  <a:pt x="397314" y="0"/>
                </a:lnTo>
                <a:lnTo>
                  <a:pt x="409552" y="5537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09423" y="471575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869460" y="499028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784959" y="4636785"/>
            <a:ext cx="1569720" cy="110617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  <a:p>
            <a:pPr marL="1167765">
              <a:lnSpc>
                <a:spcPct val="100000"/>
              </a:lnSpc>
              <a:spcBef>
                <a:spcPts val="48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Times New Roman"/>
              <a:cs typeface="Times New Roman"/>
            </a:endParaRPr>
          </a:p>
          <a:p>
            <a:pPr marL="509270">
              <a:lnSpc>
                <a:spcPct val="100000"/>
              </a:lnSpc>
              <a:spcBef>
                <a:spcPts val="5"/>
              </a:spcBef>
            </a:pPr>
            <a:r>
              <a:rPr dirty="0" sz="1150" spc="10" b="1">
                <a:latin typeface="Arial"/>
                <a:cs typeface="Arial"/>
              </a:rPr>
              <a:t>INPUT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15" b="1">
                <a:latin typeface="Arial"/>
                <a:cs typeface="Arial"/>
              </a:rPr>
              <a:t>GRAPH</a:t>
            </a:r>
            <a:endParaRPr sz="11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00077" y="4157907"/>
            <a:ext cx="215265" cy="428625"/>
          </a:xfrm>
          <a:custGeom>
            <a:avLst/>
            <a:gdLst/>
            <a:ahLst/>
            <a:cxnLst/>
            <a:rect l="l" t="t" r="r" b="b"/>
            <a:pathLst>
              <a:path w="215264" h="428625">
                <a:moveTo>
                  <a:pt x="12111" y="0"/>
                </a:moveTo>
                <a:lnTo>
                  <a:pt x="214753" y="422384"/>
                </a:lnTo>
                <a:lnTo>
                  <a:pt x="202642" y="428194"/>
                </a:lnTo>
                <a:lnTo>
                  <a:pt x="0" y="5810"/>
                </a:lnTo>
                <a:lnTo>
                  <a:pt x="1211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763020" y="447082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826732" y="445141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520673" y="394801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2584943" y="392753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327442" y="426686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4398360" y="423649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945550" y="312191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7017740" y="3094710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905669" y="420106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6"/>
                </a:lnTo>
                <a:lnTo>
                  <a:pt x="12911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1" y="197251"/>
                </a:lnTo>
                <a:lnTo>
                  <a:pt x="38733" y="232907"/>
                </a:lnTo>
                <a:lnTo>
                  <a:pt x="74485" y="258659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59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6964009" y="4182759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835326" y="520473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9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6910279" y="519021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019120" y="383936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1080478" y="380664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820174" y="3142265"/>
            <a:ext cx="796925" cy="73660"/>
          </a:xfrm>
          <a:custGeom>
            <a:avLst/>
            <a:gdLst/>
            <a:ahLst/>
            <a:cxnLst/>
            <a:rect l="l" t="t" r="r" b="b"/>
            <a:pathLst>
              <a:path w="796925" h="73660">
                <a:moveTo>
                  <a:pt x="0" y="0"/>
                </a:moveTo>
                <a:lnTo>
                  <a:pt x="6687" y="618"/>
                </a:lnTo>
                <a:lnTo>
                  <a:pt x="796528" y="7365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746608" y="3102757"/>
            <a:ext cx="84455" cy="80645"/>
          </a:xfrm>
          <a:custGeom>
            <a:avLst/>
            <a:gdLst/>
            <a:ahLst/>
            <a:cxnLst/>
            <a:rect l="l" t="t" r="r" b="b"/>
            <a:pathLst>
              <a:path w="84454" h="80644">
                <a:moveTo>
                  <a:pt x="83963" y="0"/>
                </a:moveTo>
                <a:lnTo>
                  <a:pt x="0" y="32705"/>
                </a:lnTo>
                <a:lnTo>
                  <a:pt x="76542" y="80253"/>
                </a:lnTo>
                <a:lnTo>
                  <a:pt x="839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269048" y="552852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8334147" y="549916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8418271" y="263917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8481907" y="261113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424830" y="307737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8481907" y="305441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8239580" y="473325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8380151" y="395343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8363190" y="439513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8307282" y="4247238"/>
            <a:ext cx="259715" cy="7239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33350">
              <a:lnSpc>
                <a:spcPct val="100000"/>
              </a:lnSpc>
              <a:spcBef>
                <a:spcPts val="110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288456" y="361477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8361012" y="3454707"/>
            <a:ext cx="232410" cy="7239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05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197476" y="4920331"/>
            <a:ext cx="171450" cy="1044575"/>
          </a:xfrm>
          <a:custGeom>
            <a:avLst/>
            <a:gdLst/>
            <a:ahLst/>
            <a:cxnLst/>
            <a:rect l="l" t="t" r="r" b="b"/>
            <a:pathLst>
              <a:path w="171450" h="1044575">
                <a:moveTo>
                  <a:pt x="85725" y="114300"/>
                </a:moveTo>
                <a:lnTo>
                  <a:pt x="57150" y="142875"/>
                </a:lnTo>
                <a:lnTo>
                  <a:pt x="57148" y="1016000"/>
                </a:lnTo>
                <a:lnTo>
                  <a:pt x="59394" y="1027122"/>
                </a:lnTo>
                <a:lnTo>
                  <a:pt x="65518" y="1036205"/>
                </a:lnTo>
                <a:lnTo>
                  <a:pt x="74601" y="1042329"/>
                </a:lnTo>
                <a:lnTo>
                  <a:pt x="85723" y="1044575"/>
                </a:lnTo>
                <a:lnTo>
                  <a:pt x="96846" y="1042329"/>
                </a:lnTo>
                <a:lnTo>
                  <a:pt x="105929" y="1036205"/>
                </a:lnTo>
                <a:lnTo>
                  <a:pt x="112053" y="1027122"/>
                </a:lnTo>
                <a:lnTo>
                  <a:pt x="114298" y="1016000"/>
                </a:lnTo>
                <a:lnTo>
                  <a:pt x="114300" y="142875"/>
                </a:lnTo>
                <a:lnTo>
                  <a:pt x="112054" y="131752"/>
                </a:lnTo>
                <a:lnTo>
                  <a:pt x="105930" y="122669"/>
                </a:lnTo>
                <a:lnTo>
                  <a:pt x="96847" y="116545"/>
                </a:lnTo>
                <a:lnTo>
                  <a:pt x="85725" y="114300"/>
                </a:lnTo>
                <a:close/>
              </a:path>
              <a:path w="171450" h="1044575">
                <a:moveTo>
                  <a:pt x="85725" y="0"/>
                </a:moveTo>
                <a:lnTo>
                  <a:pt x="0" y="171450"/>
                </a:lnTo>
                <a:lnTo>
                  <a:pt x="57149" y="171450"/>
                </a:lnTo>
                <a:lnTo>
                  <a:pt x="57150" y="142875"/>
                </a:lnTo>
                <a:lnTo>
                  <a:pt x="59395" y="131752"/>
                </a:lnTo>
                <a:lnTo>
                  <a:pt x="65519" y="122669"/>
                </a:lnTo>
                <a:lnTo>
                  <a:pt x="74602" y="116545"/>
                </a:lnTo>
                <a:lnTo>
                  <a:pt x="85725" y="114300"/>
                </a:lnTo>
                <a:lnTo>
                  <a:pt x="142875" y="114300"/>
                </a:lnTo>
                <a:lnTo>
                  <a:pt x="85725" y="0"/>
                </a:lnTo>
                <a:close/>
              </a:path>
              <a:path w="171450" h="1044575">
                <a:moveTo>
                  <a:pt x="142875" y="114300"/>
                </a:moveTo>
                <a:lnTo>
                  <a:pt x="85725" y="114300"/>
                </a:lnTo>
                <a:lnTo>
                  <a:pt x="96847" y="116545"/>
                </a:lnTo>
                <a:lnTo>
                  <a:pt x="105930" y="122669"/>
                </a:lnTo>
                <a:lnTo>
                  <a:pt x="112054" y="131752"/>
                </a:lnTo>
                <a:lnTo>
                  <a:pt x="114300" y="142875"/>
                </a:lnTo>
                <a:lnTo>
                  <a:pt x="114299" y="171450"/>
                </a:lnTo>
                <a:lnTo>
                  <a:pt x="171450" y="171450"/>
                </a:lnTo>
                <a:lnTo>
                  <a:pt x="142875" y="11430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4193524" y="5959347"/>
            <a:ext cx="24752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Neural</a:t>
            </a:r>
            <a:r>
              <a:rPr dirty="0" sz="2800" spc="-6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253683" y="3396334"/>
            <a:ext cx="2163445" cy="2568575"/>
          </a:xfrm>
          <a:custGeom>
            <a:avLst/>
            <a:gdLst/>
            <a:ahLst/>
            <a:cxnLst/>
            <a:rect l="l" t="t" r="r" b="b"/>
            <a:pathLst>
              <a:path w="2163445" h="2568575">
                <a:moveTo>
                  <a:pt x="2030933" y="112869"/>
                </a:moveTo>
                <a:lnTo>
                  <a:pt x="6592" y="2521614"/>
                </a:lnTo>
                <a:lnTo>
                  <a:pt x="1155" y="2531573"/>
                </a:lnTo>
                <a:lnTo>
                  <a:pt x="0" y="2542467"/>
                </a:lnTo>
                <a:lnTo>
                  <a:pt x="3013" y="2552999"/>
                </a:lnTo>
                <a:lnTo>
                  <a:pt x="10083" y="2561874"/>
                </a:lnTo>
                <a:lnTo>
                  <a:pt x="20043" y="2567311"/>
                </a:lnTo>
                <a:lnTo>
                  <a:pt x="30936" y="2568466"/>
                </a:lnTo>
                <a:lnTo>
                  <a:pt x="41468" y="2565453"/>
                </a:lnTo>
                <a:lnTo>
                  <a:pt x="50344" y="2558383"/>
                </a:lnTo>
                <a:lnTo>
                  <a:pt x="2074684" y="149637"/>
                </a:lnTo>
                <a:lnTo>
                  <a:pt x="2030933" y="112869"/>
                </a:lnTo>
                <a:close/>
              </a:path>
              <a:path w="2163445" h="2568575">
                <a:moveTo>
                  <a:pt x="2143722" y="80909"/>
                </a:moveTo>
                <a:lnTo>
                  <a:pt x="2068725" y="80909"/>
                </a:lnTo>
                <a:lnTo>
                  <a:pt x="2079618" y="82064"/>
                </a:lnTo>
                <a:lnTo>
                  <a:pt x="2089577" y="87501"/>
                </a:lnTo>
                <a:lnTo>
                  <a:pt x="2096648" y="96377"/>
                </a:lnTo>
                <a:lnTo>
                  <a:pt x="2099661" y="106908"/>
                </a:lnTo>
                <a:lnTo>
                  <a:pt x="2098506" y="117802"/>
                </a:lnTo>
                <a:lnTo>
                  <a:pt x="2093069" y="127762"/>
                </a:lnTo>
                <a:lnTo>
                  <a:pt x="2074684" y="149637"/>
                </a:lnTo>
                <a:lnTo>
                  <a:pt x="2118436" y="186406"/>
                </a:lnTo>
                <a:lnTo>
                  <a:pt x="2143722" y="80909"/>
                </a:lnTo>
                <a:close/>
              </a:path>
              <a:path w="2163445" h="2568575">
                <a:moveTo>
                  <a:pt x="2068725" y="80909"/>
                </a:moveTo>
                <a:lnTo>
                  <a:pt x="2058193" y="83922"/>
                </a:lnTo>
                <a:lnTo>
                  <a:pt x="2049318" y="90992"/>
                </a:lnTo>
                <a:lnTo>
                  <a:pt x="2030933" y="112869"/>
                </a:lnTo>
                <a:lnTo>
                  <a:pt x="2074684" y="149637"/>
                </a:lnTo>
                <a:lnTo>
                  <a:pt x="2093069" y="127762"/>
                </a:lnTo>
                <a:lnTo>
                  <a:pt x="2098506" y="117802"/>
                </a:lnTo>
                <a:lnTo>
                  <a:pt x="2099661" y="106908"/>
                </a:lnTo>
                <a:lnTo>
                  <a:pt x="2096648" y="96377"/>
                </a:lnTo>
                <a:lnTo>
                  <a:pt x="2089577" y="87501"/>
                </a:lnTo>
                <a:lnTo>
                  <a:pt x="2079618" y="82064"/>
                </a:lnTo>
                <a:lnTo>
                  <a:pt x="2068725" y="80909"/>
                </a:lnTo>
                <a:close/>
              </a:path>
              <a:path w="2163445" h="2568575">
                <a:moveTo>
                  <a:pt x="2163116" y="0"/>
                </a:moveTo>
                <a:lnTo>
                  <a:pt x="1987181" y="76099"/>
                </a:lnTo>
                <a:lnTo>
                  <a:pt x="2030933" y="112869"/>
                </a:lnTo>
                <a:lnTo>
                  <a:pt x="2049318" y="90992"/>
                </a:lnTo>
                <a:lnTo>
                  <a:pt x="2058193" y="83922"/>
                </a:lnTo>
                <a:lnTo>
                  <a:pt x="2068725" y="80909"/>
                </a:lnTo>
                <a:lnTo>
                  <a:pt x="2143722" y="80909"/>
                </a:lnTo>
                <a:lnTo>
                  <a:pt x="2163116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255123" y="4513934"/>
            <a:ext cx="2162175" cy="1450975"/>
          </a:xfrm>
          <a:custGeom>
            <a:avLst/>
            <a:gdLst/>
            <a:ahLst/>
            <a:cxnLst/>
            <a:rect l="l" t="t" r="r" b="b"/>
            <a:pathLst>
              <a:path w="2162175" h="1450975">
                <a:moveTo>
                  <a:pt x="2003170" y="71326"/>
                </a:moveTo>
                <a:lnTo>
                  <a:pt x="12226" y="1398622"/>
                </a:lnTo>
                <a:lnTo>
                  <a:pt x="4217" y="1406660"/>
                </a:lnTo>
                <a:lnTo>
                  <a:pt x="57" y="1416794"/>
                </a:lnTo>
                <a:lnTo>
                  <a:pt x="0" y="1427748"/>
                </a:lnTo>
                <a:lnTo>
                  <a:pt x="4301" y="1438249"/>
                </a:lnTo>
                <a:lnTo>
                  <a:pt x="12339" y="1446258"/>
                </a:lnTo>
                <a:lnTo>
                  <a:pt x="22473" y="1450418"/>
                </a:lnTo>
                <a:lnTo>
                  <a:pt x="33427" y="1450475"/>
                </a:lnTo>
                <a:lnTo>
                  <a:pt x="43927" y="1446174"/>
                </a:lnTo>
                <a:lnTo>
                  <a:pt x="2034872" y="118879"/>
                </a:lnTo>
                <a:lnTo>
                  <a:pt x="2003170" y="71326"/>
                </a:lnTo>
                <a:close/>
              </a:path>
              <a:path w="2162175" h="1450975">
                <a:moveTo>
                  <a:pt x="2132433" y="51176"/>
                </a:moveTo>
                <a:lnTo>
                  <a:pt x="2037445" y="51176"/>
                </a:lnTo>
                <a:lnTo>
                  <a:pt x="2048399" y="51233"/>
                </a:lnTo>
                <a:lnTo>
                  <a:pt x="2058533" y="55394"/>
                </a:lnTo>
                <a:lnTo>
                  <a:pt x="2066571" y="63403"/>
                </a:lnTo>
                <a:lnTo>
                  <a:pt x="2070873" y="73903"/>
                </a:lnTo>
                <a:lnTo>
                  <a:pt x="2070816" y="84857"/>
                </a:lnTo>
                <a:lnTo>
                  <a:pt x="2066655" y="94991"/>
                </a:lnTo>
                <a:lnTo>
                  <a:pt x="2058645" y="103030"/>
                </a:lnTo>
                <a:lnTo>
                  <a:pt x="2034872" y="118879"/>
                </a:lnTo>
                <a:lnTo>
                  <a:pt x="2066573" y="166430"/>
                </a:lnTo>
                <a:lnTo>
                  <a:pt x="2132433" y="51176"/>
                </a:lnTo>
                <a:close/>
              </a:path>
              <a:path w="2162175" h="1450975">
                <a:moveTo>
                  <a:pt x="2037445" y="51176"/>
                </a:moveTo>
                <a:lnTo>
                  <a:pt x="2026945" y="55477"/>
                </a:lnTo>
                <a:lnTo>
                  <a:pt x="2003170" y="71326"/>
                </a:lnTo>
                <a:lnTo>
                  <a:pt x="2034872" y="118879"/>
                </a:lnTo>
                <a:lnTo>
                  <a:pt x="2058645" y="103030"/>
                </a:lnTo>
                <a:lnTo>
                  <a:pt x="2066655" y="94991"/>
                </a:lnTo>
                <a:lnTo>
                  <a:pt x="2070816" y="84857"/>
                </a:lnTo>
                <a:lnTo>
                  <a:pt x="2070873" y="73903"/>
                </a:lnTo>
                <a:lnTo>
                  <a:pt x="2066571" y="63403"/>
                </a:lnTo>
                <a:lnTo>
                  <a:pt x="2058533" y="55394"/>
                </a:lnTo>
                <a:lnTo>
                  <a:pt x="2048399" y="51233"/>
                </a:lnTo>
                <a:lnTo>
                  <a:pt x="2037445" y="51176"/>
                </a:lnTo>
                <a:close/>
              </a:path>
              <a:path w="2162175" h="1450975">
                <a:moveTo>
                  <a:pt x="2161677" y="0"/>
                </a:moveTo>
                <a:lnTo>
                  <a:pt x="1971470" y="23775"/>
                </a:lnTo>
                <a:lnTo>
                  <a:pt x="2003170" y="71326"/>
                </a:lnTo>
                <a:lnTo>
                  <a:pt x="2026945" y="55477"/>
                </a:lnTo>
                <a:lnTo>
                  <a:pt x="2037445" y="51176"/>
                </a:lnTo>
                <a:lnTo>
                  <a:pt x="2132433" y="51176"/>
                </a:lnTo>
                <a:lnTo>
                  <a:pt x="2161677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254113" y="5485460"/>
            <a:ext cx="2010410" cy="488315"/>
          </a:xfrm>
          <a:custGeom>
            <a:avLst/>
            <a:gdLst/>
            <a:ahLst/>
            <a:cxnLst/>
            <a:rect l="l" t="t" r="r" b="b"/>
            <a:pathLst>
              <a:path w="2010409" h="488314">
                <a:moveTo>
                  <a:pt x="1836604" y="55962"/>
                </a:moveTo>
                <a:lnTo>
                  <a:pt x="22243" y="431717"/>
                </a:lnTo>
                <a:lnTo>
                  <a:pt x="11807" y="436171"/>
                </a:lnTo>
                <a:lnTo>
                  <a:pt x="4154" y="444010"/>
                </a:lnTo>
                <a:lnTo>
                  <a:pt x="0" y="454146"/>
                </a:lnTo>
                <a:lnTo>
                  <a:pt x="56" y="465493"/>
                </a:lnTo>
                <a:lnTo>
                  <a:pt x="4511" y="475929"/>
                </a:lnTo>
                <a:lnTo>
                  <a:pt x="12349" y="483581"/>
                </a:lnTo>
                <a:lnTo>
                  <a:pt x="22486" y="487736"/>
                </a:lnTo>
                <a:lnTo>
                  <a:pt x="33833" y="487679"/>
                </a:lnTo>
                <a:lnTo>
                  <a:pt x="1848194" y="111925"/>
                </a:lnTo>
                <a:lnTo>
                  <a:pt x="1836604" y="55962"/>
                </a:lnTo>
                <a:close/>
              </a:path>
              <a:path w="2010409" h="488314">
                <a:moveTo>
                  <a:pt x="2009100" y="50110"/>
                </a:moveTo>
                <a:lnTo>
                  <a:pt x="1875933" y="50110"/>
                </a:lnTo>
                <a:lnTo>
                  <a:pt x="1886069" y="54265"/>
                </a:lnTo>
                <a:lnTo>
                  <a:pt x="1893907" y="61918"/>
                </a:lnTo>
                <a:lnTo>
                  <a:pt x="1898362" y="72354"/>
                </a:lnTo>
                <a:lnTo>
                  <a:pt x="1898419" y="83701"/>
                </a:lnTo>
                <a:lnTo>
                  <a:pt x="1894264" y="93837"/>
                </a:lnTo>
                <a:lnTo>
                  <a:pt x="1886612" y="101675"/>
                </a:lnTo>
                <a:lnTo>
                  <a:pt x="1876175" y="106130"/>
                </a:lnTo>
                <a:lnTo>
                  <a:pt x="1848194" y="111925"/>
                </a:lnTo>
                <a:lnTo>
                  <a:pt x="1859784" y="167887"/>
                </a:lnTo>
                <a:lnTo>
                  <a:pt x="2009100" y="50110"/>
                </a:lnTo>
                <a:close/>
              </a:path>
              <a:path w="2010409" h="488314">
                <a:moveTo>
                  <a:pt x="1875933" y="50110"/>
                </a:moveTo>
                <a:lnTo>
                  <a:pt x="1864586" y="50167"/>
                </a:lnTo>
                <a:lnTo>
                  <a:pt x="1836604" y="55962"/>
                </a:lnTo>
                <a:lnTo>
                  <a:pt x="1848194" y="111925"/>
                </a:lnTo>
                <a:lnTo>
                  <a:pt x="1876175" y="106130"/>
                </a:lnTo>
                <a:lnTo>
                  <a:pt x="1886612" y="101675"/>
                </a:lnTo>
                <a:lnTo>
                  <a:pt x="1894264" y="93837"/>
                </a:lnTo>
                <a:lnTo>
                  <a:pt x="1898419" y="83701"/>
                </a:lnTo>
                <a:lnTo>
                  <a:pt x="1898362" y="72354"/>
                </a:lnTo>
                <a:lnTo>
                  <a:pt x="1893907" y="61918"/>
                </a:lnTo>
                <a:lnTo>
                  <a:pt x="1886069" y="54265"/>
                </a:lnTo>
                <a:lnTo>
                  <a:pt x="1875933" y="50110"/>
                </a:lnTo>
                <a:close/>
              </a:path>
              <a:path w="2010409" h="488314">
                <a:moveTo>
                  <a:pt x="1825014" y="0"/>
                </a:moveTo>
                <a:lnTo>
                  <a:pt x="1836604" y="55962"/>
                </a:lnTo>
                <a:lnTo>
                  <a:pt x="1864586" y="50167"/>
                </a:lnTo>
                <a:lnTo>
                  <a:pt x="2009100" y="50110"/>
                </a:lnTo>
                <a:lnTo>
                  <a:pt x="2010287" y="49174"/>
                </a:lnTo>
                <a:lnTo>
                  <a:pt x="1825014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5" name="object 8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2"/>
              </a:rPr>
              <a:t>http://cs224w.stanford.edu</a:t>
            </a:r>
          </a:p>
        </p:txBody>
      </p:sp>
      <p:sp>
        <p:nvSpPr>
          <p:cNvPr id="86" name="object 86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0735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5363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D60093"/>
                </a:solidFill>
              </a:rPr>
              <a:t>Intuition: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Network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neighborhood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defines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b="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D60093"/>
                </a:solidFill>
                <a:latin typeface="Calibri"/>
                <a:cs typeface="Calibri"/>
              </a:rPr>
              <a:t>computation</a:t>
            </a:r>
            <a:r>
              <a:rPr dirty="0" spc="-45" b="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D60093"/>
                </a:solidFill>
                <a:latin typeface="Calibri"/>
                <a:cs typeface="Calibri"/>
              </a:rPr>
              <a:t>graph</a:t>
            </a:r>
          </a:p>
        </p:txBody>
      </p:sp>
      <p:sp>
        <p:nvSpPr>
          <p:cNvPr id="4" name="object 4"/>
          <p:cNvSpPr/>
          <p:nvPr/>
        </p:nvSpPr>
        <p:spPr>
          <a:xfrm>
            <a:off x="19221" y="4773758"/>
            <a:ext cx="9124778" cy="15965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88000" y="2031560"/>
            <a:ext cx="2183359" cy="22092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28989" y="3514789"/>
            <a:ext cx="5502275" cy="1458595"/>
          </a:xfrm>
          <a:custGeom>
            <a:avLst/>
            <a:gdLst/>
            <a:ahLst/>
            <a:cxnLst/>
            <a:rect l="l" t="t" r="r" b="b"/>
            <a:pathLst>
              <a:path w="5502275" h="1458595">
                <a:moveTo>
                  <a:pt x="5415642" y="1430526"/>
                </a:moveTo>
                <a:lnTo>
                  <a:pt x="5408471" y="1458187"/>
                </a:lnTo>
                <a:lnTo>
                  <a:pt x="5502210" y="1438210"/>
                </a:lnTo>
                <a:lnTo>
                  <a:pt x="5499777" y="1436088"/>
                </a:lnTo>
                <a:lnTo>
                  <a:pt x="5437093" y="1436088"/>
                </a:lnTo>
                <a:lnTo>
                  <a:pt x="5415642" y="1430526"/>
                </a:lnTo>
                <a:close/>
              </a:path>
              <a:path w="5502275" h="1458595">
                <a:moveTo>
                  <a:pt x="5422814" y="1402866"/>
                </a:moveTo>
                <a:lnTo>
                  <a:pt x="5415642" y="1430526"/>
                </a:lnTo>
                <a:lnTo>
                  <a:pt x="5437093" y="1436088"/>
                </a:lnTo>
                <a:lnTo>
                  <a:pt x="5444891" y="1431500"/>
                </a:lnTo>
                <a:lnTo>
                  <a:pt x="5448851" y="1416225"/>
                </a:lnTo>
                <a:lnTo>
                  <a:pt x="5444265" y="1408427"/>
                </a:lnTo>
                <a:lnTo>
                  <a:pt x="5422814" y="1402866"/>
                </a:lnTo>
                <a:close/>
              </a:path>
              <a:path w="5502275" h="1458595">
                <a:moveTo>
                  <a:pt x="5429985" y="1375205"/>
                </a:moveTo>
                <a:lnTo>
                  <a:pt x="5422814" y="1402866"/>
                </a:lnTo>
                <a:lnTo>
                  <a:pt x="5444265" y="1408427"/>
                </a:lnTo>
                <a:lnTo>
                  <a:pt x="5448851" y="1416225"/>
                </a:lnTo>
                <a:lnTo>
                  <a:pt x="5444891" y="1431500"/>
                </a:lnTo>
                <a:lnTo>
                  <a:pt x="5437093" y="1436088"/>
                </a:lnTo>
                <a:lnTo>
                  <a:pt x="5499777" y="1436088"/>
                </a:lnTo>
                <a:lnTo>
                  <a:pt x="5429985" y="1375205"/>
                </a:lnTo>
                <a:close/>
              </a:path>
              <a:path w="5502275" h="1458595">
                <a:moveTo>
                  <a:pt x="11757" y="0"/>
                </a:moveTo>
                <a:lnTo>
                  <a:pt x="3959" y="4585"/>
                </a:lnTo>
                <a:lnTo>
                  <a:pt x="0" y="19862"/>
                </a:lnTo>
                <a:lnTo>
                  <a:pt x="4585" y="27660"/>
                </a:lnTo>
                <a:lnTo>
                  <a:pt x="5415642" y="1430526"/>
                </a:lnTo>
                <a:lnTo>
                  <a:pt x="5422814" y="1402866"/>
                </a:lnTo>
                <a:lnTo>
                  <a:pt x="11757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12279" y="3520046"/>
            <a:ext cx="3987165" cy="1348740"/>
          </a:xfrm>
          <a:custGeom>
            <a:avLst/>
            <a:gdLst/>
            <a:ahLst/>
            <a:cxnLst/>
            <a:rect l="l" t="t" r="r" b="b"/>
            <a:pathLst>
              <a:path w="3987165" h="1348739">
                <a:moveTo>
                  <a:pt x="3900825" y="1321326"/>
                </a:moveTo>
                <a:lnTo>
                  <a:pt x="3891819" y="1348444"/>
                </a:lnTo>
                <a:lnTo>
                  <a:pt x="3986684" y="1334786"/>
                </a:lnTo>
                <a:lnTo>
                  <a:pt x="3980200" y="1328315"/>
                </a:lnTo>
                <a:lnTo>
                  <a:pt x="3921870" y="1328315"/>
                </a:lnTo>
                <a:lnTo>
                  <a:pt x="3900825" y="1321326"/>
                </a:lnTo>
                <a:close/>
              </a:path>
              <a:path w="3987165" h="1348739">
                <a:moveTo>
                  <a:pt x="3909832" y="1294206"/>
                </a:moveTo>
                <a:lnTo>
                  <a:pt x="3900825" y="1321326"/>
                </a:lnTo>
                <a:lnTo>
                  <a:pt x="3921870" y="1328315"/>
                </a:lnTo>
                <a:lnTo>
                  <a:pt x="3929957" y="1324260"/>
                </a:lnTo>
                <a:lnTo>
                  <a:pt x="3934932" y="1309283"/>
                </a:lnTo>
                <a:lnTo>
                  <a:pt x="3930877" y="1301196"/>
                </a:lnTo>
                <a:lnTo>
                  <a:pt x="3909832" y="1294206"/>
                </a:lnTo>
                <a:close/>
              </a:path>
              <a:path w="3987165" h="1348739">
                <a:moveTo>
                  <a:pt x="3918839" y="1267089"/>
                </a:moveTo>
                <a:lnTo>
                  <a:pt x="3909832" y="1294206"/>
                </a:lnTo>
                <a:lnTo>
                  <a:pt x="3930877" y="1301196"/>
                </a:lnTo>
                <a:lnTo>
                  <a:pt x="3934932" y="1309283"/>
                </a:lnTo>
                <a:lnTo>
                  <a:pt x="3929957" y="1324260"/>
                </a:lnTo>
                <a:lnTo>
                  <a:pt x="3921870" y="1328315"/>
                </a:lnTo>
                <a:lnTo>
                  <a:pt x="3980200" y="1328315"/>
                </a:lnTo>
                <a:lnTo>
                  <a:pt x="3918839" y="1267089"/>
                </a:lnTo>
                <a:close/>
              </a:path>
              <a:path w="3987165" h="1348739">
                <a:moveTo>
                  <a:pt x="13060" y="0"/>
                </a:moveTo>
                <a:lnTo>
                  <a:pt x="4973" y="4055"/>
                </a:lnTo>
                <a:lnTo>
                  <a:pt x="0" y="19032"/>
                </a:lnTo>
                <a:lnTo>
                  <a:pt x="4053" y="27118"/>
                </a:lnTo>
                <a:lnTo>
                  <a:pt x="3900825" y="1321326"/>
                </a:lnTo>
                <a:lnTo>
                  <a:pt x="3909832" y="1294206"/>
                </a:lnTo>
                <a:lnTo>
                  <a:pt x="13060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95553" y="3514306"/>
            <a:ext cx="2729865" cy="1320165"/>
          </a:xfrm>
          <a:custGeom>
            <a:avLst/>
            <a:gdLst/>
            <a:ahLst/>
            <a:cxnLst/>
            <a:rect l="l" t="t" r="r" b="b"/>
            <a:pathLst>
              <a:path w="2729865" h="1320164">
                <a:moveTo>
                  <a:pt x="2645824" y="1294344"/>
                </a:moveTo>
                <a:lnTo>
                  <a:pt x="2633459" y="1320105"/>
                </a:lnTo>
                <a:lnTo>
                  <a:pt x="2729289" y="1318559"/>
                </a:lnTo>
                <a:lnTo>
                  <a:pt x="2717955" y="1303944"/>
                </a:lnTo>
                <a:lnTo>
                  <a:pt x="2665823" y="1303944"/>
                </a:lnTo>
                <a:lnTo>
                  <a:pt x="2645824" y="1294344"/>
                </a:lnTo>
                <a:close/>
              </a:path>
              <a:path w="2729865" h="1320164">
                <a:moveTo>
                  <a:pt x="2658189" y="1268582"/>
                </a:moveTo>
                <a:lnTo>
                  <a:pt x="2645824" y="1294344"/>
                </a:lnTo>
                <a:lnTo>
                  <a:pt x="2665823" y="1303944"/>
                </a:lnTo>
                <a:lnTo>
                  <a:pt x="2674359" y="1300944"/>
                </a:lnTo>
                <a:lnTo>
                  <a:pt x="2681188" y="1286718"/>
                </a:lnTo>
                <a:lnTo>
                  <a:pt x="2678189" y="1278182"/>
                </a:lnTo>
                <a:lnTo>
                  <a:pt x="2658189" y="1268582"/>
                </a:lnTo>
                <a:close/>
              </a:path>
              <a:path w="2729865" h="1320164">
                <a:moveTo>
                  <a:pt x="2670554" y="1242822"/>
                </a:moveTo>
                <a:lnTo>
                  <a:pt x="2658189" y="1268582"/>
                </a:lnTo>
                <a:lnTo>
                  <a:pt x="2678189" y="1278182"/>
                </a:lnTo>
                <a:lnTo>
                  <a:pt x="2681188" y="1286718"/>
                </a:lnTo>
                <a:lnTo>
                  <a:pt x="2674359" y="1300944"/>
                </a:lnTo>
                <a:lnTo>
                  <a:pt x="2665823" y="1303944"/>
                </a:lnTo>
                <a:lnTo>
                  <a:pt x="2717955" y="1303944"/>
                </a:lnTo>
                <a:lnTo>
                  <a:pt x="2670554" y="1242822"/>
                </a:lnTo>
                <a:close/>
              </a:path>
              <a:path w="2729865" h="1320164">
                <a:moveTo>
                  <a:pt x="15364" y="0"/>
                </a:moveTo>
                <a:lnTo>
                  <a:pt x="6828" y="2998"/>
                </a:lnTo>
                <a:lnTo>
                  <a:pt x="0" y="17226"/>
                </a:lnTo>
                <a:lnTo>
                  <a:pt x="2998" y="25760"/>
                </a:lnTo>
                <a:lnTo>
                  <a:pt x="2645824" y="1294344"/>
                </a:lnTo>
                <a:lnTo>
                  <a:pt x="2658189" y="1268582"/>
                </a:lnTo>
                <a:lnTo>
                  <a:pt x="15364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18701" y="3498570"/>
            <a:ext cx="523240" cy="1334770"/>
          </a:xfrm>
          <a:custGeom>
            <a:avLst/>
            <a:gdLst/>
            <a:ahLst/>
            <a:cxnLst/>
            <a:rect l="l" t="t" r="r" b="b"/>
            <a:pathLst>
              <a:path w="523239" h="1334770">
                <a:moveTo>
                  <a:pt x="0" y="1238959"/>
                </a:moveTo>
                <a:lnTo>
                  <a:pt x="9861" y="1334293"/>
                </a:lnTo>
                <a:lnTo>
                  <a:pt x="64649" y="1283602"/>
                </a:lnTo>
                <a:lnTo>
                  <a:pt x="37407" y="1283602"/>
                </a:lnTo>
                <a:lnTo>
                  <a:pt x="22641" y="1278035"/>
                </a:lnTo>
                <a:lnTo>
                  <a:pt x="18912" y="1269792"/>
                </a:lnTo>
                <a:lnTo>
                  <a:pt x="26737" y="1249041"/>
                </a:lnTo>
                <a:lnTo>
                  <a:pt x="0" y="1238959"/>
                </a:lnTo>
                <a:close/>
              </a:path>
              <a:path w="523239" h="1334770">
                <a:moveTo>
                  <a:pt x="26737" y="1249041"/>
                </a:moveTo>
                <a:lnTo>
                  <a:pt x="18912" y="1269792"/>
                </a:lnTo>
                <a:lnTo>
                  <a:pt x="22641" y="1278035"/>
                </a:lnTo>
                <a:lnTo>
                  <a:pt x="37407" y="1283602"/>
                </a:lnTo>
                <a:lnTo>
                  <a:pt x="45650" y="1279874"/>
                </a:lnTo>
                <a:lnTo>
                  <a:pt x="53474" y="1259122"/>
                </a:lnTo>
                <a:lnTo>
                  <a:pt x="26737" y="1249041"/>
                </a:lnTo>
                <a:close/>
              </a:path>
              <a:path w="523239" h="1334770">
                <a:moveTo>
                  <a:pt x="53474" y="1259122"/>
                </a:moveTo>
                <a:lnTo>
                  <a:pt x="45650" y="1279874"/>
                </a:lnTo>
                <a:lnTo>
                  <a:pt x="37407" y="1283602"/>
                </a:lnTo>
                <a:lnTo>
                  <a:pt x="64649" y="1283602"/>
                </a:lnTo>
                <a:lnTo>
                  <a:pt x="80213" y="1269203"/>
                </a:lnTo>
                <a:lnTo>
                  <a:pt x="53474" y="1259122"/>
                </a:lnTo>
                <a:close/>
              </a:path>
              <a:path w="523239" h="1334770">
                <a:moveTo>
                  <a:pt x="504535" y="0"/>
                </a:moveTo>
                <a:lnTo>
                  <a:pt x="496293" y="3728"/>
                </a:lnTo>
                <a:lnTo>
                  <a:pt x="26737" y="1249041"/>
                </a:lnTo>
                <a:lnTo>
                  <a:pt x="53474" y="1259122"/>
                </a:lnTo>
                <a:lnTo>
                  <a:pt x="523030" y="13811"/>
                </a:lnTo>
                <a:lnTo>
                  <a:pt x="519301" y="5568"/>
                </a:lnTo>
                <a:lnTo>
                  <a:pt x="504535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13309" y="3516692"/>
            <a:ext cx="1240155" cy="1349375"/>
          </a:xfrm>
          <a:custGeom>
            <a:avLst/>
            <a:gdLst/>
            <a:ahLst/>
            <a:cxnLst/>
            <a:rect l="l" t="t" r="r" b="b"/>
            <a:pathLst>
              <a:path w="1240154" h="1349375">
                <a:moveTo>
                  <a:pt x="1171212" y="1295633"/>
                </a:moveTo>
                <a:lnTo>
                  <a:pt x="1150161" y="1314956"/>
                </a:lnTo>
                <a:lnTo>
                  <a:pt x="1239707" y="1349124"/>
                </a:lnTo>
                <a:lnTo>
                  <a:pt x="1229176" y="1312359"/>
                </a:lnTo>
                <a:lnTo>
                  <a:pt x="1195249" y="1312359"/>
                </a:lnTo>
                <a:lnTo>
                  <a:pt x="1186211" y="1311973"/>
                </a:lnTo>
                <a:lnTo>
                  <a:pt x="1171212" y="1295633"/>
                </a:lnTo>
                <a:close/>
              </a:path>
              <a:path w="1240154" h="1349375">
                <a:moveTo>
                  <a:pt x="1192262" y="1276310"/>
                </a:moveTo>
                <a:lnTo>
                  <a:pt x="1171212" y="1295633"/>
                </a:lnTo>
                <a:lnTo>
                  <a:pt x="1186211" y="1311973"/>
                </a:lnTo>
                <a:lnTo>
                  <a:pt x="1195249" y="1312359"/>
                </a:lnTo>
                <a:lnTo>
                  <a:pt x="1206875" y="1301687"/>
                </a:lnTo>
                <a:lnTo>
                  <a:pt x="1207262" y="1292650"/>
                </a:lnTo>
                <a:lnTo>
                  <a:pt x="1192262" y="1276310"/>
                </a:lnTo>
                <a:close/>
              </a:path>
              <a:path w="1240154" h="1349375">
                <a:moveTo>
                  <a:pt x="1213314" y="1256986"/>
                </a:moveTo>
                <a:lnTo>
                  <a:pt x="1192262" y="1276310"/>
                </a:lnTo>
                <a:lnTo>
                  <a:pt x="1207262" y="1292650"/>
                </a:lnTo>
                <a:lnTo>
                  <a:pt x="1206875" y="1301687"/>
                </a:lnTo>
                <a:lnTo>
                  <a:pt x="1195249" y="1312359"/>
                </a:lnTo>
                <a:lnTo>
                  <a:pt x="1229176" y="1312359"/>
                </a:lnTo>
                <a:lnTo>
                  <a:pt x="1213314" y="1256986"/>
                </a:lnTo>
                <a:close/>
              </a:path>
              <a:path w="1240154" h="1349375">
                <a:moveTo>
                  <a:pt x="12011" y="0"/>
                </a:moveTo>
                <a:lnTo>
                  <a:pt x="386" y="10671"/>
                </a:lnTo>
                <a:lnTo>
                  <a:pt x="0" y="19710"/>
                </a:lnTo>
                <a:lnTo>
                  <a:pt x="1171212" y="1295633"/>
                </a:lnTo>
                <a:lnTo>
                  <a:pt x="1192262" y="1276310"/>
                </a:lnTo>
                <a:lnTo>
                  <a:pt x="21050" y="387"/>
                </a:lnTo>
                <a:lnTo>
                  <a:pt x="12011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5341" y="3516289"/>
            <a:ext cx="2052320" cy="1377315"/>
          </a:xfrm>
          <a:custGeom>
            <a:avLst/>
            <a:gdLst/>
            <a:ahLst/>
            <a:cxnLst/>
            <a:rect l="l" t="t" r="r" b="b"/>
            <a:pathLst>
              <a:path w="2052320" h="1377314">
                <a:moveTo>
                  <a:pt x="47455" y="1293715"/>
                </a:moveTo>
                <a:lnTo>
                  <a:pt x="0" y="1376986"/>
                </a:lnTo>
                <a:lnTo>
                  <a:pt x="95089" y="1364989"/>
                </a:lnTo>
                <a:lnTo>
                  <a:pt x="87445" y="1353552"/>
                </a:lnTo>
                <a:lnTo>
                  <a:pt x="60777" y="1353552"/>
                </a:lnTo>
                <a:lnTo>
                  <a:pt x="51904" y="1351788"/>
                </a:lnTo>
                <a:lnTo>
                  <a:pt x="43135" y="1338667"/>
                </a:lnTo>
                <a:lnTo>
                  <a:pt x="44899" y="1329794"/>
                </a:lnTo>
                <a:lnTo>
                  <a:pt x="63333" y="1317473"/>
                </a:lnTo>
                <a:lnTo>
                  <a:pt x="47455" y="1293715"/>
                </a:lnTo>
                <a:close/>
              </a:path>
              <a:path w="2052320" h="1377314">
                <a:moveTo>
                  <a:pt x="63333" y="1317473"/>
                </a:moveTo>
                <a:lnTo>
                  <a:pt x="44899" y="1329794"/>
                </a:lnTo>
                <a:lnTo>
                  <a:pt x="43135" y="1338667"/>
                </a:lnTo>
                <a:lnTo>
                  <a:pt x="51904" y="1351788"/>
                </a:lnTo>
                <a:lnTo>
                  <a:pt x="60777" y="1353552"/>
                </a:lnTo>
                <a:lnTo>
                  <a:pt x="79211" y="1341231"/>
                </a:lnTo>
                <a:lnTo>
                  <a:pt x="63333" y="1317473"/>
                </a:lnTo>
                <a:close/>
              </a:path>
              <a:path w="2052320" h="1377314">
                <a:moveTo>
                  <a:pt x="79211" y="1341231"/>
                </a:moveTo>
                <a:lnTo>
                  <a:pt x="60777" y="1353552"/>
                </a:lnTo>
                <a:lnTo>
                  <a:pt x="87445" y="1353552"/>
                </a:lnTo>
                <a:lnTo>
                  <a:pt x="79211" y="1341231"/>
                </a:lnTo>
                <a:close/>
              </a:path>
              <a:path w="2052320" h="1377314">
                <a:moveTo>
                  <a:pt x="2034633" y="0"/>
                </a:moveTo>
                <a:lnTo>
                  <a:pt x="63333" y="1317473"/>
                </a:lnTo>
                <a:lnTo>
                  <a:pt x="79211" y="1341231"/>
                </a:lnTo>
                <a:lnTo>
                  <a:pt x="2050510" y="23757"/>
                </a:lnTo>
                <a:lnTo>
                  <a:pt x="2052274" y="14884"/>
                </a:lnTo>
                <a:lnTo>
                  <a:pt x="2043505" y="1764"/>
                </a:lnTo>
                <a:lnTo>
                  <a:pt x="2034633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18005" y="2698495"/>
            <a:ext cx="4707255" cy="842644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28575" marR="5080" indent="-16510">
              <a:lnSpc>
                <a:spcPts val="3190"/>
              </a:lnSpc>
              <a:spcBef>
                <a:spcPts val="245"/>
              </a:spcBef>
            </a:pPr>
            <a:r>
              <a:rPr dirty="0" sz="2700" spc="-35">
                <a:solidFill>
                  <a:srgbClr val="D60093"/>
                </a:solidFill>
                <a:latin typeface="Calibri"/>
                <a:cs typeface="Calibri"/>
              </a:rPr>
              <a:t>Every </a:t>
            </a:r>
            <a:r>
              <a:rPr dirty="0" sz="2700" spc="-15">
                <a:solidFill>
                  <a:srgbClr val="D60093"/>
                </a:solidFill>
                <a:latin typeface="Calibri"/>
                <a:cs typeface="Calibri"/>
              </a:rPr>
              <a:t>node </a:t>
            </a:r>
            <a:r>
              <a:rPr dirty="0" sz="2700" spc="-20">
                <a:solidFill>
                  <a:srgbClr val="D60093"/>
                </a:solidFill>
                <a:latin typeface="Calibri"/>
                <a:cs typeface="Calibri"/>
              </a:rPr>
              <a:t>defines </a:t>
            </a:r>
            <a:r>
              <a:rPr dirty="0" sz="2700">
                <a:solidFill>
                  <a:srgbClr val="D60093"/>
                </a:solidFill>
                <a:latin typeface="Calibri"/>
                <a:cs typeface="Calibri"/>
              </a:rPr>
              <a:t>a</a:t>
            </a:r>
            <a:r>
              <a:rPr dirty="0" sz="2700" spc="-11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D60093"/>
                </a:solidFill>
                <a:latin typeface="Calibri"/>
                <a:cs typeface="Calibri"/>
              </a:rPr>
              <a:t>computation  </a:t>
            </a:r>
            <a:r>
              <a:rPr dirty="0" sz="2700" spc="-30">
                <a:solidFill>
                  <a:srgbClr val="D60093"/>
                </a:solidFill>
                <a:latin typeface="Calibri"/>
                <a:cs typeface="Calibri"/>
              </a:rPr>
              <a:t>graph </a:t>
            </a:r>
            <a:r>
              <a:rPr dirty="0" sz="2700" spc="-20">
                <a:solidFill>
                  <a:srgbClr val="D60093"/>
                </a:solidFill>
                <a:latin typeface="Calibri"/>
                <a:cs typeface="Calibri"/>
              </a:rPr>
              <a:t>based </a:t>
            </a:r>
            <a:r>
              <a:rPr dirty="0" sz="2700" spc="-10">
                <a:solidFill>
                  <a:srgbClr val="D60093"/>
                </a:solidFill>
                <a:latin typeface="Calibri"/>
                <a:cs typeface="Calibri"/>
              </a:rPr>
              <a:t>on its</a:t>
            </a:r>
            <a:r>
              <a:rPr dirty="0" sz="2700" spc="-9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700" spc="-20">
                <a:solidFill>
                  <a:srgbClr val="D60093"/>
                </a:solidFill>
                <a:latin typeface="Calibri"/>
                <a:cs typeface="Calibri"/>
              </a:rPr>
              <a:t>neighborhood!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2480" y="3008376"/>
            <a:ext cx="6348984" cy="2017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3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370064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1345" y="2516037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6219" y="2118419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5704" y="2054125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5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26446" y="1628394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4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42171" y="3085247"/>
            <a:ext cx="716915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9395" y="1645108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70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3542" y="1868218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53221" y="0"/>
                </a:moveTo>
                <a:lnTo>
                  <a:pt x="0" y="179"/>
                </a:lnTo>
                <a:lnTo>
                  <a:pt x="26791" y="53310"/>
                </a:lnTo>
                <a:lnTo>
                  <a:pt x="53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0918" y="1488617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1480" y="1616090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30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15290" y="150268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63088" y="148152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4951" y="2096364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09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7340" y="25463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33366" y="272762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13972" y="2490946"/>
            <a:ext cx="862965" cy="39814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3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82927" y="2179035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40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23426" y="238460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90"/>
                </a:lnTo>
                <a:lnTo>
                  <a:pt x="90961" y="181432"/>
                </a:lnTo>
                <a:lnTo>
                  <a:pt x="125190" y="174790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2" y="90716"/>
                </a:lnTo>
                <a:lnTo>
                  <a:pt x="175262" y="56579"/>
                </a:lnTo>
                <a:lnTo>
                  <a:pt x="155280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562249" y="2368538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63392" y="203937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402585" y="202260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1847" y="1967625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09117" y="194277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17636" y="2155510"/>
            <a:ext cx="3449642" cy="397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586295" y="3023107"/>
            <a:ext cx="1971675" cy="1056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2400" spc="-8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2400" spc="-7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79980" y="2891656"/>
            <a:ext cx="5986145" cy="1302385"/>
          </a:xfrm>
          <a:custGeom>
            <a:avLst/>
            <a:gdLst/>
            <a:ahLst/>
            <a:cxnLst/>
            <a:rect l="l" t="t" r="r" b="b"/>
            <a:pathLst>
              <a:path w="5986145" h="1302385">
                <a:moveTo>
                  <a:pt x="0" y="0"/>
                </a:moveTo>
                <a:lnTo>
                  <a:pt x="5985711" y="0"/>
                </a:lnTo>
                <a:lnTo>
                  <a:pt x="5985711" y="1302052"/>
                </a:lnTo>
                <a:lnTo>
                  <a:pt x="0" y="130205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184670" y="3332988"/>
            <a:ext cx="13296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30389" y="20827"/>
            <a:ext cx="516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1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2132868" y="1151636"/>
            <a:ext cx="45827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</a:rPr>
              <a:t>GNN </a:t>
            </a:r>
            <a:r>
              <a:rPr dirty="0" sz="2400" spc="-20">
                <a:solidFill>
                  <a:srgbClr val="C00000"/>
                </a:solidFill>
              </a:rPr>
              <a:t>Layer </a:t>
            </a:r>
            <a:r>
              <a:rPr dirty="0" sz="2400">
                <a:solidFill>
                  <a:srgbClr val="C00000"/>
                </a:solidFill>
              </a:rPr>
              <a:t>= </a:t>
            </a:r>
            <a:r>
              <a:rPr dirty="0" sz="2400" spc="-5">
                <a:solidFill>
                  <a:srgbClr val="C00000"/>
                </a:solidFill>
              </a:rPr>
              <a:t>Message </a:t>
            </a:r>
            <a:r>
              <a:rPr dirty="0" sz="2400">
                <a:solidFill>
                  <a:srgbClr val="C00000"/>
                </a:solidFill>
              </a:rPr>
              <a:t>+</a:t>
            </a:r>
            <a:r>
              <a:rPr dirty="0" sz="2400" spc="-70">
                <a:solidFill>
                  <a:srgbClr val="C00000"/>
                </a:solidFill>
              </a:rPr>
              <a:t> </a:t>
            </a:r>
            <a:r>
              <a:rPr dirty="0" sz="2400" spc="-10">
                <a:solidFill>
                  <a:srgbClr val="C00000"/>
                </a:solidFill>
              </a:rPr>
              <a:t>Aggregation</a:t>
            </a:r>
            <a:endParaRPr sz="2400"/>
          </a:p>
        </p:txBody>
      </p:sp>
      <p:sp>
        <p:nvSpPr>
          <p:cNvPr id="31" name="object 31"/>
          <p:cNvSpPr txBox="1"/>
          <p:nvPr/>
        </p:nvSpPr>
        <p:spPr>
          <a:xfrm>
            <a:off x="2132868" y="1520444"/>
            <a:ext cx="619188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15" b="1">
                <a:latin typeface="Calibri"/>
                <a:cs typeface="Calibri"/>
              </a:rPr>
              <a:t>Different </a:t>
            </a:r>
            <a:r>
              <a:rPr dirty="0" sz="2400" spc="-10" b="1">
                <a:latin typeface="Calibri"/>
                <a:cs typeface="Calibri"/>
              </a:rPr>
              <a:t>instantiations </a:t>
            </a:r>
            <a:r>
              <a:rPr dirty="0" sz="2400" spc="-5" b="1">
                <a:latin typeface="Calibri"/>
                <a:cs typeface="Calibri"/>
              </a:rPr>
              <a:t>under this</a:t>
            </a:r>
            <a:r>
              <a:rPr dirty="0" sz="2400" spc="3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perspective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5" b="1">
                <a:latin typeface="Calibri"/>
                <a:cs typeface="Calibri"/>
              </a:rPr>
              <a:t>GCN, </a:t>
            </a:r>
            <a:r>
              <a:rPr dirty="0" sz="2400" spc="-15" b="1">
                <a:latin typeface="Calibri"/>
                <a:cs typeface="Calibri"/>
              </a:rPr>
              <a:t>GraphSAGE, </a:t>
            </a:r>
            <a:r>
              <a:rPr dirty="0" sz="2400" spc="-110" b="1">
                <a:latin typeface="Calibri"/>
                <a:cs typeface="Calibri"/>
              </a:rPr>
              <a:t>GAT,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488935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1345" y="2516037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6219" y="2118419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5704" y="2054125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5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26446" y="1628394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4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42171" y="3085247"/>
            <a:ext cx="716915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9395" y="1645108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70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3542" y="1868218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53221" y="0"/>
                </a:moveTo>
                <a:lnTo>
                  <a:pt x="0" y="179"/>
                </a:lnTo>
                <a:lnTo>
                  <a:pt x="26791" y="53310"/>
                </a:lnTo>
                <a:lnTo>
                  <a:pt x="53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0918" y="1488617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1480" y="1616090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30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15290" y="150268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63088" y="148152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4951" y="2096364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09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7340" y="25463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33366" y="272762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13972" y="2490946"/>
            <a:ext cx="862965" cy="39814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3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82927" y="2179035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40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23426" y="238460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90"/>
                </a:lnTo>
                <a:lnTo>
                  <a:pt x="90961" y="181432"/>
                </a:lnTo>
                <a:lnTo>
                  <a:pt x="125190" y="174790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2" y="90716"/>
                </a:lnTo>
                <a:lnTo>
                  <a:pt x="175262" y="56579"/>
                </a:lnTo>
                <a:lnTo>
                  <a:pt x="155280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562249" y="2368538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63392" y="203937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402585" y="202260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1847" y="1967625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09117" y="194277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17636" y="2155510"/>
            <a:ext cx="3449642" cy="397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079980" y="2891656"/>
            <a:ext cx="5986145" cy="1302385"/>
          </a:xfrm>
          <a:prstGeom prst="rect">
            <a:avLst/>
          </a:prstGeom>
          <a:ln w="25400">
            <a:solidFill>
              <a:srgbClr val="C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3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79979" y="4688799"/>
            <a:ext cx="5986145" cy="1096010"/>
          </a:xfrm>
          <a:prstGeom prst="rect">
            <a:avLst/>
          </a:prstGeom>
          <a:ln w="25400">
            <a:solidFill>
              <a:srgbClr val="C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5724" y="4025900"/>
            <a:ext cx="157353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(3) 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Layer  c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nne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sz="2400" spc="0" b="1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2400" spc="0" b="1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30389" y="20827"/>
            <a:ext cx="516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1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2132868" y="1151636"/>
            <a:ext cx="39890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</a:rPr>
              <a:t>Connect GNN </a:t>
            </a:r>
            <a:r>
              <a:rPr dirty="0" sz="2400" spc="-20">
                <a:solidFill>
                  <a:srgbClr val="C00000"/>
                </a:solidFill>
              </a:rPr>
              <a:t>layers </a:t>
            </a:r>
            <a:r>
              <a:rPr dirty="0" sz="2400" spc="-15">
                <a:solidFill>
                  <a:srgbClr val="C00000"/>
                </a:solidFill>
              </a:rPr>
              <a:t>into </a:t>
            </a:r>
            <a:r>
              <a:rPr dirty="0" sz="2400">
                <a:solidFill>
                  <a:srgbClr val="C00000"/>
                </a:solidFill>
              </a:rPr>
              <a:t>a</a:t>
            </a:r>
            <a:r>
              <a:rPr dirty="0" sz="2400" spc="-65">
                <a:solidFill>
                  <a:srgbClr val="C00000"/>
                </a:solidFill>
              </a:rPr>
              <a:t> </a:t>
            </a:r>
            <a:r>
              <a:rPr dirty="0" sz="2400" spc="-5">
                <a:solidFill>
                  <a:srgbClr val="C00000"/>
                </a:solidFill>
              </a:rPr>
              <a:t>GNN</a:t>
            </a:r>
            <a:endParaRPr sz="2400"/>
          </a:p>
        </p:txBody>
      </p:sp>
      <p:sp>
        <p:nvSpPr>
          <p:cNvPr id="31" name="object 31"/>
          <p:cNvSpPr txBox="1"/>
          <p:nvPr/>
        </p:nvSpPr>
        <p:spPr>
          <a:xfrm>
            <a:off x="2132868" y="1520444"/>
            <a:ext cx="447103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5" b="1">
                <a:latin typeface="Calibri"/>
                <a:cs typeface="Calibri"/>
              </a:rPr>
              <a:t>Stack </a:t>
            </a:r>
            <a:r>
              <a:rPr dirty="0" sz="2400" spc="-20" b="1">
                <a:latin typeface="Calibri"/>
                <a:cs typeface="Calibri"/>
              </a:rPr>
              <a:t>layers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sequentially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40" b="1">
                <a:latin typeface="Calibri"/>
                <a:cs typeface="Calibri"/>
              </a:rPr>
              <a:t>Ways </a:t>
            </a:r>
            <a:r>
              <a:rPr dirty="0" sz="2400" spc="-5" b="1">
                <a:latin typeface="Calibri"/>
                <a:cs typeface="Calibri"/>
              </a:rPr>
              <a:t>of adding skip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connections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367016" cy="536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1345" y="2516037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6219" y="2118419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5704" y="2054125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5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26446" y="1628394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4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9395" y="1645108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70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3542" y="1868218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53221" y="0"/>
                </a:moveTo>
                <a:lnTo>
                  <a:pt x="0" y="179"/>
                </a:lnTo>
                <a:lnTo>
                  <a:pt x="26791" y="53310"/>
                </a:lnTo>
                <a:lnTo>
                  <a:pt x="53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0918" y="1488617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1480" y="1616090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30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15290" y="150268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63088" y="148152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4951" y="2096364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09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7340" y="25463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33366" y="272762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13972" y="2490946"/>
            <a:ext cx="1045210" cy="7391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  <a:p>
            <a:pPr marL="775335">
              <a:lnSpc>
                <a:spcPct val="100000"/>
              </a:lnSpc>
              <a:spcBef>
                <a:spcPts val="3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 marL="340360">
              <a:lnSpc>
                <a:spcPct val="100000"/>
              </a:lnSpc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82927" y="2179035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40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23426" y="238460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90"/>
                </a:lnTo>
                <a:lnTo>
                  <a:pt x="90961" y="181432"/>
                </a:lnTo>
                <a:lnTo>
                  <a:pt x="125190" y="174790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2" y="90716"/>
                </a:lnTo>
                <a:lnTo>
                  <a:pt x="175262" y="56579"/>
                </a:lnTo>
                <a:lnTo>
                  <a:pt x="155280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62249" y="2368538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63392" y="203937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402585" y="202260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1847" y="1967625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09117" y="194277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17636" y="2155510"/>
            <a:ext cx="3449642" cy="397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11181" y="6168644"/>
            <a:ext cx="3060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(4) </a:t>
            </a:r>
            <a:r>
              <a:rPr dirty="0" sz="2400" spc="-15" b="1">
                <a:solidFill>
                  <a:srgbClr val="0070C0"/>
                </a:solidFill>
                <a:latin typeface="Calibri"/>
                <a:cs typeface="Calibri"/>
              </a:rPr>
              <a:t>Graph</a:t>
            </a:r>
            <a:r>
              <a:rPr dirty="0" sz="2400" spc="-6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30389" y="20827"/>
            <a:ext cx="516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1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132868" y="1163827"/>
            <a:ext cx="58102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</a:rPr>
              <a:t>Idea: </a:t>
            </a:r>
            <a:r>
              <a:rPr dirty="0" sz="2400" spc="-10">
                <a:solidFill>
                  <a:srgbClr val="C00000"/>
                </a:solidFill>
              </a:rPr>
              <a:t>Raw </a:t>
            </a:r>
            <a:r>
              <a:rPr dirty="0" sz="2400" spc="-5">
                <a:solidFill>
                  <a:srgbClr val="C00000"/>
                </a:solidFill>
              </a:rPr>
              <a:t>input </a:t>
            </a:r>
            <a:r>
              <a:rPr dirty="0" sz="2400" spc="-15">
                <a:solidFill>
                  <a:srgbClr val="C00000"/>
                </a:solidFill>
              </a:rPr>
              <a:t>graph </a:t>
            </a:r>
            <a:r>
              <a:rPr dirty="0" sz="2400" b="0">
                <a:solidFill>
                  <a:srgbClr val="C00000"/>
                </a:solidFill>
                <a:latin typeface="Cambria Math"/>
                <a:cs typeface="Cambria Math"/>
              </a:rPr>
              <a:t>≠ </a:t>
            </a:r>
            <a:r>
              <a:rPr dirty="0" sz="2400" spc="-10">
                <a:solidFill>
                  <a:srgbClr val="C00000"/>
                </a:solidFill>
              </a:rPr>
              <a:t>computational</a:t>
            </a:r>
            <a:r>
              <a:rPr dirty="0" sz="2400" spc="-15">
                <a:solidFill>
                  <a:srgbClr val="C00000"/>
                </a:solidFill>
              </a:rPr>
              <a:t> graph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32868" y="1520444"/>
            <a:ext cx="421068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15" b="1">
                <a:latin typeface="Calibri"/>
                <a:cs typeface="Calibri"/>
              </a:rPr>
              <a:t>Graph feature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15" b="1">
                <a:latin typeface="Calibri"/>
                <a:cs typeface="Calibri"/>
              </a:rPr>
              <a:t>Graph </a:t>
            </a:r>
            <a:r>
              <a:rPr dirty="0" sz="2400" spc="-10" b="1">
                <a:latin typeface="Calibri"/>
                <a:cs typeface="Calibri"/>
              </a:rPr>
              <a:t>structure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8640" y="347472"/>
            <a:ext cx="7388352" cy="5273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91345" y="2516037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26219" y="2118419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5704" y="2054125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5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26446" y="1628394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4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9395" y="1645108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70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3542" y="1868218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53221" y="0"/>
                </a:moveTo>
                <a:lnTo>
                  <a:pt x="0" y="179"/>
                </a:lnTo>
                <a:lnTo>
                  <a:pt x="26791" y="53310"/>
                </a:lnTo>
                <a:lnTo>
                  <a:pt x="53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0918" y="1488617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1480" y="1616090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30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15290" y="150268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63088" y="148152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4951" y="2096364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09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7340" y="25463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33366" y="272762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13972" y="2490946"/>
            <a:ext cx="1045210" cy="7391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  <a:p>
            <a:pPr marL="775335">
              <a:lnSpc>
                <a:spcPct val="100000"/>
              </a:lnSpc>
              <a:spcBef>
                <a:spcPts val="3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 marL="340360">
              <a:lnSpc>
                <a:spcPct val="100000"/>
              </a:lnSpc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82927" y="2179035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40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23426" y="238460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90"/>
                </a:lnTo>
                <a:lnTo>
                  <a:pt x="90961" y="181432"/>
                </a:lnTo>
                <a:lnTo>
                  <a:pt x="125190" y="174790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2" y="90716"/>
                </a:lnTo>
                <a:lnTo>
                  <a:pt x="175262" y="56579"/>
                </a:lnTo>
                <a:lnTo>
                  <a:pt x="155280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562249" y="2368538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63392" y="203937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402585" y="202260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71847" y="1967625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09117" y="194277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17636" y="2155510"/>
            <a:ext cx="3449642" cy="39739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618782" y="1721611"/>
            <a:ext cx="2755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0B5CC"/>
                </a:solidFill>
                <a:latin typeface="Calibri"/>
                <a:cs typeface="Calibri"/>
              </a:rPr>
              <a:t>(5) Learning</a:t>
            </a:r>
            <a:r>
              <a:rPr dirty="0" sz="2400" spc="-4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60B5CC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30389" y="20827"/>
            <a:ext cx="516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1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2918" y="3480308"/>
            <a:ext cx="3628390" cy="1863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How do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train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4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GNN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ts val="2900"/>
              </a:lnSpc>
              <a:spcBef>
                <a:spcPts val="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5" b="1">
                <a:latin typeface="Calibri"/>
                <a:cs typeface="Calibri"/>
              </a:rPr>
              <a:t>Supervised/Unsupervised  objectives</a:t>
            </a:r>
            <a:endParaRPr sz="2400">
              <a:latin typeface="Calibri"/>
              <a:cs typeface="Calibri"/>
            </a:endParaRPr>
          </a:p>
          <a:p>
            <a:pPr marL="355600" marR="278765" indent="-342900">
              <a:lnSpc>
                <a:spcPts val="29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15" b="1">
                <a:latin typeface="Calibri"/>
                <a:cs typeface="Calibri"/>
              </a:rPr>
              <a:t>Node/Edge/Graph </a:t>
            </a:r>
            <a:r>
              <a:rPr dirty="0" sz="2400" spc="-10" b="1">
                <a:latin typeface="Calibri"/>
                <a:cs typeface="Calibri"/>
              </a:rPr>
              <a:t>level  </a:t>
            </a:r>
            <a:r>
              <a:rPr dirty="0" sz="2400" spc="-5" b="1">
                <a:latin typeface="Calibri"/>
                <a:cs typeface="Calibri"/>
              </a:rPr>
              <a:t>objectives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91345" y="2516037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6219" y="2118419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5704" y="2054125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5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26446" y="1628394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4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42171" y="3085247"/>
            <a:ext cx="716915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9395" y="1645108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70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3542" y="1868218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53221" y="0"/>
                </a:moveTo>
                <a:lnTo>
                  <a:pt x="0" y="179"/>
                </a:lnTo>
                <a:lnTo>
                  <a:pt x="26791" y="53310"/>
                </a:lnTo>
                <a:lnTo>
                  <a:pt x="53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0918" y="1488617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1480" y="1616090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30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15290" y="150268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63088" y="148152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4951" y="2096364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09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7340" y="25463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33366" y="272762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13972" y="2490946"/>
            <a:ext cx="862965" cy="39814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3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82927" y="2179035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40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23426" y="238460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90"/>
                </a:lnTo>
                <a:lnTo>
                  <a:pt x="90961" y="181432"/>
                </a:lnTo>
                <a:lnTo>
                  <a:pt x="125190" y="174790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2" y="90716"/>
                </a:lnTo>
                <a:lnTo>
                  <a:pt x="175262" y="56579"/>
                </a:lnTo>
                <a:lnTo>
                  <a:pt x="155280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562249" y="2368538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63392" y="203937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402585" y="202260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71847" y="1967625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09117" y="194277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17636" y="2155510"/>
            <a:ext cx="3449642" cy="397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586295" y="3023107"/>
            <a:ext cx="1971675" cy="1056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2400" spc="-8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2400" spc="-7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079980" y="2891656"/>
            <a:ext cx="5986145" cy="1302385"/>
          </a:xfrm>
          <a:custGeom>
            <a:avLst/>
            <a:gdLst/>
            <a:ahLst/>
            <a:cxnLst/>
            <a:rect l="l" t="t" r="r" b="b"/>
            <a:pathLst>
              <a:path w="5986145" h="1302385">
                <a:moveTo>
                  <a:pt x="0" y="0"/>
                </a:moveTo>
                <a:lnTo>
                  <a:pt x="5985711" y="0"/>
                </a:lnTo>
                <a:lnTo>
                  <a:pt x="5985711" y="1302052"/>
                </a:lnTo>
                <a:lnTo>
                  <a:pt x="0" y="130205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184670" y="3332988"/>
            <a:ext cx="13296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79979" y="4688799"/>
            <a:ext cx="5986145" cy="1096010"/>
          </a:xfrm>
          <a:prstGeom prst="rect">
            <a:avLst/>
          </a:prstGeom>
          <a:ln w="25400">
            <a:solidFill>
              <a:srgbClr val="C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11181" y="6168644"/>
            <a:ext cx="3060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(4) </a:t>
            </a:r>
            <a:r>
              <a:rPr dirty="0" sz="2400" spc="-15" b="1">
                <a:solidFill>
                  <a:srgbClr val="0070C0"/>
                </a:solidFill>
                <a:latin typeface="Calibri"/>
                <a:cs typeface="Calibri"/>
              </a:rPr>
              <a:t>Graph</a:t>
            </a:r>
            <a:r>
              <a:rPr dirty="0" sz="2400" spc="-6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5724" y="4025900"/>
            <a:ext cx="157353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(3) 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Layer  c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nne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sz="2400" spc="0" b="1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2400" spc="0" b="1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18782" y="1721611"/>
            <a:ext cx="2755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0B5CC"/>
                </a:solidFill>
                <a:latin typeface="Calibri"/>
                <a:cs typeface="Calibri"/>
              </a:rPr>
              <a:t>(5) Learning</a:t>
            </a:r>
            <a:r>
              <a:rPr dirty="0" sz="2400" spc="-4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60B5CC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30389" y="20827"/>
            <a:ext cx="516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1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8640" y="347472"/>
            <a:ext cx="7367016" cy="536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40" y="3550920"/>
            <a:ext cx="6089904" cy="1298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3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71856"/>
            <a:ext cx="3197352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1345" y="2516037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6219" y="2118419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5704" y="2054125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5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26446" y="1628394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4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42171" y="3085247"/>
            <a:ext cx="716915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9395" y="1645108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70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3542" y="1868218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53221" y="0"/>
                </a:moveTo>
                <a:lnTo>
                  <a:pt x="0" y="179"/>
                </a:lnTo>
                <a:lnTo>
                  <a:pt x="26791" y="53310"/>
                </a:lnTo>
                <a:lnTo>
                  <a:pt x="53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0918" y="1488617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1480" y="1616090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30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15290" y="150268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63088" y="148152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4951" y="2096364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09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7340" y="25463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33366" y="272762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13972" y="2490946"/>
            <a:ext cx="862965" cy="39814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3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82927" y="2179035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40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23426" y="238460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90"/>
                </a:lnTo>
                <a:lnTo>
                  <a:pt x="90961" y="181432"/>
                </a:lnTo>
                <a:lnTo>
                  <a:pt x="125190" y="174790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2" y="90716"/>
                </a:lnTo>
                <a:lnTo>
                  <a:pt x="175262" y="56579"/>
                </a:lnTo>
                <a:lnTo>
                  <a:pt x="155280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562249" y="2368538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63392" y="203937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402585" y="202260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1847" y="1967625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09117" y="194277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17636" y="2155510"/>
            <a:ext cx="3449642" cy="397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586295" y="3023107"/>
            <a:ext cx="1971675" cy="1056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2400" spc="-8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2400" spc="-7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79980" y="2891656"/>
            <a:ext cx="5986145" cy="1302385"/>
          </a:xfrm>
          <a:custGeom>
            <a:avLst/>
            <a:gdLst/>
            <a:ahLst/>
            <a:cxnLst/>
            <a:rect l="l" t="t" r="r" b="b"/>
            <a:pathLst>
              <a:path w="5986145" h="1302385">
                <a:moveTo>
                  <a:pt x="0" y="0"/>
                </a:moveTo>
                <a:lnTo>
                  <a:pt x="5985711" y="0"/>
                </a:lnTo>
                <a:lnTo>
                  <a:pt x="5985711" y="1302052"/>
                </a:lnTo>
                <a:lnTo>
                  <a:pt x="0" y="130205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184670" y="3332988"/>
            <a:ext cx="13296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2132868" y="1151636"/>
            <a:ext cx="45827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</a:rPr>
              <a:t>GNN </a:t>
            </a:r>
            <a:r>
              <a:rPr dirty="0" sz="2400" spc="-20">
                <a:solidFill>
                  <a:srgbClr val="C00000"/>
                </a:solidFill>
              </a:rPr>
              <a:t>Layer </a:t>
            </a:r>
            <a:r>
              <a:rPr dirty="0" sz="2400">
                <a:solidFill>
                  <a:srgbClr val="C00000"/>
                </a:solidFill>
              </a:rPr>
              <a:t>= </a:t>
            </a:r>
            <a:r>
              <a:rPr dirty="0" sz="2400" spc="-5">
                <a:solidFill>
                  <a:srgbClr val="C00000"/>
                </a:solidFill>
              </a:rPr>
              <a:t>Message </a:t>
            </a:r>
            <a:r>
              <a:rPr dirty="0" sz="2400">
                <a:solidFill>
                  <a:srgbClr val="C00000"/>
                </a:solidFill>
              </a:rPr>
              <a:t>+</a:t>
            </a:r>
            <a:r>
              <a:rPr dirty="0" sz="2400" spc="-70">
                <a:solidFill>
                  <a:srgbClr val="C00000"/>
                </a:solidFill>
              </a:rPr>
              <a:t> </a:t>
            </a:r>
            <a:r>
              <a:rPr dirty="0" sz="2400" spc="-10">
                <a:solidFill>
                  <a:srgbClr val="C00000"/>
                </a:solidFill>
              </a:rPr>
              <a:t>Aggregation</a:t>
            </a:r>
            <a:endParaRPr sz="2400"/>
          </a:p>
        </p:txBody>
      </p:sp>
      <p:sp>
        <p:nvSpPr>
          <p:cNvPr id="30" name="object 30"/>
          <p:cNvSpPr txBox="1"/>
          <p:nvPr/>
        </p:nvSpPr>
        <p:spPr>
          <a:xfrm>
            <a:off x="2132868" y="1520444"/>
            <a:ext cx="619188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15" b="1">
                <a:latin typeface="Calibri"/>
                <a:cs typeface="Calibri"/>
              </a:rPr>
              <a:t>Different </a:t>
            </a:r>
            <a:r>
              <a:rPr dirty="0" sz="2400" spc="-10" b="1">
                <a:latin typeface="Calibri"/>
                <a:cs typeface="Calibri"/>
              </a:rPr>
              <a:t>instantiations </a:t>
            </a:r>
            <a:r>
              <a:rPr dirty="0" sz="2400" spc="-5" b="1">
                <a:latin typeface="Calibri"/>
                <a:cs typeface="Calibri"/>
              </a:rPr>
              <a:t>under this</a:t>
            </a:r>
            <a:r>
              <a:rPr dirty="0" sz="2400" spc="3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perspective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5" b="1">
                <a:latin typeface="Calibri"/>
                <a:cs typeface="Calibri"/>
              </a:rPr>
              <a:t>GCN, </a:t>
            </a:r>
            <a:r>
              <a:rPr dirty="0" sz="2400" spc="-15" b="1">
                <a:latin typeface="Calibri"/>
                <a:cs typeface="Calibri"/>
              </a:rPr>
              <a:t>GraphSAGE, </a:t>
            </a:r>
            <a:r>
              <a:rPr dirty="0" sz="2400" spc="-110" b="1">
                <a:latin typeface="Calibri"/>
                <a:cs typeface="Calibri"/>
              </a:rPr>
              <a:t>GAT,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30389" y="20827"/>
            <a:ext cx="5156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8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48432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8017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60B5CC"/>
                </a:solidFill>
              </a:rPr>
              <a:t>Idea </a:t>
            </a:r>
            <a:r>
              <a:rPr dirty="0">
                <a:solidFill>
                  <a:srgbClr val="60B5CC"/>
                </a:solidFill>
              </a:rPr>
              <a:t>of a </a:t>
            </a:r>
            <a:r>
              <a:rPr dirty="0" spc="-5">
                <a:solidFill>
                  <a:srgbClr val="60B5CC"/>
                </a:solidFill>
              </a:rPr>
              <a:t>GNN</a:t>
            </a:r>
            <a:r>
              <a:rPr dirty="0" spc="-60">
                <a:solidFill>
                  <a:srgbClr val="60B5CC"/>
                </a:solidFill>
              </a:rPr>
              <a:t> </a:t>
            </a:r>
            <a:r>
              <a:rPr dirty="0" spc="-20">
                <a:solidFill>
                  <a:srgbClr val="60B5CC"/>
                </a:solidFill>
              </a:rPr>
              <a:t>Layer: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26259"/>
            <a:ext cx="6797040" cy="14998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Compress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set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20">
                <a:latin typeface="Calibri"/>
                <a:cs typeface="Calibri"/>
              </a:rPr>
              <a:t>vectors </a:t>
            </a:r>
            <a:r>
              <a:rPr dirty="0" sz="2800" spc="-15">
                <a:latin typeface="Calibri"/>
                <a:cs typeface="Calibri"/>
              </a:rPr>
              <a:t>into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single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vector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40" b="1">
                <a:latin typeface="Calibri"/>
                <a:cs typeface="Calibri"/>
              </a:rPr>
              <a:t>Two </a:t>
            </a:r>
            <a:r>
              <a:rPr dirty="0" sz="2800" spc="-20" b="1">
                <a:latin typeface="Calibri"/>
                <a:cs typeface="Calibri"/>
              </a:rPr>
              <a:t>step</a:t>
            </a:r>
            <a:r>
              <a:rPr dirty="0" sz="2800" spc="-10" b="1">
                <a:latin typeface="Calibri"/>
                <a:cs typeface="Calibri"/>
              </a:rPr>
              <a:t> process: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2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 b="1">
                <a:latin typeface="Calibri"/>
                <a:cs typeface="Calibri"/>
              </a:rPr>
              <a:t>(1)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Message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7713" y="3379723"/>
            <a:ext cx="21964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Arial"/>
              <a:buChar char="▪"/>
              <a:tabLst>
                <a:tab pos="241300" algn="l"/>
              </a:tabLst>
            </a:pPr>
            <a:r>
              <a:rPr dirty="0" sz="2400" spc="-5" b="1">
                <a:latin typeface="Calibri"/>
                <a:cs typeface="Calibri"/>
              </a:rPr>
              <a:t>(2)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Aggregation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88177" y="548905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07" y="6992"/>
                </a:lnTo>
                <a:lnTo>
                  <a:pt x="56155" y="26463"/>
                </a:lnTo>
                <a:lnTo>
                  <a:pt x="26464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4" y="218165"/>
                </a:lnTo>
                <a:lnTo>
                  <a:pt x="56155" y="247856"/>
                </a:lnTo>
                <a:lnTo>
                  <a:pt x="93807" y="267327"/>
                </a:lnTo>
                <a:lnTo>
                  <a:pt x="137160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20868" y="548905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60" y="274320"/>
                </a:lnTo>
                <a:lnTo>
                  <a:pt x="180512" y="267327"/>
                </a:lnTo>
                <a:lnTo>
                  <a:pt x="218164" y="247856"/>
                </a:lnTo>
                <a:lnTo>
                  <a:pt x="247855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5" y="56154"/>
                </a:lnTo>
                <a:lnTo>
                  <a:pt x="218164" y="26463"/>
                </a:lnTo>
                <a:lnTo>
                  <a:pt x="180512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01103" y="549018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60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33728" y="549018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59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59" y="274320"/>
                </a:lnTo>
                <a:lnTo>
                  <a:pt x="180512" y="267327"/>
                </a:lnTo>
                <a:lnTo>
                  <a:pt x="218164" y="247856"/>
                </a:lnTo>
                <a:lnTo>
                  <a:pt x="247855" y="218165"/>
                </a:lnTo>
                <a:lnTo>
                  <a:pt x="267327" y="180513"/>
                </a:lnTo>
                <a:lnTo>
                  <a:pt x="274319" y="137160"/>
                </a:lnTo>
                <a:lnTo>
                  <a:pt x="267327" y="93806"/>
                </a:lnTo>
                <a:lnTo>
                  <a:pt x="247855" y="56154"/>
                </a:lnTo>
                <a:lnTo>
                  <a:pt x="218164" y="26463"/>
                </a:lnTo>
                <a:lnTo>
                  <a:pt x="180512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4422" y="4218388"/>
            <a:ext cx="1368519" cy="21420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63055" y="5295036"/>
            <a:ext cx="222885" cy="633730"/>
          </a:xfrm>
          <a:custGeom>
            <a:avLst/>
            <a:gdLst/>
            <a:ahLst/>
            <a:cxnLst/>
            <a:rect l="l" t="t" r="r" b="b"/>
            <a:pathLst>
              <a:path w="222885" h="633729">
                <a:moveTo>
                  <a:pt x="222584" y="633481"/>
                </a:moveTo>
                <a:lnTo>
                  <a:pt x="179263" y="632023"/>
                </a:lnTo>
                <a:lnTo>
                  <a:pt x="143888" y="628048"/>
                </a:lnTo>
                <a:lnTo>
                  <a:pt x="120037" y="622152"/>
                </a:lnTo>
                <a:lnTo>
                  <a:pt x="111291" y="614933"/>
                </a:lnTo>
                <a:lnTo>
                  <a:pt x="111292" y="335288"/>
                </a:lnTo>
                <a:lnTo>
                  <a:pt x="102546" y="328068"/>
                </a:lnTo>
                <a:lnTo>
                  <a:pt x="78695" y="322173"/>
                </a:lnTo>
                <a:lnTo>
                  <a:pt x="43319" y="318198"/>
                </a:lnTo>
                <a:lnTo>
                  <a:pt x="0" y="316740"/>
                </a:lnTo>
                <a:lnTo>
                  <a:pt x="43319" y="315282"/>
                </a:lnTo>
                <a:lnTo>
                  <a:pt x="78695" y="311307"/>
                </a:lnTo>
                <a:lnTo>
                  <a:pt x="102546" y="305412"/>
                </a:lnTo>
                <a:lnTo>
                  <a:pt x="111292" y="298192"/>
                </a:lnTo>
                <a:lnTo>
                  <a:pt x="111292" y="18547"/>
                </a:lnTo>
                <a:lnTo>
                  <a:pt x="120038" y="11328"/>
                </a:lnTo>
                <a:lnTo>
                  <a:pt x="143889" y="5432"/>
                </a:lnTo>
                <a:lnTo>
                  <a:pt x="179264" y="1457"/>
                </a:lnTo>
                <a:lnTo>
                  <a:pt x="22258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71276" y="5041233"/>
            <a:ext cx="85725" cy="412750"/>
          </a:xfrm>
          <a:custGeom>
            <a:avLst/>
            <a:gdLst/>
            <a:ahLst/>
            <a:cxnLst/>
            <a:rect l="l" t="t" r="r" b="b"/>
            <a:pathLst>
              <a:path w="85725" h="412750">
                <a:moveTo>
                  <a:pt x="28574" y="85725"/>
                </a:moveTo>
                <a:lnTo>
                  <a:pt x="28573" y="406021"/>
                </a:lnTo>
                <a:lnTo>
                  <a:pt x="34970" y="412418"/>
                </a:lnTo>
                <a:lnTo>
                  <a:pt x="50751" y="412418"/>
                </a:lnTo>
                <a:lnTo>
                  <a:pt x="57148" y="406021"/>
                </a:lnTo>
                <a:lnTo>
                  <a:pt x="57149" y="85725"/>
                </a:lnTo>
                <a:lnTo>
                  <a:pt x="28574" y="85725"/>
                </a:lnTo>
                <a:close/>
              </a:path>
              <a:path w="85725" h="412750">
                <a:moveTo>
                  <a:pt x="71437" y="57150"/>
                </a:moveTo>
                <a:lnTo>
                  <a:pt x="34971" y="57150"/>
                </a:lnTo>
                <a:lnTo>
                  <a:pt x="50753" y="57151"/>
                </a:lnTo>
                <a:lnTo>
                  <a:pt x="57150" y="63546"/>
                </a:lnTo>
                <a:lnTo>
                  <a:pt x="57149" y="85725"/>
                </a:lnTo>
                <a:lnTo>
                  <a:pt x="85725" y="85726"/>
                </a:lnTo>
                <a:lnTo>
                  <a:pt x="71437" y="57150"/>
                </a:lnTo>
                <a:close/>
              </a:path>
              <a:path w="85725" h="412750">
                <a:moveTo>
                  <a:pt x="34971" y="57150"/>
                </a:moveTo>
                <a:lnTo>
                  <a:pt x="28575" y="63546"/>
                </a:lnTo>
                <a:lnTo>
                  <a:pt x="28574" y="85725"/>
                </a:lnTo>
                <a:lnTo>
                  <a:pt x="57149" y="85725"/>
                </a:lnTo>
                <a:lnTo>
                  <a:pt x="57150" y="63546"/>
                </a:lnTo>
                <a:lnTo>
                  <a:pt x="50753" y="57151"/>
                </a:lnTo>
                <a:lnTo>
                  <a:pt x="34971" y="57150"/>
                </a:lnTo>
                <a:close/>
              </a:path>
              <a:path w="85725" h="412750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6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176977" y="343852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06" y="6992"/>
                </a:lnTo>
                <a:lnTo>
                  <a:pt x="56154" y="26464"/>
                </a:lnTo>
                <a:lnTo>
                  <a:pt x="26463" y="56155"/>
                </a:lnTo>
                <a:lnTo>
                  <a:pt x="6992" y="93807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60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7"/>
                </a:lnTo>
                <a:lnTo>
                  <a:pt x="247856" y="56155"/>
                </a:lnTo>
                <a:lnTo>
                  <a:pt x="218165" y="26464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800609" y="6186423"/>
            <a:ext cx="1193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355">
                <a:latin typeface="Cambria Math"/>
                <a:cs typeface="Cambria Math"/>
              </a:rPr>
              <a:t>!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27821" y="6071041"/>
            <a:ext cx="391160" cy="153035"/>
          </a:xfrm>
          <a:custGeom>
            <a:avLst/>
            <a:gdLst/>
            <a:ahLst/>
            <a:cxnLst/>
            <a:rect l="l" t="t" r="r" b="b"/>
            <a:pathLst>
              <a:path w="391159" h="153035">
                <a:moveTo>
                  <a:pt x="341947" y="0"/>
                </a:moveTo>
                <a:lnTo>
                  <a:pt x="339770" y="6207"/>
                </a:lnTo>
                <a:lnTo>
                  <a:pt x="348623" y="10049"/>
                </a:lnTo>
                <a:lnTo>
                  <a:pt x="356236" y="15367"/>
                </a:lnTo>
                <a:lnTo>
                  <a:pt x="374516" y="50757"/>
                </a:lnTo>
                <a:lnTo>
                  <a:pt x="376773" y="75697"/>
                </a:lnTo>
                <a:lnTo>
                  <a:pt x="376206" y="89185"/>
                </a:lnTo>
                <a:lnTo>
                  <a:pt x="362572" y="130606"/>
                </a:lnTo>
                <a:lnTo>
                  <a:pt x="340012" y="146719"/>
                </a:lnTo>
                <a:lnTo>
                  <a:pt x="341947" y="152927"/>
                </a:lnTo>
                <a:lnTo>
                  <a:pt x="378143" y="126203"/>
                </a:lnTo>
                <a:lnTo>
                  <a:pt x="390719" y="76503"/>
                </a:lnTo>
                <a:lnTo>
                  <a:pt x="389930" y="62484"/>
                </a:lnTo>
                <a:lnTo>
                  <a:pt x="371112" y="17405"/>
                </a:lnTo>
                <a:lnTo>
                  <a:pt x="353034" y="4003"/>
                </a:lnTo>
                <a:lnTo>
                  <a:pt x="341947" y="0"/>
                </a:lnTo>
                <a:close/>
              </a:path>
              <a:path w="391159" h="153035">
                <a:moveTo>
                  <a:pt x="48771" y="0"/>
                </a:moveTo>
                <a:lnTo>
                  <a:pt x="12616" y="26804"/>
                </a:lnTo>
                <a:lnTo>
                  <a:pt x="0" y="76503"/>
                </a:lnTo>
                <a:lnTo>
                  <a:pt x="785" y="90553"/>
                </a:lnTo>
                <a:lnTo>
                  <a:pt x="19554" y="135567"/>
                </a:lnTo>
                <a:lnTo>
                  <a:pt x="48771" y="152927"/>
                </a:lnTo>
                <a:lnTo>
                  <a:pt x="50706" y="146719"/>
                </a:lnTo>
                <a:lnTo>
                  <a:pt x="41992" y="142860"/>
                </a:lnTo>
                <a:lnTo>
                  <a:pt x="34472" y="137489"/>
                </a:lnTo>
                <a:lnTo>
                  <a:pt x="16212" y="101434"/>
                </a:lnTo>
                <a:lnTo>
                  <a:pt x="13945" y="75697"/>
                </a:lnTo>
                <a:lnTo>
                  <a:pt x="14512" y="62650"/>
                </a:lnTo>
                <a:lnTo>
                  <a:pt x="28161" y="22161"/>
                </a:lnTo>
                <a:lnTo>
                  <a:pt x="50948" y="6207"/>
                </a:lnTo>
                <a:lnTo>
                  <a:pt x="487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146310" y="6068059"/>
            <a:ext cx="3030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Input </a:t>
            </a:r>
            <a:r>
              <a:rPr dirty="0" sz="1800" b="1">
                <a:latin typeface="Arial"/>
                <a:cs typeface="Arial"/>
              </a:rPr>
              <a:t>node </a:t>
            </a:r>
            <a:r>
              <a:rPr dirty="0" sz="1800" spc="-5" b="1">
                <a:latin typeface="Arial"/>
                <a:cs typeface="Arial"/>
              </a:rPr>
              <a:t>embedding </a:t>
            </a:r>
            <a:r>
              <a:rPr dirty="0" sz="1800">
                <a:latin typeface="Cambria Math"/>
                <a:cs typeface="Cambria Math"/>
              </a:rPr>
              <a:t>𝐡</a:t>
            </a:r>
            <a:r>
              <a:rPr dirty="0" sz="1800" spc="80">
                <a:latin typeface="Cambria Math"/>
                <a:cs typeface="Cambria Math"/>
              </a:rPr>
              <a:t> </a:t>
            </a:r>
            <a:r>
              <a:rPr dirty="0" baseline="38461" sz="1950" spc="97">
                <a:latin typeface="Cambria Math"/>
                <a:cs typeface="Cambria Math"/>
              </a:rPr>
              <a:t>"#$</a:t>
            </a:r>
            <a:endParaRPr baseline="38461" sz="19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60768" y="6204711"/>
            <a:ext cx="6051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90">
                <a:latin typeface="Cambria Math"/>
                <a:cs typeface="Cambria Math"/>
              </a:rPr>
              <a:t>%</a:t>
            </a:r>
            <a:r>
              <a:rPr dirty="0" sz="1300">
                <a:latin typeface="Cambria Math"/>
                <a:cs typeface="Cambria Math"/>
              </a:rPr>
              <a:t>∈</a:t>
            </a:r>
            <a:r>
              <a:rPr dirty="0" sz="1300" spc="700">
                <a:latin typeface="Cambria Math"/>
                <a:cs typeface="Cambria Math"/>
              </a:rPr>
              <a:t>'</a:t>
            </a:r>
            <a:r>
              <a:rPr dirty="0" sz="1300" spc="5">
                <a:latin typeface="Cambria Math"/>
                <a:cs typeface="Cambria Math"/>
              </a:rPr>
              <a:t>(</a:t>
            </a:r>
            <a:r>
              <a:rPr dirty="0" sz="1300" spc="390">
                <a:latin typeface="Cambria Math"/>
                <a:cs typeface="Cambria Math"/>
              </a:rPr>
              <a:t>!</a:t>
            </a:r>
            <a:r>
              <a:rPr dirty="0" sz="1300">
                <a:latin typeface="Cambria Math"/>
                <a:cs typeface="Cambria Math"/>
              </a:rPr>
              <a:t>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587979" y="6071041"/>
            <a:ext cx="391160" cy="153035"/>
          </a:xfrm>
          <a:custGeom>
            <a:avLst/>
            <a:gdLst/>
            <a:ahLst/>
            <a:cxnLst/>
            <a:rect l="l" t="t" r="r" b="b"/>
            <a:pathLst>
              <a:path w="391159" h="153035">
                <a:moveTo>
                  <a:pt x="341947" y="0"/>
                </a:moveTo>
                <a:lnTo>
                  <a:pt x="339770" y="6207"/>
                </a:lnTo>
                <a:lnTo>
                  <a:pt x="348623" y="10049"/>
                </a:lnTo>
                <a:lnTo>
                  <a:pt x="356236" y="15367"/>
                </a:lnTo>
                <a:lnTo>
                  <a:pt x="374516" y="50757"/>
                </a:lnTo>
                <a:lnTo>
                  <a:pt x="376773" y="75697"/>
                </a:lnTo>
                <a:lnTo>
                  <a:pt x="376206" y="89185"/>
                </a:lnTo>
                <a:lnTo>
                  <a:pt x="362571" y="130606"/>
                </a:lnTo>
                <a:lnTo>
                  <a:pt x="340012" y="146719"/>
                </a:lnTo>
                <a:lnTo>
                  <a:pt x="341947" y="152927"/>
                </a:lnTo>
                <a:lnTo>
                  <a:pt x="378143" y="126203"/>
                </a:lnTo>
                <a:lnTo>
                  <a:pt x="390719" y="76503"/>
                </a:lnTo>
                <a:lnTo>
                  <a:pt x="389930" y="62484"/>
                </a:lnTo>
                <a:lnTo>
                  <a:pt x="371112" y="17405"/>
                </a:lnTo>
                <a:lnTo>
                  <a:pt x="353034" y="4003"/>
                </a:lnTo>
                <a:lnTo>
                  <a:pt x="341947" y="0"/>
                </a:lnTo>
                <a:close/>
              </a:path>
              <a:path w="391159" h="153035">
                <a:moveTo>
                  <a:pt x="48771" y="0"/>
                </a:moveTo>
                <a:lnTo>
                  <a:pt x="12616" y="26804"/>
                </a:lnTo>
                <a:lnTo>
                  <a:pt x="0" y="76503"/>
                </a:lnTo>
                <a:lnTo>
                  <a:pt x="785" y="90553"/>
                </a:lnTo>
                <a:lnTo>
                  <a:pt x="19553" y="135567"/>
                </a:lnTo>
                <a:lnTo>
                  <a:pt x="48771" y="152927"/>
                </a:lnTo>
                <a:lnTo>
                  <a:pt x="50706" y="146719"/>
                </a:lnTo>
                <a:lnTo>
                  <a:pt x="41992" y="142860"/>
                </a:lnTo>
                <a:lnTo>
                  <a:pt x="34472" y="137489"/>
                </a:lnTo>
                <a:lnTo>
                  <a:pt x="16212" y="101434"/>
                </a:lnTo>
                <a:lnTo>
                  <a:pt x="13945" y="75697"/>
                </a:lnTo>
                <a:lnTo>
                  <a:pt x="14512" y="62650"/>
                </a:lnTo>
                <a:lnTo>
                  <a:pt x="28161" y="22161"/>
                </a:lnTo>
                <a:lnTo>
                  <a:pt x="50948" y="6207"/>
                </a:lnTo>
                <a:lnTo>
                  <a:pt x="487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294068" y="5952235"/>
            <a:ext cx="6426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7777" sz="2700" b="1">
                <a:latin typeface="Arial"/>
                <a:cs typeface="Arial"/>
              </a:rPr>
              <a:t>, </a:t>
            </a:r>
            <a:r>
              <a:rPr dirty="0" baseline="-27777" sz="2700">
                <a:latin typeface="Cambria Math"/>
                <a:cs typeface="Cambria Math"/>
              </a:rPr>
              <a:t>𝐡</a:t>
            </a:r>
            <a:r>
              <a:rPr dirty="0" baseline="-27777" sz="2700" spc="75">
                <a:latin typeface="Cambria Math"/>
                <a:cs typeface="Cambria Math"/>
              </a:rPr>
              <a:t> </a:t>
            </a:r>
            <a:r>
              <a:rPr dirty="0" sz="1300" spc="65">
                <a:latin typeface="Cambria Math"/>
                <a:cs typeface="Cambria Math"/>
              </a:rPr>
              <a:t>"#$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21493" y="6397244"/>
            <a:ext cx="3880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(from node itself </a:t>
            </a:r>
            <a:r>
              <a:rPr dirty="0" sz="1800">
                <a:latin typeface="Arial"/>
                <a:cs typeface="Arial"/>
              </a:rPr>
              <a:t>+ </a:t>
            </a:r>
            <a:r>
              <a:rPr dirty="0" sz="1800" spc="-5">
                <a:latin typeface="Arial"/>
                <a:cs typeface="Arial"/>
              </a:rPr>
              <a:t>neighboring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nodes)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735996" y="5295035"/>
            <a:ext cx="222885" cy="633730"/>
          </a:xfrm>
          <a:custGeom>
            <a:avLst/>
            <a:gdLst/>
            <a:ahLst/>
            <a:cxnLst/>
            <a:rect l="l" t="t" r="r" b="b"/>
            <a:pathLst>
              <a:path w="222884" h="633729">
                <a:moveTo>
                  <a:pt x="0" y="0"/>
                </a:moveTo>
                <a:lnTo>
                  <a:pt x="43320" y="1457"/>
                </a:lnTo>
                <a:lnTo>
                  <a:pt x="78696" y="5432"/>
                </a:lnTo>
                <a:lnTo>
                  <a:pt x="102547" y="11328"/>
                </a:lnTo>
                <a:lnTo>
                  <a:pt x="111293" y="18547"/>
                </a:lnTo>
                <a:lnTo>
                  <a:pt x="111292" y="298192"/>
                </a:lnTo>
                <a:lnTo>
                  <a:pt x="120038" y="305412"/>
                </a:lnTo>
                <a:lnTo>
                  <a:pt x="143889" y="311307"/>
                </a:lnTo>
                <a:lnTo>
                  <a:pt x="179264" y="315282"/>
                </a:lnTo>
                <a:lnTo>
                  <a:pt x="222584" y="316740"/>
                </a:lnTo>
                <a:lnTo>
                  <a:pt x="179264" y="318198"/>
                </a:lnTo>
                <a:lnTo>
                  <a:pt x="143889" y="322173"/>
                </a:lnTo>
                <a:lnTo>
                  <a:pt x="120038" y="328068"/>
                </a:lnTo>
                <a:lnTo>
                  <a:pt x="111292" y="335288"/>
                </a:lnTo>
                <a:lnTo>
                  <a:pt x="111292" y="614933"/>
                </a:lnTo>
                <a:lnTo>
                  <a:pt x="102546" y="622152"/>
                </a:lnTo>
                <a:lnTo>
                  <a:pt x="78695" y="628048"/>
                </a:lnTo>
                <a:lnTo>
                  <a:pt x="43320" y="632023"/>
                </a:lnTo>
                <a:lnTo>
                  <a:pt x="0" y="63348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271276" y="3828670"/>
            <a:ext cx="85725" cy="412750"/>
          </a:xfrm>
          <a:custGeom>
            <a:avLst/>
            <a:gdLst/>
            <a:ahLst/>
            <a:cxnLst/>
            <a:rect l="l" t="t" r="r" b="b"/>
            <a:pathLst>
              <a:path w="85725" h="412750">
                <a:moveTo>
                  <a:pt x="28574" y="85725"/>
                </a:moveTo>
                <a:lnTo>
                  <a:pt x="28573" y="406021"/>
                </a:lnTo>
                <a:lnTo>
                  <a:pt x="34970" y="412418"/>
                </a:lnTo>
                <a:lnTo>
                  <a:pt x="50751" y="412418"/>
                </a:lnTo>
                <a:lnTo>
                  <a:pt x="57148" y="406021"/>
                </a:lnTo>
                <a:lnTo>
                  <a:pt x="57149" y="85725"/>
                </a:lnTo>
                <a:lnTo>
                  <a:pt x="28574" y="85725"/>
                </a:lnTo>
                <a:close/>
              </a:path>
              <a:path w="85725" h="412750">
                <a:moveTo>
                  <a:pt x="71437" y="57150"/>
                </a:moveTo>
                <a:lnTo>
                  <a:pt x="34971" y="57150"/>
                </a:lnTo>
                <a:lnTo>
                  <a:pt x="50753" y="57151"/>
                </a:lnTo>
                <a:lnTo>
                  <a:pt x="57150" y="63546"/>
                </a:lnTo>
                <a:lnTo>
                  <a:pt x="57149" y="85725"/>
                </a:lnTo>
                <a:lnTo>
                  <a:pt x="85725" y="85726"/>
                </a:lnTo>
                <a:lnTo>
                  <a:pt x="71437" y="57150"/>
                </a:lnTo>
                <a:close/>
              </a:path>
              <a:path w="85725" h="412750">
                <a:moveTo>
                  <a:pt x="34971" y="57150"/>
                </a:moveTo>
                <a:lnTo>
                  <a:pt x="28575" y="63546"/>
                </a:lnTo>
                <a:lnTo>
                  <a:pt x="28574" y="85725"/>
                </a:lnTo>
                <a:lnTo>
                  <a:pt x="57149" y="85725"/>
                </a:lnTo>
                <a:lnTo>
                  <a:pt x="57150" y="63546"/>
                </a:lnTo>
                <a:lnTo>
                  <a:pt x="50753" y="57151"/>
                </a:lnTo>
                <a:lnTo>
                  <a:pt x="34971" y="57150"/>
                </a:lnTo>
                <a:close/>
              </a:path>
              <a:path w="85725" h="412750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6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734561" y="4326233"/>
            <a:ext cx="3159760" cy="597535"/>
          </a:xfrm>
          <a:custGeom>
            <a:avLst/>
            <a:gdLst/>
            <a:ahLst/>
            <a:cxnLst/>
            <a:rect l="l" t="t" r="r" b="b"/>
            <a:pathLst>
              <a:path w="3159759" h="597535">
                <a:moveTo>
                  <a:pt x="3135152" y="0"/>
                </a:moveTo>
                <a:lnTo>
                  <a:pt x="24000" y="0"/>
                </a:lnTo>
                <a:lnTo>
                  <a:pt x="14658" y="1885"/>
                </a:lnTo>
                <a:lnTo>
                  <a:pt x="7029" y="7028"/>
                </a:lnTo>
                <a:lnTo>
                  <a:pt x="1886" y="14657"/>
                </a:lnTo>
                <a:lnTo>
                  <a:pt x="0" y="23999"/>
                </a:lnTo>
                <a:lnTo>
                  <a:pt x="0" y="573464"/>
                </a:lnTo>
                <a:lnTo>
                  <a:pt x="1886" y="582806"/>
                </a:lnTo>
                <a:lnTo>
                  <a:pt x="7029" y="590435"/>
                </a:lnTo>
                <a:lnTo>
                  <a:pt x="14658" y="595579"/>
                </a:lnTo>
                <a:lnTo>
                  <a:pt x="24000" y="597465"/>
                </a:lnTo>
                <a:lnTo>
                  <a:pt x="3135152" y="597465"/>
                </a:lnTo>
                <a:lnTo>
                  <a:pt x="3144494" y="595579"/>
                </a:lnTo>
                <a:lnTo>
                  <a:pt x="3152123" y="590435"/>
                </a:lnTo>
                <a:lnTo>
                  <a:pt x="3157266" y="582806"/>
                </a:lnTo>
                <a:lnTo>
                  <a:pt x="3159152" y="573464"/>
                </a:lnTo>
                <a:lnTo>
                  <a:pt x="3159152" y="568664"/>
                </a:lnTo>
                <a:lnTo>
                  <a:pt x="28801" y="568664"/>
                </a:lnTo>
                <a:lnTo>
                  <a:pt x="28801" y="28799"/>
                </a:lnTo>
                <a:lnTo>
                  <a:pt x="3159152" y="28799"/>
                </a:lnTo>
                <a:lnTo>
                  <a:pt x="3159152" y="23999"/>
                </a:lnTo>
                <a:lnTo>
                  <a:pt x="3157266" y="14657"/>
                </a:lnTo>
                <a:lnTo>
                  <a:pt x="3152123" y="7028"/>
                </a:lnTo>
                <a:lnTo>
                  <a:pt x="3144494" y="1885"/>
                </a:lnTo>
                <a:lnTo>
                  <a:pt x="3135152" y="0"/>
                </a:lnTo>
                <a:close/>
              </a:path>
              <a:path w="3159759" h="597535">
                <a:moveTo>
                  <a:pt x="3159152" y="28799"/>
                </a:moveTo>
                <a:lnTo>
                  <a:pt x="3130353" y="28799"/>
                </a:lnTo>
                <a:lnTo>
                  <a:pt x="3130353" y="568664"/>
                </a:lnTo>
                <a:lnTo>
                  <a:pt x="3159152" y="568664"/>
                </a:lnTo>
                <a:lnTo>
                  <a:pt x="3159152" y="28799"/>
                </a:lnTo>
                <a:close/>
              </a:path>
              <a:path w="3159759" h="597535">
                <a:moveTo>
                  <a:pt x="3120751" y="38399"/>
                </a:moveTo>
                <a:lnTo>
                  <a:pt x="38400" y="38399"/>
                </a:lnTo>
                <a:lnTo>
                  <a:pt x="38400" y="559064"/>
                </a:lnTo>
                <a:lnTo>
                  <a:pt x="3120751" y="559064"/>
                </a:lnTo>
                <a:lnTo>
                  <a:pt x="3120751" y="549464"/>
                </a:lnTo>
                <a:lnTo>
                  <a:pt x="48000" y="549464"/>
                </a:lnTo>
                <a:lnTo>
                  <a:pt x="48000" y="47999"/>
                </a:lnTo>
                <a:lnTo>
                  <a:pt x="3120751" y="47999"/>
                </a:lnTo>
                <a:lnTo>
                  <a:pt x="3120751" y="38399"/>
                </a:lnTo>
                <a:close/>
              </a:path>
              <a:path w="3159759" h="597535">
                <a:moveTo>
                  <a:pt x="3120751" y="47999"/>
                </a:moveTo>
                <a:lnTo>
                  <a:pt x="3111152" y="47999"/>
                </a:lnTo>
                <a:lnTo>
                  <a:pt x="3111152" y="549464"/>
                </a:lnTo>
                <a:lnTo>
                  <a:pt x="3120751" y="549464"/>
                </a:lnTo>
                <a:lnTo>
                  <a:pt x="3120751" y="4799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758561" y="4350232"/>
            <a:ext cx="3111500" cy="549910"/>
          </a:xfrm>
          <a:prstGeom prst="rect">
            <a:avLst/>
          </a:prstGeom>
          <a:solidFill>
            <a:srgbClr val="F0AD00"/>
          </a:solidFill>
        </p:spPr>
        <p:txBody>
          <a:bodyPr wrap="square" lIns="0" tIns="136525" rIns="0" bIns="0" rtlCol="0" vert="horz">
            <a:spAutoFit/>
          </a:bodyPr>
          <a:lstStyle/>
          <a:p>
            <a:pPr marL="744855">
              <a:lnSpc>
                <a:spcPct val="100000"/>
              </a:lnSpc>
              <a:spcBef>
                <a:spcPts val="1075"/>
              </a:spcBef>
            </a:pPr>
            <a:r>
              <a:rPr dirty="0" sz="1800" spc="-5">
                <a:solidFill>
                  <a:srgbClr val="FFFFFF"/>
                </a:solidFill>
                <a:latin typeface="Cambria Math"/>
                <a:cs typeface="Cambria Math"/>
              </a:rPr>
              <a:t>𝒍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-th GNN</a:t>
            </a:r>
            <a:r>
              <a:rPr dirty="0" sz="18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Layer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84000" y="3272535"/>
            <a:ext cx="1193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355">
                <a:latin typeface="Cambria Math"/>
                <a:cs typeface="Cambria Math"/>
              </a:rPr>
              <a:t>!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611210" y="3155588"/>
            <a:ext cx="173355" cy="153035"/>
          </a:xfrm>
          <a:custGeom>
            <a:avLst/>
            <a:gdLst/>
            <a:ahLst/>
            <a:cxnLst/>
            <a:rect l="l" t="t" r="r" b="b"/>
            <a:pathLst>
              <a:path w="173354" h="153035">
                <a:moveTo>
                  <a:pt x="124459" y="0"/>
                </a:moveTo>
                <a:lnTo>
                  <a:pt x="122283" y="6207"/>
                </a:lnTo>
                <a:lnTo>
                  <a:pt x="131136" y="10049"/>
                </a:lnTo>
                <a:lnTo>
                  <a:pt x="138749" y="15367"/>
                </a:lnTo>
                <a:lnTo>
                  <a:pt x="157028" y="50757"/>
                </a:lnTo>
                <a:lnTo>
                  <a:pt x="159285" y="75698"/>
                </a:lnTo>
                <a:lnTo>
                  <a:pt x="158719" y="89186"/>
                </a:lnTo>
                <a:lnTo>
                  <a:pt x="145085" y="130607"/>
                </a:lnTo>
                <a:lnTo>
                  <a:pt x="122525" y="146720"/>
                </a:lnTo>
                <a:lnTo>
                  <a:pt x="124459" y="152927"/>
                </a:lnTo>
                <a:lnTo>
                  <a:pt x="160656" y="126203"/>
                </a:lnTo>
                <a:lnTo>
                  <a:pt x="173233" y="76504"/>
                </a:lnTo>
                <a:lnTo>
                  <a:pt x="172444" y="62484"/>
                </a:lnTo>
                <a:lnTo>
                  <a:pt x="153625" y="17405"/>
                </a:lnTo>
                <a:lnTo>
                  <a:pt x="135547" y="4003"/>
                </a:lnTo>
                <a:lnTo>
                  <a:pt x="124459" y="0"/>
                </a:lnTo>
                <a:close/>
              </a:path>
              <a:path w="173354" h="153035">
                <a:moveTo>
                  <a:pt x="48771" y="0"/>
                </a:moveTo>
                <a:lnTo>
                  <a:pt x="12616" y="26804"/>
                </a:lnTo>
                <a:lnTo>
                  <a:pt x="0" y="76504"/>
                </a:lnTo>
                <a:lnTo>
                  <a:pt x="786" y="90554"/>
                </a:lnTo>
                <a:lnTo>
                  <a:pt x="19554" y="135567"/>
                </a:lnTo>
                <a:lnTo>
                  <a:pt x="48771" y="152927"/>
                </a:lnTo>
                <a:lnTo>
                  <a:pt x="50707" y="146720"/>
                </a:lnTo>
                <a:lnTo>
                  <a:pt x="41992" y="142860"/>
                </a:lnTo>
                <a:lnTo>
                  <a:pt x="34472" y="137489"/>
                </a:lnTo>
                <a:lnTo>
                  <a:pt x="16214" y="101434"/>
                </a:lnTo>
                <a:lnTo>
                  <a:pt x="13947" y="75698"/>
                </a:lnTo>
                <a:lnTo>
                  <a:pt x="14513" y="62650"/>
                </a:lnTo>
                <a:lnTo>
                  <a:pt x="28162" y="22162"/>
                </a:lnTo>
                <a:lnTo>
                  <a:pt x="50948" y="6207"/>
                </a:lnTo>
                <a:lnTo>
                  <a:pt x="487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739200" y="3154172"/>
            <a:ext cx="2997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Output </a:t>
            </a:r>
            <a:r>
              <a:rPr dirty="0" sz="1800" b="1">
                <a:latin typeface="Arial"/>
                <a:cs typeface="Arial"/>
              </a:rPr>
              <a:t>node </a:t>
            </a:r>
            <a:r>
              <a:rPr dirty="0" sz="1800" spc="-5" b="1">
                <a:latin typeface="Arial"/>
                <a:cs typeface="Arial"/>
              </a:rPr>
              <a:t>embedding </a:t>
            </a:r>
            <a:r>
              <a:rPr dirty="0" sz="1800">
                <a:latin typeface="Cambria Math"/>
                <a:cs typeface="Cambria Math"/>
              </a:rPr>
              <a:t>𝐡</a:t>
            </a:r>
            <a:r>
              <a:rPr dirty="0" sz="1800" spc="75">
                <a:latin typeface="Cambria Math"/>
                <a:cs typeface="Cambria Math"/>
              </a:rPr>
              <a:t> </a:t>
            </a:r>
            <a:r>
              <a:rPr dirty="0" baseline="38461" sz="1950" spc="-82">
                <a:latin typeface="Cambria Math"/>
                <a:cs typeface="Cambria Math"/>
              </a:rPr>
              <a:t>"</a:t>
            </a:r>
            <a:endParaRPr baseline="38461" sz="195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  <p:sp>
        <p:nvSpPr>
          <p:cNvPr id="28" name="object 28"/>
          <p:cNvSpPr txBox="1"/>
          <p:nvPr/>
        </p:nvSpPr>
        <p:spPr>
          <a:xfrm>
            <a:off x="1610949" y="4866132"/>
            <a:ext cx="1645285" cy="964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2000" spc="-6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-5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2000" spc="-8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9799" y="4319523"/>
            <a:ext cx="6667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Corbel"/>
                <a:cs typeface="Corbel"/>
              </a:rPr>
              <a:t>Node</a:t>
            </a:r>
            <a:r>
              <a:rPr dirty="0" sz="1600" spc="-95" b="1">
                <a:latin typeface="Corbel"/>
                <a:cs typeface="Corbel"/>
              </a:rPr>
              <a:t> </a:t>
            </a:r>
            <a:r>
              <a:rPr dirty="0" sz="1600">
                <a:latin typeface="Cambria Math"/>
                <a:cs typeface="Cambria Math"/>
              </a:rPr>
              <a:t>𝒗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4467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6316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60B5CC"/>
                </a:solidFill>
              </a:rPr>
              <a:t>(1) </a:t>
            </a:r>
            <a:r>
              <a:rPr dirty="0" spc="-10">
                <a:solidFill>
                  <a:srgbClr val="60B5CC"/>
                </a:solidFill>
              </a:rPr>
              <a:t>Message</a:t>
            </a:r>
            <a:r>
              <a:rPr dirty="0" spc="-70">
                <a:solidFill>
                  <a:srgbClr val="60B5CC"/>
                </a:solidFill>
              </a:rPr>
              <a:t> </a:t>
            </a:r>
            <a:r>
              <a:rPr dirty="0" spc="-10">
                <a:solidFill>
                  <a:srgbClr val="60B5CC"/>
                </a:solidFill>
              </a:rPr>
              <a:t>computation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30041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Message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function</a:t>
            </a:r>
            <a:r>
              <a:rPr dirty="0" sz="2800" spc="-5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67730" y="3364926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5" h="212089">
                <a:moveTo>
                  <a:pt x="164900" y="0"/>
                </a:moveTo>
                <a:lnTo>
                  <a:pt x="161886" y="8594"/>
                </a:lnTo>
                <a:lnTo>
                  <a:pt x="174143" y="13913"/>
                </a:lnTo>
                <a:lnTo>
                  <a:pt x="184684" y="21277"/>
                </a:lnTo>
                <a:lnTo>
                  <a:pt x="206088" y="55409"/>
                </a:lnTo>
                <a:lnTo>
                  <a:pt x="213119" y="104811"/>
                </a:lnTo>
                <a:lnTo>
                  <a:pt x="212335" y="123487"/>
                </a:lnTo>
                <a:lnTo>
                  <a:pt x="200563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900" y="211744"/>
                </a:lnTo>
                <a:lnTo>
                  <a:pt x="205355" y="187708"/>
                </a:lnTo>
                <a:lnTo>
                  <a:pt x="228077" y="143335"/>
                </a:lnTo>
                <a:lnTo>
                  <a:pt x="232430" y="105928"/>
                </a:lnTo>
                <a:lnTo>
                  <a:pt x="231338" y="86516"/>
                </a:lnTo>
                <a:lnTo>
                  <a:pt x="214962" y="37114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7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36169" y="3323142"/>
            <a:ext cx="523240" cy="212090"/>
          </a:xfrm>
          <a:custGeom>
            <a:avLst/>
            <a:gdLst/>
            <a:ahLst/>
            <a:cxnLst/>
            <a:rect l="l" t="t" r="r" b="b"/>
            <a:pathLst>
              <a:path w="523240" h="212089">
                <a:moveTo>
                  <a:pt x="455411" y="0"/>
                </a:moveTo>
                <a:lnTo>
                  <a:pt x="452398" y="8594"/>
                </a:lnTo>
                <a:lnTo>
                  <a:pt x="464655" y="13913"/>
                </a:lnTo>
                <a:lnTo>
                  <a:pt x="475197" y="21277"/>
                </a:lnTo>
                <a:lnTo>
                  <a:pt x="496600" y="55409"/>
                </a:lnTo>
                <a:lnTo>
                  <a:pt x="503632" y="104811"/>
                </a:lnTo>
                <a:lnTo>
                  <a:pt x="502847" y="123487"/>
                </a:lnTo>
                <a:lnTo>
                  <a:pt x="491074" y="169217"/>
                </a:lnTo>
                <a:lnTo>
                  <a:pt x="464798" y="197806"/>
                </a:lnTo>
                <a:lnTo>
                  <a:pt x="452733" y="203150"/>
                </a:lnTo>
                <a:lnTo>
                  <a:pt x="455411" y="211744"/>
                </a:lnTo>
                <a:lnTo>
                  <a:pt x="495867" y="187708"/>
                </a:lnTo>
                <a:lnTo>
                  <a:pt x="518589" y="143335"/>
                </a:lnTo>
                <a:lnTo>
                  <a:pt x="522942" y="105928"/>
                </a:lnTo>
                <a:lnTo>
                  <a:pt x="521851" y="86516"/>
                </a:lnTo>
                <a:lnTo>
                  <a:pt x="505473" y="37114"/>
                </a:lnTo>
                <a:lnTo>
                  <a:pt x="470763" y="5542"/>
                </a:lnTo>
                <a:lnTo>
                  <a:pt x="455411" y="0"/>
                </a:lnTo>
                <a:close/>
              </a:path>
              <a:path w="523240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7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07763" y="3818401"/>
            <a:ext cx="194310" cy="176530"/>
          </a:xfrm>
          <a:custGeom>
            <a:avLst/>
            <a:gdLst/>
            <a:ahLst/>
            <a:cxnLst/>
            <a:rect l="l" t="t" r="r" b="b"/>
            <a:pathLst>
              <a:path w="194309" h="176529">
                <a:moveTo>
                  <a:pt x="137702" y="0"/>
                </a:moveTo>
                <a:lnTo>
                  <a:pt x="135191" y="7162"/>
                </a:lnTo>
                <a:lnTo>
                  <a:pt x="145406" y="11595"/>
                </a:lnTo>
                <a:lnTo>
                  <a:pt x="154190" y="17731"/>
                </a:lnTo>
                <a:lnTo>
                  <a:pt x="175282" y="58565"/>
                </a:lnTo>
                <a:lnTo>
                  <a:pt x="177886" y="87342"/>
                </a:lnTo>
                <a:lnTo>
                  <a:pt x="177232" y="102906"/>
                </a:lnTo>
                <a:lnTo>
                  <a:pt x="167421" y="141014"/>
                </a:lnTo>
                <a:lnTo>
                  <a:pt x="135470" y="169292"/>
                </a:lnTo>
                <a:lnTo>
                  <a:pt x="137702" y="176453"/>
                </a:lnTo>
                <a:lnTo>
                  <a:pt x="171415" y="156423"/>
                </a:lnTo>
                <a:lnTo>
                  <a:pt x="190350" y="119446"/>
                </a:lnTo>
                <a:lnTo>
                  <a:pt x="193978" y="88273"/>
                </a:lnTo>
                <a:lnTo>
                  <a:pt x="193068" y="72097"/>
                </a:lnTo>
                <a:lnTo>
                  <a:pt x="179421" y="30928"/>
                </a:lnTo>
                <a:lnTo>
                  <a:pt x="150495" y="4618"/>
                </a:lnTo>
                <a:lnTo>
                  <a:pt x="137702" y="0"/>
                </a:lnTo>
                <a:close/>
              </a:path>
              <a:path w="194309" h="176529">
                <a:moveTo>
                  <a:pt x="56276" y="0"/>
                </a:moveTo>
                <a:lnTo>
                  <a:pt x="22623" y="20082"/>
                </a:lnTo>
                <a:lnTo>
                  <a:pt x="3639" y="57147"/>
                </a:lnTo>
                <a:lnTo>
                  <a:pt x="0" y="88273"/>
                </a:lnTo>
                <a:lnTo>
                  <a:pt x="906" y="104484"/>
                </a:lnTo>
                <a:lnTo>
                  <a:pt x="14511" y="145619"/>
                </a:lnTo>
                <a:lnTo>
                  <a:pt x="43445" y="171841"/>
                </a:lnTo>
                <a:lnTo>
                  <a:pt x="56276" y="176453"/>
                </a:lnTo>
                <a:lnTo>
                  <a:pt x="58508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8" y="117039"/>
                </a:lnTo>
                <a:lnTo>
                  <a:pt x="16092" y="87342"/>
                </a:lnTo>
                <a:lnTo>
                  <a:pt x="16746" y="72288"/>
                </a:lnTo>
                <a:lnTo>
                  <a:pt x="26556" y="35114"/>
                </a:lnTo>
                <a:lnTo>
                  <a:pt x="58787" y="7162"/>
                </a:lnTo>
                <a:lnTo>
                  <a:pt x="56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83950" y="4321811"/>
            <a:ext cx="1368518" cy="21420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086412" y="5015484"/>
            <a:ext cx="16452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2000" spc="-6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86412" y="5646420"/>
            <a:ext cx="12960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(1)</a:t>
            </a:r>
            <a:r>
              <a:rPr dirty="0" sz="20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Message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34856" y="5674431"/>
            <a:ext cx="1073150" cy="353060"/>
          </a:xfrm>
          <a:custGeom>
            <a:avLst/>
            <a:gdLst/>
            <a:ahLst/>
            <a:cxnLst/>
            <a:rect l="l" t="t" r="r" b="b"/>
            <a:pathLst>
              <a:path w="1073150" h="353060">
                <a:moveTo>
                  <a:pt x="0" y="0"/>
                </a:moveTo>
                <a:lnTo>
                  <a:pt x="1072816" y="0"/>
                </a:lnTo>
                <a:lnTo>
                  <a:pt x="1072816" y="352613"/>
                </a:lnTo>
                <a:lnTo>
                  <a:pt x="0" y="35261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67713" y="2428748"/>
            <a:ext cx="7233920" cy="23037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41300" marR="5080" indent="-228600">
              <a:lnSpc>
                <a:spcPct val="100800"/>
              </a:lnSpc>
              <a:spcBef>
                <a:spcPts val="75"/>
              </a:spcBef>
              <a:buClr>
                <a:srgbClr val="E66C7D"/>
              </a:buClr>
              <a:buFont typeface="Arial"/>
              <a:buChar char="▪"/>
              <a:tabLst>
                <a:tab pos="241300" algn="l"/>
              </a:tabLst>
            </a:pPr>
            <a:r>
              <a:rPr dirty="0" sz="2400" spc="-10" b="1">
                <a:latin typeface="Calibri"/>
                <a:cs typeface="Calibri"/>
              </a:rPr>
              <a:t>Intuition: </a:t>
            </a:r>
            <a:r>
              <a:rPr dirty="0" sz="2400" spc="-15">
                <a:latin typeface="Calibri"/>
                <a:cs typeface="Calibri"/>
              </a:rPr>
              <a:t>Each </a:t>
            </a:r>
            <a:r>
              <a:rPr dirty="0" sz="2400" spc="-5">
                <a:latin typeface="Calibri"/>
                <a:cs typeface="Calibri"/>
              </a:rPr>
              <a:t>node will </a:t>
            </a:r>
            <a:r>
              <a:rPr dirty="0" sz="2400" spc="-20">
                <a:latin typeface="Calibri"/>
                <a:cs typeface="Calibri"/>
              </a:rPr>
              <a:t>create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>
                <a:latin typeface="Calibri"/>
                <a:cs typeface="Calibri"/>
              </a:rPr>
              <a:t>message, which will </a:t>
            </a:r>
            <a:r>
              <a:rPr dirty="0" sz="2400">
                <a:latin typeface="Calibri"/>
                <a:cs typeface="Calibri"/>
              </a:rPr>
              <a:t>be  </a:t>
            </a:r>
            <a:r>
              <a:rPr dirty="0" sz="2400" spc="-10">
                <a:latin typeface="Calibri"/>
                <a:cs typeface="Calibri"/>
              </a:rPr>
              <a:t>sent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other nodes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later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ts val="2039"/>
              </a:lnSpc>
              <a:spcBef>
                <a:spcPts val="1315"/>
              </a:spcBef>
              <a:buClr>
                <a:srgbClr val="E66C7D"/>
              </a:buClr>
              <a:buFont typeface="Arial"/>
              <a:buChar char="▪"/>
              <a:tabLst>
                <a:tab pos="241300" algn="l"/>
              </a:tabLst>
            </a:pPr>
            <a:r>
              <a:rPr dirty="0" sz="2400" spc="-10" b="1">
                <a:latin typeface="Calibri"/>
                <a:cs typeface="Calibri"/>
              </a:rPr>
              <a:t>Example: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>
                <a:latin typeface="Calibri"/>
                <a:cs typeface="Calibri"/>
              </a:rPr>
              <a:t>Linear </a:t>
            </a:r>
            <a:r>
              <a:rPr dirty="0" sz="2400" spc="-20">
                <a:latin typeface="Calibri"/>
                <a:cs typeface="Calibri"/>
              </a:rPr>
              <a:t>layer </a:t>
            </a:r>
            <a:r>
              <a:rPr dirty="0" sz="2400" spc="-245">
                <a:latin typeface="Cambria Math"/>
                <a:cs typeface="Cambria Math"/>
              </a:rPr>
              <a:t>𝐦</a:t>
            </a:r>
            <a:r>
              <a:rPr dirty="0" baseline="40123" sz="2700" spc="-367">
                <a:latin typeface="Cambria Math"/>
                <a:cs typeface="Cambria Math"/>
              </a:rPr>
              <a:t>(%)    </a:t>
            </a:r>
            <a:r>
              <a:rPr dirty="0" sz="2400">
                <a:latin typeface="Cambria Math"/>
                <a:cs typeface="Cambria Math"/>
              </a:rPr>
              <a:t>= 𝐖  </a:t>
            </a:r>
            <a:r>
              <a:rPr dirty="0" baseline="27777" sz="2700" spc="-1455">
                <a:latin typeface="Cambria Math"/>
                <a:cs typeface="Cambria Math"/>
              </a:rPr>
              <a:t>%</a:t>
            </a:r>
            <a:r>
              <a:rPr dirty="0" baseline="27777" sz="2700" spc="3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𝐡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baseline="37037" sz="2700" spc="89">
                <a:latin typeface="Cambria Math"/>
                <a:cs typeface="Cambria Math"/>
              </a:rPr>
              <a:t>%'(</a:t>
            </a:r>
            <a:endParaRPr baseline="37037" sz="2700">
              <a:latin typeface="Cambria Math"/>
              <a:cs typeface="Cambria Math"/>
            </a:endParaRPr>
          </a:p>
          <a:p>
            <a:pPr marL="3492500">
              <a:lnSpc>
                <a:spcPts val="1320"/>
              </a:lnSpc>
              <a:tabLst>
                <a:tab pos="4947920" algn="l"/>
              </a:tabLst>
            </a:pPr>
            <a:r>
              <a:rPr dirty="0" sz="1800" spc="50">
                <a:latin typeface="Cambria Math"/>
                <a:cs typeface="Cambria Math"/>
              </a:rPr>
              <a:t>#	#</a:t>
            </a:r>
            <a:endParaRPr sz="1800">
              <a:latin typeface="Cambria Math"/>
              <a:cs typeface="Cambria Math"/>
            </a:endParaRPr>
          </a:p>
          <a:p>
            <a:pPr lvl="1" marL="460375" marR="1680845" indent="-182880">
              <a:lnSpc>
                <a:spcPct val="100000"/>
              </a:lnSpc>
              <a:spcBef>
                <a:spcPts val="235"/>
              </a:spcBef>
              <a:buClr>
                <a:srgbClr val="6BB76D"/>
              </a:buClr>
              <a:buFont typeface="Malgun Gothic"/>
              <a:buChar char="▪"/>
              <a:tabLst>
                <a:tab pos="460375" algn="l"/>
              </a:tabLst>
            </a:pPr>
            <a:r>
              <a:rPr dirty="0" sz="2000" spc="-5">
                <a:latin typeface="Calibri"/>
                <a:cs typeface="Calibri"/>
              </a:rPr>
              <a:t>Multiply node </a:t>
            </a:r>
            <a:r>
              <a:rPr dirty="0" sz="2000" spc="-15">
                <a:latin typeface="Calibri"/>
                <a:cs typeface="Calibri"/>
              </a:rPr>
              <a:t>features </a:t>
            </a:r>
            <a:r>
              <a:rPr dirty="0" sz="2000" spc="-5">
                <a:latin typeface="Calibri"/>
                <a:cs typeface="Calibri"/>
              </a:rPr>
              <a:t>with </a:t>
            </a:r>
            <a:r>
              <a:rPr dirty="0" sz="2000" spc="-10">
                <a:latin typeface="Calibri"/>
                <a:cs typeface="Calibri"/>
              </a:rPr>
              <a:t>weight </a:t>
            </a:r>
            <a:r>
              <a:rPr dirty="0" sz="2000" spc="-5">
                <a:latin typeface="Calibri"/>
                <a:cs typeface="Calibri"/>
              </a:rPr>
              <a:t>matrix </a:t>
            </a:r>
            <a:r>
              <a:rPr dirty="0" sz="2000">
                <a:latin typeface="Cambria Math"/>
                <a:cs typeface="Cambria Math"/>
              </a:rPr>
              <a:t>𝐖</a:t>
            </a:r>
            <a:r>
              <a:rPr dirty="0" sz="2000" spc="280">
                <a:latin typeface="Cambria Math"/>
                <a:cs typeface="Cambria Math"/>
              </a:rPr>
              <a:t> </a:t>
            </a:r>
            <a:r>
              <a:rPr dirty="0" baseline="27777" sz="2250" spc="150">
                <a:latin typeface="Cambria Math"/>
                <a:cs typeface="Cambria Math"/>
              </a:rPr>
              <a:t>!</a:t>
            </a:r>
            <a:endParaRPr baseline="27777" sz="22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Times New Roman"/>
              <a:cs typeface="Times New Roman"/>
            </a:endParaRPr>
          </a:p>
          <a:p>
            <a:pPr algn="ctr" marL="21590">
              <a:lnSpc>
                <a:spcPct val="100000"/>
              </a:lnSpc>
            </a:pPr>
            <a:r>
              <a:rPr dirty="0" sz="1600" spc="-5" b="1">
                <a:latin typeface="Corbel"/>
                <a:cs typeface="Corbel"/>
              </a:rPr>
              <a:t>Node</a:t>
            </a:r>
            <a:r>
              <a:rPr dirty="0" sz="1600" spc="-95" b="1">
                <a:latin typeface="Corbel"/>
                <a:cs typeface="Corbel"/>
              </a:rPr>
              <a:t> </a:t>
            </a:r>
            <a:r>
              <a:rPr dirty="0" sz="1600">
                <a:latin typeface="Cambria Math"/>
                <a:cs typeface="Cambria Math"/>
              </a:rPr>
              <a:t>𝒗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11821" y="1939634"/>
            <a:ext cx="269875" cy="235585"/>
          </a:xfrm>
          <a:custGeom>
            <a:avLst/>
            <a:gdLst/>
            <a:ahLst/>
            <a:cxnLst/>
            <a:rect l="l" t="t" r="r" b="b"/>
            <a:pathLst>
              <a:path w="269875" h="235585">
                <a:moveTo>
                  <a:pt x="194398" y="0"/>
                </a:moveTo>
                <a:lnTo>
                  <a:pt x="191049" y="9550"/>
                </a:lnTo>
                <a:lnTo>
                  <a:pt x="204669" y="15460"/>
                </a:lnTo>
                <a:lnTo>
                  <a:pt x="216381" y="23642"/>
                </a:lnTo>
                <a:lnTo>
                  <a:pt x="240163" y="61566"/>
                </a:lnTo>
                <a:lnTo>
                  <a:pt x="247976" y="116459"/>
                </a:lnTo>
                <a:lnTo>
                  <a:pt x="247104" y="137209"/>
                </a:lnTo>
                <a:lnTo>
                  <a:pt x="234024" y="188019"/>
                </a:lnTo>
                <a:lnTo>
                  <a:pt x="204828" y="219785"/>
                </a:lnTo>
                <a:lnTo>
                  <a:pt x="191422" y="225723"/>
                </a:lnTo>
                <a:lnTo>
                  <a:pt x="194398" y="235272"/>
                </a:lnTo>
                <a:lnTo>
                  <a:pt x="239348" y="208564"/>
                </a:lnTo>
                <a:lnTo>
                  <a:pt x="264596" y="159261"/>
                </a:lnTo>
                <a:lnTo>
                  <a:pt x="269433" y="117698"/>
                </a:lnTo>
                <a:lnTo>
                  <a:pt x="268219" y="96129"/>
                </a:lnTo>
                <a:lnTo>
                  <a:pt x="258514" y="57899"/>
                </a:lnTo>
                <a:lnTo>
                  <a:pt x="226412" y="15084"/>
                </a:lnTo>
                <a:lnTo>
                  <a:pt x="211455" y="6158"/>
                </a:lnTo>
                <a:lnTo>
                  <a:pt x="194398" y="0"/>
                </a:lnTo>
                <a:close/>
              </a:path>
              <a:path w="269875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3"/>
                </a:lnTo>
                <a:lnTo>
                  <a:pt x="64604" y="219785"/>
                </a:lnTo>
                <a:lnTo>
                  <a:pt x="53035" y="211522"/>
                </a:lnTo>
                <a:lnTo>
                  <a:pt x="29304" y="172989"/>
                </a:lnTo>
                <a:lnTo>
                  <a:pt x="21456" y="116459"/>
                </a:lnTo>
                <a:lnTo>
                  <a:pt x="22328" y="96386"/>
                </a:lnTo>
                <a:lnTo>
                  <a:pt x="35408" y="46819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660444" y="1893315"/>
            <a:ext cx="20396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5">
                <a:latin typeface="Cambria Math"/>
                <a:cs typeface="Cambria Math"/>
              </a:rPr>
              <a:t>𝐦</a:t>
            </a:r>
            <a:r>
              <a:rPr dirty="0" baseline="41666" sz="3000" spc="-82">
                <a:latin typeface="Cambria Math"/>
                <a:cs typeface="Cambria Math"/>
              </a:rPr>
              <a:t>($)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5">
                <a:latin typeface="Cambria Math"/>
                <a:cs typeface="Cambria Math"/>
              </a:rPr>
              <a:t>MSG</a:t>
            </a:r>
            <a:r>
              <a:rPr dirty="0" sz="2800" spc="310">
                <a:latin typeface="Cambria Math"/>
                <a:cs typeface="Cambria Math"/>
              </a:rPr>
              <a:t> </a:t>
            </a:r>
            <a:r>
              <a:rPr dirty="0" baseline="29166" sz="3000" spc="-465">
                <a:latin typeface="Cambria Math"/>
                <a:cs typeface="Cambria Math"/>
              </a:rPr>
              <a:t>$</a:t>
            </a:r>
            <a:endParaRPr baseline="29166" sz="3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10455" y="1865311"/>
            <a:ext cx="1176020" cy="586740"/>
          </a:xfrm>
          <a:custGeom>
            <a:avLst/>
            <a:gdLst/>
            <a:ahLst/>
            <a:cxnLst/>
            <a:rect l="l" t="t" r="r" b="b"/>
            <a:pathLst>
              <a:path w="1176020" h="586739">
                <a:moveTo>
                  <a:pt x="1049129" y="0"/>
                </a:moveTo>
                <a:lnTo>
                  <a:pt x="1043572" y="13891"/>
                </a:lnTo>
                <a:lnTo>
                  <a:pt x="1065433" y="31661"/>
                </a:lnTo>
                <a:lnTo>
                  <a:pt x="1084831" y="54760"/>
                </a:lnTo>
                <a:lnTo>
                  <a:pt x="1116237" y="116942"/>
                </a:lnTo>
                <a:lnTo>
                  <a:pt x="1127822" y="155288"/>
                </a:lnTo>
                <a:lnTo>
                  <a:pt x="1136096" y="197486"/>
                </a:lnTo>
                <a:lnTo>
                  <a:pt x="1141061" y="243536"/>
                </a:lnTo>
                <a:lnTo>
                  <a:pt x="1142716" y="293439"/>
                </a:lnTo>
                <a:lnTo>
                  <a:pt x="1141072" y="342556"/>
                </a:lnTo>
                <a:lnTo>
                  <a:pt x="1136140" y="388156"/>
                </a:lnTo>
                <a:lnTo>
                  <a:pt x="1127919" y="430240"/>
                </a:lnTo>
                <a:lnTo>
                  <a:pt x="1116411" y="468809"/>
                </a:lnTo>
                <a:lnTo>
                  <a:pt x="1085048" y="531577"/>
                </a:lnTo>
                <a:lnTo>
                  <a:pt x="1043572" y="572641"/>
                </a:lnTo>
                <a:lnTo>
                  <a:pt x="1049129" y="586531"/>
                </a:lnTo>
                <a:lnTo>
                  <a:pt x="1101326" y="544773"/>
                </a:lnTo>
                <a:lnTo>
                  <a:pt x="1141587" y="477837"/>
                </a:lnTo>
                <a:lnTo>
                  <a:pt x="1156590" y="436469"/>
                </a:lnTo>
                <a:lnTo>
                  <a:pt x="1167307" y="391889"/>
                </a:lnTo>
                <a:lnTo>
                  <a:pt x="1173736" y="344097"/>
                </a:lnTo>
                <a:lnTo>
                  <a:pt x="1175880" y="293093"/>
                </a:lnTo>
                <a:lnTo>
                  <a:pt x="1173736" y="241827"/>
                </a:lnTo>
                <a:lnTo>
                  <a:pt x="1167307" y="193948"/>
                </a:lnTo>
                <a:lnTo>
                  <a:pt x="1156590" y="149455"/>
                </a:lnTo>
                <a:lnTo>
                  <a:pt x="1141587" y="108347"/>
                </a:lnTo>
                <a:lnTo>
                  <a:pt x="1122949" y="72014"/>
                </a:lnTo>
                <a:lnTo>
                  <a:pt x="1076720" y="17841"/>
                </a:lnTo>
                <a:lnTo>
                  <a:pt x="1049129" y="0"/>
                </a:lnTo>
                <a:close/>
              </a:path>
              <a:path w="1176020" h="586739">
                <a:moveTo>
                  <a:pt x="126577" y="0"/>
                </a:moveTo>
                <a:lnTo>
                  <a:pt x="74509" y="41846"/>
                </a:lnTo>
                <a:lnTo>
                  <a:pt x="34291" y="108347"/>
                </a:lnTo>
                <a:lnTo>
                  <a:pt x="19288" y="149455"/>
                </a:lnTo>
                <a:lnTo>
                  <a:pt x="8572" y="193948"/>
                </a:lnTo>
                <a:lnTo>
                  <a:pt x="2143" y="241827"/>
                </a:lnTo>
                <a:lnTo>
                  <a:pt x="0" y="293093"/>
                </a:lnTo>
                <a:lnTo>
                  <a:pt x="2143" y="344097"/>
                </a:lnTo>
                <a:lnTo>
                  <a:pt x="8572" y="391889"/>
                </a:lnTo>
                <a:lnTo>
                  <a:pt x="19288" y="436469"/>
                </a:lnTo>
                <a:lnTo>
                  <a:pt x="34291" y="477837"/>
                </a:lnTo>
                <a:lnTo>
                  <a:pt x="52919" y="514452"/>
                </a:lnTo>
                <a:lnTo>
                  <a:pt x="99062" y="568799"/>
                </a:lnTo>
                <a:lnTo>
                  <a:pt x="126577" y="586531"/>
                </a:lnTo>
                <a:lnTo>
                  <a:pt x="132307" y="572641"/>
                </a:lnTo>
                <a:lnTo>
                  <a:pt x="110234" y="554822"/>
                </a:lnTo>
                <a:lnTo>
                  <a:pt x="90722" y="531577"/>
                </a:lnTo>
                <a:lnTo>
                  <a:pt x="59381" y="468809"/>
                </a:lnTo>
                <a:lnTo>
                  <a:pt x="47910" y="430240"/>
                </a:lnTo>
                <a:lnTo>
                  <a:pt x="39717" y="388156"/>
                </a:lnTo>
                <a:lnTo>
                  <a:pt x="34802" y="342556"/>
                </a:lnTo>
                <a:lnTo>
                  <a:pt x="33163" y="293439"/>
                </a:lnTo>
                <a:lnTo>
                  <a:pt x="34818" y="243536"/>
                </a:lnTo>
                <a:lnTo>
                  <a:pt x="39783" y="197486"/>
                </a:lnTo>
                <a:lnTo>
                  <a:pt x="48057" y="155288"/>
                </a:lnTo>
                <a:lnTo>
                  <a:pt x="59641" y="116942"/>
                </a:lnTo>
                <a:lnTo>
                  <a:pt x="91048" y="54760"/>
                </a:lnTo>
                <a:lnTo>
                  <a:pt x="132307" y="13891"/>
                </a:lnTo>
                <a:lnTo>
                  <a:pt x="1265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982706" y="2083307"/>
            <a:ext cx="24669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88540" algn="l"/>
              </a:tabLst>
            </a:pPr>
            <a:r>
              <a:rPr dirty="0" sz="2000" spc="505">
                <a:latin typeface="Cambria Math"/>
                <a:cs typeface="Cambria Math"/>
              </a:rPr>
              <a:t>"</a:t>
            </a:r>
            <a:r>
              <a:rPr dirty="0" sz="2000" spc="505">
                <a:latin typeface="Cambria Math"/>
                <a:cs typeface="Cambria Math"/>
              </a:rPr>
              <a:t>	</a:t>
            </a:r>
            <a:r>
              <a:rPr dirty="0" baseline="1388" sz="3000" spc="757">
                <a:latin typeface="Cambria Math"/>
                <a:cs typeface="Cambria Math"/>
              </a:rPr>
              <a:t>"</a:t>
            </a:r>
            <a:endParaRPr baseline="1388" sz="30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294015" y="1890739"/>
            <a:ext cx="609600" cy="235585"/>
          </a:xfrm>
          <a:custGeom>
            <a:avLst/>
            <a:gdLst/>
            <a:ahLst/>
            <a:cxnLst/>
            <a:rect l="l" t="t" r="r" b="b"/>
            <a:pathLst>
              <a:path w="609600" h="235585">
                <a:moveTo>
                  <a:pt x="534123" y="0"/>
                </a:moveTo>
                <a:lnTo>
                  <a:pt x="530774" y="9550"/>
                </a:lnTo>
                <a:lnTo>
                  <a:pt x="544393" y="15460"/>
                </a:lnTo>
                <a:lnTo>
                  <a:pt x="556106" y="23642"/>
                </a:lnTo>
                <a:lnTo>
                  <a:pt x="579888" y="61566"/>
                </a:lnTo>
                <a:lnTo>
                  <a:pt x="587701" y="116459"/>
                </a:lnTo>
                <a:lnTo>
                  <a:pt x="586829" y="137209"/>
                </a:lnTo>
                <a:lnTo>
                  <a:pt x="573749" y="188019"/>
                </a:lnTo>
                <a:lnTo>
                  <a:pt x="544553" y="219785"/>
                </a:lnTo>
                <a:lnTo>
                  <a:pt x="531147" y="225723"/>
                </a:lnTo>
                <a:lnTo>
                  <a:pt x="534123" y="235272"/>
                </a:lnTo>
                <a:lnTo>
                  <a:pt x="579073" y="208564"/>
                </a:lnTo>
                <a:lnTo>
                  <a:pt x="604321" y="159261"/>
                </a:lnTo>
                <a:lnTo>
                  <a:pt x="609158" y="117698"/>
                </a:lnTo>
                <a:lnTo>
                  <a:pt x="607944" y="96129"/>
                </a:lnTo>
                <a:lnTo>
                  <a:pt x="598239" y="57899"/>
                </a:lnTo>
                <a:lnTo>
                  <a:pt x="566137" y="15084"/>
                </a:lnTo>
                <a:lnTo>
                  <a:pt x="551180" y="6158"/>
                </a:lnTo>
                <a:lnTo>
                  <a:pt x="534123" y="0"/>
                </a:lnTo>
                <a:close/>
              </a:path>
              <a:path w="60960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3"/>
                </a:lnTo>
                <a:lnTo>
                  <a:pt x="64604" y="219785"/>
                </a:lnTo>
                <a:lnTo>
                  <a:pt x="53035" y="211522"/>
                </a:lnTo>
                <a:lnTo>
                  <a:pt x="29304" y="172989"/>
                </a:lnTo>
                <a:lnTo>
                  <a:pt x="21456" y="116459"/>
                </a:lnTo>
                <a:lnTo>
                  <a:pt x="22328" y="96386"/>
                </a:lnTo>
                <a:lnTo>
                  <a:pt x="35408" y="46819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041503" y="1713484"/>
            <a:ext cx="7880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7777" sz="4200">
                <a:latin typeface="Cambria Math"/>
                <a:cs typeface="Cambria Math"/>
              </a:rPr>
              <a:t>𝐡</a:t>
            </a:r>
            <a:r>
              <a:rPr dirty="0" baseline="-27777" sz="4200" spc="209">
                <a:latin typeface="Cambria Math"/>
                <a:cs typeface="Cambria Math"/>
              </a:rPr>
              <a:t> </a:t>
            </a:r>
            <a:r>
              <a:rPr dirty="0" sz="2000" spc="180">
                <a:latin typeface="Cambria Math"/>
                <a:cs typeface="Cambria Math"/>
              </a:rPr>
              <a:t>$&amp;'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695208" y="5774373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630082" y="5376755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089567" y="5312459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4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30309" y="4886730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5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053258" y="4903444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69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027405" y="5126552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39" h="53339">
                <a:moveTo>
                  <a:pt x="53220" y="0"/>
                </a:moveTo>
                <a:lnTo>
                  <a:pt x="0" y="180"/>
                </a:lnTo>
                <a:lnTo>
                  <a:pt x="26790" y="53310"/>
                </a:lnTo>
                <a:lnTo>
                  <a:pt x="532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684782" y="4746953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075343" y="4874426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29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19153" y="476101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1" y="174789"/>
                </a:lnTo>
                <a:lnTo>
                  <a:pt x="155282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2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766951" y="4739857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808814" y="5354700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10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771203" y="580467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70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2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2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70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817836" y="5786536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537229" y="5985964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70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70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580676" y="597281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086790" y="5437372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39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127289" y="56429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1" y="26570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3" y="90716"/>
                </a:lnTo>
                <a:lnTo>
                  <a:pt x="175262" y="56579"/>
                </a:lnTo>
                <a:lnTo>
                  <a:pt x="155280" y="26570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166113" y="5626873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967255" y="5297709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3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3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4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3006448" y="5280937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975710" y="522596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4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2012980" y="5201105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46034" y="6366430"/>
            <a:ext cx="716915" cy="125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65700" y="4500192"/>
            <a:ext cx="1368520" cy="21420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65422" y="6479206"/>
            <a:ext cx="451484" cy="350520"/>
          </a:xfrm>
          <a:custGeom>
            <a:avLst/>
            <a:gdLst/>
            <a:ahLst/>
            <a:cxnLst/>
            <a:rect l="l" t="t" r="r" b="b"/>
            <a:pathLst>
              <a:path w="451485" h="350520">
                <a:moveTo>
                  <a:pt x="0" y="0"/>
                </a:moveTo>
                <a:lnTo>
                  <a:pt x="451184" y="0"/>
                </a:lnTo>
                <a:lnTo>
                  <a:pt x="451184" y="350141"/>
                </a:lnTo>
                <a:lnTo>
                  <a:pt x="0" y="3501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9362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60B5CC"/>
                </a:solidFill>
              </a:rPr>
              <a:t>(2)</a:t>
            </a:r>
            <a:r>
              <a:rPr dirty="0" spc="-65">
                <a:solidFill>
                  <a:srgbClr val="60B5CC"/>
                </a:solidFill>
              </a:rPr>
              <a:t> </a:t>
            </a:r>
            <a:r>
              <a:rPr dirty="0" spc="-15">
                <a:solidFill>
                  <a:srgbClr val="60B5CC"/>
                </a:solidFill>
              </a:rPr>
              <a:t>Aggregation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67713" y="1919732"/>
            <a:ext cx="697420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41300" marR="5080" indent="-228600">
              <a:lnSpc>
                <a:spcPct val="100800"/>
              </a:lnSpc>
              <a:spcBef>
                <a:spcPts val="75"/>
              </a:spcBef>
              <a:buClr>
                <a:srgbClr val="E66C7D"/>
              </a:buClr>
              <a:buFont typeface="Arial"/>
              <a:buChar char="▪"/>
              <a:tabLst>
                <a:tab pos="241300" algn="l"/>
              </a:tabLst>
            </a:pPr>
            <a:r>
              <a:rPr dirty="0" sz="2400" spc="-10" b="1">
                <a:latin typeface="Calibri"/>
                <a:cs typeface="Calibri"/>
              </a:rPr>
              <a:t>Intuition: </a:t>
            </a:r>
            <a:r>
              <a:rPr dirty="0" sz="2400" spc="-15">
                <a:latin typeface="Calibri"/>
                <a:cs typeface="Calibri"/>
              </a:rPr>
              <a:t>Each </a:t>
            </a:r>
            <a:r>
              <a:rPr dirty="0" sz="2400" spc="-5">
                <a:latin typeface="Calibri"/>
                <a:cs typeface="Calibri"/>
              </a:rPr>
              <a:t>node will </a:t>
            </a:r>
            <a:r>
              <a:rPr dirty="0" sz="2400" spc="-20">
                <a:latin typeface="Calibri"/>
                <a:cs typeface="Calibri"/>
              </a:rPr>
              <a:t>aggregate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messages </a:t>
            </a:r>
            <a:r>
              <a:rPr dirty="0" sz="2400" spc="-15">
                <a:latin typeface="Calibri"/>
                <a:cs typeface="Calibri"/>
              </a:rPr>
              <a:t>from 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 spc="-30">
                <a:latin typeface="Cambria Math"/>
                <a:cs typeface="Cambria Math"/>
              </a:rPr>
              <a:t>𝑣</a:t>
            </a:r>
            <a:r>
              <a:rPr dirty="0" sz="2400" spc="-30">
                <a:latin typeface="Calibri"/>
                <a:cs typeface="Calibri"/>
              </a:rPr>
              <a:t>’s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neighbors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33917" y="3970844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4" h="212089">
                <a:moveTo>
                  <a:pt x="164900" y="0"/>
                </a:moveTo>
                <a:lnTo>
                  <a:pt x="161886" y="8594"/>
                </a:lnTo>
                <a:lnTo>
                  <a:pt x="174143" y="13913"/>
                </a:lnTo>
                <a:lnTo>
                  <a:pt x="184684" y="21277"/>
                </a:lnTo>
                <a:lnTo>
                  <a:pt x="206088" y="55408"/>
                </a:lnTo>
                <a:lnTo>
                  <a:pt x="213121" y="104811"/>
                </a:lnTo>
                <a:lnTo>
                  <a:pt x="212336" y="123487"/>
                </a:lnTo>
                <a:lnTo>
                  <a:pt x="200563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900" y="211744"/>
                </a:lnTo>
                <a:lnTo>
                  <a:pt x="205356" y="187707"/>
                </a:lnTo>
                <a:lnTo>
                  <a:pt x="228078" y="143334"/>
                </a:lnTo>
                <a:lnTo>
                  <a:pt x="232431" y="105928"/>
                </a:lnTo>
                <a:lnTo>
                  <a:pt x="231339" y="86516"/>
                </a:lnTo>
                <a:lnTo>
                  <a:pt x="214962" y="37113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4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1"/>
                </a:lnTo>
                <a:lnTo>
                  <a:pt x="52134" y="206208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6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06710" y="3970844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5" h="212089">
                <a:moveTo>
                  <a:pt x="164900" y="0"/>
                </a:moveTo>
                <a:lnTo>
                  <a:pt x="161886" y="8594"/>
                </a:lnTo>
                <a:lnTo>
                  <a:pt x="174143" y="13913"/>
                </a:lnTo>
                <a:lnTo>
                  <a:pt x="184684" y="21277"/>
                </a:lnTo>
                <a:lnTo>
                  <a:pt x="206088" y="55408"/>
                </a:lnTo>
                <a:lnTo>
                  <a:pt x="213119" y="104811"/>
                </a:lnTo>
                <a:lnTo>
                  <a:pt x="212335" y="123487"/>
                </a:lnTo>
                <a:lnTo>
                  <a:pt x="200563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900" y="211744"/>
                </a:lnTo>
                <a:lnTo>
                  <a:pt x="205356" y="187707"/>
                </a:lnTo>
                <a:lnTo>
                  <a:pt x="228077" y="143334"/>
                </a:lnTo>
                <a:lnTo>
                  <a:pt x="232430" y="105928"/>
                </a:lnTo>
                <a:lnTo>
                  <a:pt x="231338" y="86516"/>
                </a:lnTo>
                <a:lnTo>
                  <a:pt x="214962" y="37113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5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1"/>
                </a:lnTo>
                <a:lnTo>
                  <a:pt x="52134" y="206208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6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67713" y="3300476"/>
            <a:ext cx="6288405" cy="1125855"/>
          </a:xfrm>
          <a:prstGeom prst="rect">
            <a:avLst/>
          </a:prstGeom>
        </p:spPr>
        <p:txBody>
          <a:bodyPr wrap="square" lIns="0" tIns="16764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20"/>
              </a:spcBef>
              <a:buClr>
                <a:srgbClr val="E66C7D"/>
              </a:buClr>
              <a:buFont typeface="Arial"/>
              <a:buChar char="▪"/>
              <a:tabLst>
                <a:tab pos="241300" algn="l"/>
              </a:tabLst>
            </a:pPr>
            <a:r>
              <a:rPr dirty="0" sz="2400" spc="-10" b="1">
                <a:latin typeface="Calibri"/>
                <a:cs typeface="Calibri"/>
              </a:rPr>
              <a:t>Example: </a:t>
            </a:r>
            <a:r>
              <a:rPr dirty="0" sz="2400" spc="-5">
                <a:latin typeface="Cambria Math"/>
                <a:cs typeface="Cambria Math"/>
              </a:rPr>
              <a:t>Sum(⋅)</a:t>
            </a:r>
            <a:r>
              <a:rPr dirty="0" sz="2400" spc="-5">
                <a:latin typeface="Calibri"/>
                <a:cs typeface="Calibri"/>
              </a:rPr>
              <a:t>, </a:t>
            </a:r>
            <a:r>
              <a:rPr dirty="0" sz="2400" spc="-5">
                <a:latin typeface="Cambria Math"/>
                <a:cs typeface="Cambria Math"/>
              </a:rPr>
              <a:t>Mean(⋅) </a:t>
            </a:r>
            <a:r>
              <a:rPr dirty="0" sz="2400" spc="-5">
                <a:latin typeface="Calibri"/>
                <a:cs typeface="Calibri"/>
              </a:rPr>
              <a:t>or </a:t>
            </a:r>
            <a:r>
              <a:rPr dirty="0" sz="2400" spc="-5">
                <a:latin typeface="Cambria Math"/>
                <a:cs typeface="Cambria Math"/>
              </a:rPr>
              <a:t>Max(⋅)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 spc="-15">
                <a:latin typeface="Calibri"/>
                <a:cs typeface="Calibri"/>
              </a:rPr>
              <a:t>aggregator</a:t>
            </a:r>
            <a:endParaRPr sz="2400">
              <a:latin typeface="Calibri"/>
              <a:cs typeface="Calibri"/>
            </a:endParaRPr>
          </a:p>
          <a:p>
            <a:pPr lvl="1" marL="460375" indent="-182880">
              <a:lnSpc>
                <a:spcPts val="2030"/>
              </a:lnSpc>
              <a:spcBef>
                <a:spcPts val="1220"/>
              </a:spcBef>
              <a:buClr>
                <a:srgbClr val="6BB76D"/>
              </a:buClr>
              <a:buFont typeface="Arial"/>
              <a:buChar char="▪"/>
              <a:tabLst>
                <a:tab pos="460375" algn="l"/>
                <a:tab pos="1012825" algn="l"/>
              </a:tabLst>
            </a:pPr>
            <a:r>
              <a:rPr dirty="0" sz="2400">
                <a:latin typeface="Cambria Math"/>
                <a:cs typeface="Cambria Math"/>
              </a:rPr>
              <a:t>𝐡</a:t>
            </a:r>
            <a:r>
              <a:rPr dirty="0" sz="2400" spc="185">
                <a:latin typeface="Cambria Math"/>
                <a:cs typeface="Cambria Math"/>
              </a:rPr>
              <a:t> </a:t>
            </a:r>
            <a:r>
              <a:rPr dirty="0" baseline="37037" sz="2700" spc="-1455">
                <a:latin typeface="Cambria Math"/>
                <a:cs typeface="Cambria Math"/>
              </a:rPr>
              <a:t>%	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-5">
                <a:latin typeface="Cambria Math"/>
                <a:cs typeface="Cambria Math"/>
              </a:rPr>
              <a:t>Sum({𝐦  </a:t>
            </a:r>
            <a:r>
              <a:rPr dirty="0" baseline="37037" sz="2700" spc="-1455">
                <a:latin typeface="Cambria Math"/>
                <a:cs typeface="Cambria Math"/>
              </a:rPr>
              <a:t>%</a:t>
            </a:r>
            <a:r>
              <a:rPr dirty="0" baseline="37037" sz="2700" spc="352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 𝑢 ∈</a:t>
            </a:r>
            <a:r>
              <a:rPr dirty="0" sz="2400" spc="-35">
                <a:latin typeface="Cambria Math"/>
                <a:cs typeface="Cambria Math"/>
              </a:rPr>
              <a:t> </a:t>
            </a:r>
            <a:r>
              <a:rPr dirty="0" sz="2400" spc="10">
                <a:latin typeface="Cambria Math"/>
                <a:cs typeface="Cambria Math"/>
              </a:rPr>
              <a:t>𝑁(𝑣)})</a:t>
            </a:r>
            <a:endParaRPr sz="2400">
              <a:latin typeface="Cambria Math"/>
              <a:cs typeface="Cambria Math"/>
            </a:endParaRPr>
          </a:p>
          <a:p>
            <a:pPr marL="645795">
              <a:lnSpc>
                <a:spcPts val="1310"/>
              </a:lnSpc>
              <a:tabLst>
                <a:tab pos="2418715" algn="l"/>
              </a:tabLst>
            </a:pPr>
            <a:r>
              <a:rPr dirty="0" sz="1800" spc="265">
                <a:latin typeface="Cambria Math"/>
                <a:cs typeface="Cambria Math"/>
              </a:rPr>
              <a:t>)	</a:t>
            </a:r>
            <a:r>
              <a:rPr dirty="0" sz="1800" spc="50"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44848" y="2995167"/>
            <a:ext cx="16192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25">
                <a:latin typeface="Cambria Math"/>
                <a:cs typeface="Cambria Math"/>
              </a:rPr>
              <a:t>!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33719" y="2863368"/>
            <a:ext cx="252095" cy="223520"/>
          </a:xfrm>
          <a:custGeom>
            <a:avLst/>
            <a:gdLst/>
            <a:ahLst/>
            <a:cxnLst/>
            <a:rect l="l" t="t" r="r" b="b"/>
            <a:pathLst>
              <a:path w="252095" h="223519">
                <a:moveTo>
                  <a:pt x="180442" y="0"/>
                </a:moveTo>
                <a:lnTo>
                  <a:pt x="177261" y="9071"/>
                </a:lnTo>
                <a:lnTo>
                  <a:pt x="190200" y="14686"/>
                </a:lnTo>
                <a:lnTo>
                  <a:pt x="201327" y="22459"/>
                </a:lnTo>
                <a:lnTo>
                  <a:pt x="223919" y="58487"/>
                </a:lnTo>
                <a:lnTo>
                  <a:pt x="231341" y="110634"/>
                </a:lnTo>
                <a:lnTo>
                  <a:pt x="230513" y="130347"/>
                </a:lnTo>
                <a:lnTo>
                  <a:pt x="218086" y="178617"/>
                </a:lnTo>
                <a:lnTo>
                  <a:pt x="190351" y="208795"/>
                </a:lnTo>
                <a:lnTo>
                  <a:pt x="177615" y="214435"/>
                </a:lnTo>
                <a:lnTo>
                  <a:pt x="180442" y="223508"/>
                </a:lnTo>
                <a:lnTo>
                  <a:pt x="223146" y="198135"/>
                </a:lnTo>
                <a:lnTo>
                  <a:pt x="247130" y="151298"/>
                </a:lnTo>
                <a:lnTo>
                  <a:pt x="251725" y="111813"/>
                </a:lnTo>
                <a:lnTo>
                  <a:pt x="250572" y="91322"/>
                </a:lnTo>
                <a:lnTo>
                  <a:pt x="233286" y="39175"/>
                </a:lnTo>
                <a:lnTo>
                  <a:pt x="196647" y="5850"/>
                </a:lnTo>
                <a:lnTo>
                  <a:pt x="180442" y="0"/>
                </a:lnTo>
                <a:close/>
              </a:path>
              <a:path w="252095" h="223519">
                <a:moveTo>
                  <a:pt x="71282" y="0"/>
                </a:moveTo>
                <a:lnTo>
                  <a:pt x="28656" y="25438"/>
                </a:lnTo>
                <a:lnTo>
                  <a:pt x="4609" y="72386"/>
                </a:lnTo>
                <a:lnTo>
                  <a:pt x="0" y="111813"/>
                </a:lnTo>
                <a:lnTo>
                  <a:pt x="1148" y="132347"/>
                </a:lnTo>
                <a:lnTo>
                  <a:pt x="18380" y="184449"/>
                </a:lnTo>
                <a:lnTo>
                  <a:pt x="55030" y="217664"/>
                </a:lnTo>
                <a:lnTo>
                  <a:pt x="71282" y="223508"/>
                </a:lnTo>
                <a:lnTo>
                  <a:pt x="74110" y="214435"/>
                </a:lnTo>
                <a:lnTo>
                  <a:pt x="61374" y="208795"/>
                </a:lnTo>
                <a:lnTo>
                  <a:pt x="50384" y="200945"/>
                </a:lnTo>
                <a:lnTo>
                  <a:pt x="27839" y="164339"/>
                </a:lnTo>
                <a:lnTo>
                  <a:pt x="20383" y="110634"/>
                </a:lnTo>
                <a:lnTo>
                  <a:pt x="21211" y="91565"/>
                </a:lnTo>
                <a:lnTo>
                  <a:pt x="33638" y="44477"/>
                </a:lnTo>
                <a:lnTo>
                  <a:pt x="61573" y="14686"/>
                </a:lnTo>
                <a:lnTo>
                  <a:pt x="74463" y="9071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943235" y="2820924"/>
            <a:ext cx="176720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14">
                <a:latin typeface="Cambria Math"/>
                <a:cs typeface="Cambria Math"/>
              </a:rPr>
              <a:t>𝐡</a:t>
            </a:r>
            <a:r>
              <a:rPr dirty="0" baseline="40935" sz="2850" spc="-172">
                <a:latin typeface="Cambria Math"/>
                <a:cs typeface="Cambria Math"/>
              </a:rPr>
              <a:t>(#)  </a:t>
            </a:r>
            <a:r>
              <a:rPr dirty="0" sz="2600">
                <a:latin typeface="Cambria Math"/>
                <a:cs typeface="Cambria Math"/>
              </a:rPr>
              <a:t>= </a:t>
            </a:r>
            <a:r>
              <a:rPr dirty="0" sz="2600" spc="-20">
                <a:latin typeface="Cambria Math"/>
                <a:cs typeface="Cambria Math"/>
              </a:rPr>
              <a:t>AGG</a:t>
            </a:r>
            <a:r>
              <a:rPr dirty="0" sz="2600" spc="385">
                <a:latin typeface="Cambria Math"/>
                <a:cs typeface="Cambria Math"/>
              </a:rPr>
              <a:t> </a:t>
            </a:r>
            <a:r>
              <a:rPr dirty="0" baseline="27777" sz="2850" spc="-765">
                <a:latin typeface="Cambria Math"/>
                <a:cs typeface="Cambria Math"/>
              </a:rPr>
              <a:t>#</a:t>
            </a:r>
            <a:endParaRPr baseline="27777" sz="28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05845" y="2777354"/>
            <a:ext cx="2773045" cy="586740"/>
          </a:xfrm>
          <a:custGeom>
            <a:avLst/>
            <a:gdLst/>
            <a:ahLst/>
            <a:cxnLst/>
            <a:rect l="l" t="t" r="r" b="b"/>
            <a:pathLst>
              <a:path w="2773045" h="586739">
                <a:moveTo>
                  <a:pt x="2646154" y="0"/>
                </a:moveTo>
                <a:lnTo>
                  <a:pt x="2640597" y="13891"/>
                </a:lnTo>
                <a:lnTo>
                  <a:pt x="2662459" y="31661"/>
                </a:lnTo>
                <a:lnTo>
                  <a:pt x="2681857" y="54759"/>
                </a:lnTo>
                <a:lnTo>
                  <a:pt x="2713263" y="116941"/>
                </a:lnTo>
                <a:lnTo>
                  <a:pt x="2724848" y="155287"/>
                </a:lnTo>
                <a:lnTo>
                  <a:pt x="2733122" y="197485"/>
                </a:lnTo>
                <a:lnTo>
                  <a:pt x="2738087" y="243536"/>
                </a:lnTo>
                <a:lnTo>
                  <a:pt x="2739741" y="293439"/>
                </a:lnTo>
                <a:lnTo>
                  <a:pt x="2738097" y="342555"/>
                </a:lnTo>
                <a:lnTo>
                  <a:pt x="2733165" y="388156"/>
                </a:lnTo>
                <a:lnTo>
                  <a:pt x="2724945" y="430240"/>
                </a:lnTo>
                <a:lnTo>
                  <a:pt x="2713437" y="468809"/>
                </a:lnTo>
                <a:lnTo>
                  <a:pt x="2682074" y="531577"/>
                </a:lnTo>
                <a:lnTo>
                  <a:pt x="2640597" y="572641"/>
                </a:lnTo>
                <a:lnTo>
                  <a:pt x="2646154" y="586531"/>
                </a:lnTo>
                <a:lnTo>
                  <a:pt x="2698352" y="544773"/>
                </a:lnTo>
                <a:lnTo>
                  <a:pt x="2738614" y="477837"/>
                </a:lnTo>
                <a:lnTo>
                  <a:pt x="2753616" y="436469"/>
                </a:lnTo>
                <a:lnTo>
                  <a:pt x="2764333" y="391889"/>
                </a:lnTo>
                <a:lnTo>
                  <a:pt x="2770763" y="344096"/>
                </a:lnTo>
                <a:lnTo>
                  <a:pt x="2772906" y="293091"/>
                </a:lnTo>
                <a:lnTo>
                  <a:pt x="2770763" y="241826"/>
                </a:lnTo>
                <a:lnTo>
                  <a:pt x="2764333" y="193947"/>
                </a:lnTo>
                <a:lnTo>
                  <a:pt x="2753616" y="149454"/>
                </a:lnTo>
                <a:lnTo>
                  <a:pt x="2738614" y="108347"/>
                </a:lnTo>
                <a:lnTo>
                  <a:pt x="2719975" y="72014"/>
                </a:lnTo>
                <a:lnTo>
                  <a:pt x="2673745" y="17840"/>
                </a:lnTo>
                <a:lnTo>
                  <a:pt x="2646154" y="0"/>
                </a:lnTo>
                <a:close/>
              </a:path>
              <a:path w="2773045" h="586739">
                <a:moveTo>
                  <a:pt x="126578" y="0"/>
                </a:moveTo>
                <a:lnTo>
                  <a:pt x="74510" y="41845"/>
                </a:lnTo>
                <a:lnTo>
                  <a:pt x="34292" y="108347"/>
                </a:lnTo>
                <a:lnTo>
                  <a:pt x="19289" y="149454"/>
                </a:lnTo>
                <a:lnTo>
                  <a:pt x="8573" y="193947"/>
                </a:lnTo>
                <a:lnTo>
                  <a:pt x="2143" y="241826"/>
                </a:lnTo>
                <a:lnTo>
                  <a:pt x="0" y="293091"/>
                </a:lnTo>
                <a:lnTo>
                  <a:pt x="2143" y="344096"/>
                </a:lnTo>
                <a:lnTo>
                  <a:pt x="8573" y="391889"/>
                </a:lnTo>
                <a:lnTo>
                  <a:pt x="19289" y="436469"/>
                </a:lnTo>
                <a:lnTo>
                  <a:pt x="34292" y="477837"/>
                </a:lnTo>
                <a:lnTo>
                  <a:pt x="52920" y="514452"/>
                </a:lnTo>
                <a:lnTo>
                  <a:pt x="99063" y="568799"/>
                </a:lnTo>
                <a:lnTo>
                  <a:pt x="126578" y="586531"/>
                </a:lnTo>
                <a:lnTo>
                  <a:pt x="132308" y="572641"/>
                </a:lnTo>
                <a:lnTo>
                  <a:pt x="110235" y="554822"/>
                </a:lnTo>
                <a:lnTo>
                  <a:pt x="90723" y="531577"/>
                </a:lnTo>
                <a:lnTo>
                  <a:pt x="59382" y="468809"/>
                </a:lnTo>
                <a:lnTo>
                  <a:pt x="47912" y="430240"/>
                </a:lnTo>
                <a:lnTo>
                  <a:pt x="39719" y="388156"/>
                </a:lnTo>
                <a:lnTo>
                  <a:pt x="34803" y="342555"/>
                </a:lnTo>
                <a:lnTo>
                  <a:pt x="33164" y="293439"/>
                </a:lnTo>
                <a:lnTo>
                  <a:pt x="34819" y="243536"/>
                </a:lnTo>
                <a:lnTo>
                  <a:pt x="39784" y="197485"/>
                </a:lnTo>
                <a:lnTo>
                  <a:pt x="48058" y="155287"/>
                </a:lnTo>
                <a:lnTo>
                  <a:pt x="59643" y="116941"/>
                </a:lnTo>
                <a:lnTo>
                  <a:pt x="91048" y="54759"/>
                </a:lnTo>
                <a:lnTo>
                  <a:pt x="132308" y="13891"/>
                </a:lnTo>
                <a:lnTo>
                  <a:pt x="1265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66437" y="2779247"/>
            <a:ext cx="2451735" cy="582930"/>
          </a:xfrm>
          <a:custGeom>
            <a:avLst/>
            <a:gdLst/>
            <a:ahLst/>
            <a:cxnLst/>
            <a:rect l="l" t="t" r="r" b="b"/>
            <a:pathLst>
              <a:path w="2451734" h="582929">
                <a:moveTo>
                  <a:pt x="2328626" y="0"/>
                </a:moveTo>
                <a:lnTo>
                  <a:pt x="2328626" y="13889"/>
                </a:lnTo>
                <a:lnTo>
                  <a:pt x="2335739" y="14731"/>
                </a:lnTo>
                <a:lnTo>
                  <a:pt x="2342495" y="16212"/>
                </a:lnTo>
                <a:lnTo>
                  <a:pt x="2374986" y="39761"/>
                </a:lnTo>
                <a:lnTo>
                  <a:pt x="2389685" y="82068"/>
                </a:lnTo>
                <a:lnTo>
                  <a:pt x="2392175" y="118938"/>
                </a:lnTo>
                <a:lnTo>
                  <a:pt x="2391882" y="129524"/>
                </a:lnTo>
                <a:lnTo>
                  <a:pt x="2391004" y="142009"/>
                </a:lnTo>
                <a:lnTo>
                  <a:pt x="2389539" y="156394"/>
                </a:lnTo>
                <a:lnTo>
                  <a:pt x="2387488" y="172678"/>
                </a:lnTo>
                <a:lnTo>
                  <a:pt x="2385437" y="188581"/>
                </a:lnTo>
                <a:lnTo>
                  <a:pt x="2383971" y="201826"/>
                </a:lnTo>
                <a:lnTo>
                  <a:pt x="2383092" y="212412"/>
                </a:lnTo>
                <a:lnTo>
                  <a:pt x="2382799" y="220339"/>
                </a:lnTo>
                <a:lnTo>
                  <a:pt x="2383591" y="234442"/>
                </a:lnTo>
                <a:lnTo>
                  <a:pt x="2401682" y="275853"/>
                </a:lnTo>
                <a:lnTo>
                  <a:pt x="2418741" y="289445"/>
                </a:lnTo>
                <a:lnTo>
                  <a:pt x="2418741" y="292917"/>
                </a:lnTo>
                <a:lnTo>
                  <a:pt x="2389929" y="323911"/>
                </a:lnTo>
                <a:lnTo>
                  <a:pt x="2382799" y="361676"/>
                </a:lnTo>
                <a:lnTo>
                  <a:pt x="2383092" y="367965"/>
                </a:lnTo>
                <a:lnTo>
                  <a:pt x="2383971" y="378150"/>
                </a:lnTo>
                <a:lnTo>
                  <a:pt x="2385437" y="392230"/>
                </a:lnTo>
                <a:lnTo>
                  <a:pt x="2387488" y="410207"/>
                </a:lnTo>
                <a:lnTo>
                  <a:pt x="2389539" y="428411"/>
                </a:lnTo>
                <a:lnTo>
                  <a:pt x="2391004" y="443175"/>
                </a:lnTo>
                <a:lnTo>
                  <a:pt x="2391882" y="454499"/>
                </a:lnTo>
                <a:lnTo>
                  <a:pt x="2392175" y="462384"/>
                </a:lnTo>
                <a:lnTo>
                  <a:pt x="2391926" y="475775"/>
                </a:lnTo>
                <a:lnTo>
                  <a:pt x="2385904" y="519400"/>
                </a:lnTo>
                <a:lnTo>
                  <a:pt x="2366392" y="553475"/>
                </a:lnTo>
                <a:lnTo>
                  <a:pt x="2328626" y="568820"/>
                </a:lnTo>
                <a:lnTo>
                  <a:pt x="2328626" y="582711"/>
                </a:lnTo>
                <a:lnTo>
                  <a:pt x="2370688" y="573552"/>
                </a:lnTo>
                <a:lnTo>
                  <a:pt x="2399990" y="548853"/>
                </a:lnTo>
                <a:lnTo>
                  <a:pt x="2417179" y="509351"/>
                </a:lnTo>
                <a:lnTo>
                  <a:pt x="2422909" y="455785"/>
                </a:lnTo>
                <a:lnTo>
                  <a:pt x="2422578" y="444684"/>
                </a:lnTo>
                <a:lnTo>
                  <a:pt x="2421585" y="431347"/>
                </a:lnTo>
                <a:lnTo>
                  <a:pt x="2419930" y="415774"/>
                </a:lnTo>
                <a:lnTo>
                  <a:pt x="2417613" y="397965"/>
                </a:lnTo>
                <a:lnTo>
                  <a:pt x="2415296" y="380808"/>
                </a:lnTo>
                <a:lnTo>
                  <a:pt x="2413641" y="367189"/>
                </a:lnTo>
                <a:lnTo>
                  <a:pt x="2412649" y="357108"/>
                </a:lnTo>
                <a:lnTo>
                  <a:pt x="2412318" y="350564"/>
                </a:lnTo>
                <a:lnTo>
                  <a:pt x="2412941" y="339294"/>
                </a:lnTo>
                <a:lnTo>
                  <a:pt x="2434650" y="302489"/>
                </a:lnTo>
                <a:lnTo>
                  <a:pt x="2451732" y="298648"/>
                </a:lnTo>
                <a:lnTo>
                  <a:pt x="2451732" y="283715"/>
                </a:lnTo>
                <a:lnTo>
                  <a:pt x="2417982" y="262130"/>
                </a:lnTo>
                <a:lnTo>
                  <a:pt x="2412318" y="231626"/>
                </a:lnTo>
                <a:lnTo>
                  <a:pt x="2412649" y="224908"/>
                </a:lnTo>
                <a:lnTo>
                  <a:pt x="2413641" y="215174"/>
                </a:lnTo>
                <a:lnTo>
                  <a:pt x="2415384" y="201826"/>
                </a:lnTo>
                <a:lnTo>
                  <a:pt x="2417613" y="186654"/>
                </a:lnTo>
                <a:lnTo>
                  <a:pt x="2419930" y="170083"/>
                </a:lnTo>
                <a:lnTo>
                  <a:pt x="2421585" y="154923"/>
                </a:lnTo>
                <a:lnTo>
                  <a:pt x="2422578" y="141174"/>
                </a:lnTo>
                <a:lnTo>
                  <a:pt x="2422909" y="128835"/>
                </a:lnTo>
                <a:lnTo>
                  <a:pt x="2421395" y="98569"/>
                </a:lnTo>
                <a:lnTo>
                  <a:pt x="2409284" y="50733"/>
                </a:lnTo>
                <a:lnTo>
                  <a:pt x="2385225" y="19500"/>
                </a:lnTo>
                <a:lnTo>
                  <a:pt x="2350194" y="2919"/>
                </a:lnTo>
                <a:lnTo>
                  <a:pt x="2328626" y="0"/>
                </a:lnTo>
                <a:close/>
              </a:path>
              <a:path w="2451734" h="582929">
                <a:moveTo>
                  <a:pt x="123104" y="0"/>
                </a:moveTo>
                <a:lnTo>
                  <a:pt x="82562" y="9419"/>
                </a:lnTo>
                <a:lnTo>
                  <a:pt x="42398" y="50733"/>
                </a:lnTo>
                <a:lnTo>
                  <a:pt x="30331" y="98569"/>
                </a:lnTo>
                <a:lnTo>
                  <a:pt x="28822" y="128835"/>
                </a:lnTo>
                <a:lnTo>
                  <a:pt x="29153" y="141174"/>
                </a:lnTo>
                <a:lnTo>
                  <a:pt x="30146" y="154923"/>
                </a:lnTo>
                <a:lnTo>
                  <a:pt x="31801" y="170083"/>
                </a:lnTo>
                <a:lnTo>
                  <a:pt x="34118" y="186654"/>
                </a:lnTo>
                <a:lnTo>
                  <a:pt x="36435" y="202422"/>
                </a:lnTo>
                <a:lnTo>
                  <a:pt x="38090" y="215174"/>
                </a:lnTo>
                <a:lnTo>
                  <a:pt x="39083" y="224908"/>
                </a:lnTo>
                <a:lnTo>
                  <a:pt x="39414" y="231626"/>
                </a:lnTo>
                <a:lnTo>
                  <a:pt x="38784" y="243118"/>
                </a:lnTo>
                <a:lnTo>
                  <a:pt x="16972" y="280025"/>
                </a:lnTo>
                <a:lnTo>
                  <a:pt x="0" y="283715"/>
                </a:lnTo>
                <a:lnTo>
                  <a:pt x="0" y="298648"/>
                </a:lnTo>
                <a:lnTo>
                  <a:pt x="33797" y="320498"/>
                </a:lnTo>
                <a:lnTo>
                  <a:pt x="39414" y="350564"/>
                </a:lnTo>
                <a:lnTo>
                  <a:pt x="39083" y="357108"/>
                </a:lnTo>
                <a:lnTo>
                  <a:pt x="38090" y="367189"/>
                </a:lnTo>
                <a:lnTo>
                  <a:pt x="36435" y="380808"/>
                </a:lnTo>
                <a:lnTo>
                  <a:pt x="34118" y="397965"/>
                </a:lnTo>
                <a:lnTo>
                  <a:pt x="31801" y="415774"/>
                </a:lnTo>
                <a:lnTo>
                  <a:pt x="30146" y="431347"/>
                </a:lnTo>
                <a:lnTo>
                  <a:pt x="29153" y="444684"/>
                </a:lnTo>
                <a:lnTo>
                  <a:pt x="28822" y="455785"/>
                </a:lnTo>
                <a:lnTo>
                  <a:pt x="30249" y="484326"/>
                </a:lnTo>
                <a:lnTo>
                  <a:pt x="41665" y="530860"/>
                </a:lnTo>
                <a:lnTo>
                  <a:pt x="64682" y="563145"/>
                </a:lnTo>
                <a:lnTo>
                  <a:pt x="100407" y="580074"/>
                </a:lnTo>
                <a:lnTo>
                  <a:pt x="123104" y="582711"/>
                </a:lnTo>
                <a:lnTo>
                  <a:pt x="123104" y="568820"/>
                </a:lnTo>
                <a:lnTo>
                  <a:pt x="115692" y="567968"/>
                </a:lnTo>
                <a:lnTo>
                  <a:pt x="108736" y="566454"/>
                </a:lnTo>
                <a:lnTo>
                  <a:pt x="75877" y="542254"/>
                </a:lnTo>
                <a:lnTo>
                  <a:pt x="61801" y="499563"/>
                </a:lnTo>
                <a:lnTo>
                  <a:pt x="59555" y="462384"/>
                </a:lnTo>
                <a:lnTo>
                  <a:pt x="59848" y="454499"/>
                </a:lnTo>
                <a:lnTo>
                  <a:pt x="60727" y="443175"/>
                </a:lnTo>
                <a:lnTo>
                  <a:pt x="62193" y="428411"/>
                </a:lnTo>
                <a:lnTo>
                  <a:pt x="66294" y="392230"/>
                </a:lnTo>
                <a:lnTo>
                  <a:pt x="67759" y="378150"/>
                </a:lnTo>
                <a:lnTo>
                  <a:pt x="68638" y="367965"/>
                </a:lnTo>
                <a:lnTo>
                  <a:pt x="68931" y="361676"/>
                </a:lnTo>
                <a:lnTo>
                  <a:pt x="68134" y="347525"/>
                </a:lnTo>
                <a:lnTo>
                  <a:pt x="49935" y="306591"/>
                </a:lnTo>
                <a:lnTo>
                  <a:pt x="32989" y="292917"/>
                </a:lnTo>
                <a:lnTo>
                  <a:pt x="32989" y="289445"/>
                </a:lnTo>
                <a:lnTo>
                  <a:pt x="61752" y="258186"/>
                </a:lnTo>
                <a:lnTo>
                  <a:pt x="68931" y="220339"/>
                </a:lnTo>
                <a:lnTo>
                  <a:pt x="68638" y="212412"/>
                </a:lnTo>
                <a:lnTo>
                  <a:pt x="67759" y="201826"/>
                </a:lnTo>
                <a:lnTo>
                  <a:pt x="66294" y="188581"/>
                </a:lnTo>
                <a:lnTo>
                  <a:pt x="64244" y="172678"/>
                </a:lnTo>
                <a:lnTo>
                  <a:pt x="62193" y="156394"/>
                </a:lnTo>
                <a:lnTo>
                  <a:pt x="60727" y="142009"/>
                </a:lnTo>
                <a:lnTo>
                  <a:pt x="59848" y="129524"/>
                </a:lnTo>
                <a:lnTo>
                  <a:pt x="59555" y="118938"/>
                </a:lnTo>
                <a:lnTo>
                  <a:pt x="59832" y="105638"/>
                </a:lnTo>
                <a:lnTo>
                  <a:pt x="66435" y="62469"/>
                </a:lnTo>
                <a:lnTo>
                  <a:pt x="85795" y="28844"/>
                </a:lnTo>
                <a:lnTo>
                  <a:pt x="123104" y="13889"/>
                </a:lnTo>
                <a:lnTo>
                  <a:pt x="1231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509842" y="2985516"/>
            <a:ext cx="1905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05">
                <a:latin typeface="Cambria Math"/>
                <a:cs typeface="Cambria Math"/>
              </a:rPr>
              <a:t>"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44866" y="2805004"/>
            <a:ext cx="269240" cy="235585"/>
          </a:xfrm>
          <a:custGeom>
            <a:avLst/>
            <a:gdLst/>
            <a:ahLst/>
            <a:cxnLst/>
            <a:rect l="l" t="t" r="r" b="b"/>
            <a:pathLst>
              <a:path w="269239" h="235585">
                <a:moveTo>
                  <a:pt x="193826" y="0"/>
                </a:moveTo>
                <a:lnTo>
                  <a:pt x="190478" y="9550"/>
                </a:lnTo>
                <a:lnTo>
                  <a:pt x="204097" y="15460"/>
                </a:lnTo>
                <a:lnTo>
                  <a:pt x="215809" y="23642"/>
                </a:lnTo>
                <a:lnTo>
                  <a:pt x="239591" y="61565"/>
                </a:lnTo>
                <a:lnTo>
                  <a:pt x="247404" y="116457"/>
                </a:lnTo>
                <a:lnTo>
                  <a:pt x="246532" y="137208"/>
                </a:lnTo>
                <a:lnTo>
                  <a:pt x="233452" y="188019"/>
                </a:lnTo>
                <a:lnTo>
                  <a:pt x="204256" y="219784"/>
                </a:lnTo>
                <a:lnTo>
                  <a:pt x="190850" y="225722"/>
                </a:lnTo>
                <a:lnTo>
                  <a:pt x="193826" y="235272"/>
                </a:lnTo>
                <a:lnTo>
                  <a:pt x="238777" y="208564"/>
                </a:lnTo>
                <a:lnTo>
                  <a:pt x="264024" y="159261"/>
                </a:lnTo>
                <a:lnTo>
                  <a:pt x="268861" y="117698"/>
                </a:lnTo>
                <a:lnTo>
                  <a:pt x="267648" y="96129"/>
                </a:lnTo>
                <a:lnTo>
                  <a:pt x="257942" y="57899"/>
                </a:lnTo>
                <a:lnTo>
                  <a:pt x="225840" y="15084"/>
                </a:lnTo>
                <a:lnTo>
                  <a:pt x="210883" y="6158"/>
                </a:lnTo>
                <a:lnTo>
                  <a:pt x="193826" y="0"/>
                </a:lnTo>
                <a:close/>
              </a:path>
              <a:path w="269239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917077" y="2905912"/>
            <a:ext cx="436245" cy="329565"/>
          </a:xfrm>
          <a:custGeom>
            <a:avLst/>
            <a:gdLst/>
            <a:ahLst/>
            <a:cxnLst/>
            <a:rect l="l" t="t" r="r" b="b"/>
            <a:pathLst>
              <a:path w="436245" h="329564">
                <a:moveTo>
                  <a:pt x="330932" y="0"/>
                </a:moveTo>
                <a:lnTo>
                  <a:pt x="326245" y="13369"/>
                </a:lnTo>
                <a:lnTo>
                  <a:pt x="345312" y="21643"/>
                </a:lnTo>
                <a:lnTo>
                  <a:pt x="361709" y="33098"/>
                </a:lnTo>
                <a:lnTo>
                  <a:pt x="386495" y="65545"/>
                </a:lnTo>
                <a:lnTo>
                  <a:pt x="401081" y="109323"/>
                </a:lnTo>
                <a:lnTo>
                  <a:pt x="405942" y="163041"/>
                </a:lnTo>
                <a:lnTo>
                  <a:pt x="404721" y="192092"/>
                </a:lnTo>
                <a:lnTo>
                  <a:pt x="394954" y="242184"/>
                </a:lnTo>
                <a:lnTo>
                  <a:pt x="375356" y="281306"/>
                </a:lnTo>
                <a:lnTo>
                  <a:pt x="345534" y="307698"/>
                </a:lnTo>
                <a:lnTo>
                  <a:pt x="326765" y="316011"/>
                </a:lnTo>
                <a:lnTo>
                  <a:pt x="330932" y="329380"/>
                </a:lnTo>
                <a:lnTo>
                  <a:pt x="375860" y="308306"/>
                </a:lnTo>
                <a:lnTo>
                  <a:pt x="408894" y="271821"/>
                </a:lnTo>
                <a:lnTo>
                  <a:pt x="429209" y="222965"/>
                </a:lnTo>
                <a:lnTo>
                  <a:pt x="435980" y="164777"/>
                </a:lnTo>
                <a:lnTo>
                  <a:pt x="434282" y="134581"/>
                </a:lnTo>
                <a:lnTo>
                  <a:pt x="420696" y="81058"/>
                </a:lnTo>
                <a:lnTo>
                  <a:pt x="393750" y="37488"/>
                </a:lnTo>
                <a:lnTo>
                  <a:pt x="354813" y="8621"/>
                </a:lnTo>
                <a:lnTo>
                  <a:pt x="330932" y="0"/>
                </a:lnTo>
                <a:close/>
              </a:path>
              <a:path w="436245" h="329564">
                <a:moveTo>
                  <a:pt x="105048" y="0"/>
                </a:moveTo>
                <a:lnTo>
                  <a:pt x="60229" y="21117"/>
                </a:lnTo>
                <a:lnTo>
                  <a:pt x="27174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69"/>
                </a:lnTo>
                <a:lnTo>
                  <a:pt x="105048" y="329380"/>
                </a:lnTo>
                <a:lnTo>
                  <a:pt x="109214" y="316011"/>
                </a:lnTo>
                <a:lnTo>
                  <a:pt x="90446" y="307698"/>
                </a:lnTo>
                <a:lnTo>
                  <a:pt x="74249" y="296130"/>
                </a:lnTo>
                <a:lnTo>
                  <a:pt x="49571" y="263226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1"/>
                </a:lnTo>
                <a:lnTo>
                  <a:pt x="60657" y="47732"/>
                </a:lnTo>
                <a:lnTo>
                  <a:pt x="90739" y="21643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187580" y="2795523"/>
            <a:ext cx="20523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5310" algn="l"/>
              </a:tabLst>
            </a:pPr>
            <a:r>
              <a:rPr dirty="0" sz="2800">
                <a:latin typeface="Cambria Math"/>
                <a:cs typeface="Cambria Math"/>
              </a:rPr>
              <a:t>𝐦</a:t>
            </a:r>
            <a:r>
              <a:rPr dirty="0" sz="2800" spc="229">
                <a:latin typeface="Cambria Math"/>
                <a:cs typeface="Cambria Math"/>
              </a:rPr>
              <a:t> </a:t>
            </a:r>
            <a:r>
              <a:rPr dirty="0" baseline="37500" sz="3000" spc="-465">
                <a:latin typeface="Cambria Math"/>
                <a:cs typeface="Cambria Math"/>
              </a:rPr>
              <a:t>$</a:t>
            </a:r>
            <a:r>
              <a:rPr dirty="0" baseline="37500" sz="3000">
                <a:latin typeface="Cambria Math"/>
                <a:cs typeface="Cambria Math"/>
              </a:rPr>
              <a:t> </a:t>
            </a:r>
            <a:r>
              <a:rPr dirty="0" baseline="37500" sz="3000" spc="-209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𝑢</a:t>
            </a:r>
            <a:r>
              <a:rPr dirty="0" sz="2800" spc="22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∈</a:t>
            </a:r>
            <a:r>
              <a:rPr dirty="0" sz="2800" spc="16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𝑁	𝑣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85216" y="347472"/>
            <a:ext cx="5279136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168162" y="5192267"/>
            <a:ext cx="16452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(2)</a:t>
            </a:r>
            <a:r>
              <a:rPr dirty="0" sz="20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Aggregation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68162" y="5826252"/>
            <a:ext cx="12960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2000" spc="-8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16606" y="5127593"/>
            <a:ext cx="1073150" cy="566420"/>
          </a:xfrm>
          <a:custGeom>
            <a:avLst/>
            <a:gdLst/>
            <a:ahLst/>
            <a:cxnLst/>
            <a:rect l="l" t="t" r="r" b="b"/>
            <a:pathLst>
              <a:path w="1073150" h="566420">
                <a:moveTo>
                  <a:pt x="0" y="0"/>
                </a:moveTo>
                <a:lnTo>
                  <a:pt x="1072816" y="0"/>
                </a:lnTo>
                <a:lnTo>
                  <a:pt x="1072816" y="566219"/>
                </a:lnTo>
                <a:lnTo>
                  <a:pt x="0" y="56621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644162" y="4642611"/>
            <a:ext cx="6667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Corbel"/>
                <a:cs typeface="Corbel"/>
              </a:rPr>
              <a:t>Node</a:t>
            </a:r>
            <a:r>
              <a:rPr dirty="0" sz="1600" spc="-95" b="1">
                <a:latin typeface="Corbel"/>
                <a:cs typeface="Corbel"/>
              </a:rPr>
              <a:t> </a:t>
            </a:r>
            <a:r>
              <a:rPr dirty="0" sz="1600">
                <a:latin typeface="Cambria Math"/>
                <a:cs typeface="Cambria Math"/>
              </a:rPr>
              <a:t>𝒗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06351" y="4397750"/>
            <a:ext cx="1951989" cy="2155825"/>
          </a:xfrm>
          <a:custGeom>
            <a:avLst/>
            <a:gdLst/>
            <a:ahLst/>
            <a:cxnLst/>
            <a:rect l="l" t="t" r="r" b="b"/>
            <a:pathLst>
              <a:path w="1951989" h="2155825">
                <a:moveTo>
                  <a:pt x="1951639" y="0"/>
                </a:moveTo>
                <a:lnTo>
                  <a:pt x="0" y="0"/>
                </a:lnTo>
                <a:lnTo>
                  <a:pt x="0" y="2155450"/>
                </a:lnTo>
                <a:lnTo>
                  <a:pt x="1951639" y="2155450"/>
                </a:lnTo>
                <a:lnTo>
                  <a:pt x="19516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95208" y="5774373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630082" y="5376755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089567" y="5312459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4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830309" y="4886730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5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053258" y="4903444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69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027405" y="5126552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39" h="53339">
                <a:moveTo>
                  <a:pt x="53220" y="0"/>
                </a:moveTo>
                <a:lnTo>
                  <a:pt x="0" y="180"/>
                </a:lnTo>
                <a:lnTo>
                  <a:pt x="26790" y="53310"/>
                </a:lnTo>
                <a:lnTo>
                  <a:pt x="532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684782" y="4746953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075343" y="4874426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29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719153" y="476101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1" y="174789"/>
                </a:lnTo>
                <a:lnTo>
                  <a:pt x="155282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2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766951" y="4739857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808814" y="5354700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10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771203" y="580467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70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2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2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70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817836" y="5786536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37229" y="5985964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70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70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580676" y="597281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086790" y="5437372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39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127289" y="56429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1" y="26570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3" y="90716"/>
                </a:lnTo>
                <a:lnTo>
                  <a:pt x="175262" y="56579"/>
                </a:lnTo>
                <a:lnTo>
                  <a:pt x="155280" y="26570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166113" y="5626873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967255" y="5297709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3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3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4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3006448" y="5280937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975710" y="522596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4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012980" y="5201105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146034" y="6366430"/>
            <a:ext cx="716915" cy="125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0935" y="5874532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4" h="212089">
                <a:moveTo>
                  <a:pt x="164899" y="0"/>
                </a:moveTo>
                <a:lnTo>
                  <a:pt x="161885" y="8594"/>
                </a:lnTo>
                <a:lnTo>
                  <a:pt x="174143" y="13914"/>
                </a:lnTo>
                <a:lnTo>
                  <a:pt x="184684" y="21277"/>
                </a:lnTo>
                <a:lnTo>
                  <a:pt x="206087" y="55409"/>
                </a:lnTo>
                <a:lnTo>
                  <a:pt x="213119" y="104812"/>
                </a:lnTo>
                <a:lnTo>
                  <a:pt x="212335" y="123487"/>
                </a:lnTo>
                <a:lnTo>
                  <a:pt x="200562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899" y="211745"/>
                </a:lnTo>
                <a:lnTo>
                  <a:pt x="205355" y="187708"/>
                </a:lnTo>
                <a:lnTo>
                  <a:pt x="228077" y="143335"/>
                </a:lnTo>
                <a:lnTo>
                  <a:pt x="232430" y="105928"/>
                </a:lnTo>
                <a:lnTo>
                  <a:pt x="231338" y="86516"/>
                </a:lnTo>
                <a:lnTo>
                  <a:pt x="214961" y="37113"/>
                </a:lnTo>
                <a:lnTo>
                  <a:pt x="180251" y="5542"/>
                </a:lnTo>
                <a:lnTo>
                  <a:pt x="164899" y="0"/>
                </a:lnTo>
                <a:close/>
              </a:path>
              <a:path w="233044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4" y="155690"/>
                </a:lnTo>
                <a:lnTo>
                  <a:pt x="19310" y="104812"/>
                </a:lnTo>
                <a:lnTo>
                  <a:pt x="20095" y="86747"/>
                </a:lnTo>
                <a:lnTo>
                  <a:pt x="31868" y="42136"/>
                </a:lnTo>
                <a:lnTo>
                  <a:pt x="58332" y="13914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56979" y="5860436"/>
            <a:ext cx="4006215" cy="502920"/>
          </a:xfrm>
          <a:custGeom>
            <a:avLst/>
            <a:gdLst/>
            <a:ahLst/>
            <a:cxnLst/>
            <a:rect l="l" t="t" r="r" b="b"/>
            <a:pathLst>
              <a:path w="4006215" h="502920">
                <a:moveTo>
                  <a:pt x="3897515" y="0"/>
                </a:moveTo>
                <a:lnTo>
                  <a:pt x="3892753" y="11906"/>
                </a:lnTo>
                <a:lnTo>
                  <a:pt x="3911491" y="27137"/>
                </a:lnTo>
                <a:lnTo>
                  <a:pt x="3928117" y="46936"/>
                </a:lnTo>
                <a:lnTo>
                  <a:pt x="3955037" y="100235"/>
                </a:lnTo>
                <a:lnTo>
                  <a:pt x="3972059" y="169273"/>
                </a:lnTo>
                <a:lnTo>
                  <a:pt x="3976315" y="208745"/>
                </a:lnTo>
                <a:lnTo>
                  <a:pt x="3977733" y="251519"/>
                </a:lnTo>
                <a:lnTo>
                  <a:pt x="3976324" y="293619"/>
                </a:lnTo>
                <a:lnTo>
                  <a:pt x="3972097" y="332705"/>
                </a:lnTo>
                <a:lnTo>
                  <a:pt x="3955186" y="401835"/>
                </a:lnTo>
                <a:lnTo>
                  <a:pt x="3928304" y="455637"/>
                </a:lnTo>
                <a:lnTo>
                  <a:pt x="3892753" y="490835"/>
                </a:lnTo>
                <a:lnTo>
                  <a:pt x="3897515" y="502741"/>
                </a:lnTo>
                <a:lnTo>
                  <a:pt x="3942256" y="466948"/>
                </a:lnTo>
                <a:lnTo>
                  <a:pt x="3976766" y="409574"/>
                </a:lnTo>
                <a:lnTo>
                  <a:pt x="3998811" y="335905"/>
                </a:lnTo>
                <a:lnTo>
                  <a:pt x="4004322" y="294940"/>
                </a:lnTo>
                <a:lnTo>
                  <a:pt x="4006159" y="251221"/>
                </a:lnTo>
                <a:lnTo>
                  <a:pt x="4004322" y="207280"/>
                </a:lnTo>
                <a:lnTo>
                  <a:pt x="3998811" y="166241"/>
                </a:lnTo>
                <a:lnTo>
                  <a:pt x="3989625" y="128103"/>
                </a:lnTo>
                <a:lnTo>
                  <a:pt x="3960790" y="61726"/>
                </a:lnTo>
                <a:lnTo>
                  <a:pt x="3921164" y="15292"/>
                </a:lnTo>
                <a:lnTo>
                  <a:pt x="3897515" y="0"/>
                </a:lnTo>
                <a:close/>
              </a:path>
              <a:path w="4006215" h="502920">
                <a:moveTo>
                  <a:pt x="108496" y="0"/>
                </a:moveTo>
                <a:lnTo>
                  <a:pt x="63865" y="35867"/>
                </a:lnTo>
                <a:lnTo>
                  <a:pt x="29394" y="92868"/>
                </a:lnTo>
                <a:lnTo>
                  <a:pt x="7348" y="166241"/>
                </a:lnTo>
                <a:lnTo>
                  <a:pt x="1837" y="207280"/>
                </a:lnTo>
                <a:lnTo>
                  <a:pt x="0" y="251221"/>
                </a:lnTo>
                <a:lnTo>
                  <a:pt x="1837" y="294940"/>
                </a:lnTo>
                <a:lnTo>
                  <a:pt x="7348" y="335905"/>
                </a:lnTo>
                <a:lnTo>
                  <a:pt x="16534" y="374116"/>
                </a:lnTo>
                <a:lnTo>
                  <a:pt x="45360" y="440959"/>
                </a:lnTo>
                <a:lnTo>
                  <a:pt x="84911" y="487542"/>
                </a:lnTo>
                <a:lnTo>
                  <a:pt x="108496" y="502741"/>
                </a:lnTo>
                <a:lnTo>
                  <a:pt x="113407" y="490835"/>
                </a:lnTo>
                <a:lnTo>
                  <a:pt x="94487" y="475561"/>
                </a:lnTo>
                <a:lnTo>
                  <a:pt x="77763" y="455637"/>
                </a:lnTo>
                <a:lnTo>
                  <a:pt x="50899" y="401835"/>
                </a:lnTo>
                <a:lnTo>
                  <a:pt x="34044" y="332705"/>
                </a:lnTo>
                <a:lnTo>
                  <a:pt x="29831" y="293619"/>
                </a:lnTo>
                <a:lnTo>
                  <a:pt x="28426" y="251519"/>
                </a:lnTo>
                <a:lnTo>
                  <a:pt x="29844" y="208745"/>
                </a:lnTo>
                <a:lnTo>
                  <a:pt x="34100" y="169273"/>
                </a:lnTo>
                <a:lnTo>
                  <a:pt x="51122" y="100235"/>
                </a:lnTo>
                <a:lnTo>
                  <a:pt x="78041" y="46936"/>
                </a:lnTo>
                <a:lnTo>
                  <a:pt x="113407" y="11906"/>
                </a:lnTo>
                <a:lnTo>
                  <a:pt x="1084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5489" y="5882132"/>
            <a:ext cx="21951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4330" algn="l"/>
              </a:tabLst>
            </a:pP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15">
                <a:solidFill>
                  <a:srgbClr val="C00000"/>
                </a:solidFill>
                <a:latin typeface="Cambria Math"/>
                <a:cs typeface="Cambria Math"/>
              </a:rPr>
              <a:t>C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O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NC</a:t>
            </a:r>
            <a:r>
              <a:rPr dirty="0" sz="2400" spc="-150">
                <a:solidFill>
                  <a:srgbClr val="C00000"/>
                </a:solidFill>
                <a:latin typeface="Cambria Math"/>
                <a:cs typeface="Cambria Math"/>
              </a:rPr>
              <a:t>A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T	</a:t>
            </a:r>
            <a:r>
              <a:rPr dirty="0" sz="2400" spc="-35">
                <a:latin typeface="Cambria Math"/>
                <a:cs typeface="Cambria Math"/>
              </a:rPr>
              <a:t>A</a:t>
            </a:r>
            <a:r>
              <a:rPr dirty="0" sz="2400" spc="-5">
                <a:latin typeface="Cambria Math"/>
                <a:cs typeface="Cambria Math"/>
              </a:rPr>
              <a:t>GG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14407" y="5860436"/>
            <a:ext cx="2377440" cy="502920"/>
          </a:xfrm>
          <a:custGeom>
            <a:avLst/>
            <a:gdLst/>
            <a:ahLst/>
            <a:cxnLst/>
            <a:rect l="l" t="t" r="r" b="b"/>
            <a:pathLst>
              <a:path w="2377440" h="502920">
                <a:moveTo>
                  <a:pt x="2268231" y="0"/>
                </a:moveTo>
                <a:lnTo>
                  <a:pt x="2263468" y="11906"/>
                </a:lnTo>
                <a:lnTo>
                  <a:pt x="2282207" y="27137"/>
                </a:lnTo>
                <a:lnTo>
                  <a:pt x="2298834" y="46936"/>
                </a:lnTo>
                <a:lnTo>
                  <a:pt x="2325753" y="100235"/>
                </a:lnTo>
                <a:lnTo>
                  <a:pt x="2342775" y="169273"/>
                </a:lnTo>
                <a:lnTo>
                  <a:pt x="2347031" y="208745"/>
                </a:lnTo>
                <a:lnTo>
                  <a:pt x="2348449" y="251519"/>
                </a:lnTo>
                <a:lnTo>
                  <a:pt x="2347040" y="293619"/>
                </a:lnTo>
                <a:lnTo>
                  <a:pt x="2342812" y="332705"/>
                </a:lnTo>
                <a:lnTo>
                  <a:pt x="2325902" y="401835"/>
                </a:lnTo>
                <a:lnTo>
                  <a:pt x="2299020" y="455637"/>
                </a:lnTo>
                <a:lnTo>
                  <a:pt x="2263468" y="490835"/>
                </a:lnTo>
                <a:lnTo>
                  <a:pt x="2268231" y="502741"/>
                </a:lnTo>
                <a:lnTo>
                  <a:pt x="2312973" y="466948"/>
                </a:lnTo>
                <a:lnTo>
                  <a:pt x="2347483" y="409574"/>
                </a:lnTo>
                <a:lnTo>
                  <a:pt x="2369527" y="335905"/>
                </a:lnTo>
                <a:lnTo>
                  <a:pt x="2375039" y="294940"/>
                </a:lnTo>
                <a:lnTo>
                  <a:pt x="2376876" y="251221"/>
                </a:lnTo>
                <a:lnTo>
                  <a:pt x="2375039" y="207280"/>
                </a:lnTo>
                <a:lnTo>
                  <a:pt x="2369527" y="166241"/>
                </a:lnTo>
                <a:lnTo>
                  <a:pt x="2360342" y="128103"/>
                </a:lnTo>
                <a:lnTo>
                  <a:pt x="2331507" y="61726"/>
                </a:lnTo>
                <a:lnTo>
                  <a:pt x="2291881" y="15292"/>
                </a:lnTo>
                <a:lnTo>
                  <a:pt x="2268231" y="0"/>
                </a:lnTo>
                <a:close/>
              </a:path>
              <a:path w="2377440" h="502920">
                <a:moveTo>
                  <a:pt x="108496" y="0"/>
                </a:moveTo>
                <a:lnTo>
                  <a:pt x="63865" y="35867"/>
                </a:lnTo>
                <a:lnTo>
                  <a:pt x="29394" y="92868"/>
                </a:lnTo>
                <a:lnTo>
                  <a:pt x="7348" y="166241"/>
                </a:lnTo>
                <a:lnTo>
                  <a:pt x="1837" y="207280"/>
                </a:lnTo>
                <a:lnTo>
                  <a:pt x="0" y="251221"/>
                </a:lnTo>
                <a:lnTo>
                  <a:pt x="1837" y="294940"/>
                </a:lnTo>
                <a:lnTo>
                  <a:pt x="7348" y="335905"/>
                </a:lnTo>
                <a:lnTo>
                  <a:pt x="16534" y="374116"/>
                </a:lnTo>
                <a:lnTo>
                  <a:pt x="45360" y="440959"/>
                </a:lnTo>
                <a:lnTo>
                  <a:pt x="84911" y="487542"/>
                </a:lnTo>
                <a:lnTo>
                  <a:pt x="108496" y="502741"/>
                </a:lnTo>
                <a:lnTo>
                  <a:pt x="113407" y="490835"/>
                </a:lnTo>
                <a:lnTo>
                  <a:pt x="94487" y="475561"/>
                </a:lnTo>
                <a:lnTo>
                  <a:pt x="77762" y="455637"/>
                </a:lnTo>
                <a:lnTo>
                  <a:pt x="50899" y="401835"/>
                </a:lnTo>
                <a:lnTo>
                  <a:pt x="34044" y="332705"/>
                </a:lnTo>
                <a:lnTo>
                  <a:pt x="29830" y="293619"/>
                </a:lnTo>
                <a:lnTo>
                  <a:pt x="28426" y="251519"/>
                </a:lnTo>
                <a:lnTo>
                  <a:pt x="29844" y="208745"/>
                </a:lnTo>
                <a:lnTo>
                  <a:pt x="34100" y="169273"/>
                </a:lnTo>
                <a:lnTo>
                  <a:pt x="51122" y="100235"/>
                </a:lnTo>
                <a:lnTo>
                  <a:pt x="78041" y="46936"/>
                </a:lnTo>
                <a:lnTo>
                  <a:pt x="113407" y="11906"/>
                </a:lnTo>
                <a:lnTo>
                  <a:pt x="1084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52065" y="5862031"/>
            <a:ext cx="2101850" cy="499745"/>
          </a:xfrm>
          <a:custGeom>
            <a:avLst/>
            <a:gdLst/>
            <a:ahLst/>
            <a:cxnLst/>
            <a:rect l="l" t="t" r="r" b="b"/>
            <a:pathLst>
              <a:path w="2101850" h="499745">
                <a:moveTo>
                  <a:pt x="1996057" y="0"/>
                </a:moveTo>
                <a:lnTo>
                  <a:pt x="1996057" y="11906"/>
                </a:lnTo>
                <a:lnTo>
                  <a:pt x="2004391" y="12501"/>
                </a:lnTo>
                <a:lnTo>
                  <a:pt x="2011907" y="14560"/>
                </a:lnTo>
                <a:lnTo>
                  <a:pt x="2042101" y="46304"/>
                </a:lnTo>
                <a:lnTo>
                  <a:pt x="2050290" y="90548"/>
                </a:lnTo>
                <a:lnTo>
                  <a:pt x="2050528" y="101947"/>
                </a:lnTo>
                <a:lnTo>
                  <a:pt x="2050277" y="111021"/>
                </a:lnTo>
                <a:lnTo>
                  <a:pt x="2049523" y="121722"/>
                </a:lnTo>
                <a:lnTo>
                  <a:pt x="2048268" y="134052"/>
                </a:lnTo>
                <a:lnTo>
                  <a:pt x="2046509" y="148009"/>
                </a:lnTo>
                <a:lnTo>
                  <a:pt x="2044751" y="161641"/>
                </a:lnTo>
                <a:lnTo>
                  <a:pt x="2043496" y="172994"/>
                </a:lnTo>
                <a:lnTo>
                  <a:pt x="2042742" y="182068"/>
                </a:lnTo>
                <a:lnTo>
                  <a:pt x="2042491" y="188862"/>
                </a:lnTo>
                <a:lnTo>
                  <a:pt x="2043170" y="200950"/>
                </a:lnTo>
                <a:lnTo>
                  <a:pt x="2058676" y="236446"/>
                </a:lnTo>
                <a:lnTo>
                  <a:pt x="2073299" y="248096"/>
                </a:lnTo>
                <a:lnTo>
                  <a:pt x="2073299" y="251073"/>
                </a:lnTo>
                <a:lnTo>
                  <a:pt x="2045207" y="287089"/>
                </a:lnTo>
                <a:lnTo>
                  <a:pt x="2042491" y="310009"/>
                </a:lnTo>
                <a:lnTo>
                  <a:pt x="2042742" y="315399"/>
                </a:lnTo>
                <a:lnTo>
                  <a:pt x="2043496" y="324129"/>
                </a:lnTo>
                <a:lnTo>
                  <a:pt x="2044751" y="336198"/>
                </a:lnTo>
                <a:lnTo>
                  <a:pt x="2048268" y="367210"/>
                </a:lnTo>
                <a:lnTo>
                  <a:pt x="2049523" y="379865"/>
                </a:lnTo>
                <a:lnTo>
                  <a:pt x="2050277" y="389571"/>
                </a:lnTo>
                <a:lnTo>
                  <a:pt x="2050528" y="396329"/>
                </a:lnTo>
                <a:lnTo>
                  <a:pt x="2050314" y="407807"/>
                </a:lnTo>
                <a:lnTo>
                  <a:pt x="2042715" y="452511"/>
                </a:lnTo>
                <a:lnTo>
                  <a:pt x="2012477" y="484857"/>
                </a:lnTo>
                <a:lnTo>
                  <a:pt x="1996057" y="487561"/>
                </a:lnTo>
                <a:lnTo>
                  <a:pt x="1996057" y="499467"/>
                </a:lnTo>
                <a:lnTo>
                  <a:pt x="2046035" y="482696"/>
                </a:lnTo>
                <a:lnTo>
                  <a:pt x="2071959" y="436587"/>
                </a:lnTo>
                <a:lnTo>
                  <a:pt x="2076871" y="390673"/>
                </a:lnTo>
                <a:lnTo>
                  <a:pt x="2076587" y="381158"/>
                </a:lnTo>
                <a:lnTo>
                  <a:pt x="2075736" y="369726"/>
                </a:lnTo>
                <a:lnTo>
                  <a:pt x="2074317" y="356378"/>
                </a:lnTo>
                <a:lnTo>
                  <a:pt x="2072331" y="341114"/>
                </a:lnTo>
                <a:lnTo>
                  <a:pt x="2070345" y="326408"/>
                </a:lnTo>
                <a:lnTo>
                  <a:pt x="2068927" y="314734"/>
                </a:lnTo>
                <a:lnTo>
                  <a:pt x="2068076" y="306092"/>
                </a:lnTo>
                <a:lnTo>
                  <a:pt x="2067792" y="300484"/>
                </a:lnTo>
                <a:lnTo>
                  <a:pt x="2068327" y="290824"/>
                </a:lnTo>
                <a:lnTo>
                  <a:pt x="2093749" y="256919"/>
                </a:lnTo>
                <a:lnTo>
                  <a:pt x="2101576" y="255984"/>
                </a:lnTo>
                <a:lnTo>
                  <a:pt x="2101576" y="243185"/>
                </a:lnTo>
                <a:lnTo>
                  <a:pt x="2069950" y="217103"/>
                </a:lnTo>
                <a:lnTo>
                  <a:pt x="2067792" y="198536"/>
                </a:lnTo>
                <a:lnTo>
                  <a:pt x="2068076" y="192779"/>
                </a:lnTo>
                <a:lnTo>
                  <a:pt x="2068927" y="184435"/>
                </a:lnTo>
                <a:lnTo>
                  <a:pt x="2070421" y="172994"/>
                </a:lnTo>
                <a:lnTo>
                  <a:pt x="2072331" y="159990"/>
                </a:lnTo>
                <a:lnTo>
                  <a:pt x="2074317" y="145786"/>
                </a:lnTo>
                <a:lnTo>
                  <a:pt x="2075736" y="132791"/>
                </a:lnTo>
                <a:lnTo>
                  <a:pt x="2076587" y="121006"/>
                </a:lnTo>
                <a:lnTo>
                  <a:pt x="2076871" y="110430"/>
                </a:lnTo>
                <a:lnTo>
                  <a:pt x="2075573" y="84487"/>
                </a:lnTo>
                <a:lnTo>
                  <a:pt x="2065192" y="43485"/>
                </a:lnTo>
                <a:lnTo>
                  <a:pt x="2030715" y="8073"/>
                </a:lnTo>
                <a:lnTo>
                  <a:pt x="2014544" y="2502"/>
                </a:lnTo>
                <a:lnTo>
                  <a:pt x="1996057" y="0"/>
                </a:lnTo>
                <a:close/>
              </a:path>
              <a:path w="2101850" h="499745">
                <a:moveTo>
                  <a:pt x="105519" y="0"/>
                </a:moveTo>
                <a:lnTo>
                  <a:pt x="56908" y="16715"/>
                </a:lnTo>
                <a:lnTo>
                  <a:pt x="29878" y="62172"/>
                </a:lnTo>
                <a:lnTo>
                  <a:pt x="24706" y="110430"/>
                </a:lnTo>
                <a:lnTo>
                  <a:pt x="24990" y="121006"/>
                </a:lnTo>
                <a:lnTo>
                  <a:pt x="25841" y="132791"/>
                </a:lnTo>
                <a:lnTo>
                  <a:pt x="27259" y="145786"/>
                </a:lnTo>
                <a:lnTo>
                  <a:pt x="29245" y="159990"/>
                </a:lnTo>
                <a:lnTo>
                  <a:pt x="31231" y="173505"/>
                </a:lnTo>
                <a:lnTo>
                  <a:pt x="32649" y="184435"/>
                </a:lnTo>
                <a:lnTo>
                  <a:pt x="33500" y="192779"/>
                </a:lnTo>
                <a:lnTo>
                  <a:pt x="33784" y="198536"/>
                </a:lnTo>
                <a:lnTo>
                  <a:pt x="33244" y="208387"/>
                </a:lnTo>
                <a:lnTo>
                  <a:pt x="7767" y="242320"/>
                </a:lnTo>
                <a:lnTo>
                  <a:pt x="0" y="243185"/>
                </a:lnTo>
                <a:lnTo>
                  <a:pt x="0" y="255984"/>
                </a:lnTo>
                <a:lnTo>
                  <a:pt x="31645" y="282233"/>
                </a:lnTo>
                <a:lnTo>
                  <a:pt x="33784" y="300484"/>
                </a:lnTo>
                <a:lnTo>
                  <a:pt x="33500" y="306092"/>
                </a:lnTo>
                <a:lnTo>
                  <a:pt x="32649" y="314734"/>
                </a:lnTo>
                <a:lnTo>
                  <a:pt x="31231" y="326408"/>
                </a:lnTo>
                <a:lnTo>
                  <a:pt x="29245" y="341114"/>
                </a:lnTo>
                <a:lnTo>
                  <a:pt x="27259" y="356378"/>
                </a:lnTo>
                <a:lnTo>
                  <a:pt x="25841" y="369726"/>
                </a:lnTo>
                <a:lnTo>
                  <a:pt x="24990" y="381158"/>
                </a:lnTo>
                <a:lnTo>
                  <a:pt x="24706" y="390673"/>
                </a:lnTo>
                <a:lnTo>
                  <a:pt x="25929" y="415137"/>
                </a:lnTo>
                <a:lnTo>
                  <a:pt x="35714" y="455023"/>
                </a:lnTo>
                <a:lnTo>
                  <a:pt x="69372" y="491616"/>
                </a:lnTo>
                <a:lnTo>
                  <a:pt x="105519" y="499467"/>
                </a:lnTo>
                <a:lnTo>
                  <a:pt x="105519" y="487561"/>
                </a:lnTo>
                <a:lnTo>
                  <a:pt x="96787" y="486965"/>
                </a:lnTo>
                <a:lnTo>
                  <a:pt x="89099" y="484857"/>
                </a:lnTo>
                <a:lnTo>
                  <a:pt x="58824" y="452511"/>
                </a:lnTo>
                <a:lnTo>
                  <a:pt x="51262" y="407807"/>
                </a:lnTo>
                <a:lnTo>
                  <a:pt x="51048" y="396329"/>
                </a:lnTo>
                <a:lnTo>
                  <a:pt x="51299" y="389571"/>
                </a:lnTo>
                <a:lnTo>
                  <a:pt x="52053" y="379865"/>
                </a:lnTo>
                <a:lnTo>
                  <a:pt x="53308" y="367210"/>
                </a:lnTo>
                <a:lnTo>
                  <a:pt x="56825" y="336198"/>
                </a:lnTo>
                <a:lnTo>
                  <a:pt x="58080" y="324129"/>
                </a:lnTo>
                <a:lnTo>
                  <a:pt x="58834" y="315399"/>
                </a:lnTo>
                <a:lnTo>
                  <a:pt x="59085" y="310009"/>
                </a:lnTo>
                <a:lnTo>
                  <a:pt x="58401" y="297879"/>
                </a:lnTo>
                <a:lnTo>
                  <a:pt x="42802" y="262793"/>
                </a:lnTo>
                <a:lnTo>
                  <a:pt x="28277" y="251073"/>
                </a:lnTo>
                <a:lnTo>
                  <a:pt x="28277" y="248096"/>
                </a:lnTo>
                <a:lnTo>
                  <a:pt x="56350" y="211763"/>
                </a:lnTo>
                <a:lnTo>
                  <a:pt x="59085" y="188862"/>
                </a:lnTo>
                <a:lnTo>
                  <a:pt x="58834" y="182068"/>
                </a:lnTo>
                <a:lnTo>
                  <a:pt x="58080" y="172994"/>
                </a:lnTo>
                <a:lnTo>
                  <a:pt x="56825" y="161641"/>
                </a:lnTo>
                <a:lnTo>
                  <a:pt x="55067" y="148009"/>
                </a:lnTo>
                <a:lnTo>
                  <a:pt x="53308" y="134052"/>
                </a:lnTo>
                <a:lnTo>
                  <a:pt x="52053" y="121722"/>
                </a:lnTo>
                <a:lnTo>
                  <a:pt x="51299" y="111021"/>
                </a:lnTo>
                <a:lnTo>
                  <a:pt x="51048" y="101947"/>
                </a:lnTo>
                <a:lnTo>
                  <a:pt x="51286" y="90548"/>
                </a:lnTo>
                <a:lnTo>
                  <a:pt x="59457" y="46304"/>
                </a:lnTo>
                <a:lnTo>
                  <a:pt x="89644" y="14560"/>
                </a:lnTo>
                <a:lnTo>
                  <a:pt x="105519" y="11906"/>
                </a:lnTo>
                <a:lnTo>
                  <a:pt x="105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63104" y="5874532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5" h="212089">
                <a:moveTo>
                  <a:pt x="164900" y="0"/>
                </a:moveTo>
                <a:lnTo>
                  <a:pt x="161886" y="8594"/>
                </a:lnTo>
                <a:lnTo>
                  <a:pt x="174144" y="13914"/>
                </a:lnTo>
                <a:lnTo>
                  <a:pt x="184685" y="21277"/>
                </a:lnTo>
                <a:lnTo>
                  <a:pt x="206089" y="55409"/>
                </a:lnTo>
                <a:lnTo>
                  <a:pt x="213121" y="104812"/>
                </a:lnTo>
                <a:lnTo>
                  <a:pt x="212336" y="123487"/>
                </a:lnTo>
                <a:lnTo>
                  <a:pt x="200563" y="169217"/>
                </a:lnTo>
                <a:lnTo>
                  <a:pt x="174287" y="197806"/>
                </a:lnTo>
                <a:lnTo>
                  <a:pt x="162222" y="203150"/>
                </a:lnTo>
                <a:lnTo>
                  <a:pt x="164900" y="211745"/>
                </a:lnTo>
                <a:lnTo>
                  <a:pt x="205356" y="187708"/>
                </a:lnTo>
                <a:lnTo>
                  <a:pt x="228078" y="143335"/>
                </a:lnTo>
                <a:lnTo>
                  <a:pt x="232431" y="105928"/>
                </a:lnTo>
                <a:lnTo>
                  <a:pt x="231339" y="86516"/>
                </a:lnTo>
                <a:lnTo>
                  <a:pt x="214962" y="37113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10" y="203150"/>
                </a:lnTo>
                <a:lnTo>
                  <a:pt x="58145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1" y="104812"/>
                </a:lnTo>
                <a:lnTo>
                  <a:pt x="20096" y="86747"/>
                </a:lnTo>
                <a:lnTo>
                  <a:pt x="31868" y="42136"/>
                </a:lnTo>
                <a:lnTo>
                  <a:pt x="58332" y="13914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38646" y="5970628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29" y="0"/>
                </a:moveTo>
                <a:lnTo>
                  <a:pt x="279411" y="11459"/>
                </a:lnTo>
                <a:lnTo>
                  <a:pt x="295754" y="18552"/>
                </a:lnTo>
                <a:lnTo>
                  <a:pt x="309809" y="28370"/>
                </a:lnTo>
                <a:lnTo>
                  <a:pt x="338347" y="73879"/>
                </a:lnTo>
                <a:lnTo>
                  <a:pt x="346681" y="115662"/>
                </a:lnTo>
                <a:lnTo>
                  <a:pt x="347723" y="139749"/>
                </a:lnTo>
                <a:lnTo>
                  <a:pt x="346677" y="164650"/>
                </a:lnTo>
                <a:lnTo>
                  <a:pt x="338306" y="207587"/>
                </a:lnTo>
                <a:lnTo>
                  <a:pt x="309828" y="253826"/>
                </a:lnTo>
                <a:lnTo>
                  <a:pt x="279858" y="270867"/>
                </a:lnTo>
                <a:lnTo>
                  <a:pt x="283429" y="282326"/>
                </a:lnTo>
                <a:lnTo>
                  <a:pt x="321939" y="264262"/>
                </a:lnTo>
                <a:lnTo>
                  <a:pt x="350254" y="232990"/>
                </a:lnTo>
                <a:lnTo>
                  <a:pt x="367667" y="191113"/>
                </a:lnTo>
                <a:lnTo>
                  <a:pt x="373471" y="141237"/>
                </a:lnTo>
                <a:lnTo>
                  <a:pt x="372015" y="115355"/>
                </a:lnTo>
                <a:lnTo>
                  <a:pt x="360369" y="69479"/>
                </a:lnTo>
                <a:lnTo>
                  <a:pt x="337273" y="32132"/>
                </a:lnTo>
                <a:lnTo>
                  <a:pt x="303898" y="7390"/>
                </a:lnTo>
                <a:lnTo>
                  <a:pt x="283429" y="0"/>
                </a:lnTo>
                <a:close/>
              </a:path>
              <a:path w="374014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59" y="213052"/>
                </a:lnTo>
                <a:lnTo>
                  <a:pt x="36100" y="250277"/>
                </a:lnTo>
                <a:lnTo>
                  <a:pt x="69511" y="274946"/>
                </a:lnTo>
                <a:lnTo>
                  <a:pt x="90040" y="282326"/>
                </a:lnTo>
                <a:lnTo>
                  <a:pt x="93612" y="270867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9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566787" y="5882132"/>
            <a:ext cx="22771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570990" algn="l"/>
                <a:tab pos="2200910" algn="l"/>
              </a:tabLst>
            </a:pPr>
            <a:r>
              <a:rPr dirty="0" sz="2400">
                <a:latin typeface="Cambria Math"/>
                <a:cs typeface="Cambria Math"/>
              </a:rPr>
              <a:t>𝐦</a:t>
            </a:r>
            <a:r>
              <a:rPr dirty="0" sz="2400" spc="200">
                <a:latin typeface="Cambria Math"/>
                <a:cs typeface="Cambria Math"/>
              </a:rPr>
              <a:t> </a:t>
            </a:r>
            <a:r>
              <a:rPr dirty="0" baseline="37037" sz="2700" spc="-1455">
                <a:latin typeface="Cambria Math"/>
                <a:cs typeface="Cambria Math"/>
              </a:rPr>
              <a:t>%</a:t>
            </a:r>
            <a:r>
              <a:rPr dirty="0" baseline="37037" sz="2700">
                <a:latin typeface="Cambria Math"/>
                <a:cs typeface="Cambria Math"/>
              </a:rPr>
              <a:t> </a:t>
            </a:r>
            <a:r>
              <a:rPr dirty="0" baseline="37037" sz="2700" spc="-21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𝑢</a:t>
            </a:r>
            <a:r>
              <a:rPr dirty="0" sz="2400" spc="19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𝑁	𝑣	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8142" y="6031484"/>
            <a:ext cx="56114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54680" algn="l"/>
                <a:tab pos="5468620" algn="l"/>
              </a:tabLst>
            </a:pPr>
            <a:r>
              <a:rPr dirty="0" sz="1800" spc="265">
                <a:latin typeface="Cambria Math"/>
                <a:cs typeface="Cambria Math"/>
              </a:rPr>
              <a:t>)</a:t>
            </a:r>
            <a:r>
              <a:rPr dirty="0" sz="1800" spc="265">
                <a:latin typeface="Cambria Math"/>
                <a:cs typeface="Cambria Math"/>
              </a:rPr>
              <a:t>	</a:t>
            </a:r>
            <a:r>
              <a:rPr dirty="0" sz="1800" spc="50">
                <a:latin typeface="Cambria Math"/>
                <a:cs typeface="Cambria Math"/>
              </a:rPr>
              <a:t>#</a:t>
            </a:r>
            <a:r>
              <a:rPr dirty="0" sz="1800" spc="50">
                <a:latin typeface="Cambria Math"/>
                <a:cs typeface="Cambria Math"/>
              </a:rPr>
              <a:t>	</a:t>
            </a:r>
            <a:r>
              <a:rPr dirty="0" sz="1800" spc="265">
                <a:solidFill>
                  <a:srgbClr val="C00000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77298" y="5874532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5" h="212089">
                <a:moveTo>
                  <a:pt x="164900" y="0"/>
                </a:moveTo>
                <a:lnTo>
                  <a:pt x="161886" y="8594"/>
                </a:lnTo>
                <a:lnTo>
                  <a:pt x="174143" y="13914"/>
                </a:lnTo>
                <a:lnTo>
                  <a:pt x="184684" y="21277"/>
                </a:lnTo>
                <a:lnTo>
                  <a:pt x="206088" y="55409"/>
                </a:lnTo>
                <a:lnTo>
                  <a:pt x="213121" y="104812"/>
                </a:lnTo>
                <a:lnTo>
                  <a:pt x="212336" y="123487"/>
                </a:lnTo>
                <a:lnTo>
                  <a:pt x="200563" y="169217"/>
                </a:lnTo>
                <a:lnTo>
                  <a:pt x="174287" y="197806"/>
                </a:lnTo>
                <a:lnTo>
                  <a:pt x="162222" y="203150"/>
                </a:lnTo>
                <a:lnTo>
                  <a:pt x="164900" y="211745"/>
                </a:lnTo>
                <a:lnTo>
                  <a:pt x="205356" y="187708"/>
                </a:lnTo>
                <a:lnTo>
                  <a:pt x="228078" y="143335"/>
                </a:lnTo>
                <a:lnTo>
                  <a:pt x="232431" y="105928"/>
                </a:lnTo>
                <a:lnTo>
                  <a:pt x="231339" y="86516"/>
                </a:lnTo>
                <a:lnTo>
                  <a:pt x="214962" y="37113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10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2"/>
                </a:lnTo>
                <a:lnTo>
                  <a:pt x="20095" y="86747"/>
                </a:lnTo>
                <a:lnTo>
                  <a:pt x="31868" y="42136"/>
                </a:lnTo>
                <a:lnTo>
                  <a:pt x="58332" y="13914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502404" y="5726684"/>
            <a:ext cx="58407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0" algn="l"/>
              </a:tabLst>
            </a:pPr>
            <a:r>
              <a:rPr dirty="0" baseline="-27777" sz="3600">
                <a:latin typeface="Cambria Math"/>
                <a:cs typeface="Cambria Math"/>
              </a:rPr>
              <a:t>𝐡</a:t>
            </a:r>
            <a:r>
              <a:rPr dirty="0" baseline="-27777" sz="3600" spc="277">
                <a:latin typeface="Cambria Math"/>
                <a:cs typeface="Cambria Math"/>
              </a:rPr>
              <a:t> </a:t>
            </a:r>
            <a:r>
              <a:rPr dirty="0" sz="1800" spc="-969">
                <a:latin typeface="Cambria Math"/>
                <a:cs typeface="Cambria Math"/>
              </a:rPr>
              <a:t>%	</a:t>
            </a:r>
            <a:r>
              <a:rPr dirty="0" baseline="-27777" sz="3600">
                <a:solidFill>
                  <a:srgbClr val="C00000"/>
                </a:solidFill>
                <a:latin typeface="Cambria Math"/>
                <a:cs typeface="Cambria Math"/>
              </a:rPr>
              <a:t>𝐦</a:t>
            </a:r>
            <a:r>
              <a:rPr dirty="0" baseline="-27777" sz="3600" spc="1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 spc="-969">
                <a:solidFill>
                  <a:srgbClr val="C00000"/>
                </a:solidFill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5216" y="347472"/>
            <a:ext cx="68214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70509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E66C7D"/>
                </a:solidFill>
              </a:rPr>
              <a:t>Issue: </a:t>
            </a:r>
            <a:r>
              <a:rPr dirty="0" sz="2800" spc="-15" b="0">
                <a:solidFill>
                  <a:srgbClr val="000000"/>
                </a:solidFill>
                <a:latin typeface="Calibri"/>
                <a:cs typeface="Calibri"/>
              </a:rPr>
              <a:t>Information from </a:t>
            </a:r>
            <a:r>
              <a:rPr dirty="0" sz="2800" spc="-5" b="0">
                <a:solidFill>
                  <a:srgbClr val="000000"/>
                </a:solidFill>
                <a:latin typeface="Calibri"/>
                <a:cs typeface="Calibri"/>
              </a:rPr>
              <a:t>node </a:t>
            </a:r>
            <a:r>
              <a:rPr dirty="0" sz="2800" b="0">
                <a:solidFill>
                  <a:srgbClr val="000000"/>
                </a:solidFill>
                <a:latin typeface="Cambria Math"/>
                <a:cs typeface="Cambria Math"/>
              </a:rPr>
              <a:t>𝑣 </a:t>
            </a:r>
            <a:r>
              <a:rPr dirty="0" sz="2800" spc="-10" b="0">
                <a:solidFill>
                  <a:srgbClr val="000000"/>
                </a:solidFill>
                <a:latin typeface="Calibri"/>
                <a:cs typeface="Calibri"/>
              </a:rPr>
              <a:t>itself </a:t>
            </a:r>
            <a:r>
              <a:rPr dirty="0" sz="2800" spc="-10">
                <a:solidFill>
                  <a:srgbClr val="C00000"/>
                </a:solidFill>
              </a:rPr>
              <a:t>could </a:t>
            </a:r>
            <a:r>
              <a:rPr dirty="0" sz="2800" spc="-20">
                <a:solidFill>
                  <a:srgbClr val="C00000"/>
                </a:solidFill>
              </a:rPr>
              <a:t>get</a:t>
            </a:r>
            <a:r>
              <a:rPr dirty="0" sz="2800" spc="175">
                <a:solidFill>
                  <a:srgbClr val="C00000"/>
                </a:solidFill>
              </a:rPr>
              <a:t> </a:t>
            </a:r>
            <a:r>
              <a:rPr dirty="0" sz="2800" spc="-15">
                <a:solidFill>
                  <a:srgbClr val="C00000"/>
                </a:solidFill>
              </a:rPr>
              <a:t>lost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6563" y="1944116"/>
            <a:ext cx="7138670" cy="455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ts val="205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10">
                <a:latin typeface="Calibri"/>
                <a:cs typeface="Calibri"/>
              </a:rPr>
              <a:t>Computation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245">
                <a:latin typeface="Cambria Math"/>
                <a:cs typeface="Cambria Math"/>
              </a:rPr>
              <a:t>𝐡</a:t>
            </a:r>
            <a:r>
              <a:rPr dirty="0" baseline="38580" sz="2700" spc="-367">
                <a:latin typeface="Cambria Math"/>
                <a:cs typeface="Cambria Math"/>
              </a:rPr>
              <a:t>(%)   </a:t>
            </a:r>
            <a:r>
              <a:rPr dirty="0" sz="2400" spc="-5">
                <a:latin typeface="Calibri"/>
                <a:cs typeface="Calibri"/>
              </a:rPr>
              <a:t>does not </a:t>
            </a:r>
            <a:r>
              <a:rPr dirty="0" sz="2400" spc="-10">
                <a:latin typeface="Calibri"/>
                <a:cs typeface="Calibri"/>
              </a:rPr>
              <a:t>directly </a:t>
            </a:r>
            <a:r>
              <a:rPr dirty="0" sz="2400">
                <a:latin typeface="Calibri"/>
                <a:cs typeface="Calibri"/>
              </a:rPr>
              <a:t>depend </a:t>
            </a:r>
            <a:r>
              <a:rPr dirty="0" sz="2400" spc="-5">
                <a:latin typeface="Calibri"/>
                <a:cs typeface="Calibri"/>
              </a:rPr>
              <a:t>on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15">
                <a:latin typeface="Cambria Math"/>
                <a:cs typeface="Cambria Math"/>
              </a:rPr>
              <a:t>𝐡</a:t>
            </a:r>
            <a:r>
              <a:rPr dirty="0" baseline="38580" sz="2700" spc="22">
                <a:latin typeface="Cambria Math"/>
                <a:cs typeface="Cambria Math"/>
              </a:rPr>
              <a:t>(%'()</a:t>
            </a:r>
            <a:endParaRPr baseline="38580" sz="2700">
              <a:latin typeface="Cambria Math"/>
              <a:cs typeface="Cambria Math"/>
            </a:endParaRPr>
          </a:p>
          <a:p>
            <a:pPr marL="2482215">
              <a:lnSpc>
                <a:spcPts val="1330"/>
              </a:lnSpc>
              <a:tabLst>
                <a:tab pos="6562090" algn="l"/>
              </a:tabLst>
            </a:pPr>
            <a:r>
              <a:rPr dirty="0" sz="1800" spc="265">
                <a:latin typeface="Cambria Math"/>
                <a:cs typeface="Cambria Math"/>
              </a:rPr>
              <a:t>)	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03573" y="2595372"/>
            <a:ext cx="36537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96945" algn="l"/>
              </a:tabLst>
            </a:pPr>
            <a:r>
              <a:rPr dirty="0" sz="2000" spc="300">
                <a:latin typeface="Cambria Math"/>
                <a:cs typeface="Cambria Math"/>
              </a:rPr>
              <a:t>(</a:t>
            </a:r>
            <a:r>
              <a:rPr dirty="0" sz="2000" spc="300">
                <a:latin typeface="Cambria Math"/>
                <a:cs typeface="Cambria Math"/>
              </a:rPr>
              <a:t>	</a:t>
            </a:r>
            <a:r>
              <a:rPr dirty="0" sz="2000" spc="300">
                <a:latin typeface="Cambria Math"/>
                <a:cs typeface="Cambria Math"/>
              </a:rPr>
              <a:t>(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108" y="2402331"/>
            <a:ext cx="69100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solidFill>
                  <a:srgbClr val="60B5CC"/>
                </a:solidFill>
                <a:latin typeface="Calibri"/>
                <a:cs typeface="Calibri"/>
              </a:rPr>
              <a:t>Solution: </a:t>
            </a:r>
            <a:r>
              <a:rPr dirty="0" sz="2800" spc="-5">
                <a:latin typeface="Calibri"/>
                <a:cs typeface="Calibri"/>
              </a:rPr>
              <a:t>Include </a:t>
            </a:r>
            <a:r>
              <a:rPr dirty="0" sz="2800" spc="90">
                <a:latin typeface="Cambria Math"/>
                <a:cs typeface="Cambria Math"/>
              </a:rPr>
              <a:t>𝐡</a:t>
            </a:r>
            <a:r>
              <a:rPr dirty="0" baseline="41666" sz="3000" spc="135">
                <a:latin typeface="Cambria Math"/>
                <a:cs typeface="Cambria Math"/>
              </a:rPr>
              <a:t>($&amp;') </a:t>
            </a:r>
            <a:r>
              <a:rPr dirty="0" sz="2800" spc="-5">
                <a:latin typeface="Calibri"/>
                <a:cs typeface="Calibri"/>
              </a:rPr>
              <a:t>when computing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55">
                <a:latin typeface="Cambria Math"/>
                <a:cs typeface="Cambria Math"/>
              </a:rPr>
              <a:t>𝐡</a:t>
            </a:r>
            <a:r>
              <a:rPr dirty="0" baseline="41666" sz="3000" spc="-82">
                <a:latin typeface="Cambria Math"/>
                <a:cs typeface="Cambria Math"/>
              </a:rPr>
              <a:t>($)</a:t>
            </a:r>
            <a:endParaRPr baseline="41666" sz="3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37490" y="391550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07" y="6992"/>
                </a:lnTo>
                <a:lnTo>
                  <a:pt x="56155" y="26463"/>
                </a:lnTo>
                <a:lnTo>
                  <a:pt x="26464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4" y="218165"/>
                </a:lnTo>
                <a:lnTo>
                  <a:pt x="56155" y="247856"/>
                </a:lnTo>
                <a:lnTo>
                  <a:pt x="93807" y="267327"/>
                </a:lnTo>
                <a:lnTo>
                  <a:pt x="137160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03946" y="391550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59" y="0"/>
                </a:moveTo>
                <a:lnTo>
                  <a:pt x="93807" y="6992"/>
                </a:lnTo>
                <a:lnTo>
                  <a:pt x="56155" y="26463"/>
                </a:lnTo>
                <a:lnTo>
                  <a:pt x="26464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4" y="218165"/>
                </a:lnTo>
                <a:lnTo>
                  <a:pt x="56155" y="247856"/>
                </a:lnTo>
                <a:lnTo>
                  <a:pt x="93807" y="267327"/>
                </a:lnTo>
                <a:lnTo>
                  <a:pt x="137159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8" y="180513"/>
                </a:lnTo>
                <a:lnTo>
                  <a:pt x="274321" y="137160"/>
                </a:lnTo>
                <a:lnTo>
                  <a:pt x="267328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71360" y="391550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59" y="0"/>
                </a:moveTo>
                <a:lnTo>
                  <a:pt x="93807" y="6992"/>
                </a:lnTo>
                <a:lnTo>
                  <a:pt x="56155" y="26463"/>
                </a:lnTo>
                <a:lnTo>
                  <a:pt x="26464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4" y="218165"/>
                </a:lnTo>
                <a:lnTo>
                  <a:pt x="56155" y="247856"/>
                </a:lnTo>
                <a:lnTo>
                  <a:pt x="93807" y="267327"/>
                </a:lnTo>
                <a:lnTo>
                  <a:pt x="137159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19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046541" y="391550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59" y="0"/>
                </a:moveTo>
                <a:lnTo>
                  <a:pt x="93807" y="6992"/>
                </a:lnTo>
                <a:lnTo>
                  <a:pt x="56155" y="26463"/>
                </a:lnTo>
                <a:lnTo>
                  <a:pt x="26464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4" y="218165"/>
                </a:lnTo>
                <a:lnTo>
                  <a:pt x="56155" y="247856"/>
                </a:lnTo>
                <a:lnTo>
                  <a:pt x="93807" y="267327"/>
                </a:lnTo>
                <a:lnTo>
                  <a:pt x="137159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19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23390" y="3916574"/>
            <a:ext cx="194310" cy="176530"/>
          </a:xfrm>
          <a:custGeom>
            <a:avLst/>
            <a:gdLst/>
            <a:ahLst/>
            <a:cxnLst/>
            <a:rect l="l" t="t" r="r" b="b"/>
            <a:pathLst>
              <a:path w="194309" h="176529">
                <a:moveTo>
                  <a:pt x="137702" y="0"/>
                </a:moveTo>
                <a:lnTo>
                  <a:pt x="135190" y="7162"/>
                </a:lnTo>
                <a:lnTo>
                  <a:pt x="145404" y="11595"/>
                </a:lnTo>
                <a:lnTo>
                  <a:pt x="154189" y="17731"/>
                </a:lnTo>
                <a:lnTo>
                  <a:pt x="175280" y="58566"/>
                </a:lnTo>
                <a:lnTo>
                  <a:pt x="177885" y="87344"/>
                </a:lnTo>
                <a:lnTo>
                  <a:pt x="177231" y="102907"/>
                </a:lnTo>
                <a:lnTo>
                  <a:pt x="167421" y="141015"/>
                </a:lnTo>
                <a:lnTo>
                  <a:pt x="135469" y="169292"/>
                </a:lnTo>
                <a:lnTo>
                  <a:pt x="137702" y="176455"/>
                </a:lnTo>
                <a:lnTo>
                  <a:pt x="171414" y="156424"/>
                </a:lnTo>
                <a:lnTo>
                  <a:pt x="190349" y="119446"/>
                </a:lnTo>
                <a:lnTo>
                  <a:pt x="193977" y="88273"/>
                </a:lnTo>
                <a:lnTo>
                  <a:pt x="193067" y="72097"/>
                </a:lnTo>
                <a:lnTo>
                  <a:pt x="179420" y="30928"/>
                </a:lnTo>
                <a:lnTo>
                  <a:pt x="150494" y="4619"/>
                </a:lnTo>
                <a:lnTo>
                  <a:pt x="137702" y="0"/>
                </a:lnTo>
                <a:close/>
              </a:path>
              <a:path w="194309" h="176529">
                <a:moveTo>
                  <a:pt x="56274" y="0"/>
                </a:moveTo>
                <a:lnTo>
                  <a:pt x="22623" y="20083"/>
                </a:lnTo>
                <a:lnTo>
                  <a:pt x="3638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09" y="145619"/>
                </a:lnTo>
                <a:lnTo>
                  <a:pt x="43444" y="171841"/>
                </a:lnTo>
                <a:lnTo>
                  <a:pt x="56274" y="176455"/>
                </a:lnTo>
                <a:lnTo>
                  <a:pt x="58507" y="169292"/>
                </a:lnTo>
                <a:lnTo>
                  <a:pt x="48453" y="164839"/>
                </a:lnTo>
                <a:lnTo>
                  <a:pt x="39776" y="158642"/>
                </a:lnTo>
                <a:lnTo>
                  <a:pt x="18707" y="117040"/>
                </a:lnTo>
                <a:lnTo>
                  <a:pt x="16090" y="87344"/>
                </a:lnTo>
                <a:lnTo>
                  <a:pt x="16745" y="72289"/>
                </a:lnTo>
                <a:lnTo>
                  <a:pt x="26555" y="35114"/>
                </a:lnTo>
                <a:lnTo>
                  <a:pt x="58787" y="7162"/>
                </a:lnTo>
                <a:lnTo>
                  <a:pt x="5627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614866" y="3881776"/>
            <a:ext cx="436880" cy="176530"/>
          </a:xfrm>
          <a:custGeom>
            <a:avLst/>
            <a:gdLst/>
            <a:ahLst/>
            <a:cxnLst/>
            <a:rect l="l" t="t" r="r" b="b"/>
            <a:pathLst>
              <a:path w="436879" h="176529">
                <a:moveTo>
                  <a:pt x="380591" y="0"/>
                </a:moveTo>
                <a:lnTo>
                  <a:pt x="378078" y="7162"/>
                </a:lnTo>
                <a:lnTo>
                  <a:pt x="388293" y="11595"/>
                </a:lnTo>
                <a:lnTo>
                  <a:pt x="397077" y="17731"/>
                </a:lnTo>
                <a:lnTo>
                  <a:pt x="418169" y="58566"/>
                </a:lnTo>
                <a:lnTo>
                  <a:pt x="420773" y="87344"/>
                </a:lnTo>
                <a:lnTo>
                  <a:pt x="420119" y="102907"/>
                </a:lnTo>
                <a:lnTo>
                  <a:pt x="410310" y="141015"/>
                </a:lnTo>
                <a:lnTo>
                  <a:pt x="378358" y="169292"/>
                </a:lnTo>
                <a:lnTo>
                  <a:pt x="380591" y="176455"/>
                </a:lnTo>
                <a:lnTo>
                  <a:pt x="414303" y="156424"/>
                </a:lnTo>
                <a:lnTo>
                  <a:pt x="433238" y="119446"/>
                </a:lnTo>
                <a:lnTo>
                  <a:pt x="436866" y="88273"/>
                </a:lnTo>
                <a:lnTo>
                  <a:pt x="435956" y="72097"/>
                </a:lnTo>
                <a:lnTo>
                  <a:pt x="422309" y="30928"/>
                </a:lnTo>
                <a:lnTo>
                  <a:pt x="393383" y="4619"/>
                </a:lnTo>
                <a:lnTo>
                  <a:pt x="380591" y="0"/>
                </a:lnTo>
                <a:close/>
              </a:path>
              <a:path w="436879" h="176529">
                <a:moveTo>
                  <a:pt x="56276" y="0"/>
                </a:moveTo>
                <a:lnTo>
                  <a:pt x="22623" y="20083"/>
                </a:lnTo>
                <a:lnTo>
                  <a:pt x="3639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11" y="145619"/>
                </a:lnTo>
                <a:lnTo>
                  <a:pt x="43445" y="171841"/>
                </a:lnTo>
                <a:lnTo>
                  <a:pt x="56276" y="176455"/>
                </a:lnTo>
                <a:lnTo>
                  <a:pt x="58508" y="169292"/>
                </a:lnTo>
                <a:lnTo>
                  <a:pt x="48454" y="164839"/>
                </a:lnTo>
                <a:lnTo>
                  <a:pt x="39777" y="158642"/>
                </a:lnTo>
                <a:lnTo>
                  <a:pt x="18708" y="117040"/>
                </a:lnTo>
                <a:lnTo>
                  <a:pt x="16092" y="87344"/>
                </a:lnTo>
                <a:lnTo>
                  <a:pt x="16746" y="72289"/>
                </a:lnTo>
                <a:lnTo>
                  <a:pt x="26556" y="35114"/>
                </a:lnTo>
                <a:lnTo>
                  <a:pt x="58788" y="7162"/>
                </a:lnTo>
                <a:lnTo>
                  <a:pt x="56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962381" y="3927163"/>
            <a:ext cx="194310" cy="176530"/>
          </a:xfrm>
          <a:custGeom>
            <a:avLst/>
            <a:gdLst/>
            <a:ahLst/>
            <a:cxnLst/>
            <a:rect l="l" t="t" r="r" b="b"/>
            <a:pathLst>
              <a:path w="194310" h="176529">
                <a:moveTo>
                  <a:pt x="137702" y="0"/>
                </a:moveTo>
                <a:lnTo>
                  <a:pt x="135190" y="7162"/>
                </a:lnTo>
                <a:lnTo>
                  <a:pt x="145405" y="11595"/>
                </a:lnTo>
                <a:lnTo>
                  <a:pt x="154189" y="17731"/>
                </a:lnTo>
                <a:lnTo>
                  <a:pt x="175280" y="58566"/>
                </a:lnTo>
                <a:lnTo>
                  <a:pt x="177885" y="87342"/>
                </a:lnTo>
                <a:lnTo>
                  <a:pt x="177231" y="102906"/>
                </a:lnTo>
                <a:lnTo>
                  <a:pt x="167421" y="141014"/>
                </a:lnTo>
                <a:lnTo>
                  <a:pt x="135469" y="169292"/>
                </a:lnTo>
                <a:lnTo>
                  <a:pt x="137702" y="176453"/>
                </a:lnTo>
                <a:lnTo>
                  <a:pt x="171415" y="156423"/>
                </a:lnTo>
                <a:lnTo>
                  <a:pt x="190349" y="119446"/>
                </a:lnTo>
                <a:lnTo>
                  <a:pt x="193977" y="88273"/>
                </a:lnTo>
                <a:lnTo>
                  <a:pt x="193067" y="72097"/>
                </a:lnTo>
                <a:lnTo>
                  <a:pt x="179420" y="30928"/>
                </a:lnTo>
                <a:lnTo>
                  <a:pt x="150495" y="4618"/>
                </a:lnTo>
                <a:lnTo>
                  <a:pt x="137702" y="0"/>
                </a:lnTo>
                <a:close/>
              </a:path>
              <a:path w="194310" h="176529">
                <a:moveTo>
                  <a:pt x="56274" y="0"/>
                </a:moveTo>
                <a:lnTo>
                  <a:pt x="22623" y="20082"/>
                </a:lnTo>
                <a:lnTo>
                  <a:pt x="3638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09" y="145619"/>
                </a:lnTo>
                <a:lnTo>
                  <a:pt x="43444" y="171841"/>
                </a:lnTo>
                <a:lnTo>
                  <a:pt x="56274" y="176453"/>
                </a:lnTo>
                <a:lnTo>
                  <a:pt x="58507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7" y="117039"/>
                </a:lnTo>
                <a:lnTo>
                  <a:pt x="16092" y="87342"/>
                </a:lnTo>
                <a:lnTo>
                  <a:pt x="16746" y="72289"/>
                </a:lnTo>
                <a:lnTo>
                  <a:pt x="26555" y="35114"/>
                </a:lnTo>
                <a:lnTo>
                  <a:pt x="58787" y="7162"/>
                </a:lnTo>
                <a:lnTo>
                  <a:pt x="5627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53858" y="3892365"/>
            <a:ext cx="436880" cy="176530"/>
          </a:xfrm>
          <a:custGeom>
            <a:avLst/>
            <a:gdLst/>
            <a:ahLst/>
            <a:cxnLst/>
            <a:rect l="l" t="t" r="r" b="b"/>
            <a:pathLst>
              <a:path w="436879" h="176529">
                <a:moveTo>
                  <a:pt x="380589" y="0"/>
                </a:moveTo>
                <a:lnTo>
                  <a:pt x="378077" y="7162"/>
                </a:lnTo>
                <a:lnTo>
                  <a:pt x="388292" y="11595"/>
                </a:lnTo>
                <a:lnTo>
                  <a:pt x="397077" y="17731"/>
                </a:lnTo>
                <a:lnTo>
                  <a:pt x="418168" y="58566"/>
                </a:lnTo>
                <a:lnTo>
                  <a:pt x="420772" y="87342"/>
                </a:lnTo>
                <a:lnTo>
                  <a:pt x="420118" y="102906"/>
                </a:lnTo>
                <a:lnTo>
                  <a:pt x="410309" y="141014"/>
                </a:lnTo>
                <a:lnTo>
                  <a:pt x="378357" y="169292"/>
                </a:lnTo>
                <a:lnTo>
                  <a:pt x="380589" y="176453"/>
                </a:lnTo>
                <a:lnTo>
                  <a:pt x="414302" y="156423"/>
                </a:lnTo>
                <a:lnTo>
                  <a:pt x="433237" y="119446"/>
                </a:lnTo>
                <a:lnTo>
                  <a:pt x="436864" y="88273"/>
                </a:lnTo>
                <a:lnTo>
                  <a:pt x="435954" y="72097"/>
                </a:lnTo>
                <a:lnTo>
                  <a:pt x="422308" y="30928"/>
                </a:lnTo>
                <a:lnTo>
                  <a:pt x="393382" y="4618"/>
                </a:lnTo>
                <a:lnTo>
                  <a:pt x="380589" y="0"/>
                </a:lnTo>
                <a:close/>
              </a:path>
              <a:path w="436879" h="176529">
                <a:moveTo>
                  <a:pt x="56274" y="0"/>
                </a:moveTo>
                <a:lnTo>
                  <a:pt x="22623" y="20082"/>
                </a:lnTo>
                <a:lnTo>
                  <a:pt x="3638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09" y="145619"/>
                </a:lnTo>
                <a:lnTo>
                  <a:pt x="43444" y="171841"/>
                </a:lnTo>
                <a:lnTo>
                  <a:pt x="56274" y="176453"/>
                </a:lnTo>
                <a:lnTo>
                  <a:pt x="58507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7" y="117039"/>
                </a:lnTo>
                <a:lnTo>
                  <a:pt x="16092" y="87342"/>
                </a:lnTo>
                <a:lnTo>
                  <a:pt x="16746" y="72289"/>
                </a:lnTo>
                <a:lnTo>
                  <a:pt x="26555" y="35114"/>
                </a:lnTo>
                <a:lnTo>
                  <a:pt x="58787" y="7162"/>
                </a:lnTo>
                <a:lnTo>
                  <a:pt x="562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90964" y="5826495"/>
            <a:ext cx="2977515" cy="546735"/>
          </a:xfrm>
          <a:custGeom>
            <a:avLst/>
            <a:gdLst/>
            <a:ahLst/>
            <a:cxnLst/>
            <a:rect l="l" t="t" r="r" b="b"/>
            <a:pathLst>
              <a:path w="2977515" h="546735">
                <a:moveTo>
                  <a:pt x="0" y="0"/>
                </a:moveTo>
                <a:lnTo>
                  <a:pt x="2977356" y="0"/>
                </a:lnTo>
                <a:lnTo>
                  <a:pt x="2977356" y="546292"/>
                </a:lnTo>
                <a:lnTo>
                  <a:pt x="0" y="54629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0AD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549350" y="6335267"/>
            <a:ext cx="32429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5" b="1">
                <a:solidFill>
                  <a:srgbClr val="F0AD00"/>
                </a:solidFill>
                <a:latin typeface="Calibri"/>
                <a:cs typeface="Calibri"/>
              </a:rPr>
              <a:t>First aggregate </a:t>
            </a:r>
            <a:r>
              <a:rPr dirty="0" sz="2000" spc="-10" b="1">
                <a:solidFill>
                  <a:srgbClr val="F0AD00"/>
                </a:solidFill>
                <a:latin typeface="Calibri"/>
                <a:cs typeface="Calibri"/>
              </a:rPr>
              <a:t>from </a:t>
            </a:r>
            <a:r>
              <a:rPr dirty="0" sz="2000" spc="-5" b="1">
                <a:solidFill>
                  <a:srgbClr val="F0AD00"/>
                </a:solidFill>
                <a:latin typeface="Calibri"/>
                <a:cs typeface="Calibri"/>
              </a:rPr>
              <a:t>neighbors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832804" y="5826495"/>
            <a:ext cx="606425" cy="546735"/>
          </a:xfrm>
          <a:custGeom>
            <a:avLst/>
            <a:gdLst/>
            <a:ahLst/>
            <a:cxnLst/>
            <a:rect l="l" t="t" r="r" b="b"/>
            <a:pathLst>
              <a:path w="606425" h="546735">
                <a:moveTo>
                  <a:pt x="0" y="0"/>
                </a:moveTo>
                <a:lnTo>
                  <a:pt x="606031" y="0"/>
                </a:lnTo>
                <a:lnTo>
                  <a:pt x="606031" y="546292"/>
                </a:lnTo>
                <a:lnTo>
                  <a:pt x="0" y="54629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956563" y="2839396"/>
            <a:ext cx="7857490" cy="296100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55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5" b="1">
                <a:solidFill>
                  <a:srgbClr val="E66C7D"/>
                </a:solidFill>
                <a:latin typeface="Calibri"/>
                <a:cs typeface="Calibri"/>
              </a:rPr>
              <a:t>(1) Message: </a:t>
            </a:r>
            <a:r>
              <a:rPr dirty="0" sz="2400" spc="-10" b="1">
                <a:latin typeface="Calibri"/>
                <a:cs typeface="Calibri"/>
              </a:rPr>
              <a:t>compute </a:t>
            </a:r>
            <a:r>
              <a:rPr dirty="0" sz="2400" spc="-5" b="1">
                <a:latin typeface="Calibri"/>
                <a:cs typeface="Calibri"/>
              </a:rPr>
              <a:t>message </a:t>
            </a:r>
            <a:r>
              <a:rPr dirty="0" sz="2400" spc="-10" b="1">
                <a:latin typeface="Calibri"/>
                <a:cs typeface="Calibri"/>
              </a:rPr>
              <a:t>from </a:t>
            </a:r>
            <a:r>
              <a:rPr dirty="0" sz="2400" spc="-5" b="1">
                <a:latin typeface="Calibri"/>
                <a:cs typeface="Calibri"/>
              </a:rPr>
              <a:t>node </a:t>
            </a:r>
            <a:r>
              <a:rPr dirty="0" sz="2400">
                <a:latin typeface="Cambria Math"/>
                <a:cs typeface="Cambria Math"/>
              </a:rPr>
              <a:t>𝒗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 spc="-5" b="1">
                <a:latin typeface="Calibri"/>
                <a:cs typeface="Calibri"/>
              </a:rPr>
              <a:t>itself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0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200" spc="-25">
                <a:latin typeface="Calibri"/>
                <a:cs typeface="Calibri"/>
              </a:rPr>
              <a:t>Usually, </a:t>
            </a:r>
            <a:r>
              <a:rPr dirty="0" sz="2200">
                <a:latin typeface="Calibri"/>
                <a:cs typeface="Calibri"/>
              </a:rPr>
              <a:t>a </a:t>
            </a:r>
            <a:r>
              <a:rPr dirty="0" sz="2200" spc="-15" b="1">
                <a:latin typeface="Calibri"/>
                <a:cs typeface="Calibri"/>
              </a:rPr>
              <a:t>different </a:t>
            </a:r>
            <a:r>
              <a:rPr dirty="0" sz="2200" spc="-10" b="1">
                <a:latin typeface="Calibri"/>
                <a:cs typeface="Calibri"/>
              </a:rPr>
              <a:t>message computation </a:t>
            </a:r>
            <a:r>
              <a:rPr dirty="0" sz="2200" spc="-5">
                <a:latin typeface="Calibri"/>
                <a:cs typeface="Calibri"/>
              </a:rPr>
              <a:t>will be</a:t>
            </a:r>
            <a:r>
              <a:rPr dirty="0" sz="2200" spc="1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performed</a:t>
            </a:r>
            <a:endParaRPr sz="2200">
              <a:latin typeface="Calibri"/>
              <a:cs typeface="Calibri"/>
            </a:endParaRPr>
          </a:p>
          <a:p>
            <a:pPr marL="2165350" marR="814069" indent="-230504">
              <a:lnSpc>
                <a:spcPct val="79600"/>
              </a:lnSpc>
              <a:spcBef>
                <a:spcPts val="1215"/>
              </a:spcBef>
              <a:tabLst>
                <a:tab pos="3380104" algn="l"/>
                <a:tab pos="5275580" algn="l"/>
                <a:tab pos="5506085" algn="l"/>
                <a:tab pos="6641465" algn="l"/>
              </a:tabLst>
            </a:pPr>
            <a:r>
              <a:rPr dirty="0" baseline="-27777" sz="3000" spc="37">
                <a:latin typeface="Cambria Math"/>
                <a:cs typeface="Cambria Math"/>
              </a:rPr>
              <a:t>𝐦</a:t>
            </a:r>
            <a:r>
              <a:rPr dirty="0" baseline="1851" sz="2250" spc="37">
                <a:latin typeface="Cambria Math"/>
                <a:cs typeface="Cambria Math"/>
              </a:rPr>
              <a:t>(!) </a:t>
            </a:r>
            <a:r>
              <a:rPr dirty="0" baseline="-27777" sz="3000">
                <a:latin typeface="Cambria Math"/>
                <a:cs typeface="Cambria Math"/>
              </a:rPr>
              <a:t>= </a:t>
            </a:r>
            <a:r>
              <a:rPr dirty="0" baseline="-27777" sz="3000">
                <a:solidFill>
                  <a:srgbClr val="C00000"/>
                </a:solidFill>
                <a:latin typeface="Cambria Math"/>
                <a:cs typeface="Cambria Math"/>
              </a:rPr>
              <a:t>𝐖  </a:t>
            </a:r>
            <a:r>
              <a:rPr dirty="0" baseline="-9259" sz="2250" spc="150">
                <a:solidFill>
                  <a:srgbClr val="C00000"/>
                </a:solidFill>
                <a:latin typeface="Cambria Math"/>
                <a:cs typeface="Cambria Math"/>
              </a:rPr>
              <a:t>!</a:t>
            </a:r>
            <a:r>
              <a:rPr dirty="0" baseline="-9259" sz="2250" spc="494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-27777" sz="3000">
                <a:latin typeface="Cambria Math"/>
                <a:cs typeface="Cambria Math"/>
              </a:rPr>
              <a:t>𝐡</a:t>
            </a:r>
            <a:r>
              <a:rPr dirty="0" baseline="-27777" sz="3000" spc="270">
                <a:latin typeface="Cambria Math"/>
                <a:cs typeface="Cambria Math"/>
              </a:rPr>
              <a:t> </a:t>
            </a:r>
            <a:r>
              <a:rPr dirty="0" sz="1500" spc="-105">
                <a:latin typeface="Cambria Math"/>
                <a:cs typeface="Cambria Math"/>
              </a:rPr>
              <a:t>!%&amp;	</a:t>
            </a:r>
            <a:r>
              <a:rPr dirty="0" baseline="-25000" sz="3000" spc="37">
                <a:latin typeface="Cambria Math"/>
                <a:cs typeface="Cambria Math"/>
              </a:rPr>
              <a:t>𝐦</a:t>
            </a:r>
            <a:r>
              <a:rPr dirty="0" baseline="5555" sz="2250" spc="37">
                <a:latin typeface="Cambria Math"/>
                <a:cs typeface="Cambria Math"/>
              </a:rPr>
              <a:t>(!) </a:t>
            </a:r>
            <a:r>
              <a:rPr dirty="0" baseline="-25000" sz="3000">
                <a:latin typeface="Cambria Math"/>
                <a:cs typeface="Cambria Math"/>
              </a:rPr>
              <a:t>= </a:t>
            </a:r>
            <a:r>
              <a:rPr dirty="0" baseline="-25000" sz="3000">
                <a:solidFill>
                  <a:srgbClr val="C00000"/>
                </a:solidFill>
                <a:latin typeface="Cambria Math"/>
                <a:cs typeface="Cambria Math"/>
              </a:rPr>
              <a:t>𝐁  </a:t>
            </a:r>
            <a:r>
              <a:rPr dirty="0" baseline="-7407" sz="2250" spc="150">
                <a:solidFill>
                  <a:srgbClr val="C00000"/>
                </a:solidFill>
                <a:latin typeface="Cambria Math"/>
                <a:cs typeface="Cambria Math"/>
              </a:rPr>
              <a:t>!</a:t>
            </a:r>
            <a:r>
              <a:rPr dirty="0" baseline="-7407" sz="2250" spc="22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-25000" sz="3000">
                <a:latin typeface="Cambria Math"/>
                <a:cs typeface="Cambria Math"/>
              </a:rPr>
              <a:t>𝐡</a:t>
            </a:r>
            <a:r>
              <a:rPr dirty="0" baseline="-25000" sz="3000" spc="209">
                <a:latin typeface="Cambria Math"/>
                <a:cs typeface="Cambria Math"/>
              </a:rPr>
              <a:t> </a:t>
            </a:r>
            <a:r>
              <a:rPr dirty="0" baseline="3703" sz="2250" spc="-157">
                <a:latin typeface="Cambria Math"/>
                <a:cs typeface="Cambria Math"/>
              </a:rPr>
              <a:t>!%&amp; </a:t>
            </a:r>
            <a:r>
              <a:rPr dirty="0" baseline="3703" sz="2250" spc="-82">
                <a:latin typeface="Cambria Math"/>
                <a:cs typeface="Cambria Math"/>
              </a:rPr>
              <a:t> </a:t>
            </a:r>
            <a:r>
              <a:rPr dirty="0" sz="1500" spc="610">
                <a:latin typeface="Cambria Math"/>
                <a:cs typeface="Cambria Math"/>
              </a:rPr>
              <a:t>'	'		</a:t>
            </a:r>
            <a:r>
              <a:rPr dirty="0" baseline="3703" sz="2250" spc="375">
                <a:latin typeface="Cambria Math"/>
                <a:cs typeface="Cambria Math"/>
              </a:rPr>
              <a:t>"	"</a:t>
            </a:r>
            <a:endParaRPr baseline="3703" sz="225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635"/>
              </a:spcBef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5" b="1">
                <a:solidFill>
                  <a:srgbClr val="60B5CC"/>
                </a:solidFill>
                <a:latin typeface="Calibri"/>
                <a:cs typeface="Calibri"/>
              </a:rPr>
              <a:t>(2) </a:t>
            </a:r>
            <a:r>
              <a:rPr dirty="0" sz="2400" spc="-10" b="1">
                <a:solidFill>
                  <a:srgbClr val="60B5CC"/>
                </a:solidFill>
                <a:latin typeface="Calibri"/>
                <a:cs typeface="Calibri"/>
              </a:rPr>
              <a:t>Aggregation: </a:t>
            </a:r>
            <a:r>
              <a:rPr dirty="0" sz="2400" spc="-10">
                <a:latin typeface="Calibri"/>
                <a:cs typeface="Calibri"/>
              </a:rPr>
              <a:t>After </a:t>
            </a:r>
            <a:r>
              <a:rPr dirty="0" sz="2400" spc="-15">
                <a:latin typeface="Calibri"/>
                <a:cs typeface="Calibri"/>
              </a:rPr>
              <a:t>aggregating from </a:t>
            </a:r>
            <a:r>
              <a:rPr dirty="0" sz="2400" spc="-10">
                <a:latin typeface="Calibri"/>
                <a:cs typeface="Calibri"/>
              </a:rPr>
              <a:t>neighbors, </a:t>
            </a:r>
            <a:r>
              <a:rPr dirty="0" sz="2400" spc="-15">
                <a:latin typeface="Calibri"/>
                <a:cs typeface="Calibri"/>
              </a:rPr>
              <a:t>we</a:t>
            </a:r>
            <a:r>
              <a:rPr dirty="0" sz="2400" spc="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can</a:t>
            </a:r>
            <a:endParaRPr sz="2400">
              <a:latin typeface="Calibri"/>
              <a:cs typeface="Calibri"/>
            </a:endParaRPr>
          </a:p>
          <a:p>
            <a:pPr marL="287020">
              <a:lnSpc>
                <a:spcPct val="100000"/>
              </a:lnSpc>
              <a:spcBef>
                <a:spcPts val="20"/>
              </a:spcBef>
            </a:pPr>
            <a:r>
              <a:rPr dirty="0" sz="2400" spc="-15" b="1">
                <a:latin typeface="Calibri"/>
                <a:cs typeface="Calibri"/>
              </a:rPr>
              <a:t>aggregate </a:t>
            </a:r>
            <a:r>
              <a:rPr dirty="0" sz="2400" spc="-5" b="1">
                <a:latin typeface="Calibri"/>
                <a:cs typeface="Calibri"/>
              </a:rPr>
              <a:t>the message </a:t>
            </a:r>
            <a:r>
              <a:rPr dirty="0" sz="2400" spc="-10" b="1">
                <a:latin typeface="Calibri"/>
                <a:cs typeface="Calibri"/>
              </a:rPr>
              <a:t>from </a:t>
            </a:r>
            <a:r>
              <a:rPr dirty="0" sz="2400" spc="-5" b="1">
                <a:latin typeface="Calibri"/>
                <a:cs typeface="Calibri"/>
              </a:rPr>
              <a:t>node </a:t>
            </a:r>
            <a:r>
              <a:rPr dirty="0" sz="2400">
                <a:latin typeface="Cambria Math"/>
                <a:cs typeface="Cambria Math"/>
              </a:rPr>
              <a:t>𝒗</a:t>
            </a:r>
            <a:r>
              <a:rPr dirty="0" sz="2400" spc="-20">
                <a:latin typeface="Cambria Math"/>
                <a:cs typeface="Cambria Math"/>
              </a:rPr>
              <a:t> </a:t>
            </a:r>
            <a:r>
              <a:rPr dirty="0" sz="2400" spc="-5" b="1">
                <a:latin typeface="Calibri"/>
                <a:cs typeface="Calibri"/>
              </a:rPr>
              <a:t>itself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09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200" spc="-5">
                <a:latin typeface="Calibri"/>
                <a:cs typeface="Calibri"/>
              </a:rPr>
              <a:t>Via </a:t>
            </a:r>
            <a:r>
              <a:rPr dirty="0" sz="2200" spc="-10" b="1">
                <a:solidFill>
                  <a:srgbClr val="6BB76D"/>
                </a:solidFill>
                <a:latin typeface="Calibri"/>
                <a:cs typeface="Calibri"/>
              </a:rPr>
              <a:t>concatenation </a:t>
            </a:r>
            <a:r>
              <a:rPr dirty="0" sz="2200" b="1">
                <a:latin typeface="Calibri"/>
                <a:cs typeface="Calibri"/>
              </a:rPr>
              <a:t>or</a:t>
            </a:r>
            <a:r>
              <a:rPr dirty="0" sz="2200" spc="-15" b="1"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6BB76D"/>
                </a:solidFill>
                <a:latin typeface="Calibri"/>
                <a:cs typeface="Calibri"/>
              </a:rPr>
              <a:t>summation</a:t>
            </a:r>
            <a:endParaRPr sz="2200">
              <a:latin typeface="Calibri"/>
              <a:cs typeface="Calibri"/>
            </a:endParaRPr>
          </a:p>
          <a:p>
            <a:pPr marL="4479290">
              <a:lnSpc>
                <a:spcPct val="100000"/>
              </a:lnSpc>
              <a:spcBef>
                <a:spcPts val="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Then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aggregate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from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20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itself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27640" y="5346389"/>
            <a:ext cx="829007" cy="12972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43416" y="6543843"/>
            <a:ext cx="276860" cy="215265"/>
          </a:xfrm>
          <a:custGeom>
            <a:avLst/>
            <a:gdLst/>
            <a:ahLst/>
            <a:cxnLst/>
            <a:rect l="l" t="t" r="r" b="b"/>
            <a:pathLst>
              <a:path w="276860" h="215265">
                <a:moveTo>
                  <a:pt x="0" y="214927"/>
                </a:moveTo>
                <a:lnTo>
                  <a:pt x="276335" y="214927"/>
                </a:lnTo>
                <a:lnTo>
                  <a:pt x="276335" y="0"/>
                </a:lnTo>
                <a:lnTo>
                  <a:pt x="0" y="0"/>
                </a:lnTo>
                <a:lnTo>
                  <a:pt x="0" y="21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10803" y="5763544"/>
            <a:ext cx="1004569" cy="593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solidFill>
                  <a:srgbClr val="C00000"/>
                </a:solidFill>
                <a:latin typeface="Calibri"/>
                <a:cs typeface="Calibri"/>
              </a:rPr>
              <a:t>(2)</a:t>
            </a:r>
            <a:r>
              <a:rPr dirty="0" sz="12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200" spc="-5" b="1">
                <a:solidFill>
                  <a:srgbClr val="C00000"/>
                </a:solidFill>
                <a:latin typeface="Calibri"/>
                <a:cs typeface="Calibri"/>
              </a:rPr>
              <a:t>Aggregation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1200" spc="-8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347472"/>
            <a:ext cx="4843272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3478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00"/>
                </a:solidFill>
              </a:rPr>
              <a:t>Putting </a:t>
            </a:r>
            <a:r>
              <a:rPr dirty="0" spc="-5">
                <a:solidFill>
                  <a:srgbClr val="000000"/>
                </a:solidFill>
              </a:rPr>
              <a:t>things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15">
                <a:solidFill>
                  <a:srgbClr val="000000"/>
                </a:solidFill>
              </a:rPr>
              <a:t>together: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6563" y="1920747"/>
            <a:ext cx="68465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(1)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Message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each node </a:t>
            </a:r>
            <a:r>
              <a:rPr dirty="0" sz="2800" spc="-10">
                <a:latin typeface="Calibri"/>
                <a:cs typeface="Calibri"/>
              </a:rPr>
              <a:t>computes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message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6563" y="2947923"/>
            <a:ext cx="792543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(2)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Aggregation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20">
                <a:latin typeface="Calibri"/>
                <a:cs typeface="Calibri"/>
              </a:rPr>
              <a:t>aggregate </a:t>
            </a:r>
            <a:r>
              <a:rPr dirty="0" sz="2800" spc="-10">
                <a:latin typeface="Calibri"/>
                <a:cs typeface="Calibri"/>
              </a:rPr>
              <a:t>messages </a:t>
            </a:r>
            <a:r>
              <a:rPr dirty="0" sz="2800" spc="-15">
                <a:latin typeface="Calibri"/>
                <a:cs typeface="Calibri"/>
              </a:rPr>
              <a:t>from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neighbors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6563" y="3897545"/>
            <a:ext cx="7035800" cy="140970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3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Nonlinearity </a:t>
            </a:r>
            <a:r>
              <a:rPr dirty="0" sz="2800" spc="-10" b="1">
                <a:solidFill>
                  <a:srgbClr val="6BB76D"/>
                </a:solidFill>
                <a:latin typeface="Calibri"/>
                <a:cs typeface="Calibri"/>
              </a:rPr>
              <a:t>(activation): </a:t>
            </a:r>
            <a:r>
              <a:rPr dirty="0" sz="2800">
                <a:latin typeface="Calibri"/>
                <a:cs typeface="Calibri"/>
              </a:rPr>
              <a:t>Adds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expressiveness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4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Often </a:t>
            </a:r>
            <a:r>
              <a:rPr dirty="0" sz="2400" spc="-15">
                <a:latin typeface="Calibri"/>
                <a:cs typeface="Calibri"/>
              </a:rPr>
              <a:t>written </a:t>
            </a:r>
            <a:r>
              <a:rPr dirty="0" sz="2400">
                <a:latin typeface="Calibri"/>
                <a:cs typeface="Calibri"/>
              </a:rPr>
              <a:t>as </a:t>
            </a:r>
            <a:r>
              <a:rPr dirty="0" sz="2400" spc="0">
                <a:latin typeface="Cambria Math"/>
                <a:cs typeface="Cambria Math"/>
              </a:rPr>
              <a:t>𝜎(⋅)</a:t>
            </a:r>
            <a:r>
              <a:rPr dirty="0" sz="2400" spc="0">
                <a:latin typeface="Calibri"/>
                <a:cs typeface="Calibri"/>
              </a:rPr>
              <a:t>: </a:t>
            </a:r>
            <a:r>
              <a:rPr dirty="0" sz="2400" spc="-15">
                <a:latin typeface="Cambria Math"/>
                <a:cs typeface="Cambria Math"/>
              </a:rPr>
              <a:t>ReLU(⋅)</a:t>
            </a:r>
            <a:r>
              <a:rPr dirty="0" sz="2400" spc="-15">
                <a:latin typeface="Calibri"/>
                <a:cs typeface="Calibri"/>
              </a:rPr>
              <a:t>, </a:t>
            </a:r>
            <a:r>
              <a:rPr dirty="0" sz="2400" spc="-5">
                <a:latin typeface="Cambria Math"/>
                <a:cs typeface="Cambria Math"/>
              </a:rPr>
              <a:t>Sigmoid(⋅) </a:t>
            </a:r>
            <a:r>
              <a:rPr dirty="0" sz="2400">
                <a:latin typeface="Calibri"/>
                <a:cs typeface="Calibri"/>
              </a:rPr>
              <a:t>,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0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Can </a:t>
            </a:r>
            <a:r>
              <a:rPr dirty="0" sz="2400">
                <a:latin typeface="Calibri"/>
                <a:cs typeface="Calibri"/>
              </a:rPr>
              <a:t>be added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 b="1">
                <a:latin typeface="Calibri"/>
                <a:cs typeface="Calibri"/>
              </a:rPr>
              <a:t>message or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aggregation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20901" y="2469889"/>
            <a:ext cx="269875" cy="235585"/>
          </a:xfrm>
          <a:custGeom>
            <a:avLst/>
            <a:gdLst/>
            <a:ahLst/>
            <a:cxnLst/>
            <a:rect l="l" t="t" r="r" b="b"/>
            <a:pathLst>
              <a:path w="269875" h="235585">
                <a:moveTo>
                  <a:pt x="194397" y="0"/>
                </a:moveTo>
                <a:lnTo>
                  <a:pt x="191048" y="9549"/>
                </a:lnTo>
                <a:lnTo>
                  <a:pt x="204668" y="15460"/>
                </a:lnTo>
                <a:lnTo>
                  <a:pt x="216381" y="23641"/>
                </a:lnTo>
                <a:lnTo>
                  <a:pt x="240162" y="61565"/>
                </a:lnTo>
                <a:lnTo>
                  <a:pt x="247976" y="116457"/>
                </a:lnTo>
                <a:lnTo>
                  <a:pt x="247104" y="137208"/>
                </a:lnTo>
                <a:lnTo>
                  <a:pt x="234022" y="188019"/>
                </a:lnTo>
                <a:lnTo>
                  <a:pt x="204827" y="219784"/>
                </a:lnTo>
                <a:lnTo>
                  <a:pt x="191420" y="225722"/>
                </a:lnTo>
                <a:lnTo>
                  <a:pt x="194397" y="235272"/>
                </a:lnTo>
                <a:lnTo>
                  <a:pt x="239348" y="208564"/>
                </a:lnTo>
                <a:lnTo>
                  <a:pt x="264594" y="159261"/>
                </a:lnTo>
                <a:lnTo>
                  <a:pt x="269431" y="117698"/>
                </a:lnTo>
                <a:lnTo>
                  <a:pt x="268218" y="96129"/>
                </a:lnTo>
                <a:lnTo>
                  <a:pt x="258514" y="57899"/>
                </a:lnTo>
                <a:lnTo>
                  <a:pt x="226411" y="15084"/>
                </a:lnTo>
                <a:lnTo>
                  <a:pt x="211455" y="6158"/>
                </a:lnTo>
                <a:lnTo>
                  <a:pt x="194397" y="0"/>
                </a:lnTo>
                <a:close/>
              </a:path>
              <a:path w="269875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60"/>
                </a:lnTo>
                <a:lnTo>
                  <a:pt x="78381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869523" y="2420619"/>
            <a:ext cx="20396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5">
                <a:latin typeface="Cambria Math"/>
                <a:cs typeface="Cambria Math"/>
              </a:rPr>
              <a:t>𝐦</a:t>
            </a:r>
            <a:r>
              <a:rPr dirty="0" baseline="41666" sz="3000" spc="-82">
                <a:latin typeface="Cambria Math"/>
                <a:cs typeface="Cambria Math"/>
              </a:rPr>
              <a:t>($)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5">
                <a:latin typeface="Cambria Math"/>
                <a:cs typeface="Cambria Math"/>
              </a:rPr>
              <a:t>MSG</a:t>
            </a:r>
            <a:r>
              <a:rPr dirty="0" sz="2800" spc="310">
                <a:latin typeface="Cambria Math"/>
                <a:cs typeface="Cambria Math"/>
              </a:rPr>
              <a:t> </a:t>
            </a:r>
            <a:r>
              <a:rPr dirty="0" baseline="27777" sz="3000" spc="-465">
                <a:latin typeface="Cambria Math"/>
                <a:cs typeface="Cambria Math"/>
              </a:rPr>
              <a:t>$</a:t>
            </a:r>
            <a:endParaRPr baseline="27777" sz="3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19534" y="2395566"/>
            <a:ext cx="1176020" cy="586740"/>
          </a:xfrm>
          <a:custGeom>
            <a:avLst/>
            <a:gdLst/>
            <a:ahLst/>
            <a:cxnLst/>
            <a:rect l="l" t="t" r="r" b="b"/>
            <a:pathLst>
              <a:path w="1176020" h="586739">
                <a:moveTo>
                  <a:pt x="1049129" y="0"/>
                </a:moveTo>
                <a:lnTo>
                  <a:pt x="1043572" y="13891"/>
                </a:lnTo>
                <a:lnTo>
                  <a:pt x="1065434" y="31661"/>
                </a:lnTo>
                <a:lnTo>
                  <a:pt x="1084832" y="54759"/>
                </a:lnTo>
                <a:lnTo>
                  <a:pt x="1116238" y="116941"/>
                </a:lnTo>
                <a:lnTo>
                  <a:pt x="1127823" y="155287"/>
                </a:lnTo>
                <a:lnTo>
                  <a:pt x="1136097" y="197485"/>
                </a:lnTo>
                <a:lnTo>
                  <a:pt x="1141062" y="243536"/>
                </a:lnTo>
                <a:lnTo>
                  <a:pt x="1142716" y="293439"/>
                </a:lnTo>
                <a:lnTo>
                  <a:pt x="1141072" y="342555"/>
                </a:lnTo>
                <a:lnTo>
                  <a:pt x="1136140" y="388156"/>
                </a:lnTo>
                <a:lnTo>
                  <a:pt x="1127920" y="430240"/>
                </a:lnTo>
                <a:lnTo>
                  <a:pt x="1116411" y="468809"/>
                </a:lnTo>
                <a:lnTo>
                  <a:pt x="1085049" y="531577"/>
                </a:lnTo>
                <a:lnTo>
                  <a:pt x="1043572" y="572641"/>
                </a:lnTo>
                <a:lnTo>
                  <a:pt x="1049129" y="586531"/>
                </a:lnTo>
                <a:lnTo>
                  <a:pt x="1101327" y="544773"/>
                </a:lnTo>
                <a:lnTo>
                  <a:pt x="1141589" y="477837"/>
                </a:lnTo>
                <a:lnTo>
                  <a:pt x="1156591" y="436469"/>
                </a:lnTo>
                <a:lnTo>
                  <a:pt x="1167308" y="391889"/>
                </a:lnTo>
                <a:lnTo>
                  <a:pt x="1173738" y="344096"/>
                </a:lnTo>
                <a:lnTo>
                  <a:pt x="1175881" y="293091"/>
                </a:lnTo>
                <a:lnTo>
                  <a:pt x="1173738" y="241826"/>
                </a:lnTo>
                <a:lnTo>
                  <a:pt x="1167308" y="193947"/>
                </a:lnTo>
                <a:lnTo>
                  <a:pt x="1156591" y="149454"/>
                </a:lnTo>
                <a:lnTo>
                  <a:pt x="1141589" y="108347"/>
                </a:lnTo>
                <a:lnTo>
                  <a:pt x="1122950" y="72014"/>
                </a:lnTo>
                <a:lnTo>
                  <a:pt x="1076720" y="17840"/>
                </a:lnTo>
                <a:lnTo>
                  <a:pt x="1049129" y="0"/>
                </a:lnTo>
                <a:close/>
              </a:path>
              <a:path w="1176020" h="586739">
                <a:moveTo>
                  <a:pt x="126578" y="0"/>
                </a:moveTo>
                <a:lnTo>
                  <a:pt x="74509" y="41845"/>
                </a:lnTo>
                <a:lnTo>
                  <a:pt x="34292" y="108347"/>
                </a:lnTo>
                <a:lnTo>
                  <a:pt x="19289" y="149454"/>
                </a:lnTo>
                <a:lnTo>
                  <a:pt x="8573" y="193947"/>
                </a:lnTo>
                <a:lnTo>
                  <a:pt x="2143" y="241826"/>
                </a:lnTo>
                <a:lnTo>
                  <a:pt x="0" y="293091"/>
                </a:lnTo>
                <a:lnTo>
                  <a:pt x="2143" y="344096"/>
                </a:lnTo>
                <a:lnTo>
                  <a:pt x="8573" y="391889"/>
                </a:lnTo>
                <a:lnTo>
                  <a:pt x="19289" y="436469"/>
                </a:lnTo>
                <a:lnTo>
                  <a:pt x="34292" y="477837"/>
                </a:lnTo>
                <a:lnTo>
                  <a:pt x="52919" y="514452"/>
                </a:lnTo>
                <a:lnTo>
                  <a:pt x="99062" y="568799"/>
                </a:lnTo>
                <a:lnTo>
                  <a:pt x="126578" y="586531"/>
                </a:lnTo>
                <a:lnTo>
                  <a:pt x="132308" y="572641"/>
                </a:lnTo>
                <a:lnTo>
                  <a:pt x="110235" y="554822"/>
                </a:lnTo>
                <a:lnTo>
                  <a:pt x="90723" y="531577"/>
                </a:lnTo>
                <a:lnTo>
                  <a:pt x="59382" y="468809"/>
                </a:lnTo>
                <a:lnTo>
                  <a:pt x="47911" y="430240"/>
                </a:lnTo>
                <a:lnTo>
                  <a:pt x="39718" y="388156"/>
                </a:lnTo>
                <a:lnTo>
                  <a:pt x="34802" y="342555"/>
                </a:lnTo>
                <a:lnTo>
                  <a:pt x="33163" y="293439"/>
                </a:lnTo>
                <a:lnTo>
                  <a:pt x="34818" y="243536"/>
                </a:lnTo>
                <a:lnTo>
                  <a:pt x="39783" y="197485"/>
                </a:lnTo>
                <a:lnTo>
                  <a:pt x="48058" y="155287"/>
                </a:lnTo>
                <a:lnTo>
                  <a:pt x="59643" y="116941"/>
                </a:lnTo>
                <a:lnTo>
                  <a:pt x="91048" y="54759"/>
                </a:lnTo>
                <a:lnTo>
                  <a:pt x="132308" y="13891"/>
                </a:lnTo>
                <a:lnTo>
                  <a:pt x="1265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191786" y="2613659"/>
            <a:ext cx="24669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88540" algn="l"/>
              </a:tabLst>
            </a:pPr>
            <a:r>
              <a:rPr dirty="0" sz="2000" spc="505">
                <a:latin typeface="Cambria Math"/>
                <a:cs typeface="Cambria Math"/>
              </a:rPr>
              <a:t>"</a:t>
            </a:r>
            <a:r>
              <a:rPr dirty="0" sz="2000" spc="505">
                <a:latin typeface="Cambria Math"/>
                <a:cs typeface="Cambria Math"/>
              </a:rPr>
              <a:t>	</a:t>
            </a:r>
            <a:r>
              <a:rPr dirty="0" baseline="1388" sz="3000" spc="757">
                <a:latin typeface="Cambria Math"/>
                <a:cs typeface="Cambria Math"/>
              </a:rPr>
              <a:t>"</a:t>
            </a:r>
            <a:endParaRPr baseline="1388" sz="30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03094" y="2420994"/>
            <a:ext cx="609600" cy="235585"/>
          </a:xfrm>
          <a:custGeom>
            <a:avLst/>
            <a:gdLst/>
            <a:ahLst/>
            <a:cxnLst/>
            <a:rect l="l" t="t" r="r" b="b"/>
            <a:pathLst>
              <a:path w="609600" h="235585">
                <a:moveTo>
                  <a:pt x="534122" y="0"/>
                </a:moveTo>
                <a:lnTo>
                  <a:pt x="530774" y="9550"/>
                </a:lnTo>
                <a:lnTo>
                  <a:pt x="544393" y="15460"/>
                </a:lnTo>
                <a:lnTo>
                  <a:pt x="556106" y="23642"/>
                </a:lnTo>
                <a:lnTo>
                  <a:pt x="579887" y="61565"/>
                </a:lnTo>
                <a:lnTo>
                  <a:pt x="587701" y="116457"/>
                </a:lnTo>
                <a:lnTo>
                  <a:pt x="586829" y="137208"/>
                </a:lnTo>
                <a:lnTo>
                  <a:pt x="573747" y="188019"/>
                </a:lnTo>
                <a:lnTo>
                  <a:pt x="544553" y="219784"/>
                </a:lnTo>
                <a:lnTo>
                  <a:pt x="531147" y="225722"/>
                </a:lnTo>
                <a:lnTo>
                  <a:pt x="534122" y="235272"/>
                </a:lnTo>
                <a:lnTo>
                  <a:pt x="579073" y="208564"/>
                </a:lnTo>
                <a:lnTo>
                  <a:pt x="604319" y="159261"/>
                </a:lnTo>
                <a:lnTo>
                  <a:pt x="609156" y="117698"/>
                </a:lnTo>
                <a:lnTo>
                  <a:pt x="607943" y="96129"/>
                </a:lnTo>
                <a:lnTo>
                  <a:pt x="598239" y="57899"/>
                </a:lnTo>
                <a:lnTo>
                  <a:pt x="566136" y="15084"/>
                </a:lnTo>
                <a:lnTo>
                  <a:pt x="551180" y="6158"/>
                </a:lnTo>
                <a:lnTo>
                  <a:pt x="534122" y="0"/>
                </a:lnTo>
                <a:close/>
              </a:path>
              <a:path w="60960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09" y="225722"/>
                </a:lnTo>
                <a:lnTo>
                  <a:pt x="64603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60"/>
                </a:lnTo>
                <a:lnTo>
                  <a:pt x="78381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250583" y="2243835"/>
            <a:ext cx="7880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7777" sz="4200">
                <a:latin typeface="Cambria Math"/>
                <a:cs typeface="Cambria Math"/>
              </a:rPr>
              <a:t>𝐡</a:t>
            </a:r>
            <a:r>
              <a:rPr dirty="0" baseline="-27777" sz="4200" spc="209">
                <a:latin typeface="Cambria Math"/>
                <a:cs typeface="Cambria Math"/>
              </a:rPr>
              <a:t> </a:t>
            </a:r>
            <a:r>
              <a:rPr dirty="0" sz="2000" spc="180">
                <a:latin typeface="Cambria Math"/>
                <a:cs typeface="Cambria Math"/>
              </a:rPr>
              <a:t>$&amp;'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89553" y="2524125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79" h="329564">
                <a:moveTo>
                  <a:pt x="331694" y="0"/>
                </a:moveTo>
                <a:lnTo>
                  <a:pt x="327007" y="13369"/>
                </a:lnTo>
                <a:lnTo>
                  <a:pt x="346074" y="21643"/>
                </a:lnTo>
                <a:lnTo>
                  <a:pt x="362471" y="33098"/>
                </a:lnTo>
                <a:lnTo>
                  <a:pt x="387257" y="65545"/>
                </a:lnTo>
                <a:lnTo>
                  <a:pt x="401842" y="109323"/>
                </a:lnTo>
                <a:lnTo>
                  <a:pt x="406704" y="163041"/>
                </a:lnTo>
                <a:lnTo>
                  <a:pt x="405483" y="192092"/>
                </a:lnTo>
                <a:lnTo>
                  <a:pt x="395716" y="242184"/>
                </a:lnTo>
                <a:lnTo>
                  <a:pt x="376118" y="281306"/>
                </a:lnTo>
                <a:lnTo>
                  <a:pt x="346296" y="307698"/>
                </a:lnTo>
                <a:lnTo>
                  <a:pt x="327527" y="316011"/>
                </a:lnTo>
                <a:lnTo>
                  <a:pt x="331694" y="329380"/>
                </a:lnTo>
                <a:lnTo>
                  <a:pt x="376622" y="308306"/>
                </a:lnTo>
                <a:lnTo>
                  <a:pt x="409656" y="271821"/>
                </a:lnTo>
                <a:lnTo>
                  <a:pt x="429971" y="222965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8" y="81058"/>
                </a:lnTo>
                <a:lnTo>
                  <a:pt x="394512" y="37488"/>
                </a:lnTo>
                <a:lnTo>
                  <a:pt x="355574" y="8621"/>
                </a:lnTo>
                <a:lnTo>
                  <a:pt x="331694" y="0"/>
                </a:lnTo>
                <a:close/>
              </a:path>
              <a:path w="436879" h="329564">
                <a:moveTo>
                  <a:pt x="105048" y="0"/>
                </a:moveTo>
                <a:lnTo>
                  <a:pt x="60228" y="21117"/>
                </a:lnTo>
                <a:lnTo>
                  <a:pt x="27172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69"/>
                </a:lnTo>
                <a:lnTo>
                  <a:pt x="105048" y="329380"/>
                </a:lnTo>
                <a:lnTo>
                  <a:pt x="109214" y="316011"/>
                </a:lnTo>
                <a:lnTo>
                  <a:pt x="90446" y="307698"/>
                </a:lnTo>
                <a:lnTo>
                  <a:pt x="74249" y="296130"/>
                </a:lnTo>
                <a:lnTo>
                  <a:pt x="49571" y="263226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1"/>
                </a:lnTo>
                <a:lnTo>
                  <a:pt x="60657" y="47732"/>
                </a:lnTo>
                <a:lnTo>
                  <a:pt x="90739" y="21643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372501" y="2420619"/>
            <a:ext cx="24409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2865" algn="l"/>
                <a:tab pos="1763395" algn="l"/>
              </a:tabLst>
            </a:pPr>
            <a:r>
              <a:rPr dirty="0" sz="2800">
                <a:latin typeface="Cambria Math"/>
                <a:cs typeface="Cambria Math"/>
              </a:rPr>
              <a:t>, 𝑢</a:t>
            </a:r>
            <a:r>
              <a:rPr dirty="0" sz="28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∈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{𝑁	𝑣	∪</a:t>
            </a:r>
            <a:r>
              <a:rPr dirty="0" sz="2800" spc="-85">
                <a:latin typeface="Cambria Math"/>
                <a:cs typeface="Cambria Math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𝑣}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18352" y="3546591"/>
            <a:ext cx="252095" cy="223520"/>
          </a:xfrm>
          <a:custGeom>
            <a:avLst/>
            <a:gdLst/>
            <a:ahLst/>
            <a:cxnLst/>
            <a:rect l="l" t="t" r="r" b="b"/>
            <a:pathLst>
              <a:path w="252095" h="223520">
                <a:moveTo>
                  <a:pt x="180442" y="0"/>
                </a:moveTo>
                <a:lnTo>
                  <a:pt x="177261" y="9072"/>
                </a:lnTo>
                <a:lnTo>
                  <a:pt x="190200" y="14687"/>
                </a:lnTo>
                <a:lnTo>
                  <a:pt x="201327" y="22460"/>
                </a:lnTo>
                <a:lnTo>
                  <a:pt x="223919" y="58488"/>
                </a:lnTo>
                <a:lnTo>
                  <a:pt x="231341" y="110636"/>
                </a:lnTo>
                <a:lnTo>
                  <a:pt x="230513" y="130349"/>
                </a:lnTo>
                <a:lnTo>
                  <a:pt x="218086" y="178619"/>
                </a:lnTo>
                <a:lnTo>
                  <a:pt x="190351" y="208796"/>
                </a:lnTo>
                <a:lnTo>
                  <a:pt x="177615" y="214436"/>
                </a:lnTo>
                <a:lnTo>
                  <a:pt x="180442" y="223509"/>
                </a:lnTo>
                <a:lnTo>
                  <a:pt x="223146" y="198137"/>
                </a:lnTo>
                <a:lnTo>
                  <a:pt x="247130" y="151299"/>
                </a:lnTo>
                <a:lnTo>
                  <a:pt x="251725" y="111813"/>
                </a:lnTo>
                <a:lnTo>
                  <a:pt x="250572" y="91323"/>
                </a:lnTo>
                <a:lnTo>
                  <a:pt x="233286" y="39175"/>
                </a:lnTo>
                <a:lnTo>
                  <a:pt x="196647" y="5850"/>
                </a:lnTo>
                <a:lnTo>
                  <a:pt x="180442" y="0"/>
                </a:lnTo>
                <a:close/>
              </a:path>
              <a:path w="252095" h="223520">
                <a:moveTo>
                  <a:pt x="71282" y="0"/>
                </a:moveTo>
                <a:lnTo>
                  <a:pt x="28656" y="25438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0" y="217666"/>
                </a:lnTo>
                <a:lnTo>
                  <a:pt x="71282" y="223509"/>
                </a:lnTo>
                <a:lnTo>
                  <a:pt x="74110" y="214436"/>
                </a:lnTo>
                <a:lnTo>
                  <a:pt x="61374" y="208796"/>
                </a:lnTo>
                <a:lnTo>
                  <a:pt x="50383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88296" y="3481491"/>
            <a:ext cx="3361054" cy="544830"/>
          </a:xfrm>
          <a:custGeom>
            <a:avLst/>
            <a:gdLst/>
            <a:ahLst/>
            <a:cxnLst/>
            <a:rect l="l" t="t" r="r" b="b"/>
            <a:pathLst>
              <a:path w="3361054" h="544829">
                <a:moveTo>
                  <a:pt x="3242750" y="0"/>
                </a:moveTo>
                <a:lnTo>
                  <a:pt x="3237590" y="12898"/>
                </a:lnTo>
                <a:lnTo>
                  <a:pt x="3257891" y="29398"/>
                </a:lnTo>
                <a:lnTo>
                  <a:pt x="3275904" y="50847"/>
                </a:lnTo>
                <a:lnTo>
                  <a:pt x="3305065" y="108588"/>
                </a:lnTo>
                <a:lnTo>
                  <a:pt x="3323506" y="183378"/>
                </a:lnTo>
                <a:lnTo>
                  <a:pt x="3328117" y="226140"/>
                </a:lnTo>
                <a:lnTo>
                  <a:pt x="3329654" y="272478"/>
                </a:lnTo>
                <a:lnTo>
                  <a:pt x="3328127" y="318087"/>
                </a:lnTo>
                <a:lnTo>
                  <a:pt x="3323547" y="360430"/>
                </a:lnTo>
                <a:lnTo>
                  <a:pt x="3315914" y="399508"/>
                </a:lnTo>
                <a:lnTo>
                  <a:pt x="3291840" y="466983"/>
                </a:lnTo>
                <a:lnTo>
                  <a:pt x="3258022" y="515190"/>
                </a:lnTo>
                <a:lnTo>
                  <a:pt x="3237590" y="531737"/>
                </a:lnTo>
                <a:lnTo>
                  <a:pt x="3242750" y="544635"/>
                </a:lnTo>
                <a:lnTo>
                  <a:pt x="3291220" y="505860"/>
                </a:lnTo>
                <a:lnTo>
                  <a:pt x="3328605" y="443706"/>
                </a:lnTo>
                <a:lnTo>
                  <a:pt x="3342536" y="405292"/>
                </a:lnTo>
                <a:lnTo>
                  <a:pt x="3352488" y="363896"/>
                </a:lnTo>
                <a:lnTo>
                  <a:pt x="3358458" y="319517"/>
                </a:lnTo>
                <a:lnTo>
                  <a:pt x="3360449" y="272155"/>
                </a:lnTo>
                <a:lnTo>
                  <a:pt x="3358458" y="224553"/>
                </a:lnTo>
                <a:lnTo>
                  <a:pt x="3352488" y="180093"/>
                </a:lnTo>
                <a:lnTo>
                  <a:pt x="3342536" y="138778"/>
                </a:lnTo>
                <a:lnTo>
                  <a:pt x="3328605" y="100606"/>
                </a:lnTo>
                <a:lnTo>
                  <a:pt x="3291220" y="38856"/>
                </a:lnTo>
                <a:lnTo>
                  <a:pt x="3268371" y="16566"/>
                </a:lnTo>
                <a:lnTo>
                  <a:pt x="3242750" y="0"/>
                </a:lnTo>
                <a:close/>
              </a:path>
              <a:path w="3361054" h="544829">
                <a:moveTo>
                  <a:pt x="117535" y="0"/>
                </a:moveTo>
                <a:lnTo>
                  <a:pt x="69187" y="38856"/>
                </a:lnTo>
                <a:lnTo>
                  <a:pt x="31842" y="100606"/>
                </a:lnTo>
                <a:lnTo>
                  <a:pt x="17911" y="138778"/>
                </a:lnTo>
                <a:lnTo>
                  <a:pt x="7960" y="180093"/>
                </a:lnTo>
                <a:lnTo>
                  <a:pt x="1990" y="224553"/>
                </a:lnTo>
                <a:lnTo>
                  <a:pt x="0" y="272155"/>
                </a:lnTo>
                <a:lnTo>
                  <a:pt x="1990" y="319517"/>
                </a:lnTo>
                <a:lnTo>
                  <a:pt x="7960" y="363896"/>
                </a:lnTo>
                <a:lnTo>
                  <a:pt x="17911" y="405292"/>
                </a:lnTo>
                <a:lnTo>
                  <a:pt x="31842" y="443706"/>
                </a:lnTo>
                <a:lnTo>
                  <a:pt x="49139" y="477705"/>
                </a:lnTo>
                <a:lnTo>
                  <a:pt x="91986" y="528170"/>
                </a:lnTo>
                <a:lnTo>
                  <a:pt x="117535" y="544635"/>
                </a:lnTo>
                <a:lnTo>
                  <a:pt x="122857" y="531737"/>
                </a:lnTo>
                <a:lnTo>
                  <a:pt x="102360" y="515190"/>
                </a:lnTo>
                <a:lnTo>
                  <a:pt x="84242" y="493606"/>
                </a:lnTo>
                <a:lnTo>
                  <a:pt x="55140" y="435321"/>
                </a:lnTo>
                <a:lnTo>
                  <a:pt x="36881" y="360430"/>
                </a:lnTo>
                <a:lnTo>
                  <a:pt x="32316" y="318087"/>
                </a:lnTo>
                <a:lnTo>
                  <a:pt x="30794" y="272478"/>
                </a:lnTo>
                <a:lnTo>
                  <a:pt x="32331" y="226140"/>
                </a:lnTo>
                <a:lnTo>
                  <a:pt x="36941" y="183378"/>
                </a:lnTo>
                <a:lnTo>
                  <a:pt x="44625" y="144195"/>
                </a:lnTo>
                <a:lnTo>
                  <a:pt x="68819" y="77244"/>
                </a:lnTo>
                <a:lnTo>
                  <a:pt x="102557" y="29398"/>
                </a:lnTo>
                <a:lnTo>
                  <a:pt x="122857" y="12898"/>
                </a:lnTo>
                <a:lnTo>
                  <a:pt x="1175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037420" y="3483299"/>
            <a:ext cx="2277745" cy="541655"/>
          </a:xfrm>
          <a:custGeom>
            <a:avLst/>
            <a:gdLst/>
            <a:ahLst/>
            <a:cxnLst/>
            <a:rect l="l" t="t" r="r" b="b"/>
            <a:pathLst>
              <a:path w="2277745" h="541654">
                <a:moveTo>
                  <a:pt x="2163326" y="0"/>
                </a:moveTo>
                <a:lnTo>
                  <a:pt x="2163326" y="12898"/>
                </a:lnTo>
                <a:lnTo>
                  <a:pt x="2172355" y="13543"/>
                </a:lnTo>
                <a:lnTo>
                  <a:pt x="2180497" y="15773"/>
                </a:lnTo>
                <a:lnTo>
                  <a:pt x="2210017" y="43134"/>
                </a:lnTo>
                <a:lnTo>
                  <a:pt x="2221309" y="86681"/>
                </a:lnTo>
                <a:lnTo>
                  <a:pt x="2222337" y="110443"/>
                </a:lnTo>
                <a:lnTo>
                  <a:pt x="2222065" y="120272"/>
                </a:lnTo>
                <a:lnTo>
                  <a:pt x="2221248" y="131866"/>
                </a:lnTo>
                <a:lnTo>
                  <a:pt x="2219888" y="145223"/>
                </a:lnTo>
                <a:lnTo>
                  <a:pt x="2217983" y="160343"/>
                </a:lnTo>
                <a:lnTo>
                  <a:pt x="2216079" y="175111"/>
                </a:lnTo>
                <a:lnTo>
                  <a:pt x="2214718" y="187410"/>
                </a:lnTo>
                <a:lnTo>
                  <a:pt x="2213902" y="197240"/>
                </a:lnTo>
                <a:lnTo>
                  <a:pt x="2213630" y="204602"/>
                </a:lnTo>
                <a:lnTo>
                  <a:pt x="2214365" y="217696"/>
                </a:lnTo>
                <a:lnTo>
                  <a:pt x="2231164" y="256149"/>
                </a:lnTo>
                <a:lnTo>
                  <a:pt x="2247005" y="268771"/>
                </a:lnTo>
                <a:lnTo>
                  <a:pt x="2247005" y="271995"/>
                </a:lnTo>
                <a:lnTo>
                  <a:pt x="2220250" y="300775"/>
                </a:lnTo>
                <a:lnTo>
                  <a:pt x="2213630" y="335842"/>
                </a:lnTo>
                <a:lnTo>
                  <a:pt x="2213902" y="341682"/>
                </a:lnTo>
                <a:lnTo>
                  <a:pt x="2214718" y="351139"/>
                </a:lnTo>
                <a:lnTo>
                  <a:pt x="2216079" y="364214"/>
                </a:lnTo>
                <a:lnTo>
                  <a:pt x="2219888" y="397811"/>
                </a:lnTo>
                <a:lnTo>
                  <a:pt x="2221248" y="411520"/>
                </a:lnTo>
                <a:lnTo>
                  <a:pt x="2222065" y="422035"/>
                </a:lnTo>
                <a:lnTo>
                  <a:pt x="2222337" y="429356"/>
                </a:lnTo>
                <a:lnTo>
                  <a:pt x="2222105" y="441791"/>
                </a:lnTo>
                <a:lnTo>
                  <a:pt x="2216512" y="482300"/>
                </a:lnTo>
                <a:lnTo>
                  <a:pt x="2193537" y="518018"/>
                </a:lnTo>
                <a:lnTo>
                  <a:pt x="2163326" y="528190"/>
                </a:lnTo>
                <a:lnTo>
                  <a:pt x="2163326" y="541089"/>
                </a:lnTo>
                <a:lnTo>
                  <a:pt x="2202384" y="532584"/>
                </a:lnTo>
                <a:lnTo>
                  <a:pt x="2238903" y="492942"/>
                </a:lnTo>
                <a:lnTo>
                  <a:pt x="2249544" y="449732"/>
                </a:lnTo>
                <a:lnTo>
                  <a:pt x="2250874" y="423230"/>
                </a:lnTo>
                <a:lnTo>
                  <a:pt x="2250567" y="412921"/>
                </a:lnTo>
                <a:lnTo>
                  <a:pt x="2249645" y="400536"/>
                </a:lnTo>
                <a:lnTo>
                  <a:pt x="2248108" y="386076"/>
                </a:lnTo>
                <a:lnTo>
                  <a:pt x="2245956" y="369540"/>
                </a:lnTo>
                <a:lnTo>
                  <a:pt x="2243805" y="353608"/>
                </a:lnTo>
                <a:lnTo>
                  <a:pt x="2242268" y="340961"/>
                </a:lnTo>
                <a:lnTo>
                  <a:pt x="2241346" y="331600"/>
                </a:lnTo>
                <a:lnTo>
                  <a:pt x="2241039" y="325523"/>
                </a:lnTo>
                <a:lnTo>
                  <a:pt x="2241618" y="315059"/>
                </a:lnTo>
                <a:lnTo>
                  <a:pt x="2261777" y="280883"/>
                </a:lnTo>
                <a:lnTo>
                  <a:pt x="2277639" y="277315"/>
                </a:lnTo>
                <a:lnTo>
                  <a:pt x="2277639" y="263450"/>
                </a:lnTo>
                <a:lnTo>
                  <a:pt x="2243377" y="235194"/>
                </a:lnTo>
                <a:lnTo>
                  <a:pt x="2241039" y="215080"/>
                </a:lnTo>
                <a:lnTo>
                  <a:pt x="2241346" y="208843"/>
                </a:lnTo>
                <a:lnTo>
                  <a:pt x="2242268" y="199804"/>
                </a:lnTo>
                <a:lnTo>
                  <a:pt x="2243887" y="187410"/>
                </a:lnTo>
                <a:lnTo>
                  <a:pt x="2245956" y="173323"/>
                </a:lnTo>
                <a:lnTo>
                  <a:pt x="2248108" y="157935"/>
                </a:lnTo>
                <a:lnTo>
                  <a:pt x="2249645" y="143857"/>
                </a:lnTo>
                <a:lnTo>
                  <a:pt x="2250567" y="131090"/>
                </a:lnTo>
                <a:lnTo>
                  <a:pt x="2250874" y="119632"/>
                </a:lnTo>
                <a:lnTo>
                  <a:pt x="2249468" y="91528"/>
                </a:lnTo>
                <a:lnTo>
                  <a:pt x="2238222" y="47109"/>
                </a:lnTo>
                <a:lnTo>
                  <a:pt x="2200873" y="8746"/>
                </a:lnTo>
                <a:lnTo>
                  <a:pt x="2183354" y="2710"/>
                </a:lnTo>
                <a:lnTo>
                  <a:pt x="2163326" y="0"/>
                </a:lnTo>
                <a:close/>
              </a:path>
              <a:path w="2277745" h="541654">
                <a:moveTo>
                  <a:pt x="114312" y="0"/>
                </a:moveTo>
                <a:lnTo>
                  <a:pt x="76665" y="8746"/>
                </a:lnTo>
                <a:lnTo>
                  <a:pt x="39371" y="47109"/>
                </a:lnTo>
                <a:lnTo>
                  <a:pt x="28165" y="91528"/>
                </a:lnTo>
                <a:lnTo>
                  <a:pt x="26765" y="119632"/>
                </a:lnTo>
                <a:lnTo>
                  <a:pt x="27072" y="131090"/>
                </a:lnTo>
                <a:lnTo>
                  <a:pt x="27994" y="143857"/>
                </a:lnTo>
                <a:lnTo>
                  <a:pt x="29530" y="157935"/>
                </a:lnTo>
                <a:lnTo>
                  <a:pt x="31682" y="173323"/>
                </a:lnTo>
                <a:lnTo>
                  <a:pt x="33833" y="187964"/>
                </a:lnTo>
                <a:lnTo>
                  <a:pt x="35370" y="199804"/>
                </a:lnTo>
                <a:lnTo>
                  <a:pt x="36292" y="208843"/>
                </a:lnTo>
                <a:lnTo>
                  <a:pt x="36600" y="215080"/>
                </a:lnTo>
                <a:lnTo>
                  <a:pt x="36015" y="225752"/>
                </a:lnTo>
                <a:lnTo>
                  <a:pt x="15760" y="260024"/>
                </a:lnTo>
                <a:lnTo>
                  <a:pt x="0" y="263450"/>
                </a:lnTo>
                <a:lnTo>
                  <a:pt x="0" y="277315"/>
                </a:lnTo>
                <a:lnTo>
                  <a:pt x="34282" y="305753"/>
                </a:lnTo>
                <a:lnTo>
                  <a:pt x="36600" y="325523"/>
                </a:lnTo>
                <a:lnTo>
                  <a:pt x="36292" y="331600"/>
                </a:lnTo>
                <a:lnTo>
                  <a:pt x="35370" y="340961"/>
                </a:lnTo>
                <a:lnTo>
                  <a:pt x="33833" y="353608"/>
                </a:lnTo>
                <a:lnTo>
                  <a:pt x="31682" y="369540"/>
                </a:lnTo>
                <a:lnTo>
                  <a:pt x="29530" y="386076"/>
                </a:lnTo>
                <a:lnTo>
                  <a:pt x="27994" y="400536"/>
                </a:lnTo>
                <a:lnTo>
                  <a:pt x="27072" y="412921"/>
                </a:lnTo>
                <a:lnTo>
                  <a:pt x="26765" y="423230"/>
                </a:lnTo>
                <a:lnTo>
                  <a:pt x="28090" y="449732"/>
                </a:lnTo>
                <a:lnTo>
                  <a:pt x="38690" y="492942"/>
                </a:lnTo>
                <a:lnTo>
                  <a:pt x="75153" y="532584"/>
                </a:lnTo>
                <a:lnTo>
                  <a:pt x="114312" y="541089"/>
                </a:lnTo>
                <a:lnTo>
                  <a:pt x="114312" y="528190"/>
                </a:lnTo>
                <a:lnTo>
                  <a:pt x="107430" y="527399"/>
                </a:lnTo>
                <a:lnTo>
                  <a:pt x="100970" y="525994"/>
                </a:lnTo>
                <a:lnTo>
                  <a:pt x="66840" y="497295"/>
                </a:lnTo>
                <a:lnTo>
                  <a:pt x="56229" y="453299"/>
                </a:lnTo>
                <a:lnTo>
                  <a:pt x="55302" y="429356"/>
                </a:lnTo>
                <a:lnTo>
                  <a:pt x="55574" y="422035"/>
                </a:lnTo>
                <a:lnTo>
                  <a:pt x="56390" y="411520"/>
                </a:lnTo>
                <a:lnTo>
                  <a:pt x="57751" y="397811"/>
                </a:lnTo>
                <a:lnTo>
                  <a:pt x="61560" y="364214"/>
                </a:lnTo>
                <a:lnTo>
                  <a:pt x="62920" y="351139"/>
                </a:lnTo>
                <a:lnTo>
                  <a:pt x="63737" y="341682"/>
                </a:lnTo>
                <a:lnTo>
                  <a:pt x="64009" y="335842"/>
                </a:lnTo>
                <a:lnTo>
                  <a:pt x="63268" y="322702"/>
                </a:lnTo>
                <a:lnTo>
                  <a:pt x="46369" y="284692"/>
                </a:lnTo>
                <a:lnTo>
                  <a:pt x="30633" y="271995"/>
                </a:lnTo>
                <a:lnTo>
                  <a:pt x="30633" y="268771"/>
                </a:lnTo>
                <a:lnTo>
                  <a:pt x="57343" y="239744"/>
                </a:lnTo>
                <a:lnTo>
                  <a:pt x="64009" y="204602"/>
                </a:lnTo>
                <a:lnTo>
                  <a:pt x="63737" y="197240"/>
                </a:lnTo>
                <a:lnTo>
                  <a:pt x="62920" y="187410"/>
                </a:lnTo>
                <a:lnTo>
                  <a:pt x="61560" y="175111"/>
                </a:lnTo>
                <a:lnTo>
                  <a:pt x="59655" y="160343"/>
                </a:lnTo>
                <a:lnTo>
                  <a:pt x="57751" y="145223"/>
                </a:lnTo>
                <a:lnTo>
                  <a:pt x="56390" y="131866"/>
                </a:lnTo>
                <a:lnTo>
                  <a:pt x="55574" y="120272"/>
                </a:lnTo>
                <a:lnTo>
                  <a:pt x="55302" y="110443"/>
                </a:lnTo>
                <a:lnTo>
                  <a:pt x="55559" y="98093"/>
                </a:lnTo>
                <a:lnTo>
                  <a:pt x="61691" y="58007"/>
                </a:lnTo>
                <a:lnTo>
                  <a:pt x="84530" y="22819"/>
                </a:lnTo>
                <a:lnTo>
                  <a:pt x="114312" y="12898"/>
                </a:lnTo>
                <a:lnTo>
                  <a:pt x="114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481393" y="3501316"/>
            <a:ext cx="252095" cy="223520"/>
          </a:xfrm>
          <a:custGeom>
            <a:avLst/>
            <a:gdLst/>
            <a:ahLst/>
            <a:cxnLst/>
            <a:rect l="l" t="t" r="r" b="b"/>
            <a:pathLst>
              <a:path w="252095" h="223520">
                <a:moveTo>
                  <a:pt x="180442" y="0"/>
                </a:moveTo>
                <a:lnTo>
                  <a:pt x="177261" y="9072"/>
                </a:lnTo>
                <a:lnTo>
                  <a:pt x="190200" y="14687"/>
                </a:lnTo>
                <a:lnTo>
                  <a:pt x="201327" y="22460"/>
                </a:lnTo>
                <a:lnTo>
                  <a:pt x="223919" y="58488"/>
                </a:lnTo>
                <a:lnTo>
                  <a:pt x="231341" y="110636"/>
                </a:lnTo>
                <a:lnTo>
                  <a:pt x="230513" y="130349"/>
                </a:lnTo>
                <a:lnTo>
                  <a:pt x="218086" y="178619"/>
                </a:lnTo>
                <a:lnTo>
                  <a:pt x="190350" y="208796"/>
                </a:lnTo>
                <a:lnTo>
                  <a:pt x="177614" y="214436"/>
                </a:lnTo>
                <a:lnTo>
                  <a:pt x="180442" y="223509"/>
                </a:lnTo>
                <a:lnTo>
                  <a:pt x="223146" y="198137"/>
                </a:lnTo>
                <a:lnTo>
                  <a:pt x="247130" y="151299"/>
                </a:lnTo>
                <a:lnTo>
                  <a:pt x="251725" y="111813"/>
                </a:lnTo>
                <a:lnTo>
                  <a:pt x="250572" y="91323"/>
                </a:lnTo>
                <a:lnTo>
                  <a:pt x="233286" y="39175"/>
                </a:lnTo>
                <a:lnTo>
                  <a:pt x="196647" y="5850"/>
                </a:lnTo>
                <a:lnTo>
                  <a:pt x="180442" y="0"/>
                </a:lnTo>
                <a:close/>
              </a:path>
              <a:path w="252095" h="223520">
                <a:moveTo>
                  <a:pt x="71282" y="0"/>
                </a:moveTo>
                <a:lnTo>
                  <a:pt x="28656" y="25438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0" y="217666"/>
                </a:lnTo>
                <a:lnTo>
                  <a:pt x="71282" y="223509"/>
                </a:lnTo>
                <a:lnTo>
                  <a:pt x="74110" y="214436"/>
                </a:lnTo>
                <a:lnTo>
                  <a:pt x="61374" y="208796"/>
                </a:lnTo>
                <a:lnTo>
                  <a:pt x="50383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56666" y="3600898"/>
            <a:ext cx="405130" cy="306070"/>
          </a:xfrm>
          <a:custGeom>
            <a:avLst/>
            <a:gdLst/>
            <a:ahLst/>
            <a:cxnLst/>
            <a:rect l="l" t="t" r="r" b="b"/>
            <a:pathLst>
              <a:path w="405129" h="306070">
                <a:moveTo>
                  <a:pt x="307531" y="0"/>
                </a:moveTo>
                <a:lnTo>
                  <a:pt x="303178" y="12414"/>
                </a:lnTo>
                <a:lnTo>
                  <a:pt x="320883" y="20097"/>
                </a:lnTo>
                <a:lnTo>
                  <a:pt x="336109" y="30733"/>
                </a:lnTo>
                <a:lnTo>
                  <a:pt x="367025" y="80034"/>
                </a:lnTo>
                <a:lnTo>
                  <a:pt x="376053" y="125300"/>
                </a:lnTo>
                <a:lnTo>
                  <a:pt x="377182" y="151395"/>
                </a:lnTo>
                <a:lnTo>
                  <a:pt x="376048" y="178370"/>
                </a:lnTo>
                <a:lnTo>
                  <a:pt x="366980" y="224885"/>
                </a:lnTo>
                <a:lnTo>
                  <a:pt x="348781" y="261213"/>
                </a:lnTo>
                <a:lnTo>
                  <a:pt x="303662" y="293438"/>
                </a:lnTo>
                <a:lnTo>
                  <a:pt x="307531" y="305854"/>
                </a:lnTo>
                <a:lnTo>
                  <a:pt x="349249" y="286284"/>
                </a:lnTo>
                <a:lnTo>
                  <a:pt x="379924" y="252406"/>
                </a:lnTo>
                <a:lnTo>
                  <a:pt x="398787" y="207039"/>
                </a:lnTo>
                <a:lnTo>
                  <a:pt x="405075" y="153007"/>
                </a:lnTo>
                <a:lnTo>
                  <a:pt x="403498" y="124968"/>
                </a:lnTo>
                <a:lnTo>
                  <a:pt x="390882" y="75269"/>
                </a:lnTo>
                <a:lnTo>
                  <a:pt x="365861" y="34810"/>
                </a:lnTo>
                <a:lnTo>
                  <a:pt x="329705" y="8006"/>
                </a:lnTo>
                <a:lnTo>
                  <a:pt x="307531" y="0"/>
                </a:lnTo>
                <a:close/>
              </a:path>
              <a:path w="405129" h="306070">
                <a:moveTo>
                  <a:pt x="97544" y="0"/>
                </a:moveTo>
                <a:lnTo>
                  <a:pt x="55927" y="19609"/>
                </a:lnTo>
                <a:lnTo>
                  <a:pt x="25233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3"/>
                </a:lnTo>
                <a:lnTo>
                  <a:pt x="75305" y="297857"/>
                </a:lnTo>
                <a:lnTo>
                  <a:pt x="97544" y="305854"/>
                </a:lnTo>
                <a:lnTo>
                  <a:pt x="101414" y="293438"/>
                </a:lnTo>
                <a:lnTo>
                  <a:pt x="83986" y="285719"/>
                </a:lnTo>
                <a:lnTo>
                  <a:pt x="68946" y="274978"/>
                </a:lnTo>
                <a:lnTo>
                  <a:pt x="46032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0"/>
                </a:lnTo>
                <a:lnTo>
                  <a:pt x="38096" y="80034"/>
                </a:lnTo>
                <a:lnTo>
                  <a:pt x="56325" y="44322"/>
                </a:lnTo>
                <a:lnTo>
                  <a:pt x="101898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927868" y="3503676"/>
            <a:ext cx="4129404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3295" algn="l"/>
                <a:tab pos="3936365" algn="l"/>
              </a:tabLst>
            </a:pPr>
            <a:r>
              <a:rPr dirty="0" sz="2600" spc="-5">
                <a:latin typeface="Cambria Math"/>
                <a:cs typeface="Cambria Math"/>
              </a:rPr>
              <a:t>𝐡</a:t>
            </a:r>
            <a:r>
              <a:rPr dirty="0" baseline="39473" sz="2850" spc="-7">
                <a:latin typeface="Cambria Math"/>
                <a:cs typeface="Cambria Math"/>
              </a:rPr>
              <a:t>(</a:t>
            </a:r>
            <a:r>
              <a:rPr dirty="0" baseline="39473" sz="2850" spc="-667">
                <a:latin typeface="Cambria Math"/>
                <a:cs typeface="Cambria Math"/>
              </a:rPr>
              <a:t>#</a:t>
            </a:r>
            <a:r>
              <a:rPr dirty="0" baseline="39473" sz="2850">
                <a:latin typeface="Cambria Math"/>
                <a:cs typeface="Cambria Math"/>
              </a:rPr>
              <a:t>)</a:t>
            </a:r>
            <a:r>
              <a:rPr dirty="0" baseline="39473" sz="2850" spc="27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=</a:t>
            </a:r>
            <a:r>
              <a:rPr dirty="0" sz="2600" spc="135">
                <a:latin typeface="Cambria Math"/>
                <a:cs typeface="Cambria Math"/>
              </a:rPr>
              <a:t> </a:t>
            </a:r>
            <a:r>
              <a:rPr dirty="0" sz="2600" spc="-45">
                <a:latin typeface="Cambria Math"/>
                <a:cs typeface="Cambria Math"/>
              </a:rPr>
              <a:t>A</a:t>
            </a:r>
            <a:r>
              <a:rPr dirty="0" sz="2600" spc="-5">
                <a:latin typeface="Cambria Math"/>
                <a:cs typeface="Cambria Math"/>
              </a:rPr>
              <a:t>G</a:t>
            </a:r>
            <a:r>
              <a:rPr dirty="0" sz="2600">
                <a:latin typeface="Cambria Math"/>
                <a:cs typeface="Cambria Math"/>
              </a:rPr>
              <a:t>G </a:t>
            </a:r>
            <a:r>
              <a:rPr dirty="0" sz="2600" spc="-245">
                <a:latin typeface="Cambria Math"/>
                <a:cs typeface="Cambria Math"/>
              </a:rPr>
              <a:t> </a:t>
            </a:r>
            <a:r>
              <a:rPr dirty="0" baseline="27777" sz="2850" spc="-765">
                <a:latin typeface="Cambria Math"/>
                <a:cs typeface="Cambria Math"/>
              </a:rPr>
              <a:t>#</a:t>
            </a:r>
            <a:r>
              <a:rPr dirty="0" baseline="27777" sz="2850">
                <a:latin typeface="Cambria Math"/>
                <a:cs typeface="Cambria Math"/>
              </a:rPr>
              <a:t>	</a:t>
            </a:r>
            <a:r>
              <a:rPr dirty="0" sz="2600">
                <a:latin typeface="Cambria Math"/>
                <a:cs typeface="Cambria Math"/>
              </a:rPr>
              <a:t>𝐦</a:t>
            </a:r>
            <a:r>
              <a:rPr dirty="0" sz="2600" spc="204">
                <a:latin typeface="Cambria Math"/>
                <a:cs typeface="Cambria Math"/>
              </a:rPr>
              <a:t> </a:t>
            </a:r>
            <a:r>
              <a:rPr dirty="0" baseline="38011" sz="2850" spc="-765">
                <a:latin typeface="Cambria Math"/>
                <a:cs typeface="Cambria Math"/>
              </a:rPr>
              <a:t>#</a:t>
            </a:r>
            <a:r>
              <a:rPr dirty="0" baseline="38011" sz="2850">
                <a:latin typeface="Cambria Math"/>
                <a:cs typeface="Cambria Math"/>
              </a:rPr>
              <a:t> </a:t>
            </a:r>
            <a:r>
              <a:rPr dirty="0" baseline="38011" sz="2850" spc="-202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,</a:t>
            </a:r>
            <a:r>
              <a:rPr dirty="0" sz="2600" spc="-135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𝑢</a:t>
            </a:r>
            <a:r>
              <a:rPr dirty="0" sz="2600" spc="204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∈</a:t>
            </a:r>
            <a:r>
              <a:rPr dirty="0" sz="2600" spc="15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𝑁	𝑣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9481" y="3677920"/>
            <a:ext cx="482727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30450" algn="l"/>
                <a:tab pos="4677410" algn="l"/>
              </a:tabLst>
            </a:pPr>
            <a:r>
              <a:rPr dirty="0" sz="1900" spc="525">
                <a:latin typeface="Cambria Math"/>
                <a:cs typeface="Cambria Math"/>
              </a:rPr>
              <a:t>!</a:t>
            </a:r>
            <a:r>
              <a:rPr dirty="0" sz="1900" spc="525">
                <a:latin typeface="Cambria Math"/>
                <a:cs typeface="Cambria Math"/>
              </a:rPr>
              <a:t>	</a:t>
            </a:r>
            <a:r>
              <a:rPr dirty="0" baseline="1461" sz="2850" spc="-690">
                <a:latin typeface="Cambria Math"/>
                <a:cs typeface="Cambria Math"/>
              </a:rPr>
              <a:t>%</a:t>
            </a:r>
            <a:r>
              <a:rPr dirty="0" baseline="1461" sz="2850" spc="-690">
                <a:latin typeface="Cambria Math"/>
                <a:cs typeface="Cambria Math"/>
              </a:rPr>
              <a:t>	</a:t>
            </a:r>
            <a:r>
              <a:rPr dirty="0" baseline="1461" sz="2850" spc="787">
                <a:latin typeface="Cambria Math"/>
                <a:cs typeface="Cambria Math"/>
              </a:rPr>
              <a:t>!</a:t>
            </a:r>
            <a:endParaRPr baseline="1461" sz="285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828734" y="3501316"/>
            <a:ext cx="252095" cy="223520"/>
          </a:xfrm>
          <a:custGeom>
            <a:avLst/>
            <a:gdLst/>
            <a:ahLst/>
            <a:cxnLst/>
            <a:rect l="l" t="t" r="r" b="b"/>
            <a:pathLst>
              <a:path w="252095" h="223520">
                <a:moveTo>
                  <a:pt x="180442" y="0"/>
                </a:moveTo>
                <a:lnTo>
                  <a:pt x="177261" y="9072"/>
                </a:lnTo>
                <a:lnTo>
                  <a:pt x="190200" y="14687"/>
                </a:lnTo>
                <a:lnTo>
                  <a:pt x="201326" y="22460"/>
                </a:lnTo>
                <a:lnTo>
                  <a:pt x="223919" y="58488"/>
                </a:lnTo>
                <a:lnTo>
                  <a:pt x="231341" y="110636"/>
                </a:lnTo>
                <a:lnTo>
                  <a:pt x="230513" y="130349"/>
                </a:lnTo>
                <a:lnTo>
                  <a:pt x="218086" y="178619"/>
                </a:lnTo>
                <a:lnTo>
                  <a:pt x="190350" y="208796"/>
                </a:lnTo>
                <a:lnTo>
                  <a:pt x="177614" y="214436"/>
                </a:lnTo>
                <a:lnTo>
                  <a:pt x="180442" y="223509"/>
                </a:lnTo>
                <a:lnTo>
                  <a:pt x="223146" y="198137"/>
                </a:lnTo>
                <a:lnTo>
                  <a:pt x="247130" y="151299"/>
                </a:lnTo>
                <a:lnTo>
                  <a:pt x="251725" y="111813"/>
                </a:lnTo>
                <a:lnTo>
                  <a:pt x="250572" y="91323"/>
                </a:lnTo>
                <a:lnTo>
                  <a:pt x="233286" y="39175"/>
                </a:lnTo>
                <a:lnTo>
                  <a:pt x="196647" y="5850"/>
                </a:lnTo>
                <a:lnTo>
                  <a:pt x="180442" y="0"/>
                </a:lnTo>
                <a:close/>
              </a:path>
              <a:path w="252095" h="223520">
                <a:moveTo>
                  <a:pt x="71282" y="0"/>
                </a:moveTo>
                <a:lnTo>
                  <a:pt x="28656" y="25438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0" y="217666"/>
                </a:lnTo>
                <a:lnTo>
                  <a:pt x="71282" y="223509"/>
                </a:lnTo>
                <a:lnTo>
                  <a:pt x="74109" y="214436"/>
                </a:lnTo>
                <a:lnTo>
                  <a:pt x="61373" y="208796"/>
                </a:lnTo>
                <a:lnTo>
                  <a:pt x="50383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373059" y="3503676"/>
            <a:ext cx="63246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Cambria Math"/>
                <a:cs typeface="Cambria Math"/>
              </a:rPr>
              <a:t>, 𝐦</a:t>
            </a:r>
            <a:r>
              <a:rPr dirty="0" sz="2600" spc="-25">
                <a:latin typeface="Cambria Math"/>
                <a:cs typeface="Cambria Math"/>
              </a:rPr>
              <a:t> </a:t>
            </a:r>
            <a:r>
              <a:rPr dirty="0" baseline="38011" sz="2850" spc="-765">
                <a:latin typeface="Cambria Math"/>
                <a:cs typeface="Cambria Math"/>
              </a:rPr>
              <a:t>#</a:t>
            </a:r>
            <a:endParaRPr baseline="38011" sz="285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25424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1812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/>
              <a:t>(1) </a:t>
            </a:r>
            <a:r>
              <a:rPr dirty="0" spc="-20"/>
              <a:t>Graph </a:t>
            </a:r>
            <a:r>
              <a:rPr dirty="0" spc="-10"/>
              <a:t>Convolutional Networks</a:t>
            </a:r>
            <a:r>
              <a:rPr dirty="0" spc="25"/>
              <a:t> </a:t>
            </a:r>
            <a:r>
              <a:rPr dirty="0" spc="-5"/>
              <a:t>(GCN)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53354" y="2474467"/>
            <a:ext cx="297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(</a:t>
            </a:r>
            <a:r>
              <a:rPr dirty="0" sz="1800" spc="-935">
                <a:latin typeface="Cambria Math"/>
                <a:cs typeface="Cambria Math"/>
              </a:rPr>
              <a:t>%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7616" y="2562860"/>
            <a:ext cx="1068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150" algn="l"/>
              </a:tabLst>
            </a:pPr>
            <a:r>
              <a:rPr dirty="0" sz="2400" spc="125">
                <a:latin typeface="Cambria Math"/>
                <a:cs typeface="Cambria Math"/>
              </a:rPr>
              <a:t>𝐡</a:t>
            </a:r>
            <a:r>
              <a:rPr dirty="0" baseline="-18518" sz="2700" spc="187">
                <a:latin typeface="Cambria Math"/>
                <a:cs typeface="Cambria Math"/>
              </a:rPr>
              <a:t>)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03946" y="2225494"/>
            <a:ext cx="2755900" cy="1133475"/>
          </a:xfrm>
          <a:custGeom>
            <a:avLst/>
            <a:gdLst/>
            <a:ahLst/>
            <a:cxnLst/>
            <a:rect l="l" t="t" r="r" b="b"/>
            <a:pathLst>
              <a:path w="2755900" h="1133475">
                <a:moveTo>
                  <a:pt x="2590784" y="0"/>
                </a:moveTo>
                <a:lnTo>
                  <a:pt x="2580664" y="10269"/>
                </a:lnTo>
                <a:lnTo>
                  <a:pt x="2607197" y="48473"/>
                </a:lnTo>
                <a:lnTo>
                  <a:pt x="2631075" y="91410"/>
                </a:lnTo>
                <a:lnTo>
                  <a:pt x="2652298" y="139080"/>
                </a:lnTo>
                <a:lnTo>
                  <a:pt x="2670866" y="191482"/>
                </a:lnTo>
                <a:lnTo>
                  <a:pt x="2686778" y="248617"/>
                </a:lnTo>
                <a:lnTo>
                  <a:pt x="2697920" y="298741"/>
                </a:lnTo>
                <a:lnTo>
                  <a:pt x="2707035" y="349944"/>
                </a:lnTo>
                <a:lnTo>
                  <a:pt x="2714125" y="402226"/>
                </a:lnTo>
                <a:lnTo>
                  <a:pt x="2719190" y="455587"/>
                </a:lnTo>
                <a:lnTo>
                  <a:pt x="2722229" y="510027"/>
                </a:lnTo>
                <a:lnTo>
                  <a:pt x="2723239" y="565694"/>
                </a:lnTo>
                <a:lnTo>
                  <a:pt x="2722229" y="619833"/>
                </a:lnTo>
                <a:lnTo>
                  <a:pt x="2719190" y="673455"/>
                </a:lnTo>
                <a:lnTo>
                  <a:pt x="2714125" y="726411"/>
                </a:lnTo>
                <a:lnTo>
                  <a:pt x="2707035" y="778701"/>
                </a:lnTo>
                <a:lnTo>
                  <a:pt x="2697920" y="830326"/>
                </a:lnTo>
                <a:lnTo>
                  <a:pt x="2686778" y="881286"/>
                </a:lnTo>
                <a:lnTo>
                  <a:pt x="2670866" y="939551"/>
                </a:lnTo>
                <a:lnTo>
                  <a:pt x="2652298" y="992847"/>
                </a:lnTo>
                <a:lnTo>
                  <a:pt x="2631075" y="1041171"/>
                </a:lnTo>
                <a:lnTo>
                  <a:pt x="2607197" y="1084524"/>
                </a:lnTo>
                <a:lnTo>
                  <a:pt x="2580664" y="1122907"/>
                </a:lnTo>
                <a:lnTo>
                  <a:pt x="2590784" y="1132879"/>
                </a:lnTo>
                <a:lnTo>
                  <a:pt x="2619785" y="1095282"/>
                </a:lnTo>
                <a:lnTo>
                  <a:pt x="2646303" y="1052381"/>
                </a:lnTo>
                <a:lnTo>
                  <a:pt x="2670338" y="1004176"/>
                </a:lnTo>
                <a:lnTo>
                  <a:pt x="2691892" y="950666"/>
                </a:lnTo>
                <a:lnTo>
                  <a:pt x="2710963" y="891852"/>
                </a:lnTo>
                <a:lnTo>
                  <a:pt x="2722789" y="847563"/>
                </a:lnTo>
                <a:lnTo>
                  <a:pt x="2732795" y="802506"/>
                </a:lnTo>
                <a:lnTo>
                  <a:pt x="2740982" y="756681"/>
                </a:lnTo>
                <a:lnTo>
                  <a:pt x="2747349" y="710087"/>
                </a:lnTo>
                <a:lnTo>
                  <a:pt x="2751898" y="662724"/>
                </a:lnTo>
                <a:lnTo>
                  <a:pt x="2754627" y="614594"/>
                </a:lnTo>
                <a:lnTo>
                  <a:pt x="2755534" y="565546"/>
                </a:lnTo>
                <a:lnTo>
                  <a:pt x="2754627" y="515826"/>
                </a:lnTo>
                <a:lnTo>
                  <a:pt x="2751898" y="467000"/>
                </a:lnTo>
                <a:lnTo>
                  <a:pt x="2747349" y="419216"/>
                </a:lnTo>
                <a:lnTo>
                  <a:pt x="2740982" y="372473"/>
                </a:lnTo>
                <a:lnTo>
                  <a:pt x="2732795" y="326772"/>
                </a:lnTo>
                <a:lnTo>
                  <a:pt x="2722789" y="282114"/>
                </a:lnTo>
                <a:lnTo>
                  <a:pt x="2710963" y="238497"/>
                </a:lnTo>
                <a:lnTo>
                  <a:pt x="2691892" y="180689"/>
                </a:lnTo>
                <a:lnTo>
                  <a:pt x="2670338" y="127935"/>
                </a:lnTo>
                <a:lnTo>
                  <a:pt x="2646303" y="80235"/>
                </a:lnTo>
                <a:lnTo>
                  <a:pt x="2619785" y="37590"/>
                </a:lnTo>
                <a:lnTo>
                  <a:pt x="2590784" y="0"/>
                </a:lnTo>
                <a:close/>
              </a:path>
              <a:path w="2755900" h="1133475">
                <a:moveTo>
                  <a:pt x="164753" y="0"/>
                </a:moveTo>
                <a:lnTo>
                  <a:pt x="135701" y="37590"/>
                </a:lnTo>
                <a:lnTo>
                  <a:pt x="109150" y="80235"/>
                </a:lnTo>
                <a:lnTo>
                  <a:pt x="85100" y="127935"/>
                </a:lnTo>
                <a:lnTo>
                  <a:pt x="63550" y="180689"/>
                </a:lnTo>
                <a:lnTo>
                  <a:pt x="44500" y="238497"/>
                </a:lnTo>
                <a:lnTo>
                  <a:pt x="32694" y="282114"/>
                </a:lnTo>
                <a:lnTo>
                  <a:pt x="22704" y="326772"/>
                </a:lnTo>
                <a:lnTo>
                  <a:pt x="14530" y="372473"/>
                </a:lnTo>
                <a:lnTo>
                  <a:pt x="8173" y="419216"/>
                </a:lnTo>
                <a:lnTo>
                  <a:pt x="3632" y="467000"/>
                </a:lnTo>
                <a:lnTo>
                  <a:pt x="908" y="515826"/>
                </a:lnTo>
                <a:lnTo>
                  <a:pt x="0" y="565694"/>
                </a:lnTo>
                <a:lnTo>
                  <a:pt x="908" y="614594"/>
                </a:lnTo>
                <a:lnTo>
                  <a:pt x="3632" y="662724"/>
                </a:lnTo>
                <a:lnTo>
                  <a:pt x="8173" y="710087"/>
                </a:lnTo>
                <a:lnTo>
                  <a:pt x="14530" y="756681"/>
                </a:lnTo>
                <a:lnTo>
                  <a:pt x="22704" y="802506"/>
                </a:lnTo>
                <a:lnTo>
                  <a:pt x="32694" y="847563"/>
                </a:lnTo>
                <a:lnTo>
                  <a:pt x="44500" y="891852"/>
                </a:lnTo>
                <a:lnTo>
                  <a:pt x="63550" y="950666"/>
                </a:lnTo>
                <a:lnTo>
                  <a:pt x="85100" y="1004176"/>
                </a:lnTo>
                <a:lnTo>
                  <a:pt x="109150" y="1052381"/>
                </a:lnTo>
                <a:lnTo>
                  <a:pt x="135701" y="1095282"/>
                </a:lnTo>
                <a:lnTo>
                  <a:pt x="164753" y="1132879"/>
                </a:lnTo>
                <a:lnTo>
                  <a:pt x="174725" y="1122907"/>
                </a:lnTo>
                <a:lnTo>
                  <a:pt x="148194" y="1084524"/>
                </a:lnTo>
                <a:lnTo>
                  <a:pt x="124325" y="1041171"/>
                </a:lnTo>
                <a:lnTo>
                  <a:pt x="103117" y="992847"/>
                </a:lnTo>
                <a:lnTo>
                  <a:pt x="84570" y="939551"/>
                </a:lnTo>
                <a:lnTo>
                  <a:pt x="68684" y="881286"/>
                </a:lnTo>
                <a:lnTo>
                  <a:pt x="57565" y="830326"/>
                </a:lnTo>
                <a:lnTo>
                  <a:pt x="48468" y="778701"/>
                </a:lnTo>
                <a:lnTo>
                  <a:pt x="41393" y="726411"/>
                </a:lnTo>
                <a:lnTo>
                  <a:pt x="36339" y="673455"/>
                </a:lnTo>
                <a:lnTo>
                  <a:pt x="33306" y="619833"/>
                </a:lnTo>
                <a:lnTo>
                  <a:pt x="32296" y="565546"/>
                </a:lnTo>
                <a:lnTo>
                  <a:pt x="33308" y="510027"/>
                </a:lnTo>
                <a:lnTo>
                  <a:pt x="36347" y="455587"/>
                </a:lnTo>
                <a:lnTo>
                  <a:pt x="41411" y="402226"/>
                </a:lnTo>
                <a:lnTo>
                  <a:pt x="48501" y="349944"/>
                </a:lnTo>
                <a:lnTo>
                  <a:pt x="57617" y="298741"/>
                </a:lnTo>
                <a:lnTo>
                  <a:pt x="68759" y="248617"/>
                </a:lnTo>
                <a:lnTo>
                  <a:pt x="84665" y="191482"/>
                </a:lnTo>
                <a:lnTo>
                  <a:pt x="103215" y="139080"/>
                </a:lnTo>
                <a:lnTo>
                  <a:pt x="124409" y="91410"/>
                </a:lnTo>
                <a:lnTo>
                  <a:pt x="148245" y="48473"/>
                </a:lnTo>
                <a:lnTo>
                  <a:pt x="174725" y="10269"/>
                </a:lnTo>
                <a:lnTo>
                  <a:pt x="1647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17245" y="2596442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5" h="212089">
                <a:moveTo>
                  <a:pt x="164900" y="0"/>
                </a:moveTo>
                <a:lnTo>
                  <a:pt x="161886" y="8595"/>
                </a:lnTo>
                <a:lnTo>
                  <a:pt x="174143" y="13914"/>
                </a:lnTo>
                <a:lnTo>
                  <a:pt x="184684" y="21278"/>
                </a:lnTo>
                <a:lnTo>
                  <a:pt x="206088" y="55409"/>
                </a:lnTo>
                <a:lnTo>
                  <a:pt x="213121" y="104813"/>
                </a:lnTo>
                <a:lnTo>
                  <a:pt x="212336" y="123488"/>
                </a:lnTo>
                <a:lnTo>
                  <a:pt x="200563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900" y="211745"/>
                </a:lnTo>
                <a:lnTo>
                  <a:pt x="205356" y="187708"/>
                </a:lnTo>
                <a:lnTo>
                  <a:pt x="228078" y="143335"/>
                </a:lnTo>
                <a:lnTo>
                  <a:pt x="232431" y="105928"/>
                </a:lnTo>
                <a:lnTo>
                  <a:pt x="231339" y="86516"/>
                </a:lnTo>
                <a:lnTo>
                  <a:pt x="214962" y="37114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10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3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575653" y="2450084"/>
            <a:ext cx="507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833" sz="3600">
                <a:latin typeface="Cambria Math"/>
                <a:cs typeface="Cambria Math"/>
              </a:rPr>
              <a:t>𝐖</a:t>
            </a:r>
            <a:r>
              <a:rPr dirty="0" baseline="-20833" sz="3600" spc="277">
                <a:latin typeface="Cambria Math"/>
                <a:cs typeface="Cambria Math"/>
              </a:rPr>
              <a:t> </a:t>
            </a:r>
            <a:r>
              <a:rPr dirty="0" sz="1800" spc="-969"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10614" y="3098346"/>
            <a:ext cx="278130" cy="212090"/>
          </a:xfrm>
          <a:custGeom>
            <a:avLst/>
            <a:gdLst/>
            <a:ahLst/>
            <a:cxnLst/>
            <a:rect l="l" t="t" r="r" b="b"/>
            <a:pathLst>
              <a:path w="278129" h="212089">
                <a:moveTo>
                  <a:pt x="210557" y="0"/>
                </a:moveTo>
                <a:lnTo>
                  <a:pt x="207543" y="8595"/>
                </a:lnTo>
                <a:lnTo>
                  <a:pt x="219800" y="13914"/>
                </a:lnTo>
                <a:lnTo>
                  <a:pt x="230341" y="21278"/>
                </a:lnTo>
                <a:lnTo>
                  <a:pt x="251744" y="55409"/>
                </a:lnTo>
                <a:lnTo>
                  <a:pt x="258776" y="104813"/>
                </a:lnTo>
                <a:lnTo>
                  <a:pt x="257991" y="123488"/>
                </a:lnTo>
                <a:lnTo>
                  <a:pt x="246219" y="169217"/>
                </a:lnTo>
                <a:lnTo>
                  <a:pt x="219942" y="197806"/>
                </a:lnTo>
                <a:lnTo>
                  <a:pt x="207877" y="203150"/>
                </a:lnTo>
                <a:lnTo>
                  <a:pt x="210557" y="211745"/>
                </a:lnTo>
                <a:lnTo>
                  <a:pt x="251012" y="187708"/>
                </a:lnTo>
                <a:lnTo>
                  <a:pt x="273734" y="143335"/>
                </a:lnTo>
                <a:lnTo>
                  <a:pt x="278088" y="105928"/>
                </a:lnTo>
                <a:lnTo>
                  <a:pt x="276996" y="86516"/>
                </a:lnTo>
                <a:lnTo>
                  <a:pt x="260619" y="37114"/>
                </a:lnTo>
                <a:lnTo>
                  <a:pt x="225908" y="5542"/>
                </a:lnTo>
                <a:lnTo>
                  <a:pt x="210557" y="0"/>
                </a:lnTo>
                <a:close/>
              </a:path>
              <a:path w="27812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3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217955" y="2428747"/>
            <a:ext cx="707390" cy="90043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algn="ctr" marL="93980">
              <a:lnSpc>
                <a:spcPct val="100000"/>
              </a:lnSpc>
              <a:spcBef>
                <a:spcPts val="1155"/>
              </a:spcBef>
            </a:pPr>
            <a:r>
              <a:rPr dirty="0" sz="2400" spc="1710">
                <a:latin typeface="Cambria Math"/>
                <a:cs typeface="Cambria Math"/>
              </a:rPr>
              <a:t>G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dirty="0" sz="1800" spc="5">
                <a:latin typeface="Cambria Math"/>
                <a:cs typeface="Cambria Math"/>
              </a:rPr>
              <a:t>#∈+</a:t>
            </a:r>
            <a:r>
              <a:rPr dirty="0" sz="1800" spc="225">
                <a:latin typeface="Cambria Math"/>
                <a:cs typeface="Cambria Math"/>
              </a:rPr>
              <a:t> </a:t>
            </a:r>
            <a:r>
              <a:rPr dirty="0" sz="1800" spc="26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57806" y="2790056"/>
            <a:ext cx="850900" cy="0"/>
          </a:xfrm>
          <a:custGeom>
            <a:avLst/>
            <a:gdLst/>
            <a:ahLst/>
            <a:cxnLst/>
            <a:rect l="l" t="t" r="r" b="b"/>
            <a:pathLst>
              <a:path w="850900" h="0">
                <a:moveTo>
                  <a:pt x="0" y="0"/>
                </a:moveTo>
                <a:lnTo>
                  <a:pt x="8509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276183" y="2480564"/>
            <a:ext cx="173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08974" y="2323964"/>
            <a:ext cx="523240" cy="212090"/>
          </a:xfrm>
          <a:custGeom>
            <a:avLst/>
            <a:gdLst/>
            <a:ahLst/>
            <a:cxnLst/>
            <a:rect l="l" t="t" r="r" b="b"/>
            <a:pathLst>
              <a:path w="523239" h="212089">
                <a:moveTo>
                  <a:pt x="455413" y="0"/>
                </a:moveTo>
                <a:lnTo>
                  <a:pt x="452399" y="8595"/>
                </a:lnTo>
                <a:lnTo>
                  <a:pt x="464656" y="13914"/>
                </a:lnTo>
                <a:lnTo>
                  <a:pt x="475197" y="21278"/>
                </a:lnTo>
                <a:lnTo>
                  <a:pt x="496601" y="55409"/>
                </a:lnTo>
                <a:lnTo>
                  <a:pt x="503633" y="104813"/>
                </a:lnTo>
                <a:lnTo>
                  <a:pt x="502848" y="123488"/>
                </a:lnTo>
                <a:lnTo>
                  <a:pt x="491075" y="169217"/>
                </a:lnTo>
                <a:lnTo>
                  <a:pt x="464799" y="197806"/>
                </a:lnTo>
                <a:lnTo>
                  <a:pt x="452733" y="203150"/>
                </a:lnTo>
                <a:lnTo>
                  <a:pt x="455413" y="211745"/>
                </a:lnTo>
                <a:lnTo>
                  <a:pt x="495868" y="187708"/>
                </a:lnTo>
                <a:lnTo>
                  <a:pt x="518590" y="143335"/>
                </a:lnTo>
                <a:lnTo>
                  <a:pt x="522944" y="105929"/>
                </a:lnTo>
                <a:lnTo>
                  <a:pt x="521852" y="86517"/>
                </a:lnTo>
                <a:lnTo>
                  <a:pt x="505475" y="37114"/>
                </a:lnTo>
                <a:lnTo>
                  <a:pt x="470764" y="5542"/>
                </a:lnTo>
                <a:lnTo>
                  <a:pt x="455413" y="0"/>
                </a:lnTo>
                <a:close/>
              </a:path>
              <a:path w="52323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9"/>
                </a:lnTo>
                <a:lnTo>
                  <a:pt x="1088" y="125382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10" y="203150"/>
                </a:lnTo>
                <a:lnTo>
                  <a:pt x="58144" y="197806"/>
                </a:lnTo>
                <a:lnTo>
                  <a:pt x="47732" y="190370"/>
                </a:lnTo>
                <a:lnTo>
                  <a:pt x="26374" y="155690"/>
                </a:lnTo>
                <a:lnTo>
                  <a:pt x="19310" y="104813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090445" y="2178811"/>
            <a:ext cx="6832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7777" sz="3600">
                <a:latin typeface="Cambria Math"/>
                <a:cs typeface="Cambria Math"/>
              </a:rPr>
              <a:t>𝐡</a:t>
            </a:r>
            <a:r>
              <a:rPr dirty="0" baseline="-27777" sz="3600" spc="150">
                <a:latin typeface="Cambria Math"/>
                <a:cs typeface="Cambria Math"/>
              </a:rPr>
              <a:t> </a:t>
            </a:r>
            <a:r>
              <a:rPr dirty="0" sz="1800" spc="60">
                <a:latin typeface="Cambria Math"/>
                <a:cs typeface="Cambria Math"/>
              </a:rPr>
              <a:t>%'(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60025" y="2857309"/>
            <a:ext cx="0" cy="277495"/>
          </a:xfrm>
          <a:custGeom>
            <a:avLst/>
            <a:gdLst/>
            <a:ahLst/>
            <a:cxnLst/>
            <a:rect l="l" t="t" r="r" b="b"/>
            <a:pathLst>
              <a:path w="0" h="277494">
                <a:moveTo>
                  <a:pt x="0" y="0"/>
                </a:moveTo>
                <a:lnTo>
                  <a:pt x="0" y="276969"/>
                </a:lnTo>
              </a:path>
            </a:pathLst>
          </a:custGeom>
          <a:ln w="229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05264" y="2857309"/>
            <a:ext cx="0" cy="277495"/>
          </a:xfrm>
          <a:custGeom>
            <a:avLst/>
            <a:gdLst/>
            <a:ahLst/>
            <a:cxnLst/>
            <a:rect l="l" t="t" r="r" b="b"/>
            <a:pathLst>
              <a:path w="0" h="277494">
                <a:moveTo>
                  <a:pt x="0" y="0"/>
                </a:moveTo>
                <a:lnTo>
                  <a:pt x="0" y="276969"/>
                </a:lnTo>
              </a:path>
            </a:pathLst>
          </a:custGeom>
          <a:ln w="229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11557" y="2854653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29" y="0"/>
                </a:moveTo>
                <a:lnTo>
                  <a:pt x="279411" y="11460"/>
                </a:lnTo>
                <a:lnTo>
                  <a:pt x="295754" y="18552"/>
                </a:lnTo>
                <a:lnTo>
                  <a:pt x="309809" y="28370"/>
                </a:lnTo>
                <a:lnTo>
                  <a:pt x="338347" y="73879"/>
                </a:lnTo>
                <a:lnTo>
                  <a:pt x="346681" y="115662"/>
                </a:lnTo>
                <a:lnTo>
                  <a:pt x="347723" y="139749"/>
                </a:lnTo>
                <a:lnTo>
                  <a:pt x="346677" y="164650"/>
                </a:lnTo>
                <a:lnTo>
                  <a:pt x="338306" y="207587"/>
                </a:lnTo>
                <a:lnTo>
                  <a:pt x="309828" y="253826"/>
                </a:lnTo>
                <a:lnTo>
                  <a:pt x="279858" y="270868"/>
                </a:lnTo>
                <a:lnTo>
                  <a:pt x="283429" y="282327"/>
                </a:lnTo>
                <a:lnTo>
                  <a:pt x="321939" y="264263"/>
                </a:lnTo>
                <a:lnTo>
                  <a:pt x="350253" y="232990"/>
                </a:lnTo>
                <a:lnTo>
                  <a:pt x="367666" y="191113"/>
                </a:lnTo>
                <a:lnTo>
                  <a:pt x="373471" y="141237"/>
                </a:lnTo>
                <a:lnTo>
                  <a:pt x="372015" y="115355"/>
                </a:lnTo>
                <a:lnTo>
                  <a:pt x="360369" y="69479"/>
                </a:lnTo>
                <a:lnTo>
                  <a:pt x="337273" y="32133"/>
                </a:lnTo>
                <a:lnTo>
                  <a:pt x="303898" y="7390"/>
                </a:lnTo>
                <a:lnTo>
                  <a:pt x="283429" y="0"/>
                </a:lnTo>
                <a:close/>
              </a:path>
              <a:path w="374014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8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9"/>
                </a:lnTo>
                <a:lnTo>
                  <a:pt x="63754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140801" y="2764027"/>
            <a:ext cx="5492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205" algn="l"/>
              </a:tabLst>
            </a:pPr>
            <a:r>
              <a:rPr dirty="0" sz="2400">
                <a:latin typeface="Cambria Math"/>
                <a:cs typeface="Cambria Math"/>
              </a:rPr>
              <a:t>𝑁	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53689" y="5040884"/>
            <a:ext cx="297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(</a:t>
            </a:r>
            <a:r>
              <a:rPr dirty="0" sz="1800" spc="-935">
                <a:latin typeface="Cambria Math"/>
                <a:cs typeface="Cambria Math"/>
              </a:rPr>
              <a:t>%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404282" y="4791928"/>
            <a:ext cx="2755900" cy="1133475"/>
          </a:xfrm>
          <a:custGeom>
            <a:avLst/>
            <a:gdLst/>
            <a:ahLst/>
            <a:cxnLst/>
            <a:rect l="l" t="t" r="r" b="b"/>
            <a:pathLst>
              <a:path w="2755900" h="1133475">
                <a:moveTo>
                  <a:pt x="2590784" y="0"/>
                </a:moveTo>
                <a:lnTo>
                  <a:pt x="2580664" y="10269"/>
                </a:lnTo>
                <a:lnTo>
                  <a:pt x="2607196" y="48473"/>
                </a:lnTo>
                <a:lnTo>
                  <a:pt x="2631074" y="91410"/>
                </a:lnTo>
                <a:lnTo>
                  <a:pt x="2652297" y="139080"/>
                </a:lnTo>
                <a:lnTo>
                  <a:pt x="2670865" y="191482"/>
                </a:lnTo>
                <a:lnTo>
                  <a:pt x="2686778" y="248617"/>
                </a:lnTo>
                <a:lnTo>
                  <a:pt x="2697920" y="298741"/>
                </a:lnTo>
                <a:lnTo>
                  <a:pt x="2707035" y="349944"/>
                </a:lnTo>
                <a:lnTo>
                  <a:pt x="2714125" y="402226"/>
                </a:lnTo>
                <a:lnTo>
                  <a:pt x="2719189" y="455587"/>
                </a:lnTo>
                <a:lnTo>
                  <a:pt x="2722227" y="510027"/>
                </a:lnTo>
                <a:lnTo>
                  <a:pt x="2723237" y="565694"/>
                </a:lnTo>
                <a:lnTo>
                  <a:pt x="2722227" y="619833"/>
                </a:lnTo>
                <a:lnTo>
                  <a:pt x="2719189" y="673455"/>
                </a:lnTo>
                <a:lnTo>
                  <a:pt x="2714125" y="726411"/>
                </a:lnTo>
                <a:lnTo>
                  <a:pt x="2707035" y="778701"/>
                </a:lnTo>
                <a:lnTo>
                  <a:pt x="2697920" y="830326"/>
                </a:lnTo>
                <a:lnTo>
                  <a:pt x="2686778" y="881285"/>
                </a:lnTo>
                <a:lnTo>
                  <a:pt x="2670865" y="939551"/>
                </a:lnTo>
                <a:lnTo>
                  <a:pt x="2652297" y="992846"/>
                </a:lnTo>
                <a:lnTo>
                  <a:pt x="2631074" y="1041171"/>
                </a:lnTo>
                <a:lnTo>
                  <a:pt x="2607196" y="1084525"/>
                </a:lnTo>
                <a:lnTo>
                  <a:pt x="2580664" y="1122907"/>
                </a:lnTo>
                <a:lnTo>
                  <a:pt x="2590784" y="1132879"/>
                </a:lnTo>
                <a:lnTo>
                  <a:pt x="2619785" y="1095282"/>
                </a:lnTo>
                <a:lnTo>
                  <a:pt x="2646303" y="1052381"/>
                </a:lnTo>
                <a:lnTo>
                  <a:pt x="2670338" y="1004175"/>
                </a:lnTo>
                <a:lnTo>
                  <a:pt x="2691892" y="950666"/>
                </a:lnTo>
                <a:lnTo>
                  <a:pt x="2710963" y="891852"/>
                </a:lnTo>
                <a:lnTo>
                  <a:pt x="2722789" y="847563"/>
                </a:lnTo>
                <a:lnTo>
                  <a:pt x="2732795" y="802506"/>
                </a:lnTo>
                <a:lnTo>
                  <a:pt x="2740982" y="756681"/>
                </a:lnTo>
                <a:lnTo>
                  <a:pt x="2747349" y="710087"/>
                </a:lnTo>
                <a:lnTo>
                  <a:pt x="2751898" y="662724"/>
                </a:lnTo>
                <a:lnTo>
                  <a:pt x="2754627" y="614594"/>
                </a:lnTo>
                <a:lnTo>
                  <a:pt x="2755534" y="565546"/>
                </a:lnTo>
                <a:lnTo>
                  <a:pt x="2754627" y="515826"/>
                </a:lnTo>
                <a:lnTo>
                  <a:pt x="2751898" y="467000"/>
                </a:lnTo>
                <a:lnTo>
                  <a:pt x="2747349" y="419216"/>
                </a:lnTo>
                <a:lnTo>
                  <a:pt x="2740982" y="372473"/>
                </a:lnTo>
                <a:lnTo>
                  <a:pt x="2732795" y="326772"/>
                </a:lnTo>
                <a:lnTo>
                  <a:pt x="2722789" y="282114"/>
                </a:lnTo>
                <a:lnTo>
                  <a:pt x="2710963" y="238497"/>
                </a:lnTo>
                <a:lnTo>
                  <a:pt x="2691892" y="180689"/>
                </a:lnTo>
                <a:lnTo>
                  <a:pt x="2670338" y="127935"/>
                </a:lnTo>
                <a:lnTo>
                  <a:pt x="2646303" y="80235"/>
                </a:lnTo>
                <a:lnTo>
                  <a:pt x="2619785" y="37590"/>
                </a:lnTo>
                <a:lnTo>
                  <a:pt x="2590784" y="0"/>
                </a:lnTo>
                <a:close/>
              </a:path>
              <a:path w="2755900" h="1133475">
                <a:moveTo>
                  <a:pt x="164753" y="0"/>
                </a:moveTo>
                <a:lnTo>
                  <a:pt x="135701" y="37590"/>
                </a:lnTo>
                <a:lnTo>
                  <a:pt x="109150" y="80235"/>
                </a:lnTo>
                <a:lnTo>
                  <a:pt x="85100" y="127935"/>
                </a:lnTo>
                <a:lnTo>
                  <a:pt x="63549" y="180689"/>
                </a:lnTo>
                <a:lnTo>
                  <a:pt x="44499" y="238497"/>
                </a:lnTo>
                <a:lnTo>
                  <a:pt x="32693" y="282114"/>
                </a:lnTo>
                <a:lnTo>
                  <a:pt x="22704" y="326772"/>
                </a:lnTo>
                <a:lnTo>
                  <a:pt x="14530" y="372473"/>
                </a:lnTo>
                <a:lnTo>
                  <a:pt x="8173" y="419216"/>
                </a:lnTo>
                <a:lnTo>
                  <a:pt x="3632" y="467000"/>
                </a:lnTo>
                <a:lnTo>
                  <a:pt x="908" y="515826"/>
                </a:lnTo>
                <a:lnTo>
                  <a:pt x="0" y="565694"/>
                </a:lnTo>
                <a:lnTo>
                  <a:pt x="908" y="614594"/>
                </a:lnTo>
                <a:lnTo>
                  <a:pt x="3632" y="662724"/>
                </a:lnTo>
                <a:lnTo>
                  <a:pt x="8173" y="710087"/>
                </a:lnTo>
                <a:lnTo>
                  <a:pt x="14530" y="756681"/>
                </a:lnTo>
                <a:lnTo>
                  <a:pt x="22704" y="802506"/>
                </a:lnTo>
                <a:lnTo>
                  <a:pt x="32693" y="847563"/>
                </a:lnTo>
                <a:lnTo>
                  <a:pt x="44499" y="891852"/>
                </a:lnTo>
                <a:lnTo>
                  <a:pt x="63549" y="950666"/>
                </a:lnTo>
                <a:lnTo>
                  <a:pt x="85100" y="1004175"/>
                </a:lnTo>
                <a:lnTo>
                  <a:pt x="109150" y="1052381"/>
                </a:lnTo>
                <a:lnTo>
                  <a:pt x="135701" y="1095282"/>
                </a:lnTo>
                <a:lnTo>
                  <a:pt x="164753" y="1132879"/>
                </a:lnTo>
                <a:lnTo>
                  <a:pt x="174724" y="1122907"/>
                </a:lnTo>
                <a:lnTo>
                  <a:pt x="148194" y="1084525"/>
                </a:lnTo>
                <a:lnTo>
                  <a:pt x="124325" y="1041171"/>
                </a:lnTo>
                <a:lnTo>
                  <a:pt x="103117" y="992846"/>
                </a:lnTo>
                <a:lnTo>
                  <a:pt x="84570" y="939551"/>
                </a:lnTo>
                <a:lnTo>
                  <a:pt x="68684" y="881285"/>
                </a:lnTo>
                <a:lnTo>
                  <a:pt x="57565" y="830326"/>
                </a:lnTo>
                <a:lnTo>
                  <a:pt x="48468" y="778701"/>
                </a:lnTo>
                <a:lnTo>
                  <a:pt x="41393" y="726411"/>
                </a:lnTo>
                <a:lnTo>
                  <a:pt x="36339" y="673455"/>
                </a:lnTo>
                <a:lnTo>
                  <a:pt x="33306" y="619833"/>
                </a:lnTo>
                <a:lnTo>
                  <a:pt x="32296" y="565546"/>
                </a:lnTo>
                <a:lnTo>
                  <a:pt x="33308" y="510027"/>
                </a:lnTo>
                <a:lnTo>
                  <a:pt x="36347" y="455587"/>
                </a:lnTo>
                <a:lnTo>
                  <a:pt x="41411" y="402226"/>
                </a:lnTo>
                <a:lnTo>
                  <a:pt x="48501" y="349944"/>
                </a:lnTo>
                <a:lnTo>
                  <a:pt x="57617" y="298741"/>
                </a:lnTo>
                <a:lnTo>
                  <a:pt x="68759" y="248617"/>
                </a:lnTo>
                <a:lnTo>
                  <a:pt x="84665" y="191482"/>
                </a:lnTo>
                <a:lnTo>
                  <a:pt x="103215" y="139080"/>
                </a:lnTo>
                <a:lnTo>
                  <a:pt x="124408" y="91410"/>
                </a:lnTo>
                <a:lnTo>
                  <a:pt x="148244" y="48473"/>
                </a:lnTo>
                <a:lnTo>
                  <a:pt x="174724" y="10269"/>
                </a:lnTo>
                <a:lnTo>
                  <a:pt x="1647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068647" y="5664780"/>
            <a:ext cx="278130" cy="212090"/>
          </a:xfrm>
          <a:custGeom>
            <a:avLst/>
            <a:gdLst/>
            <a:ahLst/>
            <a:cxnLst/>
            <a:rect l="l" t="t" r="r" b="b"/>
            <a:pathLst>
              <a:path w="278129" h="212089">
                <a:moveTo>
                  <a:pt x="210557" y="0"/>
                </a:moveTo>
                <a:lnTo>
                  <a:pt x="207543" y="8594"/>
                </a:lnTo>
                <a:lnTo>
                  <a:pt x="219800" y="13914"/>
                </a:lnTo>
                <a:lnTo>
                  <a:pt x="230341" y="21277"/>
                </a:lnTo>
                <a:lnTo>
                  <a:pt x="251744" y="55409"/>
                </a:lnTo>
                <a:lnTo>
                  <a:pt x="258776" y="104812"/>
                </a:lnTo>
                <a:lnTo>
                  <a:pt x="257991" y="123487"/>
                </a:lnTo>
                <a:lnTo>
                  <a:pt x="246219" y="169217"/>
                </a:lnTo>
                <a:lnTo>
                  <a:pt x="219942" y="197806"/>
                </a:lnTo>
                <a:lnTo>
                  <a:pt x="207877" y="203150"/>
                </a:lnTo>
                <a:lnTo>
                  <a:pt x="210557" y="211745"/>
                </a:lnTo>
                <a:lnTo>
                  <a:pt x="251012" y="187708"/>
                </a:lnTo>
                <a:lnTo>
                  <a:pt x="273734" y="143335"/>
                </a:lnTo>
                <a:lnTo>
                  <a:pt x="278088" y="105928"/>
                </a:lnTo>
                <a:lnTo>
                  <a:pt x="276996" y="86516"/>
                </a:lnTo>
                <a:lnTo>
                  <a:pt x="260619" y="37113"/>
                </a:lnTo>
                <a:lnTo>
                  <a:pt x="225908" y="5542"/>
                </a:lnTo>
                <a:lnTo>
                  <a:pt x="210557" y="0"/>
                </a:lnTo>
                <a:close/>
              </a:path>
              <a:path w="27812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2"/>
                </a:lnTo>
                <a:lnTo>
                  <a:pt x="20095" y="86747"/>
                </a:lnTo>
                <a:lnTo>
                  <a:pt x="31868" y="42136"/>
                </a:lnTo>
                <a:lnTo>
                  <a:pt x="58332" y="13914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267952" y="4995164"/>
            <a:ext cx="2141220" cy="90043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565150" algn="l"/>
                <a:tab pos="1506220" algn="l"/>
              </a:tabLst>
            </a:pPr>
            <a:r>
              <a:rPr dirty="0" sz="2400" spc="125">
                <a:latin typeface="Cambria Math"/>
                <a:cs typeface="Cambria Math"/>
              </a:rPr>
              <a:t>𝐡</a:t>
            </a:r>
            <a:r>
              <a:rPr dirty="0" baseline="-18518" sz="2700" spc="187">
                <a:latin typeface="Cambria Math"/>
                <a:cs typeface="Cambria Math"/>
              </a:rPr>
              <a:t>)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𝜎	</a:t>
            </a:r>
            <a:r>
              <a:rPr dirty="0" sz="2400" spc="1710">
                <a:latin typeface="Cambria Math"/>
                <a:cs typeface="Cambria Math"/>
              </a:rPr>
              <a:t>G</a:t>
            </a:r>
            <a:endParaRPr sz="2400">
              <a:latin typeface="Cambria Math"/>
              <a:cs typeface="Cambria Math"/>
            </a:endParaRPr>
          </a:p>
          <a:p>
            <a:pPr marL="1320165">
              <a:lnSpc>
                <a:spcPct val="100000"/>
              </a:lnSpc>
              <a:spcBef>
                <a:spcPts val="790"/>
              </a:spcBef>
            </a:pPr>
            <a:r>
              <a:rPr dirty="0" sz="1800" spc="5">
                <a:latin typeface="Cambria Math"/>
                <a:cs typeface="Cambria Math"/>
              </a:rPr>
              <a:t>#∈+</a:t>
            </a:r>
            <a:r>
              <a:rPr dirty="0" sz="1800" spc="225">
                <a:latin typeface="Cambria Math"/>
                <a:cs typeface="Cambria Math"/>
              </a:rPr>
              <a:t> </a:t>
            </a:r>
            <a:r>
              <a:rPr dirty="0" sz="1800" spc="26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43969" y="5162876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5" h="212089">
                <a:moveTo>
                  <a:pt x="164900" y="0"/>
                </a:moveTo>
                <a:lnTo>
                  <a:pt x="161885" y="8595"/>
                </a:lnTo>
                <a:lnTo>
                  <a:pt x="174143" y="13914"/>
                </a:lnTo>
                <a:lnTo>
                  <a:pt x="184684" y="21278"/>
                </a:lnTo>
                <a:lnTo>
                  <a:pt x="206088" y="55409"/>
                </a:lnTo>
                <a:lnTo>
                  <a:pt x="213119" y="104813"/>
                </a:lnTo>
                <a:lnTo>
                  <a:pt x="212335" y="123488"/>
                </a:lnTo>
                <a:lnTo>
                  <a:pt x="200563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900" y="211745"/>
                </a:lnTo>
                <a:lnTo>
                  <a:pt x="205355" y="187708"/>
                </a:lnTo>
                <a:lnTo>
                  <a:pt x="228077" y="143335"/>
                </a:lnTo>
                <a:lnTo>
                  <a:pt x="232430" y="105928"/>
                </a:lnTo>
                <a:lnTo>
                  <a:pt x="231338" y="86516"/>
                </a:lnTo>
                <a:lnTo>
                  <a:pt x="214961" y="37114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70"/>
                </a:lnTo>
                <a:lnTo>
                  <a:pt x="26374" y="155690"/>
                </a:lnTo>
                <a:lnTo>
                  <a:pt x="19310" y="104813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415077" y="5016500"/>
            <a:ext cx="4946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-20833" sz="3600">
                <a:solidFill>
                  <a:srgbClr val="C00000"/>
                </a:solidFill>
                <a:latin typeface="Cambria Math"/>
                <a:cs typeface="Cambria Math"/>
              </a:rPr>
              <a:t>𝐖</a:t>
            </a:r>
            <a:r>
              <a:rPr dirty="0" baseline="-20833" sz="3600" spc="277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 spc="-969">
                <a:solidFill>
                  <a:srgbClr val="C00000"/>
                </a:solidFill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58142" y="5356490"/>
            <a:ext cx="850900" cy="0"/>
          </a:xfrm>
          <a:custGeom>
            <a:avLst/>
            <a:gdLst/>
            <a:ahLst/>
            <a:cxnLst/>
            <a:rect l="l" t="t" r="r" b="b"/>
            <a:pathLst>
              <a:path w="850900" h="0">
                <a:moveTo>
                  <a:pt x="0" y="0"/>
                </a:moveTo>
                <a:lnTo>
                  <a:pt x="8509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309310" y="4890398"/>
            <a:ext cx="523240" cy="212090"/>
          </a:xfrm>
          <a:custGeom>
            <a:avLst/>
            <a:gdLst/>
            <a:ahLst/>
            <a:cxnLst/>
            <a:rect l="l" t="t" r="r" b="b"/>
            <a:pathLst>
              <a:path w="523239" h="212089">
                <a:moveTo>
                  <a:pt x="455413" y="0"/>
                </a:moveTo>
                <a:lnTo>
                  <a:pt x="452399" y="8595"/>
                </a:lnTo>
                <a:lnTo>
                  <a:pt x="464656" y="13914"/>
                </a:lnTo>
                <a:lnTo>
                  <a:pt x="475197" y="21278"/>
                </a:lnTo>
                <a:lnTo>
                  <a:pt x="496600" y="55409"/>
                </a:lnTo>
                <a:lnTo>
                  <a:pt x="503632" y="104813"/>
                </a:lnTo>
                <a:lnTo>
                  <a:pt x="502847" y="123488"/>
                </a:lnTo>
                <a:lnTo>
                  <a:pt x="491075" y="169218"/>
                </a:lnTo>
                <a:lnTo>
                  <a:pt x="464798" y="197807"/>
                </a:lnTo>
                <a:lnTo>
                  <a:pt x="452733" y="203150"/>
                </a:lnTo>
                <a:lnTo>
                  <a:pt x="455413" y="211745"/>
                </a:lnTo>
                <a:lnTo>
                  <a:pt x="495868" y="187708"/>
                </a:lnTo>
                <a:lnTo>
                  <a:pt x="518589" y="143335"/>
                </a:lnTo>
                <a:lnTo>
                  <a:pt x="522942" y="105929"/>
                </a:lnTo>
                <a:lnTo>
                  <a:pt x="521851" y="86517"/>
                </a:lnTo>
                <a:lnTo>
                  <a:pt x="505475" y="37114"/>
                </a:lnTo>
                <a:lnTo>
                  <a:pt x="470764" y="5542"/>
                </a:lnTo>
                <a:lnTo>
                  <a:pt x="455413" y="0"/>
                </a:lnTo>
                <a:close/>
              </a:path>
              <a:path w="52323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9"/>
                </a:lnTo>
                <a:lnTo>
                  <a:pt x="1088" y="125382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7"/>
                </a:lnTo>
                <a:lnTo>
                  <a:pt x="47732" y="190370"/>
                </a:lnTo>
                <a:lnTo>
                  <a:pt x="26374" y="155691"/>
                </a:lnTo>
                <a:lnTo>
                  <a:pt x="19310" y="104813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103481" y="4745228"/>
            <a:ext cx="6705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-27777" sz="3600">
                <a:latin typeface="Cambria Math"/>
                <a:cs typeface="Cambria Math"/>
              </a:rPr>
              <a:t>𝐡</a:t>
            </a:r>
            <a:r>
              <a:rPr dirty="0" baseline="-27777" sz="3600" spc="150">
                <a:latin typeface="Cambria Math"/>
                <a:cs typeface="Cambria Math"/>
              </a:rPr>
              <a:t> </a:t>
            </a:r>
            <a:r>
              <a:rPr dirty="0" sz="1800" spc="60">
                <a:latin typeface="Cambria Math"/>
                <a:cs typeface="Cambria Math"/>
              </a:rPr>
              <a:t>%'(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860360" y="5423743"/>
            <a:ext cx="0" cy="277495"/>
          </a:xfrm>
          <a:custGeom>
            <a:avLst/>
            <a:gdLst/>
            <a:ahLst/>
            <a:cxnLst/>
            <a:rect l="l" t="t" r="r" b="b"/>
            <a:pathLst>
              <a:path w="0" h="277495">
                <a:moveTo>
                  <a:pt x="0" y="0"/>
                </a:moveTo>
                <a:lnTo>
                  <a:pt x="0" y="276968"/>
                </a:lnTo>
              </a:path>
            </a:pathLst>
          </a:custGeom>
          <a:ln w="229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05599" y="5423743"/>
            <a:ext cx="0" cy="277495"/>
          </a:xfrm>
          <a:custGeom>
            <a:avLst/>
            <a:gdLst/>
            <a:ahLst/>
            <a:cxnLst/>
            <a:rect l="l" t="t" r="r" b="b"/>
            <a:pathLst>
              <a:path w="0" h="277495">
                <a:moveTo>
                  <a:pt x="0" y="0"/>
                </a:moveTo>
                <a:lnTo>
                  <a:pt x="0" y="276968"/>
                </a:lnTo>
              </a:path>
            </a:pathLst>
          </a:custGeom>
          <a:ln w="229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411891" y="5421087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30" y="0"/>
                </a:moveTo>
                <a:lnTo>
                  <a:pt x="279412" y="11460"/>
                </a:lnTo>
                <a:lnTo>
                  <a:pt x="295755" y="18552"/>
                </a:lnTo>
                <a:lnTo>
                  <a:pt x="309810" y="28370"/>
                </a:lnTo>
                <a:lnTo>
                  <a:pt x="338348" y="73880"/>
                </a:lnTo>
                <a:lnTo>
                  <a:pt x="346682" y="115662"/>
                </a:lnTo>
                <a:lnTo>
                  <a:pt x="347724" y="139749"/>
                </a:lnTo>
                <a:lnTo>
                  <a:pt x="346678" y="164650"/>
                </a:lnTo>
                <a:lnTo>
                  <a:pt x="338306" y="207587"/>
                </a:lnTo>
                <a:lnTo>
                  <a:pt x="309828" y="253826"/>
                </a:lnTo>
                <a:lnTo>
                  <a:pt x="279858" y="270867"/>
                </a:lnTo>
                <a:lnTo>
                  <a:pt x="283430" y="282327"/>
                </a:lnTo>
                <a:lnTo>
                  <a:pt x="321940" y="264263"/>
                </a:lnTo>
                <a:lnTo>
                  <a:pt x="350254" y="232990"/>
                </a:lnTo>
                <a:lnTo>
                  <a:pt x="367667" y="191114"/>
                </a:lnTo>
                <a:lnTo>
                  <a:pt x="373471" y="141237"/>
                </a:lnTo>
                <a:lnTo>
                  <a:pt x="372015" y="115355"/>
                </a:lnTo>
                <a:lnTo>
                  <a:pt x="360370" y="69479"/>
                </a:lnTo>
                <a:lnTo>
                  <a:pt x="337274" y="32133"/>
                </a:lnTo>
                <a:lnTo>
                  <a:pt x="303899" y="7390"/>
                </a:lnTo>
                <a:lnTo>
                  <a:pt x="283430" y="0"/>
                </a:lnTo>
                <a:close/>
              </a:path>
              <a:path w="374014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6"/>
                </a:lnTo>
                <a:lnTo>
                  <a:pt x="13060" y="213052"/>
                </a:lnTo>
                <a:lnTo>
                  <a:pt x="36100" y="250278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7"/>
                </a:lnTo>
                <a:lnTo>
                  <a:pt x="77525" y="263742"/>
                </a:lnTo>
                <a:lnTo>
                  <a:pt x="63643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80"/>
                </a:lnTo>
                <a:lnTo>
                  <a:pt x="63755" y="28370"/>
                </a:lnTo>
                <a:lnTo>
                  <a:pt x="94060" y="11460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153836" y="5046979"/>
            <a:ext cx="536575" cy="675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09220">
              <a:lnSpc>
                <a:spcPct val="100000"/>
              </a:lnSpc>
              <a:spcBef>
                <a:spcPts val="100"/>
              </a:spcBef>
            </a:pPr>
            <a:r>
              <a:rPr dirty="0" sz="1800" spc="50"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  <a:p>
            <a:pPr algn="ctr" marR="5080">
              <a:lnSpc>
                <a:spcPct val="100000"/>
              </a:lnSpc>
              <a:spcBef>
                <a:spcPts val="70"/>
              </a:spcBef>
              <a:tabLst>
                <a:tab pos="357505" algn="l"/>
              </a:tabLst>
            </a:pPr>
            <a:r>
              <a:rPr dirty="0" sz="2400">
                <a:latin typeface="Cambria Math"/>
                <a:cs typeface="Cambria Math"/>
              </a:rPr>
              <a:t>𝑁	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46311" y="4947079"/>
            <a:ext cx="875030" cy="964565"/>
          </a:xfrm>
          <a:custGeom>
            <a:avLst/>
            <a:gdLst/>
            <a:ahLst/>
            <a:cxnLst/>
            <a:rect l="l" t="t" r="r" b="b"/>
            <a:pathLst>
              <a:path w="875029" h="964564">
                <a:moveTo>
                  <a:pt x="0" y="0"/>
                </a:moveTo>
                <a:lnTo>
                  <a:pt x="874931" y="0"/>
                </a:lnTo>
                <a:lnTo>
                  <a:pt x="874931" y="964286"/>
                </a:lnTo>
                <a:lnTo>
                  <a:pt x="0" y="96428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0AD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302756" y="5918708"/>
            <a:ext cx="1555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0AD00"/>
                </a:solidFill>
                <a:latin typeface="Calibri"/>
                <a:cs typeface="Calibri"/>
              </a:rPr>
              <a:t>A</a:t>
            </a:r>
            <a:r>
              <a:rPr dirty="0" sz="2400" spc="10" b="1">
                <a:solidFill>
                  <a:srgbClr val="F0AD00"/>
                </a:solidFill>
                <a:latin typeface="Calibri"/>
                <a:cs typeface="Calibri"/>
              </a:rPr>
              <a:t>g</a:t>
            </a:r>
            <a:r>
              <a:rPr dirty="0" sz="2400" spc="-5" b="1">
                <a:solidFill>
                  <a:srgbClr val="F0AD00"/>
                </a:solidFill>
                <a:latin typeface="Calibri"/>
                <a:cs typeface="Calibri"/>
              </a:rPr>
              <a:t>g</a:t>
            </a:r>
            <a:r>
              <a:rPr dirty="0" sz="2400" spc="-30" b="1">
                <a:solidFill>
                  <a:srgbClr val="F0AD00"/>
                </a:solidFill>
                <a:latin typeface="Calibri"/>
                <a:cs typeface="Calibri"/>
              </a:rPr>
              <a:t>r</a:t>
            </a:r>
            <a:r>
              <a:rPr dirty="0" sz="2400" b="1">
                <a:solidFill>
                  <a:srgbClr val="F0AD00"/>
                </a:solidFill>
                <a:latin typeface="Calibri"/>
                <a:cs typeface="Calibri"/>
              </a:rPr>
              <a:t>e</a:t>
            </a:r>
            <a:r>
              <a:rPr dirty="0" sz="2400" spc="-45" b="1">
                <a:solidFill>
                  <a:srgbClr val="F0AD00"/>
                </a:solidFill>
                <a:latin typeface="Calibri"/>
                <a:cs typeface="Calibri"/>
              </a:rPr>
              <a:t>g</a:t>
            </a:r>
            <a:r>
              <a:rPr dirty="0" sz="2400" spc="-20" b="1">
                <a:solidFill>
                  <a:srgbClr val="F0AD00"/>
                </a:solidFill>
                <a:latin typeface="Calibri"/>
                <a:cs typeface="Calibri"/>
              </a:rPr>
              <a:t>a</a:t>
            </a:r>
            <a:r>
              <a:rPr dirty="0" sz="2400" spc="0" b="1">
                <a:solidFill>
                  <a:srgbClr val="F0AD00"/>
                </a:solidFill>
                <a:latin typeface="Calibri"/>
                <a:cs typeface="Calibri"/>
              </a:rPr>
              <a:t>t</a:t>
            </a:r>
            <a:r>
              <a:rPr dirty="0" sz="2400" spc="-5" b="1">
                <a:solidFill>
                  <a:srgbClr val="F0AD00"/>
                </a:solidFill>
                <a:latin typeface="Calibri"/>
                <a:cs typeface="Calibri"/>
              </a:rPr>
              <a:t>io</a:t>
            </a:r>
            <a:r>
              <a:rPr dirty="0" sz="2400" b="1">
                <a:solidFill>
                  <a:srgbClr val="F0AD00"/>
                </a:solidFill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431245" y="4871646"/>
            <a:ext cx="1579245" cy="1037590"/>
          </a:xfrm>
          <a:custGeom>
            <a:avLst/>
            <a:gdLst/>
            <a:ahLst/>
            <a:cxnLst/>
            <a:rect l="l" t="t" r="r" b="b"/>
            <a:pathLst>
              <a:path w="1579245" h="1037589">
                <a:moveTo>
                  <a:pt x="0" y="0"/>
                </a:moveTo>
                <a:lnTo>
                  <a:pt x="1578818" y="0"/>
                </a:lnTo>
                <a:lnTo>
                  <a:pt x="1578818" y="1037325"/>
                </a:lnTo>
                <a:lnTo>
                  <a:pt x="0" y="10373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18108" y="3454061"/>
            <a:ext cx="6961505" cy="1225550"/>
          </a:xfrm>
          <a:prstGeom prst="rect">
            <a:avLst/>
          </a:prstGeom>
        </p:spPr>
        <p:txBody>
          <a:bodyPr wrap="square" lIns="0" tIns="23177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82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How </a:t>
            </a:r>
            <a:r>
              <a:rPr dirty="0" sz="2800" spc="-15" b="1">
                <a:latin typeface="Calibri"/>
                <a:cs typeface="Calibri"/>
              </a:rPr>
              <a:t>to </a:t>
            </a:r>
            <a:r>
              <a:rPr dirty="0" sz="2800" spc="-10" b="1">
                <a:latin typeface="Calibri"/>
                <a:cs typeface="Calibri"/>
              </a:rPr>
              <a:t>write </a:t>
            </a:r>
            <a:r>
              <a:rPr dirty="0" sz="2800" spc="-5" b="1">
                <a:latin typeface="Calibri"/>
                <a:cs typeface="Calibri"/>
              </a:rPr>
              <a:t>this </a:t>
            </a:r>
            <a:r>
              <a:rPr dirty="0" sz="2800" b="1">
                <a:latin typeface="Calibri"/>
                <a:cs typeface="Calibri"/>
              </a:rPr>
              <a:t>as </a:t>
            </a:r>
            <a:r>
              <a:rPr dirty="0" sz="2800" spc="-10" b="1">
                <a:latin typeface="Calibri"/>
                <a:cs typeface="Calibri"/>
              </a:rPr>
              <a:t>Message </a:t>
            </a:r>
            <a:r>
              <a:rPr dirty="0" sz="2800" b="1">
                <a:latin typeface="Calibri"/>
                <a:cs typeface="Calibri"/>
              </a:rPr>
              <a:t>+</a:t>
            </a:r>
            <a:r>
              <a:rPr dirty="0" sz="2800" spc="5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Aggregation?</a:t>
            </a:r>
            <a:endParaRPr sz="2800">
              <a:latin typeface="Calibri"/>
              <a:cs typeface="Calibri"/>
            </a:endParaRPr>
          </a:p>
          <a:p>
            <a:pPr marL="4270375">
              <a:lnSpc>
                <a:spcPct val="100000"/>
              </a:lnSpc>
              <a:spcBef>
                <a:spcPts val="1475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Message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69423" y="20827"/>
            <a:ext cx="60826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Corbel"/>
                <a:cs typeface="Corbel"/>
              </a:rPr>
              <a:t>T.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Kipf,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M.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Welling.</a:t>
            </a:r>
            <a:r>
              <a:rPr dirty="0" sz="1200" spc="-10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Semi-Supervised Classification with Graph Convolutional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ICLR</a:t>
            </a:r>
            <a:r>
              <a:rPr dirty="0" sz="1200" spc="-1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Corbel"/>
                <a:cs typeface="Corbel"/>
              </a:rPr>
              <a:t>2017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804921" y="4506290"/>
            <a:ext cx="930045" cy="14689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651397" y="4945574"/>
            <a:ext cx="1134110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0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1350" spc="-7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  <p:sp>
        <p:nvSpPr>
          <p:cNvPr id="39" name="object 39"/>
          <p:cNvSpPr txBox="1"/>
          <p:nvPr/>
        </p:nvSpPr>
        <p:spPr>
          <a:xfrm>
            <a:off x="7651397" y="5380175"/>
            <a:ext cx="895350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0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1350" spc="-9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1350" spc="0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2572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1812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/>
              <a:t>(1) </a:t>
            </a:r>
            <a:r>
              <a:rPr dirty="0" spc="-20"/>
              <a:t>Graph </a:t>
            </a:r>
            <a:r>
              <a:rPr dirty="0" spc="-10"/>
              <a:t>Convolutional Networks</a:t>
            </a:r>
            <a:r>
              <a:rPr dirty="0" spc="25"/>
              <a:t> </a:t>
            </a:r>
            <a:r>
              <a:rPr dirty="0" spc="-5"/>
              <a:t>(GCN)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3304539"/>
            <a:ext cx="17373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Message: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3066" y="3839971"/>
            <a:ext cx="297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(</a:t>
            </a:r>
            <a:r>
              <a:rPr dirty="0" sz="1800" spc="-935">
                <a:latin typeface="Cambria Math"/>
                <a:cs typeface="Cambria Math"/>
              </a:rPr>
              <a:t>%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44264" y="4155440"/>
            <a:ext cx="635000" cy="0"/>
          </a:xfrm>
          <a:custGeom>
            <a:avLst/>
            <a:gdLst/>
            <a:ahLst/>
            <a:cxnLst/>
            <a:rect l="l" t="t" r="r" b="b"/>
            <a:pathLst>
              <a:path w="635000" h="0">
                <a:moveTo>
                  <a:pt x="0" y="0"/>
                </a:moveTo>
                <a:lnTo>
                  <a:pt x="635000" y="0"/>
                </a:lnTo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382261" y="3824732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85">
                <a:solidFill>
                  <a:srgbClr val="60B5CC"/>
                </a:solidFill>
                <a:latin typeface="Cambria Math"/>
                <a:cs typeface="Cambria Math"/>
              </a:rPr>
              <a:t>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40054" y="4228754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7"/>
                </a:lnTo>
              </a:path>
            </a:pathLst>
          </a:custGeom>
          <a:ln w="17189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80429" y="4228754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7"/>
                </a:lnTo>
              </a:path>
            </a:pathLst>
          </a:custGeom>
          <a:ln w="17189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08258" y="4226747"/>
            <a:ext cx="278130" cy="212090"/>
          </a:xfrm>
          <a:custGeom>
            <a:avLst/>
            <a:gdLst/>
            <a:ahLst/>
            <a:cxnLst/>
            <a:rect l="l" t="t" r="r" b="b"/>
            <a:pathLst>
              <a:path w="278129" h="212089">
                <a:moveTo>
                  <a:pt x="210557" y="0"/>
                </a:moveTo>
                <a:lnTo>
                  <a:pt x="207542" y="8594"/>
                </a:lnTo>
                <a:lnTo>
                  <a:pt x="219799" y="13913"/>
                </a:lnTo>
                <a:lnTo>
                  <a:pt x="230341" y="21277"/>
                </a:lnTo>
                <a:lnTo>
                  <a:pt x="251744" y="55409"/>
                </a:lnTo>
                <a:lnTo>
                  <a:pt x="258776" y="104811"/>
                </a:lnTo>
                <a:lnTo>
                  <a:pt x="257991" y="123487"/>
                </a:lnTo>
                <a:lnTo>
                  <a:pt x="246219" y="169217"/>
                </a:lnTo>
                <a:lnTo>
                  <a:pt x="219942" y="197806"/>
                </a:lnTo>
                <a:lnTo>
                  <a:pt x="207877" y="203150"/>
                </a:lnTo>
                <a:lnTo>
                  <a:pt x="210557" y="211744"/>
                </a:lnTo>
                <a:lnTo>
                  <a:pt x="251011" y="187708"/>
                </a:lnTo>
                <a:lnTo>
                  <a:pt x="273733" y="143335"/>
                </a:lnTo>
                <a:lnTo>
                  <a:pt x="278086" y="105928"/>
                </a:lnTo>
                <a:lnTo>
                  <a:pt x="276995" y="86516"/>
                </a:lnTo>
                <a:lnTo>
                  <a:pt x="260617" y="37113"/>
                </a:lnTo>
                <a:lnTo>
                  <a:pt x="225908" y="5542"/>
                </a:lnTo>
                <a:lnTo>
                  <a:pt x="210557" y="0"/>
                </a:lnTo>
                <a:close/>
              </a:path>
              <a:path w="278129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7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819905" y="4080764"/>
            <a:ext cx="8026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4335" algn="l"/>
              </a:tabLst>
            </a:pPr>
            <a:r>
              <a:rPr dirty="0" baseline="27777" sz="3600">
                <a:latin typeface="Cambria Math"/>
                <a:cs typeface="Cambria Math"/>
              </a:rPr>
              <a:t>=	</a:t>
            </a:r>
            <a:r>
              <a:rPr dirty="0" sz="1800" spc="10">
                <a:solidFill>
                  <a:srgbClr val="60B5CC"/>
                </a:solidFill>
                <a:latin typeface="Cambria Math"/>
                <a:cs typeface="Cambria Math"/>
              </a:rPr>
              <a:t>+</a:t>
            </a:r>
            <a:r>
              <a:rPr dirty="0" sz="1800" spc="225">
                <a:solidFill>
                  <a:srgbClr val="60B5CC"/>
                </a:solidFill>
                <a:latin typeface="Cambria Math"/>
                <a:cs typeface="Cambria Math"/>
              </a:rPr>
              <a:t> </a:t>
            </a:r>
            <a:r>
              <a:rPr dirty="0" sz="1800" spc="265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54002" y="3961826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5" h="212089">
                <a:moveTo>
                  <a:pt x="164899" y="0"/>
                </a:moveTo>
                <a:lnTo>
                  <a:pt x="161885" y="8594"/>
                </a:lnTo>
                <a:lnTo>
                  <a:pt x="174143" y="13913"/>
                </a:lnTo>
                <a:lnTo>
                  <a:pt x="184684" y="21277"/>
                </a:lnTo>
                <a:lnTo>
                  <a:pt x="206087" y="55409"/>
                </a:lnTo>
                <a:lnTo>
                  <a:pt x="213119" y="104811"/>
                </a:lnTo>
                <a:lnTo>
                  <a:pt x="212335" y="123487"/>
                </a:lnTo>
                <a:lnTo>
                  <a:pt x="200563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899" y="211744"/>
                </a:lnTo>
                <a:lnTo>
                  <a:pt x="205355" y="187708"/>
                </a:lnTo>
                <a:lnTo>
                  <a:pt x="228077" y="143335"/>
                </a:lnTo>
                <a:lnTo>
                  <a:pt x="232430" y="105928"/>
                </a:lnTo>
                <a:lnTo>
                  <a:pt x="231338" y="86516"/>
                </a:lnTo>
                <a:lnTo>
                  <a:pt x="214961" y="37114"/>
                </a:lnTo>
                <a:lnTo>
                  <a:pt x="180251" y="5542"/>
                </a:lnTo>
                <a:lnTo>
                  <a:pt x="164899" y="0"/>
                </a:lnTo>
                <a:close/>
              </a:path>
              <a:path w="23304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7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213540" y="3891788"/>
            <a:ext cx="106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69"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12410" y="3925315"/>
            <a:ext cx="951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3885" algn="l"/>
              </a:tabLst>
            </a:pPr>
            <a:r>
              <a:rPr dirty="0" sz="2400">
                <a:latin typeface="Cambria Math"/>
                <a:cs typeface="Cambria Math"/>
              </a:rPr>
              <a:t>𝐖	</a:t>
            </a:r>
            <a:r>
              <a:rPr dirty="0" sz="2400" spc="-5">
                <a:latin typeface="Cambria Math"/>
                <a:cs typeface="Cambria Math"/>
              </a:rPr>
              <a:t>𝐡</a:t>
            </a:r>
            <a:r>
              <a:rPr dirty="0" baseline="-18518" sz="2700" spc="75">
                <a:latin typeface="Cambria Math"/>
                <a:cs typeface="Cambria Math"/>
              </a:rPr>
              <a:t>#</a:t>
            </a:r>
            <a:endParaRPr baseline="-18518" sz="27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22442" y="3920042"/>
            <a:ext cx="523240" cy="212090"/>
          </a:xfrm>
          <a:custGeom>
            <a:avLst/>
            <a:gdLst/>
            <a:ahLst/>
            <a:cxnLst/>
            <a:rect l="l" t="t" r="r" b="b"/>
            <a:pathLst>
              <a:path w="523239" h="212089">
                <a:moveTo>
                  <a:pt x="455413" y="0"/>
                </a:moveTo>
                <a:lnTo>
                  <a:pt x="452398" y="8594"/>
                </a:lnTo>
                <a:lnTo>
                  <a:pt x="464655" y="13913"/>
                </a:lnTo>
                <a:lnTo>
                  <a:pt x="475197" y="21277"/>
                </a:lnTo>
                <a:lnTo>
                  <a:pt x="496600" y="55409"/>
                </a:lnTo>
                <a:lnTo>
                  <a:pt x="503632" y="104811"/>
                </a:lnTo>
                <a:lnTo>
                  <a:pt x="502847" y="123487"/>
                </a:lnTo>
                <a:lnTo>
                  <a:pt x="491075" y="169217"/>
                </a:lnTo>
                <a:lnTo>
                  <a:pt x="464798" y="197806"/>
                </a:lnTo>
                <a:lnTo>
                  <a:pt x="452733" y="203150"/>
                </a:lnTo>
                <a:lnTo>
                  <a:pt x="455413" y="211744"/>
                </a:lnTo>
                <a:lnTo>
                  <a:pt x="495868" y="187708"/>
                </a:lnTo>
                <a:lnTo>
                  <a:pt x="518589" y="143335"/>
                </a:lnTo>
                <a:lnTo>
                  <a:pt x="522942" y="105928"/>
                </a:lnTo>
                <a:lnTo>
                  <a:pt x="521851" y="86516"/>
                </a:lnTo>
                <a:lnTo>
                  <a:pt x="505473" y="37113"/>
                </a:lnTo>
                <a:lnTo>
                  <a:pt x="470764" y="5542"/>
                </a:lnTo>
                <a:lnTo>
                  <a:pt x="455413" y="0"/>
                </a:lnTo>
                <a:close/>
              </a:path>
              <a:path w="523239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7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681979" y="3849115"/>
            <a:ext cx="405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35">
                <a:latin typeface="Cambria Math"/>
                <a:cs typeface="Cambria Math"/>
              </a:rPr>
              <a:t>%</a:t>
            </a:r>
            <a:r>
              <a:rPr dirty="0" sz="1800" spc="844">
                <a:latin typeface="Cambria Math"/>
                <a:cs typeface="Cambria Math"/>
              </a:rPr>
              <a:t>'</a:t>
            </a:r>
            <a:r>
              <a:rPr dirty="0" sz="1800" spc="285">
                <a:latin typeface="Cambria Math"/>
                <a:cs typeface="Cambria Math"/>
              </a:rPr>
              <a:t>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108" y="3835617"/>
            <a:ext cx="3009265" cy="101282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0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15">
                <a:latin typeface="Calibri"/>
                <a:cs typeface="Calibri"/>
              </a:rPr>
              <a:t>Each </a:t>
            </a:r>
            <a:r>
              <a:rPr dirty="0" sz="2400" spc="-5">
                <a:latin typeface="Calibri"/>
                <a:cs typeface="Calibri"/>
              </a:rPr>
              <a:t>Neighbor: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25">
                <a:latin typeface="Cambria Math"/>
                <a:cs typeface="Cambria Math"/>
              </a:rPr>
              <a:t>𝐦</a:t>
            </a:r>
            <a:r>
              <a:rPr dirty="0" baseline="-18518" sz="2700" spc="37">
                <a:latin typeface="Cambria Math"/>
                <a:cs typeface="Cambria Math"/>
              </a:rPr>
              <a:t>#</a:t>
            </a:r>
            <a:endParaRPr baseline="-18518" sz="27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819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Aggregation: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6563" y="4903723"/>
            <a:ext cx="7443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5" b="1">
                <a:latin typeface="Calibri"/>
                <a:cs typeface="Calibri"/>
              </a:rPr>
              <a:t>Sum </a:t>
            </a:r>
            <a:r>
              <a:rPr dirty="0" sz="2400" spc="-10">
                <a:latin typeface="Calibri"/>
                <a:cs typeface="Calibri"/>
              </a:rPr>
              <a:t>over </a:t>
            </a:r>
            <a:r>
              <a:rPr dirty="0" sz="2400" spc="-5">
                <a:latin typeface="Calibri"/>
                <a:cs typeface="Calibri"/>
              </a:rPr>
              <a:t>messages </a:t>
            </a:r>
            <a:r>
              <a:rPr dirty="0" sz="2400" spc="-15">
                <a:latin typeface="Calibri"/>
                <a:cs typeface="Calibri"/>
              </a:rPr>
              <a:t>from </a:t>
            </a:r>
            <a:r>
              <a:rPr dirty="0" sz="2400" spc="-10">
                <a:latin typeface="Calibri"/>
                <a:cs typeface="Calibri"/>
              </a:rPr>
              <a:t>neighbors, </a:t>
            </a:r>
            <a:r>
              <a:rPr dirty="0" sz="2400" spc="-5">
                <a:latin typeface="Calibri"/>
                <a:cs typeface="Calibri"/>
              </a:rPr>
              <a:t>then apply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activation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16621" y="5690108"/>
            <a:ext cx="15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49412" y="5532942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4" h="212089">
                <a:moveTo>
                  <a:pt x="164900" y="0"/>
                </a:moveTo>
                <a:lnTo>
                  <a:pt x="161886" y="8595"/>
                </a:lnTo>
                <a:lnTo>
                  <a:pt x="174143" y="13914"/>
                </a:lnTo>
                <a:lnTo>
                  <a:pt x="184684" y="21277"/>
                </a:lnTo>
                <a:lnTo>
                  <a:pt x="206088" y="55409"/>
                </a:lnTo>
                <a:lnTo>
                  <a:pt x="213121" y="104812"/>
                </a:lnTo>
                <a:lnTo>
                  <a:pt x="212336" y="123487"/>
                </a:lnTo>
                <a:lnTo>
                  <a:pt x="200563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900" y="211745"/>
                </a:lnTo>
                <a:lnTo>
                  <a:pt x="205356" y="187708"/>
                </a:lnTo>
                <a:lnTo>
                  <a:pt x="228078" y="143335"/>
                </a:lnTo>
                <a:lnTo>
                  <a:pt x="232431" y="105928"/>
                </a:lnTo>
                <a:lnTo>
                  <a:pt x="231339" y="86516"/>
                </a:lnTo>
                <a:lnTo>
                  <a:pt x="214962" y="37114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4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2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56563" y="5540755"/>
            <a:ext cx="6584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>
                <a:latin typeface="Cambria Math"/>
                <a:cs typeface="Cambria Math"/>
              </a:rPr>
              <a:t>𝐡</a:t>
            </a:r>
            <a:r>
              <a:rPr dirty="0" sz="2400" spc="85">
                <a:latin typeface="Cambria Math"/>
                <a:cs typeface="Cambria Math"/>
              </a:rPr>
              <a:t> </a:t>
            </a:r>
            <a:r>
              <a:rPr dirty="0" baseline="37037" sz="2700" spc="-1455">
                <a:latin typeface="Cambria Math"/>
                <a:cs typeface="Cambria Math"/>
              </a:rPr>
              <a:t>%</a:t>
            </a:r>
            <a:endParaRPr baseline="37037" sz="27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69662" y="5469159"/>
            <a:ext cx="3303904" cy="602615"/>
          </a:xfrm>
          <a:custGeom>
            <a:avLst/>
            <a:gdLst/>
            <a:ahLst/>
            <a:cxnLst/>
            <a:rect l="l" t="t" r="r" b="b"/>
            <a:pathLst>
              <a:path w="3303904" h="602614">
                <a:moveTo>
                  <a:pt x="3196764" y="0"/>
                </a:moveTo>
                <a:lnTo>
                  <a:pt x="3188132" y="9972"/>
                </a:lnTo>
                <a:lnTo>
                  <a:pt x="3206140" y="29803"/>
                </a:lnTo>
                <a:lnTo>
                  <a:pt x="3222511" y="54471"/>
                </a:lnTo>
                <a:lnTo>
                  <a:pt x="3250342" y="118318"/>
                </a:lnTo>
                <a:lnTo>
                  <a:pt x="3261086" y="157311"/>
                </a:lnTo>
                <a:lnTo>
                  <a:pt x="3268760" y="200769"/>
                </a:lnTo>
                <a:lnTo>
                  <a:pt x="3273364" y="248691"/>
                </a:lnTo>
                <a:lnTo>
                  <a:pt x="3274899" y="301079"/>
                </a:lnTo>
                <a:lnTo>
                  <a:pt x="3273364" y="353466"/>
                </a:lnTo>
                <a:lnTo>
                  <a:pt x="3268760" y="401389"/>
                </a:lnTo>
                <a:lnTo>
                  <a:pt x="3261086" y="444847"/>
                </a:lnTo>
                <a:lnTo>
                  <a:pt x="3250342" y="483840"/>
                </a:lnTo>
                <a:lnTo>
                  <a:pt x="3222511" y="547687"/>
                </a:lnTo>
                <a:lnTo>
                  <a:pt x="3188132" y="592187"/>
                </a:lnTo>
                <a:lnTo>
                  <a:pt x="3196764" y="602158"/>
                </a:lnTo>
                <a:lnTo>
                  <a:pt x="3237022" y="557826"/>
                </a:lnTo>
                <a:lnTo>
                  <a:pt x="3271773" y="492100"/>
                </a:lnTo>
                <a:lnTo>
                  <a:pt x="3285772" y="451493"/>
                </a:lnTo>
                <a:lnTo>
                  <a:pt x="3295772" y="406096"/>
                </a:lnTo>
                <a:lnTo>
                  <a:pt x="3301771" y="355908"/>
                </a:lnTo>
                <a:lnTo>
                  <a:pt x="3303771" y="300930"/>
                </a:lnTo>
                <a:lnTo>
                  <a:pt x="3301771" y="246082"/>
                </a:lnTo>
                <a:lnTo>
                  <a:pt x="3295772" y="195987"/>
                </a:lnTo>
                <a:lnTo>
                  <a:pt x="3285772" y="150646"/>
                </a:lnTo>
                <a:lnTo>
                  <a:pt x="3271773" y="110058"/>
                </a:lnTo>
                <a:lnTo>
                  <a:pt x="3255086" y="74520"/>
                </a:lnTo>
                <a:lnTo>
                  <a:pt x="3217582" y="19491"/>
                </a:lnTo>
                <a:lnTo>
                  <a:pt x="3196764" y="0"/>
                </a:lnTo>
                <a:close/>
              </a:path>
              <a:path w="3303904" h="602614">
                <a:moveTo>
                  <a:pt x="107002" y="0"/>
                </a:moveTo>
                <a:lnTo>
                  <a:pt x="66743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7"/>
                </a:lnTo>
                <a:lnTo>
                  <a:pt x="1994" y="246082"/>
                </a:lnTo>
                <a:lnTo>
                  <a:pt x="0" y="301079"/>
                </a:lnTo>
                <a:lnTo>
                  <a:pt x="1994" y="355908"/>
                </a:lnTo>
                <a:lnTo>
                  <a:pt x="7993" y="406096"/>
                </a:lnTo>
                <a:lnTo>
                  <a:pt x="17993" y="451493"/>
                </a:lnTo>
                <a:lnTo>
                  <a:pt x="31992" y="492100"/>
                </a:lnTo>
                <a:lnTo>
                  <a:pt x="48679" y="527637"/>
                </a:lnTo>
                <a:lnTo>
                  <a:pt x="86184" y="582666"/>
                </a:lnTo>
                <a:lnTo>
                  <a:pt x="107002" y="602158"/>
                </a:lnTo>
                <a:lnTo>
                  <a:pt x="115633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79" y="444847"/>
                </a:lnTo>
                <a:lnTo>
                  <a:pt x="35005" y="401389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1"/>
                </a:lnTo>
                <a:lnTo>
                  <a:pt x="35005" y="200769"/>
                </a:lnTo>
                <a:lnTo>
                  <a:pt x="42679" y="157311"/>
                </a:lnTo>
                <a:lnTo>
                  <a:pt x="53423" y="118318"/>
                </a:lnTo>
                <a:lnTo>
                  <a:pt x="81254" y="54471"/>
                </a:lnTo>
                <a:lnTo>
                  <a:pt x="115633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783969" y="5540755"/>
            <a:ext cx="1296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𝜎	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Sum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45059" y="5518846"/>
            <a:ext cx="2377440" cy="502920"/>
          </a:xfrm>
          <a:custGeom>
            <a:avLst/>
            <a:gdLst/>
            <a:ahLst/>
            <a:cxnLst/>
            <a:rect l="l" t="t" r="r" b="b"/>
            <a:pathLst>
              <a:path w="2377440" h="502920">
                <a:moveTo>
                  <a:pt x="2268231" y="0"/>
                </a:moveTo>
                <a:lnTo>
                  <a:pt x="2263468" y="11906"/>
                </a:lnTo>
                <a:lnTo>
                  <a:pt x="2282207" y="27138"/>
                </a:lnTo>
                <a:lnTo>
                  <a:pt x="2298834" y="46937"/>
                </a:lnTo>
                <a:lnTo>
                  <a:pt x="2325753" y="100236"/>
                </a:lnTo>
                <a:lnTo>
                  <a:pt x="2342775" y="169273"/>
                </a:lnTo>
                <a:lnTo>
                  <a:pt x="2347031" y="208745"/>
                </a:lnTo>
                <a:lnTo>
                  <a:pt x="2348449" y="251520"/>
                </a:lnTo>
                <a:lnTo>
                  <a:pt x="2347040" y="293619"/>
                </a:lnTo>
                <a:lnTo>
                  <a:pt x="2342812" y="332705"/>
                </a:lnTo>
                <a:lnTo>
                  <a:pt x="2325902" y="401836"/>
                </a:lnTo>
                <a:lnTo>
                  <a:pt x="2299020" y="455637"/>
                </a:lnTo>
                <a:lnTo>
                  <a:pt x="2263468" y="490835"/>
                </a:lnTo>
                <a:lnTo>
                  <a:pt x="2268231" y="502741"/>
                </a:lnTo>
                <a:lnTo>
                  <a:pt x="2312973" y="466948"/>
                </a:lnTo>
                <a:lnTo>
                  <a:pt x="2347481" y="409575"/>
                </a:lnTo>
                <a:lnTo>
                  <a:pt x="2369527" y="335905"/>
                </a:lnTo>
                <a:lnTo>
                  <a:pt x="2375038" y="294940"/>
                </a:lnTo>
                <a:lnTo>
                  <a:pt x="2376876" y="251222"/>
                </a:lnTo>
                <a:lnTo>
                  <a:pt x="2375038" y="207280"/>
                </a:lnTo>
                <a:lnTo>
                  <a:pt x="2369527" y="166241"/>
                </a:lnTo>
                <a:lnTo>
                  <a:pt x="2360341" y="128104"/>
                </a:lnTo>
                <a:lnTo>
                  <a:pt x="2331506" y="61727"/>
                </a:lnTo>
                <a:lnTo>
                  <a:pt x="2291881" y="15292"/>
                </a:lnTo>
                <a:lnTo>
                  <a:pt x="2268231" y="0"/>
                </a:lnTo>
                <a:close/>
              </a:path>
              <a:path w="2377440" h="502920">
                <a:moveTo>
                  <a:pt x="108494" y="0"/>
                </a:moveTo>
                <a:lnTo>
                  <a:pt x="63865" y="35868"/>
                </a:lnTo>
                <a:lnTo>
                  <a:pt x="29392" y="92869"/>
                </a:lnTo>
                <a:lnTo>
                  <a:pt x="7348" y="166241"/>
                </a:lnTo>
                <a:lnTo>
                  <a:pt x="1837" y="207280"/>
                </a:lnTo>
                <a:lnTo>
                  <a:pt x="0" y="251222"/>
                </a:lnTo>
                <a:lnTo>
                  <a:pt x="1837" y="294940"/>
                </a:lnTo>
                <a:lnTo>
                  <a:pt x="7348" y="335905"/>
                </a:lnTo>
                <a:lnTo>
                  <a:pt x="16533" y="374117"/>
                </a:lnTo>
                <a:lnTo>
                  <a:pt x="45359" y="440959"/>
                </a:lnTo>
                <a:lnTo>
                  <a:pt x="84910" y="487542"/>
                </a:lnTo>
                <a:lnTo>
                  <a:pt x="108494" y="502741"/>
                </a:lnTo>
                <a:lnTo>
                  <a:pt x="113407" y="490835"/>
                </a:lnTo>
                <a:lnTo>
                  <a:pt x="94487" y="475562"/>
                </a:lnTo>
                <a:lnTo>
                  <a:pt x="77762" y="455637"/>
                </a:lnTo>
                <a:lnTo>
                  <a:pt x="50899" y="401836"/>
                </a:lnTo>
                <a:lnTo>
                  <a:pt x="34044" y="332705"/>
                </a:lnTo>
                <a:lnTo>
                  <a:pt x="29830" y="293619"/>
                </a:lnTo>
                <a:lnTo>
                  <a:pt x="28426" y="251520"/>
                </a:lnTo>
                <a:lnTo>
                  <a:pt x="29844" y="208745"/>
                </a:lnTo>
                <a:lnTo>
                  <a:pt x="34100" y="169273"/>
                </a:lnTo>
                <a:lnTo>
                  <a:pt x="51122" y="100236"/>
                </a:lnTo>
                <a:lnTo>
                  <a:pt x="78041" y="46937"/>
                </a:lnTo>
                <a:lnTo>
                  <a:pt x="113407" y="11906"/>
                </a:lnTo>
                <a:lnTo>
                  <a:pt x="1084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82717" y="5520442"/>
            <a:ext cx="2101850" cy="499745"/>
          </a:xfrm>
          <a:custGeom>
            <a:avLst/>
            <a:gdLst/>
            <a:ahLst/>
            <a:cxnLst/>
            <a:rect l="l" t="t" r="r" b="b"/>
            <a:pathLst>
              <a:path w="2101850" h="499745">
                <a:moveTo>
                  <a:pt x="1996056" y="0"/>
                </a:moveTo>
                <a:lnTo>
                  <a:pt x="1996056" y="11906"/>
                </a:lnTo>
                <a:lnTo>
                  <a:pt x="2004391" y="12500"/>
                </a:lnTo>
                <a:lnTo>
                  <a:pt x="2011907" y="14560"/>
                </a:lnTo>
                <a:lnTo>
                  <a:pt x="2042100" y="46304"/>
                </a:lnTo>
                <a:lnTo>
                  <a:pt x="2050290" y="90547"/>
                </a:lnTo>
                <a:lnTo>
                  <a:pt x="2050528" y="101946"/>
                </a:lnTo>
                <a:lnTo>
                  <a:pt x="2050276" y="111020"/>
                </a:lnTo>
                <a:lnTo>
                  <a:pt x="2049523" y="121722"/>
                </a:lnTo>
                <a:lnTo>
                  <a:pt x="2048267" y="134051"/>
                </a:lnTo>
                <a:lnTo>
                  <a:pt x="2046509" y="148009"/>
                </a:lnTo>
                <a:lnTo>
                  <a:pt x="2044751" y="161640"/>
                </a:lnTo>
                <a:lnTo>
                  <a:pt x="2043495" y="172993"/>
                </a:lnTo>
                <a:lnTo>
                  <a:pt x="2042742" y="182067"/>
                </a:lnTo>
                <a:lnTo>
                  <a:pt x="2042491" y="188862"/>
                </a:lnTo>
                <a:lnTo>
                  <a:pt x="2043170" y="200950"/>
                </a:lnTo>
                <a:lnTo>
                  <a:pt x="2058676" y="236445"/>
                </a:lnTo>
                <a:lnTo>
                  <a:pt x="2073299" y="248096"/>
                </a:lnTo>
                <a:lnTo>
                  <a:pt x="2073299" y="251072"/>
                </a:lnTo>
                <a:lnTo>
                  <a:pt x="2045207" y="287088"/>
                </a:lnTo>
                <a:lnTo>
                  <a:pt x="2042491" y="310008"/>
                </a:lnTo>
                <a:lnTo>
                  <a:pt x="2042742" y="315398"/>
                </a:lnTo>
                <a:lnTo>
                  <a:pt x="2043495" y="324128"/>
                </a:lnTo>
                <a:lnTo>
                  <a:pt x="2044751" y="336197"/>
                </a:lnTo>
                <a:lnTo>
                  <a:pt x="2048267" y="367209"/>
                </a:lnTo>
                <a:lnTo>
                  <a:pt x="2049523" y="379864"/>
                </a:lnTo>
                <a:lnTo>
                  <a:pt x="2050276" y="389571"/>
                </a:lnTo>
                <a:lnTo>
                  <a:pt x="2050528" y="396328"/>
                </a:lnTo>
                <a:lnTo>
                  <a:pt x="2050313" y="407807"/>
                </a:lnTo>
                <a:lnTo>
                  <a:pt x="2042714" y="452511"/>
                </a:lnTo>
                <a:lnTo>
                  <a:pt x="2012477" y="484856"/>
                </a:lnTo>
                <a:lnTo>
                  <a:pt x="1996056" y="487560"/>
                </a:lnTo>
                <a:lnTo>
                  <a:pt x="1996056" y="499466"/>
                </a:lnTo>
                <a:lnTo>
                  <a:pt x="2046035" y="482695"/>
                </a:lnTo>
                <a:lnTo>
                  <a:pt x="2071959" y="436586"/>
                </a:lnTo>
                <a:lnTo>
                  <a:pt x="2076870" y="390673"/>
                </a:lnTo>
                <a:lnTo>
                  <a:pt x="2076586" y="381157"/>
                </a:lnTo>
                <a:lnTo>
                  <a:pt x="2075735" y="369725"/>
                </a:lnTo>
                <a:lnTo>
                  <a:pt x="2074317" y="356377"/>
                </a:lnTo>
                <a:lnTo>
                  <a:pt x="2072331" y="341113"/>
                </a:lnTo>
                <a:lnTo>
                  <a:pt x="2070345" y="326407"/>
                </a:lnTo>
                <a:lnTo>
                  <a:pt x="2068926" y="314733"/>
                </a:lnTo>
                <a:lnTo>
                  <a:pt x="2068076" y="306092"/>
                </a:lnTo>
                <a:lnTo>
                  <a:pt x="2067792" y="300483"/>
                </a:lnTo>
                <a:lnTo>
                  <a:pt x="2068327" y="290823"/>
                </a:lnTo>
                <a:lnTo>
                  <a:pt x="2093748" y="256918"/>
                </a:lnTo>
                <a:lnTo>
                  <a:pt x="2101575" y="255983"/>
                </a:lnTo>
                <a:lnTo>
                  <a:pt x="2101575" y="243184"/>
                </a:lnTo>
                <a:lnTo>
                  <a:pt x="2069949" y="217102"/>
                </a:lnTo>
                <a:lnTo>
                  <a:pt x="2067792" y="198536"/>
                </a:lnTo>
                <a:lnTo>
                  <a:pt x="2068076" y="192778"/>
                </a:lnTo>
                <a:lnTo>
                  <a:pt x="2068926" y="184434"/>
                </a:lnTo>
                <a:lnTo>
                  <a:pt x="2070420" y="172993"/>
                </a:lnTo>
                <a:lnTo>
                  <a:pt x="2072331" y="159989"/>
                </a:lnTo>
                <a:lnTo>
                  <a:pt x="2074317" y="145786"/>
                </a:lnTo>
                <a:lnTo>
                  <a:pt x="2075735" y="132791"/>
                </a:lnTo>
                <a:lnTo>
                  <a:pt x="2076586" y="121006"/>
                </a:lnTo>
                <a:lnTo>
                  <a:pt x="2076870" y="110430"/>
                </a:lnTo>
                <a:lnTo>
                  <a:pt x="2075572" y="84487"/>
                </a:lnTo>
                <a:lnTo>
                  <a:pt x="2065191" y="43485"/>
                </a:lnTo>
                <a:lnTo>
                  <a:pt x="2030714" y="8073"/>
                </a:lnTo>
                <a:lnTo>
                  <a:pt x="2014543" y="2501"/>
                </a:lnTo>
                <a:lnTo>
                  <a:pt x="1996056" y="0"/>
                </a:lnTo>
                <a:close/>
              </a:path>
              <a:path w="2101850" h="499745">
                <a:moveTo>
                  <a:pt x="105519" y="0"/>
                </a:moveTo>
                <a:lnTo>
                  <a:pt x="56908" y="16714"/>
                </a:lnTo>
                <a:lnTo>
                  <a:pt x="29877" y="62172"/>
                </a:lnTo>
                <a:lnTo>
                  <a:pt x="24705" y="110430"/>
                </a:lnTo>
                <a:lnTo>
                  <a:pt x="24989" y="121006"/>
                </a:lnTo>
                <a:lnTo>
                  <a:pt x="25840" y="132791"/>
                </a:lnTo>
                <a:lnTo>
                  <a:pt x="27258" y="145786"/>
                </a:lnTo>
                <a:lnTo>
                  <a:pt x="29244" y="159989"/>
                </a:lnTo>
                <a:lnTo>
                  <a:pt x="31230" y="173505"/>
                </a:lnTo>
                <a:lnTo>
                  <a:pt x="32649" y="184434"/>
                </a:lnTo>
                <a:lnTo>
                  <a:pt x="33500" y="192778"/>
                </a:lnTo>
                <a:lnTo>
                  <a:pt x="33784" y="198536"/>
                </a:lnTo>
                <a:lnTo>
                  <a:pt x="33244" y="208386"/>
                </a:lnTo>
                <a:lnTo>
                  <a:pt x="7766" y="242319"/>
                </a:lnTo>
                <a:lnTo>
                  <a:pt x="0" y="243184"/>
                </a:lnTo>
                <a:lnTo>
                  <a:pt x="0" y="255983"/>
                </a:lnTo>
                <a:lnTo>
                  <a:pt x="31644" y="282233"/>
                </a:lnTo>
                <a:lnTo>
                  <a:pt x="33784" y="300483"/>
                </a:lnTo>
                <a:lnTo>
                  <a:pt x="33500" y="306092"/>
                </a:lnTo>
                <a:lnTo>
                  <a:pt x="32649" y="314733"/>
                </a:lnTo>
                <a:lnTo>
                  <a:pt x="31230" y="326407"/>
                </a:lnTo>
                <a:lnTo>
                  <a:pt x="29244" y="341113"/>
                </a:lnTo>
                <a:lnTo>
                  <a:pt x="27258" y="356377"/>
                </a:lnTo>
                <a:lnTo>
                  <a:pt x="25840" y="369725"/>
                </a:lnTo>
                <a:lnTo>
                  <a:pt x="24989" y="381157"/>
                </a:lnTo>
                <a:lnTo>
                  <a:pt x="24705" y="390673"/>
                </a:lnTo>
                <a:lnTo>
                  <a:pt x="25928" y="415137"/>
                </a:lnTo>
                <a:lnTo>
                  <a:pt x="35714" y="455022"/>
                </a:lnTo>
                <a:lnTo>
                  <a:pt x="69372" y="491616"/>
                </a:lnTo>
                <a:lnTo>
                  <a:pt x="105519" y="499466"/>
                </a:lnTo>
                <a:lnTo>
                  <a:pt x="105519" y="487560"/>
                </a:lnTo>
                <a:lnTo>
                  <a:pt x="96787" y="486965"/>
                </a:lnTo>
                <a:lnTo>
                  <a:pt x="89098" y="484856"/>
                </a:lnTo>
                <a:lnTo>
                  <a:pt x="58824" y="452511"/>
                </a:lnTo>
                <a:lnTo>
                  <a:pt x="51261" y="407807"/>
                </a:lnTo>
                <a:lnTo>
                  <a:pt x="51047" y="396328"/>
                </a:lnTo>
                <a:lnTo>
                  <a:pt x="51298" y="389571"/>
                </a:lnTo>
                <a:lnTo>
                  <a:pt x="52052" y="379864"/>
                </a:lnTo>
                <a:lnTo>
                  <a:pt x="53308" y="367209"/>
                </a:lnTo>
                <a:lnTo>
                  <a:pt x="56824" y="336197"/>
                </a:lnTo>
                <a:lnTo>
                  <a:pt x="58079" y="324128"/>
                </a:lnTo>
                <a:lnTo>
                  <a:pt x="58833" y="315398"/>
                </a:lnTo>
                <a:lnTo>
                  <a:pt x="59084" y="310008"/>
                </a:lnTo>
                <a:lnTo>
                  <a:pt x="58400" y="297879"/>
                </a:lnTo>
                <a:lnTo>
                  <a:pt x="42801" y="262792"/>
                </a:lnTo>
                <a:lnTo>
                  <a:pt x="28277" y="251072"/>
                </a:lnTo>
                <a:lnTo>
                  <a:pt x="28277" y="248096"/>
                </a:lnTo>
                <a:lnTo>
                  <a:pt x="56349" y="211763"/>
                </a:lnTo>
                <a:lnTo>
                  <a:pt x="59084" y="188862"/>
                </a:lnTo>
                <a:lnTo>
                  <a:pt x="58833" y="182067"/>
                </a:lnTo>
                <a:lnTo>
                  <a:pt x="58079" y="172993"/>
                </a:lnTo>
                <a:lnTo>
                  <a:pt x="56824" y="161640"/>
                </a:lnTo>
                <a:lnTo>
                  <a:pt x="55065" y="148009"/>
                </a:lnTo>
                <a:lnTo>
                  <a:pt x="53308" y="134051"/>
                </a:lnTo>
                <a:lnTo>
                  <a:pt x="52052" y="121722"/>
                </a:lnTo>
                <a:lnTo>
                  <a:pt x="51298" y="111020"/>
                </a:lnTo>
                <a:lnTo>
                  <a:pt x="51047" y="101946"/>
                </a:lnTo>
                <a:lnTo>
                  <a:pt x="51284" y="90547"/>
                </a:lnTo>
                <a:lnTo>
                  <a:pt x="59456" y="46304"/>
                </a:lnTo>
                <a:lnTo>
                  <a:pt x="89644" y="14560"/>
                </a:lnTo>
                <a:lnTo>
                  <a:pt x="105519" y="11906"/>
                </a:lnTo>
                <a:lnTo>
                  <a:pt x="105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660965" y="5690108"/>
            <a:ext cx="173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693756" y="5532942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5" h="212089">
                <a:moveTo>
                  <a:pt x="164900" y="0"/>
                </a:moveTo>
                <a:lnTo>
                  <a:pt x="161886" y="8595"/>
                </a:lnTo>
                <a:lnTo>
                  <a:pt x="174143" y="13914"/>
                </a:lnTo>
                <a:lnTo>
                  <a:pt x="184684" y="21277"/>
                </a:lnTo>
                <a:lnTo>
                  <a:pt x="206088" y="55409"/>
                </a:lnTo>
                <a:lnTo>
                  <a:pt x="213119" y="104812"/>
                </a:lnTo>
                <a:lnTo>
                  <a:pt x="212335" y="123487"/>
                </a:lnTo>
                <a:lnTo>
                  <a:pt x="200563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900" y="211745"/>
                </a:lnTo>
                <a:lnTo>
                  <a:pt x="205356" y="187708"/>
                </a:lnTo>
                <a:lnTo>
                  <a:pt x="228078" y="143335"/>
                </a:lnTo>
                <a:lnTo>
                  <a:pt x="232431" y="105928"/>
                </a:lnTo>
                <a:lnTo>
                  <a:pt x="231339" y="86516"/>
                </a:lnTo>
                <a:lnTo>
                  <a:pt x="214962" y="37114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2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869298" y="5629038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30" y="0"/>
                </a:moveTo>
                <a:lnTo>
                  <a:pt x="279412" y="11459"/>
                </a:lnTo>
                <a:lnTo>
                  <a:pt x="295755" y="18552"/>
                </a:lnTo>
                <a:lnTo>
                  <a:pt x="309810" y="28370"/>
                </a:lnTo>
                <a:lnTo>
                  <a:pt x="338348" y="73879"/>
                </a:lnTo>
                <a:lnTo>
                  <a:pt x="346682" y="115662"/>
                </a:lnTo>
                <a:lnTo>
                  <a:pt x="347724" y="139749"/>
                </a:lnTo>
                <a:lnTo>
                  <a:pt x="346678" y="164650"/>
                </a:lnTo>
                <a:lnTo>
                  <a:pt x="338306" y="207587"/>
                </a:lnTo>
                <a:lnTo>
                  <a:pt x="309828" y="253826"/>
                </a:lnTo>
                <a:lnTo>
                  <a:pt x="279858" y="270867"/>
                </a:lnTo>
                <a:lnTo>
                  <a:pt x="283430" y="282326"/>
                </a:lnTo>
                <a:lnTo>
                  <a:pt x="321940" y="264262"/>
                </a:lnTo>
                <a:lnTo>
                  <a:pt x="350254" y="232990"/>
                </a:lnTo>
                <a:lnTo>
                  <a:pt x="367667" y="191113"/>
                </a:lnTo>
                <a:lnTo>
                  <a:pt x="373471" y="141237"/>
                </a:lnTo>
                <a:lnTo>
                  <a:pt x="372015" y="115355"/>
                </a:lnTo>
                <a:lnTo>
                  <a:pt x="360369" y="69479"/>
                </a:lnTo>
                <a:lnTo>
                  <a:pt x="337273" y="32133"/>
                </a:lnTo>
                <a:lnTo>
                  <a:pt x="303899" y="7390"/>
                </a:lnTo>
                <a:lnTo>
                  <a:pt x="283430" y="0"/>
                </a:lnTo>
                <a:close/>
              </a:path>
              <a:path w="374014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2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6"/>
                </a:lnTo>
                <a:lnTo>
                  <a:pt x="93612" y="270867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9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384740" y="5540755"/>
            <a:ext cx="17627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83690" algn="l"/>
              </a:tabLst>
            </a:pPr>
            <a:r>
              <a:rPr dirty="0" sz="2400">
                <a:latin typeface="Cambria Math"/>
                <a:cs typeface="Cambria Math"/>
              </a:rPr>
              <a:t>𝐦</a:t>
            </a:r>
            <a:r>
              <a:rPr dirty="0" sz="2400" spc="200">
                <a:latin typeface="Cambria Math"/>
                <a:cs typeface="Cambria Math"/>
              </a:rPr>
              <a:t> </a:t>
            </a:r>
            <a:r>
              <a:rPr dirty="0" baseline="37037" sz="2700" spc="-1455">
                <a:latin typeface="Cambria Math"/>
                <a:cs typeface="Cambria Math"/>
              </a:rPr>
              <a:t>%</a:t>
            </a:r>
            <a:r>
              <a:rPr dirty="0" baseline="37037" sz="2700">
                <a:latin typeface="Cambria Math"/>
                <a:cs typeface="Cambria Math"/>
              </a:rPr>
              <a:t> </a:t>
            </a:r>
            <a:r>
              <a:rPr dirty="0" baseline="37037" sz="2700" spc="-21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𝑢</a:t>
            </a:r>
            <a:r>
              <a:rPr dirty="0" sz="2400" spc="19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𝑁	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38241" y="3742435"/>
            <a:ext cx="2656840" cy="734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60B5CC"/>
                </a:solidFill>
                <a:latin typeface="Calibri"/>
                <a:cs typeface="Calibri"/>
              </a:rPr>
              <a:t>Normalized by </a:t>
            </a:r>
            <a:r>
              <a:rPr dirty="0" sz="1800" spc="-5" b="1">
                <a:solidFill>
                  <a:srgbClr val="60B5CC"/>
                </a:solidFill>
                <a:latin typeface="Calibri"/>
                <a:cs typeface="Calibri"/>
              </a:rPr>
              <a:t>node</a:t>
            </a:r>
            <a:r>
              <a:rPr dirty="0" sz="1800" spc="-7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0B5CC"/>
                </a:solidFill>
                <a:latin typeface="Calibri"/>
                <a:cs typeface="Calibri"/>
              </a:rPr>
              <a:t>degree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1400"/>
              </a:lnSpc>
              <a:spcBef>
                <a:spcPts val="15"/>
              </a:spcBef>
            </a:pPr>
            <a:r>
              <a:rPr dirty="0" sz="1400" spc="-5">
                <a:latin typeface="Calibri"/>
                <a:cs typeface="Calibri"/>
              </a:rPr>
              <a:t>(In </a:t>
            </a:r>
            <a:r>
              <a:rPr dirty="0" sz="1400">
                <a:latin typeface="Calibri"/>
                <a:cs typeface="Calibri"/>
              </a:rPr>
              <a:t>the GCN paper </a:t>
            </a:r>
            <a:r>
              <a:rPr dirty="0" sz="1400" spc="-5">
                <a:latin typeface="Calibri"/>
                <a:cs typeface="Calibri"/>
              </a:rPr>
              <a:t>they </a:t>
            </a:r>
            <a:r>
              <a:rPr dirty="0" sz="1400">
                <a:latin typeface="Calibri"/>
                <a:cs typeface="Calibri"/>
              </a:rPr>
              <a:t>use a </a:t>
            </a:r>
            <a:r>
              <a:rPr dirty="0" sz="1400" spc="-5">
                <a:latin typeface="Calibri"/>
                <a:cs typeface="Calibri"/>
              </a:rPr>
              <a:t>slightly  </a:t>
            </a:r>
            <a:r>
              <a:rPr dirty="0" sz="1400" spc="-10">
                <a:latin typeface="Calibri"/>
                <a:cs typeface="Calibri"/>
              </a:rPr>
              <a:t>different</a:t>
            </a:r>
            <a:r>
              <a:rPr dirty="0" sz="1400" spc="-90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normalization)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40994" y="2279395"/>
            <a:ext cx="297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(</a:t>
            </a:r>
            <a:r>
              <a:rPr dirty="0" sz="1800" spc="-935">
                <a:latin typeface="Cambria Math"/>
                <a:cs typeface="Cambria Math"/>
              </a:rPr>
              <a:t>%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191587" y="2030063"/>
            <a:ext cx="2755900" cy="1133475"/>
          </a:xfrm>
          <a:custGeom>
            <a:avLst/>
            <a:gdLst/>
            <a:ahLst/>
            <a:cxnLst/>
            <a:rect l="l" t="t" r="r" b="b"/>
            <a:pathLst>
              <a:path w="2755900" h="1133475">
                <a:moveTo>
                  <a:pt x="2590783" y="0"/>
                </a:moveTo>
                <a:lnTo>
                  <a:pt x="2580664" y="10269"/>
                </a:lnTo>
                <a:lnTo>
                  <a:pt x="2607196" y="48473"/>
                </a:lnTo>
                <a:lnTo>
                  <a:pt x="2631074" y="91410"/>
                </a:lnTo>
                <a:lnTo>
                  <a:pt x="2652297" y="139080"/>
                </a:lnTo>
                <a:lnTo>
                  <a:pt x="2670865" y="191482"/>
                </a:lnTo>
                <a:lnTo>
                  <a:pt x="2686777" y="248617"/>
                </a:lnTo>
                <a:lnTo>
                  <a:pt x="2697919" y="298741"/>
                </a:lnTo>
                <a:lnTo>
                  <a:pt x="2707035" y="349944"/>
                </a:lnTo>
                <a:lnTo>
                  <a:pt x="2714125" y="402226"/>
                </a:lnTo>
                <a:lnTo>
                  <a:pt x="2719189" y="455587"/>
                </a:lnTo>
                <a:lnTo>
                  <a:pt x="2722227" y="510028"/>
                </a:lnTo>
                <a:lnTo>
                  <a:pt x="2723237" y="565696"/>
                </a:lnTo>
                <a:lnTo>
                  <a:pt x="2722227" y="619834"/>
                </a:lnTo>
                <a:lnTo>
                  <a:pt x="2719189" y="673455"/>
                </a:lnTo>
                <a:lnTo>
                  <a:pt x="2714125" y="726411"/>
                </a:lnTo>
                <a:lnTo>
                  <a:pt x="2707035" y="778701"/>
                </a:lnTo>
                <a:lnTo>
                  <a:pt x="2697919" y="830326"/>
                </a:lnTo>
                <a:lnTo>
                  <a:pt x="2686777" y="881286"/>
                </a:lnTo>
                <a:lnTo>
                  <a:pt x="2670865" y="939551"/>
                </a:lnTo>
                <a:lnTo>
                  <a:pt x="2652297" y="992847"/>
                </a:lnTo>
                <a:lnTo>
                  <a:pt x="2631074" y="1041171"/>
                </a:lnTo>
                <a:lnTo>
                  <a:pt x="2607196" y="1084525"/>
                </a:lnTo>
                <a:lnTo>
                  <a:pt x="2580664" y="1122908"/>
                </a:lnTo>
                <a:lnTo>
                  <a:pt x="2590783" y="1132879"/>
                </a:lnTo>
                <a:lnTo>
                  <a:pt x="2619784" y="1095282"/>
                </a:lnTo>
                <a:lnTo>
                  <a:pt x="2646302" y="1052381"/>
                </a:lnTo>
                <a:lnTo>
                  <a:pt x="2670338" y="1004176"/>
                </a:lnTo>
                <a:lnTo>
                  <a:pt x="2691891" y="950666"/>
                </a:lnTo>
                <a:lnTo>
                  <a:pt x="2710962" y="891852"/>
                </a:lnTo>
                <a:lnTo>
                  <a:pt x="2722788" y="847563"/>
                </a:lnTo>
                <a:lnTo>
                  <a:pt x="2732794" y="802507"/>
                </a:lnTo>
                <a:lnTo>
                  <a:pt x="2740982" y="756681"/>
                </a:lnTo>
                <a:lnTo>
                  <a:pt x="2747349" y="710088"/>
                </a:lnTo>
                <a:lnTo>
                  <a:pt x="2751898" y="662725"/>
                </a:lnTo>
                <a:lnTo>
                  <a:pt x="2754627" y="614595"/>
                </a:lnTo>
                <a:lnTo>
                  <a:pt x="2755534" y="565547"/>
                </a:lnTo>
                <a:lnTo>
                  <a:pt x="2754627" y="515828"/>
                </a:lnTo>
                <a:lnTo>
                  <a:pt x="2751898" y="467001"/>
                </a:lnTo>
                <a:lnTo>
                  <a:pt x="2747349" y="419217"/>
                </a:lnTo>
                <a:lnTo>
                  <a:pt x="2740982" y="372474"/>
                </a:lnTo>
                <a:lnTo>
                  <a:pt x="2732794" y="326773"/>
                </a:lnTo>
                <a:lnTo>
                  <a:pt x="2722788" y="282114"/>
                </a:lnTo>
                <a:lnTo>
                  <a:pt x="2710962" y="238497"/>
                </a:lnTo>
                <a:lnTo>
                  <a:pt x="2691891" y="180689"/>
                </a:lnTo>
                <a:lnTo>
                  <a:pt x="2670338" y="127935"/>
                </a:lnTo>
                <a:lnTo>
                  <a:pt x="2646302" y="80236"/>
                </a:lnTo>
                <a:lnTo>
                  <a:pt x="2619784" y="37591"/>
                </a:lnTo>
                <a:lnTo>
                  <a:pt x="2590783" y="0"/>
                </a:lnTo>
                <a:close/>
              </a:path>
              <a:path w="2755900" h="1133475">
                <a:moveTo>
                  <a:pt x="164752" y="0"/>
                </a:moveTo>
                <a:lnTo>
                  <a:pt x="135701" y="37591"/>
                </a:lnTo>
                <a:lnTo>
                  <a:pt x="109150" y="80236"/>
                </a:lnTo>
                <a:lnTo>
                  <a:pt x="85099" y="127935"/>
                </a:lnTo>
                <a:lnTo>
                  <a:pt x="63549" y="180689"/>
                </a:lnTo>
                <a:lnTo>
                  <a:pt x="44499" y="238497"/>
                </a:lnTo>
                <a:lnTo>
                  <a:pt x="32693" y="282114"/>
                </a:lnTo>
                <a:lnTo>
                  <a:pt x="22704" y="326773"/>
                </a:lnTo>
                <a:lnTo>
                  <a:pt x="14530" y="372474"/>
                </a:lnTo>
                <a:lnTo>
                  <a:pt x="8173" y="419217"/>
                </a:lnTo>
                <a:lnTo>
                  <a:pt x="3632" y="467001"/>
                </a:lnTo>
                <a:lnTo>
                  <a:pt x="908" y="515828"/>
                </a:lnTo>
                <a:lnTo>
                  <a:pt x="0" y="565696"/>
                </a:lnTo>
                <a:lnTo>
                  <a:pt x="908" y="614595"/>
                </a:lnTo>
                <a:lnTo>
                  <a:pt x="3632" y="662725"/>
                </a:lnTo>
                <a:lnTo>
                  <a:pt x="8173" y="710088"/>
                </a:lnTo>
                <a:lnTo>
                  <a:pt x="14530" y="756681"/>
                </a:lnTo>
                <a:lnTo>
                  <a:pt x="22704" y="802507"/>
                </a:lnTo>
                <a:lnTo>
                  <a:pt x="32693" y="847563"/>
                </a:lnTo>
                <a:lnTo>
                  <a:pt x="44499" y="891852"/>
                </a:lnTo>
                <a:lnTo>
                  <a:pt x="63549" y="950666"/>
                </a:lnTo>
                <a:lnTo>
                  <a:pt x="85099" y="1004176"/>
                </a:lnTo>
                <a:lnTo>
                  <a:pt x="109150" y="1052381"/>
                </a:lnTo>
                <a:lnTo>
                  <a:pt x="135701" y="1095282"/>
                </a:lnTo>
                <a:lnTo>
                  <a:pt x="164752" y="1132879"/>
                </a:lnTo>
                <a:lnTo>
                  <a:pt x="174724" y="1122908"/>
                </a:lnTo>
                <a:lnTo>
                  <a:pt x="148194" y="1084525"/>
                </a:lnTo>
                <a:lnTo>
                  <a:pt x="124325" y="1041171"/>
                </a:lnTo>
                <a:lnTo>
                  <a:pt x="103116" y="992847"/>
                </a:lnTo>
                <a:lnTo>
                  <a:pt x="84569" y="939551"/>
                </a:lnTo>
                <a:lnTo>
                  <a:pt x="68684" y="881286"/>
                </a:lnTo>
                <a:lnTo>
                  <a:pt x="57565" y="830326"/>
                </a:lnTo>
                <a:lnTo>
                  <a:pt x="48468" y="778701"/>
                </a:lnTo>
                <a:lnTo>
                  <a:pt x="41392" y="726411"/>
                </a:lnTo>
                <a:lnTo>
                  <a:pt x="36339" y="673455"/>
                </a:lnTo>
                <a:lnTo>
                  <a:pt x="33306" y="619834"/>
                </a:lnTo>
                <a:lnTo>
                  <a:pt x="32296" y="565547"/>
                </a:lnTo>
                <a:lnTo>
                  <a:pt x="33308" y="510028"/>
                </a:lnTo>
                <a:lnTo>
                  <a:pt x="36347" y="455587"/>
                </a:lnTo>
                <a:lnTo>
                  <a:pt x="41411" y="402226"/>
                </a:lnTo>
                <a:lnTo>
                  <a:pt x="48501" y="349944"/>
                </a:lnTo>
                <a:lnTo>
                  <a:pt x="57617" y="298741"/>
                </a:lnTo>
                <a:lnTo>
                  <a:pt x="68759" y="248617"/>
                </a:lnTo>
                <a:lnTo>
                  <a:pt x="84665" y="191482"/>
                </a:lnTo>
                <a:lnTo>
                  <a:pt x="103215" y="139080"/>
                </a:lnTo>
                <a:lnTo>
                  <a:pt x="124408" y="91410"/>
                </a:lnTo>
                <a:lnTo>
                  <a:pt x="148244" y="48473"/>
                </a:lnTo>
                <a:lnTo>
                  <a:pt x="174724" y="10269"/>
                </a:lnTo>
                <a:lnTo>
                  <a:pt x="1647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55952" y="2902916"/>
            <a:ext cx="278130" cy="212090"/>
          </a:xfrm>
          <a:custGeom>
            <a:avLst/>
            <a:gdLst/>
            <a:ahLst/>
            <a:cxnLst/>
            <a:rect l="l" t="t" r="r" b="b"/>
            <a:pathLst>
              <a:path w="278129" h="212089">
                <a:moveTo>
                  <a:pt x="210555" y="0"/>
                </a:moveTo>
                <a:lnTo>
                  <a:pt x="207542" y="8594"/>
                </a:lnTo>
                <a:lnTo>
                  <a:pt x="219799" y="13913"/>
                </a:lnTo>
                <a:lnTo>
                  <a:pt x="230341" y="21277"/>
                </a:lnTo>
                <a:lnTo>
                  <a:pt x="251744" y="55408"/>
                </a:lnTo>
                <a:lnTo>
                  <a:pt x="258776" y="104811"/>
                </a:lnTo>
                <a:lnTo>
                  <a:pt x="257991" y="123487"/>
                </a:lnTo>
                <a:lnTo>
                  <a:pt x="246218" y="169217"/>
                </a:lnTo>
                <a:lnTo>
                  <a:pt x="219942" y="197805"/>
                </a:lnTo>
                <a:lnTo>
                  <a:pt x="207877" y="203149"/>
                </a:lnTo>
                <a:lnTo>
                  <a:pt x="210555" y="211744"/>
                </a:lnTo>
                <a:lnTo>
                  <a:pt x="251011" y="187707"/>
                </a:lnTo>
                <a:lnTo>
                  <a:pt x="273733" y="143334"/>
                </a:lnTo>
                <a:lnTo>
                  <a:pt x="278086" y="105928"/>
                </a:lnTo>
                <a:lnTo>
                  <a:pt x="276995" y="86516"/>
                </a:lnTo>
                <a:lnTo>
                  <a:pt x="260617" y="37113"/>
                </a:lnTo>
                <a:lnTo>
                  <a:pt x="225907" y="5542"/>
                </a:lnTo>
                <a:lnTo>
                  <a:pt x="210555" y="0"/>
                </a:lnTo>
                <a:close/>
              </a:path>
              <a:path w="278129" h="212089">
                <a:moveTo>
                  <a:pt x="67530" y="0"/>
                </a:moveTo>
                <a:lnTo>
                  <a:pt x="27148" y="24098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1"/>
                </a:lnTo>
                <a:lnTo>
                  <a:pt x="52134" y="206208"/>
                </a:lnTo>
                <a:lnTo>
                  <a:pt x="67530" y="211744"/>
                </a:lnTo>
                <a:lnTo>
                  <a:pt x="70209" y="203149"/>
                </a:lnTo>
                <a:lnTo>
                  <a:pt x="58143" y="197805"/>
                </a:lnTo>
                <a:lnTo>
                  <a:pt x="47731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6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055257" y="2230628"/>
            <a:ext cx="2015489" cy="90043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565150" algn="l"/>
                <a:tab pos="1506220" algn="l"/>
              </a:tabLst>
            </a:pPr>
            <a:r>
              <a:rPr dirty="0" sz="2400" spc="125">
                <a:latin typeface="Cambria Math"/>
                <a:cs typeface="Cambria Math"/>
              </a:rPr>
              <a:t>𝐡</a:t>
            </a:r>
            <a:r>
              <a:rPr dirty="0" baseline="-18518" sz="2700" spc="187">
                <a:latin typeface="Cambria Math"/>
                <a:cs typeface="Cambria Math"/>
              </a:rPr>
              <a:t>)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𝜎	</a:t>
            </a:r>
            <a:r>
              <a:rPr dirty="0" sz="2400" spc="1710">
                <a:latin typeface="Cambria Math"/>
                <a:cs typeface="Cambria Math"/>
              </a:rPr>
              <a:t>G</a:t>
            </a:r>
            <a:endParaRPr sz="2400">
              <a:latin typeface="Cambria Math"/>
              <a:cs typeface="Cambria Math"/>
            </a:endParaRPr>
          </a:p>
          <a:p>
            <a:pPr marL="1320165">
              <a:lnSpc>
                <a:spcPct val="100000"/>
              </a:lnSpc>
              <a:spcBef>
                <a:spcPts val="790"/>
              </a:spcBef>
            </a:pPr>
            <a:r>
              <a:rPr dirty="0" sz="1800" spc="5">
                <a:latin typeface="Cambria Math"/>
                <a:cs typeface="Cambria Math"/>
              </a:rPr>
              <a:t>#∈+</a:t>
            </a:r>
            <a:r>
              <a:rPr dirty="0" sz="1800" spc="225">
                <a:latin typeface="Cambria Math"/>
                <a:cs typeface="Cambria Math"/>
              </a:rPr>
              <a:t> </a:t>
            </a:r>
            <a:r>
              <a:rPr dirty="0" sz="1800" spc="26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531274" y="2401012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5" h="212089">
                <a:moveTo>
                  <a:pt x="164899" y="0"/>
                </a:moveTo>
                <a:lnTo>
                  <a:pt x="161885" y="8594"/>
                </a:lnTo>
                <a:lnTo>
                  <a:pt x="174143" y="13913"/>
                </a:lnTo>
                <a:lnTo>
                  <a:pt x="184684" y="21277"/>
                </a:lnTo>
                <a:lnTo>
                  <a:pt x="206087" y="55408"/>
                </a:lnTo>
                <a:lnTo>
                  <a:pt x="213119" y="104811"/>
                </a:lnTo>
                <a:lnTo>
                  <a:pt x="212335" y="123487"/>
                </a:lnTo>
                <a:lnTo>
                  <a:pt x="200562" y="169217"/>
                </a:lnTo>
                <a:lnTo>
                  <a:pt x="174286" y="197805"/>
                </a:lnTo>
                <a:lnTo>
                  <a:pt x="162220" y="203149"/>
                </a:lnTo>
                <a:lnTo>
                  <a:pt x="164899" y="211744"/>
                </a:lnTo>
                <a:lnTo>
                  <a:pt x="205354" y="187707"/>
                </a:lnTo>
                <a:lnTo>
                  <a:pt x="228077" y="143334"/>
                </a:lnTo>
                <a:lnTo>
                  <a:pt x="232430" y="105928"/>
                </a:lnTo>
                <a:lnTo>
                  <a:pt x="231338" y="86516"/>
                </a:lnTo>
                <a:lnTo>
                  <a:pt x="214961" y="37113"/>
                </a:lnTo>
                <a:lnTo>
                  <a:pt x="180251" y="5542"/>
                </a:lnTo>
                <a:lnTo>
                  <a:pt x="164899" y="0"/>
                </a:lnTo>
                <a:close/>
              </a:path>
              <a:path w="233045" h="212089">
                <a:moveTo>
                  <a:pt x="67529" y="0"/>
                </a:moveTo>
                <a:lnTo>
                  <a:pt x="27147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1"/>
                </a:lnTo>
                <a:lnTo>
                  <a:pt x="52133" y="206208"/>
                </a:lnTo>
                <a:lnTo>
                  <a:pt x="67529" y="211744"/>
                </a:lnTo>
                <a:lnTo>
                  <a:pt x="70209" y="203149"/>
                </a:lnTo>
                <a:lnTo>
                  <a:pt x="58143" y="197805"/>
                </a:lnTo>
                <a:lnTo>
                  <a:pt x="47731" y="190369"/>
                </a:lnTo>
                <a:lnTo>
                  <a:pt x="26373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6" y="42136"/>
                </a:lnTo>
                <a:lnTo>
                  <a:pt x="58332" y="13913"/>
                </a:lnTo>
                <a:lnTo>
                  <a:pt x="70544" y="8594"/>
                </a:lnTo>
                <a:lnTo>
                  <a:pt x="6752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189681" y="2255011"/>
            <a:ext cx="507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9675" sz="3600">
                <a:solidFill>
                  <a:srgbClr val="C00000"/>
                </a:solidFill>
                <a:latin typeface="Cambria Math"/>
                <a:cs typeface="Cambria Math"/>
              </a:rPr>
              <a:t>𝐖</a:t>
            </a:r>
            <a:r>
              <a:rPr dirty="0" baseline="-19675" sz="3600" spc="277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 spc="-969">
                <a:solidFill>
                  <a:srgbClr val="C00000"/>
                </a:solidFill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845446" y="2594626"/>
            <a:ext cx="850900" cy="0"/>
          </a:xfrm>
          <a:custGeom>
            <a:avLst/>
            <a:gdLst/>
            <a:ahLst/>
            <a:cxnLst/>
            <a:rect l="l" t="t" r="r" b="b"/>
            <a:pathLst>
              <a:path w="850900" h="0">
                <a:moveTo>
                  <a:pt x="0" y="0"/>
                </a:moveTo>
                <a:lnTo>
                  <a:pt x="8509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063822" y="2285492"/>
            <a:ext cx="173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096615" y="2128534"/>
            <a:ext cx="523240" cy="212090"/>
          </a:xfrm>
          <a:custGeom>
            <a:avLst/>
            <a:gdLst/>
            <a:ahLst/>
            <a:cxnLst/>
            <a:rect l="l" t="t" r="r" b="b"/>
            <a:pathLst>
              <a:path w="523239" h="212089">
                <a:moveTo>
                  <a:pt x="455411" y="0"/>
                </a:moveTo>
                <a:lnTo>
                  <a:pt x="452398" y="8594"/>
                </a:lnTo>
                <a:lnTo>
                  <a:pt x="464655" y="13913"/>
                </a:lnTo>
                <a:lnTo>
                  <a:pt x="475197" y="21277"/>
                </a:lnTo>
                <a:lnTo>
                  <a:pt x="496600" y="55408"/>
                </a:lnTo>
                <a:lnTo>
                  <a:pt x="503632" y="104811"/>
                </a:lnTo>
                <a:lnTo>
                  <a:pt x="502847" y="123487"/>
                </a:lnTo>
                <a:lnTo>
                  <a:pt x="491074" y="169217"/>
                </a:lnTo>
                <a:lnTo>
                  <a:pt x="464798" y="197806"/>
                </a:lnTo>
                <a:lnTo>
                  <a:pt x="452733" y="203150"/>
                </a:lnTo>
                <a:lnTo>
                  <a:pt x="455411" y="211744"/>
                </a:lnTo>
                <a:lnTo>
                  <a:pt x="495867" y="187707"/>
                </a:lnTo>
                <a:lnTo>
                  <a:pt x="518589" y="143334"/>
                </a:lnTo>
                <a:lnTo>
                  <a:pt x="522942" y="105928"/>
                </a:lnTo>
                <a:lnTo>
                  <a:pt x="521851" y="86516"/>
                </a:lnTo>
                <a:lnTo>
                  <a:pt x="505473" y="37113"/>
                </a:lnTo>
                <a:lnTo>
                  <a:pt x="470763" y="5542"/>
                </a:lnTo>
                <a:lnTo>
                  <a:pt x="455411" y="0"/>
                </a:lnTo>
                <a:close/>
              </a:path>
              <a:path w="523239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1"/>
                </a:lnTo>
                <a:lnTo>
                  <a:pt x="52133" y="206208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6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878085" y="1980691"/>
            <a:ext cx="6832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7777" sz="3600">
                <a:latin typeface="Cambria Math"/>
                <a:cs typeface="Cambria Math"/>
              </a:rPr>
              <a:t>𝐡</a:t>
            </a:r>
            <a:r>
              <a:rPr dirty="0" baseline="-27777" sz="3600" spc="150">
                <a:latin typeface="Cambria Math"/>
                <a:cs typeface="Cambria Math"/>
              </a:rPr>
              <a:t> </a:t>
            </a:r>
            <a:r>
              <a:rPr dirty="0" sz="1800" spc="60">
                <a:latin typeface="Cambria Math"/>
                <a:cs typeface="Cambria Math"/>
              </a:rPr>
              <a:t>%'(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647665" y="2661878"/>
            <a:ext cx="0" cy="277495"/>
          </a:xfrm>
          <a:custGeom>
            <a:avLst/>
            <a:gdLst/>
            <a:ahLst/>
            <a:cxnLst/>
            <a:rect l="l" t="t" r="r" b="b"/>
            <a:pathLst>
              <a:path w="0" h="277494">
                <a:moveTo>
                  <a:pt x="0" y="0"/>
                </a:moveTo>
                <a:lnTo>
                  <a:pt x="0" y="276969"/>
                </a:lnTo>
              </a:path>
            </a:pathLst>
          </a:custGeom>
          <a:ln w="229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892905" y="2661878"/>
            <a:ext cx="0" cy="277495"/>
          </a:xfrm>
          <a:custGeom>
            <a:avLst/>
            <a:gdLst/>
            <a:ahLst/>
            <a:cxnLst/>
            <a:rect l="l" t="t" r="r" b="b"/>
            <a:pathLst>
              <a:path w="0" h="277494">
                <a:moveTo>
                  <a:pt x="0" y="0"/>
                </a:moveTo>
                <a:lnTo>
                  <a:pt x="0" y="276969"/>
                </a:lnTo>
              </a:path>
            </a:pathLst>
          </a:custGeom>
          <a:ln w="229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199196" y="2659223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30" y="0"/>
                </a:moveTo>
                <a:lnTo>
                  <a:pt x="279412" y="11459"/>
                </a:lnTo>
                <a:lnTo>
                  <a:pt x="295755" y="18552"/>
                </a:lnTo>
                <a:lnTo>
                  <a:pt x="309810" y="28370"/>
                </a:lnTo>
                <a:lnTo>
                  <a:pt x="338348" y="73878"/>
                </a:lnTo>
                <a:lnTo>
                  <a:pt x="346682" y="115662"/>
                </a:lnTo>
                <a:lnTo>
                  <a:pt x="347724" y="139749"/>
                </a:lnTo>
                <a:lnTo>
                  <a:pt x="346678" y="164649"/>
                </a:lnTo>
                <a:lnTo>
                  <a:pt x="338306" y="207586"/>
                </a:lnTo>
                <a:lnTo>
                  <a:pt x="309828" y="253825"/>
                </a:lnTo>
                <a:lnTo>
                  <a:pt x="279858" y="270866"/>
                </a:lnTo>
                <a:lnTo>
                  <a:pt x="283430" y="282326"/>
                </a:lnTo>
                <a:lnTo>
                  <a:pt x="321939" y="264262"/>
                </a:lnTo>
                <a:lnTo>
                  <a:pt x="350254" y="232990"/>
                </a:lnTo>
                <a:lnTo>
                  <a:pt x="367667" y="191113"/>
                </a:lnTo>
                <a:lnTo>
                  <a:pt x="373471" y="141236"/>
                </a:lnTo>
                <a:lnTo>
                  <a:pt x="372015" y="115354"/>
                </a:lnTo>
                <a:lnTo>
                  <a:pt x="360369" y="69478"/>
                </a:lnTo>
                <a:lnTo>
                  <a:pt x="337273" y="32132"/>
                </a:lnTo>
                <a:lnTo>
                  <a:pt x="303899" y="7389"/>
                </a:lnTo>
                <a:lnTo>
                  <a:pt x="283430" y="0"/>
                </a:lnTo>
                <a:close/>
              </a:path>
              <a:path w="374014" h="282575">
                <a:moveTo>
                  <a:pt x="90041" y="0"/>
                </a:moveTo>
                <a:lnTo>
                  <a:pt x="51624" y="18100"/>
                </a:lnTo>
                <a:lnTo>
                  <a:pt x="23291" y="49484"/>
                </a:lnTo>
                <a:lnTo>
                  <a:pt x="5822" y="91435"/>
                </a:lnTo>
                <a:lnTo>
                  <a:pt x="0" y="141236"/>
                </a:lnTo>
                <a:lnTo>
                  <a:pt x="1451" y="167175"/>
                </a:lnTo>
                <a:lnTo>
                  <a:pt x="13059" y="213051"/>
                </a:lnTo>
                <a:lnTo>
                  <a:pt x="36100" y="250277"/>
                </a:lnTo>
                <a:lnTo>
                  <a:pt x="69512" y="274945"/>
                </a:lnTo>
                <a:lnTo>
                  <a:pt x="90041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6"/>
                </a:lnTo>
                <a:lnTo>
                  <a:pt x="26794" y="164649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928440" y="2568955"/>
            <a:ext cx="5492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205" algn="l"/>
              </a:tabLst>
            </a:pPr>
            <a:r>
              <a:rPr dirty="0" sz="2400">
                <a:latin typeface="Cambria Math"/>
                <a:cs typeface="Cambria Math"/>
              </a:rPr>
              <a:t>𝑁	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838007" y="1866526"/>
            <a:ext cx="930045" cy="14689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7684482" y="2305810"/>
            <a:ext cx="1134110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0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1350" spc="-7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84482" y="2740412"/>
            <a:ext cx="895350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0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1350" spc="-9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1350" spc="0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8290559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8124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/>
              <a:t>(2)</a:t>
            </a:r>
            <a:r>
              <a:rPr dirty="0" spc="-70"/>
              <a:t> </a:t>
            </a:r>
            <a:r>
              <a:rPr dirty="0" spc="-25"/>
              <a:t>GraphSAGE</a:t>
            </a:r>
          </a:p>
        </p:txBody>
      </p:sp>
      <p:sp>
        <p:nvSpPr>
          <p:cNvPr id="4" name="object 4"/>
          <p:cNvSpPr/>
          <p:nvPr/>
        </p:nvSpPr>
        <p:spPr>
          <a:xfrm>
            <a:off x="6709421" y="3431973"/>
            <a:ext cx="332740" cy="329565"/>
          </a:xfrm>
          <a:custGeom>
            <a:avLst/>
            <a:gdLst/>
            <a:ahLst/>
            <a:cxnLst/>
            <a:rect l="l" t="t" r="r" b="b"/>
            <a:pathLst>
              <a:path w="332740" h="329564">
                <a:moveTo>
                  <a:pt x="227618" y="0"/>
                </a:moveTo>
                <a:lnTo>
                  <a:pt x="222930" y="13370"/>
                </a:lnTo>
                <a:lnTo>
                  <a:pt x="241997" y="21645"/>
                </a:lnTo>
                <a:lnTo>
                  <a:pt x="258394" y="33099"/>
                </a:lnTo>
                <a:lnTo>
                  <a:pt x="283180" y="65547"/>
                </a:lnTo>
                <a:lnTo>
                  <a:pt x="297766" y="109324"/>
                </a:lnTo>
                <a:lnTo>
                  <a:pt x="302628" y="163041"/>
                </a:lnTo>
                <a:lnTo>
                  <a:pt x="301407" y="192092"/>
                </a:lnTo>
                <a:lnTo>
                  <a:pt x="291640" y="242185"/>
                </a:lnTo>
                <a:lnTo>
                  <a:pt x="272041" y="281307"/>
                </a:lnTo>
                <a:lnTo>
                  <a:pt x="242220" y="307699"/>
                </a:lnTo>
                <a:lnTo>
                  <a:pt x="223451" y="316012"/>
                </a:lnTo>
                <a:lnTo>
                  <a:pt x="227618" y="329382"/>
                </a:lnTo>
                <a:lnTo>
                  <a:pt x="272545" y="308307"/>
                </a:lnTo>
                <a:lnTo>
                  <a:pt x="305579" y="271823"/>
                </a:lnTo>
                <a:lnTo>
                  <a:pt x="325894" y="222966"/>
                </a:lnTo>
                <a:lnTo>
                  <a:pt x="332666" y="164778"/>
                </a:lnTo>
                <a:lnTo>
                  <a:pt x="330968" y="134582"/>
                </a:lnTo>
                <a:lnTo>
                  <a:pt x="317381" y="81059"/>
                </a:lnTo>
                <a:lnTo>
                  <a:pt x="290435" y="37488"/>
                </a:lnTo>
                <a:lnTo>
                  <a:pt x="251498" y="8622"/>
                </a:lnTo>
                <a:lnTo>
                  <a:pt x="227618" y="0"/>
                </a:lnTo>
                <a:close/>
              </a:path>
              <a:path w="332740" h="329564">
                <a:moveTo>
                  <a:pt x="105048" y="0"/>
                </a:moveTo>
                <a:lnTo>
                  <a:pt x="60228" y="21118"/>
                </a:lnTo>
                <a:lnTo>
                  <a:pt x="27172" y="57732"/>
                </a:lnTo>
                <a:lnTo>
                  <a:pt x="6793" y="106676"/>
                </a:lnTo>
                <a:lnTo>
                  <a:pt x="0" y="164778"/>
                </a:lnTo>
                <a:lnTo>
                  <a:pt x="1692" y="195039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2"/>
                </a:lnTo>
                <a:lnTo>
                  <a:pt x="90446" y="307699"/>
                </a:lnTo>
                <a:lnTo>
                  <a:pt x="74249" y="296131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2713227"/>
            <a:ext cx="6961505" cy="202438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4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E66C7D"/>
                </a:solidFill>
                <a:latin typeface="Calibri"/>
                <a:cs typeface="Calibri"/>
              </a:rPr>
              <a:t>How </a:t>
            </a:r>
            <a:r>
              <a:rPr dirty="0" sz="2800" spc="-15" b="1">
                <a:solidFill>
                  <a:srgbClr val="E66C7D"/>
                </a:solidFill>
                <a:latin typeface="Calibri"/>
                <a:cs typeface="Calibri"/>
              </a:rPr>
              <a:t>to </a:t>
            </a:r>
            <a:r>
              <a:rPr dirty="0" sz="2800" spc="-10" b="1">
                <a:solidFill>
                  <a:srgbClr val="E66C7D"/>
                </a:solidFill>
                <a:latin typeface="Calibri"/>
                <a:cs typeface="Calibri"/>
              </a:rPr>
              <a:t>write </a:t>
            </a:r>
            <a:r>
              <a:rPr dirty="0" sz="2800" spc="-5" b="1">
                <a:solidFill>
                  <a:srgbClr val="E66C7D"/>
                </a:solidFill>
                <a:latin typeface="Calibri"/>
                <a:cs typeface="Calibri"/>
              </a:rPr>
              <a:t>this </a:t>
            </a:r>
            <a:r>
              <a:rPr dirty="0" sz="2800" b="1">
                <a:solidFill>
                  <a:srgbClr val="E66C7D"/>
                </a:solidFill>
                <a:latin typeface="Calibri"/>
                <a:cs typeface="Calibri"/>
              </a:rPr>
              <a:t>as </a:t>
            </a:r>
            <a:r>
              <a:rPr dirty="0" sz="2800" spc="-10" b="1">
                <a:solidFill>
                  <a:srgbClr val="E66C7D"/>
                </a:solidFill>
                <a:latin typeface="Calibri"/>
                <a:cs typeface="Calibri"/>
              </a:rPr>
              <a:t>Message </a:t>
            </a:r>
            <a:r>
              <a:rPr dirty="0" sz="2800" b="1">
                <a:solidFill>
                  <a:srgbClr val="E66C7D"/>
                </a:solidFill>
                <a:latin typeface="Calibri"/>
                <a:cs typeface="Calibri"/>
              </a:rPr>
              <a:t>+</a:t>
            </a:r>
            <a:r>
              <a:rPr dirty="0" sz="2800" spc="55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E66C7D"/>
                </a:solidFill>
                <a:latin typeface="Calibri"/>
                <a:cs typeface="Calibri"/>
              </a:rPr>
              <a:t>Aggregation?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  <a:tab pos="6207125" algn="l"/>
              </a:tabLst>
            </a:pPr>
            <a:r>
              <a:rPr dirty="0" sz="2800" spc="-10" b="1">
                <a:latin typeface="Calibri"/>
                <a:cs typeface="Calibri"/>
              </a:rPr>
              <a:t>Message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>
                <a:latin typeface="Calibri"/>
                <a:cs typeface="Calibri"/>
              </a:rPr>
              <a:t>computed </a:t>
            </a:r>
            <a:r>
              <a:rPr dirty="0" sz="2800" spc="-5">
                <a:latin typeface="Calibri"/>
                <a:cs typeface="Calibri"/>
              </a:rPr>
              <a:t>within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0070C0"/>
                </a:solidFill>
                <a:latin typeface="Cambria Math"/>
                <a:cs typeface="Cambria Math"/>
              </a:rPr>
              <a:t>AGG	</a:t>
            </a:r>
            <a:r>
              <a:rPr dirty="0" sz="2800">
                <a:solidFill>
                  <a:srgbClr val="0070C0"/>
                </a:solidFill>
                <a:latin typeface="Cambria Math"/>
                <a:cs typeface="Cambria Math"/>
              </a:rPr>
              <a:t>⋅</a:t>
            </a:r>
            <a:endParaRPr sz="28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Font typeface="Arial"/>
              <a:buChar char="▪"/>
              <a:tabLst>
                <a:tab pos="625475" algn="l"/>
              </a:tabLst>
            </a:pPr>
            <a:r>
              <a:rPr dirty="0" sz="2800" spc="-25" b="1">
                <a:solidFill>
                  <a:srgbClr val="60B5CC"/>
                </a:solidFill>
                <a:latin typeface="Calibri"/>
                <a:cs typeface="Calibri"/>
              </a:rPr>
              <a:t>Two-stage </a:t>
            </a:r>
            <a:r>
              <a:rPr dirty="0" sz="2800" spc="-15" b="1">
                <a:solidFill>
                  <a:srgbClr val="60B5CC"/>
                </a:solidFill>
                <a:latin typeface="Calibri"/>
                <a:cs typeface="Calibri"/>
              </a:rPr>
              <a:t>aggregation</a:t>
            </a:r>
            <a:endParaRPr sz="2800">
              <a:latin typeface="Calibri"/>
              <a:cs typeface="Calibri"/>
            </a:endParaRPr>
          </a:p>
          <a:p>
            <a:pPr lvl="2" marL="890905" marR="41719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400" spc="-10" b="1">
                <a:latin typeface="Calibri"/>
                <a:cs typeface="Calibri"/>
              </a:rPr>
              <a:t>Stage </a:t>
            </a:r>
            <a:r>
              <a:rPr dirty="0" sz="2400" spc="-5" b="1">
                <a:latin typeface="Calibri"/>
                <a:cs typeface="Calibri"/>
              </a:rPr>
              <a:t>1: </a:t>
            </a:r>
            <a:r>
              <a:rPr dirty="0" sz="2400" spc="-20">
                <a:latin typeface="Calibri"/>
                <a:cs typeface="Calibri"/>
              </a:rPr>
              <a:t>Aggregate </a:t>
            </a:r>
            <a:r>
              <a:rPr dirty="0" sz="2400" spc="-15">
                <a:latin typeface="Calibri"/>
                <a:cs typeface="Calibri"/>
              </a:rPr>
              <a:t>from </a:t>
            </a:r>
            <a:r>
              <a:rPr dirty="0" sz="2400" spc="-5">
                <a:latin typeface="Calibri"/>
                <a:cs typeface="Calibri"/>
              </a:rPr>
              <a:t>node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neighbors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7713" y="5400547"/>
            <a:ext cx="60185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Arial"/>
              <a:buChar char="▪"/>
              <a:tabLst>
                <a:tab pos="241300" algn="l"/>
              </a:tabLst>
            </a:pPr>
            <a:r>
              <a:rPr dirty="0" sz="2400" spc="-10" b="1">
                <a:latin typeface="Calibri"/>
                <a:cs typeface="Calibri"/>
              </a:rPr>
              <a:t>Stage </a:t>
            </a:r>
            <a:r>
              <a:rPr dirty="0" sz="2400" spc="-5" b="1">
                <a:latin typeface="Calibri"/>
                <a:cs typeface="Calibri"/>
              </a:rPr>
              <a:t>2: </a:t>
            </a:r>
            <a:r>
              <a:rPr dirty="0" sz="2400" spc="-5">
                <a:latin typeface="Calibri"/>
                <a:cs typeface="Calibri"/>
              </a:rPr>
              <a:t>Further </a:t>
            </a:r>
            <a:r>
              <a:rPr dirty="0" sz="2400" spc="-15">
                <a:latin typeface="Calibri"/>
                <a:cs typeface="Calibri"/>
              </a:rPr>
              <a:t>aggregate </a:t>
            </a:r>
            <a:r>
              <a:rPr dirty="0" sz="2400" spc="-10">
                <a:latin typeface="Calibri"/>
                <a:cs typeface="Calibri"/>
              </a:rPr>
              <a:t>over </a:t>
            </a:r>
            <a:r>
              <a:rPr dirty="0" sz="2400" spc="-5">
                <a:latin typeface="Calibri"/>
                <a:cs typeface="Calibri"/>
              </a:rPr>
              <a:t>the node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itself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483" y="2050796"/>
            <a:ext cx="1068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092" sz="3600" spc="-367">
                <a:latin typeface="Cambria Math"/>
                <a:cs typeface="Cambria Math"/>
              </a:rPr>
              <a:t>𝐡</a:t>
            </a:r>
            <a:r>
              <a:rPr dirty="0" sz="1800" spc="-245">
                <a:latin typeface="Cambria Math"/>
                <a:cs typeface="Cambria Math"/>
              </a:rPr>
              <a:t>(%)    </a:t>
            </a:r>
            <a:r>
              <a:rPr dirty="0" baseline="-30092" sz="3600">
                <a:latin typeface="Cambria Math"/>
                <a:cs typeface="Cambria Math"/>
              </a:rPr>
              <a:t>=</a:t>
            </a:r>
            <a:r>
              <a:rPr dirty="0" baseline="-30092" sz="3600" spc="-7">
                <a:latin typeface="Cambria Math"/>
                <a:cs typeface="Cambria Math"/>
              </a:rPr>
              <a:t> </a:t>
            </a:r>
            <a:r>
              <a:rPr dirty="0" baseline="-30092" sz="3600">
                <a:latin typeface="Cambria Math"/>
                <a:cs typeface="Cambria Math"/>
              </a:rPr>
              <a:t>𝜎</a:t>
            </a:r>
            <a:endParaRPr baseline="-30092" sz="36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76456" y="2056890"/>
            <a:ext cx="6865620" cy="777240"/>
          </a:xfrm>
          <a:custGeom>
            <a:avLst/>
            <a:gdLst/>
            <a:ahLst/>
            <a:cxnLst/>
            <a:rect l="l" t="t" r="r" b="b"/>
            <a:pathLst>
              <a:path w="6865620" h="777239">
                <a:moveTo>
                  <a:pt x="6732143" y="0"/>
                </a:moveTo>
                <a:lnTo>
                  <a:pt x="6725148" y="11162"/>
                </a:lnTo>
                <a:lnTo>
                  <a:pt x="6749928" y="40918"/>
                </a:lnTo>
                <a:lnTo>
                  <a:pt x="6771731" y="76460"/>
                </a:lnTo>
                <a:lnTo>
                  <a:pt x="6790558" y="117788"/>
                </a:lnTo>
                <a:lnTo>
                  <a:pt x="6806409" y="164901"/>
                </a:lnTo>
                <a:lnTo>
                  <a:pt x="6818976" y="216368"/>
                </a:lnTo>
                <a:lnTo>
                  <a:pt x="6827952" y="270755"/>
                </a:lnTo>
                <a:lnTo>
                  <a:pt x="6833337" y="328063"/>
                </a:lnTo>
                <a:lnTo>
                  <a:pt x="6835133" y="388292"/>
                </a:lnTo>
                <a:lnTo>
                  <a:pt x="6833347" y="447396"/>
                </a:lnTo>
                <a:lnTo>
                  <a:pt x="6827989" y="504155"/>
                </a:lnTo>
                <a:lnTo>
                  <a:pt x="6819059" y="558571"/>
                </a:lnTo>
                <a:lnTo>
                  <a:pt x="6806558" y="610642"/>
                </a:lnTo>
                <a:lnTo>
                  <a:pt x="6790754" y="658536"/>
                </a:lnTo>
                <a:lnTo>
                  <a:pt x="6771918" y="700422"/>
                </a:lnTo>
                <a:lnTo>
                  <a:pt x="6750049" y="736299"/>
                </a:lnTo>
                <a:lnTo>
                  <a:pt x="6725148" y="766166"/>
                </a:lnTo>
                <a:lnTo>
                  <a:pt x="6732143" y="777180"/>
                </a:lnTo>
                <a:lnTo>
                  <a:pt x="6761151" y="747801"/>
                </a:lnTo>
                <a:lnTo>
                  <a:pt x="6787005" y="711752"/>
                </a:lnTo>
                <a:lnTo>
                  <a:pt x="6809706" y="669033"/>
                </a:lnTo>
                <a:lnTo>
                  <a:pt x="6829254" y="619645"/>
                </a:lnTo>
                <a:lnTo>
                  <a:pt x="6842193" y="576643"/>
                </a:lnTo>
                <a:lnTo>
                  <a:pt x="6852257" y="531992"/>
                </a:lnTo>
                <a:lnTo>
                  <a:pt x="6859445" y="485691"/>
                </a:lnTo>
                <a:lnTo>
                  <a:pt x="6863758" y="437742"/>
                </a:lnTo>
                <a:lnTo>
                  <a:pt x="6865196" y="388143"/>
                </a:lnTo>
                <a:lnTo>
                  <a:pt x="6863758" y="337911"/>
                </a:lnTo>
                <a:lnTo>
                  <a:pt x="6859445" y="289607"/>
                </a:lnTo>
                <a:lnTo>
                  <a:pt x="6852257" y="243232"/>
                </a:lnTo>
                <a:lnTo>
                  <a:pt x="6842193" y="198786"/>
                </a:lnTo>
                <a:lnTo>
                  <a:pt x="6829254" y="156269"/>
                </a:lnTo>
                <a:lnTo>
                  <a:pt x="6809706" y="107547"/>
                </a:lnTo>
                <a:lnTo>
                  <a:pt x="6787005" y="65261"/>
                </a:lnTo>
                <a:lnTo>
                  <a:pt x="6761151" y="29412"/>
                </a:lnTo>
                <a:lnTo>
                  <a:pt x="6732143" y="0"/>
                </a:lnTo>
                <a:close/>
              </a:path>
              <a:path w="6865620" h="777239">
                <a:moveTo>
                  <a:pt x="133047" y="0"/>
                </a:moveTo>
                <a:lnTo>
                  <a:pt x="104040" y="29412"/>
                </a:lnTo>
                <a:lnTo>
                  <a:pt x="78186" y="65261"/>
                </a:lnTo>
                <a:lnTo>
                  <a:pt x="55485" y="107547"/>
                </a:lnTo>
                <a:lnTo>
                  <a:pt x="35937" y="156269"/>
                </a:lnTo>
                <a:lnTo>
                  <a:pt x="22998" y="198786"/>
                </a:lnTo>
                <a:lnTo>
                  <a:pt x="12934" y="243232"/>
                </a:lnTo>
                <a:lnTo>
                  <a:pt x="5746" y="289607"/>
                </a:lnTo>
                <a:lnTo>
                  <a:pt x="1433" y="337911"/>
                </a:lnTo>
                <a:lnTo>
                  <a:pt x="0" y="388292"/>
                </a:lnTo>
                <a:lnTo>
                  <a:pt x="1433" y="437742"/>
                </a:lnTo>
                <a:lnTo>
                  <a:pt x="5746" y="485691"/>
                </a:lnTo>
                <a:lnTo>
                  <a:pt x="12934" y="531992"/>
                </a:lnTo>
                <a:lnTo>
                  <a:pt x="22998" y="576643"/>
                </a:lnTo>
                <a:lnTo>
                  <a:pt x="35937" y="619645"/>
                </a:lnTo>
                <a:lnTo>
                  <a:pt x="55485" y="669033"/>
                </a:lnTo>
                <a:lnTo>
                  <a:pt x="78186" y="711752"/>
                </a:lnTo>
                <a:lnTo>
                  <a:pt x="104040" y="747801"/>
                </a:lnTo>
                <a:lnTo>
                  <a:pt x="133047" y="777180"/>
                </a:lnTo>
                <a:lnTo>
                  <a:pt x="140042" y="766166"/>
                </a:lnTo>
                <a:lnTo>
                  <a:pt x="115141" y="736299"/>
                </a:lnTo>
                <a:lnTo>
                  <a:pt x="93273" y="700422"/>
                </a:lnTo>
                <a:lnTo>
                  <a:pt x="74437" y="658536"/>
                </a:lnTo>
                <a:lnTo>
                  <a:pt x="58634" y="610642"/>
                </a:lnTo>
                <a:lnTo>
                  <a:pt x="46132" y="558571"/>
                </a:lnTo>
                <a:lnTo>
                  <a:pt x="37202" y="504155"/>
                </a:lnTo>
                <a:lnTo>
                  <a:pt x="31845" y="447396"/>
                </a:lnTo>
                <a:lnTo>
                  <a:pt x="30063" y="388143"/>
                </a:lnTo>
                <a:lnTo>
                  <a:pt x="31849" y="328063"/>
                </a:lnTo>
                <a:lnTo>
                  <a:pt x="37221" y="270755"/>
                </a:lnTo>
                <a:lnTo>
                  <a:pt x="46173" y="216368"/>
                </a:lnTo>
                <a:lnTo>
                  <a:pt x="58707" y="164901"/>
                </a:lnTo>
                <a:lnTo>
                  <a:pt x="74534" y="117788"/>
                </a:lnTo>
                <a:lnTo>
                  <a:pt x="93366" y="76460"/>
                </a:lnTo>
                <a:lnTo>
                  <a:pt x="115202" y="40918"/>
                </a:lnTo>
                <a:lnTo>
                  <a:pt x="140042" y="11162"/>
                </a:lnTo>
                <a:lnTo>
                  <a:pt x="1330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14799" y="2144424"/>
            <a:ext cx="4551680" cy="602615"/>
          </a:xfrm>
          <a:custGeom>
            <a:avLst/>
            <a:gdLst/>
            <a:ahLst/>
            <a:cxnLst/>
            <a:rect l="l" t="t" r="r" b="b"/>
            <a:pathLst>
              <a:path w="4551680" h="602614">
                <a:moveTo>
                  <a:pt x="4444666" y="0"/>
                </a:moveTo>
                <a:lnTo>
                  <a:pt x="4436034" y="9970"/>
                </a:lnTo>
                <a:lnTo>
                  <a:pt x="4454043" y="29802"/>
                </a:lnTo>
                <a:lnTo>
                  <a:pt x="4470414" y="54470"/>
                </a:lnTo>
                <a:lnTo>
                  <a:pt x="4498245" y="118318"/>
                </a:lnTo>
                <a:lnTo>
                  <a:pt x="4508988" y="157310"/>
                </a:lnTo>
                <a:lnTo>
                  <a:pt x="4516662" y="200768"/>
                </a:lnTo>
                <a:lnTo>
                  <a:pt x="4521266" y="248691"/>
                </a:lnTo>
                <a:lnTo>
                  <a:pt x="4522801" y="301078"/>
                </a:lnTo>
                <a:lnTo>
                  <a:pt x="4521266" y="353466"/>
                </a:lnTo>
                <a:lnTo>
                  <a:pt x="4516662" y="401388"/>
                </a:lnTo>
                <a:lnTo>
                  <a:pt x="4508988" y="444846"/>
                </a:lnTo>
                <a:lnTo>
                  <a:pt x="4498245" y="483839"/>
                </a:lnTo>
                <a:lnTo>
                  <a:pt x="4470414" y="547686"/>
                </a:lnTo>
                <a:lnTo>
                  <a:pt x="4436034" y="592187"/>
                </a:lnTo>
                <a:lnTo>
                  <a:pt x="4444666" y="602157"/>
                </a:lnTo>
                <a:lnTo>
                  <a:pt x="4484925" y="557825"/>
                </a:lnTo>
                <a:lnTo>
                  <a:pt x="4519676" y="492099"/>
                </a:lnTo>
                <a:lnTo>
                  <a:pt x="4533675" y="451492"/>
                </a:lnTo>
                <a:lnTo>
                  <a:pt x="4543674" y="406095"/>
                </a:lnTo>
                <a:lnTo>
                  <a:pt x="4549674" y="355908"/>
                </a:lnTo>
                <a:lnTo>
                  <a:pt x="4551674" y="300930"/>
                </a:lnTo>
                <a:lnTo>
                  <a:pt x="4549674" y="246082"/>
                </a:lnTo>
                <a:lnTo>
                  <a:pt x="4543674" y="195987"/>
                </a:lnTo>
                <a:lnTo>
                  <a:pt x="4533675" y="150646"/>
                </a:lnTo>
                <a:lnTo>
                  <a:pt x="4519676" y="110058"/>
                </a:lnTo>
                <a:lnTo>
                  <a:pt x="4502989" y="74520"/>
                </a:lnTo>
                <a:lnTo>
                  <a:pt x="4465484" y="19491"/>
                </a:lnTo>
                <a:lnTo>
                  <a:pt x="4444666" y="0"/>
                </a:lnTo>
                <a:close/>
              </a:path>
              <a:path w="4551680" h="602614">
                <a:moveTo>
                  <a:pt x="107002" y="0"/>
                </a:moveTo>
                <a:lnTo>
                  <a:pt x="66744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4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4" y="406095"/>
                </a:lnTo>
                <a:lnTo>
                  <a:pt x="17993" y="451492"/>
                </a:lnTo>
                <a:lnTo>
                  <a:pt x="31992" y="492099"/>
                </a:lnTo>
                <a:lnTo>
                  <a:pt x="48679" y="527636"/>
                </a:lnTo>
                <a:lnTo>
                  <a:pt x="86184" y="582666"/>
                </a:lnTo>
                <a:lnTo>
                  <a:pt x="107002" y="602157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6"/>
                </a:lnTo>
                <a:lnTo>
                  <a:pt x="53423" y="483839"/>
                </a:lnTo>
                <a:lnTo>
                  <a:pt x="42680" y="444846"/>
                </a:lnTo>
                <a:lnTo>
                  <a:pt x="35006" y="401388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1"/>
                </a:lnTo>
                <a:lnTo>
                  <a:pt x="35006" y="200768"/>
                </a:lnTo>
                <a:lnTo>
                  <a:pt x="42680" y="157310"/>
                </a:lnTo>
                <a:lnTo>
                  <a:pt x="53423" y="118318"/>
                </a:lnTo>
                <a:lnTo>
                  <a:pt x="81254" y="54470"/>
                </a:lnTo>
                <a:lnTo>
                  <a:pt x="115634" y="9970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45943" y="2208207"/>
            <a:ext cx="523240" cy="212090"/>
          </a:xfrm>
          <a:custGeom>
            <a:avLst/>
            <a:gdLst/>
            <a:ahLst/>
            <a:cxnLst/>
            <a:rect l="l" t="t" r="r" b="b"/>
            <a:pathLst>
              <a:path w="523239" h="212089">
                <a:moveTo>
                  <a:pt x="455413" y="0"/>
                </a:moveTo>
                <a:lnTo>
                  <a:pt x="452399" y="8594"/>
                </a:lnTo>
                <a:lnTo>
                  <a:pt x="464656" y="13913"/>
                </a:lnTo>
                <a:lnTo>
                  <a:pt x="475197" y="21277"/>
                </a:lnTo>
                <a:lnTo>
                  <a:pt x="496601" y="55408"/>
                </a:lnTo>
                <a:lnTo>
                  <a:pt x="503633" y="104811"/>
                </a:lnTo>
                <a:lnTo>
                  <a:pt x="502848" y="123487"/>
                </a:lnTo>
                <a:lnTo>
                  <a:pt x="491075" y="169217"/>
                </a:lnTo>
                <a:lnTo>
                  <a:pt x="464800" y="197806"/>
                </a:lnTo>
                <a:lnTo>
                  <a:pt x="452734" y="203150"/>
                </a:lnTo>
                <a:lnTo>
                  <a:pt x="455413" y="211744"/>
                </a:lnTo>
                <a:lnTo>
                  <a:pt x="495868" y="187707"/>
                </a:lnTo>
                <a:lnTo>
                  <a:pt x="518590" y="143334"/>
                </a:lnTo>
                <a:lnTo>
                  <a:pt x="522944" y="105928"/>
                </a:lnTo>
                <a:lnTo>
                  <a:pt x="521852" y="86516"/>
                </a:lnTo>
                <a:lnTo>
                  <a:pt x="505475" y="37113"/>
                </a:lnTo>
                <a:lnTo>
                  <a:pt x="470764" y="5542"/>
                </a:lnTo>
                <a:lnTo>
                  <a:pt x="455413" y="0"/>
                </a:lnTo>
                <a:close/>
              </a:path>
              <a:path w="523239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1"/>
                </a:lnTo>
                <a:lnTo>
                  <a:pt x="52134" y="206208"/>
                </a:lnTo>
                <a:lnTo>
                  <a:pt x="67530" y="211744"/>
                </a:lnTo>
                <a:lnTo>
                  <a:pt x="70210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6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45985" y="2194110"/>
            <a:ext cx="2769235" cy="502920"/>
          </a:xfrm>
          <a:custGeom>
            <a:avLst/>
            <a:gdLst/>
            <a:ahLst/>
            <a:cxnLst/>
            <a:rect l="l" t="t" r="r" b="b"/>
            <a:pathLst>
              <a:path w="2769234" h="502919">
                <a:moveTo>
                  <a:pt x="2660343" y="0"/>
                </a:moveTo>
                <a:lnTo>
                  <a:pt x="2655581" y="11906"/>
                </a:lnTo>
                <a:lnTo>
                  <a:pt x="2674319" y="27137"/>
                </a:lnTo>
                <a:lnTo>
                  <a:pt x="2690946" y="46936"/>
                </a:lnTo>
                <a:lnTo>
                  <a:pt x="2717866" y="100236"/>
                </a:lnTo>
                <a:lnTo>
                  <a:pt x="2734888" y="169273"/>
                </a:lnTo>
                <a:lnTo>
                  <a:pt x="2739143" y="208745"/>
                </a:lnTo>
                <a:lnTo>
                  <a:pt x="2740562" y="251519"/>
                </a:lnTo>
                <a:lnTo>
                  <a:pt x="2739152" y="293619"/>
                </a:lnTo>
                <a:lnTo>
                  <a:pt x="2734925" y="332705"/>
                </a:lnTo>
                <a:lnTo>
                  <a:pt x="2718014" y="401835"/>
                </a:lnTo>
                <a:lnTo>
                  <a:pt x="2691132" y="455637"/>
                </a:lnTo>
                <a:lnTo>
                  <a:pt x="2655581" y="490834"/>
                </a:lnTo>
                <a:lnTo>
                  <a:pt x="2660343" y="502740"/>
                </a:lnTo>
                <a:lnTo>
                  <a:pt x="2705085" y="466947"/>
                </a:lnTo>
                <a:lnTo>
                  <a:pt x="2739595" y="409575"/>
                </a:lnTo>
                <a:lnTo>
                  <a:pt x="2761640" y="335905"/>
                </a:lnTo>
                <a:lnTo>
                  <a:pt x="2767151" y="294940"/>
                </a:lnTo>
                <a:lnTo>
                  <a:pt x="2768988" y="251222"/>
                </a:lnTo>
                <a:lnTo>
                  <a:pt x="2767151" y="207280"/>
                </a:lnTo>
                <a:lnTo>
                  <a:pt x="2761640" y="166241"/>
                </a:lnTo>
                <a:lnTo>
                  <a:pt x="2752454" y="128103"/>
                </a:lnTo>
                <a:lnTo>
                  <a:pt x="2723619" y="61726"/>
                </a:lnTo>
                <a:lnTo>
                  <a:pt x="2683993" y="15291"/>
                </a:lnTo>
                <a:lnTo>
                  <a:pt x="2660343" y="0"/>
                </a:lnTo>
                <a:close/>
              </a:path>
              <a:path w="2769234" h="502919">
                <a:moveTo>
                  <a:pt x="108496" y="0"/>
                </a:moveTo>
                <a:lnTo>
                  <a:pt x="63865" y="35867"/>
                </a:lnTo>
                <a:lnTo>
                  <a:pt x="29394" y="92868"/>
                </a:lnTo>
                <a:lnTo>
                  <a:pt x="7348" y="166241"/>
                </a:lnTo>
                <a:lnTo>
                  <a:pt x="1837" y="207280"/>
                </a:lnTo>
                <a:lnTo>
                  <a:pt x="0" y="251222"/>
                </a:lnTo>
                <a:lnTo>
                  <a:pt x="1837" y="294940"/>
                </a:lnTo>
                <a:lnTo>
                  <a:pt x="7348" y="335905"/>
                </a:lnTo>
                <a:lnTo>
                  <a:pt x="16534" y="374116"/>
                </a:lnTo>
                <a:lnTo>
                  <a:pt x="45360" y="440958"/>
                </a:lnTo>
                <a:lnTo>
                  <a:pt x="84911" y="487541"/>
                </a:lnTo>
                <a:lnTo>
                  <a:pt x="108496" y="502740"/>
                </a:lnTo>
                <a:lnTo>
                  <a:pt x="113407" y="490834"/>
                </a:lnTo>
                <a:lnTo>
                  <a:pt x="94487" y="475561"/>
                </a:lnTo>
                <a:lnTo>
                  <a:pt x="77762" y="455637"/>
                </a:lnTo>
                <a:lnTo>
                  <a:pt x="50899" y="401835"/>
                </a:lnTo>
                <a:lnTo>
                  <a:pt x="34044" y="332705"/>
                </a:lnTo>
                <a:lnTo>
                  <a:pt x="29830" y="293619"/>
                </a:lnTo>
                <a:lnTo>
                  <a:pt x="28426" y="251519"/>
                </a:lnTo>
                <a:lnTo>
                  <a:pt x="29844" y="208745"/>
                </a:lnTo>
                <a:lnTo>
                  <a:pt x="34100" y="169273"/>
                </a:lnTo>
                <a:lnTo>
                  <a:pt x="51122" y="100236"/>
                </a:lnTo>
                <a:lnTo>
                  <a:pt x="78041" y="46936"/>
                </a:lnTo>
                <a:lnTo>
                  <a:pt x="113407" y="11906"/>
                </a:lnTo>
                <a:lnTo>
                  <a:pt x="108496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683643" y="2195705"/>
            <a:ext cx="2494280" cy="499745"/>
          </a:xfrm>
          <a:custGeom>
            <a:avLst/>
            <a:gdLst/>
            <a:ahLst/>
            <a:cxnLst/>
            <a:rect l="l" t="t" r="r" b="b"/>
            <a:pathLst>
              <a:path w="2494279" h="499744">
                <a:moveTo>
                  <a:pt x="2388170" y="0"/>
                </a:moveTo>
                <a:lnTo>
                  <a:pt x="2388170" y="11906"/>
                </a:lnTo>
                <a:lnTo>
                  <a:pt x="2396503" y="12501"/>
                </a:lnTo>
                <a:lnTo>
                  <a:pt x="2404019" y="14560"/>
                </a:lnTo>
                <a:lnTo>
                  <a:pt x="2434213" y="46304"/>
                </a:lnTo>
                <a:lnTo>
                  <a:pt x="2442403" y="90548"/>
                </a:lnTo>
                <a:lnTo>
                  <a:pt x="2442640" y="101947"/>
                </a:lnTo>
                <a:lnTo>
                  <a:pt x="2442389" y="111021"/>
                </a:lnTo>
                <a:lnTo>
                  <a:pt x="2441636" y="121723"/>
                </a:lnTo>
                <a:lnTo>
                  <a:pt x="2440380" y="134052"/>
                </a:lnTo>
                <a:lnTo>
                  <a:pt x="2438622" y="148009"/>
                </a:lnTo>
                <a:lnTo>
                  <a:pt x="2436864" y="161641"/>
                </a:lnTo>
                <a:lnTo>
                  <a:pt x="2435608" y="172994"/>
                </a:lnTo>
                <a:lnTo>
                  <a:pt x="2434855" y="182068"/>
                </a:lnTo>
                <a:lnTo>
                  <a:pt x="2434603" y="188862"/>
                </a:lnTo>
                <a:lnTo>
                  <a:pt x="2435283" y="200950"/>
                </a:lnTo>
                <a:lnTo>
                  <a:pt x="2450789" y="236446"/>
                </a:lnTo>
                <a:lnTo>
                  <a:pt x="2465411" y="248097"/>
                </a:lnTo>
                <a:lnTo>
                  <a:pt x="2465411" y="251073"/>
                </a:lnTo>
                <a:lnTo>
                  <a:pt x="2437320" y="287089"/>
                </a:lnTo>
                <a:lnTo>
                  <a:pt x="2434603" y="310009"/>
                </a:lnTo>
                <a:lnTo>
                  <a:pt x="2434855" y="315399"/>
                </a:lnTo>
                <a:lnTo>
                  <a:pt x="2435608" y="324129"/>
                </a:lnTo>
                <a:lnTo>
                  <a:pt x="2436864" y="336198"/>
                </a:lnTo>
                <a:lnTo>
                  <a:pt x="2440380" y="367210"/>
                </a:lnTo>
                <a:lnTo>
                  <a:pt x="2441636" y="379865"/>
                </a:lnTo>
                <a:lnTo>
                  <a:pt x="2442389" y="389572"/>
                </a:lnTo>
                <a:lnTo>
                  <a:pt x="2442640" y="396330"/>
                </a:lnTo>
                <a:lnTo>
                  <a:pt x="2442426" y="407808"/>
                </a:lnTo>
                <a:lnTo>
                  <a:pt x="2434827" y="452512"/>
                </a:lnTo>
                <a:lnTo>
                  <a:pt x="2404590" y="484858"/>
                </a:lnTo>
                <a:lnTo>
                  <a:pt x="2388170" y="487561"/>
                </a:lnTo>
                <a:lnTo>
                  <a:pt x="2388170" y="499468"/>
                </a:lnTo>
                <a:lnTo>
                  <a:pt x="2438148" y="482696"/>
                </a:lnTo>
                <a:lnTo>
                  <a:pt x="2464071" y="436587"/>
                </a:lnTo>
                <a:lnTo>
                  <a:pt x="2468982" y="390674"/>
                </a:lnTo>
                <a:lnTo>
                  <a:pt x="2468699" y="381158"/>
                </a:lnTo>
                <a:lnTo>
                  <a:pt x="2467848" y="369726"/>
                </a:lnTo>
                <a:lnTo>
                  <a:pt x="2466429" y="356378"/>
                </a:lnTo>
                <a:lnTo>
                  <a:pt x="2464443" y="341114"/>
                </a:lnTo>
                <a:lnTo>
                  <a:pt x="2462457" y="326408"/>
                </a:lnTo>
                <a:lnTo>
                  <a:pt x="2461039" y="314734"/>
                </a:lnTo>
                <a:lnTo>
                  <a:pt x="2460188" y="306093"/>
                </a:lnTo>
                <a:lnTo>
                  <a:pt x="2459904" y="300484"/>
                </a:lnTo>
                <a:lnTo>
                  <a:pt x="2460439" y="290824"/>
                </a:lnTo>
                <a:lnTo>
                  <a:pt x="2485861" y="256919"/>
                </a:lnTo>
                <a:lnTo>
                  <a:pt x="2493689" y="255985"/>
                </a:lnTo>
                <a:lnTo>
                  <a:pt x="2493689" y="243185"/>
                </a:lnTo>
                <a:lnTo>
                  <a:pt x="2462063" y="217103"/>
                </a:lnTo>
                <a:lnTo>
                  <a:pt x="2459904" y="198536"/>
                </a:lnTo>
                <a:lnTo>
                  <a:pt x="2460188" y="192779"/>
                </a:lnTo>
                <a:lnTo>
                  <a:pt x="2461039" y="184435"/>
                </a:lnTo>
                <a:lnTo>
                  <a:pt x="2462533" y="172994"/>
                </a:lnTo>
                <a:lnTo>
                  <a:pt x="2464443" y="159990"/>
                </a:lnTo>
                <a:lnTo>
                  <a:pt x="2466429" y="145786"/>
                </a:lnTo>
                <a:lnTo>
                  <a:pt x="2467848" y="132792"/>
                </a:lnTo>
                <a:lnTo>
                  <a:pt x="2468699" y="121006"/>
                </a:lnTo>
                <a:lnTo>
                  <a:pt x="2468982" y="110430"/>
                </a:lnTo>
                <a:lnTo>
                  <a:pt x="2467685" y="84488"/>
                </a:lnTo>
                <a:lnTo>
                  <a:pt x="2457304" y="43485"/>
                </a:lnTo>
                <a:lnTo>
                  <a:pt x="2422828" y="8074"/>
                </a:lnTo>
                <a:lnTo>
                  <a:pt x="2406657" y="2502"/>
                </a:lnTo>
                <a:lnTo>
                  <a:pt x="2388170" y="0"/>
                </a:lnTo>
                <a:close/>
              </a:path>
              <a:path w="2494279" h="499744">
                <a:moveTo>
                  <a:pt x="105519" y="0"/>
                </a:moveTo>
                <a:lnTo>
                  <a:pt x="56908" y="16715"/>
                </a:lnTo>
                <a:lnTo>
                  <a:pt x="29877" y="62173"/>
                </a:lnTo>
                <a:lnTo>
                  <a:pt x="24705" y="110430"/>
                </a:lnTo>
                <a:lnTo>
                  <a:pt x="24989" y="121006"/>
                </a:lnTo>
                <a:lnTo>
                  <a:pt x="25840" y="132792"/>
                </a:lnTo>
                <a:lnTo>
                  <a:pt x="27258" y="145786"/>
                </a:lnTo>
                <a:lnTo>
                  <a:pt x="29244" y="159990"/>
                </a:lnTo>
                <a:lnTo>
                  <a:pt x="31230" y="173506"/>
                </a:lnTo>
                <a:lnTo>
                  <a:pt x="32649" y="184435"/>
                </a:lnTo>
                <a:lnTo>
                  <a:pt x="33500" y="192779"/>
                </a:lnTo>
                <a:lnTo>
                  <a:pt x="33784" y="198536"/>
                </a:lnTo>
                <a:lnTo>
                  <a:pt x="33244" y="208387"/>
                </a:lnTo>
                <a:lnTo>
                  <a:pt x="7767" y="242320"/>
                </a:lnTo>
                <a:lnTo>
                  <a:pt x="0" y="243185"/>
                </a:lnTo>
                <a:lnTo>
                  <a:pt x="0" y="255985"/>
                </a:lnTo>
                <a:lnTo>
                  <a:pt x="31645" y="282234"/>
                </a:lnTo>
                <a:lnTo>
                  <a:pt x="33784" y="300484"/>
                </a:lnTo>
                <a:lnTo>
                  <a:pt x="33500" y="306093"/>
                </a:lnTo>
                <a:lnTo>
                  <a:pt x="32649" y="314734"/>
                </a:lnTo>
                <a:lnTo>
                  <a:pt x="31230" y="326408"/>
                </a:lnTo>
                <a:lnTo>
                  <a:pt x="29244" y="341114"/>
                </a:lnTo>
                <a:lnTo>
                  <a:pt x="27258" y="356378"/>
                </a:lnTo>
                <a:lnTo>
                  <a:pt x="25840" y="369726"/>
                </a:lnTo>
                <a:lnTo>
                  <a:pt x="24989" y="381158"/>
                </a:lnTo>
                <a:lnTo>
                  <a:pt x="24705" y="390674"/>
                </a:lnTo>
                <a:lnTo>
                  <a:pt x="25928" y="415138"/>
                </a:lnTo>
                <a:lnTo>
                  <a:pt x="35714" y="455023"/>
                </a:lnTo>
                <a:lnTo>
                  <a:pt x="69372" y="491616"/>
                </a:lnTo>
                <a:lnTo>
                  <a:pt x="105519" y="499468"/>
                </a:lnTo>
                <a:lnTo>
                  <a:pt x="105519" y="487561"/>
                </a:lnTo>
                <a:lnTo>
                  <a:pt x="96787" y="486966"/>
                </a:lnTo>
                <a:lnTo>
                  <a:pt x="89098" y="484858"/>
                </a:lnTo>
                <a:lnTo>
                  <a:pt x="58824" y="452512"/>
                </a:lnTo>
                <a:lnTo>
                  <a:pt x="51261" y="407808"/>
                </a:lnTo>
                <a:lnTo>
                  <a:pt x="51047" y="396330"/>
                </a:lnTo>
                <a:lnTo>
                  <a:pt x="51298" y="389572"/>
                </a:lnTo>
                <a:lnTo>
                  <a:pt x="52052" y="379865"/>
                </a:lnTo>
                <a:lnTo>
                  <a:pt x="53308" y="367210"/>
                </a:lnTo>
                <a:lnTo>
                  <a:pt x="56824" y="336198"/>
                </a:lnTo>
                <a:lnTo>
                  <a:pt x="58080" y="324129"/>
                </a:lnTo>
                <a:lnTo>
                  <a:pt x="58834" y="315399"/>
                </a:lnTo>
                <a:lnTo>
                  <a:pt x="59085" y="310009"/>
                </a:lnTo>
                <a:lnTo>
                  <a:pt x="58401" y="297879"/>
                </a:lnTo>
                <a:lnTo>
                  <a:pt x="42801" y="262793"/>
                </a:lnTo>
                <a:lnTo>
                  <a:pt x="28277" y="251073"/>
                </a:lnTo>
                <a:lnTo>
                  <a:pt x="28277" y="248097"/>
                </a:lnTo>
                <a:lnTo>
                  <a:pt x="56350" y="211764"/>
                </a:lnTo>
                <a:lnTo>
                  <a:pt x="59085" y="188862"/>
                </a:lnTo>
                <a:lnTo>
                  <a:pt x="58834" y="182068"/>
                </a:lnTo>
                <a:lnTo>
                  <a:pt x="58080" y="172994"/>
                </a:lnTo>
                <a:lnTo>
                  <a:pt x="56824" y="161641"/>
                </a:lnTo>
                <a:lnTo>
                  <a:pt x="55065" y="148009"/>
                </a:lnTo>
                <a:lnTo>
                  <a:pt x="53308" y="134052"/>
                </a:lnTo>
                <a:lnTo>
                  <a:pt x="52052" y="121723"/>
                </a:lnTo>
                <a:lnTo>
                  <a:pt x="51298" y="111021"/>
                </a:lnTo>
                <a:lnTo>
                  <a:pt x="51047" y="101947"/>
                </a:lnTo>
                <a:lnTo>
                  <a:pt x="51285" y="90548"/>
                </a:lnTo>
                <a:lnTo>
                  <a:pt x="59456" y="46304"/>
                </a:lnTo>
                <a:lnTo>
                  <a:pt x="89644" y="14560"/>
                </a:lnTo>
                <a:lnTo>
                  <a:pt x="105519" y="11906"/>
                </a:lnTo>
                <a:lnTo>
                  <a:pt x="10551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24221" y="2367787"/>
            <a:ext cx="5321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01060" algn="l"/>
                <a:tab pos="5159375" algn="l"/>
              </a:tabLst>
            </a:pPr>
            <a:r>
              <a:rPr dirty="0" sz="1800" spc="265">
                <a:latin typeface="Cambria Math"/>
                <a:cs typeface="Cambria Math"/>
              </a:rPr>
              <a:t>)</a:t>
            </a:r>
            <a:r>
              <a:rPr dirty="0" sz="1800" spc="265">
                <a:latin typeface="Cambria Math"/>
                <a:cs typeface="Cambria Math"/>
              </a:rPr>
              <a:t>	</a:t>
            </a:r>
            <a:r>
              <a:rPr dirty="0" sz="1800" spc="265">
                <a:latin typeface="Cambria Math"/>
                <a:cs typeface="Cambria Math"/>
              </a:rPr>
              <a:t>)</a:t>
            </a:r>
            <a:r>
              <a:rPr dirty="0" sz="1800" spc="265">
                <a:latin typeface="Cambria Math"/>
                <a:cs typeface="Cambria Math"/>
              </a:rPr>
              <a:t>	</a:t>
            </a:r>
            <a:r>
              <a:rPr dirty="0" sz="1800" spc="50">
                <a:solidFill>
                  <a:srgbClr val="0070C0"/>
                </a:solidFill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04195" y="2208207"/>
            <a:ext cx="523240" cy="212090"/>
          </a:xfrm>
          <a:custGeom>
            <a:avLst/>
            <a:gdLst/>
            <a:ahLst/>
            <a:cxnLst/>
            <a:rect l="l" t="t" r="r" b="b"/>
            <a:pathLst>
              <a:path w="523240" h="212089">
                <a:moveTo>
                  <a:pt x="455413" y="0"/>
                </a:moveTo>
                <a:lnTo>
                  <a:pt x="452399" y="8594"/>
                </a:lnTo>
                <a:lnTo>
                  <a:pt x="464656" y="13913"/>
                </a:lnTo>
                <a:lnTo>
                  <a:pt x="475197" y="21277"/>
                </a:lnTo>
                <a:lnTo>
                  <a:pt x="496601" y="55408"/>
                </a:lnTo>
                <a:lnTo>
                  <a:pt x="503633" y="104811"/>
                </a:lnTo>
                <a:lnTo>
                  <a:pt x="502848" y="123487"/>
                </a:lnTo>
                <a:lnTo>
                  <a:pt x="491075" y="169217"/>
                </a:lnTo>
                <a:lnTo>
                  <a:pt x="464800" y="197806"/>
                </a:lnTo>
                <a:lnTo>
                  <a:pt x="452734" y="203150"/>
                </a:lnTo>
                <a:lnTo>
                  <a:pt x="455413" y="211744"/>
                </a:lnTo>
                <a:lnTo>
                  <a:pt x="495868" y="187707"/>
                </a:lnTo>
                <a:lnTo>
                  <a:pt x="518590" y="143334"/>
                </a:lnTo>
                <a:lnTo>
                  <a:pt x="522944" y="105928"/>
                </a:lnTo>
                <a:lnTo>
                  <a:pt x="521852" y="86516"/>
                </a:lnTo>
                <a:lnTo>
                  <a:pt x="505475" y="37113"/>
                </a:lnTo>
                <a:lnTo>
                  <a:pt x="470764" y="5542"/>
                </a:lnTo>
                <a:lnTo>
                  <a:pt x="455413" y="0"/>
                </a:lnTo>
                <a:close/>
              </a:path>
              <a:path w="523240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1"/>
                </a:lnTo>
                <a:lnTo>
                  <a:pt x="52134" y="206208"/>
                </a:lnTo>
                <a:lnTo>
                  <a:pt x="67530" y="211744"/>
                </a:lnTo>
                <a:lnTo>
                  <a:pt x="70210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6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62337" y="2304303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5" h="282575">
                <a:moveTo>
                  <a:pt x="283429" y="0"/>
                </a:moveTo>
                <a:lnTo>
                  <a:pt x="279411" y="11459"/>
                </a:lnTo>
                <a:lnTo>
                  <a:pt x="295754" y="18552"/>
                </a:lnTo>
                <a:lnTo>
                  <a:pt x="309809" y="28370"/>
                </a:lnTo>
                <a:lnTo>
                  <a:pt x="338347" y="73878"/>
                </a:lnTo>
                <a:lnTo>
                  <a:pt x="346681" y="115662"/>
                </a:lnTo>
                <a:lnTo>
                  <a:pt x="347723" y="139749"/>
                </a:lnTo>
                <a:lnTo>
                  <a:pt x="346676" y="164650"/>
                </a:lnTo>
                <a:lnTo>
                  <a:pt x="338304" y="207587"/>
                </a:lnTo>
                <a:lnTo>
                  <a:pt x="309827" y="253825"/>
                </a:lnTo>
                <a:lnTo>
                  <a:pt x="279857" y="270866"/>
                </a:lnTo>
                <a:lnTo>
                  <a:pt x="283429" y="282326"/>
                </a:lnTo>
                <a:lnTo>
                  <a:pt x="321939" y="264262"/>
                </a:lnTo>
                <a:lnTo>
                  <a:pt x="350253" y="232990"/>
                </a:lnTo>
                <a:lnTo>
                  <a:pt x="367666" y="191113"/>
                </a:lnTo>
                <a:lnTo>
                  <a:pt x="373470" y="141237"/>
                </a:lnTo>
                <a:lnTo>
                  <a:pt x="372014" y="115355"/>
                </a:lnTo>
                <a:lnTo>
                  <a:pt x="360369" y="69479"/>
                </a:lnTo>
                <a:lnTo>
                  <a:pt x="337273" y="32132"/>
                </a:lnTo>
                <a:lnTo>
                  <a:pt x="303897" y="7389"/>
                </a:lnTo>
                <a:lnTo>
                  <a:pt x="283429" y="0"/>
                </a:lnTo>
                <a:close/>
              </a:path>
              <a:path w="374015" h="282575">
                <a:moveTo>
                  <a:pt x="90040" y="0"/>
                </a:moveTo>
                <a:lnTo>
                  <a:pt x="51624" y="18100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59" y="213051"/>
                </a:lnTo>
                <a:lnTo>
                  <a:pt x="36100" y="250277"/>
                </a:lnTo>
                <a:lnTo>
                  <a:pt x="69511" y="274945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13627" y="2215388"/>
            <a:ext cx="60274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5980" algn="l"/>
                <a:tab pos="3884295" algn="l"/>
                <a:tab pos="5848350" algn="l"/>
              </a:tabLst>
            </a:pPr>
            <a:r>
              <a:rPr dirty="0" sz="2400" spc="85">
                <a:latin typeface="Cambria Math"/>
                <a:cs typeface="Cambria Math"/>
              </a:rPr>
              <a:t>𝐖</a:t>
            </a:r>
            <a:r>
              <a:rPr dirty="0" baseline="27777" sz="2700" spc="-37">
                <a:latin typeface="Cambria Math"/>
                <a:cs typeface="Cambria Math"/>
              </a:rPr>
              <a:t>(</a:t>
            </a:r>
            <a:r>
              <a:rPr dirty="0" baseline="27777" sz="2700" spc="-1402">
                <a:latin typeface="Cambria Math"/>
                <a:cs typeface="Cambria Math"/>
              </a:rPr>
              <a:t>%</a:t>
            </a:r>
            <a:r>
              <a:rPr dirty="0" baseline="27777" sz="2700">
                <a:latin typeface="Cambria Math"/>
                <a:cs typeface="Cambria Math"/>
              </a:rPr>
              <a:t>)</a:t>
            </a:r>
            <a:r>
              <a:rPr dirty="0" baseline="27777" sz="2700" spc="82">
                <a:latin typeface="Cambria Math"/>
                <a:cs typeface="Cambria Math"/>
              </a:rPr>
              <a:t> </a:t>
            </a:r>
            <a:r>
              <a:rPr dirty="0" sz="2400" spc="-975">
                <a:latin typeface="Cambria Math"/>
                <a:cs typeface="Cambria Math"/>
              </a:rPr>
              <a:t>H</a:t>
            </a:r>
            <a:r>
              <a:rPr dirty="0" sz="2400">
                <a:latin typeface="Cambria Math"/>
                <a:cs typeface="Cambria Math"/>
              </a:rPr>
              <a:t> </a:t>
            </a:r>
            <a:r>
              <a:rPr dirty="0" sz="2400" spc="-15">
                <a:latin typeface="Cambria Math"/>
                <a:cs typeface="Cambria Math"/>
              </a:rPr>
              <a:t>C</a:t>
            </a:r>
            <a:r>
              <a:rPr dirty="0" sz="2400" spc="-5">
                <a:latin typeface="Cambria Math"/>
                <a:cs typeface="Cambria Math"/>
              </a:rPr>
              <a:t>O</a:t>
            </a:r>
            <a:r>
              <a:rPr dirty="0" sz="2400">
                <a:latin typeface="Cambria Math"/>
                <a:cs typeface="Cambria Math"/>
              </a:rPr>
              <a:t>N</a:t>
            </a:r>
            <a:r>
              <a:rPr dirty="0" sz="2400" spc="-5">
                <a:latin typeface="Cambria Math"/>
                <a:cs typeface="Cambria Math"/>
              </a:rPr>
              <a:t>C</a:t>
            </a:r>
            <a:r>
              <a:rPr dirty="0" sz="2400" spc="-150">
                <a:latin typeface="Cambria Math"/>
                <a:cs typeface="Cambria Math"/>
              </a:rPr>
              <a:t>A</a:t>
            </a:r>
            <a:r>
              <a:rPr dirty="0" sz="2400">
                <a:latin typeface="Cambria Math"/>
                <a:cs typeface="Cambria Math"/>
              </a:rPr>
              <a:t>T	𝐡</a:t>
            </a:r>
            <a:r>
              <a:rPr dirty="0" sz="2400" spc="185">
                <a:latin typeface="Cambria Math"/>
                <a:cs typeface="Cambria Math"/>
              </a:rPr>
              <a:t> </a:t>
            </a:r>
            <a:r>
              <a:rPr dirty="0" baseline="37037" sz="2700" spc="-1402">
                <a:latin typeface="Cambria Math"/>
                <a:cs typeface="Cambria Math"/>
              </a:rPr>
              <a:t>%</a:t>
            </a:r>
            <a:r>
              <a:rPr dirty="0" baseline="37037" sz="2700" spc="1267">
                <a:latin typeface="Cambria Math"/>
                <a:cs typeface="Cambria Math"/>
              </a:rPr>
              <a:t>'</a:t>
            </a:r>
            <a:r>
              <a:rPr dirty="0" baseline="37037" sz="2700" spc="427">
                <a:latin typeface="Cambria Math"/>
                <a:cs typeface="Cambria Math"/>
              </a:rPr>
              <a:t>(</a:t>
            </a:r>
            <a:r>
              <a:rPr dirty="0" baseline="37037" sz="2700">
                <a:latin typeface="Cambria Math"/>
                <a:cs typeface="Cambria Math"/>
              </a:rPr>
              <a:t> </a:t>
            </a:r>
            <a:r>
              <a:rPr dirty="0" baseline="37037" sz="2700" spc="-292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35">
                <a:solidFill>
                  <a:srgbClr val="0070C0"/>
                </a:solidFill>
                <a:latin typeface="Cambria Math"/>
                <a:cs typeface="Cambria Math"/>
              </a:rPr>
              <a:t>A</a:t>
            </a:r>
            <a:r>
              <a:rPr dirty="0" sz="2400" spc="-5">
                <a:solidFill>
                  <a:srgbClr val="0070C0"/>
                </a:solidFill>
                <a:latin typeface="Cambria Math"/>
                <a:cs typeface="Cambria Math"/>
              </a:rPr>
              <a:t>G</a:t>
            </a:r>
            <a:r>
              <a:rPr dirty="0" sz="2400">
                <a:solidFill>
                  <a:srgbClr val="0070C0"/>
                </a:solidFill>
                <a:latin typeface="Cambria Math"/>
                <a:cs typeface="Cambria Math"/>
              </a:rPr>
              <a:t>G	𝐡</a:t>
            </a:r>
            <a:r>
              <a:rPr dirty="0" sz="2400" spc="185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baseline="37037" sz="2700" spc="-1402">
                <a:solidFill>
                  <a:srgbClr val="0070C0"/>
                </a:solidFill>
                <a:latin typeface="Cambria Math"/>
                <a:cs typeface="Cambria Math"/>
              </a:rPr>
              <a:t>%</a:t>
            </a:r>
            <a:r>
              <a:rPr dirty="0" baseline="37037" sz="2700" spc="1267">
                <a:solidFill>
                  <a:srgbClr val="0070C0"/>
                </a:solidFill>
                <a:latin typeface="Cambria Math"/>
                <a:cs typeface="Cambria Math"/>
              </a:rPr>
              <a:t>'</a:t>
            </a:r>
            <a:r>
              <a:rPr dirty="0" baseline="37037" sz="2700" spc="427">
                <a:solidFill>
                  <a:srgbClr val="0070C0"/>
                </a:solidFill>
                <a:latin typeface="Cambria Math"/>
                <a:cs typeface="Cambria Math"/>
              </a:rPr>
              <a:t>(</a:t>
            </a:r>
            <a:r>
              <a:rPr dirty="0" baseline="37037" sz="270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baseline="37037" sz="2700" spc="-292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70C0"/>
                </a:solidFill>
                <a:latin typeface="Cambria Math"/>
                <a:cs typeface="Cambria Math"/>
              </a:rPr>
              <a:t>,</a:t>
            </a:r>
            <a:r>
              <a:rPr dirty="0" sz="2400" spc="-135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70C0"/>
                </a:solidFill>
                <a:latin typeface="Cambria Math"/>
                <a:cs typeface="Cambria Math"/>
              </a:rPr>
              <a:t>∀𝑢</a:t>
            </a:r>
            <a:r>
              <a:rPr dirty="0" sz="2400" spc="19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70C0"/>
                </a:solidFill>
                <a:latin typeface="Cambria Math"/>
                <a:cs typeface="Cambria Math"/>
              </a:rPr>
              <a:t>∈</a:t>
            </a:r>
            <a:r>
              <a:rPr dirty="0" sz="2400" spc="135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70C0"/>
                </a:solidFill>
                <a:latin typeface="Cambria Math"/>
                <a:cs typeface="Cambria Math"/>
              </a:rPr>
              <a:t>𝑁	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09017" y="5008879"/>
            <a:ext cx="4343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505">
                <a:latin typeface="Cambria Math"/>
                <a:cs typeface="Cambria Math"/>
              </a:rPr>
              <a:t>(</a:t>
            </a:r>
            <a:r>
              <a:rPr dirty="0" sz="1500" spc="-25">
                <a:latin typeface="Cambria Math"/>
                <a:cs typeface="Cambria Math"/>
              </a:rPr>
              <a:t>(</a:t>
            </a:r>
            <a:r>
              <a:rPr dirty="0" sz="1500" spc="260">
                <a:latin typeface="Cambria Math"/>
                <a:cs typeface="Cambria Math"/>
              </a:rPr>
              <a:t>"</a:t>
            </a:r>
            <a:r>
              <a:rPr dirty="0" sz="1500">
                <a:latin typeface="Cambria Math"/>
                <a:cs typeface="Cambria Math"/>
              </a:rPr>
              <a:t>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53442" y="4725923"/>
            <a:ext cx="4083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166" sz="3000">
                <a:latin typeface="Cambria Math"/>
                <a:cs typeface="Cambria Math"/>
              </a:rPr>
              <a:t>𝐡</a:t>
            </a:r>
            <a:r>
              <a:rPr dirty="0" sz="1500" spc="-25">
                <a:latin typeface="Cambria Math"/>
                <a:cs typeface="Cambria Math"/>
              </a:rPr>
              <a:t>(</a:t>
            </a:r>
            <a:r>
              <a:rPr dirty="0" sz="1500" spc="125">
                <a:latin typeface="Cambria Math"/>
                <a:cs typeface="Cambria Math"/>
              </a:rPr>
              <a:t>!</a:t>
            </a:r>
            <a:r>
              <a:rPr dirty="0" sz="1500">
                <a:latin typeface="Cambria Math"/>
                <a:cs typeface="Cambria Math"/>
              </a:rPr>
              <a:t>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221291" y="4845763"/>
            <a:ext cx="2309495" cy="419100"/>
          </a:xfrm>
          <a:custGeom>
            <a:avLst/>
            <a:gdLst/>
            <a:ahLst/>
            <a:cxnLst/>
            <a:rect l="l" t="t" r="r" b="b"/>
            <a:pathLst>
              <a:path w="2309495" h="419100">
                <a:moveTo>
                  <a:pt x="2218731" y="0"/>
                </a:moveTo>
                <a:lnTo>
                  <a:pt x="2214763" y="9922"/>
                </a:lnTo>
                <a:lnTo>
                  <a:pt x="2230378" y="22615"/>
                </a:lnTo>
                <a:lnTo>
                  <a:pt x="2244234" y="39114"/>
                </a:lnTo>
                <a:lnTo>
                  <a:pt x="2266666" y="83530"/>
                </a:lnTo>
                <a:lnTo>
                  <a:pt x="2280852" y="141061"/>
                </a:lnTo>
                <a:lnTo>
                  <a:pt x="2285580" y="209599"/>
                </a:lnTo>
                <a:lnTo>
                  <a:pt x="2284406" y="244682"/>
                </a:lnTo>
                <a:lnTo>
                  <a:pt x="2275011" y="307314"/>
                </a:lnTo>
                <a:lnTo>
                  <a:pt x="2256493" y="359218"/>
                </a:lnTo>
                <a:lnTo>
                  <a:pt x="2230479" y="396301"/>
                </a:lnTo>
                <a:lnTo>
                  <a:pt x="2214763" y="409028"/>
                </a:lnTo>
                <a:lnTo>
                  <a:pt x="2218731" y="418951"/>
                </a:lnTo>
                <a:lnTo>
                  <a:pt x="2256016" y="389123"/>
                </a:lnTo>
                <a:lnTo>
                  <a:pt x="2284774" y="341312"/>
                </a:lnTo>
                <a:lnTo>
                  <a:pt x="2303145" y="279920"/>
                </a:lnTo>
                <a:lnTo>
                  <a:pt x="2309268" y="209351"/>
                </a:lnTo>
                <a:lnTo>
                  <a:pt x="2307738" y="172733"/>
                </a:lnTo>
                <a:lnTo>
                  <a:pt x="2295490" y="106753"/>
                </a:lnTo>
                <a:lnTo>
                  <a:pt x="2271461" y="51438"/>
                </a:lnTo>
                <a:lnTo>
                  <a:pt x="2238440" y="12743"/>
                </a:lnTo>
                <a:lnTo>
                  <a:pt x="2218731" y="0"/>
                </a:lnTo>
                <a:close/>
              </a:path>
              <a:path w="2309495" h="419100">
                <a:moveTo>
                  <a:pt x="90413" y="0"/>
                </a:moveTo>
                <a:lnTo>
                  <a:pt x="53221" y="29889"/>
                </a:lnTo>
                <a:lnTo>
                  <a:pt x="24494" y="77391"/>
                </a:lnTo>
                <a:lnTo>
                  <a:pt x="6123" y="138534"/>
                </a:lnTo>
                <a:lnTo>
                  <a:pt x="0" y="209351"/>
                </a:lnTo>
                <a:lnTo>
                  <a:pt x="1530" y="245783"/>
                </a:lnTo>
                <a:lnTo>
                  <a:pt x="13778" y="311763"/>
                </a:lnTo>
                <a:lnTo>
                  <a:pt x="37799" y="367466"/>
                </a:lnTo>
                <a:lnTo>
                  <a:pt x="70759" y="406285"/>
                </a:lnTo>
                <a:lnTo>
                  <a:pt x="90413" y="418951"/>
                </a:lnTo>
                <a:lnTo>
                  <a:pt x="94505" y="409028"/>
                </a:lnTo>
                <a:lnTo>
                  <a:pt x="78739" y="396301"/>
                </a:lnTo>
                <a:lnTo>
                  <a:pt x="64802" y="379697"/>
                </a:lnTo>
                <a:lnTo>
                  <a:pt x="42416" y="334863"/>
                </a:lnTo>
                <a:lnTo>
                  <a:pt x="28371" y="277254"/>
                </a:lnTo>
                <a:lnTo>
                  <a:pt x="23689" y="209599"/>
                </a:lnTo>
                <a:lnTo>
                  <a:pt x="24871" y="173954"/>
                </a:lnTo>
                <a:lnTo>
                  <a:pt x="34327" y="110920"/>
                </a:lnTo>
                <a:lnTo>
                  <a:pt x="52939" y="59419"/>
                </a:lnTo>
                <a:lnTo>
                  <a:pt x="78890" y="22615"/>
                </a:lnTo>
                <a:lnTo>
                  <a:pt x="94505" y="9922"/>
                </a:lnTo>
                <a:lnTo>
                  <a:pt x="904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336017" y="4847188"/>
            <a:ext cx="2080260" cy="416559"/>
          </a:xfrm>
          <a:custGeom>
            <a:avLst/>
            <a:gdLst/>
            <a:ahLst/>
            <a:cxnLst/>
            <a:rect l="l" t="t" r="r" b="b"/>
            <a:pathLst>
              <a:path w="2080260" h="416560">
                <a:moveTo>
                  <a:pt x="1991908" y="0"/>
                </a:moveTo>
                <a:lnTo>
                  <a:pt x="1991908" y="9921"/>
                </a:lnTo>
                <a:lnTo>
                  <a:pt x="1998854" y="10417"/>
                </a:lnTo>
                <a:lnTo>
                  <a:pt x="2005117" y="12133"/>
                </a:lnTo>
                <a:lnTo>
                  <a:pt x="2032030" y="41982"/>
                </a:lnTo>
                <a:lnTo>
                  <a:pt x="2037302" y="84956"/>
                </a:lnTo>
                <a:lnTo>
                  <a:pt x="2037092" y="92517"/>
                </a:lnTo>
                <a:lnTo>
                  <a:pt x="2036465" y="101435"/>
                </a:lnTo>
                <a:lnTo>
                  <a:pt x="2035418" y="111710"/>
                </a:lnTo>
                <a:lnTo>
                  <a:pt x="2033953" y="123341"/>
                </a:lnTo>
                <a:lnTo>
                  <a:pt x="2032488" y="134700"/>
                </a:lnTo>
                <a:lnTo>
                  <a:pt x="2031406" y="144587"/>
                </a:lnTo>
                <a:lnTo>
                  <a:pt x="2030813" y="151723"/>
                </a:lnTo>
                <a:lnTo>
                  <a:pt x="2030604" y="157386"/>
                </a:lnTo>
                <a:lnTo>
                  <a:pt x="2031170" y="167459"/>
                </a:lnTo>
                <a:lnTo>
                  <a:pt x="2051232" y="204928"/>
                </a:lnTo>
                <a:lnTo>
                  <a:pt x="2056277" y="206747"/>
                </a:lnTo>
                <a:lnTo>
                  <a:pt x="2056277" y="209227"/>
                </a:lnTo>
                <a:lnTo>
                  <a:pt x="2031170" y="248232"/>
                </a:lnTo>
                <a:lnTo>
                  <a:pt x="2030604" y="258340"/>
                </a:lnTo>
                <a:lnTo>
                  <a:pt x="2030813" y="262832"/>
                </a:lnTo>
                <a:lnTo>
                  <a:pt x="2031441" y="270107"/>
                </a:lnTo>
                <a:lnTo>
                  <a:pt x="2032488" y="280164"/>
                </a:lnTo>
                <a:lnTo>
                  <a:pt x="2035418" y="306008"/>
                </a:lnTo>
                <a:lnTo>
                  <a:pt x="2036465" y="316554"/>
                </a:lnTo>
                <a:lnTo>
                  <a:pt x="2037092" y="324643"/>
                </a:lnTo>
                <a:lnTo>
                  <a:pt x="2037302" y="330274"/>
                </a:lnTo>
                <a:lnTo>
                  <a:pt x="2037123" y="339839"/>
                </a:lnTo>
                <a:lnTo>
                  <a:pt x="2029570" y="381372"/>
                </a:lnTo>
                <a:lnTo>
                  <a:pt x="2025519" y="387324"/>
                </a:lnTo>
                <a:lnTo>
                  <a:pt x="2021467" y="393443"/>
                </a:lnTo>
                <a:lnTo>
                  <a:pt x="2016672" y="398011"/>
                </a:lnTo>
                <a:lnTo>
                  <a:pt x="2005592" y="404047"/>
                </a:lnTo>
                <a:lnTo>
                  <a:pt x="1999184" y="405804"/>
                </a:lnTo>
                <a:lnTo>
                  <a:pt x="1991908" y="406300"/>
                </a:lnTo>
                <a:lnTo>
                  <a:pt x="1991908" y="416222"/>
                </a:lnTo>
                <a:lnTo>
                  <a:pt x="2033557" y="402246"/>
                </a:lnTo>
                <a:lnTo>
                  <a:pt x="2055161" y="363822"/>
                </a:lnTo>
                <a:lnTo>
                  <a:pt x="2059254" y="325561"/>
                </a:lnTo>
                <a:lnTo>
                  <a:pt x="2059017" y="317632"/>
                </a:lnTo>
                <a:lnTo>
                  <a:pt x="2058308" y="308105"/>
                </a:lnTo>
                <a:lnTo>
                  <a:pt x="2057126" y="296981"/>
                </a:lnTo>
                <a:lnTo>
                  <a:pt x="2055470" y="284261"/>
                </a:lnTo>
                <a:lnTo>
                  <a:pt x="2053815" y="272006"/>
                </a:lnTo>
                <a:lnTo>
                  <a:pt x="2052634" y="262278"/>
                </a:lnTo>
                <a:lnTo>
                  <a:pt x="2051925" y="255077"/>
                </a:lnTo>
                <a:lnTo>
                  <a:pt x="2051808" y="248232"/>
                </a:lnTo>
                <a:lnTo>
                  <a:pt x="2052134" y="242353"/>
                </a:lnTo>
                <a:lnTo>
                  <a:pt x="2079842" y="213320"/>
                </a:lnTo>
                <a:lnTo>
                  <a:pt x="2079842" y="202653"/>
                </a:lnTo>
                <a:lnTo>
                  <a:pt x="2052138" y="173655"/>
                </a:lnTo>
                <a:lnTo>
                  <a:pt x="2051688" y="165446"/>
                </a:lnTo>
                <a:lnTo>
                  <a:pt x="2051925" y="160648"/>
                </a:lnTo>
                <a:lnTo>
                  <a:pt x="2052634" y="153695"/>
                </a:lnTo>
                <a:lnTo>
                  <a:pt x="2053878" y="144161"/>
                </a:lnTo>
                <a:lnTo>
                  <a:pt x="2055470" y="133324"/>
                </a:lnTo>
                <a:lnTo>
                  <a:pt x="2057126" y="121488"/>
                </a:lnTo>
                <a:lnTo>
                  <a:pt x="2058308" y="110660"/>
                </a:lnTo>
                <a:lnTo>
                  <a:pt x="2059017" y="100838"/>
                </a:lnTo>
                <a:lnTo>
                  <a:pt x="2059254" y="92025"/>
                </a:lnTo>
                <a:lnTo>
                  <a:pt x="2058172" y="70406"/>
                </a:lnTo>
                <a:lnTo>
                  <a:pt x="2041952" y="23688"/>
                </a:lnTo>
                <a:lnTo>
                  <a:pt x="2007315" y="2084"/>
                </a:lnTo>
                <a:lnTo>
                  <a:pt x="1991908" y="0"/>
                </a:lnTo>
                <a:close/>
              </a:path>
              <a:path w="2080260" h="416560">
                <a:moveTo>
                  <a:pt x="87933" y="0"/>
                </a:moveTo>
                <a:lnTo>
                  <a:pt x="47424" y="13929"/>
                </a:lnTo>
                <a:lnTo>
                  <a:pt x="24898" y="51810"/>
                </a:lnTo>
                <a:lnTo>
                  <a:pt x="20587" y="92025"/>
                </a:lnTo>
                <a:lnTo>
                  <a:pt x="20824" y="100838"/>
                </a:lnTo>
                <a:lnTo>
                  <a:pt x="21533" y="110660"/>
                </a:lnTo>
                <a:lnTo>
                  <a:pt x="22716" y="121488"/>
                </a:lnTo>
                <a:lnTo>
                  <a:pt x="24371" y="133324"/>
                </a:lnTo>
                <a:lnTo>
                  <a:pt x="26026" y="144587"/>
                </a:lnTo>
                <a:lnTo>
                  <a:pt x="27208" y="153695"/>
                </a:lnTo>
                <a:lnTo>
                  <a:pt x="27917" y="160648"/>
                </a:lnTo>
                <a:lnTo>
                  <a:pt x="28043" y="167459"/>
                </a:lnTo>
                <a:lnTo>
                  <a:pt x="27703" y="173655"/>
                </a:lnTo>
                <a:lnTo>
                  <a:pt x="0" y="202653"/>
                </a:lnTo>
                <a:lnTo>
                  <a:pt x="0" y="213320"/>
                </a:lnTo>
                <a:lnTo>
                  <a:pt x="27707" y="242353"/>
                </a:lnTo>
                <a:lnTo>
                  <a:pt x="28153" y="250403"/>
                </a:lnTo>
                <a:lnTo>
                  <a:pt x="27917" y="255077"/>
                </a:lnTo>
                <a:lnTo>
                  <a:pt x="27140" y="262832"/>
                </a:lnTo>
                <a:lnTo>
                  <a:pt x="26026" y="272006"/>
                </a:lnTo>
                <a:lnTo>
                  <a:pt x="24371" y="284261"/>
                </a:lnTo>
                <a:lnTo>
                  <a:pt x="22716" y="296981"/>
                </a:lnTo>
                <a:lnTo>
                  <a:pt x="21533" y="308105"/>
                </a:lnTo>
                <a:lnTo>
                  <a:pt x="20824" y="317632"/>
                </a:lnTo>
                <a:lnTo>
                  <a:pt x="20587" y="325561"/>
                </a:lnTo>
                <a:lnTo>
                  <a:pt x="21607" y="345948"/>
                </a:lnTo>
                <a:lnTo>
                  <a:pt x="36897" y="392037"/>
                </a:lnTo>
                <a:lnTo>
                  <a:pt x="71721" y="414338"/>
                </a:lnTo>
                <a:lnTo>
                  <a:pt x="87933" y="416222"/>
                </a:lnTo>
                <a:lnTo>
                  <a:pt x="87933" y="406300"/>
                </a:lnTo>
                <a:lnTo>
                  <a:pt x="80657" y="405804"/>
                </a:lnTo>
                <a:lnTo>
                  <a:pt x="74249" y="404047"/>
                </a:lnTo>
                <a:lnTo>
                  <a:pt x="47294" y="373682"/>
                </a:lnTo>
                <a:lnTo>
                  <a:pt x="42541" y="330274"/>
                </a:lnTo>
                <a:lnTo>
                  <a:pt x="42750" y="324643"/>
                </a:lnTo>
                <a:lnTo>
                  <a:pt x="43377" y="316554"/>
                </a:lnTo>
                <a:lnTo>
                  <a:pt x="44423" y="306008"/>
                </a:lnTo>
                <a:lnTo>
                  <a:pt x="47354" y="280164"/>
                </a:lnTo>
                <a:lnTo>
                  <a:pt x="48400" y="270107"/>
                </a:lnTo>
                <a:lnTo>
                  <a:pt x="49028" y="262832"/>
                </a:lnTo>
                <a:lnTo>
                  <a:pt x="49237" y="258340"/>
                </a:lnTo>
                <a:lnTo>
                  <a:pt x="48668" y="248232"/>
                </a:lnTo>
                <a:lnTo>
                  <a:pt x="28525" y="211212"/>
                </a:lnTo>
                <a:lnTo>
                  <a:pt x="23564" y="209227"/>
                </a:lnTo>
                <a:lnTo>
                  <a:pt x="23564" y="206747"/>
                </a:lnTo>
                <a:lnTo>
                  <a:pt x="46958" y="176470"/>
                </a:lnTo>
                <a:lnTo>
                  <a:pt x="49237" y="157386"/>
                </a:lnTo>
                <a:lnTo>
                  <a:pt x="49028" y="151723"/>
                </a:lnTo>
                <a:lnTo>
                  <a:pt x="48400" y="144161"/>
                </a:lnTo>
                <a:lnTo>
                  <a:pt x="47354" y="134700"/>
                </a:lnTo>
                <a:lnTo>
                  <a:pt x="45888" y="123341"/>
                </a:lnTo>
                <a:lnTo>
                  <a:pt x="44423" y="111710"/>
                </a:lnTo>
                <a:lnTo>
                  <a:pt x="43377" y="101435"/>
                </a:lnTo>
                <a:lnTo>
                  <a:pt x="42750" y="92517"/>
                </a:lnTo>
                <a:lnTo>
                  <a:pt x="42541" y="84956"/>
                </a:lnTo>
                <a:lnTo>
                  <a:pt x="42738" y="75456"/>
                </a:lnTo>
                <a:lnTo>
                  <a:pt x="50829" y="34354"/>
                </a:lnTo>
                <a:lnTo>
                  <a:pt x="80987" y="10417"/>
                </a:lnTo>
                <a:lnTo>
                  <a:pt x="87933" y="9921"/>
                </a:lnTo>
                <a:lnTo>
                  <a:pt x="879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574495" y="4990591"/>
            <a:ext cx="1492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610">
                <a:latin typeface="Cambria Math"/>
                <a:cs typeface="Cambria Math"/>
              </a:rPr>
              <a:t>'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986199" y="4937654"/>
            <a:ext cx="311785" cy="235585"/>
          </a:xfrm>
          <a:custGeom>
            <a:avLst/>
            <a:gdLst/>
            <a:ahLst/>
            <a:cxnLst/>
            <a:rect l="l" t="t" r="r" b="b"/>
            <a:pathLst>
              <a:path w="311785" h="235585">
                <a:moveTo>
                  <a:pt x="236688" y="0"/>
                </a:moveTo>
                <a:lnTo>
                  <a:pt x="233339" y="9549"/>
                </a:lnTo>
                <a:lnTo>
                  <a:pt x="246959" y="15459"/>
                </a:lnTo>
                <a:lnTo>
                  <a:pt x="258672" y="23641"/>
                </a:lnTo>
                <a:lnTo>
                  <a:pt x="282453" y="61565"/>
                </a:lnTo>
                <a:lnTo>
                  <a:pt x="290267" y="116457"/>
                </a:lnTo>
                <a:lnTo>
                  <a:pt x="289395" y="137208"/>
                </a:lnTo>
                <a:lnTo>
                  <a:pt x="276313" y="188019"/>
                </a:lnTo>
                <a:lnTo>
                  <a:pt x="247117" y="219784"/>
                </a:lnTo>
                <a:lnTo>
                  <a:pt x="233711" y="225722"/>
                </a:lnTo>
                <a:lnTo>
                  <a:pt x="236688" y="235272"/>
                </a:lnTo>
                <a:lnTo>
                  <a:pt x="281639" y="208564"/>
                </a:lnTo>
                <a:lnTo>
                  <a:pt x="306885" y="159261"/>
                </a:lnTo>
                <a:lnTo>
                  <a:pt x="311722" y="117698"/>
                </a:lnTo>
                <a:lnTo>
                  <a:pt x="310509" y="96129"/>
                </a:lnTo>
                <a:lnTo>
                  <a:pt x="300805" y="57899"/>
                </a:lnTo>
                <a:lnTo>
                  <a:pt x="268702" y="15083"/>
                </a:lnTo>
                <a:lnTo>
                  <a:pt x="253746" y="6158"/>
                </a:lnTo>
                <a:lnTo>
                  <a:pt x="236688" y="0"/>
                </a:lnTo>
                <a:close/>
              </a:path>
              <a:path w="311785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395998" y="4860035"/>
            <a:ext cx="28244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050" algn="l"/>
              </a:tabLst>
            </a:pPr>
            <a:r>
              <a:rPr dirty="0" sz="2000">
                <a:latin typeface="Cambria Math"/>
                <a:cs typeface="Cambria Math"/>
              </a:rPr>
              <a:t>←</a:t>
            </a:r>
            <a:r>
              <a:rPr dirty="0" sz="2000" spc="105">
                <a:latin typeface="Cambria Math"/>
                <a:cs typeface="Cambria Math"/>
              </a:rPr>
              <a:t> </a:t>
            </a:r>
            <a:r>
              <a:rPr dirty="0" sz="2000" spc="-15">
                <a:latin typeface="Cambria Math"/>
                <a:cs typeface="Cambria Math"/>
              </a:rPr>
              <a:t>AGG	</a:t>
            </a:r>
            <a:r>
              <a:rPr dirty="0" sz="2000" spc="-50">
                <a:latin typeface="Cambria Math"/>
                <a:cs typeface="Cambria Math"/>
              </a:rPr>
              <a:t>𝐡</a:t>
            </a:r>
            <a:r>
              <a:rPr dirty="0" baseline="38888" sz="2250" spc="-75">
                <a:latin typeface="Cambria Math"/>
                <a:cs typeface="Cambria Math"/>
              </a:rPr>
              <a:t>(!%&amp;)</a:t>
            </a:r>
            <a:r>
              <a:rPr dirty="0" sz="2000" spc="-50">
                <a:latin typeface="Cambria Math"/>
                <a:cs typeface="Cambria Math"/>
              </a:rPr>
              <a:t>, </a:t>
            </a:r>
            <a:r>
              <a:rPr dirty="0" sz="2000">
                <a:latin typeface="Cambria Math"/>
                <a:cs typeface="Cambria Math"/>
              </a:rPr>
              <a:t>∀𝑢  ∈ 𝑁</a:t>
            </a:r>
            <a:r>
              <a:rPr dirty="0" sz="2000" spc="16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𝑣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87544" y="6051455"/>
            <a:ext cx="3310254" cy="419100"/>
          </a:xfrm>
          <a:custGeom>
            <a:avLst/>
            <a:gdLst/>
            <a:ahLst/>
            <a:cxnLst/>
            <a:rect l="l" t="t" r="r" b="b"/>
            <a:pathLst>
              <a:path w="3310254" h="419100">
                <a:moveTo>
                  <a:pt x="3219364" y="0"/>
                </a:moveTo>
                <a:lnTo>
                  <a:pt x="3215396" y="9921"/>
                </a:lnTo>
                <a:lnTo>
                  <a:pt x="3231011" y="22614"/>
                </a:lnTo>
                <a:lnTo>
                  <a:pt x="3244867" y="39113"/>
                </a:lnTo>
                <a:lnTo>
                  <a:pt x="3267299" y="83529"/>
                </a:lnTo>
                <a:lnTo>
                  <a:pt x="3281484" y="141061"/>
                </a:lnTo>
                <a:lnTo>
                  <a:pt x="3286212" y="209599"/>
                </a:lnTo>
                <a:lnTo>
                  <a:pt x="3285038" y="244682"/>
                </a:lnTo>
                <a:lnTo>
                  <a:pt x="3275644" y="307314"/>
                </a:lnTo>
                <a:lnTo>
                  <a:pt x="3257126" y="359218"/>
                </a:lnTo>
                <a:lnTo>
                  <a:pt x="3231112" y="396301"/>
                </a:lnTo>
                <a:lnTo>
                  <a:pt x="3215396" y="409029"/>
                </a:lnTo>
                <a:lnTo>
                  <a:pt x="3219364" y="418951"/>
                </a:lnTo>
                <a:lnTo>
                  <a:pt x="3256649" y="389123"/>
                </a:lnTo>
                <a:lnTo>
                  <a:pt x="3285407" y="341312"/>
                </a:lnTo>
                <a:lnTo>
                  <a:pt x="3303778" y="279920"/>
                </a:lnTo>
                <a:lnTo>
                  <a:pt x="3309901" y="209351"/>
                </a:lnTo>
                <a:lnTo>
                  <a:pt x="3308371" y="172733"/>
                </a:lnTo>
                <a:lnTo>
                  <a:pt x="3296123" y="106753"/>
                </a:lnTo>
                <a:lnTo>
                  <a:pt x="3272094" y="51438"/>
                </a:lnTo>
                <a:lnTo>
                  <a:pt x="3239073" y="12743"/>
                </a:lnTo>
                <a:lnTo>
                  <a:pt x="3219364" y="0"/>
                </a:lnTo>
                <a:close/>
              </a:path>
              <a:path w="3310254" h="419100">
                <a:moveTo>
                  <a:pt x="90413" y="0"/>
                </a:moveTo>
                <a:lnTo>
                  <a:pt x="53221" y="29889"/>
                </a:lnTo>
                <a:lnTo>
                  <a:pt x="24494" y="77390"/>
                </a:lnTo>
                <a:lnTo>
                  <a:pt x="6123" y="138534"/>
                </a:lnTo>
                <a:lnTo>
                  <a:pt x="0" y="209351"/>
                </a:lnTo>
                <a:lnTo>
                  <a:pt x="1530" y="245783"/>
                </a:lnTo>
                <a:lnTo>
                  <a:pt x="13778" y="311763"/>
                </a:lnTo>
                <a:lnTo>
                  <a:pt x="37799" y="367465"/>
                </a:lnTo>
                <a:lnTo>
                  <a:pt x="70759" y="406285"/>
                </a:lnTo>
                <a:lnTo>
                  <a:pt x="90413" y="418951"/>
                </a:lnTo>
                <a:lnTo>
                  <a:pt x="94505" y="409029"/>
                </a:lnTo>
                <a:lnTo>
                  <a:pt x="78739" y="396301"/>
                </a:lnTo>
                <a:lnTo>
                  <a:pt x="64802" y="379697"/>
                </a:lnTo>
                <a:lnTo>
                  <a:pt x="42416" y="334863"/>
                </a:lnTo>
                <a:lnTo>
                  <a:pt x="28371" y="277254"/>
                </a:lnTo>
                <a:lnTo>
                  <a:pt x="23689" y="209599"/>
                </a:lnTo>
                <a:lnTo>
                  <a:pt x="24871" y="173954"/>
                </a:lnTo>
                <a:lnTo>
                  <a:pt x="34327" y="110919"/>
                </a:lnTo>
                <a:lnTo>
                  <a:pt x="52939" y="59418"/>
                </a:lnTo>
                <a:lnTo>
                  <a:pt x="78890" y="22614"/>
                </a:lnTo>
                <a:lnTo>
                  <a:pt x="94505" y="9921"/>
                </a:lnTo>
                <a:lnTo>
                  <a:pt x="904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567014" y="6194552"/>
            <a:ext cx="28981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76855" algn="l"/>
              </a:tabLst>
            </a:pPr>
            <a:r>
              <a:rPr dirty="0" sz="1500" spc="250">
                <a:latin typeface="Cambria Math"/>
                <a:cs typeface="Cambria Math"/>
              </a:rPr>
              <a:t>"</a:t>
            </a:r>
            <a:r>
              <a:rPr dirty="0" sz="1500" spc="250">
                <a:latin typeface="Cambria Math"/>
                <a:cs typeface="Cambria Math"/>
              </a:rPr>
              <a:t>	</a:t>
            </a:r>
            <a:r>
              <a:rPr dirty="0" sz="1500" spc="250">
                <a:latin typeface="Cambria Math"/>
                <a:cs typeface="Cambria Math"/>
              </a:rPr>
              <a:t>"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361183" y="6063308"/>
            <a:ext cx="436880" cy="176530"/>
          </a:xfrm>
          <a:custGeom>
            <a:avLst/>
            <a:gdLst/>
            <a:ahLst/>
            <a:cxnLst/>
            <a:rect l="l" t="t" r="r" b="b"/>
            <a:pathLst>
              <a:path w="436879" h="176529">
                <a:moveTo>
                  <a:pt x="380589" y="0"/>
                </a:moveTo>
                <a:lnTo>
                  <a:pt x="378078" y="7162"/>
                </a:lnTo>
                <a:lnTo>
                  <a:pt x="388293" y="11595"/>
                </a:lnTo>
                <a:lnTo>
                  <a:pt x="397077" y="17731"/>
                </a:lnTo>
                <a:lnTo>
                  <a:pt x="418169" y="58566"/>
                </a:lnTo>
                <a:lnTo>
                  <a:pt x="420773" y="87343"/>
                </a:lnTo>
                <a:lnTo>
                  <a:pt x="420119" y="102906"/>
                </a:lnTo>
                <a:lnTo>
                  <a:pt x="410309" y="141014"/>
                </a:lnTo>
                <a:lnTo>
                  <a:pt x="378358" y="169292"/>
                </a:lnTo>
                <a:lnTo>
                  <a:pt x="380589" y="176454"/>
                </a:lnTo>
                <a:lnTo>
                  <a:pt x="414303" y="156423"/>
                </a:lnTo>
                <a:lnTo>
                  <a:pt x="433238" y="119446"/>
                </a:lnTo>
                <a:lnTo>
                  <a:pt x="436866" y="88273"/>
                </a:lnTo>
                <a:lnTo>
                  <a:pt x="435956" y="72097"/>
                </a:lnTo>
                <a:lnTo>
                  <a:pt x="422308" y="30928"/>
                </a:lnTo>
                <a:lnTo>
                  <a:pt x="393382" y="4618"/>
                </a:lnTo>
                <a:lnTo>
                  <a:pt x="380589" y="0"/>
                </a:lnTo>
                <a:close/>
              </a:path>
              <a:path w="436879" h="176529">
                <a:moveTo>
                  <a:pt x="56276" y="0"/>
                </a:moveTo>
                <a:lnTo>
                  <a:pt x="22623" y="20083"/>
                </a:lnTo>
                <a:lnTo>
                  <a:pt x="3639" y="57147"/>
                </a:lnTo>
                <a:lnTo>
                  <a:pt x="0" y="88273"/>
                </a:lnTo>
                <a:lnTo>
                  <a:pt x="906" y="104484"/>
                </a:lnTo>
                <a:lnTo>
                  <a:pt x="14511" y="145618"/>
                </a:lnTo>
                <a:lnTo>
                  <a:pt x="43445" y="171841"/>
                </a:lnTo>
                <a:lnTo>
                  <a:pt x="56276" y="176454"/>
                </a:lnTo>
                <a:lnTo>
                  <a:pt x="58508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8" y="117039"/>
                </a:lnTo>
                <a:lnTo>
                  <a:pt x="16092" y="87343"/>
                </a:lnTo>
                <a:lnTo>
                  <a:pt x="16746" y="72289"/>
                </a:lnTo>
                <a:lnTo>
                  <a:pt x="26556" y="35114"/>
                </a:lnTo>
                <a:lnTo>
                  <a:pt x="58787" y="7162"/>
                </a:lnTo>
                <a:lnTo>
                  <a:pt x="56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060847" y="6212840"/>
            <a:ext cx="4343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505">
                <a:latin typeface="Cambria Math"/>
                <a:cs typeface="Cambria Math"/>
              </a:rPr>
              <a:t>(</a:t>
            </a:r>
            <a:r>
              <a:rPr dirty="0" sz="1500" spc="-25">
                <a:latin typeface="Cambria Math"/>
                <a:cs typeface="Cambria Math"/>
              </a:rPr>
              <a:t>(</a:t>
            </a:r>
            <a:r>
              <a:rPr dirty="0" sz="1500" spc="260">
                <a:latin typeface="Cambria Math"/>
                <a:cs typeface="Cambria Math"/>
              </a:rPr>
              <a:t>"</a:t>
            </a:r>
            <a:r>
              <a:rPr dirty="0" sz="1500">
                <a:latin typeface="Cambria Math"/>
                <a:cs typeface="Cambria Math"/>
              </a:rPr>
              <a:t>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  <p:sp>
        <p:nvSpPr>
          <p:cNvPr id="28" name="object 28"/>
          <p:cNvSpPr txBox="1"/>
          <p:nvPr/>
        </p:nvSpPr>
        <p:spPr>
          <a:xfrm>
            <a:off x="2411439" y="6067044"/>
            <a:ext cx="41967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230" algn="l"/>
                <a:tab pos="4077970" algn="l"/>
              </a:tabLst>
            </a:pPr>
            <a:r>
              <a:rPr dirty="0" sz="2000">
                <a:latin typeface="Cambria Math"/>
                <a:cs typeface="Cambria Math"/>
              </a:rPr>
              <a:t>𝐡</a:t>
            </a:r>
            <a:r>
              <a:rPr dirty="0" baseline="40740" sz="2250" spc="-37">
                <a:latin typeface="Cambria Math"/>
                <a:cs typeface="Cambria Math"/>
              </a:rPr>
              <a:t>(</a:t>
            </a:r>
            <a:r>
              <a:rPr dirty="0" baseline="40740" sz="2250" spc="187">
                <a:latin typeface="Cambria Math"/>
                <a:cs typeface="Cambria Math"/>
              </a:rPr>
              <a:t>!</a:t>
            </a:r>
            <a:r>
              <a:rPr dirty="0" baseline="40740" sz="2250">
                <a:latin typeface="Cambria Math"/>
                <a:cs typeface="Cambria Math"/>
              </a:rPr>
              <a:t>)</a:t>
            </a:r>
            <a:r>
              <a:rPr dirty="0" baseline="40740" sz="2250" spc="187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←</a:t>
            </a:r>
            <a:r>
              <a:rPr dirty="0" sz="2000" spc="10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𝜎	</a:t>
            </a:r>
            <a:r>
              <a:rPr dirty="0" sz="2000" spc="75">
                <a:latin typeface="Cambria Math"/>
                <a:cs typeface="Cambria Math"/>
              </a:rPr>
              <a:t>𝐖</a:t>
            </a:r>
            <a:r>
              <a:rPr dirty="0" baseline="27777" sz="2250" spc="-37">
                <a:latin typeface="Cambria Math"/>
                <a:cs typeface="Cambria Math"/>
              </a:rPr>
              <a:t>(</a:t>
            </a:r>
            <a:r>
              <a:rPr dirty="0" baseline="27777" sz="2250" spc="187">
                <a:latin typeface="Cambria Math"/>
                <a:cs typeface="Cambria Math"/>
              </a:rPr>
              <a:t>!</a:t>
            </a:r>
            <a:r>
              <a:rPr dirty="0" baseline="27777" sz="2250">
                <a:latin typeface="Cambria Math"/>
                <a:cs typeface="Cambria Math"/>
              </a:rPr>
              <a:t>)</a:t>
            </a:r>
            <a:r>
              <a:rPr dirty="0" baseline="27777" sz="2250" spc="6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⋅ </a:t>
            </a:r>
            <a:r>
              <a:rPr dirty="0" sz="2000" spc="-15">
                <a:latin typeface="Cambria Math"/>
                <a:cs typeface="Cambria Math"/>
              </a:rPr>
              <a:t>C</a:t>
            </a:r>
            <a:r>
              <a:rPr dirty="0" sz="2000" spc="0">
                <a:latin typeface="Cambria Math"/>
                <a:cs typeface="Cambria Math"/>
              </a:rPr>
              <a:t>O</a:t>
            </a:r>
            <a:r>
              <a:rPr dirty="0" sz="2000">
                <a:latin typeface="Cambria Math"/>
                <a:cs typeface="Cambria Math"/>
              </a:rPr>
              <a:t>N</a:t>
            </a:r>
            <a:r>
              <a:rPr dirty="0" sz="2000" spc="-5">
                <a:latin typeface="Cambria Math"/>
                <a:cs typeface="Cambria Math"/>
              </a:rPr>
              <a:t>C</a:t>
            </a:r>
            <a:r>
              <a:rPr dirty="0" sz="2000" spc="-125">
                <a:latin typeface="Cambria Math"/>
                <a:cs typeface="Cambria Math"/>
              </a:rPr>
              <a:t>A</a:t>
            </a:r>
            <a:r>
              <a:rPr dirty="0" sz="2000">
                <a:latin typeface="Cambria Math"/>
                <a:cs typeface="Cambria Math"/>
              </a:rPr>
              <a:t>T</a:t>
            </a:r>
            <a:r>
              <a:rPr dirty="0" sz="2000" spc="-10">
                <a:latin typeface="Cambria Math"/>
                <a:cs typeface="Cambria Math"/>
              </a:rPr>
              <a:t>(</a:t>
            </a:r>
            <a:r>
              <a:rPr dirty="0" sz="2000">
                <a:latin typeface="Cambria Math"/>
                <a:cs typeface="Cambria Math"/>
              </a:rPr>
              <a:t>𝐡</a:t>
            </a:r>
            <a:r>
              <a:rPr dirty="0" sz="2000" spc="160">
                <a:latin typeface="Cambria Math"/>
                <a:cs typeface="Cambria Math"/>
              </a:rPr>
              <a:t> </a:t>
            </a:r>
            <a:r>
              <a:rPr dirty="0" baseline="37037" sz="2250" spc="187">
                <a:latin typeface="Cambria Math"/>
                <a:cs typeface="Cambria Math"/>
              </a:rPr>
              <a:t>!</a:t>
            </a:r>
            <a:r>
              <a:rPr dirty="0" baseline="37037" sz="2250" spc="-412">
                <a:latin typeface="Cambria Math"/>
                <a:cs typeface="Cambria Math"/>
              </a:rPr>
              <a:t>%</a:t>
            </a:r>
            <a:r>
              <a:rPr dirty="0" baseline="37037" sz="2250" spc="-247">
                <a:latin typeface="Cambria Math"/>
                <a:cs typeface="Cambria Math"/>
              </a:rPr>
              <a:t>&amp;</a:t>
            </a:r>
            <a:r>
              <a:rPr dirty="0" baseline="37037" sz="2250">
                <a:latin typeface="Cambria Math"/>
                <a:cs typeface="Cambria Math"/>
              </a:rPr>
              <a:t> </a:t>
            </a:r>
            <a:r>
              <a:rPr dirty="0" baseline="37037" sz="2250" spc="-24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10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𝐡</a:t>
            </a:r>
            <a:r>
              <a:rPr dirty="0" baseline="40740" sz="2250" spc="-37">
                <a:latin typeface="Cambria Math"/>
                <a:cs typeface="Cambria Math"/>
              </a:rPr>
              <a:t>(</a:t>
            </a:r>
            <a:r>
              <a:rPr dirty="0" baseline="40740" sz="2250" spc="187">
                <a:latin typeface="Cambria Math"/>
                <a:cs typeface="Cambria Math"/>
              </a:rPr>
              <a:t>!</a:t>
            </a:r>
            <a:r>
              <a:rPr dirty="0" baseline="40740" sz="2250">
                <a:latin typeface="Cambria Math"/>
                <a:cs typeface="Cambria Math"/>
              </a:rPr>
              <a:t>)	</a:t>
            </a:r>
            <a:r>
              <a:rPr dirty="0" sz="20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52650" y="20827"/>
            <a:ext cx="5111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Hamilton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Inductive Representation Learning on Large Graphs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Corbel"/>
                <a:cs typeface="Corbel"/>
              </a:rPr>
              <a:t>2017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53354" y="2460169"/>
            <a:ext cx="1042669" cy="422909"/>
          </a:xfrm>
          <a:custGeom>
            <a:avLst/>
            <a:gdLst/>
            <a:ahLst/>
            <a:cxnLst/>
            <a:rect l="l" t="t" r="r" b="b"/>
            <a:pathLst>
              <a:path w="1042670" h="422910">
                <a:moveTo>
                  <a:pt x="0" y="0"/>
                </a:moveTo>
                <a:lnTo>
                  <a:pt x="1042271" y="0"/>
                </a:lnTo>
                <a:lnTo>
                  <a:pt x="1042271" y="422656"/>
                </a:lnTo>
                <a:lnTo>
                  <a:pt x="0" y="422656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242241" y="2449056"/>
            <a:ext cx="1064895" cy="445134"/>
          </a:xfrm>
          <a:custGeom>
            <a:avLst/>
            <a:gdLst/>
            <a:ahLst/>
            <a:cxnLst/>
            <a:rect l="l" t="t" r="r" b="b"/>
            <a:pathLst>
              <a:path w="1064895" h="445135">
                <a:moveTo>
                  <a:pt x="1059521" y="0"/>
                </a:moveTo>
                <a:lnTo>
                  <a:pt x="4974" y="0"/>
                </a:lnTo>
                <a:lnTo>
                  <a:pt x="0" y="4974"/>
                </a:lnTo>
                <a:lnTo>
                  <a:pt x="0" y="439905"/>
                </a:lnTo>
                <a:lnTo>
                  <a:pt x="4974" y="444881"/>
                </a:lnTo>
                <a:lnTo>
                  <a:pt x="1059521" y="444881"/>
                </a:lnTo>
                <a:lnTo>
                  <a:pt x="1064496" y="439905"/>
                </a:lnTo>
                <a:lnTo>
                  <a:pt x="1064496" y="431546"/>
                </a:lnTo>
                <a:lnTo>
                  <a:pt x="13334" y="431546"/>
                </a:lnTo>
                <a:lnTo>
                  <a:pt x="13334" y="13335"/>
                </a:lnTo>
                <a:lnTo>
                  <a:pt x="1064496" y="13335"/>
                </a:lnTo>
                <a:lnTo>
                  <a:pt x="1064496" y="4974"/>
                </a:lnTo>
                <a:lnTo>
                  <a:pt x="1059521" y="0"/>
                </a:lnTo>
                <a:close/>
              </a:path>
              <a:path w="1064895" h="445135">
                <a:moveTo>
                  <a:pt x="1064496" y="13335"/>
                </a:moveTo>
                <a:lnTo>
                  <a:pt x="1051161" y="13335"/>
                </a:lnTo>
                <a:lnTo>
                  <a:pt x="1051161" y="431546"/>
                </a:lnTo>
                <a:lnTo>
                  <a:pt x="1064496" y="431546"/>
                </a:lnTo>
                <a:lnTo>
                  <a:pt x="1064496" y="13335"/>
                </a:lnTo>
                <a:close/>
              </a:path>
              <a:path w="1064895" h="445135">
                <a:moveTo>
                  <a:pt x="1046716" y="17780"/>
                </a:moveTo>
                <a:lnTo>
                  <a:pt x="17779" y="17780"/>
                </a:lnTo>
                <a:lnTo>
                  <a:pt x="17779" y="427101"/>
                </a:lnTo>
                <a:lnTo>
                  <a:pt x="1046716" y="427101"/>
                </a:lnTo>
                <a:lnTo>
                  <a:pt x="1046716" y="422656"/>
                </a:lnTo>
                <a:lnTo>
                  <a:pt x="22225" y="422656"/>
                </a:lnTo>
                <a:lnTo>
                  <a:pt x="22225" y="22225"/>
                </a:lnTo>
                <a:lnTo>
                  <a:pt x="1046716" y="22225"/>
                </a:lnTo>
                <a:lnTo>
                  <a:pt x="1046716" y="17780"/>
                </a:lnTo>
                <a:close/>
              </a:path>
              <a:path w="1064895" h="445135">
                <a:moveTo>
                  <a:pt x="1046716" y="22225"/>
                </a:moveTo>
                <a:lnTo>
                  <a:pt x="1042271" y="22225"/>
                </a:lnTo>
                <a:lnTo>
                  <a:pt x="1042271" y="422656"/>
                </a:lnTo>
                <a:lnTo>
                  <a:pt x="1046716" y="422656"/>
                </a:lnTo>
                <a:lnTo>
                  <a:pt x="1046716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9363" y="1347723"/>
            <a:ext cx="692023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2800" spc="-5">
                <a:solidFill>
                  <a:srgbClr val="D60093"/>
                </a:solidFill>
              </a:rPr>
              <a:t>Mean: </a:t>
            </a:r>
            <a:r>
              <a:rPr dirty="0" sz="2800" spc="-85" b="0">
                <a:solidFill>
                  <a:srgbClr val="000000"/>
                </a:solidFill>
                <a:latin typeface="Calibri"/>
                <a:cs typeface="Calibri"/>
              </a:rPr>
              <a:t>Take </a:t>
            </a:r>
            <a:r>
              <a:rPr dirty="0" sz="280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z="2800" spc="-20" b="0">
                <a:solidFill>
                  <a:srgbClr val="000000"/>
                </a:solidFill>
                <a:latin typeface="Calibri"/>
                <a:cs typeface="Calibri"/>
              </a:rPr>
              <a:t>weighted </a:t>
            </a:r>
            <a:r>
              <a:rPr dirty="0" sz="2800" spc="-30" b="0">
                <a:solidFill>
                  <a:srgbClr val="000000"/>
                </a:solidFill>
                <a:latin typeface="Calibri"/>
                <a:cs typeface="Calibri"/>
              </a:rPr>
              <a:t>average </a:t>
            </a:r>
            <a:r>
              <a:rPr dirty="0" sz="2800" spc="-5" b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2800" spc="1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"/>
                <a:cs typeface="Calibri"/>
              </a:rPr>
              <a:t>neighbors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363" y="3152139"/>
            <a:ext cx="7089140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469900" marR="5080" indent="-457200">
              <a:lnSpc>
                <a:spcPct val="101400"/>
              </a:lnSpc>
              <a:spcBef>
                <a:spcPts val="5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Pool: </a:t>
            </a:r>
            <a:r>
              <a:rPr dirty="0" sz="2800" spc="-40">
                <a:latin typeface="Calibri"/>
                <a:cs typeface="Calibri"/>
              </a:rPr>
              <a:t>Transform </a:t>
            </a:r>
            <a:r>
              <a:rPr dirty="0" sz="2800" spc="-5">
                <a:latin typeface="Calibri"/>
                <a:cs typeface="Calibri"/>
              </a:rPr>
              <a:t>neighbor </a:t>
            </a:r>
            <a:r>
              <a:rPr dirty="0" sz="2800" spc="-20">
                <a:latin typeface="Calibri"/>
                <a:cs typeface="Calibri"/>
              </a:rPr>
              <a:t>vectors </a:t>
            </a:r>
            <a:r>
              <a:rPr dirty="0" sz="2800" spc="-5">
                <a:latin typeface="Calibri"/>
                <a:cs typeface="Calibri"/>
              </a:rPr>
              <a:t>and apply  </a:t>
            </a:r>
            <a:r>
              <a:rPr dirty="0" sz="2800" spc="-15">
                <a:latin typeface="Calibri"/>
                <a:cs typeface="Calibri"/>
              </a:rPr>
              <a:t>symmetric vector </a:t>
            </a:r>
            <a:r>
              <a:rPr dirty="0" sz="2800" spc="-5">
                <a:latin typeface="Calibri"/>
                <a:cs typeface="Calibri"/>
              </a:rPr>
              <a:t>function </a:t>
            </a:r>
            <a:r>
              <a:rPr dirty="0" sz="2800" spc="-5">
                <a:latin typeface="Cambria Math"/>
                <a:cs typeface="Cambria Math"/>
              </a:rPr>
              <a:t>Mean(⋅) </a:t>
            </a:r>
            <a:r>
              <a:rPr dirty="0" sz="2800" spc="-5">
                <a:latin typeface="Calibri"/>
                <a:cs typeface="Calibri"/>
              </a:rPr>
              <a:t>or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Max(⋅)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363" y="5133339"/>
            <a:ext cx="69735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LSTM: </a:t>
            </a:r>
            <a:r>
              <a:rPr dirty="0" sz="2800" spc="-5">
                <a:latin typeface="Calibri"/>
                <a:cs typeface="Calibri"/>
              </a:rPr>
              <a:t>Apply </a:t>
            </a:r>
            <a:r>
              <a:rPr dirty="0" sz="2800" spc="-10">
                <a:latin typeface="Calibri"/>
                <a:cs typeface="Calibri"/>
              </a:rPr>
              <a:t>LSTM </a:t>
            </a:r>
            <a:r>
              <a:rPr dirty="0" sz="2800" spc="-15">
                <a:latin typeface="Calibri"/>
                <a:cs typeface="Calibri"/>
              </a:rPr>
              <a:t>to reshuffled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neighbors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7979" y="2198046"/>
            <a:ext cx="904240" cy="8489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905">
              <a:lnSpc>
                <a:spcPts val="3220"/>
              </a:lnSpc>
            </a:pPr>
            <a:r>
              <a:rPr dirty="0" sz="2800" spc="2155">
                <a:latin typeface="Cambria Math"/>
                <a:cs typeface="Cambria Math"/>
              </a:rPr>
              <a:t>7</a:t>
            </a:r>
            <a:endParaRPr sz="2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1015"/>
              </a:spcBef>
            </a:pPr>
            <a:r>
              <a:rPr dirty="0" sz="2000" spc="565">
                <a:latin typeface="Cambria Math"/>
                <a:cs typeface="Cambria Math"/>
              </a:rPr>
              <a:t>"</a:t>
            </a:r>
            <a:r>
              <a:rPr dirty="0" sz="2000" spc="25">
                <a:latin typeface="Cambria Math"/>
                <a:cs typeface="Cambria Math"/>
              </a:rPr>
              <a:t>∈</a:t>
            </a:r>
            <a:r>
              <a:rPr dirty="0" sz="2000" spc="90">
                <a:latin typeface="Cambria Math"/>
                <a:cs typeface="Cambria Math"/>
              </a:rPr>
              <a:t>&lt;</a:t>
            </a:r>
            <a:r>
              <a:rPr dirty="0" sz="2000" spc="10">
                <a:latin typeface="Cambria Math"/>
                <a:cs typeface="Cambria Math"/>
              </a:rPr>
              <a:t>(</a:t>
            </a:r>
            <a:r>
              <a:rPr dirty="0" sz="2000" spc="365">
                <a:latin typeface="Cambria Math"/>
                <a:cs typeface="Cambria Math"/>
              </a:rPr>
              <a:t>(</a:t>
            </a:r>
            <a:r>
              <a:rPr dirty="0" sz="20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4035" y="2092451"/>
            <a:ext cx="10160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765" algn="l"/>
                <a:tab pos="1002665" algn="l"/>
              </a:tabLst>
            </a:pPr>
            <a:r>
              <a:rPr dirty="0" sz="2000" u="heavy">
                <a:latin typeface="Times New Roman"/>
                <a:cs typeface="Times New Roman"/>
              </a:rPr>
              <a:t> 	</a:t>
            </a:r>
            <a:r>
              <a:rPr dirty="0" sz="2000" spc="505" u="heavy">
                <a:latin typeface="Cambria Math"/>
                <a:cs typeface="Cambria Math"/>
              </a:rPr>
              <a:t>"	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22993" y="1710435"/>
            <a:ext cx="8972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761" sz="4200" spc="135">
                <a:latin typeface="Cambria Math"/>
                <a:cs typeface="Cambria Math"/>
              </a:rPr>
              <a:t>𝐡</a:t>
            </a:r>
            <a:r>
              <a:rPr dirty="0" sz="2000" spc="90">
                <a:latin typeface="Cambria Math"/>
                <a:cs typeface="Cambria Math"/>
              </a:rPr>
              <a:t>($&amp;')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20561" y="2511487"/>
            <a:ext cx="0" cy="323215"/>
          </a:xfrm>
          <a:custGeom>
            <a:avLst/>
            <a:gdLst/>
            <a:ahLst/>
            <a:cxnLst/>
            <a:rect l="l" t="t" r="r" b="b"/>
            <a:pathLst>
              <a:path w="0" h="323214">
                <a:moveTo>
                  <a:pt x="0" y="0"/>
                </a:moveTo>
                <a:lnTo>
                  <a:pt x="0" y="323131"/>
                </a:lnTo>
              </a:path>
            </a:pathLst>
          </a:custGeom>
          <a:ln w="267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39626" y="2511487"/>
            <a:ext cx="0" cy="323215"/>
          </a:xfrm>
          <a:custGeom>
            <a:avLst/>
            <a:gdLst/>
            <a:ahLst/>
            <a:cxnLst/>
            <a:rect l="l" t="t" r="r" b="b"/>
            <a:pathLst>
              <a:path w="0" h="323214">
                <a:moveTo>
                  <a:pt x="0" y="0"/>
                </a:moveTo>
                <a:lnTo>
                  <a:pt x="0" y="323131"/>
                </a:lnTo>
              </a:path>
            </a:pathLst>
          </a:custGeom>
          <a:ln w="267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253353" y="2405379"/>
            <a:ext cx="104266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2800" spc="25">
                <a:latin typeface="Cambria Math"/>
                <a:cs typeface="Cambria Math"/>
              </a:rPr>
              <a:t>𝑁(𝑣)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43935" y="4188985"/>
            <a:ext cx="887730" cy="452120"/>
          </a:xfrm>
          <a:custGeom>
            <a:avLst/>
            <a:gdLst/>
            <a:ahLst/>
            <a:cxnLst/>
            <a:rect l="l" t="t" r="r" b="b"/>
            <a:pathLst>
              <a:path w="887729" h="452120">
                <a:moveTo>
                  <a:pt x="0" y="0"/>
                </a:moveTo>
                <a:lnTo>
                  <a:pt x="887538" y="0"/>
                </a:lnTo>
                <a:lnTo>
                  <a:pt x="887538" y="451713"/>
                </a:lnTo>
                <a:lnTo>
                  <a:pt x="0" y="451713"/>
                </a:lnTo>
                <a:lnTo>
                  <a:pt x="0" y="0"/>
                </a:lnTo>
                <a:close/>
              </a:path>
            </a:pathLst>
          </a:custGeom>
          <a:solidFill>
            <a:srgbClr val="C000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32822" y="4177873"/>
            <a:ext cx="909955" cy="474345"/>
          </a:xfrm>
          <a:custGeom>
            <a:avLst/>
            <a:gdLst/>
            <a:ahLst/>
            <a:cxnLst/>
            <a:rect l="l" t="t" r="r" b="b"/>
            <a:pathLst>
              <a:path w="909954" h="474345">
                <a:moveTo>
                  <a:pt x="904788" y="0"/>
                </a:moveTo>
                <a:lnTo>
                  <a:pt x="4975" y="0"/>
                </a:lnTo>
                <a:lnTo>
                  <a:pt x="0" y="4975"/>
                </a:lnTo>
                <a:lnTo>
                  <a:pt x="0" y="468962"/>
                </a:lnTo>
                <a:lnTo>
                  <a:pt x="4975" y="473938"/>
                </a:lnTo>
                <a:lnTo>
                  <a:pt x="904788" y="473938"/>
                </a:lnTo>
                <a:lnTo>
                  <a:pt x="909763" y="468962"/>
                </a:lnTo>
                <a:lnTo>
                  <a:pt x="909763" y="460603"/>
                </a:lnTo>
                <a:lnTo>
                  <a:pt x="13335" y="460603"/>
                </a:lnTo>
                <a:lnTo>
                  <a:pt x="13335" y="13334"/>
                </a:lnTo>
                <a:lnTo>
                  <a:pt x="909763" y="13334"/>
                </a:lnTo>
                <a:lnTo>
                  <a:pt x="909763" y="4975"/>
                </a:lnTo>
                <a:lnTo>
                  <a:pt x="904788" y="0"/>
                </a:lnTo>
                <a:close/>
              </a:path>
              <a:path w="909954" h="474345">
                <a:moveTo>
                  <a:pt x="909763" y="13334"/>
                </a:moveTo>
                <a:lnTo>
                  <a:pt x="896428" y="13334"/>
                </a:lnTo>
                <a:lnTo>
                  <a:pt x="896428" y="460603"/>
                </a:lnTo>
                <a:lnTo>
                  <a:pt x="909763" y="460603"/>
                </a:lnTo>
                <a:lnTo>
                  <a:pt x="909763" y="13334"/>
                </a:lnTo>
                <a:close/>
              </a:path>
              <a:path w="909954" h="474345">
                <a:moveTo>
                  <a:pt x="891983" y="17779"/>
                </a:moveTo>
                <a:lnTo>
                  <a:pt x="17780" y="17779"/>
                </a:lnTo>
                <a:lnTo>
                  <a:pt x="17780" y="456158"/>
                </a:lnTo>
                <a:lnTo>
                  <a:pt x="891983" y="456158"/>
                </a:lnTo>
                <a:lnTo>
                  <a:pt x="891983" y="451713"/>
                </a:lnTo>
                <a:lnTo>
                  <a:pt x="22225" y="451713"/>
                </a:lnTo>
                <a:lnTo>
                  <a:pt x="22225" y="22224"/>
                </a:lnTo>
                <a:lnTo>
                  <a:pt x="891983" y="22224"/>
                </a:lnTo>
                <a:lnTo>
                  <a:pt x="891983" y="17779"/>
                </a:lnTo>
                <a:close/>
              </a:path>
              <a:path w="909954" h="474345">
                <a:moveTo>
                  <a:pt x="891983" y="22224"/>
                </a:moveTo>
                <a:lnTo>
                  <a:pt x="887538" y="22224"/>
                </a:lnTo>
                <a:lnTo>
                  <a:pt x="887538" y="451713"/>
                </a:lnTo>
                <a:lnTo>
                  <a:pt x="891983" y="451713"/>
                </a:lnTo>
                <a:lnTo>
                  <a:pt x="891983" y="22224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955701" y="5738969"/>
            <a:ext cx="887730" cy="452120"/>
          </a:xfrm>
          <a:custGeom>
            <a:avLst/>
            <a:gdLst/>
            <a:ahLst/>
            <a:cxnLst/>
            <a:rect l="l" t="t" r="r" b="b"/>
            <a:pathLst>
              <a:path w="887729" h="452120">
                <a:moveTo>
                  <a:pt x="0" y="0"/>
                </a:moveTo>
                <a:lnTo>
                  <a:pt x="887536" y="0"/>
                </a:lnTo>
                <a:lnTo>
                  <a:pt x="887536" y="451712"/>
                </a:lnTo>
                <a:lnTo>
                  <a:pt x="0" y="451712"/>
                </a:lnTo>
                <a:lnTo>
                  <a:pt x="0" y="0"/>
                </a:lnTo>
                <a:close/>
              </a:path>
            </a:pathLst>
          </a:custGeom>
          <a:solidFill>
            <a:srgbClr val="C000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44589" y="5727857"/>
            <a:ext cx="909955" cy="474345"/>
          </a:xfrm>
          <a:custGeom>
            <a:avLst/>
            <a:gdLst/>
            <a:ahLst/>
            <a:cxnLst/>
            <a:rect l="l" t="t" r="r" b="b"/>
            <a:pathLst>
              <a:path w="909954" h="474345">
                <a:moveTo>
                  <a:pt x="904787" y="0"/>
                </a:moveTo>
                <a:lnTo>
                  <a:pt x="4974" y="0"/>
                </a:lnTo>
                <a:lnTo>
                  <a:pt x="0" y="4975"/>
                </a:lnTo>
                <a:lnTo>
                  <a:pt x="0" y="468962"/>
                </a:lnTo>
                <a:lnTo>
                  <a:pt x="4974" y="473937"/>
                </a:lnTo>
                <a:lnTo>
                  <a:pt x="904787" y="473937"/>
                </a:lnTo>
                <a:lnTo>
                  <a:pt x="909761" y="468962"/>
                </a:lnTo>
                <a:lnTo>
                  <a:pt x="909761" y="460602"/>
                </a:lnTo>
                <a:lnTo>
                  <a:pt x="13334" y="460602"/>
                </a:lnTo>
                <a:lnTo>
                  <a:pt x="13334" y="13334"/>
                </a:lnTo>
                <a:lnTo>
                  <a:pt x="909761" y="13334"/>
                </a:lnTo>
                <a:lnTo>
                  <a:pt x="909761" y="4975"/>
                </a:lnTo>
                <a:lnTo>
                  <a:pt x="904787" y="0"/>
                </a:lnTo>
                <a:close/>
              </a:path>
              <a:path w="909954" h="474345">
                <a:moveTo>
                  <a:pt x="909761" y="13334"/>
                </a:moveTo>
                <a:lnTo>
                  <a:pt x="896426" y="13334"/>
                </a:lnTo>
                <a:lnTo>
                  <a:pt x="896426" y="460602"/>
                </a:lnTo>
                <a:lnTo>
                  <a:pt x="909761" y="460602"/>
                </a:lnTo>
                <a:lnTo>
                  <a:pt x="909761" y="13334"/>
                </a:lnTo>
                <a:close/>
              </a:path>
              <a:path w="909954" h="474345">
                <a:moveTo>
                  <a:pt x="891981" y="17779"/>
                </a:moveTo>
                <a:lnTo>
                  <a:pt x="17779" y="17779"/>
                </a:lnTo>
                <a:lnTo>
                  <a:pt x="17779" y="456157"/>
                </a:lnTo>
                <a:lnTo>
                  <a:pt x="891981" y="456157"/>
                </a:lnTo>
                <a:lnTo>
                  <a:pt x="891981" y="451712"/>
                </a:lnTo>
                <a:lnTo>
                  <a:pt x="22225" y="451712"/>
                </a:lnTo>
                <a:lnTo>
                  <a:pt x="22225" y="22224"/>
                </a:lnTo>
                <a:lnTo>
                  <a:pt x="891981" y="22224"/>
                </a:lnTo>
                <a:lnTo>
                  <a:pt x="891981" y="17779"/>
                </a:lnTo>
                <a:close/>
              </a:path>
              <a:path w="909954" h="474345">
                <a:moveTo>
                  <a:pt x="891981" y="22224"/>
                </a:moveTo>
                <a:lnTo>
                  <a:pt x="887536" y="22224"/>
                </a:lnTo>
                <a:lnTo>
                  <a:pt x="887536" y="451712"/>
                </a:lnTo>
                <a:lnTo>
                  <a:pt x="891981" y="451712"/>
                </a:lnTo>
                <a:lnTo>
                  <a:pt x="891981" y="22224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97466" y="1925787"/>
            <a:ext cx="956310" cy="1102995"/>
          </a:xfrm>
          <a:custGeom>
            <a:avLst/>
            <a:gdLst/>
            <a:ahLst/>
            <a:cxnLst/>
            <a:rect l="l" t="t" r="r" b="b"/>
            <a:pathLst>
              <a:path w="956310" h="1102995">
                <a:moveTo>
                  <a:pt x="0" y="0"/>
                </a:moveTo>
                <a:lnTo>
                  <a:pt x="955887" y="0"/>
                </a:lnTo>
                <a:lnTo>
                  <a:pt x="955887" y="1102365"/>
                </a:lnTo>
                <a:lnTo>
                  <a:pt x="0" y="1102365"/>
                </a:lnTo>
                <a:lnTo>
                  <a:pt x="0" y="0"/>
                </a:lnTo>
                <a:close/>
              </a:path>
            </a:pathLst>
          </a:custGeom>
          <a:solidFill>
            <a:srgbClr val="C000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86353" y="1914674"/>
            <a:ext cx="978535" cy="1125220"/>
          </a:xfrm>
          <a:custGeom>
            <a:avLst/>
            <a:gdLst/>
            <a:ahLst/>
            <a:cxnLst/>
            <a:rect l="l" t="t" r="r" b="b"/>
            <a:pathLst>
              <a:path w="978535" h="1125220">
                <a:moveTo>
                  <a:pt x="973136" y="0"/>
                </a:moveTo>
                <a:lnTo>
                  <a:pt x="4974" y="0"/>
                </a:lnTo>
                <a:lnTo>
                  <a:pt x="0" y="4975"/>
                </a:lnTo>
                <a:lnTo>
                  <a:pt x="0" y="1119615"/>
                </a:lnTo>
                <a:lnTo>
                  <a:pt x="4974" y="1124590"/>
                </a:lnTo>
                <a:lnTo>
                  <a:pt x="973136" y="1124590"/>
                </a:lnTo>
                <a:lnTo>
                  <a:pt x="978112" y="1119615"/>
                </a:lnTo>
                <a:lnTo>
                  <a:pt x="978112" y="1111255"/>
                </a:lnTo>
                <a:lnTo>
                  <a:pt x="13335" y="1111255"/>
                </a:lnTo>
                <a:lnTo>
                  <a:pt x="13335" y="13335"/>
                </a:lnTo>
                <a:lnTo>
                  <a:pt x="978112" y="13335"/>
                </a:lnTo>
                <a:lnTo>
                  <a:pt x="978112" y="4975"/>
                </a:lnTo>
                <a:lnTo>
                  <a:pt x="973136" y="0"/>
                </a:lnTo>
                <a:close/>
              </a:path>
              <a:path w="978535" h="1125220">
                <a:moveTo>
                  <a:pt x="978112" y="13335"/>
                </a:moveTo>
                <a:lnTo>
                  <a:pt x="964777" y="13335"/>
                </a:lnTo>
                <a:lnTo>
                  <a:pt x="964777" y="1111255"/>
                </a:lnTo>
                <a:lnTo>
                  <a:pt x="978112" y="1111255"/>
                </a:lnTo>
                <a:lnTo>
                  <a:pt x="978112" y="13335"/>
                </a:lnTo>
                <a:close/>
              </a:path>
              <a:path w="978535" h="1125220">
                <a:moveTo>
                  <a:pt x="960332" y="17780"/>
                </a:moveTo>
                <a:lnTo>
                  <a:pt x="17780" y="17780"/>
                </a:lnTo>
                <a:lnTo>
                  <a:pt x="17780" y="1106810"/>
                </a:lnTo>
                <a:lnTo>
                  <a:pt x="960332" y="1106810"/>
                </a:lnTo>
                <a:lnTo>
                  <a:pt x="960332" y="1102365"/>
                </a:lnTo>
                <a:lnTo>
                  <a:pt x="22225" y="1102365"/>
                </a:lnTo>
                <a:lnTo>
                  <a:pt x="22225" y="22225"/>
                </a:lnTo>
                <a:lnTo>
                  <a:pt x="960332" y="22225"/>
                </a:lnTo>
                <a:lnTo>
                  <a:pt x="960332" y="17780"/>
                </a:lnTo>
                <a:close/>
              </a:path>
              <a:path w="978535" h="1125220">
                <a:moveTo>
                  <a:pt x="960332" y="22225"/>
                </a:moveTo>
                <a:lnTo>
                  <a:pt x="955887" y="22225"/>
                </a:lnTo>
                <a:lnTo>
                  <a:pt x="955887" y="1102365"/>
                </a:lnTo>
                <a:lnTo>
                  <a:pt x="960332" y="1102365"/>
                </a:lnTo>
                <a:lnTo>
                  <a:pt x="960332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937340" y="4188985"/>
            <a:ext cx="662305" cy="422909"/>
          </a:xfrm>
          <a:custGeom>
            <a:avLst/>
            <a:gdLst/>
            <a:ahLst/>
            <a:cxnLst/>
            <a:rect l="l" t="t" r="r" b="b"/>
            <a:pathLst>
              <a:path w="662304" h="422910">
                <a:moveTo>
                  <a:pt x="0" y="0"/>
                </a:moveTo>
                <a:lnTo>
                  <a:pt x="661819" y="0"/>
                </a:lnTo>
                <a:lnTo>
                  <a:pt x="661819" y="422655"/>
                </a:lnTo>
                <a:lnTo>
                  <a:pt x="0" y="422655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926227" y="4177873"/>
            <a:ext cx="684530" cy="445134"/>
          </a:xfrm>
          <a:custGeom>
            <a:avLst/>
            <a:gdLst/>
            <a:ahLst/>
            <a:cxnLst/>
            <a:rect l="l" t="t" r="r" b="b"/>
            <a:pathLst>
              <a:path w="684529" h="445135">
                <a:moveTo>
                  <a:pt x="679069" y="0"/>
                </a:moveTo>
                <a:lnTo>
                  <a:pt x="4974" y="0"/>
                </a:lnTo>
                <a:lnTo>
                  <a:pt x="0" y="4975"/>
                </a:lnTo>
                <a:lnTo>
                  <a:pt x="0" y="439906"/>
                </a:lnTo>
                <a:lnTo>
                  <a:pt x="4974" y="444880"/>
                </a:lnTo>
                <a:lnTo>
                  <a:pt x="679069" y="444880"/>
                </a:lnTo>
                <a:lnTo>
                  <a:pt x="684044" y="439906"/>
                </a:lnTo>
                <a:lnTo>
                  <a:pt x="684044" y="431545"/>
                </a:lnTo>
                <a:lnTo>
                  <a:pt x="13335" y="431545"/>
                </a:lnTo>
                <a:lnTo>
                  <a:pt x="13335" y="13334"/>
                </a:lnTo>
                <a:lnTo>
                  <a:pt x="684044" y="13334"/>
                </a:lnTo>
                <a:lnTo>
                  <a:pt x="684044" y="4975"/>
                </a:lnTo>
                <a:lnTo>
                  <a:pt x="679069" y="0"/>
                </a:lnTo>
                <a:close/>
              </a:path>
              <a:path w="684529" h="445135">
                <a:moveTo>
                  <a:pt x="684044" y="13334"/>
                </a:moveTo>
                <a:lnTo>
                  <a:pt x="670709" y="13334"/>
                </a:lnTo>
                <a:lnTo>
                  <a:pt x="670709" y="431545"/>
                </a:lnTo>
                <a:lnTo>
                  <a:pt x="684044" y="431545"/>
                </a:lnTo>
                <a:lnTo>
                  <a:pt x="684044" y="13334"/>
                </a:lnTo>
                <a:close/>
              </a:path>
              <a:path w="684529" h="445135">
                <a:moveTo>
                  <a:pt x="666264" y="17779"/>
                </a:moveTo>
                <a:lnTo>
                  <a:pt x="17780" y="17779"/>
                </a:lnTo>
                <a:lnTo>
                  <a:pt x="17780" y="427100"/>
                </a:lnTo>
                <a:lnTo>
                  <a:pt x="666264" y="427100"/>
                </a:lnTo>
                <a:lnTo>
                  <a:pt x="666264" y="422655"/>
                </a:lnTo>
                <a:lnTo>
                  <a:pt x="22225" y="422655"/>
                </a:lnTo>
                <a:lnTo>
                  <a:pt x="22225" y="22224"/>
                </a:lnTo>
                <a:lnTo>
                  <a:pt x="666264" y="22224"/>
                </a:lnTo>
                <a:lnTo>
                  <a:pt x="666264" y="17779"/>
                </a:lnTo>
                <a:close/>
              </a:path>
              <a:path w="684529" h="445135">
                <a:moveTo>
                  <a:pt x="666264" y="22224"/>
                </a:moveTo>
                <a:lnTo>
                  <a:pt x="661819" y="22224"/>
                </a:lnTo>
                <a:lnTo>
                  <a:pt x="661819" y="422655"/>
                </a:lnTo>
                <a:lnTo>
                  <a:pt x="666264" y="422655"/>
                </a:lnTo>
                <a:lnTo>
                  <a:pt x="666264" y="22224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69976" y="347472"/>
            <a:ext cx="84978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972256" y="4335779"/>
            <a:ext cx="1905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05">
                <a:latin typeface="Cambria Math"/>
                <a:cs typeface="Cambria Math"/>
              </a:rPr>
              <a:t>"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90132" y="4142739"/>
            <a:ext cx="61709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5">
                <a:latin typeface="Cambria Math"/>
                <a:cs typeface="Cambria Math"/>
              </a:rPr>
              <a:t>AGG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30">
                <a:latin typeface="Cambria Math"/>
                <a:cs typeface="Cambria Math"/>
              </a:rPr>
              <a:t>Mean({MLP(𝐡</a:t>
            </a:r>
            <a:r>
              <a:rPr dirty="0" baseline="41666" sz="3000" spc="44">
                <a:latin typeface="Cambria Math"/>
                <a:cs typeface="Cambria Math"/>
              </a:rPr>
              <a:t>($&amp;')</a:t>
            </a:r>
            <a:r>
              <a:rPr dirty="0" sz="2800" spc="30">
                <a:latin typeface="Cambria Math"/>
                <a:cs typeface="Cambria Math"/>
              </a:rPr>
              <a:t>), </a:t>
            </a:r>
            <a:r>
              <a:rPr dirty="0" sz="2800">
                <a:latin typeface="Cambria Math"/>
                <a:cs typeface="Cambria Math"/>
              </a:rPr>
              <a:t>∀𝑢  ∈</a:t>
            </a:r>
            <a:r>
              <a:rPr dirty="0" sz="2800" spc="-90">
                <a:latin typeface="Cambria Math"/>
                <a:cs typeface="Cambria Math"/>
              </a:rPr>
              <a:t> </a:t>
            </a:r>
            <a:r>
              <a:rPr dirty="0" sz="2800" spc="15">
                <a:latin typeface="Cambria Math"/>
                <a:cs typeface="Cambria Math"/>
              </a:rPr>
              <a:t>𝑁(𝑣)})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53694" y="5939028"/>
            <a:ext cx="1905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05">
                <a:latin typeface="Cambria Math"/>
                <a:cs typeface="Cambria Math"/>
              </a:rPr>
              <a:t>"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277438" y="5797851"/>
            <a:ext cx="1025525" cy="429895"/>
          </a:xfrm>
          <a:custGeom>
            <a:avLst/>
            <a:gdLst/>
            <a:ahLst/>
            <a:cxnLst/>
            <a:rect l="l" t="t" r="r" b="b"/>
            <a:pathLst>
              <a:path w="1025525" h="429895">
                <a:moveTo>
                  <a:pt x="912426" y="0"/>
                </a:moveTo>
                <a:lnTo>
                  <a:pt x="908085" y="14237"/>
                </a:lnTo>
                <a:lnTo>
                  <a:pt x="927819" y="24471"/>
                </a:lnTo>
                <a:lnTo>
                  <a:pt x="945003" y="39371"/>
                </a:lnTo>
                <a:lnTo>
                  <a:pt x="971721" y="83170"/>
                </a:lnTo>
                <a:lnTo>
                  <a:pt x="987934" y="142682"/>
                </a:lnTo>
                <a:lnTo>
                  <a:pt x="993339" y="214957"/>
                </a:lnTo>
                <a:lnTo>
                  <a:pt x="991988" y="252608"/>
                </a:lnTo>
                <a:lnTo>
                  <a:pt x="981179" y="318371"/>
                </a:lnTo>
                <a:lnTo>
                  <a:pt x="959637" y="370678"/>
                </a:lnTo>
                <a:lnTo>
                  <a:pt x="927819" y="405101"/>
                </a:lnTo>
                <a:lnTo>
                  <a:pt x="908085" y="415329"/>
                </a:lnTo>
                <a:lnTo>
                  <a:pt x="912426" y="429567"/>
                </a:lnTo>
                <a:lnTo>
                  <a:pt x="960392" y="404000"/>
                </a:lnTo>
                <a:lnTo>
                  <a:pt x="995942" y="355773"/>
                </a:lnTo>
                <a:lnTo>
                  <a:pt x="1017951" y="290748"/>
                </a:lnTo>
                <a:lnTo>
                  <a:pt x="1025287" y="214783"/>
                </a:lnTo>
                <a:lnTo>
                  <a:pt x="1023453" y="175434"/>
                </a:lnTo>
                <a:lnTo>
                  <a:pt x="1008781" y="104939"/>
                </a:lnTo>
                <a:lnTo>
                  <a:pt x="979719" y="46848"/>
                </a:lnTo>
                <a:lnTo>
                  <a:pt x="937961" y="9951"/>
                </a:lnTo>
                <a:lnTo>
                  <a:pt x="912426" y="0"/>
                </a:lnTo>
                <a:close/>
              </a:path>
              <a:path w="1025525" h="429895">
                <a:moveTo>
                  <a:pt x="112861" y="0"/>
                </a:moveTo>
                <a:lnTo>
                  <a:pt x="64895" y="25567"/>
                </a:lnTo>
                <a:lnTo>
                  <a:pt x="29344" y="73793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6"/>
                </a:lnTo>
                <a:lnTo>
                  <a:pt x="112861" y="429567"/>
                </a:lnTo>
                <a:lnTo>
                  <a:pt x="117201" y="415329"/>
                </a:lnTo>
                <a:lnTo>
                  <a:pt x="97467" y="405101"/>
                </a:lnTo>
                <a:lnTo>
                  <a:pt x="80283" y="390217"/>
                </a:lnTo>
                <a:lnTo>
                  <a:pt x="53566" y="346484"/>
                </a:lnTo>
                <a:lnTo>
                  <a:pt x="37353" y="287080"/>
                </a:lnTo>
                <a:lnTo>
                  <a:pt x="31955" y="214783"/>
                </a:lnTo>
                <a:lnTo>
                  <a:pt x="33300" y="177224"/>
                </a:lnTo>
                <a:lnTo>
                  <a:pt x="44108" y="111331"/>
                </a:lnTo>
                <a:lnTo>
                  <a:pt x="65649" y="58937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706254" y="5847944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79" h="329564">
                <a:moveTo>
                  <a:pt x="331694" y="0"/>
                </a:moveTo>
                <a:lnTo>
                  <a:pt x="327007" y="13369"/>
                </a:lnTo>
                <a:lnTo>
                  <a:pt x="346074" y="21644"/>
                </a:lnTo>
                <a:lnTo>
                  <a:pt x="362471" y="33098"/>
                </a:lnTo>
                <a:lnTo>
                  <a:pt x="387257" y="65546"/>
                </a:lnTo>
                <a:lnTo>
                  <a:pt x="401843" y="109323"/>
                </a:lnTo>
                <a:lnTo>
                  <a:pt x="406704" y="163041"/>
                </a:lnTo>
                <a:lnTo>
                  <a:pt x="405483" y="192092"/>
                </a:lnTo>
                <a:lnTo>
                  <a:pt x="395716" y="242185"/>
                </a:lnTo>
                <a:lnTo>
                  <a:pt x="376118" y="281306"/>
                </a:lnTo>
                <a:lnTo>
                  <a:pt x="346296" y="307698"/>
                </a:lnTo>
                <a:lnTo>
                  <a:pt x="327527" y="316011"/>
                </a:lnTo>
                <a:lnTo>
                  <a:pt x="331694" y="329381"/>
                </a:lnTo>
                <a:lnTo>
                  <a:pt x="376622" y="308306"/>
                </a:lnTo>
                <a:lnTo>
                  <a:pt x="409656" y="271822"/>
                </a:lnTo>
                <a:lnTo>
                  <a:pt x="429971" y="222966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8" y="81059"/>
                </a:lnTo>
                <a:lnTo>
                  <a:pt x="394512" y="37488"/>
                </a:lnTo>
                <a:lnTo>
                  <a:pt x="355575" y="8621"/>
                </a:lnTo>
                <a:lnTo>
                  <a:pt x="331694" y="0"/>
                </a:lnTo>
                <a:close/>
              </a:path>
              <a:path w="436879" h="329564">
                <a:moveTo>
                  <a:pt x="105048" y="0"/>
                </a:moveTo>
                <a:lnTo>
                  <a:pt x="60229" y="21118"/>
                </a:lnTo>
                <a:lnTo>
                  <a:pt x="27174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3" y="195038"/>
                </a:lnTo>
                <a:lnTo>
                  <a:pt x="15237" y="248560"/>
                </a:lnTo>
                <a:lnTo>
                  <a:pt x="42117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8"/>
                </a:lnTo>
                <a:lnTo>
                  <a:pt x="74250" y="296130"/>
                </a:lnTo>
                <a:lnTo>
                  <a:pt x="49573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39"/>
                </a:lnTo>
                <a:lnTo>
                  <a:pt x="41027" y="86192"/>
                </a:lnTo>
                <a:lnTo>
                  <a:pt x="60658" y="47732"/>
                </a:lnTo>
                <a:lnTo>
                  <a:pt x="90739" y="21644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889132" y="5745988"/>
            <a:ext cx="57296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16755" algn="l"/>
                <a:tab pos="4933315" algn="l"/>
                <a:tab pos="5444490" algn="l"/>
              </a:tabLst>
            </a:pPr>
            <a:r>
              <a:rPr dirty="0" sz="2800" spc="-45">
                <a:latin typeface="Cambria Math"/>
                <a:cs typeface="Cambria Math"/>
              </a:rPr>
              <a:t>A</a:t>
            </a:r>
            <a:r>
              <a:rPr dirty="0" sz="2800">
                <a:latin typeface="Cambria Math"/>
                <a:cs typeface="Cambria Math"/>
              </a:rPr>
              <a:t>GG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 spc="-20">
                <a:latin typeface="Cambria Math"/>
                <a:cs typeface="Cambria Math"/>
              </a:rPr>
              <a:t>L</a:t>
            </a:r>
            <a:r>
              <a:rPr dirty="0" sz="2800" spc="-40">
                <a:latin typeface="Cambria Math"/>
                <a:cs typeface="Cambria Math"/>
              </a:rPr>
              <a:t>S</a:t>
            </a:r>
            <a:r>
              <a:rPr dirty="0" sz="2800">
                <a:latin typeface="Cambria Math"/>
                <a:cs typeface="Cambria Math"/>
              </a:rPr>
              <a:t>TM(</a:t>
            </a:r>
            <a:r>
              <a:rPr dirty="0" sz="2800" spc="-10">
                <a:latin typeface="Cambria Math"/>
                <a:cs typeface="Cambria Math"/>
              </a:rPr>
              <a:t>[</a:t>
            </a:r>
            <a:r>
              <a:rPr dirty="0" sz="2800">
                <a:latin typeface="Cambria Math"/>
                <a:cs typeface="Cambria Math"/>
              </a:rPr>
              <a:t>𝐡</a:t>
            </a:r>
            <a:r>
              <a:rPr dirty="0" baseline="41666" sz="3000" spc="15">
                <a:latin typeface="Cambria Math"/>
                <a:cs typeface="Cambria Math"/>
              </a:rPr>
              <a:t>(</a:t>
            </a:r>
            <a:r>
              <a:rPr dirty="0" baseline="41666" sz="3000" spc="-337">
                <a:latin typeface="Cambria Math"/>
                <a:cs typeface="Cambria Math"/>
              </a:rPr>
              <a:t>$</a:t>
            </a:r>
            <a:r>
              <a:rPr dirty="0" baseline="41666" sz="3000" spc="157">
                <a:latin typeface="Cambria Math"/>
                <a:cs typeface="Cambria Math"/>
              </a:rPr>
              <a:t>&amp;</a:t>
            </a:r>
            <a:r>
              <a:rPr dirty="0" baseline="41666" sz="3000" spc="1057">
                <a:latin typeface="Cambria Math"/>
                <a:cs typeface="Cambria Math"/>
              </a:rPr>
              <a:t>'</a:t>
            </a:r>
            <a:r>
              <a:rPr dirty="0" baseline="41666" sz="3000" spc="135">
                <a:latin typeface="Cambria Math"/>
                <a:cs typeface="Cambria Math"/>
              </a:rPr>
              <a:t>)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∀𝑢</a:t>
            </a:r>
            <a:r>
              <a:rPr dirty="0" sz="2800" spc="229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∈</a:t>
            </a:r>
            <a:r>
              <a:rPr dirty="0" sz="2800" spc="16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𝜋	𝑁	𝑣	</a:t>
            </a:r>
            <a:r>
              <a:rPr dirty="0" sz="2800" spc="-10">
                <a:latin typeface="Cambria Math"/>
                <a:cs typeface="Cambria Math"/>
              </a:rPr>
              <a:t>]</a:t>
            </a:r>
            <a:r>
              <a:rPr dirty="0" sz="280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  <p:sp>
        <p:nvSpPr>
          <p:cNvPr id="28" name="object 28"/>
          <p:cNvSpPr txBox="1"/>
          <p:nvPr/>
        </p:nvSpPr>
        <p:spPr>
          <a:xfrm>
            <a:off x="5541796" y="2483611"/>
            <a:ext cx="2827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CF5B1B"/>
                </a:solidFill>
                <a:latin typeface="Calibri"/>
                <a:cs typeface="Calibri"/>
              </a:rPr>
              <a:t>Message</a:t>
            </a:r>
            <a:r>
              <a:rPr dirty="0" sz="2400" spc="-80" b="1">
                <a:solidFill>
                  <a:srgbClr val="CF5B1B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F5B1B"/>
                </a:solidFill>
                <a:latin typeface="Calibri"/>
                <a:cs typeface="Calibri"/>
              </a:rPr>
              <a:t>computation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25011" y="4696459"/>
            <a:ext cx="2827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CF5B1B"/>
                </a:solidFill>
                <a:latin typeface="Calibri"/>
                <a:cs typeface="Calibri"/>
              </a:rPr>
              <a:t>Message</a:t>
            </a:r>
            <a:r>
              <a:rPr dirty="0" sz="2400" spc="-80" b="1">
                <a:solidFill>
                  <a:srgbClr val="CF5B1B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F5B1B"/>
                </a:solidFill>
                <a:latin typeface="Calibri"/>
                <a:cs typeface="Calibri"/>
              </a:rPr>
              <a:t>computation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98709" y="2119037"/>
            <a:ext cx="1633855" cy="90868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605155">
              <a:lnSpc>
                <a:spcPct val="100000"/>
              </a:lnSpc>
              <a:spcBef>
                <a:spcPts val="480"/>
              </a:spcBef>
            </a:pPr>
            <a:r>
              <a:rPr dirty="0" sz="2800" spc="-15">
                <a:latin typeface="Cambria Math"/>
                <a:cs typeface="Cambria Math"/>
              </a:rPr>
              <a:t>AGG</a:t>
            </a:r>
            <a:r>
              <a:rPr dirty="0" sz="2800" spc="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Aggregation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16685" y="4665979"/>
            <a:ext cx="1555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400" spc="10" b="1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dirty="0" sz="2400" spc="-30" b="1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400" spc="0" b="1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io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22102" y="6223508"/>
            <a:ext cx="1555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400" spc="10" b="1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dirty="0" sz="2400" spc="-30" b="1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400" spc="0" b="1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io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415783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3426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330" b="0">
                <a:solidFill>
                  <a:srgbClr val="C00000"/>
                </a:solidFill>
                <a:latin typeface="Cambria Math"/>
                <a:cs typeface="Cambria Math"/>
              </a:rPr>
              <a:t>ℓ</a:t>
            </a:r>
            <a:r>
              <a:rPr dirty="0" baseline="-15700" sz="3450" spc="494" b="0">
                <a:solidFill>
                  <a:srgbClr val="C00000"/>
                </a:solidFill>
                <a:latin typeface="Cambria Math"/>
                <a:cs typeface="Cambria Math"/>
              </a:rPr>
              <a:t>!</a:t>
            </a:r>
            <a:r>
              <a:rPr dirty="0" baseline="-15700" sz="3450" spc="112" b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 spc="-10">
                <a:solidFill>
                  <a:srgbClr val="C00000"/>
                </a:solidFill>
              </a:rPr>
              <a:t>Normalization: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1926" y="2163572"/>
            <a:ext cx="15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solidFill>
                  <a:srgbClr val="C00000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1982724"/>
            <a:ext cx="75069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 b="1">
                <a:latin typeface="Calibri"/>
                <a:cs typeface="Calibri"/>
              </a:rPr>
              <a:t>Optional: 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Apply </a:t>
            </a:r>
            <a:r>
              <a:rPr dirty="0" sz="2400" spc="325">
                <a:solidFill>
                  <a:srgbClr val="C00000"/>
                </a:solidFill>
                <a:latin typeface="Cambria Math"/>
                <a:cs typeface="Cambria Math"/>
              </a:rPr>
              <a:t>ℓ</a:t>
            </a:r>
            <a:r>
              <a:rPr dirty="0" baseline="-15432" sz="2700" spc="487">
                <a:solidFill>
                  <a:srgbClr val="C00000"/>
                </a:solidFill>
                <a:latin typeface="Cambria Math"/>
                <a:cs typeface="Cambria Math"/>
              </a:rPr>
              <a:t>, </a:t>
            </a:r>
            <a:r>
              <a:rPr dirty="0" sz="2600" spc="-10">
                <a:solidFill>
                  <a:srgbClr val="C00000"/>
                </a:solidFill>
                <a:latin typeface="Calibri"/>
                <a:cs typeface="Calibri"/>
              </a:rPr>
              <a:t>normalization </a:t>
            </a:r>
            <a:r>
              <a:rPr dirty="0" sz="2600" spc="-15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400" spc="-245">
                <a:solidFill>
                  <a:srgbClr val="C00000"/>
                </a:solidFill>
                <a:latin typeface="Cambria Math"/>
                <a:cs typeface="Cambria Math"/>
              </a:rPr>
              <a:t>𝐡</a:t>
            </a:r>
            <a:r>
              <a:rPr dirty="0" baseline="38580" sz="2700" spc="-367">
                <a:solidFill>
                  <a:srgbClr val="C00000"/>
                </a:solidFill>
                <a:latin typeface="Cambria Math"/>
                <a:cs typeface="Cambria Math"/>
              </a:rPr>
              <a:t>(%)   </a:t>
            </a:r>
            <a:r>
              <a:rPr dirty="0" sz="2600" spc="-10">
                <a:solidFill>
                  <a:srgbClr val="C00000"/>
                </a:solidFill>
                <a:latin typeface="Calibri"/>
                <a:cs typeface="Calibri"/>
              </a:rPr>
              <a:t>at every</a:t>
            </a:r>
            <a:r>
              <a:rPr dirty="0" sz="2600" spc="-2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6563" y="2772156"/>
            <a:ext cx="50165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55">
                <a:latin typeface="Cambria Math"/>
                <a:cs typeface="Cambria Math"/>
              </a:rPr>
              <a:t>�</a:t>
            </a:r>
            <a:r>
              <a:rPr dirty="0" sz="2600">
                <a:latin typeface="Cambria Math"/>
                <a:cs typeface="Cambria Math"/>
              </a:rPr>
              <a:t>�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2496" y="2684272"/>
            <a:ext cx="32004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">
                <a:latin typeface="Cambria Math"/>
                <a:cs typeface="Cambria Math"/>
              </a:rPr>
              <a:t>(</a:t>
            </a:r>
            <a:r>
              <a:rPr dirty="0" sz="1900" spc="-445">
                <a:latin typeface="Cambria Math"/>
                <a:cs typeface="Cambria Math"/>
              </a:rPr>
              <a:t>#</a:t>
            </a:r>
            <a:r>
              <a:rPr dirty="0" sz="1900">
                <a:latin typeface="Cambria Math"/>
                <a:cs typeface="Cambria Math"/>
              </a:rPr>
              <a:t>)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8079" y="2525776"/>
            <a:ext cx="41465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701" sz="2850">
                <a:latin typeface="Cambria Math"/>
                <a:cs typeface="Cambria Math"/>
              </a:rPr>
              <a:t>𝐡</a:t>
            </a:r>
            <a:r>
              <a:rPr dirty="0" sz="1600" spc="-15">
                <a:latin typeface="Cambria Math"/>
                <a:cs typeface="Cambria Math"/>
              </a:rPr>
              <a:t>(</a:t>
            </a:r>
            <a:r>
              <a:rPr dirty="0" sz="1600" spc="-844">
                <a:latin typeface="Cambria Math"/>
                <a:cs typeface="Cambria Math"/>
              </a:rPr>
              <a:t>%</a:t>
            </a:r>
            <a:r>
              <a:rPr dirty="0" sz="1600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68622" y="3058563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39">
                <a:moveTo>
                  <a:pt x="0" y="0"/>
                </a:moveTo>
                <a:lnTo>
                  <a:pt x="0" y="395883"/>
                </a:lnTo>
              </a:path>
            </a:pathLst>
          </a:custGeom>
          <a:ln w="192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14895" y="3058563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39">
                <a:moveTo>
                  <a:pt x="0" y="0"/>
                </a:moveTo>
                <a:lnTo>
                  <a:pt x="0" y="395883"/>
                </a:lnTo>
              </a:path>
            </a:pathLst>
          </a:custGeom>
          <a:ln w="192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16744" y="3058563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39">
                <a:moveTo>
                  <a:pt x="0" y="0"/>
                </a:moveTo>
                <a:lnTo>
                  <a:pt x="0" y="395883"/>
                </a:lnTo>
              </a:path>
            </a:pathLst>
          </a:custGeom>
          <a:ln w="192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63016" y="3058563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39">
                <a:moveTo>
                  <a:pt x="0" y="0"/>
                </a:moveTo>
                <a:lnTo>
                  <a:pt x="0" y="395883"/>
                </a:lnTo>
              </a:path>
            </a:pathLst>
          </a:custGeom>
          <a:ln w="192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502026" y="3188716"/>
            <a:ext cx="1422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75">
                <a:latin typeface="Cambria Math"/>
                <a:cs typeface="Cambria Math"/>
              </a:rPr>
              <a:t>#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54389" y="2937255"/>
            <a:ext cx="41465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701" sz="2850">
                <a:latin typeface="Cambria Math"/>
                <a:cs typeface="Cambria Math"/>
              </a:rPr>
              <a:t>𝐡</a:t>
            </a:r>
            <a:r>
              <a:rPr dirty="0" sz="1600" spc="-15">
                <a:latin typeface="Cambria Math"/>
                <a:cs typeface="Cambria Math"/>
              </a:rPr>
              <a:t>(</a:t>
            </a:r>
            <a:r>
              <a:rPr dirty="0" sz="1600" spc="-844">
                <a:latin typeface="Cambria Math"/>
                <a:cs typeface="Cambria Math"/>
              </a:rPr>
              <a:t>%</a:t>
            </a:r>
            <a:r>
              <a:rPr dirty="0" sz="1600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06267" y="3277108"/>
            <a:ext cx="1466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565">
                <a:latin typeface="Cambria Math"/>
                <a:cs typeface="Cambria Math"/>
              </a:rPr>
              <a:t>'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31911" y="2772156"/>
            <a:ext cx="328295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1219835" algn="l"/>
              </a:tabLst>
            </a:pPr>
            <a:r>
              <a:rPr dirty="0" sz="2600">
                <a:latin typeface="Cambria Math"/>
                <a:cs typeface="Cambria Math"/>
              </a:rPr>
              <a:t>←</a:t>
            </a:r>
            <a:r>
              <a:rPr dirty="0" baseline="21367" sz="3900" u="heavy">
                <a:latin typeface="Cambria Math"/>
                <a:cs typeface="Cambria Math"/>
              </a:rPr>
              <a:t> 	</a:t>
            </a:r>
            <a:r>
              <a:rPr dirty="0" baseline="34722" sz="2400" spc="-112" u="heavy">
                <a:latin typeface="Cambria Math"/>
                <a:cs typeface="Cambria Math"/>
              </a:rPr>
              <a:t>#	</a:t>
            </a:r>
            <a:r>
              <a:rPr dirty="0" sz="2600">
                <a:latin typeface="Cambria Math"/>
                <a:cs typeface="Cambria Math"/>
              </a:rPr>
              <a:t>∀𝑣  ∈ 𝑉</a:t>
            </a:r>
            <a:r>
              <a:rPr dirty="0" sz="2600" spc="-145">
                <a:latin typeface="Cambria Math"/>
                <a:cs typeface="Cambria Math"/>
              </a:rPr>
              <a:t> </a:t>
            </a:r>
            <a:r>
              <a:rPr dirty="0" sz="2600" spc="-10">
                <a:latin typeface="Calibri"/>
                <a:cs typeface="Calibri"/>
              </a:rPr>
              <a:t>where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669733" y="2869730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5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599598" y="2869730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5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97813" y="2869730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5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27678" y="2869730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5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10494" y="2631439"/>
            <a:ext cx="983615" cy="738505"/>
          </a:xfrm>
          <a:custGeom>
            <a:avLst/>
            <a:gdLst/>
            <a:ahLst/>
            <a:cxnLst/>
            <a:rect l="l" t="t" r="r" b="b"/>
            <a:pathLst>
              <a:path w="983615" h="738504">
                <a:moveTo>
                  <a:pt x="69712" y="555501"/>
                </a:moveTo>
                <a:lnTo>
                  <a:pt x="35793" y="555501"/>
                </a:lnTo>
                <a:lnTo>
                  <a:pt x="135272" y="738337"/>
                </a:lnTo>
                <a:lnTo>
                  <a:pt x="150266" y="738337"/>
                </a:lnTo>
                <a:lnTo>
                  <a:pt x="156138" y="679810"/>
                </a:lnTo>
                <a:lnTo>
                  <a:pt x="136884" y="679810"/>
                </a:lnTo>
                <a:lnTo>
                  <a:pt x="69712" y="555501"/>
                </a:lnTo>
                <a:close/>
              </a:path>
              <a:path w="983615" h="738504">
                <a:moveTo>
                  <a:pt x="983369" y="0"/>
                </a:moveTo>
                <a:lnTo>
                  <a:pt x="246769" y="0"/>
                </a:lnTo>
                <a:lnTo>
                  <a:pt x="246769" y="1836"/>
                </a:lnTo>
                <a:lnTo>
                  <a:pt x="203956" y="1836"/>
                </a:lnTo>
                <a:lnTo>
                  <a:pt x="136884" y="679810"/>
                </a:lnTo>
                <a:lnTo>
                  <a:pt x="156138" y="679810"/>
                </a:lnTo>
                <a:lnTo>
                  <a:pt x="222015" y="23280"/>
                </a:lnTo>
                <a:lnTo>
                  <a:pt x="983369" y="23280"/>
                </a:lnTo>
                <a:lnTo>
                  <a:pt x="983369" y="0"/>
                </a:lnTo>
                <a:close/>
              </a:path>
              <a:path w="983615" h="738504">
                <a:moveTo>
                  <a:pt x="55947" y="530028"/>
                </a:moveTo>
                <a:lnTo>
                  <a:pt x="0" y="559532"/>
                </a:lnTo>
                <a:lnTo>
                  <a:pt x="6287" y="570980"/>
                </a:lnTo>
                <a:lnTo>
                  <a:pt x="35793" y="555501"/>
                </a:lnTo>
                <a:lnTo>
                  <a:pt x="69712" y="555501"/>
                </a:lnTo>
                <a:lnTo>
                  <a:pt x="55947" y="530028"/>
                </a:lnTo>
                <a:close/>
              </a:path>
              <a:path w="983615" h="738504">
                <a:moveTo>
                  <a:pt x="983369" y="23280"/>
                </a:moveTo>
                <a:lnTo>
                  <a:pt x="246769" y="23280"/>
                </a:lnTo>
                <a:lnTo>
                  <a:pt x="246769" y="25400"/>
                </a:lnTo>
                <a:lnTo>
                  <a:pt x="983369" y="25400"/>
                </a:lnTo>
                <a:lnTo>
                  <a:pt x="983369" y="232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432496" y="2952495"/>
            <a:ext cx="578802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53685" algn="l"/>
                <a:tab pos="5690235" algn="l"/>
              </a:tabLst>
            </a:pPr>
            <a:r>
              <a:rPr dirty="0" baseline="1461" sz="2850" spc="787">
                <a:latin typeface="Cambria Math"/>
                <a:cs typeface="Cambria Math"/>
              </a:rPr>
              <a:t>!</a:t>
            </a:r>
            <a:r>
              <a:rPr dirty="0" baseline="1461" sz="2850" spc="787">
                <a:latin typeface="Cambria Math"/>
                <a:cs typeface="Cambria Math"/>
              </a:rPr>
              <a:t>	</a:t>
            </a:r>
            <a:r>
              <a:rPr dirty="0" sz="1900" spc="-125">
                <a:latin typeface="Cambria Math"/>
                <a:cs typeface="Cambria Math"/>
              </a:rPr>
              <a:t>(</a:t>
            </a:r>
            <a:r>
              <a:rPr dirty="0" sz="1900" spc="-125">
                <a:latin typeface="Cambria Math"/>
                <a:cs typeface="Cambria Math"/>
              </a:rPr>
              <a:t>	</a:t>
            </a:r>
            <a:r>
              <a:rPr dirty="0" sz="1900" spc="-125">
                <a:latin typeface="Cambria Math"/>
                <a:cs typeface="Cambria Math"/>
              </a:rPr>
              <a:t>(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  <p:sp>
        <p:nvSpPr>
          <p:cNvPr id="23" name="object 23"/>
          <p:cNvSpPr txBox="1"/>
          <p:nvPr/>
        </p:nvSpPr>
        <p:spPr>
          <a:xfrm>
            <a:off x="5337365" y="2772156"/>
            <a:ext cx="346138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4175" algn="l"/>
                <a:tab pos="1214755" algn="l"/>
                <a:tab pos="1596390" algn="l"/>
              </a:tabLst>
            </a:pPr>
            <a:r>
              <a:rPr dirty="0" sz="2600">
                <a:latin typeface="Cambria Math"/>
                <a:cs typeface="Cambria Math"/>
              </a:rPr>
              <a:t>𝑢	</a:t>
            </a:r>
            <a:r>
              <a:rPr dirty="0" baseline="-16081" sz="2850" spc="960">
                <a:latin typeface="Cambria Math"/>
                <a:cs typeface="Cambria Math"/>
              </a:rPr>
              <a:t>'</a:t>
            </a:r>
            <a:r>
              <a:rPr dirty="0" baseline="-16081" sz="2850" spc="27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=	</a:t>
            </a:r>
            <a:r>
              <a:rPr dirty="0" baseline="2136" sz="3900">
                <a:latin typeface="Cambria Math"/>
                <a:cs typeface="Cambria Math"/>
              </a:rPr>
              <a:t>∑	</a:t>
            </a:r>
            <a:r>
              <a:rPr dirty="0" sz="2600" spc="350">
                <a:latin typeface="Cambria Math"/>
                <a:cs typeface="Cambria Math"/>
              </a:rPr>
              <a:t>𝑢</a:t>
            </a:r>
            <a:r>
              <a:rPr dirty="0" baseline="29239" sz="2850" spc="525">
                <a:latin typeface="Cambria Math"/>
                <a:cs typeface="Cambria Math"/>
              </a:rPr>
              <a:t>'</a:t>
            </a:r>
            <a:r>
              <a:rPr dirty="0" baseline="29239" sz="2850" spc="675">
                <a:latin typeface="Cambria Math"/>
                <a:cs typeface="Cambria Math"/>
              </a:rPr>
              <a:t> </a:t>
            </a:r>
            <a:r>
              <a:rPr dirty="0" sz="2600" spc="75">
                <a:latin typeface="Calibri"/>
                <a:cs typeface="Calibri"/>
              </a:rPr>
              <a:t>(</a:t>
            </a:r>
            <a:r>
              <a:rPr dirty="0" sz="2600" spc="75">
                <a:latin typeface="Cambria Math"/>
                <a:cs typeface="Cambria Math"/>
              </a:rPr>
              <a:t>ℓ</a:t>
            </a:r>
            <a:r>
              <a:rPr dirty="0" baseline="-16081" sz="2850" spc="112">
                <a:latin typeface="Cambria Math"/>
                <a:cs typeface="Cambria Math"/>
              </a:rPr>
              <a:t>'</a:t>
            </a:r>
            <a:r>
              <a:rPr dirty="0" sz="2600" spc="75">
                <a:latin typeface="Calibri"/>
                <a:cs typeface="Calibri"/>
              </a:rPr>
              <a:t>-norm)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6563" y="3534155"/>
            <a:ext cx="7804150" cy="255524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287020" marR="117475" indent="-274320">
              <a:lnSpc>
                <a:spcPts val="3100"/>
              </a:lnSpc>
              <a:spcBef>
                <a:spcPts val="219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Without </a:t>
            </a:r>
            <a:r>
              <a:rPr dirty="0" sz="2600" spc="315">
                <a:latin typeface="Cambria Math"/>
                <a:cs typeface="Cambria Math"/>
              </a:rPr>
              <a:t>ℓ</a:t>
            </a:r>
            <a:r>
              <a:rPr dirty="0" baseline="-16081" sz="2850" spc="472">
                <a:latin typeface="Cambria Math"/>
                <a:cs typeface="Cambria Math"/>
              </a:rPr>
              <a:t>' </a:t>
            </a:r>
            <a:r>
              <a:rPr dirty="0" sz="2600" spc="-10">
                <a:latin typeface="Calibri"/>
                <a:cs typeface="Calibri"/>
              </a:rPr>
              <a:t>normalization, </a:t>
            </a:r>
            <a:r>
              <a:rPr dirty="0" sz="2600" spc="-5">
                <a:latin typeface="Calibri"/>
                <a:cs typeface="Calibri"/>
              </a:rPr>
              <a:t>the embedding </a:t>
            </a:r>
            <a:r>
              <a:rPr dirty="0" sz="2600" spc="-15">
                <a:latin typeface="Calibri"/>
                <a:cs typeface="Calibri"/>
              </a:rPr>
              <a:t>vectors </a:t>
            </a:r>
            <a:r>
              <a:rPr dirty="0" sz="2600" spc="-105">
                <a:latin typeface="Calibri"/>
                <a:cs typeface="Calibri"/>
              </a:rPr>
              <a:t>have  </a:t>
            </a:r>
            <a:r>
              <a:rPr dirty="0" sz="2600" spc="-25">
                <a:latin typeface="Calibri"/>
                <a:cs typeface="Calibri"/>
              </a:rPr>
              <a:t>different </a:t>
            </a:r>
            <a:r>
              <a:rPr dirty="0" sz="2600" spc="-10">
                <a:latin typeface="Calibri"/>
                <a:cs typeface="Calibri"/>
              </a:rPr>
              <a:t>scales </a:t>
            </a:r>
            <a:r>
              <a:rPr dirty="0" sz="2600" spc="75">
                <a:latin typeface="Calibri"/>
                <a:cs typeface="Calibri"/>
              </a:rPr>
              <a:t>(</a:t>
            </a:r>
            <a:r>
              <a:rPr dirty="0" sz="2600" spc="75">
                <a:latin typeface="Cambria Math"/>
                <a:cs typeface="Cambria Math"/>
              </a:rPr>
              <a:t>ℓ</a:t>
            </a:r>
            <a:r>
              <a:rPr dirty="0" baseline="-16081" sz="2850" spc="112">
                <a:latin typeface="Cambria Math"/>
                <a:cs typeface="Cambria Math"/>
              </a:rPr>
              <a:t>'</a:t>
            </a:r>
            <a:r>
              <a:rPr dirty="0" sz="2600" spc="75">
                <a:latin typeface="Calibri"/>
                <a:cs typeface="Calibri"/>
              </a:rPr>
              <a:t>-norm) </a:t>
            </a:r>
            <a:r>
              <a:rPr dirty="0" sz="2600" spc="-25">
                <a:latin typeface="Calibri"/>
                <a:cs typeface="Calibri"/>
              </a:rPr>
              <a:t>for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vectors</a:t>
            </a:r>
            <a:endParaRPr sz="2600">
              <a:latin typeface="Calibri"/>
              <a:cs typeface="Calibri"/>
            </a:endParaRPr>
          </a:p>
          <a:p>
            <a:pPr marL="287020" marR="5080" indent="-274320">
              <a:lnSpc>
                <a:spcPts val="3100"/>
              </a:lnSpc>
              <a:spcBef>
                <a:spcPts val="69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In some </a:t>
            </a:r>
            <a:r>
              <a:rPr dirty="0" sz="2600" spc="-10">
                <a:latin typeface="Calibri"/>
                <a:cs typeface="Calibri"/>
              </a:rPr>
              <a:t>cases </a:t>
            </a:r>
            <a:r>
              <a:rPr dirty="0" sz="2600" spc="-5">
                <a:latin typeface="Calibri"/>
                <a:cs typeface="Calibri"/>
              </a:rPr>
              <a:t>(not </a:t>
            </a:r>
            <a:r>
              <a:rPr dirty="0" sz="2600" spc="-15">
                <a:latin typeface="Calibri"/>
                <a:cs typeface="Calibri"/>
              </a:rPr>
              <a:t>always), </a:t>
            </a:r>
            <a:r>
              <a:rPr dirty="0" sz="2600" spc="-10">
                <a:latin typeface="Calibri"/>
                <a:cs typeface="Calibri"/>
              </a:rPr>
              <a:t>normalization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65">
                <a:latin typeface="Calibri"/>
                <a:cs typeface="Calibri"/>
              </a:rPr>
              <a:t>embedding  </a:t>
            </a:r>
            <a:r>
              <a:rPr dirty="0" sz="2600" spc="-10">
                <a:latin typeface="Calibri"/>
                <a:cs typeface="Calibri"/>
              </a:rPr>
              <a:t>results </a:t>
            </a:r>
            <a:r>
              <a:rPr dirty="0" sz="2600">
                <a:latin typeface="Calibri"/>
                <a:cs typeface="Calibri"/>
              </a:rPr>
              <a:t>in </a:t>
            </a:r>
            <a:r>
              <a:rPr dirty="0" sz="2600" spc="-10">
                <a:latin typeface="Calibri"/>
                <a:cs typeface="Calibri"/>
              </a:rPr>
              <a:t>performance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improvement</a:t>
            </a:r>
            <a:endParaRPr sz="26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47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0">
                <a:latin typeface="Calibri"/>
                <a:cs typeface="Calibri"/>
              </a:rPr>
              <a:t>After </a:t>
            </a:r>
            <a:r>
              <a:rPr dirty="0" sz="2600" spc="315">
                <a:latin typeface="Cambria Math"/>
                <a:cs typeface="Cambria Math"/>
              </a:rPr>
              <a:t>ℓ</a:t>
            </a:r>
            <a:r>
              <a:rPr dirty="0" baseline="-16081" sz="2850" spc="472">
                <a:latin typeface="Cambria Math"/>
                <a:cs typeface="Cambria Math"/>
              </a:rPr>
              <a:t>' </a:t>
            </a:r>
            <a:r>
              <a:rPr dirty="0" sz="2600" spc="-10">
                <a:latin typeface="Calibri"/>
                <a:cs typeface="Calibri"/>
              </a:rPr>
              <a:t>normalization, </a:t>
            </a:r>
            <a:r>
              <a:rPr dirty="0" sz="2600">
                <a:latin typeface="Calibri"/>
                <a:cs typeface="Calibri"/>
              </a:rPr>
              <a:t>all </a:t>
            </a:r>
            <a:r>
              <a:rPr dirty="0" sz="2600" spc="-15">
                <a:latin typeface="Calibri"/>
                <a:cs typeface="Calibri"/>
              </a:rPr>
              <a:t>vectors </a:t>
            </a:r>
            <a:r>
              <a:rPr dirty="0" sz="2600">
                <a:latin typeface="Calibri"/>
                <a:cs typeface="Calibri"/>
              </a:rPr>
              <a:t>will </a:t>
            </a:r>
            <a:r>
              <a:rPr dirty="0" sz="2600" spc="-20">
                <a:latin typeface="Calibri"/>
                <a:cs typeface="Calibri"/>
              </a:rPr>
              <a:t>have </a:t>
            </a:r>
            <a:r>
              <a:rPr dirty="0" sz="2600" spc="-5">
                <a:latin typeface="Calibri"/>
                <a:cs typeface="Calibri"/>
              </a:rPr>
              <a:t>the</a:t>
            </a:r>
            <a:r>
              <a:rPr dirty="0" sz="2600" spc="-19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same</a:t>
            </a:r>
            <a:endParaRPr sz="2600">
              <a:latin typeface="Calibri"/>
              <a:cs typeface="Calibri"/>
            </a:endParaRPr>
          </a:p>
          <a:p>
            <a:pPr marL="287020">
              <a:lnSpc>
                <a:spcPct val="100000"/>
              </a:lnSpc>
            </a:pPr>
            <a:r>
              <a:rPr dirty="0" sz="2600" spc="100">
                <a:latin typeface="Cambria Math"/>
                <a:cs typeface="Cambria Math"/>
              </a:rPr>
              <a:t>ℓ</a:t>
            </a:r>
            <a:r>
              <a:rPr dirty="0" baseline="-16081" sz="2850" spc="150">
                <a:latin typeface="Cambria Math"/>
                <a:cs typeface="Cambria Math"/>
              </a:rPr>
              <a:t>'</a:t>
            </a:r>
            <a:r>
              <a:rPr dirty="0" sz="2600" spc="100">
                <a:latin typeface="Calibri"/>
                <a:cs typeface="Calibri"/>
              </a:rPr>
              <a:t>-norm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71324" y="2061394"/>
            <a:ext cx="586105" cy="422909"/>
          </a:xfrm>
          <a:custGeom>
            <a:avLst/>
            <a:gdLst/>
            <a:ahLst/>
            <a:cxnLst/>
            <a:rect l="l" t="t" r="r" b="b"/>
            <a:pathLst>
              <a:path w="586104" h="422910">
                <a:moveTo>
                  <a:pt x="0" y="0"/>
                </a:moveTo>
                <a:lnTo>
                  <a:pt x="585480" y="0"/>
                </a:lnTo>
                <a:lnTo>
                  <a:pt x="585480" y="422655"/>
                </a:lnTo>
                <a:lnTo>
                  <a:pt x="0" y="422655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60211" y="2050281"/>
            <a:ext cx="608330" cy="445134"/>
          </a:xfrm>
          <a:custGeom>
            <a:avLst/>
            <a:gdLst/>
            <a:ahLst/>
            <a:cxnLst/>
            <a:rect l="l" t="t" r="r" b="b"/>
            <a:pathLst>
              <a:path w="608329" h="445135">
                <a:moveTo>
                  <a:pt x="602729" y="0"/>
                </a:moveTo>
                <a:lnTo>
                  <a:pt x="4974" y="0"/>
                </a:lnTo>
                <a:lnTo>
                  <a:pt x="0" y="4974"/>
                </a:lnTo>
                <a:lnTo>
                  <a:pt x="0" y="439905"/>
                </a:lnTo>
                <a:lnTo>
                  <a:pt x="4974" y="444880"/>
                </a:lnTo>
                <a:lnTo>
                  <a:pt x="602729" y="444880"/>
                </a:lnTo>
                <a:lnTo>
                  <a:pt x="607705" y="439905"/>
                </a:lnTo>
                <a:lnTo>
                  <a:pt x="607705" y="431546"/>
                </a:lnTo>
                <a:lnTo>
                  <a:pt x="13334" y="431546"/>
                </a:lnTo>
                <a:lnTo>
                  <a:pt x="13334" y="13335"/>
                </a:lnTo>
                <a:lnTo>
                  <a:pt x="607705" y="13335"/>
                </a:lnTo>
                <a:lnTo>
                  <a:pt x="607705" y="4974"/>
                </a:lnTo>
                <a:lnTo>
                  <a:pt x="602729" y="0"/>
                </a:lnTo>
                <a:close/>
              </a:path>
              <a:path w="608329" h="445135">
                <a:moveTo>
                  <a:pt x="607705" y="13335"/>
                </a:moveTo>
                <a:lnTo>
                  <a:pt x="594370" y="13335"/>
                </a:lnTo>
                <a:lnTo>
                  <a:pt x="594370" y="431546"/>
                </a:lnTo>
                <a:lnTo>
                  <a:pt x="607705" y="431546"/>
                </a:lnTo>
                <a:lnTo>
                  <a:pt x="607705" y="13335"/>
                </a:lnTo>
                <a:close/>
              </a:path>
              <a:path w="608329" h="445135">
                <a:moveTo>
                  <a:pt x="589925" y="17779"/>
                </a:moveTo>
                <a:lnTo>
                  <a:pt x="17779" y="17779"/>
                </a:lnTo>
                <a:lnTo>
                  <a:pt x="17779" y="427100"/>
                </a:lnTo>
                <a:lnTo>
                  <a:pt x="589925" y="427100"/>
                </a:lnTo>
                <a:lnTo>
                  <a:pt x="589925" y="422655"/>
                </a:lnTo>
                <a:lnTo>
                  <a:pt x="22225" y="422655"/>
                </a:lnTo>
                <a:lnTo>
                  <a:pt x="22225" y="22225"/>
                </a:lnTo>
                <a:lnTo>
                  <a:pt x="589925" y="22225"/>
                </a:lnTo>
                <a:lnTo>
                  <a:pt x="589925" y="17779"/>
                </a:lnTo>
                <a:close/>
              </a:path>
              <a:path w="608329" h="445135">
                <a:moveTo>
                  <a:pt x="589925" y="22225"/>
                </a:moveTo>
                <a:lnTo>
                  <a:pt x="585480" y="22225"/>
                </a:lnTo>
                <a:lnTo>
                  <a:pt x="585480" y="422655"/>
                </a:lnTo>
                <a:lnTo>
                  <a:pt x="589925" y="422655"/>
                </a:lnTo>
                <a:lnTo>
                  <a:pt x="589925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3435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60B5CC"/>
                </a:solidFill>
              </a:rPr>
              <a:t>(3) </a:t>
            </a:r>
            <a:r>
              <a:rPr dirty="0" spc="-20">
                <a:solidFill>
                  <a:srgbClr val="60B5CC"/>
                </a:solidFill>
              </a:rPr>
              <a:t>Graph </a:t>
            </a:r>
            <a:r>
              <a:rPr dirty="0" spc="-25">
                <a:solidFill>
                  <a:srgbClr val="60B5CC"/>
                </a:solidFill>
              </a:rPr>
              <a:t>Attention</a:t>
            </a:r>
            <a:r>
              <a:rPr dirty="0" spc="-60">
                <a:solidFill>
                  <a:srgbClr val="60B5CC"/>
                </a:solidFill>
              </a:rPr>
              <a:t> </a:t>
            </a:r>
            <a:r>
              <a:rPr dirty="0" spc="-10">
                <a:solidFill>
                  <a:srgbClr val="60B5CC"/>
                </a:solidFill>
              </a:rPr>
              <a:t>Networks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6563" y="3520947"/>
            <a:ext cx="12109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265">
                <a:latin typeface="Cambria Math"/>
                <a:cs typeface="Cambria Math"/>
              </a:rPr>
              <a:t>𝛼</a:t>
            </a:r>
            <a:r>
              <a:rPr dirty="0" baseline="-16666" sz="3000" spc="397">
                <a:latin typeface="Cambria Math"/>
                <a:cs typeface="Cambria Math"/>
              </a:rPr>
              <a:t>("</a:t>
            </a:r>
            <a:r>
              <a:rPr dirty="0" baseline="-16666" sz="3000" spc="22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51964" y="3787140"/>
            <a:ext cx="736600" cy="0"/>
          </a:xfrm>
          <a:custGeom>
            <a:avLst/>
            <a:gdLst/>
            <a:ahLst/>
            <a:cxnLst/>
            <a:rect l="l" t="t" r="r" b="b"/>
            <a:pathLst>
              <a:path w="736600" h="0">
                <a:moveTo>
                  <a:pt x="0" y="0"/>
                </a:moveTo>
                <a:lnTo>
                  <a:pt x="736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32062" y="3412235"/>
            <a:ext cx="1727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675">
                <a:latin typeface="Cambria Math"/>
                <a:cs typeface="Cambria Math"/>
              </a:rPr>
              <a:t>'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45943" y="3879537"/>
            <a:ext cx="0" cy="231140"/>
          </a:xfrm>
          <a:custGeom>
            <a:avLst/>
            <a:gdLst/>
            <a:ahLst/>
            <a:cxnLst/>
            <a:rect l="l" t="t" r="r" b="b"/>
            <a:pathLst>
              <a:path w="0" h="231139">
                <a:moveTo>
                  <a:pt x="0" y="0"/>
                </a:moveTo>
                <a:lnTo>
                  <a:pt x="0" y="230807"/>
                </a:lnTo>
              </a:path>
            </a:pathLst>
          </a:custGeom>
          <a:ln w="19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92718" y="3879537"/>
            <a:ext cx="0" cy="231140"/>
          </a:xfrm>
          <a:custGeom>
            <a:avLst/>
            <a:gdLst/>
            <a:ahLst/>
            <a:cxnLst/>
            <a:rect l="l" t="t" r="r" b="b"/>
            <a:pathLst>
              <a:path w="0" h="231139">
                <a:moveTo>
                  <a:pt x="0" y="0"/>
                </a:moveTo>
                <a:lnTo>
                  <a:pt x="0" y="230807"/>
                </a:lnTo>
              </a:path>
            </a:pathLst>
          </a:custGeom>
          <a:ln w="19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59910" y="3877293"/>
            <a:ext cx="321310" cy="235585"/>
          </a:xfrm>
          <a:custGeom>
            <a:avLst/>
            <a:gdLst/>
            <a:ahLst/>
            <a:cxnLst/>
            <a:rect l="l" t="t" r="r" b="b"/>
            <a:pathLst>
              <a:path w="321310" h="235585">
                <a:moveTo>
                  <a:pt x="246150" y="0"/>
                </a:moveTo>
                <a:lnTo>
                  <a:pt x="242802" y="9549"/>
                </a:lnTo>
                <a:lnTo>
                  <a:pt x="256421" y="15459"/>
                </a:lnTo>
                <a:lnTo>
                  <a:pt x="268133" y="23641"/>
                </a:lnTo>
                <a:lnTo>
                  <a:pt x="291915" y="61565"/>
                </a:lnTo>
                <a:lnTo>
                  <a:pt x="299728" y="116457"/>
                </a:lnTo>
                <a:lnTo>
                  <a:pt x="298856" y="137208"/>
                </a:lnTo>
                <a:lnTo>
                  <a:pt x="285776" y="188018"/>
                </a:lnTo>
                <a:lnTo>
                  <a:pt x="256580" y="219784"/>
                </a:lnTo>
                <a:lnTo>
                  <a:pt x="243174" y="225722"/>
                </a:lnTo>
                <a:lnTo>
                  <a:pt x="246150" y="235271"/>
                </a:lnTo>
                <a:lnTo>
                  <a:pt x="291101" y="208563"/>
                </a:lnTo>
                <a:lnTo>
                  <a:pt x="316348" y="159260"/>
                </a:lnTo>
                <a:lnTo>
                  <a:pt x="321185" y="117697"/>
                </a:lnTo>
                <a:lnTo>
                  <a:pt x="319972" y="96129"/>
                </a:lnTo>
                <a:lnTo>
                  <a:pt x="310266" y="57898"/>
                </a:lnTo>
                <a:lnTo>
                  <a:pt x="278164" y="15083"/>
                </a:lnTo>
                <a:lnTo>
                  <a:pt x="263207" y="6158"/>
                </a:lnTo>
                <a:lnTo>
                  <a:pt x="246150" y="0"/>
                </a:lnTo>
                <a:close/>
              </a:path>
              <a:path w="321310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2" y="220218"/>
                </a:lnTo>
                <a:lnTo>
                  <a:pt x="75034" y="235271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321941" y="3799332"/>
            <a:ext cx="48005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>
                <a:latin typeface="Cambria Math"/>
                <a:cs typeface="Cambria Math"/>
              </a:rPr>
              <a:t>&lt;</a:t>
            </a:r>
            <a:r>
              <a:rPr dirty="0" sz="2000" spc="385">
                <a:latin typeface="Cambria Math"/>
                <a:cs typeface="Cambria Math"/>
              </a:rPr>
              <a:t> </a:t>
            </a:r>
            <a:r>
              <a:rPr dirty="0" sz="2000" spc="300">
                <a:latin typeface="Cambria Math"/>
                <a:cs typeface="Cambria Math"/>
              </a:rPr>
              <a:t>(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6127" y="3520947"/>
            <a:ext cx="53003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Calibri"/>
                <a:cs typeface="Calibri"/>
              </a:rPr>
              <a:t>is the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weighting </a:t>
            </a: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factor</a:t>
            </a:r>
            <a:r>
              <a:rPr dirty="0" sz="280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(importance)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6563" y="3984244"/>
            <a:ext cx="7362190" cy="242760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>
              <a:lnSpc>
                <a:spcPct val="100000"/>
              </a:lnSpc>
              <a:spcBef>
                <a:spcPts val="840"/>
              </a:spcBef>
            </a:pPr>
            <a:r>
              <a:rPr dirty="0" sz="2800" spc="-5">
                <a:latin typeface="Calibri"/>
                <a:cs typeface="Calibri"/>
              </a:rPr>
              <a:t>of node </a:t>
            </a:r>
            <a:r>
              <a:rPr dirty="0" sz="2800" spc="-35">
                <a:latin typeface="Cambria Math"/>
                <a:cs typeface="Cambria Math"/>
              </a:rPr>
              <a:t>𝑢</a:t>
            </a:r>
            <a:r>
              <a:rPr dirty="0" sz="2800" spc="-35">
                <a:latin typeface="Calibri"/>
                <a:cs typeface="Calibri"/>
              </a:rPr>
              <a:t>’s </a:t>
            </a:r>
            <a:r>
              <a:rPr dirty="0" sz="2800" spc="-10">
                <a:latin typeface="Calibri"/>
                <a:cs typeface="Calibri"/>
              </a:rPr>
              <a:t>message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endParaRPr sz="2800">
              <a:latin typeface="Cambria Math"/>
              <a:cs typeface="Cambria Math"/>
            </a:endParaRPr>
          </a:p>
          <a:p>
            <a:pPr marL="287020" marR="134620" indent="-274320">
              <a:lnSpc>
                <a:spcPts val="3290"/>
              </a:lnSpc>
              <a:spcBef>
                <a:spcPts val="90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>
                <a:latin typeface="Cambria Math"/>
                <a:cs typeface="Cambria Math"/>
              </a:rPr>
              <a:t>⟹ </a:t>
            </a:r>
            <a:r>
              <a:rPr dirty="0" sz="2800" spc="265">
                <a:latin typeface="Cambria Math"/>
                <a:cs typeface="Cambria Math"/>
              </a:rPr>
              <a:t>𝛼</a:t>
            </a:r>
            <a:r>
              <a:rPr dirty="0" baseline="-16666" sz="3000" spc="397">
                <a:latin typeface="Cambria Math"/>
                <a:cs typeface="Cambria Math"/>
              </a:rPr>
              <a:t>("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>
                <a:latin typeface="Calibri"/>
                <a:cs typeface="Calibri"/>
              </a:rPr>
              <a:t>defined 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explicitly </a:t>
            </a:r>
            <a:r>
              <a:rPr dirty="0" sz="2800" spc="-5">
                <a:solidFill>
                  <a:srgbClr val="6BB76D"/>
                </a:solidFill>
                <a:latin typeface="Calibri"/>
                <a:cs typeface="Calibri"/>
              </a:rPr>
              <a:t>based on the  </a:t>
            </a:r>
            <a:r>
              <a:rPr dirty="0" sz="2800" spc="-15">
                <a:solidFill>
                  <a:srgbClr val="6BB76D"/>
                </a:solidFill>
                <a:latin typeface="Calibri"/>
                <a:cs typeface="Calibri"/>
              </a:rPr>
              <a:t>structural </a:t>
            </a:r>
            <a:r>
              <a:rPr dirty="0" sz="2800" spc="-10">
                <a:solidFill>
                  <a:srgbClr val="6BB76D"/>
                </a:solidFill>
                <a:latin typeface="Calibri"/>
                <a:cs typeface="Calibri"/>
              </a:rPr>
              <a:t>properties </a:t>
            </a:r>
            <a:r>
              <a:rPr dirty="0" sz="2800" spc="-5">
                <a:solidFill>
                  <a:srgbClr val="6BB76D"/>
                </a:solidFill>
                <a:latin typeface="Calibri"/>
                <a:cs typeface="Calibri"/>
              </a:rPr>
              <a:t>of the </a:t>
            </a:r>
            <a:r>
              <a:rPr dirty="0" sz="2800" spc="-15">
                <a:solidFill>
                  <a:srgbClr val="6BB76D"/>
                </a:solidFill>
                <a:latin typeface="Calibri"/>
                <a:cs typeface="Calibri"/>
              </a:rPr>
              <a:t>graph </a:t>
            </a:r>
            <a:r>
              <a:rPr dirty="0" sz="2800" spc="-5">
                <a:solidFill>
                  <a:srgbClr val="6BB76D"/>
                </a:solidFill>
                <a:latin typeface="Calibri"/>
                <a:cs typeface="Calibri"/>
              </a:rPr>
              <a:t>(node</a:t>
            </a:r>
            <a:r>
              <a:rPr dirty="0" sz="2800" spc="50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6BB76D"/>
                </a:solidFill>
                <a:latin typeface="Calibri"/>
                <a:cs typeface="Calibri"/>
              </a:rPr>
              <a:t>degree)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ct val="101400"/>
              </a:lnSpc>
              <a:spcBef>
                <a:spcPts val="5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>
                <a:latin typeface="Cambria Math"/>
                <a:cs typeface="Cambria Math"/>
              </a:rPr>
              <a:t>⟹ </a:t>
            </a:r>
            <a:r>
              <a:rPr dirty="0" sz="2800" spc="-5">
                <a:solidFill>
                  <a:srgbClr val="FF0066"/>
                </a:solidFill>
                <a:latin typeface="Calibri"/>
                <a:cs typeface="Calibri"/>
              </a:rPr>
              <a:t>All </a:t>
            </a:r>
            <a:r>
              <a:rPr dirty="0" sz="2800" spc="-10">
                <a:solidFill>
                  <a:srgbClr val="FF0066"/>
                </a:solidFill>
                <a:latin typeface="Calibri"/>
                <a:cs typeface="Calibri"/>
              </a:rPr>
              <a:t>neighbors </a:t>
            </a:r>
            <a:r>
              <a:rPr dirty="0" sz="2800">
                <a:solidFill>
                  <a:srgbClr val="FF0066"/>
                </a:solidFill>
                <a:latin typeface="Cambria Math"/>
                <a:cs typeface="Cambria Math"/>
              </a:rPr>
              <a:t>𝑢 ∈ </a:t>
            </a:r>
            <a:r>
              <a:rPr dirty="0" sz="2800" spc="25">
                <a:solidFill>
                  <a:srgbClr val="FF0066"/>
                </a:solidFill>
                <a:latin typeface="Cambria Math"/>
                <a:cs typeface="Cambria Math"/>
              </a:rPr>
              <a:t>𝑁(𝑣) </a:t>
            </a:r>
            <a:r>
              <a:rPr dirty="0" sz="2800" spc="-20">
                <a:solidFill>
                  <a:srgbClr val="FF0066"/>
                </a:solidFill>
                <a:latin typeface="Calibri"/>
                <a:cs typeface="Calibri"/>
              </a:rPr>
              <a:t>are </a:t>
            </a:r>
            <a:r>
              <a:rPr dirty="0" sz="2800" spc="-5">
                <a:solidFill>
                  <a:srgbClr val="FF0066"/>
                </a:solidFill>
                <a:latin typeface="Calibri"/>
                <a:cs typeface="Calibri"/>
              </a:rPr>
              <a:t>equally </a:t>
            </a:r>
            <a:r>
              <a:rPr dirty="0" sz="2800" spc="-10">
                <a:solidFill>
                  <a:srgbClr val="FF0066"/>
                </a:solidFill>
                <a:latin typeface="Calibri"/>
                <a:cs typeface="Calibri"/>
              </a:rPr>
              <a:t>important  </a:t>
            </a:r>
            <a:r>
              <a:rPr dirty="0" sz="2800" spc="-15">
                <a:solidFill>
                  <a:srgbClr val="FF0066"/>
                </a:solidFill>
                <a:latin typeface="Calibri"/>
                <a:cs typeface="Calibri"/>
              </a:rPr>
              <a:t>to </a:t>
            </a:r>
            <a:r>
              <a:rPr dirty="0" sz="2800" spc="-5">
                <a:solidFill>
                  <a:srgbClr val="FF0066"/>
                </a:solidFill>
                <a:latin typeface="Calibri"/>
                <a:cs typeface="Calibri"/>
              </a:rPr>
              <a:t>node</a:t>
            </a:r>
            <a:r>
              <a:rPr dirty="0" sz="2800" spc="-75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0066"/>
                </a:solidFill>
                <a:latin typeface="Cambria Math"/>
                <a:cs typeface="Cambria Math"/>
              </a:rPr>
              <a:t>𝑣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23519" y="2275033"/>
            <a:ext cx="321310" cy="235585"/>
          </a:xfrm>
          <a:custGeom>
            <a:avLst/>
            <a:gdLst/>
            <a:ahLst/>
            <a:cxnLst/>
            <a:rect l="l" t="t" r="r" b="b"/>
            <a:pathLst>
              <a:path w="321310" h="235585">
                <a:moveTo>
                  <a:pt x="246150" y="0"/>
                </a:moveTo>
                <a:lnTo>
                  <a:pt x="242802" y="9550"/>
                </a:lnTo>
                <a:lnTo>
                  <a:pt x="256421" y="15460"/>
                </a:lnTo>
                <a:lnTo>
                  <a:pt x="268133" y="23642"/>
                </a:lnTo>
                <a:lnTo>
                  <a:pt x="291915" y="61565"/>
                </a:lnTo>
                <a:lnTo>
                  <a:pt x="299728" y="116457"/>
                </a:lnTo>
                <a:lnTo>
                  <a:pt x="298856" y="137208"/>
                </a:lnTo>
                <a:lnTo>
                  <a:pt x="285775" y="188019"/>
                </a:lnTo>
                <a:lnTo>
                  <a:pt x="256579" y="219784"/>
                </a:lnTo>
                <a:lnTo>
                  <a:pt x="243173" y="225722"/>
                </a:lnTo>
                <a:lnTo>
                  <a:pt x="246150" y="235272"/>
                </a:lnTo>
                <a:lnTo>
                  <a:pt x="291101" y="208564"/>
                </a:lnTo>
                <a:lnTo>
                  <a:pt x="316347" y="159261"/>
                </a:lnTo>
                <a:lnTo>
                  <a:pt x="321184" y="117698"/>
                </a:lnTo>
                <a:lnTo>
                  <a:pt x="319971" y="96129"/>
                </a:lnTo>
                <a:lnTo>
                  <a:pt x="310266" y="57899"/>
                </a:lnTo>
                <a:lnTo>
                  <a:pt x="278163" y="15084"/>
                </a:lnTo>
                <a:lnTo>
                  <a:pt x="263207" y="6158"/>
                </a:lnTo>
                <a:lnTo>
                  <a:pt x="246150" y="0"/>
                </a:lnTo>
                <a:close/>
              </a:path>
              <a:path w="32131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09" y="225722"/>
                </a:lnTo>
                <a:lnTo>
                  <a:pt x="64603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60"/>
                </a:lnTo>
                <a:lnTo>
                  <a:pt x="78381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122891" y="2003043"/>
            <a:ext cx="2442845" cy="52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450"/>
              </a:lnSpc>
              <a:spcBef>
                <a:spcPts val="100"/>
              </a:spcBef>
            </a:pPr>
            <a:r>
              <a:rPr dirty="0" sz="2800" spc="-55">
                <a:latin typeface="Cambria Math"/>
                <a:cs typeface="Cambria Math"/>
              </a:rPr>
              <a:t>𝐡</a:t>
            </a:r>
            <a:r>
              <a:rPr dirty="0" baseline="41666" sz="3000" spc="-82">
                <a:latin typeface="Cambria Math"/>
                <a:cs typeface="Cambria Math"/>
              </a:rPr>
              <a:t>($) 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15">
                <a:latin typeface="Cambria Math"/>
                <a:cs typeface="Cambria Math"/>
              </a:rPr>
              <a:t>𝜎(</a:t>
            </a:r>
            <a:r>
              <a:rPr dirty="0" baseline="1984" sz="4200" spc="22">
                <a:latin typeface="Cambria Math"/>
                <a:cs typeface="Cambria Math"/>
              </a:rPr>
              <a:t>∑</a:t>
            </a:r>
            <a:endParaRPr baseline="1984" sz="4200">
              <a:latin typeface="Cambria Math"/>
              <a:cs typeface="Cambria Math"/>
            </a:endParaRPr>
          </a:p>
          <a:p>
            <a:pPr marL="229870">
              <a:lnSpc>
                <a:spcPts val="1490"/>
              </a:lnSpc>
              <a:tabLst>
                <a:tab pos="1640205" algn="l"/>
              </a:tabLst>
            </a:pPr>
            <a:r>
              <a:rPr dirty="0" sz="2000" spc="300">
                <a:latin typeface="Cambria Math"/>
                <a:cs typeface="Cambria Math"/>
              </a:rPr>
              <a:t>(	</a:t>
            </a:r>
            <a:r>
              <a:rPr dirty="0" sz="2000" spc="200">
                <a:latin typeface="Cambria Math"/>
                <a:cs typeface="Cambria Math"/>
              </a:rPr>
              <a:t>"∈&lt;</a:t>
            </a:r>
            <a:r>
              <a:rPr dirty="0" sz="2000" spc="400">
                <a:latin typeface="Cambria Math"/>
                <a:cs typeface="Cambria Math"/>
              </a:rPr>
              <a:t> </a:t>
            </a:r>
            <a:r>
              <a:rPr dirty="0" sz="2000" spc="300">
                <a:latin typeface="Cambria Math"/>
                <a:cs typeface="Cambria Math"/>
              </a:rPr>
              <a:t>(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71141" y="2196083"/>
            <a:ext cx="1905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05">
                <a:latin typeface="Cambria Math"/>
                <a:cs typeface="Cambria Math"/>
              </a:rPr>
              <a:t>"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15912" y="1811019"/>
            <a:ext cx="22586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761" sz="4200" spc="157">
                <a:latin typeface="Cambria Math"/>
                <a:cs typeface="Cambria Math"/>
              </a:rPr>
              <a:t>𝛼</a:t>
            </a:r>
            <a:r>
              <a:rPr dirty="0" baseline="-58333" sz="3000" spc="157">
                <a:latin typeface="Cambria Math"/>
                <a:cs typeface="Cambria Math"/>
              </a:rPr>
              <a:t>("</a:t>
            </a:r>
            <a:r>
              <a:rPr dirty="0" baseline="-29761" sz="4200" spc="157">
                <a:latin typeface="Cambria Math"/>
                <a:cs typeface="Cambria Math"/>
              </a:rPr>
              <a:t>𝐖</a:t>
            </a:r>
            <a:r>
              <a:rPr dirty="0" baseline="-13888" sz="3000" spc="157">
                <a:latin typeface="Cambria Math"/>
                <a:cs typeface="Cambria Math"/>
              </a:rPr>
              <a:t>($)</a:t>
            </a:r>
            <a:r>
              <a:rPr dirty="0" baseline="-29761" sz="4200" spc="157">
                <a:latin typeface="Cambria Math"/>
                <a:cs typeface="Cambria Math"/>
              </a:rPr>
              <a:t>𝐡</a:t>
            </a:r>
            <a:r>
              <a:rPr dirty="0" sz="2000" spc="105">
                <a:latin typeface="Cambria Math"/>
                <a:cs typeface="Cambria Math"/>
              </a:rPr>
              <a:t>($&amp;')</a:t>
            </a:r>
            <a:r>
              <a:rPr dirty="0" baseline="-29761" sz="4200" spc="157">
                <a:latin typeface="Corbel"/>
                <a:cs typeface="Corbel"/>
              </a:rPr>
              <a:t>)</a:t>
            </a:r>
            <a:endParaRPr baseline="-29761" sz="4200">
              <a:latin typeface="Corbel"/>
              <a:cs typeface="Corbe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69976" y="347472"/>
            <a:ext cx="717499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18108" y="2517139"/>
            <a:ext cx="5193665" cy="805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6BB76D"/>
                </a:solidFill>
                <a:latin typeface="Calibri"/>
                <a:cs typeface="Calibri"/>
              </a:rPr>
              <a:t>Attention</a:t>
            </a:r>
            <a:r>
              <a:rPr dirty="0" sz="1800" spc="-75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BB76D"/>
                </a:solidFill>
                <a:latin typeface="Calibri"/>
                <a:cs typeface="Calibri"/>
              </a:rPr>
              <a:t>weights</a:t>
            </a:r>
            <a:endParaRPr sz="1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3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In GCN </a:t>
            </a:r>
            <a:r>
              <a:rPr dirty="0" sz="3200" b="1">
                <a:solidFill>
                  <a:srgbClr val="60B5CC"/>
                </a:solidFill>
                <a:latin typeface="Calibri"/>
                <a:cs typeface="Calibri"/>
              </a:rPr>
              <a:t>/</a:t>
            </a:r>
            <a:r>
              <a:rPr dirty="0" sz="3200" spc="-4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60B5CC"/>
                </a:solidFill>
                <a:latin typeface="Calibri"/>
                <a:cs typeface="Calibri"/>
              </a:rPr>
              <a:t>GraphSAGE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71324" y="2061394"/>
            <a:ext cx="586105" cy="422909"/>
          </a:xfrm>
          <a:custGeom>
            <a:avLst/>
            <a:gdLst/>
            <a:ahLst/>
            <a:cxnLst/>
            <a:rect l="l" t="t" r="r" b="b"/>
            <a:pathLst>
              <a:path w="586104" h="422910">
                <a:moveTo>
                  <a:pt x="0" y="0"/>
                </a:moveTo>
                <a:lnTo>
                  <a:pt x="585480" y="0"/>
                </a:lnTo>
                <a:lnTo>
                  <a:pt x="585480" y="422655"/>
                </a:lnTo>
                <a:lnTo>
                  <a:pt x="0" y="422655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60211" y="2050281"/>
            <a:ext cx="608330" cy="445134"/>
          </a:xfrm>
          <a:custGeom>
            <a:avLst/>
            <a:gdLst/>
            <a:ahLst/>
            <a:cxnLst/>
            <a:rect l="l" t="t" r="r" b="b"/>
            <a:pathLst>
              <a:path w="608329" h="445135">
                <a:moveTo>
                  <a:pt x="602729" y="0"/>
                </a:moveTo>
                <a:lnTo>
                  <a:pt x="4974" y="0"/>
                </a:lnTo>
                <a:lnTo>
                  <a:pt x="0" y="4974"/>
                </a:lnTo>
                <a:lnTo>
                  <a:pt x="0" y="439905"/>
                </a:lnTo>
                <a:lnTo>
                  <a:pt x="4974" y="444880"/>
                </a:lnTo>
                <a:lnTo>
                  <a:pt x="602729" y="444880"/>
                </a:lnTo>
                <a:lnTo>
                  <a:pt x="607705" y="439905"/>
                </a:lnTo>
                <a:lnTo>
                  <a:pt x="607705" y="431546"/>
                </a:lnTo>
                <a:lnTo>
                  <a:pt x="13334" y="431546"/>
                </a:lnTo>
                <a:lnTo>
                  <a:pt x="13334" y="13335"/>
                </a:lnTo>
                <a:lnTo>
                  <a:pt x="607705" y="13335"/>
                </a:lnTo>
                <a:lnTo>
                  <a:pt x="607705" y="4974"/>
                </a:lnTo>
                <a:lnTo>
                  <a:pt x="602729" y="0"/>
                </a:lnTo>
                <a:close/>
              </a:path>
              <a:path w="608329" h="445135">
                <a:moveTo>
                  <a:pt x="607705" y="13335"/>
                </a:moveTo>
                <a:lnTo>
                  <a:pt x="594370" y="13335"/>
                </a:lnTo>
                <a:lnTo>
                  <a:pt x="594370" y="431546"/>
                </a:lnTo>
                <a:lnTo>
                  <a:pt x="607705" y="431546"/>
                </a:lnTo>
                <a:lnTo>
                  <a:pt x="607705" y="13335"/>
                </a:lnTo>
                <a:close/>
              </a:path>
              <a:path w="608329" h="445135">
                <a:moveTo>
                  <a:pt x="589925" y="17779"/>
                </a:moveTo>
                <a:lnTo>
                  <a:pt x="17779" y="17779"/>
                </a:lnTo>
                <a:lnTo>
                  <a:pt x="17779" y="427100"/>
                </a:lnTo>
                <a:lnTo>
                  <a:pt x="589925" y="427100"/>
                </a:lnTo>
                <a:lnTo>
                  <a:pt x="589925" y="422655"/>
                </a:lnTo>
                <a:lnTo>
                  <a:pt x="22225" y="422655"/>
                </a:lnTo>
                <a:lnTo>
                  <a:pt x="22225" y="22225"/>
                </a:lnTo>
                <a:lnTo>
                  <a:pt x="589925" y="22225"/>
                </a:lnTo>
                <a:lnTo>
                  <a:pt x="589925" y="17779"/>
                </a:lnTo>
                <a:close/>
              </a:path>
              <a:path w="608329" h="445135">
                <a:moveTo>
                  <a:pt x="589925" y="22225"/>
                </a:moveTo>
                <a:lnTo>
                  <a:pt x="585480" y="22225"/>
                </a:lnTo>
                <a:lnTo>
                  <a:pt x="585480" y="422655"/>
                </a:lnTo>
                <a:lnTo>
                  <a:pt x="589925" y="422655"/>
                </a:lnTo>
                <a:lnTo>
                  <a:pt x="589925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3435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60B5CC"/>
                </a:solidFill>
              </a:rPr>
              <a:t>(3) </a:t>
            </a:r>
            <a:r>
              <a:rPr dirty="0" spc="-20">
                <a:solidFill>
                  <a:srgbClr val="60B5CC"/>
                </a:solidFill>
              </a:rPr>
              <a:t>Graph </a:t>
            </a:r>
            <a:r>
              <a:rPr dirty="0" spc="-25">
                <a:solidFill>
                  <a:srgbClr val="60B5CC"/>
                </a:solidFill>
              </a:rPr>
              <a:t>Attention</a:t>
            </a:r>
            <a:r>
              <a:rPr dirty="0" spc="-60">
                <a:solidFill>
                  <a:srgbClr val="60B5CC"/>
                </a:solidFill>
              </a:rPr>
              <a:t> </a:t>
            </a:r>
            <a:r>
              <a:rPr dirty="0" spc="-10">
                <a:solidFill>
                  <a:srgbClr val="60B5CC"/>
                </a:solidFill>
              </a:rPr>
              <a:t>Networks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22891" y="2003043"/>
            <a:ext cx="165353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5">
                <a:latin typeface="Cambria Math"/>
                <a:cs typeface="Cambria Math"/>
              </a:rPr>
              <a:t>𝐡</a:t>
            </a:r>
            <a:r>
              <a:rPr dirty="0" baseline="41666" sz="3000" spc="-82">
                <a:latin typeface="Cambria Math"/>
                <a:cs typeface="Cambria Math"/>
              </a:rPr>
              <a:t>($) 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15">
                <a:latin typeface="Cambria Math"/>
                <a:cs typeface="Cambria Math"/>
              </a:rPr>
              <a:t>𝜎(</a:t>
            </a:r>
            <a:r>
              <a:rPr dirty="0" baseline="1984" sz="4200" spc="22">
                <a:latin typeface="Cambria Math"/>
                <a:cs typeface="Cambria Math"/>
              </a:rPr>
              <a:t>∑</a:t>
            </a:r>
            <a:endParaRPr baseline="1984" sz="42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23519" y="2275033"/>
            <a:ext cx="321310" cy="235585"/>
          </a:xfrm>
          <a:custGeom>
            <a:avLst/>
            <a:gdLst/>
            <a:ahLst/>
            <a:cxnLst/>
            <a:rect l="l" t="t" r="r" b="b"/>
            <a:pathLst>
              <a:path w="321310" h="235585">
                <a:moveTo>
                  <a:pt x="246150" y="0"/>
                </a:moveTo>
                <a:lnTo>
                  <a:pt x="242802" y="9550"/>
                </a:lnTo>
                <a:lnTo>
                  <a:pt x="256421" y="15460"/>
                </a:lnTo>
                <a:lnTo>
                  <a:pt x="268133" y="23642"/>
                </a:lnTo>
                <a:lnTo>
                  <a:pt x="291915" y="61565"/>
                </a:lnTo>
                <a:lnTo>
                  <a:pt x="299728" y="116457"/>
                </a:lnTo>
                <a:lnTo>
                  <a:pt x="298856" y="137208"/>
                </a:lnTo>
                <a:lnTo>
                  <a:pt x="285775" y="188019"/>
                </a:lnTo>
                <a:lnTo>
                  <a:pt x="256579" y="219784"/>
                </a:lnTo>
                <a:lnTo>
                  <a:pt x="243173" y="225722"/>
                </a:lnTo>
                <a:lnTo>
                  <a:pt x="246150" y="235272"/>
                </a:lnTo>
                <a:lnTo>
                  <a:pt x="291101" y="208564"/>
                </a:lnTo>
                <a:lnTo>
                  <a:pt x="316347" y="159261"/>
                </a:lnTo>
                <a:lnTo>
                  <a:pt x="321184" y="117698"/>
                </a:lnTo>
                <a:lnTo>
                  <a:pt x="319971" y="96129"/>
                </a:lnTo>
                <a:lnTo>
                  <a:pt x="310266" y="57899"/>
                </a:lnTo>
                <a:lnTo>
                  <a:pt x="278163" y="15084"/>
                </a:lnTo>
                <a:lnTo>
                  <a:pt x="263207" y="6158"/>
                </a:lnTo>
                <a:lnTo>
                  <a:pt x="246150" y="0"/>
                </a:lnTo>
                <a:close/>
              </a:path>
              <a:path w="32131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09" y="225722"/>
                </a:lnTo>
                <a:lnTo>
                  <a:pt x="64603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60"/>
                </a:lnTo>
                <a:lnTo>
                  <a:pt x="78381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40378" y="2199131"/>
            <a:ext cx="402145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3035" algn="l"/>
                <a:tab pos="3843020" algn="l"/>
              </a:tabLst>
            </a:pPr>
            <a:r>
              <a:rPr dirty="0" sz="2000" spc="300">
                <a:latin typeface="Cambria Math"/>
                <a:cs typeface="Cambria Math"/>
              </a:rPr>
              <a:t>(</a:t>
            </a:r>
            <a:r>
              <a:rPr dirty="0" sz="2000" spc="300">
                <a:latin typeface="Cambria Math"/>
                <a:cs typeface="Cambria Math"/>
              </a:rPr>
              <a:t>	</a:t>
            </a:r>
            <a:r>
              <a:rPr dirty="0" sz="2000" spc="565">
                <a:latin typeface="Cambria Math"/>
                <a:cs typeface="Cambria Math"/>
              </a:rPr>
              <a:t>"</a:t>
            </a:r>
            <a:r>
              <a:rPr dirty="0" sz="2000" spc="25">
                <a:latin typeface="Cambria Math"/>
                <a:cs typeface="Cambria Math"/>
              </a:rPr>
              <a:t>∈</a:t>
            </a:r>
            <a:r>
              <a:rPr dirty="0" sz="2000" spc="5">
                <a:latin typeface="Cambria Math"/>
                <a:cs typeface="Cambria Math"/>
              </a:rPr>
              <a:t>&lt;</a:t>
            </a:r>
            <a:r>
              <a:rPr dirty="0" sz="2000">
                <a:latin typeface="Cambria Math"/>
                <a:cs typeface="Cambria Math"/>
              </a:rPr>
              <a:t> </a:t>
            </a:r>
            <a:r>
              <a:rPr dirty="0" sz="2000" spc="50">
                <a:latin typeface="Cambria Math"/>
                <a:cs typeface="Cambria Math"/>
              </a:rPr>
              <a:t> </a:t>
            </a:r>
            <a:r>
              <a:rPr dirty="0" sz="2000" spc="300">
                <a:latin typeface="Cambria Math"/>
                <a:cs typeface="Cambria Math"/>
              </a:rPr>
              <a:t>(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505">
                <a:latin typeface="Cambria Math"/>
                <a:cs typeface="Cambria Math"/>
              </a:rPr>
              <a:t>"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5912" y="1811019"/>
            <a:ext cx="22586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761" sz="4200" spc="157">
                <a:latin typeface="Cambria Math"/>
                <a:cs typeface="Cambria Math"/>
              </a:rPr>
              <a:t>𝛼</a:t>
            </a:r>
            <a:r>
              <a:rPr dirty="0" baseline="-58333" sz="3000" spc="157">
                <a:latin typeface="Cambria Math"/>
                <a:cs typeface="Cambria Math"/>
              </a:rPr>
              <a:t>("</a:t>
            </a:r>
            <a:r>
              <a:rPr dirty="0" baseline="-29761" sz="4200" spc="157">
                <a:latin typeface="Cambria Math"/>
                <a:cs typeface="Cambria Math"/>
              </a:rPr>
              <a:t>𝐖</a:t>
            </a:r>
            <a:r>
              <a:rPr dirty="0" baseline="-13888" sz="3000" spc="157">
                <a:latin typeface="Cambria Math"/>
                <a:cs typeface="Cambria Math"/>
              </a:rPr>
              <a:t>($)</a:t>
            </a:r>
            <a:r>
              <a:rPr dirty="0" baseline="-29761" sz="4200" spc="157">
                <a:latin typeface="Cambria Math"/>
                <a:cs typeface="Cambria Math"/>
              </a:rPr>
              <a:t>𝐡</a:t>
            </a:r>
            <a:r>
              <a:rPr dirty="0" sz="2000" spc="105">
                <a:latin typeface="Cambria Math"/>
                <a:cs typeface="Cambria Math"/>
              </a:rPr>
              <a:t>($&amp;')</a:t>
            </a:r>
            <a:r>
              <a:rPr dirty="0" baseline="-29761" sz="4200" spc="157">
                <a:latin typeface="Corbel"/>
                <a:cs typeface="Corbel"/>
              </a:rPr>
              <a:t>)</a:t>
            </a:r>
            <a:endParaRPr baseline="-29761" sz="4200">
              <a:latin typeface="Corbel"/>
              <a:cs typeface="Corbe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9976" y="347472"/>
            <a:ext cx="717804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11352" y="2399410"/>
            <a:ext cx="7957820" cy="4178935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algn="ctr" marL="130175">
              <a:lnSpc>
                <a:spcPct val="100000"/>
              </a:lnSpc>
              <a:spcBef>
                <a:spcPts val="1025"/>
              </a:spcBef>
            </a:pPr>
            <a:r>
              <a:rPr dirty="0" sz="1800" spc="-20" b="1">
                <a:solidFill>
                  <a:srgbClr val="6BB76D"/>
                </a:solidFill>
                <a:latin typeface="Calibri"/>
                <a:cs typeface="Calibri"/>
              </a:rPr>
              <a:t>Attention</a:t>
            </a:r>
            <a:r>
              <a:rPr dirty="0" sz="1800" spc="-75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BB76D"/>
                </a:solidFill>
                <a:latin typeface="Calibri"/>
                <a:cs typeface="Calibri"/>
              </a:rPr>
              <a:t>weights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Not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all </a:t>
            </a:r>
            <a:r>
              <a:rPr dirty="0" sz="3200" spc="-35" b="1">
                <a:solidFill>
                  <a:srgbClr val="D60093"/>
                </a:solidFill>
                <a:latin typeface="Calibri"/>
                <a:cs typeface="Calibri"/>
              </a:rPr>
              <a:t>node’s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neighbors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are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equally</a:t>
            </a:r>
            <a:r>
              <a:rPr dirty="0" sz="3200" spc="3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important</a:t>
            </a:r>
            <a:endParaRPr sz="3200">
              <a:latin typeface="Calibri"/>
              <a:cs typeface="Calibri"/>
            </a:endParaRPr>
          </a:p>
          <a:p>
            <a:pPr marL="332105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Arial"/>
              <a:buChar char="▪"/>
              <a:tabLst>
                <a:tab pos="332740" algn="l"/>
              </a:tabLst>
            </a:pPr>
            <a:r>
              <a:rPr dirty="0" sz="2800" spc="-25" b="1">
                <a:latin typeface="Calibri"/>
                <a:cs typeface="Calibri"/>
              </a:rPr>
              <a:t>Attention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>
                <a:latin typeface="Calibri"/>
                <a:cs typeface="Calibri"/>
              </a:rPr>
              <a:t>inspired by </a:t>
            </a:r>
            <a:r>
              <a:rPr dirty="0" sz="2800" spc="-15">
                <a:latin typeface="Calibri"/>
                <a:cs typeface="Calibri"/>
              </a:rPr>
              <a:t>cognitive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attention.</a:t>
            </a:r>
            <a:endParaRPr sz="2800">
              <a:latin typeface="Calibri"/>
              <a:cs typeface="Calibri"/>
            </a:endParaRPr>
          </a:p>
          <a:p>
            <a:pPr marL="332105" marR="64769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Arial"/>
              <a:buChar char="▪"/>
              <a:tabLst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 b="1">
                <a:latin typeface="Calibri"/>
                <a:cs typeface="Calibri"/>
              </a:rPr>
              <a:t>attention </a:t>
            </a:r>
            <a:r>
              <a:rPr dirty="0" sz="2800">
                <a:latin typeface="Cambria Math"/>
                <a:cs typeface="Cambria Math"/>
              </a:rPr>
              <a:t>𝜶</a:t>
            </a:r>
            <a:r>
              <a:rPr dirty="0" baseline="-16666" sz="3000">
                <a:latin typeface="Cambria Math"/>
                <a:cs typeface="Cambria Math"/>
              </a:rPr>
              <a:t>𝒗𝒖 </a:t>
            </a:r>
            <a:r>
              <a:rPr dirty="0" sz="2800" spc="-15">
                <a:latin typeface="Calibri"/>
                <a:cs typeface="Calibri"/>
              </a:rPr>
              <a:t>focuses </a:t>
            </a:r>
            <a:r>
              <a:rPr dirty="0" sz="2800" spc="-5">
                <a:latin typeface="Calibri"/>
                <a:cs typeface="Calibri"/>
              </a:rPr>
              <a:t>on the </a:t>
            </a:r>
            <a:r>
              <a:rPr dirty="0" sz="2800" spc="-10">
                <a:latin typeface="Calibri"/>
                <a:cs typeface="Calibri"/>
              </a:rPr>
              <a:t>important </a:t>
            </a:r>
            <a:r>
              <a:rPr dirty="0" sz="2800" spc="-5">
                <a:latin typeface="Calibri"/>
                <a:cs typeface="Calibri"/>
              </a:rPr>
              <a:t>parts of  the input </a:t>
            </a:r>
            <a:r>
              <a:rPr dirty="0" sz="2800" spc="-20">
                <a:latin typeface="Calibri"/>
                <a:cs typeface="Calibri"/>
              </a:rPr>
              <a:t>data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5">
                <a:latin typeface="Calibri"/>
                <a:cs typeface="Calibri"/>
              </a:rPr>
              <a:t>fades </a:t>
            </a:r>
            <a:r>
              <a:rPr dirty="0" sz="2800" spc="-5">
                <a:latin typeface="Calibri"/>
                <a:cs typeface="Calibri"/>
              </a:rPr>
              <a:t>out the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rest.</a:t>
            </a:r>
            <a:endParaRPr sz="2800">
              <a:latin typeface="Calibri"/>
              <a:cs typeface="Calibri"/>
            </a:endParaRPr>
          </a:p>
          <a:p>
            <a:pPr lvl="1" marL="597535" marR="5080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Arial"/>
              <a:buChar char="▪"/>
              <a:tabLst>
                <a:tab pos="598170" algn="l"/>
              </a:tabLst>
            </a:pPr>
            <a:r>
              <a:rPr dirty="0" sz="2400" spc="-5" b="1">
                <a:latin typeface="Calibri"/>
                <a:cs typeface="Calibri"/>
              </a:rPr>
              <a:t>Idea: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>
                <a:latin typeface="Calibri"/>
                <a:cs typeface="Calibri"/>
              </a:rPr>
              <a:t>NN </a:t>
            </a:r>
            <a:r>
              <a:rPr dirty="0" sz="2400" spc="-5">
                <a:latin typeface="Calibri"/>
                <a:cs typeface="Calibri"/>
              </a:rPr>
              <a:t>should </a:t>
            </a:r>
            <a:r>
              <a:rPr dirty="0" sz="2400" spc="-15">
                <a:latin typeface="Calibri"/>
                <a:cs typeface="Calibri"/>
              </a:rPr>
              <a:t>devote more </a:t>
            </a:r>
            <a:r>
              <a:rPr dirty="0" sz="2400" spc="-5">
                <a:latin typeface="Calibri"/>
                <a:cs typeface="Calibri"/>
              </a:rPr>
              <a:t>computing </a:t>
            </a:r>
            <a:r>
              <a:rPr dirty="0" sz="2400" spc="-10">
                <a:latin typeface="Calibri"/>
                <a:cs typeface="Calibri"/>
              </a:rPr>
              <a:t>power </a:t>
            </a:r>
            <a:r>
              <a:rPr dirty="0" sz="2400" spc="-5">
                <a:latin typeface="Calibri"/>
                <a:cs typeface="Calibri"/>
              </a:rPr>
              <a:t>on </a:t>
            </a:r>
            <a:r>
              <a:rPr dirty="0" sz="2400" spc="-10">
                <a:latin typeface="Calibri"/>
                <a:cs typeface="Calibri"/>
              </a:rPr>
              <a:t>that  </a:t>
            </a:r>
            <a:r>
              <a:rPr dirty="0" sz="2400" spc="-5">
                <a:latin typeface="Calibri"/>
                <a:cs typeface="Calibri"/>
              </a:rPr>
              <a:t>small </a:t>
            </a:r>
            <a:r>
              <a:rPr dirty="0" sz="2400">
                <a:latin typeface="Calibri"/>
                <a:cs typeface="Calibri"/>
              </a:rPr>
              <a:t>but </a:t>
            </a:r>
            <a:r>
              <a:rPr dirty="0" sz="2400" spc="-10">
                <a:latin typeface="Calibri"/>
                <a:cs typeface="Calibri"/>
              </a:rPr>
              <a:t>important </a:t>
            </a:r>
            <a:r>
              <a:rPr dirty="0" sz="2400">
                <a:latin typeface="Calibri"/>
                <a:cs typeface="Calibri"/>
              </a:rPr>
              <a:t>part </a:t>
            </a:r>
            <a:r>
              <a:rPr dirty="0" sz="2400" spc="-5">
                <a:latin typeface="Calibri"/>
                <a:cs typeface="Calibri"/>
              </a:rPr>
              <a:t>of the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lvl="1" marL="597535" marR="259079" indent="-228600">
              <a:lnSpc>
                <a:spcPct val="100800"/>
              </a:lnSpc>
              <a:spcBef>
                <a:spcPts val="595"/>
              </a:spcBef>
              <a:buClr>
                <a:srgbClr val="E66C7D"/>
              </a:buClr>
              <a:buFont typeface="Arial"/>
              <a:buChar char="▪"/>
              <a:tabLst>
                <a:tab pos="598170" algn="l"/>
              </a:tabLst>
            </a:pPr>
            <a:r>
              <a:rPr dirty="0" sz="2400" spc="-5">
                <a:latin typeface="Calibri"/>
                <a:cs typeface="Calibri"/>
              </a:rPr>
              <a:t>Which </a:t>
            </a:r>
            <a:r>
              <a:rPr dirty="0" sz="2400">
                <a:latin typeface="Calibri"/>
                <a:cs typeface="Calibri"/>
              </a:rPr>
              <a:t>part </a:t>
            </a:r>
            <a:r>
              <a:rPr dirty="0" sz="2400" spc="-5">
                <a:latin typeface="Calibri"/>
                <a:cs typeface="Calibri"/>
              </a:rPr>
              <a:t>of the </a:t>
            </a:r>
            <a:r>
              <a:rPr dirty="0" sz="2400" spc="-15">
                <a:latin typeface="Calibri"/>
                <a:cs typeface="Calibri"/>
              </a:rPr>
              <a:t>data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 spc="-15">
                <a:latin typeface="Calibri"/>
                <a:cs typeface="Calibri"/>
              </a:rPr>
              <a:t>more </a:t>
            </a:r>
            <a:r>
              <a:rPr dirty="0" sz="2400" spc="-10">
                <a:latin typeface="Calibri"/>
                <a:cs typeface="Calibri"/>
              </a:rPr>
              <a:t>important </a:t>
            </a:r>
            <a:r>
              <a:rPr dirty="0" sz="2400">
                <a:latin typeface="Calibri"/>
                <a:cs typeface="Calibri"/>
              </a:rPr>
              <a:t>depends </a:t>
            </a:r>
            <a:r>
              <a:rPr dirty="0" sz="2400" spc="-5">
                <a:latin typeface="Calibri"/>
                <a:cs typeface="Calibri"/>
              </a:rPr>
              <a:t>on the  </a:t>
            </a:r>
            <a:r>
              <a:rPr dirty="0" sz="2400" spc="-20">
                <a:latin typeface="Calibri"/>
                <a:cs typeface="Calibri"/>
              </a:rPr>
              <a:t>context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5">
                <a:latin typeface="Calibri"/>
                <a:cs typeface="Calibri"/>
              </a:rPr>
              <a:t>is learned </a:t>
            </a:r>
            <a:r>
              <a:rPr dirty="0" sz="2400" spc="-10">
                <a:latin typeface="Calibri"/>
                <a:cs typeface="Calibri"/>
              </a:rPr>
              <a:t>through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training.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51052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8014" y="1273555"/>
            <a:ext cx="4681855" cy="836294"/>
          </a:xfrm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marL="154940" marR="5080" indent="-142875">
              <a:lnSpc>
                <a:spcPct val="77300"/>
              </a:lnSpc>
              <a:spcBef>
                <a:spcPts val="915"/>
              </a:spcBef>
            </a:pPr>
            <a:r>
              <a:rPr dirty="0" sz="3000" spc="-5">
                <a:solidFill>
                  <a:srgbClr val="D60093"/>
                </a:solidFill>
              </a:rPr>
              <a:t>Can </a:t>
            </a:r>
            <a:r>
              <a:rPr dirty="0" sz="3000" spc="-15">
                <a:solidFill>
                  <a:srgbClr val="D60093"/>
                </a:solidFill>
              </a:rPr>
              <a:t>we </a:t>
            </a:r>
            <a:r>
              <a:rPr dirty="0" sz="3000">
                <a:solidFill>
                  <a:srgbClr val="D60093"/>
                </a:solidFill>
              </a:rPr>
              <a:t>do </a:t>
            </a:r>
            <a:r>
              <a:rPr dirty="0" sz="3000" spc="-20">
                <a:solidFill>
                  <a:srgbClr val="D60093"/>
                </a:solidFill>
              </a:rPr>
              <a:t>better </a:t>
            </a:r>
            <a:r>
              <a:rPr dirty="0" sz="3000" spc="-5">
                <a:solidFill>
                  <a:srgbClr val="D60093"/>
                </a:solidFill>
              </a:rPr>
              <a:t>than simple  neighborhood</a:t>
            </a:r>
            <a:r>
              <a:rPr dirty="0" sz="3000" spc="-10">
                <a:solidFill>
                  <a:srgbClr val="D60093"/>
                </a:solidFill>
              </a:rPr>
              <a:t> </a:t>
            </a:r>
            <a:r>
              <a:rPr dirty="0" sz="3000" spc="-15">
                <a:solidFill>
                  <a:srgbClr val="D60093"/>
                </a:solidFill>
              </a:rPr>
              <a:t>aggregation?</a:t>
            </a:r>
            <a:endParaRPr sz="3000"/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364739"/>
            <a:ext cx="7573645" cy="194310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3427095" marR="412115" indent="-2339975">
              <a:lnSpc>
                <a:spcPts val="2900"/>
              </a:lnSpc>
              <a:spcBef>
                <a:spcPts val="780"/>
              </a:spcBef>
            </a:pP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Can </a:t>
            </a:r>
            <a:r>
              <a:rPr dirty="0" sz="3000" spc="-15" b="1">
                <a:solidFill>
                  <a:srgbClr val="D60093"/>
                </a:solidFill>
                <a:latin typeface="Calibri"/>
                <a:cs typeface="Calibri"/>
              </a:rPr>
              <a:t>we </a:t>
            </a:r>
            <a:r>
              <a:rPr dirty="0" sz="3000" spc="-10" b="1">
                <a:solidFill>
                  <a:srgbClr val="D60093"/>
                </a:solidFill>
                <a:latin typeface="Calibri"/>
                <a:cs typeface="Calibri"/>
              </a:rPr>
              <a:t>let weighting </a:t>
            </a:r>
            <a:r>
              <a:rPr dirty="0" sz="3000" spc="-25" b="1">
                <a:solidFill>
                  <a:srgbClr val="D60093"/>
                </a:solidFill>
                <a:latin typeface="Calibri"/>
                <a:cs typeface="Calibri"/>
              </a:rPr>
              <a:t>factors </a:t>
            </a:r>
            <a:r>
              <a:rPr dirty="0" sz="3000" spc="-5">
                <a:solidFill>
                  <a:srgbClr val="D60093"/>
                </a:solidFill>
                <a:latin typeface="Cambria Math"/>
                <a:cs typeface="Cambria Math"/>
              </a:rPr>
              <a:t>𝜶</a:t>
            </a:r>
            <a:r>
              <a:rPr dirty="0" baseline="-15151" sz="3300" spc="-7">
                <a:solidFill>
                  <a:srgbClr val="D60093"/>
                </a:solidFill>
                <a:latin typeface="Cambria Math"/>
                <a:cs typeface="Cambria Math"/>
              </a:rPr>
              <a:t>𝒗𝒖 </a:t>
            </a:r>
            <a:r>
              <a:rPr dirty="0" sz="3000" spc="-20" b="1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z="3000" b="1">
                <a:solidFill>
                  <a:srgbClr val="D60093"/>
                </a:solidFill>
                <a:latin typeface="Calibri"/>
                <a:cs typeface="Calibri"/>
              </a:rPr>
              <a:t>be 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learned?</a:t>
            </a:r>
            <a:endParaRPr sz="3000">
              <a:latin typeface="Calibri"/>
              <a:cs typeface="Calibri"/>
            </a:endParaRPr>
          </a:p>
          <a:p>
            <a:pPr marL="332740" marR="5080" indent="-320040">
              <a:lnSpc>
                <a:spcPts val="2900"/>
              </a:lnSpc>
              <a:spcBef>
                <a:spcPts val="278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Goal: </a:t>
            </a:r>
            <a:r>
              <a:rPr dirty="0" sz="3000" spc="-5">
                <a:latin typeface="Calibri"/>
                <a:cs typeface="Calibri"/>
              </a:rPr>
              <a:t>Specify </a:t>
            </a:r>
            <a:r>
              <a:rPr dirty="0" sz="3000" spc="-15" b="1">
                <a:latin typeface="Calibri"/>
                <a:cs typeface="Calibri"/>
              </a:rPr>
              <a:t>arbitrary </a:t>
            </a:r>
            <a:r>
              <a:rPr dirty="0" sz="3000" spc="-10" b="1">
                <a:latin typeface="Calibri"/>
                <a:cs typeface="Calibri"/>
              </a:rPr>
              <a:t>importance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25">
                <a:latin typeface="Calibri"/>
                <a:cs typeface="Calibri"/>
              </a:rPr>
              <a:t>different  </a:t>
            </a:r>
            <a:r>
              <a:rPr dirty="0" sz="3000" spc="-10">
                <a:latin typeface="Calibri"/>
                <a:cs typeface="Calibri"/>
              </a:rPr>
              <a:t>neighbors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 spc="-5">
                <a:latin typeface="Calibri"/>
                <a:cs typeface="Calibri"/>
              </a:rPr>
              <a:t>each node in the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 spc="-15">
                <a:latin typeface="Calibri"/>
                <a:cs typeface="Calibri"/>
              </a:rPr>
              <a:t>graph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8134" y="4456684"/>
            <a:ext cx="1835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20">
                <a:latin typeface="Cambria Math"/>
                <a:cs typeface="Cambria Math"/>
              </a:rPr>
              <a:t>#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4257547"/>
            <a:ext cx="823277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Idea: </a:t>
            </a:r>
            <a:r>
              <a:rPr dirty="0" sz="3000" spc="-10">
                <a:latin typeface="Calibri"/>
                <a:cs typeface="Calibri"/>
              </a:rPr>
              <a:t>Compute </a:t>
            </a:r>
            <a:r>
              <a:rPr dirty="0" sz="3000" spc="-5">
                <a:latin typeface="Calibri"/>
                <a:cs typeface="Calibri"/>
              </a:rPr>
              <a:t>embedding </a:t>
            </a:r>
            <a:r>
              <a:rPr dirty="0" sz="3000" spc="-285">
                <a:latin typeface="Cambria Math"/>
                <a:cs typeface="Cambria Math"/>
              </a:rPr>
              <a:t>𝒉</a:t>
            </a:r>
            <a:r>
              <a:rPr dirty="0" baseline="40404" sz="3300" spc="-427">
                <a:latin typeface="Cambria Math"/>
                <a:cs typeface="Cambria Math"/>
              </a:rPr>
              <a:t>(%) </a:t>
            </a:r>
            <a:r>
              <a:rPr dirty="0" baseline="40404" sz="3300" spc="-135">
                <a:latin typeface="Cambria Math"/>
                <a:cs typeface="Cambria Math"/>
              </a:rPr>
              <a:t>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 spc="-5">
                <a:latin typeface="Calibri"/>
                <a:cs typeface="Calibri"/>
              </a:rPr>
              <a:t>each node in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5">
                <a:latin typeface="Calibri"/>
                <a:cs typeface="Calibri"/>
              </a:rPr>
              <a:t>the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8149" y="4638547"/>
            <a:ext cx="7776209" cy="1588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595"/>
              </a:lnSpc>
              <a:spcBef>
                <a:spcPts val="100"/>
              </a:spcBef>
            </a:pPr>
            <a:r>
              <a:rPr dirty="0" sz="3000" spc="-15">
                <a:latin typeface="Calibri"/>
                <a:cs typeface="Calibri"/>
              </a:rPr>
              <a:t>graph following </a:t>
            </a:r>
            <a:r>
              <a:rPr dirty="0" sz="3000">
                <a:latin typeface="Calibri"/>
                <a:cs typeface="Calibri"/>
              </a:rPr>
              <a:t>an </a:t>
            </a:r>
            <a:r>
              <a:rPr dirty="0" sz="3000" spc="-20" b="1">
                <a:solidFill>
                  <a:srgbClr val="6BB76D"/>
                </a:solidFill>
                <a:latin typeface="Calibri"/>
                <a:cs typeface="Calibri"/>
              </a:rPr>
              <a:t>attention</a:t>
            </a:r>
            <a:r>
              <a:rPr dirty="0" sz="3000" spc="15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3000" spc="-25" b="1">
                <a:solidFill>
                  <a:srgbClr val="6BB76D"/>
                </a:solidFill>
                <a:latin typeface="Calibri"/>
                <a:cs typeface="Calibri"/>
              </a:rPr>
              <a:t>strategy</a:t>
            </a:r>
            <a:r>
              <a:rPr dirty="0" sz="3000" spc="-25" b="1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  <a:p>
            <a:pPr marL="305435" indent="-274320">
              <a:lnSpc>
                <a:spcPts val="3105"/>
              </a:lnSpc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600" spc="-5">
                <a:latin typeface="Calibri"/>
                <a:cs typeface="Calibri"/>
              </a:rPr>
              <a:t>Nodes </a:t>
            </a:r>
            <a:r>
              <a:rPr dirty="0" sz="2600" spc="-20">
                <a:latin typeface="Calibri"/>
                <a:cs typeface="Calibri"/>
              </a:rPr>
              <a:t>attend </a:t>
            </a:r>
            <a:r>
              <a:rPr dirty="0" sz="2600" spc="-15">
                <a:latin typeface="Calibri"/>
                <a:cs typeface="Calibri"/>
              </a:rPr>
              <a:t>over </a:t>
            </a:r>
            <a:r>
              <a:rPr dirty="0" sz="2600" spc="-5">
                <a:latin typeface="Calibri"/>
                <a:cs typeface="Calibri"/>
              </a:rPr>
              <a:t>their neighborhoods’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message</a:t>
            </a:r>
            <a:endParaRPr sz="2600">
              <a:latin typeface="Calibri"/>
              <a:cs typeface="Calibri"/>
            </a:endParaRPr>
          </a:p>
          <a:p>
            <a:pPr marL="305435" marR="5080" indent="-274320">
              <a:lnSpc>
                <a:spcPct val="80000"/>
              </a:lnSpc>
              <a:spcBef>
                <a:spcPts val="610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600" spc="-5">
                <a:latin typeface="Calibri"/>
                <a:cs typeface="Calibri"/>
              </a:rPr>
              <a:t>Implicitly specifying </a:t>
            </a:r>
            <a:r>
              <a:rPr dirty="0" sz="2600" spc="-25">
                <a:latin typeface="Calibri"/>
                <a:cs typeface="Calibri"/>
              </a:rPr>
              <a:t>different </a:t>
            </a:r>
            <a:r>
              <a:rPr dirty="0" sz="2600" spc="-10">
                <a:latin typeface="Calibri"/>
                <a:cs typeface="Calibri"/>
              </a:rPr>
              <a:t>weights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25">
                <a:latin typeface="Calibri"/>
                <a:cs typeface="Calibri"/>
              </a:rPr>
              <a:t>different </a:t>
            </a:r>
            <a:r>
              <a:rPr dirty="0" sz="2600" spc="-105">
                <a:latin typeface="Calibri"/>
                <a:cs typeface="Calibri"/>
              </a:rPr>
              <a:t>nodes  </a:t>
            </a:r>
            <a:r>
              <a:rPr dirty="0" sz="2600">
                <a:latin typeface="Calibri"/>
                <a:cs typeface="Calibri"/>
              </a:rPr>
              <a:t>in a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neighborhood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43715" y="19811"/>
            <a:ext cx="39789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Corbel"/>
                <a:cs typeface="Corbel"/>
              </a:rPr>
              <a:t>[Velickovic </a:t>
            </a:r>
            <a:r>
              <a:rPr dirty="0" sz="1400">
                <a:solidFill>
                  <a:srgbClr val="FFFFFF"/>
                </a:solidFill>
                <a:latin typeface="Corbel"/>
                <a:cs typeface="Corbel"/>
              </a:rPr>
              <a:t>et al., </a:t>
            </a:r>
            <a:r>
              <a:rPr dirty="0" sz="1400" spc="-5">
                <a:solidFill>
                  <a:srgbClr val="FFFFFF"/>
                </a:solidFill>
                <a:latin typeface="Corbel"/>
                <a:cs typeface="Corbel"/>
              </a:rPr>
              <a:t>ICLR </a:t>
            </a:r>
            <a:r>
              <a:rPr dirty="0" sz="1400" spc="-10">
                <a:solidFill>
                  <a:srgbClr val="FFFFFF"/>
                </a:solidFill>
                <a:latin typeface="Corbel"/>
                <a:cs typeface="Corbel"/>
              </a:rPr>
              <a:t>2018; </a:t>
            </a:r>
            <a:r>
              <a:rPr dirty="0" sz="1400" spc="-5">
                <a:solidFill>
                  <a:srgbClr val="FFFFFF"/>
                </a:solidFill>
                <a:latin typeface="Corbel"/>
                <a:cs typeface="Corbel"/>
              </a:rPr>
              <a:t>Vaswani </a:t>
            </a:r>
            <a:r>
              <a:rPr dirty="0" sz="1400">
                <a:solidFill>
                  <a:srgbClr val="FFFFFF"/>
                </a:solidFill>
                <a:latin typeface="Corbel"/>
                <a:cs typeface="Corbel"/>
              </a:rPr>
              <a:t>et al., </a:t>
            </a:r>
            <a:r>
              <a:rPr dirty="0" sz="1400" spc="-5">
                <a:solidFill>
                  <a:srgbClr val="FFFFFF"/>
                </a:solidFill>
                <a:latin typeface="Corbel"/>
                <a:cs typeface="Corbel"/>
              </a:rPr>
              <a:t>NIPS</a:t>
            </a:r>
            <a:r>
              <a:rPr dirty="0" sz="1400" spc="-9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400" spc="-15">
                <a:solidFill>
                  <a:srgbClr val="FFFFFF"/>
                </a:solidFill>
                <a:latin typeface="Corbel"/>
                <a:cs typeface="Corbel"/>
              </a:rPr>
              <a:t>2017]</a:t>
            </a:r>
            <a:endParaRPr sz="1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080760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0821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Let </a:t>
            </a:r>
            <a:r>
              <a:rPr dirty="0" spc="155" b="0">
                <a:solidFill>
                  <a:srgbClr val="000000"/>
                </a:solidFill>
                <a:latin typeface="Cambria Math"/>
                <a:cs typeface="Cambria Math"/>
              </a:rPr>
              <a:t>𝛼</a:t>
            </a:r>
            <a:r>
              <a:rPr dirty="0" baseline="-15700" sz="3450" spc="232" b="0">
                <a:solidFill>
                  <a:srgbClr val="000000"/>
                </a:solidFill>
                <a:latin typeface="Cambria Math"/>
                <a:cs typeface="Cambria Math"/>
              </a:rPr>
              <a:t>"#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be </a:t>
            </a:r>
            <a:r>
              <a:rPr dirty="0" sz="3200" spc="-10" b="0">
                <a:solidFill>
                  <a:srgbClr val="000000"/>
                </a:solidFill>
                <a:latin typeface="Calibri"/>
                <a:cs typeface="Calibri"/>
              </a:rPr>
              <a:t>computed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as a </a:t>
            </a:r>
            <a:r>
              <a:rPr dirty="0" sz="3200" spc="-10" b="0">
                <a:solidFill>
                  <a:srgbClr val="000000"/>
                </a:solidFill>
                <a:latin typeface="Calibri"/>
                <a:cs typeface="Calibri"/>
              </a:rPr>
              <a:t>byproduct </a:t>
            </a:r>
            <a:r>
              <a:rPr dirty="0" sz="3200" spc="-5" b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320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an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15"/>
              </a:lnSpc>
            </a:pPr>
            <a:r>
              <a:rPr dirty="0" spc="-20">
                <a:solidFill>
                  <a:srgbClr val="000000"/>
                </a:solidFill>
              </a:rPr>
              <a:t>attention </a:t>
            </a:r>
            <a:r>
              <a:rPr dirty="0" spc="-5">
                <a:solidFill>
                  <a:srgbClr val="000000"/>
                </a:solidFill>
              </a:rPr>
              <a:t>mechanism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𝒂</a:t>
            </a:r>
            <a:r>
              <a:rPr dirty="0">
                <a:solidFill>
                  <a:srgbClr val="000000"/>
                </a:solidFill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7703820" cy="18415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508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(1) </a:t>
            </a:r>
            <a:r>
              <a:rPr dirty="0" sz="2800" spc="-10">
                <a:latin typeface="Calibri"/>
                <a:cs typeface="Calibri"/>
              </a:rPr>
              <a:t>Let </a:t>
            </a:r>
            <a:r>
              <a:rPr dirty="0" sz="2800">
                <a:latin typeface="Cambria Math"/>
                <a:cs typeface="Cambria Math"/>
              </a:rPr>
              <a:t>𝑎 </a:t>
            </a:r>
            <a:r>
              <a:rPr dirty="0" sz="2800" spc="-10">
                <a:latin typeface="Calibri"/>
                <a:cs typeface="Calibri"/>
              </a:rPr>
              <a:t>compute </a:t>
            </a: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attention 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coefficients 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𝒆</a:t>
            </a:r>
            <a:r>
              <a:rPr dirty="0" baseline="-16666" sz="3000">
                <a:solidFill>
                  <a:srgbClr val="0000FF"/>
                </a:solidFill>
                <a:latin typeface="Cambria Math"/>
                <a:cs typeface="Cambria Math"/>
              </a:rPr>
              <a:t>𝒗𝒖 </a:t>
            </a:r>
            <a:r>
              <a:rPr dirty="0" sz="2800" spc="-10">
                <a:latin typeface="Calibri"/>
                <a:cs typeface="Calibri"/>
              </a:rPr>
              <a:t>across  </a:t>
            </a:r>
            <a:r>
              <a:rPr dirty="0" sz="2800" spc="-15">
                <a:latin typeface="Calibri"/>
                <a:cs typeface="Calibri"/>
              </a:rPr>
              <a:t>pairs </a:t>
            </a:r>
            <a:r>
              <a:rPr dirty="0" sz="2800" spc="-5">
                <a:latin typeface="Calibri"/>
                <a:cs typeface="Calibri"/>
              </a:rPr>
              <a:t>of nodes </a:t>
            </a:r>
            <a:r>
              <a:rPr dirty="0" sz="2800" spc="30">
                <a:latin typeface="Cambria Math"/>
                <a:cs typeface="Cambria Math"/>
              </a:rPr>
              <a:t>𝑢</a:t>
            </a:r>
            <a:r>
              <a:rPr dirty="0" sz="2800" spc="30">
                <a:latin typeface="Calibri"/>
                <a:cs typeface="Calibri"/>
              </a:rPr>
              <a:t>, </a:t>
            </a:r>
            <a:r>
              <a:rPr dirty="0" sz="2800">
                <a:latin typeface="Cambria Math"/>
                <a:cs typeface="Cambria Math"/>
              </a:rPr>
              <a:t>𝑣 </a:t>
            </a:r>
            <a:r>
              <a:rPr dirty="0" sz="2800" spc="-5">
                <a:latin typeface="Calibri"/>
                <a:cs typeface="Calibri"/>
              </a:rPr>
              <a:t>based on their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messages:</a:t>
            </a:r>
            <a:endParaRPr sz="2800">
              <a:latin typeface="Calibri"/>
              <a:cs typeface="Calibri"/>
            </a:endParaRPr>
          </a:p>
          <a:p>
            <a:pPr marL="1213485">
              <a:lnSpc>
                <a:spcPts val="2315"/>
              </a:lnSpc>
            </a:pPr>
            <a:r>
              <a:rPr dirty="0" baseline="-29761" sz="4200" spc="359">
                <a:solidFill>
                  <a:srgbClr val="0000FF"/>
                </a:solidFill>
                <a:latin typeface="Cambria Math"/>
                <a:cs typeface="Cambria Math"/>
              </a:rPr>
              <a:t>𝑒</a:t>
            </a:r>
            <a:r>
              <a:rPr dirty="0" baseline="-56944" sz="3000" spc="359">
                <a:solidFill>
                  <a:srgbClr val="0000FF"/>
                </a:solidFill>
                <a:latin typeface="Cambria Math"/>
                <a:cs typeface="Cambria Math"/>
              </a:rPr>
              <a:t>(" </a:t>
            </a:r>
            <a:r>
              <a:rPr dirty="0" baseline="-29761" sz="4200">
                <a:solidFill>
                  <a:srgbClr val="0000FF"/>
                </a:solidFill>
                <a:latin typeface="Cambria Math"/>
                <a:cs typeface="Cambria Math"/>
              </a:rPr>
              <a:t>= </a:t>
            </a:r>
            <a:r>
              <a:rPr dirty="0" baseline="-29761" sz="4200" spc="75">
                <a:latin typeface="Cambria Math"/>
                <a:cs typeface="Cambria Math"/>
              </a:rPr>
              <a:t>𝑎(𝐖</a:t>
            </a:r>
            <a:r>
              <a:rPr dirty="0" baseline="-13888" sz="3000" spc="75">
                <a:latin typeface="Cambria Math"/>
                <a:cs typeface="Cambria Math"/>
              </a:rPr>
              <a:t>($)</a:t>
            </a:r>
            <a:r>
              <a:rPr dirty="0" baseline="-29761" sz="4200" spc="75">
                <a:latin typeface="Cambria Math"/>
                <a:cs typeface="Cambria Math"/>
              </a:rPr>
              <a:t>𝐡</a:t>
            </a:r>
            <a:r>
              <a:rPr dirty="0" sz="2000" spc="50">
                <a:latin typeface="Cambria Math"/>
                <a:cs typeface="Cambria Math"/>
              </a:rPr>
              <a:t>($&amp;')</a:t>
            </a:r>
            <a:r>
              <a:rPr dirty="0" baseline="-29761" sz="4200" spc="75">
                <a:latin typeface="Cambria Math"/>
                <a:cs typeface="Cambria Math"/>
              </a:rPr>
              <a:t>,</a:t>
            </a:r>
            <a:r>
              <a:rPr dirty="0" baseline="-29761" sz="4200" spc="22">
                <a:latin typeface="Cambria Math"/>
                <a:cs typeface="Cambria Math"/>
              </a:rPr>
              <a:t> </a:t>
            </a:r>
            <a:r>
              <a:rPr dirty="0" baseline="-29761" sz="4200" spc="82">
                <a:latin typeface="Cambria Math"/>
                <a:cs typeface="Cambria Math"/>
              </a:rPr>
              <a:t>𝐖</a:t>
            </a:r>
            <a:r>
              <a:rPr dirty="0" baseline="-13888" sz="3000" spc="82">
                <a:latin typeface="Cambria Math"/>
                <a:cs typeface="Cambria Math"/>
              </a:rPr>
              <a:t>($)</a:t>
            </a:r>
            <a:r>
              <a:rPr dirty="0" baseline="-29761" sz="4200" spc="82">
                <a:latin typeface="Cambria Math"/>
                <a:cs typeface="Cambria Math"/>
              </a:rPr>
              <a:t>𝒉</a:t>
            </a:r>
            <a:r>
              <a:rPr dirty="0" sz="2000" spc="55">
                <a:latin typeface="Cambria Math"/>
                <a:cs typeface="Cambria Math"/>
              </a:rPr>
              <a:t>($&amp;')</a:t>
            </a:r>
            <a:r>
              <a:rPr dirty="0" baseline="-29761" sz="4200" spc="82">
                <a:latin typeface="Cambria Math"/>
                <a:cs typeface="Cambria Math"/>
              </a:rPr>
              <a:t>)</a:t>
            </a:r>
            <a:endParaRPr baseline="-29761" sz="4200">
              <a:latin typeface="Cambria Math"/>
              <a:cs typeface="Cambria Math"/>
            </a:endParaRPr>
          </a:p>
          <a:p>
            <a:pPr marL="3439160">
              <a:lnSpc>
                <a:spcPts val="2225"/>
              </a:lnSpc>
              <a:tabLst>
                <a:tab pos="5160010" algn="l"/>
              </a:tabLst>
            </a:pPr>
            <a:r>
              <a:rPr dirty="0" sz="2000" spc="505">
                <a:latin typeface="Cambria Math"/>
                <a:cs typeface="Cambria Math"/>
              </a:rPr>
              <a:t>"	</a:t>
            </a:r>
            <a:r>
              <a:rPr dirty="0" sz="2000" spc="300">
                <a:latin typeface="Cambria Math"/>
                <a:cs typeface="Cambria Math"/>
              </a:rPr>
              <a:t>(</a:t>
            </a:r>
            <a:endParaRPr sz="2000">
              <a:latin typeface="Cambria Math"/>
              <a:cs typeface="Cambria Math"/>
            </a:endParaRPr>
          </a:p>
          <a:p>
            <a:pPr lvl="1" marL="55245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0">
                <a:solidFill>
                  <a:srgbClr val="0000FF"/>
                </a:solidFill>
                <a:latin typeface="Cambria Math"/>
                <a:cs typeface="Cambria Math"/>
              </a:rPr>
              <a:t>𝒆</a:t>
            </a:r>
            <a:r>
              <a:rPr dirty="0" baseline="-15432" sz="2700" spc="-15">
                <a:solidFill>
                  <a:srgbClr val="0000FF"/>
                </a:solidFill>
                <a:latin typeface="Cambria Math"/>
                <a:cs typeface="Cambria Math"/>
              </a:rPr>
              <a:t>𝒗𝒖 </a:t>
            </a: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indicates </a:t>
            </a:r>
            <a:r>
              <a:rPr dirty="0" sz="2400" b="1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importance of </a:t>
            </a:r>
            <a:r>
              <a:rPr dirty="0" sz="2400" spc="-65">
                <a:solidFill>
                  <a:srgbClr val="0000FF"/>
                </a:solidFill>
                <a:latin typeface="Cambria Math"/>
                <a:cs typeface="Cambria Math"/>
              </a:rPr>
              <a:t>𝒖</a:t>
            </a:r>
            <a:r>
              <a:rPr dirty="0" baseline="27777" sz="2700" spc="-97">
                <a:solidFill>
                  <a:srgbClr val="0000FF"/>
                </a:solidFill>
                <a:latin typeface="Cambria Math"/>
                <a:cs typeface="Cambria Math"/>
              </a:rPr>
              <a:t>/</a:t>
            </a:r>
            <a:r>
              <a:rPr dirty="0" sz="2400" spc="-65">
                <a:solidFill>
                  <a:srgbClr val="0000FF"/>
                </a:solidFill>
                <a:latin typeface="Cambria Math"/>
                <a:cs typeface="Cambria Math"/>
              </a:rPr>
              <a:t>𝐬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message </a:t>
            </a: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node</a:t>
            </a:r>
            <a:r>
              <a:rPr dirty="0" sz="2400" spc="7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𝒗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07090" y="4824206"/>
            <a:ext cx="2133600" cy="18641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91841" y="5282830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2"/>
                </a:lnTo>
                <a:lnTo>
                  <a:pt x="0" y="396382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91841" y="5282830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04781" y="4524016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04781" y="4524016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641849" y="4729479"/>
            <a:ext cx="1377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90">
                <a:latin typeface="Cambria Math"/>
                <a:cs typeface="Cambria Math"/>
              </a:rPr>
              <a:t>+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2150" y="4473955"/>
            <a:ext cx="585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320" sz="2700" spc="44">
                <a:latin typeface="Cambria Math"/>
                <a:cs typeface="Cambria Math"/>
              </a:rPr>
              <a:t>𝐡</a:t>
            </a:r>
            <a:r>
              <a:rPr dirty="0" sz="1300" spc="30">
                <a:latin typeface="Cambria Math"/>
                <a:cs typeface="Cambria Math"/>
              </a:rPr>
              <a:t>("#$)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09223" y="4784851"/>
            <a:ext cx="345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 spc="-225">
                <a:solidFill>
                  <a:srgbClr val="C00000"/>
                </a:solidFill>
                <a:latin typeface="Cambria Math"/>
                <a:cs typeface="Cambria Math"/>
              </a:rPr>
              <a:t>𝑒</a:t>
            </a:r>
            <a:r>
              <a:rPr dirty="0" sz="1300" spc="110">
                <a:solidFill>
                  <a:srgbClr val="C00000"/>
                </a:solidFill>
                <a:latin typeface="Cambria Math"/>
                <a:cs typeface="Cambria Math"/>
              </a:rPr>
              <a:t>*+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0969" y="5245100"/>
            <a:ext cx="4888865" cy="148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2100"/>
              </a:lnSpc>
              <a:spcBef>
                <a:spcPts val="100"/>
              </a:spcBef>
            </a:pPr>
            <a:r>
              <a:rPr dirty="0" baseline="-30864" sz="2700" spc="-7">
                <a:latin typeface="Cambria Math"/>
                <a:cs typeface="Cambria Math"/>
              </a:rPr>
              <a:t>𝐡</a:t>
            </a:r>
            <a:r>
              <a:rPr dirty="0" sz="1300" spc="5">
                <a:latin typeface="Cambria Math"/>
                <a:cs typeface="Cambria Math"/>
              </a:rPr>
              <a:t>(</a:t>
            </a:r>
            <a:r>
              <a:rPr dirty="0" sz="1300" spc="-15">
                <a:latin typeface="Cambria Math"/>
                <a:cs typeface="Cambria Math"/>
              </a:rPr>
              <a:t>"</a:t>
            </a:r>
            <a:r>
              <a:rPr dirty="0" sz="1300" spc="135">
                <a:latin typeface="Cambria Math"/>
                <a:cs typeface="Cambria Math"/>
              </a:rPr>
              <a:t>#</a:t>
            </a:r>
            <a:r>
              <a:rPr dirty="0" sz="1300" spc="95">
                <a:latin typeface="Cambria Math"/>
                <a:cs typeface="Cambria Math"/>
              </a:rPr>
              <a:t>$</a:t>
            </a:r>
            <a:r>
              <a:rPr dirty="0" sz="1300">
                <a:latin typeface="Cambria Math"/>
                <a:cs typeface="Cambria Math"/>
              </a:rPr>
              <a:t>)</a:t>
            </a:r>
            <a:endParaRPr sz="1300">
              <a:latin typeface="Cambria Math"/>
              <a:cs typeface="Cambria Math"/>
            </a:endParaRPr>
          </a:p>
          <a:p>
            <a:pPr algn="r" marR="327025">
              <a:lnSpc>
                <a:spcPts val="1500"/>
              </a:lnSpc>
            </a:pPr>
            <a:r>
              <a:rPr dirty="0" sz="1300" spc="300">
                <a:latin typeface="Cambria Math"/>
                <a:cs typeface="Cambria Math"/>
              </a:rPr>
              <a:t>*</a:t>
            </a:r>
            <a:endParaRPr sz="13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2750"/>
              </a:lnSpc>
              <a:spcBef>
                <a:spcPts val="5"/>
              </a:spcBef>
            </a:pPr>
            <a:r>
              <a:rPr dirty="0" baseline="-30092" sz="3600" spc="82">
                <a:latin typeface="Cambria Math"/>
                <a:cs typeface="Cambria Math"/>
              </a:rPr>
              <a:t>𝑒</a:t>
            </a:r>
            <a:r>
              <a:rPr dirty="0" baseline="-55555" sz="2700" spc="82">
                <a:latin typeface="Cambria Math"/>
                <a:cs typeface="Cambria Math"/>
              </a:rPr>
              <a:t>12 </a:t>
            </a:r>
            <a:r>
              <a:rPr dirty="0" baseline="-30092" sz="3600">
                <a:latin typeface="Cambria Math"/>
                <a:cs typeface="Cambria Math"/>
              </a:rPr>
              <a:t>= </a:t>
            </a:r>
            <a:r>
              <a:rPr dirty="0" baseline="-30092" sz="3600" spc="-67">
                <a:latin typeface="Cambria Math"/>
                <a:cs typeface="Cambria Math"/>
              </a:rPr>
              <a:t>𝑎(𝐖</a:t>
            </a:r>
            <a:r>
              <a:rPr dirty="0" baseline="-12345" sz="2700" spc="-67">
                <a:latin typeface="Cambria Math"/>
                <a:cs typeface="Cambria Math"/>
              </a:rPr>
              <a:t>(%)</a:t>
            </a:r>
            <a:r>
              <a:rPr dirty="0" baseline="-30092" sz="3600" spc="-67">
                <a:latin typeface="Cambria Math"/>
                <a:cs typeface="Cambria Math"/>
              </a:rPr>
              <a:t>𝐡</a:t>
            </a:r>
            <a:r>
              <a:rPr dirty="0" sz="1800" spc="-45">
                <a:latin typeface="Cambria Math"/>
                <a:cs typeface="Cambria Math"/>
              </a:rPr>
              <a:t>(%'()</a:t>
            </a:r>
            <a:r>
              <a:rPr dirty="0" baseline="-30092" sz="3600" spc="-67">
                <a:latin typeface="Cambria Math"/>
                <a:cs typeface="Cambria Math"/>
              </a:rPr>
              <a:t>,</a:t>
            </a:r>
            <a:r>
              <a:rPr dirty="0" baseline="-30092" sz="3600" spc="165">
                <a:latin typeface="Cambria Math"/>
                <a:cs typeface="Cambria Math"/>
              </a:rPr>
              <a:t> </a:t>
            </a:r>
            <a:r>
              <a:rPr dirty="0" baseline="-30092" sz="3600" spc="-89">
                <a:latin typeface="Cambria Math"/>
                <a:cs typeface="Cambria Math"/>
              </a:rPr>
              <a:t>𝐖</a:t>
            </a:r>
            <a:r>
              <a:rPr dirty="0" baseline="-12345" sz="2700" spc="-89">
                <a:latin typeface="Cambria Math"/>
                <a:cs typeface="Cambria Math"/>
              </a:rPr>
              <a:t>(%)</a:t>
            </a:r>
            <a:r>
              <a:rPr dirty="0" baseline="-30092" sz="3600" spc="-89">
                <a:latin typeface="Cambria Math"/>
                <a:cs typeface="Cambria Math"/>
              </a:rPr>
              <a:t>𝐡</a:t>
            </a:r>
            <a:r>
              <a:rPr dirty="0" sz="1800" spc="-60">
                <a:latin typeface="Cambria Math"/>
                <a:cs typeface="Cambria Math"/>
              </a:rPr>
              <a:t>(%'()</a:t>
            </a:r>
            <a:r>
              <a:rPr dirty="0" baseline="-30092" sz="3600" spc="-89">
                <a:latin typeface="Cambria Math"/>
                <a:cs typeface="Cambria Math"/>
              </a:rPr>
              <a:t>)</a:t>
            </a:r>
            <a:endParaRPr baseline="-30092" sz="3600">
              <a:latin typeface="Cambria Math"/>
              <a:cs typeface="Cambria Math"/>
            </a:endParaRPr>
          </a:p>
          <a:p>
            <a:pPr marL="1918335">
              <a:lnSpc>
                <a:spcPts val="2030"/>
              </a:lnSpc>
              <a:tabLst>
                <a:tab pos="3395345" algn="l"/>
              </a:tabLst>
            </a:pPr>
            <a:r>
              <a:rPr dirty="0" sz="1800" spc="190">
                <a:latin typeface="Cambria Math"/>
                <a:cs typeface="Cambria Math"/>
              </a:rPr>
              <a:t>1	</a:t>
            </a:r>
            <a:r>
              <a:rPr dirty="0" sz="1800" spc="215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04112" y="5106921"/>
            <a:ext cx="332105" cy="361315"/>
          </a:xfrm>
          <a:custGeom>
            <a:avLst/>
            <a:gdLst/>
            <a:ahLst/>
            <a:cxnLst/>
            <a:rect l="l" t="t" r="r" b="b"/>
            <a:pathLst>
              <a:path w="332104" h="361314">
                <a:moveTo>
                  <a:pt x="19704" y="329439"/>
                </a:moveTo>
                <a:lnTo>
                  <a:pt x="10666" y="329844"/>
                </a:lnTo>
                <a:lnTo>
                  <a:pt x="0" y="341514"/>
                </a:lnTo>
                <a:lnTo>
                  <a:pt x="406" y="350551"/>
                </a:lnTo>
                <a:lnTo>
                  <a:pt x="12054" y="361199"/>
                </a:lnTo>
                <a:lnTo>
                  <a:pt x="21092" y="360793"/>
                </a:lnTo>
                <a:lnTo>
                  <a:pt x="31758" y="349123"/>
                </a:lnTo>
                <a:lnTo>
                  <a:pt x="31352" y="340085"/>
                </a:lnTo>
                <a:lnTo>
                  <a:pt x="19704" y="329439"/>
                </a:lnTo>
                <a:close/>
              </a:path>
              <a:path w="332104" h="361314">
                <a:moveTo>
                  <a:pt x="58279" y="287233"/>
                </a:moveTo>
                <a:lnTo>
                  <a:pt x="49241" y="287639"/>
                </a:lnTo>
                <a:lnTo>
                  <a:pt x="38576" y="299311"/>
                </a:lnTo>
                <a:lnTo>
                  <a:pt x="38982" y="308348"/>
                </a:lnTo>
                <a:lnTo>
                  <a:pt x="50632" y="318994"/>
                </a:lnTo>
                <a:lnTo>
                  <a:pt x="59669" y="318588"/>
                </a:lnTo>
                <a:lnTo>
                  <a:pt x="70335" y="306917"/>
                </a:lnTo>
                <a:lnTo>
                  <a:pt x="69928" y="297879"/>
                </a:lnTo>
                <a:lnTo>
                  <a:pt x="58279" y="287233"/>
                </a:lnTo>
                <a:close/>
              </a:path>
              <a:path w="332104" h="361314">
                <a:moveTo>
                  <a:pt x="96857" y="245028"/>
                </a:moveTo>
                <a:lnTo>
                  <a:pt x="87820" y="245435"/>
                </a:lnTo>
                <a:lnTo>
                  <a:pt x="77153" y="257103"/>
                </a:lnTo>
                <a:lnTo>
                  <a:pt x="77558" y="266141"/>
                </a:lnTo>
                <a:lnTo>
                  <a:pt x="89207" y="276788"/>
                </a:lnTo>
                <a:lnTo>
                  <a:pt x="98244" y="276383"/>
                </a:lnTo>
                <a:lnTo>
                  <a:pt x="108911" y="264713"/>
                </a:lnTo>
                <a:lnTo>
                  <a:pt x="108506" y="255676"/>
                </a:lnTo>
                <a:lnTo>
                  <a:pt x="96857" y="245028"/>
                </a:lnTo>
                <a:close/>
              </a:path>
              <a:path w="332104" h="361314">
                <a:moveTo>
                  <a:pt x="135434" y="202824"/>
                </a:moveTo>
                <a:lnTo>
                  <a:pt x="126396" y="203230"/>
                </a:lnTo>
                <a:lnTo>
                  <a:pt x="115730" y="214899"/>
                </a:lnTo>
                <a:lnTo>
                  <a:pt x="116135" y="223936"/>
                </a:lnTo>
                <a:lnTo>
                  <a:pt x="127783" y="234584"/>
                </a:lnTo>
                <a:lnTo>
                  <a:pt x="136820" y="234179"/>
                </a:lnTo>
                <a:lnTo>
                  <a:pt x="147487" y="222509"/>
                </a:lnTo>
                <a:lnTo>
                  <a:pt x="147082" y="213471"/>
                </a:lnTo>
                <a:lnTo>
                  <a:pt x="135434" y="202824"/>
                </a:lnTo>
                <a:close/>
              </a:path>
              <a:path w="332104" h="361314">
                <a:moveTo>
                  <a:pt x="174010" y="160619"/>
                </a:moveTo>
                <a:lnTo>
                  <a:pt x="164973" y="161025"/>
                </a:lnTo>
                <a:lnTo>
                  <a:pt x="154306" y="172694"/>
                </a:lnTo>
                <a:lnTo>
                  <a:pt x="154711" y="181731"/>
                </a:lnTo>
                <a:lnTo>
                  <a:pt x="166361" y="192379"/>
                </a:lnTo>
                <a:lnTo>
                  <a:pt x="175397" y="191974"/>
                </a:lnTo>
                <a:lnTo>
                  <a:pt x="186065" y="180304"/>
                </a:lnTo>
                <a:lnTo>
                  <a:pt x="185658" y="171267"/>
                </a:lnTo>
                <a:lnTo>
                  <a:pt x="174010" y="160619"/>
                </a:lnTo>
                <a:close/>
              </a:path>
              <a:path w="332104" h="361314">
                <a:moveTo>
                  <a:pt x="212586" y="118414"/>
                </a:moveTo>
                <a:lnTo>
                  <a:pt x="203549" y="118819"/>
                </a:lnTo>
                <a:lnTo>
                  <a:pt x="192882" y="130489"/>
                </a:lnTo>
                <a:lnTo>
                  <a:pt x="193288" y="139527"/>
                </a:lnTo>
                <a:lnTo>
                  <a:pt x="204937" y="150174"/>
                </a:lnTo>
                <a:lnTo>
                  <a:pt x="213974" y="149768"/>
                </a:lnTo>
                <a:lnTo>
                  <a:pt x="224641" y="138099"/>
                </a:lnTo>
                <a:lnTo>
                  <a:pt x="224235" y="129062"/>
                </a:lnTo>
                <a:lnTo>
                  <a:pt x="212586" y="118414"/>
                </a:lnTo>
                <a:close/>
              </a:path>
              <a:path w="332104" h="361314">
                <a:moveTo>
                  <a:pt x="251162" y="76210"/>
                </a:moveTo>
                <a:lnTo>
                  <a:pt x="242125" y="76615"/>
                </a:lnTo>
                <a:lnTo>
                  <a:pt x="231458" y="88285"/>
                </a:lnTo>
                <a:lnTo>
                  <a:pt x="231865" y="97322"/>
                </a:lnTo>
                <a:lnTo>
                  <a:pt x="243513" y="107970"/>
                </a:lnTo>
                <a:lnTo>
                  <a:pt x="252550" y="107563"/>
                </a:lnTo>
                <a:lnTo>
                  <a:pt x="263217" y="95895"/>
                </a:lnTo>
                <a:lnTo>
                  <a:pt x="262811" y="86857"/>
                </a:lnTo>
                <a:lnTo>
                  <a:pt x="251162" y="76210"/>
                </a:lnTo>
                <a:close/>
              </a:path>
              <a:path w="332104" h="361314">
                <a:moveTo>
                  <a:pt x="331511" y="0"/>
                </a:moveTo>
                <a:lnTo>
                  <a:pt x="242037" y="34357"/>
                </a:lnTo>
                <a:lnTo>
                  <a:pt x="305314" y="92193"/>
                </a:lnTo>
                <a:lnTo>
                  <a:pt x="3315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08034" y="4702268"/>
            <a:ext cx="522605" cy="161925"/>
          </a:xfrm>
          <a:custGeom>
            <a:avLst/>
            <a:gdLst/>
            <a:ahLst/>
            <a:cxnLst/>
            <a:rect l="l" t="t" r="r" b="b"/>
            <a:pathLst>
              <a:path w="522604" h="161925">
                <a:moveTo>
                  <a:pt x="510527" y="0"/>
                </a:moveTo>
                <a:lnTo>
                  <a:pt x="495178" y="3790"/>
                </a:lnTo>
                <a:lnTo>
                  <a:pt x="490501" y="11535"/>
                </a:lnTo>
                <a:lnTo>
                  <a:pt x="494286" y="26856"/>
                </a:lnTo>
                <a:lnTo>
                  <a:pt x="502031" y="31532"/>
                </a:lnTo>
                <a:lnTo>
                  <a:pt x="517378" y="27741"/>
                </a:lnTo>
                <a:lnTo>
                  <a:pt x="522055" y="19997"/>
                </a:lnTo>
                <a:lnTo>
                  <a:pt x="518270" y="4676"/>
                </a:lnTo>
                <a:lnTo>
                  <a:pt x="510527" y="0"/>
                </a:lnTo>
                <a:close/>
              </a:path>
              <a:path w="522604" h="161925">
                <a:moveTo>
                  <a:pt x="455016" y="13712"/>
                </a:moveTo>
                <a:lnTo>
                  <a:pt x="439667" y="17503"/>
                </a:lnTo>
                <a:lnTo>
                  <a:pt x="434991" y="25247"/>
                </a:lnTo>
                <a:lnTo>
                  <a:pt x="438776" y="40567"/>
                </a:lnTo>
                <a:lnTo>
                  <a:pt x="446520" y="45243"/>
                </a:lnTo>
                <a:lnTo>
                  <a:pt x="461868" y="41452"/>
                </a:lnTo>
                <a:lnTo>
                  <a:pt x="466544" y="33709"/>
                </a:lnTo>
                <a:lnTo>
                  <a:pt x="462761" y="18388"/>
                </a:lnTo>
                <a:lnTo>
                  <a:pt x="455016" y="13712"/>
                </a:lnTo>
                <a:close/>
              </a:path>
              <a:path w="522604" h="161925">
                <a:moveTo>
                  <a:pt x="399507" y="27424"/>
                </a:moveTo>
                <a:lnTo>
                  <a:pt x="384158" y="31214"/>
                </a:lnTo>
                <a:lnTo>
                  <a:pt x="379482" y="38958"/>
                </a:lnTo>
                <a:lnTo>
                  <a:pt x="383265" y="54279"/>
                </a:lnTo>
                <a:lnTo>
                  <a:pt x="391010" y="58955"/>
                </a:lnTo>
                <a:lnTo>
                  <a:pt x="406358" y="55164"/>
                </a:lnTo>
                <a:lnTo>
                  <a:pt x="411035" y="47421"/>
                </a:lnTo>
                <a:lnTo>
                  <a:pt x="407250" y="32100"/>
                </a:lnTo>
                <a:lnTo>
                  <a:pt x="399507" y="27424"/>
                </a:lnTo>
                <a:close/>
              </a:path>
              <a:path w="522604" h="161925">
                <a:moveTo>
                  <a:pt x="343996" y="41135"/>
                </a:moveTo>
                <a:lnTo>
                  <a:pt x="328646" y="44927"/>
                </a:lnTo>
                <a:lnTo>
                  <a:pt x="323971" y="52670"/>
                </a:lnTo>
                <a:lnTo>
                  <a:pt x="327756" y="67991"/>
                </a:lnTo>
                <a:lnTo>
                  <a:pt x="335500" y="72668"/>
                </a:lnTo>
                <a:lnTo>
                  <a:pt x="350848" y="68875"/>
                </a:lnTo>
                <a:lnTo>
                  <a:pt x="355525" y="61131"/>
                </a:lnTo>
                <a:lnTo>
                  <a:pt x="351740" y="45811"/>
                </a:lnTo>
                <a:lnTo>
                  <a:pt x="343996" y="41135"/>
                </a:lnTo>
                <a:close/>
              </a:path>
              <a:path w="522604" h="161925">
                <a:moveTo>
                  <a:pt x="288485" y="54847"/>
                </a:moveTo>
                <a:lnTo>
                  <a:pt x="273137" y="58638"/>
                </a:lnTo>
                <a:lnTo>
                  <a:pt x="268461" y="66382"/>
                </a:lnTo>
                <a:lnTo>
                  <a:pt x="272246" y="81704"/>
                </a:lnTo>
                <a:lnTo>
                  <a:pt x="279990" y="86380"/>
                </a:lnTo>
                <a:lnTo>
                  <a:pt x="295338" y="82588"/>
                </a:lnTo>
                <a:lnTo>
                  <a:pt x="300014" y="74843"/>
                </a:lnTo>
                <a:lnTo>
                  <a:pt x="296230" y="59522"/>
                </a:lnTo>
                <a:lnTo>
                  <a:pt x="288485" y="54847"/>
                </a:lnTo>
                <a:close/>
              </a:path>
              <a:path w="522604" h="161925">
                <a:moveTo>
                  <a:pt x="232977" y="68559"/>
                </a:moveTo>
                <a:lnTo>
                  <a:pt x="217628" y="72349"/>
                </a:lnTo>
                <a:lnTo>
                  <a:pt x="212951" y="80092"/>
                </a:lnTo>
                <a:lnTo>
                  <a:pt x="216734" y="95413"/>
                </a:lnTo>
                <a:lnTo>
                  <a:pt x="224477" y="100091"/>
                </a:lnTo>
                <a:lnTo>
                  <a:pt x="239826" y="96301"/>
                </a:lnTo>
                <a:lnTo>
                  <a:pt x="244504" y="88557"/>
                </a:lnTo>
                <a:lnTo>
                  <a:pt x="240720" y="73235"/>
                </a:lnTo>
                <a:lnTo>
                  <a:pt x="232977" y="68559"/>
                </a:lnTo>
                <a:close/>
              </a:path>
              <a:path w="522604" h="161925">
                <a:moveTo>
                  <a:pt x="177467" y="82270"/>
                </a:moveTo>
                <a:lnTo>
                  <a:pt x="162118" y="86060"/>
                </a:lnTo>
                <a:lnTo>
                  <a:pt x="157441" y="93804"/>
                </a:lnTo>
                <a:lnTo>
                  <a:pt x="161223" y="109126"/>
                </a:lnTo>
                <a:lnTo>
                  <a:pt x="168968" y="113802"/>
                </a:lnTo>
                <a:lnTo>
                  <a:pt x="184317" y="110012"/>
                </a:lnTo>
                <a:lnTo>
                  <a:pt x="188993" y="102269"/>
                </a:lnTo>
                <a:lnTo>
                  <a:pt x="185211" y="86948"/>
                </a:lnTo>
                <a:lnTo>
                  <a:pt x="177467" y="82270"/>
                </a:lnTo>
                <a:close/>
              </a:path>
              <a:path w="522604" h="161925">
                <a:moveTo>
                  <a:pt x="121956" y="95982"/>
                </a:moveTo>
                <a:lnTo>
                  <a:pt x="106608" y="99772"/>
                </a:lnTo>
                <a:lnTo>
                  <a:pt x="101931" y="107515"/>
                </a:lnTo>
                <a:lnTo>
                  <a:pt x="105714" y="122838"/>
                </a:lnTo>
                <a:lnTo>
                  <a:pt x="113457" y="127514"/>
                </a:lnTo>
                <a:lnTo>
                  <a:pt x="128807" y="123724"/>
                </a:lnTo>
                <a:lnTo>
                  <a:pt x="133483" y="115981"/>
                </a:lnTo>
                <a:lnTo>
                  <a:pt x="129701" y="100660"/>
                </a:lnTo>
                <a:lnTo>
                  <a:pt x="121956" y="95982"/>
                </a:lnTo>
                <a:close/>
              </a:path>
              <a:path w="522604" h="161925">
                <a:moveTo>
                  <a:pt x="72944" y="78654"/>
                </a:moveTo>
                <a:lnTo>
                  <a:pt x="0" y="140823"/>
                </a:lnTo>
                <a:lnTo>
                  <a:pt x="93502" y="161878"/>
                </a:lnTo>
                <a:lnTo>
                  <a:pt x="72944" y="786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36518" y="4991318"/>
            <a:ext cx="2133601" cy="1864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8640" y="347472"/>
            <a:ext cx="6083808" cy="515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6563" y="1289811"/>
            <a:ext cx="751649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>
                <a:solidFill>
                  <a:srgbClr val="0000FF"/>
                </a:solidFill>
              </a:rPr>
              <a:t>Normalize </a:t>
            </a:r>
            <a:r>
              <a:rPr dirty="0" sz="2800" spc="240" b="0">
                <a:solidFill>
                  <a:srgbClr val="000000"/>
                </a:solidFill>
                <a:latin typeface="Cambria Math"/>
                <a:cs typeface="Cambria Math"/>
              </a:rPr>
              <a:t>𝑒</a:t>
            </a:r>
            <a:r>
              <a:rPr dirty="0" baseline="-16666" sz="3000" spc="359" b="0">
                <a:solidFill>
                  <a:srgbClr val="000000"/>
                </a:solidFill>
                <a:latin typeface="Cambria Math"/>
                <a:cs typeface="Cambria Math"/>
              </a:rPr>
              <a:t>(" </a:t>
            </a:r>
            <a:r>
              <a:rPr dirty="0" sz="2800" spc="-20" b="0">
                <a:solidFill>
                  <a:srgbClr val="000000"/>
                </a:solidFill>
                <a:latin typeface="Calibri"/>
                <a:cs typeface="Calibri"/>
              </a:rPr>
              <a:t>into </a:t>
            </a:r>
            <a:r>
              <a:rPr dirty="0" sz="2800" spc="-5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z="2800" spc="-5">
                <a:solidFill>
                  <a:srgbClr val="000000"/>
                </a:solidFill>
              </a:rPr>
              <a:t>final </a:t>
            </a:r>
            <a:r>
              <a:rPr dirty="0" sz="2800" spc="-15">
                <a:solidFill>
                  <a:srgbClr val="000000"/>
                </a:solidFill>
              </a:rPr>
              <a:t>attention </a:t>
            </a:r>
            <a:r>
              <a:rPr dirty="0" sz="2800" spc="-10">
                <a:solidFill>
                  <a:srgbClr val="000000"/>
                </a:solidFill>
              </a:rPr>
              <a:t>weight</a:t>
            </a:r>
            <a:r>
              <a:rPr dirty="0" sz="2800" spc="-25">
                <a:solidFill>
                  <a:srgbClr val="000000"/>
                </a:solidFill>
              </a:rPr>
              <a:t> </a:t>
            </a:r>
            <a:r>
              <a:rPr dirty="0" sz="2800" b="0">
                <a:solidFill>
                  <a:srgbClr val="000000"/>
                </a:solidFill>
                <a:latin typeface="Cambria Math"/>
                <a:cs typeface="Cambria Math"/>
              </a:rPr>
              <a:t>𝜶</a:t>
            </a:r>
            <a:r>
              <a:rPr dirty="0" baseline="-16666" sz="3000" b="0">
                <a:solidFill>
                  <a:srgbClr val="000000"/>
                </a:solidFill>
                <a:latin typeface="Cambria Math"/>
                <a:cs typeface="Cambria Math"/>
              </a:rPr>
              <a:t>𝒗𝒖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17207" y="2037755"/>
            <a:ext cx="278130" cy="212090"/>
          </a:xfrm>
          <a:custGeom>
            <a:avLst/>
            <a:gdLst/>
            <a:ahLst/>
            <a:cxnLst/>
            <a:rect l="l" t="t" r="r" b="b"/>
            <a:pathLst>
              <a:path w="278129" h="212089">
                <a:moveTo>
                  <a:pt x="210557" y="0"/>
                </a:moveTo>
                <a:lnTo>
                  <a:pt x="207543" y="8595"/>
                </a:lnTo>
                <a:lnTo>
                  <a:pt x="219800" y="13914"/>
                </a:lnTo>
                <a:lnTo>
                  <a:pt x="230341" y="21277"/>
                </a:lnTo>
                <a:lnTo>
                  <a:pt x="251744" y="55409"/>
                </a:lnTo>
                <a:lnTo>
                  <a:pt x="258776" y="104811"/>
                </a:lnTo>
                <a:lnTo>
                  <a:pt x="257991" y="123487"/>
                </a:lnTo>
                <a:lnTo>
                  <a:pt x="246219" y="169217"/>
                </a:lnTo>
                <a:lnTo>
                  <a:pt x="219942" y="197806"/>
                </a:lnTo>
                <a:lnTo>
                  <a:pt x="207877" y="203150"/>
                </a:lnTo>
                <a:lnTo>
                  <a:pt x="210557" y="211745"/>
                </a:lnTo>
                <a:lnTo>
                  <a:pt x="251012" y="187708"/>
                </a:lnTo>
                <a:lnTo>
                  <a:pt x="273733" y="143335"/>
                </a:lnTo>
                <a:lnTo>
                  <a:pt x="278086" y="105928"/>
                </a:lnTo>
                <a:lnTo>
                  <a:pt x="276995" y="86516"/>
                </a:lnTo>
                <a:lnTo>
                  <a:pt x="260619" y="37114"/>
                </a:lnTo>
                <a:lnTo>
                  <a:pt x="225908" y="5542"/>
                </a:lnTo>
                <a:lnTo>
                  <a:pt x="210557" y="0"/>
                </a:lnTo>
                <a:close/>
              </a:path>
              <a:path w="27812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67712" y="1810003"/>
            <a:ext cx="662368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Arial"/>
              <a:buChar char="▪"/>
              <a:tabLst>
                <a:tab pos="241300" algn="l"/>
              </a:tabLst>
            </a:pPr>
            <a:r>
              <a:rPr dirty="0" sz="2400" spc="-5">
                <a:latin typeface="Calibri"/>
                <a:cs typeface="Calibri"/>
              </a:rPr>
              <a:t>Use the </a:t>
            </a:r>
            <a:r>
              <a:rPr dirty="0" sz="2400" spc="-5" b="1">
                <a:latin typeface="Calibri"/>
                <a:cs typeface="Calibri"/>
              </a:rPr>
              <a:t>softmax </a:t>
            </a:r>
            <a:r>
              <a:rPr dirty="0" sz="2400" spc="-5">
                <a:latin typeface="Calibri"/>
                <a:cs typeface="Calibri"/>
              </a:rPr>
              <a:t>function, so </a:t>
            </a: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baseline="2314" sz="3600" spc="0">
                <a:latin typeface="Cambria Math"/>
                <a:cs typeface="Cambria Math"/>
              </a:rPr>
              <a:t>∑</a:t>
            </a:r>
            <a:r>
              <a:rPr dirty="0" baseline="-20061" sz="2700" spc="0">
                <a:latin typeface="Cambria Math"/>
                <a:cs typeface="Cambria Math"/>
              </a:rPr>
              <a:t>#∈+  </a:t>
            </a:r>
            <a:r>
              <a:rPr dirty="0" baseline="-20061" sz="2700" spc="397">
                <a:latin typeface="Cambria Math"/>
                <a:cs typeface="Cambria Math"/>
              </a:rPr>
              <a:t>) </a:t>
            </a:r>
            <a:r>
              <a:rPr dirty="0" sz="2400" spc="90">
                <a:latin typeface="Cambria Math"/>
                <a:cs typeface="Cambria Math"/>
              </a:rPr>
              <a:t>𝛼</a:t>
            </a:r>
            <a:r>
              <a:rPr dirty="0" baseline="-15432" sz="2700" spc="135">
                <a:latin typeface="Cambria Math"/>
                <a:cs typeface="Cambria Math"/>
              </a:rPr>
              <a:t>)#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28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1</a:t>
            </a:r>
            <a:r>
              <a:rPr dirty="0" sz="2400" spc="-5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6304" y="2589783"/>
            <a:ext cx="31877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30">
                <a:solidFill>
                  <a:srgbClr val="E66C7D"/>
                </a:solidFill>
                <a:latin typeface="Cambria Math"/>
                <a:cs typeface="Cambria Math"/>
              </a:rPr>
              <a:t>!%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7867" y="2433828"/>
            <a:ext cx="87376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4045" algn="l"/>
              </a:tabLst>
            </a:pPr>
            <a:r>
              <a:rPr dirty="0" sz="2600">
                <a:solidFill>
                  <a:srgbClr val="E66C7D"/>
                </a:solidFill>
                <a:latin typeface="Cambria Math"/>
                <a:cs typeface="Cambria Math"/>
              </a:rPr>
              <a:t>𝛼	</a:t>
            </a:r>
            <a:r>
              <a:rPr dirty="0" sz="2600">
                <a:latin typeface="Cambria Math"/>
                <a:cs typeface="Cambria Math"/>
              </a:rPr>
              <a:t>=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2462" y="2686537"/>
            <a:ext cx="2349500" cy="0"/>
          </a:xfrm>
          <a:custGeom>
            <a:avLst/>
            <a:gdLst/>
            <a:ahLst/>
            <a:cxnLst/>
            <a:rect l="l" t="t" r="r" b="b"/>
            <a:pathLst>
              <a:path w="2349500" h="0">
                <a:moveTo>
                  <a:pt x="0" y="0"/>
                </a:moveTo>
                <a:lnTo>
                  <a:pt x="23495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57253" y="2914239"/>
            <a:ext cx="300990" cy="223520"/>
          </a:xfrm>
          <a:custGeom>
            <a:avLst/>
            <a:gdLst/>
            <a:ahLst/>
            <a:cxnLst/>
            <a:rect l="l" t="t" r="r" b="b"/>
            <a:pathLst>
              <a:path w="300989" h="223519">
                <a:moveTo>
                  <a:pt x="229083" y="0"/>
                </a:moveTo>
                <a:lnTo>
                  <a:pt x="225902" y="9071"/>
                </a:lnTo>
                <a:lnTo>
                  <a:pt x="238841" y="14686"/>
                </a:lnTo>
                <a:lnTo>
                  <a:pt x="249968" y="22459"/>
                </a:lnTo>
                <a:lnTo>
                  <a:pt x="272560" y="58487"/>
                </a:lnTo>
                <a:lnTo>
                  <a:pt x="279982" y="110634"/>
                </a:lnTo>
                <a:lnTo>
                  <a:pt x="279154" y="130347"/>
                </a:lnTo>
                <a:lnTo>
                  <a:pt x="266727" y="178617"/>
                </a:lnTo>
                <a:lnTo>
                  <a:pt x="238992" y="208795"/>
                </a:lnTo>
                <a:lnTo>
                  <a:pt x="226256" y="214435"/>
                </a:lnTo>
                <a:lnTo>
                  <a:pt x="229083" y="223508"/>
                </a:lnTo>
                <a:lnTo>
                  <a:pt x="271787" y="198135"/>
                </a:lnTo>
                <a:lnTo>
                  <a:pt x="295771" y="151298"/>
                </a:lnTo>
                <a:lnTo>
                  <a:pt x="300366" y="111813"/>
                </a:lnTo>
                <a:lnTo>
                  <a:pt x="299214" y="91322"/>
                </a:lnTo>
                <a:lnTo>
                  <a:pt x="281927" y="39175"/>
                </a:lnTo>
                <a:lnTo>
                  <a:pt x="245288" y="5850"/>
                </a:lnTo>
                <a:lnTo>
                  <a:pt x="229083" y="0"/>
                </a:lnTo>
                <a:close/>
              </a:path>
              <a:path w="300989" h="223519">
                <a:moveTo>
                  <a:pt x="71282" y="0"/>
                </a:moveTo>
                <a:lnTo>
                  <a:pt x="28656" y="25438"/>
                </a:lnTo>
                <a:lnTo>
                  <a:pt x="4609" y="72386"/>
                </a:lnTo>
                <a:lnTo>
                  <a:pt x="0" y="111813"/>
                </a:lnTo>
                <a:lnTo>
                  <a:pt x="1148" y="132347"/>
                </a:lnTo>
                <a:lnTo>
                  <a:pt x="18380" y="184449"/>
                </a:lnTo>
                <a:lnTo>
                  <a:pt x="55030" y="217664"/>
                </a:lnTo>
                <a:lnTo>
                  <a:pt x="71282" y="223508"/>
                </a:lnTo>
                <a:lnTo>
                  <a:pt x="74110" y="214435"/>
                </a:lnTo>
                <a:lnTo>
                  <a:pt x="61374" y="208795"/>
                </a:lnTo>
                <a:lnTo>
                  <a:pt x="50384" y="200945"/>
                </a:lnTo>
                <a:lnTo>
                  <a:pt x="27839" y="164339"/>
                </a:lnTo>
                <a:lnTo>
                  <a:pt x="20383" y="110634"/>
                </a:lnTo>
                <a:lnTo>
                  <a:pt x="21211" y="91565"/>
                </a:lnTo>
                <a:lnTo>
                  <a:pt x="33638" y="44477"/>
                </a:lnTo>
                <a:lnTo>
                  <a:pt x="61573" y="14686"/>
                </a:lnTo>
                <a:lnTo>
                  <a:pt x="74463" y="9071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697286" y="2110739"/>
            <a:ext cx="2381885" cy="9645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2600" spc="0">
                <a:latin typeface="Cambria Math"/>
                <a:cs typeface="Cambria Math"/>
              </a:rPr>
              <a:t>exp(𝑒</a:t>
            </a:r>
            <a:r>
              <a:rPr dirty="0" baseline="-16081" sz="2850" spc="0">
                <a:latin typeface="Cambria Math"/>
                <a:cs typeface="Cambria Math"/>
              </a:rPr>
              <a:t>!%</a:t>
            </a:r>
            <a:r>
              <a:rPr dirty="0" sz="2600" spc="0">
                <a:latin typeface="Cambria Math"/>
                <a:cs typeface="Cambria Math"/>
              </a:rPr>
              <a:t>)</a:t>
            </a:r>
            <a:endParaRPr sz="2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dirty="0" baseline="2136" sz="3900" spc="150">
                <a:latin typeface="Cambria Math"/>
                <a:cs typeface="Cambria Math"/>
              </a:rPr>
              <a:t>∑</a:t>
            </a:r>
            <a:r>
              <a:rPr dirty="0" baseline="-21929" sz="2850" spc="150">
                <a:latin typeface="Cambria Math"/>
                <a:cs typeface="Cambria Math"/>
              </a:rPr>
              <a:t>)∈+  </a:t>
            </a:r>
            <a:r>
              <a:rPr dirty="0" baseline="-21929" sz="2850" spc="787">
                <a:latin typeface="Cambria Math"/>
                <a:cs typeface="Cambria Math"/>
              </a:rPr>
              <a:t>!</a:t>
            </a:r>
            <a:r>
              <a:rPr dirty="0" baseline="-21929" sz="2850" spc="322">
                <a:latin typeface="Cambria Math"/>
                <a:cs typeface="Cambria Math"/>
              </a:rPr>
              <a:t> </a:t>
            </a:r>
            <a:r>
              <a:rPr dirty="0" sz="2600" spc="105">
                <a:latin typeface="Cambria Math"/>
                <a:cs typeface="Cambria Math"/>
              </a:rPr>
              <a:t>exp(𝑒</a:t>
            </a:r>
            <a:r>
              <a:rPr dirty="0" baseline="-16081" sz="2850" spc="157">
                <a:latin typeface="Cambria Math"/>
                <a:cs typeface="Cambria Math"/>
              </a:rPr>
              <a:t>!)</a:t>
            </a:r>
            <a:r>
              <a:rPr dirty="0" sz="2600" spc="105">
                <a:latin typeface="Cambria Math"/>
                <a:cs typeface="Cambria Math"/>
              </a:rPr>
              <a:t>)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6563" y="3130804"/>
            <a:ext cx="7658100" cy="100711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25" b="1">
                <a:solidFill>
                  <a:srgbClr val="0000FF"/>
                </a:solidFill>
                <a:latin typeface="Calibri"/>
                <a:cs typeface="Calibri"/>
              </a:rPr>
              <a:t>Weighted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sum </a:t>
            </a:r>
            <a:r>
              <a:rPr dirty="0" sz="2800" spc="-5">
                <a:latin typeface="Calibri"/>
                <a:cs typeface="Calibri"/>
              </a:rPr>
              <a:t>based on the </a:t>
            </a:r>
            <a:r>
              <a:rPr dirty="0" sz="2800" spc="-5" b="1">
                <a:latin typeface="Calibri"/>
                <a:cs typeface="Calibri"/>
              </a:rPr>
              <a:t>final </a:t>
            </a:r>
            <a:r>
              <a:rPr dirty="0" sz="2800" spc="-15" b="1">
                <a:latin typeface="Calibri"/>
                <a:cs typeface="Calibri"/>
              </a:rPr>
              <a:t>attention</a:t>
            </a:r>
            <a:r>
              <a:rPr dirty="0" sz="2800" spc="4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weight</a:t>
            </a:r>
            <a:endParaRPr sz="2800">
              <a:latin typeface="Calibri"/>
              <a:cs typeface="Calibri"/>
            </a:endParaRPr>
          </a:p>
          <a:p>
            <a:pPr marL="287020">
              <a:lnSpc>
                <a:spcPct val="100000"/>
              </a:lnSpc>
              <a:spcBef>
                <a:spcPts val="500"/>
              </a:spcBef>
            </a:pPr>
            <a:r>
              <a:rPr dirty="0" baseline="11904" sz="4200">
                <a:solidFill>
                  <a:srgbClr val="E66C7D"/>
                </a:solidFill>
                <a:latin typeface="Cambria Math"/>
                <a:cs typeface="Cambria Math"/>
              </a:rPr>
              <a:t>𝜶</a:t>
            </a:r>
            <a:r>
              <a:rPr dirty="0" sz="2000">
                <a:solidFill>
                  <a:srgbClr val="E66C7D"/>
                </a:solidFill>
                <a:latin typeface="Cambria Math"/>
                <a:cs typeface="Cambria Math"/>
              </a:rPr>
              <a:t>𝒗𝒖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89662" y="4485863"/>
            <a:ext cx="300990" cy="223520"/>
          </a:xfrm>
          <a:custGeom>
            <a:avLst/>
            <a:gdLst/>
            <a:ahLst/>
            <a:cxnLst/>
            <a:rect l="l" t="t" r="r" b="b"/>
            <a:pathLst>
              <a:path w="300989" h="223520">
                <a:moveTo>
                  <a:pt x="229083" y="0"/>
                </a:moveTo>
                <a:lnTo>
                  <a:pt x="225902" y="9072"/>
                </a:lnTo>
                <a:lnTo>
                  <a:pt x="238841" y="14687"/>
                </a:lnTo>
                <a:lnTo>
                  <a:pt x="249968" y="22460"/>
                </a:lnTo>
                <a:lnTo>
                  <a:pt x="272560" y="58488"/>
                </a:lnTo>
                <a:lnTo>
                  <a:pt x="279982" y="110636"/>
                </a:lnTo>
                <a:lnTo>
                  <a:pt x="279154" y="130349"/>
                </a:lnTo>
                <a:lnTo>
                  <a:pt x="266727" y="178619"/>
                </a:lnTo>
                <a:lnTo>
                  <a:pt x="238992" y="208796"/>
                </a:lnTo>
                <a:lnTo>
                  <a:pt x="226256" y="214436"/>
                </a:lnTo>
                <a:lnTo>
                  <a:pt x="229083" y="223509"/>
                </a:lnTo>
                <a:lnTo>
                  <a:pt x="271787" y="198137"/>
                </a:lnTo>
                <a:lnTo>
                  <a:pt x="295771" y="151299"/>
                </a:lnTo>
                <a:lnTo>
                  <a:pt x="300366" y="111813"/>
                </a:lnTo>
                <a:lnTo>
                  <a:pt x="299213" y="91323"/>
                </a:lnTo>
                <a:lnTo>
                  <a:pt x="281927" y="39176"/>
                </a:lnTo>
                <a:lnTo>
                  <a:pt x="245288" y="5851"/>
                </a:lnTo>
                <a:lnTo>
                  <a:pt x="229083" y="0"/>
                </a:lnTo>
                <a:close/>
              </a:path>
              <a:path w="300989" h="223520">
                <a:moveTo>
                  <a:pt x="71282" y="0"/>
                </a:moveTo>
                <a:lnTo>
                  <a:pt x="28656" y="25439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0" y="217666"/>
                </a:lnTo>
                <a:lnTo>
                  <a:pt x="71282" y="223509"/>
                </a:lnTo>
                <a:lnTo>
                  <a:pt x="74110" y="214436"/>
                </a:lnTo>
                <a:lnTo>
                  <a:pt x="61374" y="208796"/>
                </a:lnTo>
                <a:lnTo>
                  <a:pt x="50384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644456" y="4235196"/>
            <a:ext cx="2273300" cy="4927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60"/>
              </a:lnSpc>
              <a:spcBef>
                <a:spcPts val="100"/>
              </a:spcBef>
            </a:pPr>
            <a:r>
              <a:rPr dirty="0" sz="2600" spc="-114">
                <a:latin typeface="Cambria Math"/>
                <a:cs typeface="Cambria Math"/>
              </a:rPr>
              <a:t>𝐡</a:t>
            </a:r>
            <a:r>
              <a:rPr dirty="0" baseline="40935" sz="2850" spc="-172">
                <a:latin typeface="Cambria Math"/>
                <a:cs typeface="Cambria Math"/>
              </a:rPr>
              <a:t>(#)  </a:t>
            </a:r>
            <a:r>
              <a:rPr dirty="0" sz="2600">
                <a:latin typeface="Cambria Math"/>
                <a:cs typeface="Cambria Math"/>
              </a:rPr>
              <a:t>=</a:t>
            </a:r>
            <a:r>
              <a:rPr dirty="0" sz="2600" spc="55">
                <a:latin typeface="Cambria Math"/>
                <a:cs typeface="Cambria Math"/>
              </a:rPr>
              <a:t> </a:t>
            </a:r>
            <a:r>
              <a:rPr dirty="0" sz="2600" spc="10">
                <a:latin typeface="Cambria Math"/>
                <a:cs typeface="Cambria Math"/>
              </a:rPr>
              <a:t>𝜎(</a:t>
            </a:r>
            <a:r>
              <a:rPr dirty="0" baseline="2136" sz="3900" spc="15">
                <a:latin typeface="Cambria Math"/>
                <a:cs typeface="Cambria Math"/>
              </a:rPr>
              <a:t>∑</a:t>
            </a:r>
            <a:endParaRPr baseline="2136" sz="3900">
              <a:latin typeface="Cambria Math"/>
              <a:cs typeface="Cambria Math"/>
            </a:endParaRPr>
          </a:p>
          <a:p>
            <a:pPr marL="213995">
              <a:lnSpc>
                <a:spcPts val="1420"/>
              </a:lnSpc>
              <a:tabLst>
                <a:tab pos="1523365" algn="l"/>
              </a:tabLst>
            </a:pPr>
            <a:r>
              <a:rPr dirty="0" sz="1900" spc="525">
                <a:latin typeface="Cambria Math"/>
                <a:cs typeface="Cambria Math"/>
              </a:rPr>
              <a:t>!	</a:t>
            </a:r>
            <a:r>
              <a:rPr dirty="0" sz="1900" spc="-140">
                <a:latin typeface="Cambria Math"/>
                <a:cs typeface="Cambria Math"/>
              </a:rPr>
              <a:t>%∈+ </a:t>
            </a:r>
            <a:r>
              <a:rPr dirty="0" sz="1900" spc="50">
                <a:latin typeface="Cambria Math"/>
                <a:cs typeface="Cambria Math"/>
              </a:rPr>
              <a:t> </a:t>
            </a:r>
            <a:r>
              <a:rPr dirty="0" sz="1900" spc="525">
                <a:latin typeface="Cambria Math"/>
                <a:cs typeface="Cambria Math"/>
              </a:rPr>
              <a:t>!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58698" y="4409440"/>
            <a:ext cx="1822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459">
                <a:latin typeface="Cambria Math"/>
                <a:cs typeface="Cambria Math"/>
              </a:rPr>
              <a:t>%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53455" y="4058411"/>
            <a:ext cx="205295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914" sz="3900" spc="37">
                <a:solidFill>
                  <a:srgbClr val="E66C7D"/>
                </a:solidFill>
                <a:latin typeface="Cambria Math"/>
                <a:cs typeface="Cambria Math"/>
              </a:rPr>
              <a:t>𝛼</a:t>
            </a:r>
            <a:r>
              <a:rPr dirty="0" baseline="-55555" sz="2850" spc="37">
                <a:solidFill>
                  <a:srgbClr val="E66C7D"/>
                </a:solidFill>
                <a:latin typeface="Cambria Math"/>
                <a:cs typeface="Cambria Math"/>
              </a:rPr>
              <a:t>!%</a:t>
            </a:r>
            <a:r>
              <a:rPr dirty="0" baseline="-32407" sz="3600" spc="37">
                <a:latin typeface="Cambria Math"/>
                <a:cs typeface="Cambria Math"/>
              </a:rPr>
              <a:t>𝐖</a:t>
            </a:r>
            <a:r>
              <a:rPr dirty="0" baseline="-13888" sz="2700" spc="37">
                <a:latin typeface="Cambria Math"/>
                <a:cs typeface="Cambria Math"/>
              </a:rPr>
              <a:t>(%)</a:t>
            </a:r>
            <a:r>
              <a:rPr dirty="0" baseline="-29914" sz="3900" spc="37">
                <a:latin typeface="Cambria Math"/>
                <a:cs typeface="Cambria Math"/>
              </a:rPr>
              <a:t>𝐡</a:t>
            </a:r>
            <a:r>
              <a:rPr dirty="0" sz="1900" spc="25">
                <a:latin typeface="Cambria Math"/>
                <a:cs typeface="Cambria Math"/>
              </a:rPr>
              <a:t>(#,-)</a:t>
            </a:r>
            <a:r>
              <a:rPr dirty="0" baseline="-29914" sz="3900" spc="37">
                <a:latin typeface="Calibri"/>
                <a:cs typeface="Calibri"/>
              </a:rPr>
              <a:t>)</a:t>
            </a:r>
            <a:endParaRPr baseline="-29914" sz="39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734210" y="4691127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734210" y="4691127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801232" y="4815332"/>
            <a:ext cx="3759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 spc="-142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dirty="0" sz="1300" spc="110">
                <a:solidFill>
                  <a:srgbClr val="C00000"/>
                </a:solidFill>
                <a:latin typeface="Cambria Math"/>
                <a:cs typeface="Cambria Math"/>
              </a:rPr>
              <a:t>*+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685143" y="4872999"/>
            <a:ext cx="961390" cy="553085"/>
          </a:xfrm>
          <a:custGeom>
            <a:avLst/>
            <a:gdLst/>
            <a:ahLst/>
            <a:cxnLst/>
            <a:rect l="l" t="t" r="r" b="b"/>
            <a:pathLst>
              <a:path w="961390" h="553085">
                <a:moveTo>
                  <a:pt x="944440" y="0"/>
                </a:moveTo>
                <a:lnTo>
                  <a:pt x="930694" y="7807"/>
                </a:lnTo>
                <a:lnTo>
                  <a:pt x="928289" y="16529"/>
                </a:lnTo>
                <a:lnTo>
                  <a:pt x="936085" y="30251"/>
                </a:lnTo>
                <a:lnTo>
                  <a:pt x="944806" y="32654"/>
                </a:lnTo>
                <a:lnTo>
                  <a:pt x="958554" y="24846"/>
                </a:lnTo>
                <a:lnTo>
                  <a:pt x="960956" y="16125"/>
                </a:lnTo>
                <a:lnTo>
                  <a:pt x="953161" y="2402"/>
                </a:lnTo>
                <a:lnTo>
                  <a:pt x="944440" y="0"/>
                </a:lnTo>
                <a:close/>
              </a:path>
              <a:path w="961390" h="553085">
                <a:moveTo>
                  <a:pt x="894722" y="28238"/>
                </a:moveTo>
                <a:lnTo>
                  <a:pt x="880974" y="36047"/>
                </a:lnTo>
                <a:lnTo>
                  <a:pt x="878572" y="44768"/>
                </a:lnTo>
                <a:lnTo>
                  <a:pt x="886366" y="58491"/>
                </a:lnTo>
                <a:lnTo>
                  <a:pt x="895087" y="60893"/>
                </a:lnTo>
                <a:lnTo>
                  <a:pt x="908834" y="53086"/>
                </a:lnTo>
                <a:lnTo>
                  <a:pt x="911237" y="44363"/>
                </a:lnTo>
                <a:lnTo>
                  <a:pt x="903443" y="30641"/>
                </a:lnTo>
                <a:lnTo>
                  <a:pt x="894722" y="28238"/>
                </a:lnTo>
                <a:close/>
              </a:path>
              <a:path w="961390" h="553085">
                <a:moveTo>
                  <a:pt x="845002" y="56478"/>
                </a:moveTo>
                <a:lnTo>
                  <a:pt x="831255" y="64287"/>
                </a:lnTo>
                <a:lnTo>
                  <a:pt x="828854" y="73008"/>
                </a:lnTo>
                <a:lnTo>
                  <a:pt x="836649" y="86730"/>
                </a:lnTo>
                <a:lnTo>
                  <a:pt x="845370" y="89133"/>
                </a:lnTo>
                <a:lnTo>
                  <a:pt x="859116" y="81324"/>
                </a:lnTo>
                <a:lnTo>
                  <a:pt x="861519" y="72602"/>
                </a:lnTo>
                <a:lnTo>
                  <a:pt x="853724" y="58881"/>
                </a:lnTo>
                <a:lnTo>
                  <a:pt x="845002" y="56478"/>
                </a:lnTo>
                <a:close/>
              </a:path>
              <a:path w="961390" h="553085">
                <a:moveTo>
                  <a:pt x="795286" y="84717"/>
                </a:moveTo>
                <a:lnTo>
                  <a:pt x="781538" y="92524"/>
                </a:lnTo>
                <a:lnTo>
                  <a:pt x="779134" y="101245"/>
                </a:lnTo>
                <a:lnTo>
                  <a:pt x="786928" y="114969"/>
                </a:lnTo>
                <a:lnTo>
                  <a:pt x="795649" y="117372"/>
                </a:lnTo>
                <a:lnTo>
                  <a:pt x="809397" y="109565"/>
                </a:lnTo>
                <a:lnTo>
                  <a:pt x="811800" y="100843"/>
                </a:lnTo>
                <a:lnTo>
                  <a:pt x="804007" y="87120"/>
                </a:lnTo>
                <a:lnTo>
                  <a:pt x="795286" y="84717"/>
                </a:lnTo>
                <a:close/>
              </a:path>
              <a:path w="961390" h="553085">
                <a:moveTo>
                  <a:pt x="745567" y="112956"/>
                </a:moveTo>
                <a:lnTo>
                  <a:pt x="731819" y="120764"/>
                </a:lnTo>
                <a:lnTo>
                  <a:pt x="729416" y="129485"/>
                </a:lnTo>
                <a:lnTo>
                  <a:pt x="737209" y="143209"/>
                </a:lnTo>
                <a:lnTo>
                  <a:pt x="745930" y="145611"/>
                </a:lnTo>
                <a:lnTo>
                  <a:pt x="759678" y="137803"/>
                </a:lnTo>
                <a:lnTo>
                  <a:pt x="762082" y="129082"/>
                </a:lnTo>
                <a:lnTo>
                  <a:pt x="754288" y="115360"/>
                </a:lnTo>
                <a:lnTo>
                  <a:pt x="745567" y="112956"/>
                </a:lnTo>
                <a:close/>
              </a:path>
              <a:path w="961390" h="553085">
                <a:moveTo>
                  <a:pt x="695849" y="141196"/>
                </a:moveTo>
                <a:lnTo>
                  <a:pt x="682101" y="149004"/>
                </a:lnTo>
                <a:lnTo>
                  <a:pt x="679697" y="157725"/>
                </a:lnTo>
                <a:lnTo>
                  <a:pt x="687491" y="171447"/>
                </a:lnTo>
                <a:lnTo>
                  <a:pt x="696212" y="173851"/>
                </a:lnTo>
                <a:lnTo>
                  <a:pt x="709960" y="166043"/>
                </a:lnTo>
                <a:lnTo>
                  <a:pt x="712363" y="157322"/>
                </a:lnTo>
                <a:lnTo>
                  <a:pt x="704570" y="143598"/>
                </a:lnTo>
                <a:lnTo>
                  <a:pt x="695849" y="141196"/>
                </a:lnTo>
                <a:close/>
              </a:path>
              <a:path w="961390" h="553085">
                <a:moveTo>
                  <a:pt x="646130" y="169435"/>
                </a:moveTo>
                <a:lnTo>
                  <a:pt x="632382" y="177242"/>
                </a:lnTo>
                <a:lnTo>
                  <a:pt x="629979" y="185963"/>
                </a:lnTo>
                <a:lnTo>
                  <a:pt x="637772" y="199687"/>
                </a:lnTo>
                <a:lnTo>
                  <a:pt x="646494" y="202090"/>
                </a:lnTo>
                <a:lnTo>
                  <a:pt x="660242" y="194282"/>
                </a:lnTo>
                <a:lnTo>
                  <a:pt x="662645" y="185560"/>
                </a:lnTo>
                <a:lnTo>
                  <a:pt x="654851" y="171838"/>
                </a:lnTo>
                <a:lnTo>
                  <a:pt x="646130" y="169435"/>
                </a:lnTo>
                <a:close/>
              </a:path>
              <a:path w="961390" h="553085">
                <a:moveTo>
                  <a:pt x="596412" y="197674"/>
                </a:moveTo>
                <a:lnTo>
                  <a:pt x="582664" y="205482"/>
                </a:lnTo>
                <a:lnTo>
                  <a:pt x="580260" y="214203"/>
                </a:lnTo>
                <a:lnTo>
                  <a:pt x="588054" y="227925"/>
                </a:lnTo>
                <a:lnTo>
                  <a:pt x="596775" y="230329"/>
                </a:lnTo>
                <a:lnTo>
                  <a:pt x="610523" y="222521"/>
                </a:lnTo>
                <a:lnTo>
                  <a:pt x="612926" y="213800"/>
                </a:lnTo>
                <a:lnTo>
                  <a:pt x="605133" y="200078"/>
                </a:lnTo>
                <a:lnTo>
                  <a:pt x="596412" y="197674"/>
                </a:lnTo>
                <a:close/>
              </a:path>
              <a:path w="961390" h="553085">
                <a:moveTo>
                  <a:pt x="546693" y="225913"/>
                </a:moveTo>
                <a:lnTo>
                  <a:pt x="532945" y="233721"/>
                </a:lnTo>
                <a:lnTo>
                  <a:pt x="530542" y="242443"/>
                </a:lnTo>
                <a:lnTo>
                  <a:pt x="538336" y="256165"/>
                </a:lnTo>
                <a:lnTo>
                  <a:pt x="547057" y="258569"/>
                </a:lnTo>
                <a:lnTo>
                  <a:pt x="560805" y="250761"/>
                </a:lnTo>
                <a:lnTo>
                  <a:pt x="563208" y="242040"/>
                </a:lnTo>
                <a:lnTo>
                  <a:pt x="555414" y="228316"/>
                </a:lnTo>
                <a:lnTo>
                  <a:pt x="546693" y="225913"/>
                </a:lnTo>
                <a:close/>
              </a:path>
              <a:path w="961390" h="553085">
                <a:moveTo>
                  <a:pt x="496975" y="254152"/>
                </a:moveTo>
                <a:lnTo>
                  <a:pt x="483227" y="261960"/>
                </a:lnTo>
                <a:lnTo>
                  <a:pt x="480823" y="270681"/>
                </a:lnTo>
                <a:lnTo>
                  <a:pt x="488617" y="284405"/>
                </a:lnTo>
                <a:lnTo>
                  <a:pt x="497338" y="286807"/>
                </a:lnTo>
                <a:lnTo>
                  <a:pt x="511086" y="278999"/>
                </a:lnTo>
                <a:lnTo>
                  <a:pt x="513490" y="270278"/>
                </a:lnTo>
                <a:lnTo>
                  <a:pt x="505696" y="256556"/>
                </a:lnTo>
                <a:lnTo>
                  <a:pt x="496975" y="254152"/>
                </a:lnTo>
                <a:close/>
              </a:path>
              <a:path w="961390" h="553085">
                <a:moveTo>
                  <a:pt x="447248" y="282392"/>
                </a:moveTo>
                <a:lnTo>
                  <a:pt x="433504" y="290206"/>
                </a:lnTo>
                <a:lnTo>
                  <a:pt x="431105" y="298928"/>
                </a:lnTo>
                <a:lnTo>
                  <a:pt x="438905" y="312648"/>
                </a:lnTo>
                <a:lnTo>
                  <a:pt x="447628" y="315047"/>
                </a:lnTo>
                <a:lnTo>
                  <a:pt x="461371" y="307233"/>
                </a:lnTo>
                <a:lnTo>
                  <a:pt x="463770" y="298510"/>
                </a:lnTo>
                <a:lnTo>
                  <a:pt x="455970" y="284791"/>
                </a:lnTo>
                <a:lnTo>
                  <a:pt x="447248" y="282392"/>
                </a:lnTo>
                <a:close/>
              </a:path>
              <a:path w="961390" h="553085">
                <a:moveTo>
                  <a:pt x="397539" y="310631"/>
                </a:moveTo>
                <a:lnTo>
                  <a:pt x="383790" y="318438"/>
                </a:lnTo>
                <a:lnTo>
                  <a:pt x="381387" y="327159"/>
                </a:lnTo>
                <a:lnTo>
                  <a:pt x="389178" y="340883"/>
                </a:lnTo>
                <a:lnTo>
                  <a:pt x="397901" y="343286"/>
                </a:lnTo>
                <a:lnTo>
                  <a:pt x="411648" y="335479"/>
                </a:lnTo>
                <a:lnTo>
                  <a:pt x="414053" y="326758"/>
                </a:lnTo>
                <a:lnTo>
                  <a:pt x="406260" y="313035"/>
                </a:lnTo>
                <a:lnTo>
                  <a:pt x="397539" y="310631"/>
                </a:lnTo>
                <a:close/>
              </a:path>
              <a:path w="961390" h="553085">
                <a:moveTo>
                  <a:pt x="347819" y="338870"/>
                </a:moveTo>
                <a:lnTo>
                  <a:pt x="334072" y="346676"/>
                </a:lnTo>
                <a:lnTo>
                  <a:pt x="331668" y="355398"/>
                </a:lnTo>
                <a:lnTo>
                  <a:pt x="339460" y="369121"/>
                </a:lnTo>
                <a:lnTo>
                  <a:pt x="348181" y="371525"/>
                </a:lnTo>
                <a:lnTo>
                  <a:pt x="361929" y="363719"/>
                </a:lnTo>
                <a:lnTo>
                  <a:pt x="364333" y="354998"/>
                </a:lnTo>
                <a:lnTo>
                  <a:pt x="356541" y="341274"/>
                </a:lnTo>
                <a:lnTo>
                  <a:pt x="347819" y="338870"/>
                </a:lnTo>
                <a:close/>
              </a:path>
              <a:path w="961390" h="553085">
                <a:moveTo>
                  <a:pt x="298102" y="367110"/>
                </a:moveTo>
                <a:lnTo>
                  <a:pt x="284352" y="374916"/>
                </a:lnTo>
                <a:lnTo>
                  <a:pt x="281950" y="383637"/>
                </a:lnTo>
                <a:lnTo>
                  <a:pt x="289742" y="397361"/>
                </a:lnTo>
                <a:lnTo>
                  <a:pt x="298463" y="399765"/>
                </a:lnTo>
                <a:lnTo>
                  <a:pt x="312211" y="391958"/>
                </a:lnTo>
                <a:lnTo>
                  <a:pt x="314615" y="383237"/>
                </a:lnTo>
                <a:lnTo>
                  <a:pt x="306823" y="369514"/>
                </a:lnTo>
                <a:lnTo>
                  <a:pt x="298102" y="367110"/>
                </a:lnTo>
                <a:close/>
              </a:path>
              <a:path w="961390" h="553085">
                <a:moveTo>
                  <a:pt x="248382" y="395349"/>
                </a:moveTo>
                <a:lnTo>
                  <a:pt x="234635" y="403156"/>
                </a:lnTo>
                <a:lnTo>
                  <a:pt x="232230" y="411877"/>
                </a:lnTo>
                <a:lnTo>
                  <a:pt x="240023" y="425601"/>
                </a:lnTo>
                <a:lnTo>
                  <a:pt x="248744" y="428003"/>
                </a:lnTo>
                <a:lnTo>
                  <a:pt x="262492" y="420197"/>
                </a:lnTo>
                <a:lnTo>
                  <a:pt x="264896" y="411476"/>
                </a:lnTo>
                <a:lnTo>
                  <a:pt x="257103" y="397753"/>
                </a:lnTo>
                <a:lnTo>
                  <a:pt x="248382" y="395349"/>
                </a:lnTo>
                <a:close/>
              </a:path>
              <a:path w="961390" h="553085">
                <a:moveTo>
                  <a:pt x="198664" y="423588"/>
                </a:moveTo>
                <a:lnTo>
                  <a:pt x="184917" y="431394"/>
                </a:lnTo>
                <a:lnTo>
                  <a:pt x="182512" y="440115"/>
                </a:lnTo>
                <a:lnTo>
                  <a:pt x="190305" y="453839"/>
                </a:lnTo>
                <a:lnTo>
                  <a:pt x="199026" y="456243"/>
                </a:lnTo>
                <a:lnTo>
                  <a:pt x="212774" y="448437"/>
                </a:lnTo>
                <a:lnTo>
                  <a:pt x="215178" y="439715"/>
                </a:lnTo>
                <a:lnTo>
                  <a:pt x="207385" y="425992"/>
                </a:lnTo>
                <a:lnTo>
                  <a:pt x="198664" y="423588"/>
                </a:lnTo>
                <a:close/>
              </a:path>
              <a:path w="961390" h="553085">
                <a:moveTo>
                  <a:pt x="148945" y="451827"/>
                </a:moveTo>
                <a:lnTo>
                  <a:pt x="135197" y="459634"/>
                </a:lnTo>
                <a:lnTo>
                  <a:pt x="132793" y="468355"/>
                </a:lnTo>
                <a:lnTo>
                  <a:pt x="140586" y="482079"/>
                </a:lnTo>
                <a:lnTo>
                  <a:pt x="149307" y="484483"/>
                </a:lnTo>
                <a:lnTo>
                  <a:pt x="163056" y="476676"/>
                </a:lnTo>
                <a:lnTo>
                  <a:pt x="165459" y="467955"/>
                </a:lnTo>
                <a:lnTo>
                  <a:pt x="157667" y="454232"/>
                </a:lnTo>
                <a:lnTo>
                  <a:pt x="148945" y="451827"/>
                </a:lnTo>
                <a:close/>
              </a:path>
              <a:path w="961390" h="553085">
                <a:moveTo>
                  <a:pt x="53371" y="473248"/>
                </a:moveTo>
                <a:lnTo>
                  <a:pt x="0" y="552857"/>
                </a:lnTo>
                <a:lnTo>
                  <a:pt x="95709" y="547789"/>
                </a:lnTo>
                <a:lnTo>
                  <a:pt x="53371" y="473248"/>
                </a:lnTo>
                <a:close/>
              </a:path>
              <a:path w="961390" h="553085">
                <a:moveTo>
                  <a:pt x="99227" y="480067"/>
                </a:moveTo>
                <a:lnTo>
                  <a:pt x="85479" y="487874"/>
                </a:lnTo>
                <a:lnTo>
                  <a:pt x="83075" y="496595"/>
                </a:lnTo>
                <a:lnTo>
                  <a:pt x="90868" y="510317"/>
                </a:lnTo>
                <a:lnTo>
                  <a:pt x="99589" y="512721"/>
                </a:lnTo>
                <a:lnTo>
                  <a:pt x="113337" y="504915"/>
                </a:lnTo>
                <a:lnTo>
                  <a:pt x="115741" y="496194"/>
                </a:lnTo>
                <a:lnTo>
                  <a:pt x="107948" y="482470"/>
                </a:lnTo>
                <a:lnTo>
                  <a:pt x="99227" y="480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38778" y="4970779"/>
            <a:ext cx="4472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latin typeface="Calibri"/>
                <a:cs typeface="Calibri"/>
              </a:rPr>
              <a:t>Weighted </a:t>
            </a:r>
            <a:r>
              <a:rPr dirty="0" sz="2400" spc="-5" b="1">
                <a:latin typeface="Calibri"/>
                <a:cs typeface="Calibri"/>
              </a:rPr>
              <a:t>sum using </a:t>
            </a:r>
            <a:r>
              <a:rPr dirty="0" sz="2400" spc="75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dirty="0" baseline="-15432" sz="2700" spc="112">
                <a:solidFill>
                  <a:srgbClr val="C00000"/>
                </a:solidFill>
                <a:latin typeface="Cambria Math"/>
                <a:cs typeface="Cambria Math"/>
              </a:rPr>
              <a:t>12</a:t>
            </a:r>
            <a:r>
              <a:rPr dirty="0" sz="2400" spc="75">
                <a:latin typeface="Calibri"/>
                <a:cs typeface="Calibri"/>
              </a:rPr>
              <a:t>, </a:t>
            </a:r>
            <a:r>
              <a:rPr dirty="0" sz="2400" spc="55">
                <a:solidFill>
                  <a:srgbClr val="479249"/>
                </a:solidFill>
                <a:latin typeface="Cambria Math"/>
                <a:cs typeface="Cambria Math"/>
              </a:rPr>
              <a:t>𝛼</a:t>
            </a:r>
            <a:r>
              <a:rPr dirty="0" baseline="-15432" sz="2700" spc="82">
                <a:solidFill>
                  <a:srgbClr val="479249"/>
                </a:solidFill>
                <a:latin typeface="Cambria Math"/>
                <a:cs typeface="Cambria Math"/>
              </a:rPr>
              <a:t>14</a:t>
            </a:r>
            <a:r>
              <a:rPr dirty="0" sz="2400" spc="55">
                <a:latin typeface="Calibri"/>
                <a:cs typeface="Calibri"/>
              </a:rPr>
              <a:t>,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100">
                <a:solidFill>
                  <a:srgbClr val="0070C0"/>
                </a:solidFill>
                <a:latin typeface="Cambria Math"/>
                <a:cs typeface="Cambria Math"/>
              </a:rPr>
              <a:t>𝛼</a:t>
            </a:r>
            <a:r>
              <a:rPr dirty="0" baseline="-15432" sz="2700" spc="150">
                <a:solidFill>
                  <a:srgbClr val="0070C0"/>
                </a:solidFill>
                <a:latin typeface="Cambria Math"/>
                <a:cs typeface="Cambria Math"/>
              </a:rPr>
              <a:t>15</a:t>
            </a:r>
            <a:r>
              <a:rPr dirty="0" sz="2400" spc="100" b="1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1653" y="5545328"/>
            <a:ext cx="373887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1825" algn="l"/>
                <a:tab pos="3609975" algn="l"/>
              </a:tabLst>
            </a:pPr>
            <a:r>
              <a:rPr dirty="0" sz="1500" spc="365">
                <a:latin typeface="Cambria Math"/>
                <a:cs typeface="Cambria Math"/>
              </a:rPr>
              <a:t>)</a:t>
            </a:r>
            <a:r>
              <a:rPr dirty="0" sz="1500" spc="365">
                <a:latin typeface="Cambria Math"/>
                <a:cs typeface="Cambria Math"/>
              </a:rPr>
              <a:t>	</a:t>
            </a:r>
            <a:r>
              <a:rPr dirty="0" sz="1500" spc="375">
                <a:solidFill>
                  <a:srgbClr val="C00000"/>
                </a:solidFill>
                <a:latin typeface="Cambria Math"/>
                <a:cs typeface="Cambria Math"/>
              </a:rPr>
              <a:t>*</a:t>
            </a:r>
            <a:r>
              <a:rPr dirty="0" sz="1500" spc="375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1500" spc="-215">
                <a:solidFill>
                  <a:srgbClr val="479249"/>
                </a:solidFill>
                <a:latin typeface="Cambria Math"/>
                <a:cs typeface="Cambria Math"/>
              </a:rPr>
              <a:t>+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8778" y="5268467"/>
            <a:ext cx="43738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166" sz="3000" spc="37">
                <a:latin typeface="Cambria Math"/>
                <a:cs typeface="Cambria Math"/>
              </a:rPr>
              <a:t>𝐡</a:t>
            </a:r>
            <a:r>
              <a:rPr dirty="0" sz="1500" spc="25">
                <a:latin typeface="Cambria Math"/>
                <a:cs typeface="Cambria Math"/>
              </a:rPr>
              <a:t>(!) </a:t>
            </a:r>
            <a:r>
              <a:rPr dirty="0" baseline="-29166" sz="3000">
                <a:latin typeface="Cambria Math"/>
                <a:cs typeface="Cambria Math"/>
              </a:rPr>
              <a:t>=</a:t>
            </a:r>
            <a:r>
              <a:rPr dirty="0" baseline="-29166" sz="3000" spc="300">
                <a:latin typeface="Cambria Math"/>
                <a:cs typeface="Cambria Math"/>
              </a:rPr>
              <a:t> </a:t>
            </a:r>
            <a:r>
              <a:rPr dirty="0" baseline="-29166" sz="3000" spc="22">
                <a:latin typeface="Cambria Math"/>
                <a:cs typeface="Cambria Math"/>
              </a:rPr>
              <a:t>𝜎(</a:t>
            </a:r>
            <a:r>
              <a:rPr dirty="0" baseline="-29166" sz="3000" spc="22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dirty="0" baseline="-53703" sz="2250" spc="22">
                <a:solidFill>
                  <a:srgbClr val="C00000"/>
                </a:solidFill>
                <a:latin typeface="Cambria Math"/>
                <a:cs typeface="Cambria Math"/>
              </a:rPr>
              <a:t>)*</a:t>
            </a:r>
            <a:r>
              <a:rPr dirty="0" baseline="-29166" sz="3000" spc="22">
                <a:solidFill>
                  <a:srgbClr val="C00000"/>
                </a:solidFill>
                <a:latin typeface="Cambria Math"/>
                <a:cs typeface="Cambria Math"/>
              </a:rPr>
              <a:t>𝐖</a:t>
            </a:r>
            <a:r>
              <a:rPr dirty="0" baseline="-12962" sz="2250" spc="22">
                <a:solidFill>
                  <a:srgbClr val="C00000"/>
                </a:solidFill>
                <a:latin typeface="Cambria Math"/>
                <a:cs typeface="Cambria Math"/>
              </a:rPr>
              <a:t>(!)</a:t>
            </a:r>
            <a:r>
              <a:rPr dirty="0" baseline="-29166" sz="3000" spc="22">
                <a:solidFill>
                  <a:srgbClr val="C00000"/>
                </a:solidFill>
                <a:latin typeface="Cambria Math"/>
                <a:cs typeface="Cambria Math"/>
              </a:rPr>
              <a:t>𝐡</a:t>
            </a:r>
            <a:r>
              <a:rPr dirty="0" sz="1500" spc="15">
                <a:solidFill>
                  <a:srgbClr val="C00000"/>
                </a:solidFill>
                <a:latin typeface="Cambria Math"/>
                <a:cs typeface="Cambria Math"/>
              </a:rPr>
              <a:t>(!%&amp;)</a:t>
            </a:r>
            <a:r>
              <a:rPr dirty="0" baseline="-29166" sz="3000" spc="22">
                <a:latin typeface="Cambria Math"/>
                <a:cs typeface="Cambria Math"/>
              </a:rPr>
              <a:t>+</a:t>
            </a:r>
            <a:r>
              <a:rPr dirty="0" baseline="-29166" sz="3000" spc="22">
                <a:solidFill>
                  <a:srgbClr val="479249"/>
                </a:solidFill>
                <a:latin typeface="Cambria Math"/>
                <a:cs typeface="Cambria Math"/>
              </a:rPr>
              <a:t>𝛼</a:t>
            </a:r>
            <a:r>
              <a:rPr dirty="0" baseline="-53703" sz="2250" spc="22">
                <a:solidFill>
                  <a:srgbClr val="479249"/>
                </a:solidFill>
                <a:latin typeface="Cambria Math"/>
                <a:cs typeface="Cambria Math"/>
              </a:rPr>
              <a:t>)+</a:t>
            </a:r>
            <a:r>
              <a:rPr dirty="0" baseline="-29166" sz="3000" spc="22">
                <a:solidFill>
                  <a:srgbClr val="479249"/>
                </a:solidFill>
                <a:latin typeface="Cambria Math"/>
                <a:cs typeface="Cambria Math"/>
              </a:rPr>
              <a:t>𝐖</a:t>
            </a:r>
            <a:r>
              <a:rPr dirty="0" baseline="-12962" sz="2250" spc="22">
                <a:solidFill>
                  <a:srgbClr val="479249"/>
                </a:solidFill>
                <a:latin typeface="Cambria Math"/>
                <a:cs typeface="Cambria Math"/>
              </a:rPr>
              <a:t>(!)</a:t>
            </a:r>
            <a:r>
              <a:rPr dirty="0" baseline="-29166" sz="3000" spc="22">
                <a:solidFill>
                  <a:srgbClr val="479249"/>
                </a:solidFill>
                <a:latin typeface="Cambria Math"/>
                <a:cs typeface="Cambria Math"/>
              </a:rPr>
              <a:t>𝐡</a:t>
            </a:r>
            <a:r>
              <a:rPr dirty="0" sz="1500" spc="15">
                <a:solidFill>
                  <a:srgbClr val="479249"/>
                </a:solidFill>
                <a:latin typeface="Cambria Math"/>
                <a:cs typeface="Cambria Math"/>
              </a:rPr>
              <a:t>(!%&amp;)</a:t>
            </a:r>
            <a:r>
              <a:rPr dirty="0" baseline="-29166" sz="3000" spc="22">
                <a:latin typeface="Corbel"/>
                <a:cs typeface="Corbel"/>
              </a:rPr>
              <a:t>+</a:t>
            </a:r>
            <a:endParaRPr baseline="-29166" sz="3000">
              <a:latin typeface="Corbel"/>
              <a:cs typeface="Corbe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8778" y="5692139"/>
            <a:ext cx="12198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9444" sz="3000" spc="337">
                <a:solidFill>
                  <a:srgbClr val="0070C0"/>
                </a:solidFill>
                <a:latin typeface="Cambria Math"/>
                <a:cs typeface="Cambria Math"/>
              </a:rPr>
              <a:t>𝛼</a:t>
            </a:r>
            <a:r>
              <a:rPr dirty="0" baseline="-42592" sz="2250" spc="337">
                <a:solidFill>
                  <a:srgbClr val="0070C0"/>
                </a:solidFill>
                <a:latin typeface="Cambria Math"/>
                <a:cs typeface="Cambria Math"/>
              </a:rPr>
              <a:t>),</a:t>
            </a:r>
            <a:r>
              <a:rPr dirty="0" baseline="-19444" sz="3000" spc="337">
                <a:solidFill>
                  <a:srgbClr val="0070C0"/>
                </a:solidFill>
                <a:latin typeface="Cambria Math"/>
                <a:cs typeface="Cambria Math"/>
              </a:rPr>
              <a:t>𝐖</a:t>
            </a:r>
            <a:r>
              <a:rPr dirty="0" sz="1500" spc="225">
                <a:solidFill>
                  <a:srgbClr val="0070C0"/>
                </a:solidFill>
                <a:latin typeface="Cambria Math"/>
                <a:cs typeface="Cambria Math"/>
              </a:rPr>
              <a:t>(!)</a:t>
            </a:r>
            <a:r>
              <a:rPr dirty="0" baseline="-19444" sz="3000" spc="337">
                <a:solidFill>
                  <a:srgbClr val="0070C0"/>
                </a:solidFill>
                <a:latin typeface="Cambria Math"/>
                <a:cs typeface="Cambria Math"/>
              </a:rPr>
              <a:t>𝐡</a:t>
            </a:r>
            <a:r>
              <a:rPr dirty="0" baseline="-50000" sz="2250" spc="337">
                <a:solidFill>
                  <a:srgbClr val="0070C0"/>
                </a:solidFill>
                <a:latin typeface="Cambria Math"/>
                <a:cs typeface="Cambria Math"/>
              </a:rPr>
              <a:t>,</a:t>
            </a:r>
            <a:endParaRPr baseline="-50000" sz="22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96623" y="5712967"/>
            <a:ext cx="4953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0070C0"/>
                </a:solidFill>
                <a:latin typeface="Cambria Math"/>
                <a:cs typeface="Cambria Math"/>
              </a:rPr>
              <a:t>(</a:t>
            </a:r>
            <a:r>
              <a:rPr dirty="0" sz="1500" spc="125">
                <a:solidFill>
                  <a:srgbClr val="0070C0"/>
                </a:solidFill>
                <a:latin typeface="Cambria Math"/>
                <a:cs typeface="Cambria Math"/>
              </a:rPr>
              <a:t>!</a:t>
            </a:r>
            <a:r>
              <a:rPr dirty="0" sz="1500" spc="-275">
                <a:solidFill>
                  <a:srgbClr val="0070C0"/>
                </a:solidFill>
                <a:latin typeface="Cambria Math"/>
                <a:cs typeface="Cambria Math"/>
              </a:rPr>
              <a:t>%</a:t>
            </a:r>
            <a:r>
              <a:rPr dirty="0" sz="1500" spc="-185">
                <a:solidFill>
                  <a:srgbClr val="0070C0"/>
                </a:solidFill>
                <a:latin typeface="Cambria Math"/>
                <a:cs typeface="Cambria Math"/>
              </a:rPr>
              <a:t>&amp;</a:t>
            </a:r>
            <a:r>
              <a:rPr dirty="0" sz="1500">
                <a:solidFill>
                  <a:srgbClr val="0070C0"/>
                </a:solidFill>
                <a:latin typeface="Cambria Math"/>
                <a:cs typeface="Cambria Math"/>
              </a:rPr>
              <a:t>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73889" y="5783579"/>
            <a:ext cx="1016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orbel"/>
                <a:cs typeface="Corbel"/>
              </a:rPr>
              <a:t>)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099070" y="5527020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0" y="0"/>
                </a:lnTo>
                <a:lnTo>
                  <a:pt x="105700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099070" y="5527020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083668" y="6259376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2"/>
                </a:lnTo>
                <a:lnTo>
                  <a:pt x="0" y="396382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083668" y="6259376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429531" y="5108892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429531" y="5108892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635760" y="5490826"/>
            <a:ext cx="1400810" cy="157480"/>
          </a:xfrm>
          <a:custGeom>
            <a:avLst/>
            <a:gdLst/>
            <a:ahLst/>
            <a:cxnLst/>
            <a:rect l="l" t="t" r="r" b="b"/>
            <a:pathLst>
              <a:path w="1400809" h="157479">
                <a:moveTo>
                  <a:pt x="1378903" y="127407"/>
                </a:moveTo>
                <a:lnTo>
                  <a:pt x="1372036" y="133297"/>
                </a:lnTo>
                <a:lnTo>
                  <a:pt x="1370832" y="149032"/>
                </a:lnTo>
                <a:lnTo>
                  <a:pt x="1376723" y="155899"/>
                </a:lnTo>
                <a:lnTo>
                  <a:pt x="1392486" y="157105"/>
                </a:lnTo>
                <a:lnTo>
                  <a:pt x="1399353" y="151215"/>
                </a:lnTo>
                <a:lnTo>
                  <a:pt x="1400557" y="135480"/>
                </a:lnTo>
                <a:lnTo>
                  <a:pt x="1394667" y="128614"/>
                </a:lnTo>
                <a:lnTo>
                  <a:pt x="1378903" y="127407"/>
                </a:lnTo>
                <a:close/>
              </a:path>
              <a:path w="1400809" h="157479">
                <a:moveTo>
                  <a:pt x="1321892" y="123043"/>
                </a:moveTo>
                <a:lnTo>
                  <a:pt x="1315025" y="128933"/>
                </a:lnTo>
                <a:lnTo>
                  <a:pt x="1313821" y="144669"/>
                </a:lnTo>
                <a:lnTo>
                  <a:pt x="1319711" y="151535"/>
                </a:lnTo>
                <a:lnTo>
                  <a:pt x="1335474" y="152742"/>
                </a:lnTo>
                <a:lnTo>
                  <a:pt x="1342341" y="146852"/>
                </a:lnTo>
                <a:lnTo>
                  <a:pt x="1343545" y="131116"/>
                </a:lnTo>
                <a:lnTo>
                  <a:pt x="1337655" y="124250"/>
                </a:lnTo>
                <a:lnTo>
                  <a:pt x="1321892" y="123043"/>
                </a:lnTo>
                <a:close/>
              </a:path>
              <a:path w="1400809" h="157479">
                <a:moveTo>
                  <a:pt x="1264879" y="118680"/>
                </a:moveTo>
                <a:lnTo>
                  <a:pt x="1258013" y="124570"/>
                </a:lnTo>
                <a:lnTo>
                  <a:pt x="1256809" y="140305"/>
                </a:lnTo>
                <a:lnTo>
                  <a:pt x="1262698" y="147171"/>
                </a:lnTo>
                <a:lnTo>
                  <a:pt x="1278463" y="148378"/>
                </a:lnTo>
                <a:lnTo>
                  <a:pt x="1285328" y="142488"/>
                </a:lnTo>
                <a:lnTo>
                  <a:pt x="1286534" y="126752"/>
                </a:lnTo>
                <a:lnTo>
                  <a:pt x="1280643" y="119886"/>
                </a:lnTo>
                <a:lnTo>
                  <a:pt x="1264879" y="118680"/>
                </a:lnTo>
                <a:close/>
              </a:path>
              <a:path w="1400809" h="157479">
                <a:moveTo>
                  <a:pt x="1207867" y="114316"/>
                </a:moveTo>
                <a:lnTo>
                  <a:pt x="1201002" y="120206"/>
                </a:lnTo>
                <a:lnTo>
                  <a:pt x="1199796" y="135941"/>
                </a:lnTo>
                <a:lnTo>
                  <a:pt x="1205687" y="142807"/>
                </a:lnTo>
                <a:lnTo>
                  <a:pt x="1221451" y="144014"/>
                </a:lnTo>
                <a:lnTo>
                  <a:pt x="1228317" y="138124"/>
                </a:lnTo>
                <a:lnTo>
                  <a:pt x="1229522" y="122389"/>
                </a:lnTo>
                <a:lnTo>
                  <a:pt x="1223632" y="115523"/>
                </a:lnTo>
                <a:lnTo>
                  <a:pt x="1207867" y="114316"/>
                </a:lnTo>
                <a:close/>
              </a:path>
              <a:path w="1400809" h="157479">
                <a:moveTo>
                  <a:pt x="1150857" y="109952"/>
                </a:moveTo>
                <a:lnTo>
                  <a:pt x="1143990" y="115841"/>
                </a:lnTo>
                <a:lnTo>
                  <a:pt x="1142785" y="131577"/>
                </a:lnTo>
                <a:lnTo>
                  <a:pt x="1148674" y="138443"/>
                </a:lnTo>
                <a:lnTo>
                  <a:pt x="1164438" y="139651"/>
                </a:lnTo>
                <a:lnTo>
                  <a:pt x="1171305" y="133761"/>
                </a:lnTo>
                <a:lnTo>
                  <a:pt x="1172510" y="118026"/>
                </a:lnTo>
                <a:lnTo>
                  <a:pt x="1166620" y="111159"/>
                </a:lnTo>
                <a:lnTo>
                  <a:pt x="1150857" y="109952"/>
                </a:lnTo>
                <a:close/>
              </a:path>
              <a:path w="1400809" h="157479">
                <a:moveTo>
                  <a:pt x="1093844" y="105588"/>
                </a:moveTo>
                <a:lnTo>
                  <a:pt x="1086977" y="111478"/>
                </a:lnTo>
                <a:lnTo>
                  <a:pt x="1085773" y="127214"/>
                </a:lnTo>
                <a:lnTo>
                  <a:pt x="1091664" y="134080"/>
                </a:lnTo>
                <a:lnTo>
                  <a:pt x="1107427" y="135287"/>
                </a:lnTo>
                <a:lnTo>
                  <a:pt x="1114294" y="129397"/>
                </a:lnTo>
                <a:lnTo>
                  <a:pt x="1115498" y="113661"/>
                </a:lnTo>
                <a:lnTo>
                  <a:pt x="1109609" y="106795"/>
                </a:lnTo>
                <a:lnTo>
                  <a:pt x="1093844" y="105588"/>
                </a:lnTo>
                <a:close/>
              </a:path>
              <a:path w="1400809" h="157479">
                <a:moveTo>
                  <a:pt x="1036833" y="101225"/>
                </a:moveTo>
                <a:lnTo>
                  <a:pt x="1029966" y="107115"/>
                </a:lnTo>
                <a:lnTo>
                  <a:pt x="1028762" y="122850"/>
                </a:lnTo>
                <a:lnTo>
                  <a:pt x="1034651" y="129716"/>
                </a:lnTo>
                <a:lnTo>
                  <a:pt x="1050415" y="130923"/>
                </a:lnTo>
                <a:lnTo>
                  <a:pt x="1057282" y="125033"/>
                </a:lnTo>
                <a:lnTo>
                  <a:pt x="1058486" y="109298"/>
                </a:lnTo>
                <a:lnTo>
                  <a:pt x="1052596" y="102431"/>
                </a:lnTo>
                <a:lnTo>
                  <a:pt x="1036833" y="101225"/>
                </a:lnTo>
                <a:close/>
              </a:path>
              <a:path w="1400809" h="157479">
                <a:moveTo>
                  <a:pt x="979821" y="96861"/>
                </a:moveTo>
                <a:lnTo>
                  <a:pt x="972954" y="102751"/>
                </a:lnTo>
                <a:lnTo>
                  <a:pt x="971750" y="118486"/>
                </a:lnTo>
                <a:lnTo>
                  <a:pt x="977639" y="125353"/>
                </a:lnTo>
                <a:lnTo>
                  <a:pt x="993404" y="126559"/>
                </a:lnTo>
                <a:lnTo>
                  <a:pt x="1000269" y="120670"/>
                </a:lnTo>
                <a:lnTo>
                  <a:pt x="1001475" y="104934"/>
                </a:lnTo>
                <a:lnTo>
                  <a:pt x="995584" y="98068"/>
                </a:lnTo>
                <a:lnTo>
                  <a:pt x="979821" y="96861"/>
                </a:lnTo>
                <a:close/>
              </a:path>
              <a:path w="1400809" h="157479">
                <a:moveTo>
                  <a:pt x="922808" y="92497"/>
                </a:moveTo>
                <a:lnTo>
                  <a:pt x="915941" y="98388"/>
                </a:lnTo>
                <a:lnTo>
                  <a:pt x="914739" y="114124"/>
                </a:lnTo>
                <a:lnTo>
                  <a:pt x="920629" y="120989"/>
                </a:lnTo>
                <a:lnTo>
                  <a:pt x="936392" y="122195"/>
                </a:lnTo>
                <a:lnTo>
                  <a:pt x="943259" y="116305"/>
                </a:lnTo>
                <a:lnTo>
                  <a:pt x="944462" y="100569"/>
                </a:lnTo>
                <a:lnTo>
                  <a:pt x="938571" y="93704"/>
                </a:lnTo>
                <a:lnTo>
                  <a:pt x="922808" y="92497"/>
                </a:lnTo>
                <a:close/>
              </a:path>
              <a:path w="1400809" h="157479">
                <a:moveTo>
                  <a:pt x="865795" y="88134"/>
                </a:moveTo>
                <a:lnTo>
                  <a:pt x="858930" y="94024"/>
                </a:lnTo>
                <a:lnTo>
                  <a:pt x="857726" y="109760"/>
                </a:lnTo>
                <a:lnTo>
                  <a:pt x="863617" y="116626"/>
                </a:lnTo>
                <a:lnTo>
                  <a:pt x="879381" y="117831"/>
                </a:lnTo>
                <a:lnTo>
                  <a:pt x="886246" y="111941"/>
                </a:lnTo>
                <a:lnTo>
                  <a:pt x="887450" y="96206"/>
                </a:lnTo>
                <a:lnTo>
                  <a:pt x="881560" y="89340"/>
                </a:lnTo>
                <a:lnTo>
                  <a:pt x="865795" y="88134"/>
                </a:lnTo>
                <a:close/>
              </a:path>
              <a:path w="1400809" h="157479">
                <a:moveTo>
                  <a:pt x="808784" y="83770"/>
                </a:moveTo>
                <a:lnTo>
                  <a:pt x="801918" y="89660"/>
                </a:lnTo>
                <a:lnTo>
                  <a:pt x="800714" y="105396"/>
                </a:lnTo>
                <a:lnTo>
                  <a:pt x="806604" y="112262"/>
                </a:lnTo>
                <a:lnTo>
                  <a:pt x="822369" y="113468"/>
                </a:lnTo>
                <a:lnTo>
                  <a:pt x="829235" y="107577"/>
                </a:lnTo>
                <a:lnTo>
                  <a:pt x="830439" y="91842"/>
                </a:lnTo>
                <a:lnTo>
                  <a:pt x="824548" y="84976"/>
                </a:lnTo>
                <a:lnTo>
                  <a:pt x="808784" y="83770"/>
                </a:lnTo>
                <a:close/>
              </a:path>
              <a:path w="1400809" h="157479">
                <a:moveTo>
                  <a:pt x="751772" y="79406"/>
                </a:moveTo>
                <a:lnTo>
                  <a:pt x="744907" y="85297"/>
                </a:lnTo>
                <a:lnTo>
                  <a:pt x="743703" y="101032"/>
                </a:lnTo>
                <a:lnTo>
                  <a:pt x="749593" y="107898"/>
                </a:lnTo>
                <a:lnTo>
                  <a:pt x="765357" y="109104"/>
                </a:lnTo>
                <a:lnTo>
                  <a:pt x="772223" y="103214"/>
                </a:lnTo>
                <a:lnTo>
                  <a:pt x="773427" y="87478"/>
                </a:lnTo>
                <a:lnTo>
                  <a:pt x="767537" y="80613"/>
                </a:lnTo>
                <a:lnTo>
                  <a:pt x="751772" y="79406"/>
                </a:lnTo>
                <a:close/>
              </a:path>
              <a:path w="1400809" h="157479">
                <a:moveTo>
                  <a:pt x="694761" y="75043"/>
                </a:moveTo>
                <a:lnTo>
                  <a:pt x="687895" y="80933"/>
                </a:lnTo>
                <a:lnTo>
                  <a:pt x="686691" y="96669"/>
                </a:lnTo>
                <a:lnTo>
                  <a:pt x="692581" y="103535"/>
                </a:lnTo>
                <a:lnTo>
                  <a:pt x="708346" y="104740"/>
                </a:lnTo>
                <a:lnTo>
                  <a:pt x="715211" y="98850"/>
                </a:lnTo>
                <a:lnTo>
                  <a:pt x="716414" y="83115"/>
                </a:lnTo>
                <a:lnTo>
                  <a:pt x="710524" y="76249"/>
                </a:lnTo>
                <a:lnTo>
                  <a:pt x="694761" y="75043"/>
                </a:lnTo>
                <a:close/>
              </a:path>
              <a:path w="1400809" h="157479">
                <a:moveTo>
                  <a:pt x="637749" y="70679"/>
                </a:moveTo>
                <a:lnTo>
                  <a:pt x="630882" y="76569"/>
                </a:lnTo>
                <a:lnTo>
                  <a:pt x="629679" y="92306"/>
                </a:lnTo>
                <a:lnTo>
                  <a:pt x="635570" y="99171"/>
                </a:lnTo>
                <a:lnTo>
                  <a:pt x="651333" y="100377"/>
                </a:lnTo>
                <a:lnTo>
                  <a:pt x="658200" y="94486"/>
                </a:lnTo>
                <a:lnTo>
                  <a:pt x="659403" y="78751"/>
                </a:lnTo>
                <a:lnTo>
                  <a:pt x="653512" y="71885"/>
                </a:lnTo>
                <a:lnTo>
                  <a:pt x="637749" y="70679"/>
                </a:lnTo>
                <a:close/>
              </a:path>
              <a:path w="1400809" h="157479">
                <a:moveTo>
                  <a:pt x="580736" y="66315"/>
                </a:moveTo>
                <a:lnTo>
                  <a:pt x="573871" y="72205"/>
                </a:lnTo>
                <a:lnTo>
                  <a:pt x="572668" y="87942"/>
                </a:lnTo>
                <a:lnTo>
                  <a:pt x="578558" y="94808"/>
                </a:lnTo>
                <a:lnTo>
                  <a:pt x="594321" y="96013"/>
                </a:lnTo>
                <a:lnTo>
                  <a:pt x="601187" y="90123"/>
                </a:lnTo>
                <a:lnTo>
                  <a:pt x="602391" y="74387"/>
                </a:lnTo>
                <a:lnTo>
                  <a:pt x="596501" y="67522"/>
                </a:lnTo>
                <a:lnTo>
                  <a:pt x="580736" y="66315"/>
                </a:lnTo>
                <a:close/>
              </a:path>
              <a:path w="1400809" h="157479">
                <a:moveTo>
                  <a:pt x="523725" y="61951"/>
                </a:moveTo>
                <a:lnTo>
                  <a:pt x="516859" y="67842"/>
                </a:lnTo>
                <a:lnTo>
                  <a:pt x="515655" y="83578"/>
                </a:lnTo>
                <a:lnTo>
                  <a:pt x="521545" y="90444"/>
                </a:lnTo>
                <a:lnTo>
                  <a:pt x="537310" y="91649"/>
                </a:lnTo>
                <a:lnTo>
                  <a:pt x="544175" y="85759"/>
                </a:lnTo>
                <a:lnTo>
                  <a:pt x="545379" y="70023"/>
                </a:lnTo>
                <a:lnTo>
                  <a:pt x="539489" y="63158"/>
                </a:lnTo>
                <a:lnTo>
                  <a:pt x="523725" y="61951"/>
                </a:lnTo>
                <a:close/>
              </a:path>
              <a:path w="1400809" h="157479">
                <a:moveTo>
                  <a:pt x="466713" y="57588"/>
                </a:moveTo>
                <a:lnTo>
                  <a:pt x="459847" y="63478"/>
                </a:lnTo>
                <a:lnTo>
                  <a:pt x="458643" y="79214"/>
                </a:lnTo>
                <a:lnTo>
                  <a:pt x="464534" y="86080"/>
                </a:lnTo>
                <a:lnTo>
                  <a:pt x="480298" y="87285"/>
                </a:lnTo>
                <a:lnTo>
                  <a:pt x="487164" y="81395"/>
                </a:lnTo>
                <a:lnTo>
                  <a:pt x="488368" y="65660"/>
                </a:lnTo>
                <a:lnTo>
                  <a:pt x="482478" y="58794"/>
                </a:lnTo>
                <a:lnTo>
                  <a:pt x="466713" y="57588"/>
                </a:lnTo>
                <a:close/>
              </a:path>
              <a:path w="1400809" h="157479">
                <a:moveTo>
                  <a:pt x="409701" y="53224"/>
                </a:moveTo>
                <a:lnTo>
                  <a:pt x="402836" y="59114"/>
                </a:lnTo>
                <a:lnTo>
                  <a:pt x="401632" y="74851"/>
                </a:lnTo>
                <a:lnTo>
                  <a:pt x="407522" y="81716"/>
                </a:lnTo>
                <a:lnTo>
                  <a:pt x="423287" y="82922"/>
                </a:lnTo>
                <a:lnTo>
                  <a:pt x="430152" y="77031"/>
                </a:lnTo>
                <a:lnTo>
                  <a:pt x="431355" y="61296"/>
                </a:lnTo>
                <a:lnTo>
                  <a:pt x="425465" y="54430"/>
                </a:lnTo>
                <a:lnTo>
                  <a:pt x="409701" y="53224"/>
                </a:lnTo>
                <a:close/>
              </a:path>
              <a:path w="1400809" h="157479">
                <a:moveTo>
                  <a:pt x="352690" y="48860"/>
                </a:moveTo>
                <a:lnTo>
                  <a:pt x="345823" y="54750"/>
                </a:lnTo>
                <a:lnTo>
                  <a:pt x="344620" y="70487"/>
                </a:lnTo>
                <a:lnTo>
                  <a:pt x="350511" y="77353"/>
                </a:lnTo>
                <a:lnTo>
                  <a:pt x="366274" y="78558"/>
                </a:lnTo>
                <a:lnTo>
                  <a:pt x="373141" y="72668"/>
                </a:lnTo>
                <a:lnTo>
                  <a:pt x="374343" y="56932"/>
                </a:lnTo>
                <a:lnTo>
                  <a:pt x="368453" y="50067"/>
                </a:lnTo>
                <a:lnTo>
                  <a:pt x="352690" y="48860"/>
                </a:lnTo>
                <a:close/>
              </a:path>
              <a:path w="1400809" h="157479">
                <a:moveTo>
                  <a:pt x="295677" y="44496"/>
                </a:moveTo>
                <a:lnTo>
                  <a:pt x="288811" y="50387"/>
                </a:lnTo>
                <a:lnTo>
                  <a:pt x="287609" y="66123"/>
                </a:lnTo>
                <a:lnTo>
                  <a:pt x="293499" y="72989"/>
                </a:lnTo>
                <a:lnTo>
                  <a:pt x="309262" y="74194"/>
                </a:lnTo>
                <a:lnTo>
                  <a:pt x="316128" y="68304"/>
                </a:lnTo>
                <a:lnTo>
                  <a:pt x="317332" y="52569"/>
                </a:lnTo>
                <a:lnTo>
                  <a:pt x="311442" y="45703"/>
                </a:lnTo>
                <a:lnTo>
                  <a:pt x="295677" y="44496"/>
                </a:lnTo>
                <a:close/>
              </a:path>
              <a:path w="1400809" h="157479">
                <a:moveTo>
                  <a:pt x="238666" y="40133"/>
                </a:moveTo>
                <a:lnTo>
                  <a:pt x="231800" y="46023"/>
                </a:lnTo>
                <a:lnTo>
                  <a:pt x="230596" y="61760"/>
                </a:lnTo>
                <a:lnTo>
                  <a:pt x="236486" y="68625"/>
                </a:lnTo>
                <a:lnTo>
                  <a:pt x="252251" y="69830"/>
                </a:lnTo>
                <a:lnTo>
                  <a:pt x="259116" y="63940"/>
                </a:lnTo>
                <a:lnTo>
                  <a:pt x="260320" y="48205"/>
                </a:lnTo>
                <a:lnTo>
                  <a:pt x="254430" y="41339"/>
                </a:lnTo>
                <a:lnTo>
                  <a:pt x="238666" y="40133"/>
                </a:lnTo>
                <a:close/>
              </a:path>
              <a:path w="1400809" h="157479">
                <a:moveTo>
                  <a:pt x="181654" y="35769"/>
                </a:moveTo>
                <a:lnTo>
                  <a:pt x="174788" y="41659"/>
                </a:lnTo>
                <a:lnTo>
                  <a:pt x="173584" y="57396"/>
                </a:lnTo>
                <a:lnTo>
                  <a:pt x="179475" y="64262"/>
                </a:lnTo>
                <a:lnTo>
                  <a:pt x="195239" y="65467"/>
                </a:lnTo>
                <a:lnTo>
                  <a:pt x="202105" y="59576"/>
                </a:lnTo>
                <a:lnTo>
                  <a:pt x="203309" y="43841"/>
                </a:lnTo>
                <a:lnTo>
                  <a:pt x="197418" y="36976"/>
                </a:lnTo>
                <a:lnTo>
                  <a:pt x="181654" y="35769"/>
                </a:lnTo>
                <a:close/>
              </a:path>
              <a:path w="1400809" h="157479">
                <a:moveTo>
                  <a:pt x="124642" y="31405"/>
                </a:moveTo>
                <a:lnTo>
                  <a:pt x="117777" y="37296"/>
                </a:lnTo>
                <a:lnTo>
                  <a:pt x="116573" y="53032"/>
                </a:lnTo>
                <a:lnTo>
                  <a:pt x="122463" y="59898"/>
                </a:lnTo>
                <a:lnTo>
                  <a:pt x="138228" y="61103"/>
                </a:lnTo>
                <a:lnTo>
                  <a:pt x="145093" y="55213"/>
                </a:lnTo>
                <a:lnTo>
                  <a:pt x="146296" y="39477"/>
                </a:lnTo>
                <a:lnTo>
                  <a:pt x="140407" y="32612"/>
                </a:lnTo>
                <a:lnTo>
                  <a:pt x="124642" y="31405"/>
                </a:lnTo>
                <a:close/>
              </a:path>
              <a:path w="1400809" h="157479">
                <a:moveTo>
                  <a:pt x="88746" y="0"/>
                </a:moveTo>
                <a:lnTo>
                  <a:pt x="0" y="36194"/>
                </a:lnTo>
                <a:lnTo>
                  <a:pt x="82204" y="85474"/>
                </a:lnTo>
                <a:lnTo>
                  <a:pt x="84403" y="56739"/>
                </a:lnTo>
                <a:lnTo>
                  <a:pt x="81215" y="56739"/>
                </a:lnTo>
                <a:lnTo>
                  <a:pt x="65451" y="55534"/>
                </a:lnTo>
                <a:lnTo>
                  <a:pt x="59561" y="48668"/>
                </a:lnTo>
                <a:lnTo>
                  <a:pt x="60764" y="32932"/>
                </a:lnTo>
                <a:lnTo>
                  <a:pt x="67631" y="27042"/>
                </a:lnTo>
                <a:lnTo>
                  <a:pt x="86676" y="27042"/>
                </a:lnTo>
                <a:lnTo>
                  <a:pt x="88746" y="0"/>
                </a:lnTo>
                <a:close/>
              </a:path>
              <a:path w="1400809" h="157479">
                <a:moveTo>
                  <a:pt x="67631" y="27042"/>
                </a:moveTo>
                <a:lnTo>
                  <a:pt x="60764" y="32932"/>
                </a:lnTo>
                <a:lnTo>
                  <a:pt x="59561" y="48668"/>
                </a:lnTo>
                <a:lnTo>
                  <a:pt x="65451" y="55534"/>
                </a:lnTo>
                <a:lnTo>
                  <a:pt x="81215" y="56739"/>
                </a:lnTo>
                <a:lnTo>
                  <a:pt x="84627" y="53812"/>
                </a:lnTo>
                <a:lnTo>
                  <a:pt x="86323" y="31662"/>
                </a:lnTo>
                <a:lnTo>
                  <a:pt x="83394" y="28248"/>
                </a:lnTo>
                <a:lnTo>
                  <a:pt x="67631" y="27042"/>
                </a:lnTo>
                <a:close/>
              </a:path>
              <a:path w="1400809" h="157479">
                <a:moveTo>
                  <a:pt x="84627" y="53812"/>
                </a:moveTo>
                <a:lnTo>
                  <a:pt x="81215" y="56739"/>
                </a:lnTo>
                <a:lnTo>
                  <a:pt x="84403" y="56739"/>
                </a:lnTo>
                <a:lnTo>
                  <a:pt x="84627" y="53812"/>
                </a:lnTo>
                <a:close/>
              </a:path>
              <a:path w="1400809" h="157479">
                <a:moveTo>
                  <a:pt x="86323" y="31662"/>
                </a:moveTo>
                <a:lnTo>
                  <a:pt x="84627" y="53812"/>
                </a:lnTo>
                <a:lnTo>
                  <a:pt x="88082" y="50849"/>
                </a:lnTo>
                <a:lnTo>
                  <a:pt x="89284" y="35114"/>
                </a:lnTo>
                <a:lnTo>
                  <a:pt x="86323" y="31662"/>
                </a:lnTo>
                <a:close/>
              </a:path>
              <a:path w="1400809" h="157479">
                <a:moveTo>
                  <a:pt x="86676" y="27042"/>
                </a:moveTo>
                <a:lnTo>
                  <a:pt x="67631" y="27042"/>
                </a:lnTo>
                <a:lnTo>
                  <a:pt x="83394" y="28248"/>
                </a:lnTo>
                <a:lnTo>
                  <a:pt x="86323" y="31662"/>
                </a:lnTo>
                <a:lnTo>
                  <a:pt x="86676" y="270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120258" y="5576962"/>
            <a:ext cx="323850" cy="699135"/>
          </a:xfrm>
          <a:custGeom>
            <a:avLst/>
            <a:gdLst/>
            <a:ahLst/>
            <a:cxnLst/>
            <a:rect l="l" t="t" r="r" b="b"/>
            <a:pathLst>
              <a:path w="323850" h="699135">
                <a:moveTo>
                  <a:pt x="14852" y="666128"/>
                </a:moveTo>
                <a:lnTo>
                  <a:pt x="6410" y="669381"/>
                </a:lnTo>
                <a:lnTo>
                  <a:pt x="0" y="683833"/>
                </a:lnTo>
                <a:lnTo>
                  <a:pt x="3253" y="692274"/>
                </a:lnTo>
                <a:lnTo>
                  <a:pt x="17679" y="698674"/>
                </a:lnTo>
                <a:lnTo>
                  <a:pt x="26121" y="695420"/>
                </a:lnTo>
                <a:lnTo>
                  <a:pt x="32532" y="680968"/>
                </a:lnTo>
                <a:lnTo>
                  <a:pt x="29278" y="672527"/>
                </a:lnTo>
                <a:lnTo>
                  <a:pt x="14852" y="666128"/>
                </a:lnTo>
                <a:close/>
              </a:path>
              <a:path w="323850" h="699135">
                <a:moveTo>
                  <a:pt x="38039" y="613861"/>
                </a:moveTo>
                <a:lnTo>
                  <a:pt x="29597" y="617114"/>
                </a:lnTo>
                <a:lnTo>
                  <a:pt x="23186" y="631566"/>
                </a:lnTo>
                <a:lnTo>
                  <a:pt x="26440" y="640007"/>
                </a:lnTo>
                <a:lnTo>
                  <a:pt x="40866" y="646407"/>
                </a:lnTo>
                <a:lnTo>
                  <a:pt x="49306" y="643154"/>
                </a:lnTo>
                <a:lnTo>
                  <a:pt x="55717" y="628702"/>
                </a:lnTo>
                <a:lnTo>
                  <a:pt x="52464" y="620261"/>
                </a:lnTo>
                <a:lnTo>
                  <a:pt x="38039" y="613861"/>
                </a:lnTo>
                <a:close/>
              </a:path>
              <a:path w="323850" h="699135">
                <a:moveTo>
                  <a:pt x="61224" y="561595"/>
                </a:moveTo>
                <a:lnTo>
                  <a:pt x="52783" y="564848"/>
                </a:lnTo>
                <a:lnTo>
                  <a:pt x="46372" y="579300"/>
                </a:lnTo>
                <a:lnTo>
                  <a:pt x="49625" y="587741"/>
                </a:lnTo>
                <a:lnTo>
                  <a:pt x="64051" y="594140"/>
                </a:lnTo>
                <a:lnTo>
                  <a:pt x="72492" y="590887"/>
                </a:lnTo>
                <a:lnTo>
                  <a:pt x="78903" y="576435"/>
                </a:lnTo>
                <a:lnTo>
                  <a:pt x="75650" y="567994"/>
                </a:lnTo>
                <a:lnTo>
                  <a:pt x="61224" y="561595"/>
                </a:lnTo>
                <a:close/>
              </a:path>
              <a:path w="323850" h="699135">
                <a:moveTo>
                  <a:pt x="84409" y="509328"/>
                </a:moveTo>
                <a:lnTo>
                  <a:pt x="75967" y="512582"/>
                </a:lnTo>
                <a:lnTo>
                  <a:pt x="69559" y="527035"/>
                </a:lnTo>
                <a:lnTo>
                  <a:pt x="72812" y="535476"/>
                </a:lnTo>
                <a:lnTo>
                  <a:pt x="87238" y="541874"/>
                </a:lnTo>
                <a:lnTo>
                  <a:pt x="95680" y="538619"/>
                </a:lnTo>
                <a:lnTo>
                  <a:pt x="102088" y="524167"/>
                </a:lnTo>
                <a:lnTo>
                  <a:pt x="98835" y="515726"/>
                </a:lnTo>
                <a:lnTo>
                  <a:pt x="84409" y="509328"/>
                </a:lnTo>
                <a:close/>
              </a:path>
              <a:path w="323850" h="699135">
                <a:moveTo>
                  <a:pt x="107594" y="457061"/>
                </a:moveTo>
                <a:lnTo>
                  <a:pt x="99153" y="460316"/>
                </a:lnTo>
                <a:lnTo>
                  <a:pt x="92744" y="474768"/>
                </a:lnTo>
                <a:lnTo>
                  <a:pt x="95999" y="483209"/>
                </a:lnTo>
                <a:lnTo>
                  <a:pt x="110425" y="489607"/>
                </a:lnTo>
                <a:lnTo>
                  <a:pt x="118865" y="486353"/>
                </a:lnTo>
                <a:lnTo>
                  <a:pt x="125275" y="471900"/>
                </a:lnTo>
                <a:lnTo>
                  <a:pt x="122021" y="463459"/>
                </a:lnTo>
                <a:lnTo>
                  <a:pt x="107594" y="457061"/>
                </a:lnTo>
                <a:close/>
              </a:path>
              <a:path w="323850" h="699135">
                <a:moveTo>
                  <a:pt x="130780" y="404795"/>
                </a:moveTo>
                <a:lnTo>
                  <a:pt x="122340" y="408049"/>
                </a:lnTo>
                <a:lnTo>
                  <a:pt x="115930" y="422502"/>
                </a:lnTo>
                <a:lnTo>
                  <a:pt x="119184" y="430942"/>
                </a:lnTo>
                <a:lnTo>
                  <a:pt x="133611" y="437340"/>
                </a:lnTo>
                <a:lnTo>
                  <a:pt x="142052" y="434086"/>
                </a:lnTo>
                <a:lnTo>
                  <a:pt x="148461" y="419633"/>
                </a:lnTo>
                <a:lnTo>
                  <a:pt x="145206" y="411193"/>
                </a:lnTo>
                <a:lnTo>
                  <a:pt x="130780" y="404795"/>
                </a:lnTo>
                <a:close/>
              </a:path>
              <a:path w="323850" h="699135">
                <a:moveTo>
                  <a:pt x="153970" y="352528"/>
                </a:moveTo>
                <a:lnTo>
                  <a:pt x="145529" y="355780"/>
                </a:lnTo>
                <a:lnTo>
                  <a:pt x="139115" y="370231"/>
                </a:lnTo>
                <a:lnTo>
                  <a:pt x="142368" y="378672"/>
                </a:lnTo>
                <a:lnTo>
                  <a:pt x="156792" y="385074"/>
                </a:lnTo>
                <a:lnTo>
                  <a:pt x="165234" y="381822"/>
                </a:lnTo>
                <a:lnTo>
                  <a:pt x="171648" y="367371"/>
                </a:lnTo>
                <a:lnTo>
                  <a:pt x="168395" y="358929"/>
                </a:lnTo>
                <a:lnTo>
                  <a:pt x="153970" y="352528"/>
                </a:lnTo>
                <a:close/>
              </a:path>
              <a:path w="323850" h="699135">
                <a:moveTo>
                  <a:pt x="177156" y="300261"/>
                </a:moveTo>
                <a:lnTo>
                  <a:pt x="168715" y="303513"/>
                </a:lnTo>
                <a:lnTo>
                  <a:pt x="162302" y="317964"/>
                </a:lnTo>
                <a:lnTo>
                  <a:pt x="165554" y="326406"/>
                </a:lnTo>
                <a:lnTo>
                  <a:pt x="179979" y="332807"/>
                </a:lnTo>
                <a:lnTo>
                  <a:pt x="188421" y="329555"/>
                </a:lnTo>
                <a:lnTo>
                  <a:pt x="194833" y="315104"/>
                </a:lnTo>
                <a:lnTo>
                  <a:pt x="191582" y="306663"/>
                </a:lnTo>
                <a:lnTo>
                  <a:pt x="177156" y="300261"/>
                </a:lnTo>
                <a:close/>
              </a:path>
              <a:path w="323850" h="699135">
                <a:moveTo>
                  <a:pt x="200342" y="247995"/>
                </a:moveTo>
                <a:lnTo>
                  <a:pt x="191900" y="251247"/>
                </a:lnTo>
                <a:lnTo>
                  <a:pt x="185488" y="265698"/>
                </a:lnTo>
                <a:lnTo>
                  <a:pt x="188739" y="274139"/>
                </a:lnTo>
                <a:lnTo>
                  <a:pt x="203164" y="280541"/>
                </a:lnTo>
                <a:lnTo>
                  <a:pt x="211606" y="277289"/>
                </a:lnTo>
                <a:lnTo>
                  <a:pt x="218019" y="262838"/>
                </a:lnTo>
                <a:lnTo>
                  <a:pt x="214767" y="254396"/>
                </a:lnTo>
                <a:lnTo>
                  <a:pt x="200342" y="247995"/>
                </a:lnTo>
                <a:close/>
              </a:path>
              <a:path w="323850" h="699135">
                <a:moveTo>
                  <a:pt x="223528" y="195728"/>
                </a:moveTo>
                <a:lnTo>
                  <a:pt x="215087" y="198980"/>
                </a:lnTo>
                <a:lnTo>
                  <a:pt x="208673" y="213431"/>
                </a:lnTo>
                <a:lnTo>
                  <a:pt x="211926" y="221873"/>
                </a:lnTo>
                <a:lnTo>
                  <a:pt x="226350" y="228274"/>
                </a:lnTo>
                <a:lnTo>
                  <a:pt x="234792" y="225022"/>
                </a:lnTo>
                <a:lnTo>
                  <a:pt x="241206" y="210571"/>
                </a:lnTo>
                <a:lnTo>
                  <a:pt x="237953" y="202129"/>
                </a:lnTo>
                <a:lnTo>
                  <a:pt x="223528" y="195728"/>
                </a:lnTo>
                <a:close/>
              </a:path>
              <a:path w="323850" h="699135">
                <a:moveTo>
                  <a:pt x="246714" y="143461"/>
                </a:moveTo>
                <a:lnTo>
                  <a:pt x="238272" y="146713"/>
                </a:lnTo>
                <a:lnTo>
                  <a:pt x="231860" y="161164"/>
                </a:lnTo>
                <a:lnTo>
                  <a:pt x="235112" y="169606"/>
                </a:lnTo>
                <a:lnTo>
                  <a:pt x="249537" y="176008"/>
                </a:lnTo>
                <a:lnTo>
                  <a:pt x="257978" y="172755"/>
                </a:lnTo>
                <a:lnTo>
                  <a:pt x="264391" y="158304"/>
                </a:lnTo>
                <a:lnTo>
                  <a:pt x="261139" y="149863"/>
                </a:lnTo>
                <a:lnTo>
                  <a:pt x="246714" y="143461"/>
                </a:lnTo>
                <a:close/>
              </a:path>
              <a:path w="323850" h="699135">
                <a:moveTo>
                  <a:pt x="269900" y="91195"/>
                </a:moveTo>
                <a:lnTo>
                  <a:pt x="261458" y="94447"/>
                </a:lnTo>
                <a:lnTo>
                  <a:pt x="255045" y="108898"/>
                </a:lnTo>
                <a:lnTo>
                  <a:pt x="258297" y="117339"/>
                </a:lnTo>
                <a:lnTo>
                  <a:pt x="272722" y="123741"/>
                </a:lnTo>
                <a:lnTo>
                  <a:pt x="281164" y="120489"/>
                </a:lnTo>
                <a:lnTo>
                  <a:pt x="287577" y="106038"/>
                </a:lnTo>
                <a:lnTo>
                  <a:pt x="284325" y="97596"/>
                </a:lnTo>
                <a:lnTo>
                  <a:pt x="269900" y="91195"/>
                </a:lnTo>
                <a:close/>
              </a:path>
              <a:path w="323850" h="699135">
                <a:moveTo>
                  <a:pt x="318985" y="0"/>
                </a:moveTo>
                <a:lnTo>
                  <a:pt x="245043" y="60980"/>
                </a:lnTo>
                <a:lnTo>
                  <a:pt x="323404" y="95741"/>
                </a:lnTo>
                <a:lnTo>
                  <a:pt x="3189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8071279" y="4897120"/>
            <a:ext cx="1377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90">
                <a:latin typeface="Cambria Math"/>
                <a:cs typeface="Cambria Math"/>
              </a:rPr>
              <a:t>+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  <p:sp>
        <p:nvSpPr>
          <p:cNvPr id="36" name="object 36"/>
          <p:cNvSpPr txBox="1"/>
          <p:nvPr/>
        </p:nvSpPr>
        <p:spPr>
          <a:xfrm>
            <a:off x="7931579" y="4641595"/>
            <a:ext cx="585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320" sz="2700" spc="44">
                <a:latin typeface="Cambria Math"/>
                <a:cs typeface="Cambria Math"/>
              </a:rPr>
              <a:t>𝐡</a:t>
            </a:r>
            <a:r>
              <a:rPr dirty="0" sz="1300" spc="30">
                <a:latin typeface="Cambria Math"/>
                <a:cs typeface="Cambria Math"/>
              </a:rPr>
              <a:t>("#$)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08898" y="5750559"/>
            <a:ext cx="1257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515">
                <a:latin typeface="Cambria Math"/>
                <a:cs typeface="Cambria Math"/>
              </a:rPr>
              <a:t>,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269198" y="5495035"/>
            <a:ext cx="585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320" sz="2700" spc="44">
                <a:latin typeface="Cambria Math"/>
                <a:cs typeface="Cambria Math"/>
              </a:rPr>
              <a:t>𝐡</a:t>
            </a:r>
            <a:r>
              <a:rPr dirty="0" sz="1300" spc="30">
                <a:latin typeface="Cambria Math"/>
                <a:cs typeface="Cambria Math"/>
              </a:rPr>
              <a:t>("#$)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75072" y="5306060"/>
            <a:ext cx="3638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2345" sz="2700" spc="-142">
                <a:solidFill>
                  <a:srgbClr val="6BB76D"/>
                </a:solidFill>
                <a:latin typeface="Cambria Math"/>
                <a:cs typeface="Cambria Math"/>
              </a:rPr>
              <a:t>𝛼</a:t>
            </a:r>
            <a:r>
              <a:rPr dirty="0" sz="1300" spc="415">
                <a:solidFill>
                  <a:srgbClr val="6BB76D"/>
                </a:solidFill>
                <a:latin typeface="Cambria Math"/>
                <a:cs typeface="Cambria Math"/>
              </a:rPr>
              <a:t>*,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66330" y="5772403"/>
            <a:ext cx="3822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 spc="-142">
                <a:solidFill>
                  <a:srgbClr val="0070C0"/>
                </a:solidFill>
                <a:latin typeface="Cambria Math"/>
                <a:cs typeface="Cambria Math"/>
              </a:rPr>
              <a:t>𝛼</a:t>
            </a:r>
            <a:r>
              <a:rPr dirty="0" sz="1300" spc="405">
                <a:solidFill>
                  <a:srgbClr val="0070C0"/>
                </a:solidFill>
                <a:latin typeface="Cambria Math"/>
                <a:cs typeface="Cambria Math"/>
              </a:rPr>
              <a:t>*-</a:t>
            </a:r>
            <a:endParaRPr sz="1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077712" cy="536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4098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008000"/>
                </a:solidFill>
              </a:rPr>
              <a:t>What </a:t>
            </a:r>
            <a:r>
              <a:rPr dirty="0">
                <a:solidFill>
                  <a:srgbClr val="008000"/>
                </a:solidFill>
              </a:rPr>
              <a:t>is </a:t>
            </a:r>
            <a:r>
              <a:rPr dirty="0" spc="-5">
                <a:solidFill>
                  <a:srgbClr val="008000"/>
                </a:solidFill>
              </a:rPr>
              <a:t>the </a:t>
            </a:r>
            <a:r>
              <a:rPr dirty="0" spc="-15">
                <a:solidFill>
                  <a:srgbClr val="008000"/>
                </a:solidFill>
              </a:rPr>
              <a:t>form </a:t>
            </a:r>
            <a:r>
              <a:rPr dirty="0">
                <a:solidFill>
                  <a:srgbClr val="008000"/>
                </a:solidFill>
              </a:rPr>
              <a:t>of </a:t>
            </a:r>
            <a:r>
              <a:rPr dirty="0" spc="-20">
                <a:solidFill>
                  <a:srgbClr val="008000"/>
                </a:solidFill>
              </a:rPr>
              <a:t>attention </a:t>
            </a:r>
            <a:r>
              <a:rPr dirty="0" spc="-5">
                <a:solidFill>
                  <a:srgbClr val="008000"/>
                </a:solidFill>
              </a:rPr>
              <a:t>mechanism</a:t>
            </a:r>
            <a:r>
              <a:rPr dirty="0" spc="15">
                <a:solidFill>
                  <a:srgbClr val="008000"/>
                </a:solidFill>
              </a:rPr>
              <a:t> </a:t>
            </a:r>
            <a:r>
              <a:rPr dirty="0" b="0">
                <a:solidFill>
                  <a:srgbClr val="008000"/>
                </a:solidFill>
                <a:latin typeface="Cambria Math"/>
                <a:cs typeface="Cambria Math"/>
              </a:rPr>
              <a:t>𝒂</a:t>
            </a:r>
            <a:r>
              <a:rPr dirty="0">
                <a:solidFill>
                  <a:srgbClr val="008000"/>
                </a:solidFill>
              </a:rPr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25921"/>
            <a:ext cx="6621780" cy="136525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marR="140970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approach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>
                <a:latin typeface="Calibri"/>
                <a:cs typeface="Calibri"/>
              </a:rPr>
              <a:t>agnostic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the choice of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𝑎</a:t>
            </a:r>
            <a:endParaRPr sz="2800">
              <a:latin typeface="Cambria Math"/>
              <a:cs typeface="Cambria Math"/>
            </a:endParaRPr>
          </a:p>
          <a:p>
            <a:pPr lvl="1" marL="552450" marR="17843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E.g., </a:t>
            </a:r>
            <a:r>
              <a:rPr dirty="0" sz="2400" spc="-5">
                <a:latin typeface="Calibri"/>
                <a:cs typeface="Calibri"/>
              </a:rPr>
              <a:t>use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>
                <a:latin typeface="Calibri"/>
                <a:cs typeface="Calibri"/>
              </a:rPr>
              <a:t>simple </a:t>
            </a:r>
            <a:r>
              <a:rPr dirty="0" sz="2400" spc="-10">
                <a:latin typeface="Calibri"/>
                <a:cs typeface="Calibri"/>
              </a:rPr>
              <a:t>single-layer neural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lvl="2" marL="771525" indent="-182880">
              <a:lnSpc>
                <a:spcPct val="100000"/>
              </a:lnSpc>
              <a:spcBef>
                <a:spcPts val="515"/>
              </a:spcBef>
              <a:buClr>
                <a:srgbClr val="6BB76D"/>
              </a:buClr>
              <a:buFont typeface="Malgun Gothic"/>
              <a:buChar char="▪"/>
              <a:tabLst>
                <a:tab pos="771525" algn="l"/>
              </a:tabLst>
            </a:pPr>
            <a:r>
              <a:rPr dirty="0" sz="2000">
                <a:latin typeface="Cambria Math"/>
                <a:cs typeface="Cambria Math"/>
              </a:rPr>
              <a:t>𝑎 </a:t>
            </a:r>
            <a:r>
              <a:rPr dirty="0" sz="2000" spc="-15">
                <a:latin typeface="Calibri"/>
                <a:cs typeface="Calibri"/>
              </a:rPr>
              <a:t>have </a:t>
            </a:r>
            <a:r>
              <a:rPr dirty="0" sz="2000" spc="-10">
                <a:latin typeface="Calibri"/>
                <a:cs typeface="Calibri"/>
              </a:rPr>
              <a:t>trainable </a:t>
            </a:r>
            <a:r>
              <a:rPr dirty="0" sz="2000" spc="-15">
                <a:latin typeface="Calibri"/>
                <a:cs typeface="Calibri"/>
              </a:rPr>
              <a:t>parameters </a:t>
            </a:r>
            <a:r>
              <a:rPr dirty="0" sz="2000" spc="-10">
                <a:latin typeface="Calibri"/>
                <a:cs typeface="Calibri"/>
              </a:rPr>
              <a:t>(weights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-5">
                <a:latin typeface="Calibri"/>
                <a:cs typeface="Calibri"/>
              </a:rPr>
              <a:t>the Linear  </a:t>
            </a:r>
            <a:r>
              <a:rPr dirty="0" sz="2000" spc="-45">
                <a:latin typeface="Calibri"/>
                <a:cs typeface="Calibri"/>
              </a:rPr>
              <a:t>layer)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4681897"/>
            <a:ext cx="7646670" cy="173164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25">
                <a:solidFill>
                  <a:srgbClr val="0000FF"/>
                </a:solidFill>
                <a:latin typeface="Calibri"/>
                <a:cs typeface="Calibri"/>
              </a:rPr>
              <a:t>Parameters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𝑎 </a:t>
            </a:r>
            <a:r>
              <a:rPr dirty="0" sz="2800" spc="-20">
                <a:solidFill>
                  <a:srgbClr val="0000FF"/>
                </a:solidFill>
                <a:latin typeface="Calibri"/>
                <a:cs typeface="Calibri"/>
              </a:rPr>
              <a:t>are </a:t>
            </a:r>
            <a:r>
              <a:rPr dirty="0" sz="2800" spc="-15">
                <a:solidFill>
                  <a:srgbClr val="0000FF"/>
                </a:solidFill>
                <a:latin typeface="Calibri"/>
                <a:cs typeface="Calibri"/>
              </a:rPr>
              <a:t>trained</a:t>
            </a:r>
            <a:r>
              <a:rPr dirty="0" sz="2800" spc="1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0000FF"/>
                </a:solidFill>
                <a:latin typeface="Calibri"/>
                <a:cs typeface="Calibri"/>
              </a:rPr>
              <a:t>jointly:</a:t>
            </a:r>
            <a:endParaRPr sz="2800">
              <a:latin typeface="Calibri"/>
              <a:cs typeface="Calibri"/>
            </a:endParaRPr>
          </a:p>
          <a:p>
            <a:pPr algn="just" lvl="1" marL="552450" marR="5080" indent="-228600">
              <a:lnSpc>
                <a:spcPct val="100800"/>
              </a:lnSpc>
              <a:spcBef>
                <a:spcPts val="61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Learn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parameters </a:t>
            </a:r>
            <a:r>
              <a:rPr dirty="0" sz="2400" spc="-10">
                <a:latin typeface="Calibri"/>
                <a:cs typeface="Calibri"/>
              </a:rPr>
              <a:t>together </a:t>
            </a:r>
            <a:r>
              <a:rPr dirty="0" sz="2400" spc="-5">
                <a:latin typeface="Calibri"/>
                <a:cs typeface="Calibri"/>
              </a:rPr>
              <a:t>with </a:t>
            </a:r>
            <a:r>
              <a:rPr dirty="0" sz="2400" spc="-10">
                <a:latin typeface="Calibri"/>
                <a:cs typeface="Calibri"/>
              </a:rPr>
              <a:t>weight </a:t>
            </a:r>
            <a:r>
              <a:rPr dirty="0" sz="2400" spc="-5">
                <a:latin typeface="Calibri"/>
                <a:cs typeface="Calibri"/>
              </a:rPr>
              <a:t>matrices (i.e.,  other </a:t>
            </a:r>
            <a:r>
              <a:rPr dirty="0" sz="2400" spc="-15">
                <a:latin typeface="Calibri"/>
                <a:cs typeface="Calibri"/>
              </a:rPr>
              <a:t>parameter </a:t>
            </a:r>
            <a:r>
              <a:rPr dirty="0" sz="2400" spc="-5">
                <a:latin typeface="Calibri"/>
                <a:cs typeface="Calibri"/>
              </a:rPr>
              <a:t>of the </a:t>
            </a:r>
            <a:r>
              <a:rPr dirty="0" sz="2400" spc="-10">
                <a:latin typeface="Calibri"/>
                <a:cs typeface="Calibri"/>
              </a:rPr>
              <a:t>neural </a:t>
            </a:r>
            <a:r>
              <a:rPr dirty="0" sz="2400" spc="-5">
                <a:latin typeface="Calibri"/>
                <a:cs typeface="Calibri"/>
              </a:rPr>
              <a:t>net </a:t>
            </a:r>
            <a:r>
              <a:rPr dirty="0" sz="2400" spc="-170">
                <a:latin typeface="Cambria Math"/>
                <a:cs typeface="Cambria Math"/>
              </a:rPr>
              <a:t>𝐖</a:t>
            </a:r>
            <a:r>
              <a:rPr dirty="0" baseline="26234" sz="2700" spc="-254">
                <a:latin typeface="Cambria Math"/>
                <a:cs typeface="Cambria Math"/>
              </a:rPr>
              <a:t>(%)</a:t>
            </a:r>
            <a:r>
              <a:rPr dirty="0" sz="2400" spc="-170">
                <a:latin typeface="Calibri"/>
                <a:cs typeface="Calibri"/>
              </a:rPr>
              <a:t>)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>
                <a:latin typeface="Calibri"/>
                <a:cs typeface="Calibri"/>
              </a:rPr>
              <a:t>an </a:t>
            </a:r>
            <a:r>
              <a:rPr dirty="0" sz="2400" spc="-5">
                <a:latin typeface="Calibri"/>
                <a:cs typeface="Calibri"/>
              </a:rPr>
              <a:t>end-to-end  </a:t>
            </a:r>
            <a:r>
              <a:rPr dirty="0" sz="2400" spc="-10">
                <a:latin typeface="Calibri"/>
                <a:cs typeface="Calibri"/>
              </a:rPr>
              <a:t>fashion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05493" y="3527916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4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05493" y="3527916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4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05493" y="3924300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4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05493" y="3924300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4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95008" y="3617739"/>
            <a:ext cx="2550160" cy="419100"/>
          </a:xfrm>
          <a:custGeom>
            <a:avLst/>
            <a:gdLst/>
            <a:ahLst/>
            <a:cxnLst/>
            <a:rect l="l" t="t" r="r" b="b"/>
            <a:pathLst>
              <a:path w="2550159" h="419100">
                <a:moveTo>
                  <a:pt x="2459142" y="0"/>
                </a:moveTo>
                <a:lnTo>
                  <a:pt x="2455174" y="9922"/>
                </a:lnTo>
                <a:lnTo>
                  <a:pt x="2470789" y="22615"/>
                </a:lnTo>
                <a:lnTo>
                  <a:pt x="2484645" y="39114"/>
                </a:lnTo>
                <a:lnTo>
                  <a:pt x="2507077" y="83530"/>
                </a:lnTo>
                <a:lnTo>
                  <a:pt x="2521263" y="141061"/>
                </a:lnTo>
                <a:lnTo>
                  <a:pt x="2525991" y="209599"/>
                </a:lnTo>
                <a:lnTo>
                  <a:pt x="2524817" y="244682"/>
                </a:lnTo>
                <a:lnTo>
                  <a:pt x="2515422" y="307314"/>
                </a:lnTo>
                <a:lnTo>
                  <a:pt x="2496904" y="359218"/>
                </a:lnTo>
                <a:lnTo>
                  <a:pt x="2470890" y="396302"/>
                </a:lnTo>
                <a:lnTo>
                  <a:pt x="2455174" y="409030"/>
                </a:lnTo>
                <a:lnTo>
                  <a:pt x="2459142" y="418951"/>
                </a:lnTo>
                <a:lnTo>
                  <a:pt x="2496427" y="389124"/>
                </a:lnTo>
                <a:lnTo>
                  <a:pt x="2525185" y="341312"/>
                </a:lnTo>
                <a:lnTo>
                  <a:pt x="2543556" y="279921"/>
                </a:lnTo>
                <a:lnTo>
                  <a:pt x="2549679" y="209351"/>
                </a:lnTo>
                <a:lnTo>
                  <a:pt x="2548149" y="172734"/>
                </a:lnTo>
                <a:lnTo>
                  <a:pt x="2535901" y="106753"/>
                </a:lnTo>
                <a:lnTo>
                  <a:pt x="2511872" y="51439"/>
                </a:lnTo>
                <a:lnTo>
                  <a:pt x="2478851" y="12743"/>
                </a:lnTo>
                <a:lnTo>
                  <a:pt x="2459142" y="0"/>
                </a:lnTo>
                <a:close/>
              </a:path>
              <a:path w="2550159" h="419100">
                <a:moveTo>
                  <a:pt x="90413" y="0"/>
                </a:moveTo>
                <a:lnTo>
                  <a:pt x="53222" y="29890"/>
                </a:lnTo>
                <a:lnTo>
                  <a:pt x="24494" y="77391"/>
                </a:lnTo>
                <a:lnTo>
                  <a:pt x="6123" y="138534"/>
                </a:lnTo>
                <a:lnTo>
                  <a:pt x="0" y="209351"/>
                </a:lnTo>
                <a:lnTo>
                  <a:pt x="1530" y="245783"/>
                </a:lnTo>
                <a:lnTo>
                  <a:pt x="13778" y="311764"/>
                </a:lnTo>
                <a:lnTo>
                  <a:pt x="37800" y="367466"/>
                </a:lnTo>
                <a:lnTo>
                  <a:pt x="70759" y="406285"/>
                </a:lnTo>
                <a:lnTo>
                  <a:pt x="90413" y="418951"/>
                </a:lnTo>
                <a:lnTo>
                  <a:pt x="94505" y="409030"/>
                </a:lnTo>
                <a:lnTo>
                  <a:pt x="78739" y="396302"/>
                </a:lnTo>
                <a:lnTo>
                  <a:pt x="64802" y="379698"/>
                </a:lnTo>
                <a:lnTo>
                  <a:pt x="42416" y="334863"/>
                </a:lnTo>
                <a:lnTo>
                  <a:pt x="28371" y="277254"/>
                </a:lnTo>
                <a:lnTo>
                  <a:pt x="23689" y="209599"/>
                </a:lnTo>
                <a:lnTo>
                  <a:pt x="24871" y="173954"/>
                </a:lnTo>
                <a:lnTo>
                  <a:pt x="34327" y="110920"/>
                </a:lnTo>
                <a:lnTo>
                  <a:pt x="52939" y="59419"/>
                </a:lnTo>
                <a:lnTo>
                  <a:pt x="78890" y="22615"/>
                </a:lnTo>
                <a:lnTo>
                  <a:pt x="94505" y="9922"/>
                </a:lnTo>
                <a:lnTo>
                  <a:pt x="904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370592" y="3497579"/>
            <a:ext cx="3376929" cy="530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90"/>
              </a:lnSpc>
              <a:spcBef>
                <a:spcPts val="100"/>
              </a:spcBef>
              <a:tabLst>
                <a:tab pos="1026794" algn="l"/>
              </a:tabLst>
            </a:pPr>
            <a:r>
              <a:rPr dirty="0" baseline="-29166" sz="3000" spc="262">
                <a:solidFill>
                  <a:srgbClr val="0000FF"/>
                </a:solidFill>
                <a:latin typeface="Cambria Math"/>
                <a:cs typeface="Cambria Math"/>
              </a:rPr>
              <a:t>𝑒</a:t>
            </a:r>
            <a:r>
              <a:rPr dirty="0" baseline="-53703" sz="2250" spc="262">
                <a:solidFill>
                  <a:srgbClr val="0000FF"/>
                </a:solidFill>
                <a:latin typeface="Cambria Math"/>
                <a:cs typeface="Cambria Math"/>
              </a:rPr>
              <a:t>)*</a:t>
            </a:r>
            <a:r>
              <a:rPr dirty="0" baseline="-53703" sz="2250" spc="209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baseline="-29166" sz="3000">
                <a:latin typeface="Cambria Math"/>
                <a:cs typeface="Cambria Math"/>
              </a:rPr>
              <a:t>=</a:t>
            </a:r>
            <a:r>
              <a:rPr dirty="0" baseline="-29166" sz="3000" spc="172">
                <a:latin typeface="Cambria Math"/>
                <a:cs typeface="Cambria Math"/>
              </a:rPr>
              <a:t> </a:t>
            </a:r>
            <a:r>
              <a:rPr dirty="0" baseline="-29166" sz="3000">
                <a:latin typeface="Cambria Math"/>
                <a:cs typeface="Cambria Math"/>
              </a:rPr>
              <a:t>𝑎	</a:t>
            </a:r>
            <a:r>
              <a:rPr dirty="0" baseline="-29166" sz="3000" spc="-15">
                <a:latin typeface="Cambria Math"/>
                <a:cs typeface="Cambria Math"/>
              </a:rPr>
              <a:t>𝐖</a:t>
            </a:r>
            <a:r>
              <a:rPr dirty="0" baseline="-12962" sz="2250" spc="-15">
                <a:latin typeface="Cambria Math"/>
                <a:cs typeface="Cambria Math"/>
              </a:rPr>
              <a:t>(!)</a:t>
            </a:r>
            <a:r>
              <a:rPr dirty="0" baseline="-29166" sz="3000" spc="-15">
                <a:latin typeface="Cambria Math"/>
                <a:cs typeface="Cambria Math"/>
              </a:rPr>
              <a:t>𝐡</a:t>
            </a:r>
            <a:r>
              <a:rPr dirty="0" sz="1500" spc="-10">
                <a:latin typeface="Cambria Math"/>
                <a:cs typeface="Cambria Math"/>
              </a:rPr>
              <a:t>(!%&amp;)</a:t>
            </a:r>
            <a:r>
              <a:rPr dirty="0" baseline="-29166" sz="3000" spc="-15">
                <a:latin typeface="Cambria Math"/>
                <a:cs typeface="Cambria Math"/>
              </a:rPr>
              <a:t>,</a:t>
            </a:r>
            <a:r>
              <a:rPr dirty="0" baseline="-29166" sz="3000" spc="-217">
                <a:latin typeface="Cambria Math"/>
                <a:cs typeface="Cambria Math"/>
              </a:rPr>
              <a:t> </a:t>
            </a:r>
            <a:r>
              <a:rPr dirty="0" baseline="-29166" sz="3000" spc="-22">
                <a:latin typeface="Cambria Math"/>
                <a:cs typeface="Cambria Math"/>
              </a:rPr>
              <a:t>𝐖</a:t>
            </a:r>
            <a:r>
              <a:rPr dirty="0" baseline="-12962" sz="2250" spc="-22">
                <a:latin typeface="Cambria Math"/>
                <a:cs typeface="Cambria Math"/>
              </a:rPr>
              <a:t>(!)</a:t>
            </a:r>
            <a:r>
              <a:rPr dirty="0" baseline="-29166" sz="3000" spc="-22">
                <a:latin typeface="Cambria Math"/>
                <a:cs typeface="Cambria Math"/>
              </a:rPr>
              <a:t>𝐡</a:t>
            </a:r>
            <a:r>
              <a:rPr dirty="0" sz="1500" spc="-15">
                <a:latin typeface="Cambria Math"/>
                <a:cs typeface="Cambria Math"/>
              </a:rPr>
              <a:t>(!%&amp;)</a:t>
            </a:r>
            <a:endParaRPr sz="1500">
              <a:latin typeface="Cambria Math"/>
              <a:cs typeface="Cambria Math"/>
            </a:endParaRPr>
          </a:p>
          <a:p>
            <a:pPr marL="1661795">
              <a:lnSpc>
                <a:spcPts val="1689"/>
              </a:lnSpc>
              <a:tabLst>
                <a:tab pos="2893695" algn="l"/>
              </a:tabLst>
            </a:pPr>
            <a:r>
              <a:rPr dirty="0" sz="1500" spc="365">
                <a:latin typeface="Cambria Math"/>
                <a:cs typeface="Cambria Math"/>
              </a:rPr>
              <a:t>)	</a:t>
            </a:r>
            <a:r>
              <a:rPr dirty="0" sz="1500" spc="375">
                <a:latin typeface="Cambria Math"/>
                <a:cs typeface="Cambria Math"/>
              </a:rPr>
              <a:t>*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07870" y="4071677"/>
            <a:ext cx="3586479" cy="502284"/>
          </a:xfrm>
          <a:custGeom>
            <a:avLst/>
            <a:gdLst/>
            <a:ahLst/>
            <a:cxnLst/>
            <a:rect l="l" t="t" r="r" b="b"/>
            <a:pathLst>
              <a:path w="3586479" h="502285">
                <a:moveTo>
                  <a:pt x="3496762" y="0"/>
                </a:moveTo>
                <a:lnTo>
                  <a:pt x="3489569" y="8309"/>
                </a:lnTo>
                <a:lnTo>
                  <a:pt x="3504576" y="24835"/>
                </a:lnTo>
                <a:lnTo>
                  <a:pt x="3518219" y="45392"/>
                </a:lnTo>
                <a:lnTo>
                  <a:pt x="3541412" y="98598"/>
                </a:lnTo>
                <a:lnTo>
                  <a:pt x="3556759" y="167307"/>
                </a:lnTo>
                <a:lnTo>
                  <a:pt x="3560596" y="207242"/>
                </a:lnTo>
                <a:lnTo>
                  <a:pt x="3561875" y="250898"/>
                </a:lnTo>
                <a:lnTo>
                  <a:pt x="3560596" y="294555"/>
                </a:lnTo>
                <a:lnTo>
                  <a:pt x="3556759" y="334491"/>
                </a:lnTo>
                <a:lnTo>
                  <a:pt x="3541412" y="403199"/>
                </a:lnTo>
                <a:lnTo>
                  <a:pt x="3518219" y="456406"/>
                </a:lnTo>
                <a:lnTo>
                  <a:pt x="3489569" y="493488"/>
                </a:lnTo>
                <a:lnTo>
                  <a:pt x="3496762" y="501798"/>
                </a:lnTo>
                <a:lnTo>
                  <a:pt x="3530311" y="464854"/>
                </a:lnTo>
                <a:lnTo>
                  <a:pt x="3559270" y="410082"/>
                </a:lnTo>
                <a:lnTo>
                  <a:pt x="3579269" y="338413"/>
                </a:lnTo>
                <a:lnTo>
                  <a:pt x="3584269" y="296590"/>
                </a:lnTo>
                <a:lnTo>
                  <a:pt x="3585935" y="250775"/>
                </a:lnTo>
                <a:lnTo>
                  <a:pt x="3584269" y="205069"/>
                </a:lnTo>
                <a:lnTo>
                  <a:pt x="3579269" y="163323"/>
                </a:lnTo>
                <a:lnTo>
                  <a:pt x="3570936" y="125539"/>
                </a:lnTo>
                <a:lnTo>
                  <a:pt x="3545364" y="62100"/>
                </a:lnTo>
                <a:lnTo>
                  <a:pt x="3514110" y="16242"/>
                </a:lnTo>
                <a:lnTo>
                  <a:pt x="3496762" y="0"/>
                </a:lnTo>
                <a:close/>
              </a:path>
              <a:path w="3586479" h="502285">
                <a:moveTo>
                  <a:pt x="89168" y="0"/>
                </a:moveTo>
                <a:lnTo>
                  <a:pt x="55620" y="36943"/>
                </a:lnTo>
                <a:lnTo>
                  <a:pt x="26660" y="91715"/>
                </a:lnTo>
                <a:lnTo>
                  <a:pt x="6661" y="163323"/>
                </a:lnTo>
                <a:lnTo>
                  <a:pt x="1662" y="205069"/>
                </a:lnTo>
                <a:lnTo>
                  <a:pt x="0" y="250898"/>
                </a:lnTo>
                <a:lnTo>
                  <a:pt x="1662" y="296590"/>
                </a:lnTo>
                <a:lnTo>
                  <a:pt x="6661" y="338413"/>
                </a:lnTo>
                <a:lnTo>
                  <a:pt x="14994" y="376244"/>
                </a:lnTo>
                <a:lnTo>
                  <a:pt x="40566" y="439697"/>
                </a:lnTo>
                <a:lnTo>
                  <a:pt x="71820" y="485555"/>
                </a:lnTo>
                <a:lnTo>
                  <a:pt x="89168" y="501798"/>
                </a:lnTo>
                <a:lnTo>
                  <a:pt x="96361" y="493488"/>
                </a:lnTo>
                <a:lnTo>
                  <a:pt x="81355" y="476963"/>
                </a:lnTo>
                <a:lnTo>
                  <a:pt x="67712" y="456406"/>
                </a:lnTo>
                <a:lnTo>
                  <a:pt x="44520" y="403199"/>
                </a:lnTo>
                <a:lnTo>
                  <a:pt x="29172" y="334491"/>
                </a:lnTo>
                <a:lnTo>
                  <a:pt x="25335" y="294555"/>
                </a:lnTo>
                <a:lnTo>
                  <a:pt x="24060" y="250775"/>
                </a:lnTo>
                <a:lnTo>
                  <a:pt x="25335" y="207242"/>
                </a:lnTo>
                <a:lnTo>
                  <a:pt x="29172" y="167307"/>
                </a:lnTo>
                <a:lnTo>
                  <a:pt x="44520" y="98598"/>
                </a:lnTo>
                <a:lnTo>
                  <a:pt x="67712" y="45392"/>
                </a:lnTo>
                <a:lnTo>
                  <a:pt x="96361" y="8309"/>
                </a:lnTo>
                <a:lnTo>
                  <a:pt x="89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317866" y="4113039"/>
            <a:ext cx="2550160" cy="419100"/>
          </a:xfrm>
          <a:custGeom>
            <a:avLst/>
            <a:gdLst/>
            <a:ahLst/>
            <a:cxnLst/>
            <a:rect l="l" t="t" r="r" b="b"/>
            <a:pathLst>
              <a:path w="2550159" h="419100">
                <a:moveTo>
                  <a:pt x="2459142" y="0"/>
                </a:moveTo>
                <a:lnTo>
                  <a:pt x="2455174" y="9922"/>
                </a:lnTo>
                <a:lnTo>
                  <a:pt x="2470789" y="22615"/>
                </a:lnTo>
                <a:lnTo>
                  <a:pt x="2484645" y="39114"/>
                </a:lnTo>
                <a:lnTo>
                  <a:pt x="2507077" y="83530"/>
                </a:lnTo>
                <a:lnTo>
                  <a:pt x="2521263" y="141061"/>
                </a:lnTo>
                <a:lnTo>
                  <a:pt x="2525991" y="209599"/>
                </a:lnTo>
                <a:lnTo>
                  <a:pt x="2524817" y="244682"/>
                </a:lnTo>
                <a:lnTo>
                  <a:pt x="2515422" y="307314"/>
                </a:lnTo>
                <a:lnTo>
                  <a:pt x="2496904" y="359218"/>
                </a:lnTo>
                <a:lnTo>
                  <a:pt x="2470890" y="396302"/>
                </a:lnTo>
                <a:lnTo>
                  <a:pt x="2455174" y="409030"/>
                </a:lnTo>
                <a:lnTo>
                  <a:pt x="2459142" y="418951"/>
                </a:lnTo>
                <a:lnTo>
                  <a:pt x="2496427" y="389124"/>
                </a:lnTo>
                <a:lnTo>
                  <a:pt x="2525185" y="341312"/>
                </a:lnTo>
                <a:lnTo>
                  <a:pt x="2543556" y="279921"/>
                </a:lnTo>
                <a:lnTo>
                  <a:pt x="2549679" y="209351"/>
                </a:lnTo>
                <a:lnTo>
                  <a:pt x="2548149" y="172734"/>
                </a:lnTo>
                <a:lnTo>
                  <a:pt x="2535901" y="106753"/>
                </a:lnTo>
                <a:lnTo>
                  <a:pt x="2511872" y="51439"/>
                </a:lnTo>
                <a:lnTo>
                  <a:pt x="2478851" y="12743"/>
                </a:lnTo>
                <a:lnTo>
                  <a:pt x="2459142" y="0"/>
                </a:lnTo>
                <a:close/>
              </a:path>
              <a:path w="2550159" h="419100">
                <a:moveTo>
                  <a:pt x="90413" y="0"/>
                </a:moveTo>
                <a:lnTo>
                  <a:pt x="53221" y="29890"/>
                </a:lnTo>
                <a:lnTo>
                  <a:pt x="24494" y="77391"/>
                </a:lnTo>
                <a:lnTo>
                  <a:pt x="6123" y="138534"/>
                </a:lnTo>
                <a:lnTo>
                  <a:pt x="0" y="209351"/>
                </a:lnTo>
                <a:lnTo>
                  <a:pt x="1530" y="245783"/>
                </a:lnTo>
                <a:lnTo>
                  <a:pt x="13778" y="311764"/>
                </a:lnTo>
                <a:lnTo>
                  <a:pt x="37799" y="367466"/>
                </a:lnTo>
                <a:lnTo>
                  <a:pt x="70759" y="406285"/>
                </a:lnTo>
                <a:lnTo>
                  <a:pt x="90413" y="418951"/>
                </a:lnTo>
                <a:lnTo>
                  <a:pt x="94505" y="409030"/>
                </a:lnTo>
                <a:lnTo>
                  <a:pt x="78739" y="396302"/>
                </a:lnTo>
                <a:lnTo>
                  <a:pt x="64802" y="379698"/>
                </a:lnTo>
                <a:lnTo>
                  <a:pt x="42416" y="334863"/>
                </a:lnTo>
                <a:lnTo>
                  <a:pt x="28371" y="277254"/>
                </a:lnTo>
                <a:lnTo>
                  <a:pt x="23689" y="209599"/>
                </a:lnTo>
                <a:lnTo>
                  <a:pt x="24871" y="173954"/>
                </a:lnTo>
                <a:lnTo>
                  <a:pt x="34327" y="110920"/>
                </a:lnTo>
                <a:lnTo>
                  <a:pt x="52938" y="59419"/>
                </a:lnTo>
                <a:lnTo>
                  <a:pt x="78890" y="22615"/>
                </a:lnTo>
                <a:lnTo>
                  <a:pt x="94505" y="9922"/>
                </a:lnTo>
                <a:lnTo>
                  <a:pt x="904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370592" y="4128515"/>
            <a:ext cx="4399915" cy="396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60"/>
              </a:lnSpc>
              <a:spcBef>
                <a:spcPts val="100"/>
              </a:spcBef>
              <a:tabLst>
                <a:tab pos="1141095" algn="l"/>
                <a:tab pos="2049780" algn="l"/>
              </a:tabLst>
            </a:pP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14">
                <a:latin typeface="Cambria Math"/>
                <a:cs typeface="Cambria Math"/>
              </a:rPr>
              <a:t> </a:t>
            </a:r>
            <a:r>
              <a:rPr dirty="0" sz="2000" spc="-5">
                <a:latin typeface="Cambria Math"/>
                <a:cs typeface="Cambria Math"/>
              </a:rPr>
              <a:t>Linear	Concat	</a:t>
            </a:r>
            <a:r>
              <a:rPr dirty="0" sz="2000" spc="-10">
                <a:latin typeface="Cambria Math"/>
                <a:cs typeface="Cambria Math"/>
              </a:rPr>
              <a:t>𝐖</a:t>
            </a:r>
            <a:r>
              <a:rPr dirty="0" baseline="27777" sz="2250" spc="-15">
                <a:latin typeface="Cambria Math"/>
                <a:cs typeface="Cambria Math"/>
              </a:rPr>
              <a:t>(!)</a:t>
            </a:r>
            <a:r>
              <a:rPr dirty="0" sz="2000" spc="-10">
                <a:latin typeface="Cambria Math"/>
                <a:cs typeface="Cambria Math"/>
              </a:rPr>
              <a:t>𝐡</a:t>
            </a:r>
            <a:r>
              <a:rPr dirty="0" baseline="40740" sz="2250" spc="-15">
                <a:latin typeface="Cambria Math"/>
                <a:cs typeface="Cambria Math"/>
              </a:rPr>
              <a:t>(!%&amp;)</a:t>
            </a:r>
            <a:r>
              <a:rPr dirty="0" sz="2000" spc="-10">
                <a:latin typeface="Cambria Math"/>
                <a:cs typeface="Cambria Math"/>
              </a:rPr>
              <a:t>,</a:t>
            </a:r>
            <a:r>
              <a:rPr dirty="0" sz="2000" spc="-145">
                <a:latin typeface="Cambria Math"/>
                <a:cs typeface="Cambria Math"/>
              </a:rPr>
              <a:t> </a:t>
            </a:r>
            <a:r>
              <a:rPr dirty="0" sz="2000" spc="-15">
                <a:latin typeface="Cambria Math"/>
                <a:cs typeface="Cambria Math"/>
              </a:rPr>
              <a:t>𝐖</a:t>
            </a:r>
            <a:r>
              <a:rPr dirty="0" baseline="27777" sz="2250" spc="-22">
                <a:latin typeface="Cambria Math"/>
                <a:cs typeface="Cambria Math"/>
              </a:rPr>
              <a:t>(!)</a:t>
            </a:r>
            <a:r>
              <a:rPr dirty="0" sz="2000" spc="-15">
                <a:latin typeface="Cambria Math"/>
                <a:cs typeface="Cambria Math"/>
              </a:rPr>
              <a:t>𝐡</a:t>
            </a:r>
            <a:r>
              <a:rPr dirty="0" baseline="40740" sz="2250" spc="-22">
                <a:latin typeface="Cambria Math"/>
                <a:cs typeface="Cambria Math"/>
              </a:rPr>
              <a:t>(!%&amp;)</a:t>
            </a:r>
            <a:endParaRPr baseline="40740" sz="2250">
              <a:latin typeface="Cambria Math"/>
              <a:cs typeface="Cambria Math"/>
            </a:endParaRPr>
          </a:p>
          <a:p>
            <a:pPr marL="2684780">
              <a:lnSpc>
                <a:spcPts val="1160"/>
              </a:lnSpc>
              <a:tabLst>
                <a:tab pos="3916679" algn="l"/>
              </a:tabLst>
            </a:pPr>
            <a:r>
              <a:rPr dirty="0" sz="1500" spc="365">
                <a:latin typeface="Cambria Math"/>
                <a:cs typeface="Cambria Math"/>
              </a:rPr>
              <a:t>)	</a:t>
            </a:r>
            <a:r>
              <a:rPr dirty="0" sz="1500" spc="375">
                <a:latin typeface="Cambria Math"/>
                <a:cs typeface="Cambria Math"/>
              </a:rPr>
              <a:t>*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00401" y="3931036"/>
            <a:ext cx="1062990" cy="85725"/>
          </a:xfrm>
          <a:custGeom>
            <a:avLst/>
            <a:gdLst/>
            <a:ahLst/>
            <a:cxnLst/>
            <a:rect l="l" t="t" r="r" b="b"/>
            <a:pathLst>
              <a:path w="1062989" h="85725">
                <a:moveTo>
                  <a:pt x="22206" y="28575"/>
                </a:moveTo>
                <a:lnTo>
                  <a:pt x="6396" y="28575"/>
                </a:lnTo>
                <a:lnTo>
                  <a:pt x="0" y="34970"/>
                </a:lnTo>
                <a:lnTo>
                  <a:pt x="0" y="50753"/>
                </a:lnTo>
                <a:lnTo>
                  <a:pt x="6396" y="57150"/>
                </a:lnTo>
                <a:lnTo>
                  <a:pt x="22206" y="57150"/>
                </a:lnTo>
                <a:lnTo>
                  <a:pt x="28603" y="50753"/>
                </a:lnTo>
                <a:lnTo>
                  <a:pt x="28603" y="34970"/>
                </a:lnTo>
                <a:lnTo>
                  <a:pt x="22206" y="28575"/>
                </a:lnTo>
                <a:close/>
              </a:path>
              <a:path w="1062989" h="85725">
                <a:moveTo>
                  <a:pt x="79385" y="28575"/>
                </a:moveTo>
                <a:lnTo>
                  <a:pt x="63575" y="28575"/>
                </a:lnTo>
                <a:lnTo>
                  <a:pt x="57178" y="34970"/>
                </a:lnTo>
                <a:lnTo>
                  <a:pt x="57178" y="50753"/>
                </a:lnTo>
                <a:lnTo>
                  <a:pt x="63575" y="57150"/>
                </a:lnTo>
                <a:lnTo>
                  <a:pt x="79385" y="57150"/>
                </a:lnTo>
                <a:lnTo>
                  <a:pt x="85782" y="50753"/>
                </a:lnTo>
                <a:lnTo>
                  <a:pt x="85782" y="34970"/>
                </a:lnTo>
                <a:lnTo>
                  <a:pt x="79385" y="28575"/>
                </a:lnTo>
                <a:close/>
              </a:path>
              <a:path w="1062989" h="85725">
                <a:moveTo>
                  <a:pt x="136564" y="28575"/>
                </a:moveTo>
                <a:lnTo>
                  <a:pt x="120754" y="28575"/>
                </a:lnTo>
                <a:lnTo>
                  <a:pt x="114357" y="34970"/>
                </a:lnTo>
                <a:lnTo>
                  <a:pt x="114357" y="50753"/>
                </a:lnTo>
                <a:lnTo>
                  <a:pt x="120754" y="57150"/>
                </a:lnTo>
                <a:lnTo>
                  <a:pt x="136564" y="57150"/>
                </a:lnTo>
                <a:lnTo>
                  <a:pt x="142961" y="50753"/>
                </a:lnTo>
                <a:lnTo>
                  <a:pt x="142961" y="34970"/>
                </a:lnTo>
                <a:lnTo>
                  <a:pt x="136564" y="28575"/>
                </a:lnTo>
                <a:close/>
              </a:path>
              <a:path w="1062989" h="85725">
                <a:moveTo>
                  <a:pt x="193742" y="28575"/>
                </a:moveTo>
                <a:lnTo>
                  <a:pt x="177932" y="28575"/>
                </a:lnTo>
                <a:lnTo>
                  <a:pt x="171536" y="34970"/>
                </a:lnTo>
                <a:lnTo>
                  <a:pt x="171536" y="50753"/>
                </a:lnTo>
                <a:lnTo>
                  <a:pt x="177932" y="57150"/>
                </a:lnTo>
                <a:lnTo>
                  <a:pt x="193742" y="57150"/>
                </a:lnTo>
                <a:lnTo>
                  <a:pt x="200139" y="50753"/>
                </a:lnTo>
                <a:lnTo>
                  <a:pt x="200139" y="34970"/>
                </a:lnTo>
                <a:lnTo>
                  <a:pt x="193742" y="28575"/>
                </a:lnTo>
                <a:close/>
              </a:path>
              <a:path w="1062989" h="85725">
                <a:moveTo>
                  <a:pt x="250921" y="28575"/>
                </a:moveTo>
                <a:lnTo>
                  <a:pt x="235111" y="28575"/>
                </a:lnTo>
                <a:lnTo>
                  <a:pt x="228714" y="34971"/>
                </a:lnTo>
                <a:lnTo>
                  <a:pt x="228714" y="50753"/>
                </a:lnTo>
                <a:lnTo>
                  <a:pt x="235111" y="57150"/>
                </a:lnTo>
                <a:lnTo>
                  <a:pt x="250921" y="57150"/>
                </a:lnTo>
                <a:lnTo>
                  <a:pt x="257317" y="50753"/>
                </a:lnTo>
                <a:lnTo>
                  <a:pt x="257318" y="34971"/>
                </a:lnTo>
                <a:lnTo>
                  <a:pt x="250921" y="28575"/>
                </a:lnTo>
                <a:close/>
              </a:path>
              <a:path w="1062989" h="85725">
                <a:moveTo>
                  <a:pt x="308099" y="28575"/>
                </a:moveTo>
                <a:lnTo>
                  <a:pt x="292289" y="28575"/>
                </a:lnTo>
                <a:lnTo>
                  <a:pt x="285892" y="34971"/>
                </a:lnTo>
                <a:lnTo>
                  <a:pt x="285892" y="50753"/>
                </a:lnTo>
                <a:lnTo>
                  <a:pt x="292289" y="57150"/>
                </a:lnTo>
                <a:lnTo>
                  <a:pt x="308099" y="57150"/>
                </a:lnTo>
                <a:lnTo>
                  <a:pt x="314496" y="50753"/>
                </a:lnTo>
                <a:lnTo>
                  <a:pt x="314496" y="34971"/>
                </a:lnTo>
                <a:lnTo>
                  <a:pt x="308099" y="28575"/>
                </a:lnTo>
                <a:close/>
              </a:path>
              <a:path w="1062989" h="85725">
                <a:moveTo>
                  <a:pt x="365278" y="28575"/>
                </a:moveTo>
                <a:lnTo>
                  <a:pt x="349468" y="28575"/>
                </a:lnTo>
                <a:lnTo>
                  <a:pt x="343071" y="34971"/>
                </a:lnTo>
                <a:lnTo>
                  <a:pt x="343071" y="50753"/>
                </a:lnTo>
                <a:lnTo>
                  <a:pt x="349468" y="57150"/>
                </a:lnTo>
                <a:lnTo>
                  <a:pt x="365278" y="57150"/>
                </a:lnTo>
                <a:lnTo>
                  <a:pt x="371674" y="50753"/>
                </a:lnTo>
                <a:lnTo>
                  <a:pt x="371674" y="34971"/>
                </a:lnTo>
                <a:lnTo>
                  <a:pt x="365278" y="28575"/>
                </a:lnTo>
                <a:close/>
              </a:path>
              <a:path w="1062989" h="85725">
                <a:moveTo>
                  <a:pt x="422456" y="28575"/>
                </a:moveTo>
                <a:lnTo>
                  <a:pt x="406646" y="28575"/>
                </a:lnTo>
                <a:lnTo>
                  <a:pt x="400249" y="34971"/>
                </a:lnTo>
                <a:lnTo>
                  <a:pt x="400249" y="50753"/>
                </a:lnTo>
                <a:lnTo>
                  <a:pt x="406646" y="57150"/>
                </a:lnTo>
                <a:lnTo>
                  <a:pt x="422456" y="57150"/>
                </a:lnTo>
                <a:lnTo>
                  <a:pt x="428853" y="50753"/>
                </a:lnTo>
                <a:lnTo>
                  <a:pt x="428853" y="34971"/>
                </a:lnTo>
                <a:lnTo>
                  <a:pt x="422456" y="28575"/>
                </a:lnTo>
                <a:close/>
              </a:path>
              <a:path w="1062989" h="85725">
                <a:moveTo>
                  <a:pt x="479635" y="28575"/>
                </a:moveTo>
                <a:lnTo>
                  <a:pt x="463825" y="28575"/>
                </a:lnTo>
                <a:lnTo>
                  <a:pt x="457428" y="34971"/>
                </a:lnTo>
                <a:lnTo>
                  <a:pt x="457428" y="50753"/>
                </a:lnTo>
                <a:lnTo>
                  <a:pt x="463825" y="57150"/>
                </a:lnTo>
                <a:lnTo>
                  <a:pt x="479635" y="57150"/>
                </a:lnTo>
                <a:lnTo>
                  <a:pt x="486031" y="50753"/>
                </a:lnTo>
                <a:lnTo>
                  <a:pt x="486031" y="34971"/>
                </a:lnTo>
                <a:lnTo>
                  <a:pt x="479635" y="28575"/>
                </a:lnTo>
                <a:close/>
              </a:path>
              <a:path w="1062989" h="85725">
                <a:moveTo>
                  <a:pt x="536813" y="28575"/>
                </a:moveTo>
                <a:lnTo>
                  <a:pt x="521003" y="28575"/>
                </a:lnTo>
                <a:lnTo>
                  <a:pt x="514606" y="34971"/>
                </a:lnTo>
                <a:lnTo>
                  <a:pt x="514606" y="50753"/>
                </a:lnTo>
                <a:lnTo>
                  <a:pt x="521003" y="57150"/>
                </a:lnTo>
                <a:lnTo>
                  <a:pt x="536813" y="57150"/>
                </a:lnTo>
                <a:lnTo>
                  <a:pt x="543210" y="50753"/>
                </a:lnTo>
                <a:lnTo>
                  <a:pt x="543210" y="34971"/>
                </a:lnTo>
                <a:lnTo>
                  <a:pt x="536813" y="28575"/>
                </a:lnTo>
                <a:close/>
              </a:path>
              <a:path w="1062989" h="85725">
                <a:moveTo>
                  <a:pt x="593992" y="28575"/>
                </a:moveTo>
                <a:lnTo>
                  <a:pt x="578182" y="28575"/>
                </a:lnTo>
                <a:lnTo>
                  <a:pt x="571785" y="34971"/>
                </a:lnTo>
                <a:lnTo>
                  <a:pt x="571785" y="50753"/>
                </a:lnTo>
                <a:lnTo>
                  <a:pt x="578182" y="57150"/>
                </a:lnTo>
                <a:lnTo>
                  <a:pt x="593992" y="57150"/>
                </a:lnTo>
                <a:lnTo>
                  <a:pt x="600388" y="50753"/>
                </a:lnTo>
                <a:lnTo>
                  <a:pt x="600388" y="34971"/>
                </a:lnTo>
                <a:lnTo>
                  <a:pt x="593992" y="28575"/>
                </a:lnTo>
                <a:close/>
              </a:path>
              <a:path w="1062989" h="85725">
                <a:moveTo>
                  <a:pt x="651170" y="28575"/>
                </a:moveTo>
                <a:lnTo>
                  <a:pt x="635360" y="28575"/>
                </a:lnTo>
                <a:lnTo>
                  <a:pt x="628963" y="34971"/>
                </a:lnTo>
                <a:lnTo>
                  <a:pt x="628963" y="50753"/>
                </a:lnTo>
                <a:lnTo>
                  <a:pt x="635360" y="57150"/>
                </a:lnTo>
                <a:lnTo>
                  <a:pt x="651170" y="57150"/>
                </a:lnTo>
                <a:lnTo>
                  <a:pt x="657567" y="50753"/>
                </a:lnTo>
                <a:lnTo>
                  <a:pt x="657567" y="34971"/>
                </a:lnTo>
                <a:lnTo>
                  <a:pt x="651170" y="28575"/>
                </a:lnTo>
                <a:close/>
              </a:path>
              <a:path w="1062989" h="85725">
                <a:moveTo>
                  <a:pt x="708350" y="28575"/>
                </a:moveTo>
                <a:lnTo>
                  <a:pt x="692539" y="28575"/>
                </a:lnTo>
                <a:lnTo>
                  <a:pt x="686142" y="34971"/>
                </a:lnTo>
                <a:lnTo>
                  <a:pt x="686142" y="50753"/>
                </a:lnTo>
                <a:lnTo>
                  <a:pt x="692539" y="57150"/>
                </a:lnTo>
                <a:lnTo>
                  <a:pt x="708350" y="57150"/>
                </a:lnTo>
                <a:lnTo>
                  <a:pt x="714745" y="50753"/>
                </a:lnTo>
                <a:lnTo>
                  <a:pt x="714745" y="34971"/>
                </a:lnTo>
                <a:lnTo>
                  <a:pt x="708350" y="28575"/>
                </a:lnTo>
                <a:close/>
              </a:path>
              <a:path w="1062989" h="85725">
                <a:moveTo>
                  <a:pt x="765528" y="28575"/>
                </a:moveTo>
                <a:lnTo>
                  <a:pt x="749717" y="28575"/>
                </a:lnTo>
                <a:lnTo>
                  <a:pt x="743320" y="34971"/>
                </a:lnTo>
                <a:lnTo>
                  <a:pt x="743320" y="50753"/>
                </a:lnTo>
                <a:lnTo>
                  <a:pt x="749717" y="57150"/>
                </a:lnTo>
                <a:lnTo>
                  <a:pt x="765528" y="57150"/>
                </a:lnTo>
                <a:lnTo>
                  <a:pt x="771925" y="50753"/>
                </a:lnTo>
                <a:lnTo>
                  <a:pt x="771925" y="34971"/>
                </a:lnTo>
                <a:lnTo>
                  <a:pt x="765528" y="28575"/>
                </a:lnTo>
                <a:close/>
              </a:path>
              <a:path w="1062989" h="85725">
                <a:moveTo>
                  <a:pt x="822707" y="28575"/>
                </a:moveTo>
                <a:lnTo>
                  <a:pt x="806897" y="28575"/>
                </a:lnTo>
                <a:lnTo>
                  <a:pt x="800500" y="34971"/>
                </a:lnTo>
                <a:lnTo>
                  <a:pt x="800500" y="50753"/>
                </a:lnTo>
                <a:lnTo>
                  <a:pt x="806897" y="57150"/>
                </a:lnTo>
                <a:lnTo>
                  <a:pt x="822707" y="57150"/>
                </a:lnTo>
                <a:lnTo>
                  <a:pt x="829102" y="50753"/>
                </a:lnTo>
                <a:lnTo>
                  <a:pt x="829102" y="34971"/>
                </a:lnTo>
                <a:lnTo>
                  <a:pt x="822707" y="28575"/>
                </a:lnTo>
                <a:close/>
              </a:path>
              <a:path w="1062989" h="85725">
                <a:moveTo>
                  <a:pt x="879885" y="28575"/>
                </a:moveTo>
                <a:lnTo>
                  <a:pt x="864074" y="28575"/>
                </a:lnTo>
                <a:lnTo>
                  <a:pt x="857677" y="34971"/>
                </a:lnTo>
                <a:lnTo>
                  <a:pt x="857677" y="50753"/>
                </a:lnTo>
                <a:lnTo>
                  <a:pt x="864074" y="57150"/>
                </a:lnTo>
                <a:lnTo>
                  <a:pt x="879885" y="57150"/>
                </a:lnTo>
                <a:lnTo>
                  <a:pt x="886282" y="50753"/>
                </a:lnTo>
                <a:lnTo>
                  <a:pt x="886282" y="34971"/>
                </a:lnTo>
                <a:lnTo>
                  <a:pt x="879885" y="28575"/>
                </a:lnTo>
                <a:close/>
              </a:path>
              <a:path w="1062989" h="85725">
                <a:moveTo>
                  <a:pt x="937064" y="28575"/>
                </a:moveTo>
                <a:lnTo>
                  <a:pt x="921254" y="28575"/>
                </a:lnTo>
                <a:lnTo>
                  <a:pt x="914857" y="34971"/>
                </a:lnTo>
                <a:lnTo>
                  <a:pt x="914857" y="50753"/>
                </a:lnTo>
                <a:lnTo>
                  <a:pt x="921254" y="57150"/>
                </a:lnTo>
                <a:lnTo>
                  <a:pt x="937064" y="57150"/>
                </a:lnTo>
                <a:lnTo>
                  <a:pt x="943460" y="50753"/>
                </a:lnTo>
                <a:lnTo>
                  <a:pt x="943460" y="34971"/>
                </a:lnTo>
                <a:lnTo>
                  <a:pt x="937064" y="28575"/>
                </a:lnTo>
                <a:close/>
              </a:path>
              <a:path w="1062989" h="85725">
                <a:moveTo>
                  <a:pt x="976934" y="55652"/>
                </a:moveTo>
                <a:lnTo>
                  <a:pt x="976934" y="85725"/>
                </a:lnTo>
                <a:lnTo>
                  <a:pt x="1034084" y="57150"/>
                </a:lnTo>
                <a:lnTo>
                  <a:pt x="978432" y="57150"/>
                </a:lnTo>
                <a:lnTo>
                  <a:pt x="976934" y="55652"/>
                </a:lnTo>
                <a:close/>
              </a:path>
              <a:path w="1062989" h="85725">
                <a:moveTo>
                  <a:pt x="994242" y="28575"/>
                </a:moveTo>
                <a:lnTo>
                  <a:pt x="978432" y="28575"/>
                </a:lnTo>
                <a:lnTo>
                  <a:pt x="976934" y="30072"/>
                </a:lnTo>
                <a:lnTo>
                  <a:pt x="976934" y="55652"/>
                </a:lnTo>
                <a:lnTo>
                  <a:pt x="978432" y="57150"/>
                </a:lnTo>
                <a:lnTo>
                  <a:pt x="994242" y="57150"/>
                </a:lnTo>
                <a:lnTo>
                  <a:pt x="1000639" y="50753"/>
                </a:lnTo>
                <a:lnTo>
                  <a:pt x="1000639" y="34971"/>
                </a:lnTo>
                <a:lnTo>
                  <a:pt x="994242" y="28575"/>
                </a:lnTo>
                <a:close/>
              </a:path>
              <a:path w="1062989" h="85725">
                <a:moveTo>
                  <a:pt x="1034084" y="28575"/>
                </a:moveTo>
                <a:lnTo>
                  <a:pt x="994242" y="28575"/>
                </a:lnTo>
                <a:lnTo>
                  <a:pt x="1000639" y="34971"/>
                </a:lnTo>
                <a:lnTo>
                  <a:pt x="1000639" y="50753"/>
                </a:lnTo>
                <a:lnTo>
                  <a:pt x="994242" y="57150"/>
                </a:lnTo>
                <a:lnTo>
                  <a:pt x="1034084" y="57150"/>
                </a:lnTo>
                <a:lnTo>
                  <a:pt x="1062659" y="42862"/>
                </a:lnTo>
                <a:lnTo>
                  <a:pt x="1034084" y="28575"/>
                </a:lnTo>
                <a:close/>
              </a:path>
              <a:path w="1062989" h="85725">
                <a:moveTo>
                  <a:pt x="976934" y="30072"/>
                </a:moveTo>
                <a:lnTo>
                  <a:pt x="972035" y="34971"/>
                </a:lnTo>
                <a:lnTo>
                  <a:pt x="972035" y="50753"/>
                </a:lnTo>
                <a:lnTo>
                  <a:pt x="976934" y="55652"/>
                </a:lnTo>
                <a:lnTo>
                  <a:pt x="976934" y="30072"/>
                </a:lnTo>
                <a:close/>
              </a:path>
              <a:path w="1062989" h="85725">
                <a:moveTo>
                  <a:pt x="976934" y="0"/>
                </a:moveTo>
                <a:lnTo>
                  <a:pt x="976934" y="30072"/>
                </a:lnTo>
                <a:lnTo>
                  <a:pt x="978432" y="28575"/>
                </a:lnTo>
                <a:lnTo>
                  <a:pt x="1034084" y="28575"/>
                </a:lnTo>
                <a:lnTo>
                  <a:pt x="9769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0355" y="3755023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2"/>
                </a:lnTo>
                <a:lnTo>
                  <a:pt x="0" y="39638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0355" y="3755023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70408" y="3763674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4" h="396875">
                <a:moveTo>
                  <a:pt x="0" y="0"/>
                </a:moveTo>
                <a:lnTo>
                  <a:pt x="105701" y="0"/>
                </a:lnTo>
                <a:lnTo>
                  <a:pt x="105701" y="396382"/>
                </a:lnTo>
                <a:lnTo>
                  <a:pt x="0" y="396382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70408" y="3763674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4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34961" y="4193539"/>
            <a:ext cx="1248410" cy="476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dirty="0" baseline="-29320" sz="2700" spc="44">
                <a:latin typeface="Cambria Math"/>
                <a:cs typeface="Cambria Math"/>
              </a:rPr>
              <a:t>𝐡</a:t>
            </a:r>
            <a:r>
              <a:rPr dirty="0" sz="1300" spc="30">
                <a:latin typeface="Cambria Math"/>
                <a:cs typeface="Cambria Math"/>
              </a:rPr>
              <a:t>("#$)</a:t>
            </a:r>
            <a:r>
              <a:rPr dirty="0" sz="1300" spc="254">
                <a:latin typeface="Cambria Math"/>
                <a:cs typeface="Cambria Math"/>
              </a:rPr>
              <a:t> </a:t>
            </a:r>
            <a:r>
              <a:rPr dirty="0" baseline="-29320" sz="2700" spc="44">
                <a:latin typeface="Cambria Math"/>
                <a:cs typeface="Cambria Math"/>
              </a:rPr>
              <a:t>𝐡</a:t>
            </a:r>
            <a:r>
              <a:rPr dirty="0" sz="1300" spc="30">
                <a:latin typeface="Cambria Math"/>
                <a:cs typeface="Cambria Math"/>
              </a:rPr>
              <a:t>("#$)</a:t>
            </a:r>
            <a:endParaRPr sz="1300">
              <a:latin typeface="Cambria Math"/>
              <a:cs typeface="Cambria Math"/>
            </a:endParaRPr>
          </a:p>
          <a:p>
            <a:pPr marL="140970">
              <a:lnSpc>
                <a:spcPts val="1475"/>
              </a:lnSpc>
              <a:tabLst>
                <a:tab pos="814705" algn="l"/>
              </a:tabLst>
            </a:pPr>
            <a:r>
              <a:rPr dirty="0" sz="1300" spc="300">
                <a:latin typeface="Cambria Math"/>
                <a:cs typeface="Cambria Math"/>
              </a:rPr>
              <a:t>*	</a:t>
            </a:r>
            <a:r>
              <a:rPr dirty="0" sz="1300" spc="-90">
                <a:latin typeface="Cambria Math"/>
                <a:cs typeface="Cambria Math"/>
              </a:rPr>
              <a:t>+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93503" y="3606291"/>
            <a:ext cx="11461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Corbel"/>
                <a:cs typeface="Corbel"/>
              </a:rPr>
              <a:t>Concatenate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39463" y="3923192"/>
            <a:ext cx="652780" cy="85725"/>
          </a:xfrm>
          <a:custGeom>
            <a:avLst/>
            <a:gdLst/>
            <a:ahLst/>
            <a:cxnLst/>
            <a:rect l="l" t="t" r="r" b="b"/>
            <a:pathLst>
              <a:path w="652779" h="85725">
                <a:moveTo>
                  <a:pt x="22207" y="28573"/>
                </a:moveTo>
                <a:lnTo>
                  <a:pt x="6396" y="28573"/>
                </a:lnTo>
                <a:lnTo>
                  <a:pt x="1" y="34970"/>
                </a:lnTo>
                <a:lnTo>
                  <a:pt x="0" y="50751"/>
                </a:lnTo>
                <a:lnTo>
                  <a:pt x="6396" y="57148"/>
                </a:lnTo>
                <a:lnTo>
                  <a:pt x="22207" y="57148"/>
                </a:lnTo>
                <a:lnTo>
                  <a:pt x="28604" y="50751"/>
                </a:lnTo>
                <a:lnTo>
                  <a:pt x="28604" y="34970"/>
                </a:lnTo>
                <a:lnTo>
                  <a:pt x="22207" y="28573"/>
                </a:lnTo>
                <a:close/>
              </a:path>
              <a:path w="652779" h="85725">
                <a:moveTo>
                  <a:pt x="79386" y="28573"/>
                </a:moveTo>
                <a:lnTo>
                  <a:pt x="63576" y="28573"/>
                </a:lnTo>
                <a:lnTo>
                  <a:pt x="57179" y="34970"/>
                </a:lnTo>
                <a:lnTo>
                  <a:pt x="57179" y="50751"/>
                </a:lnTo>
                <a:lnTo>
                  <a:pt x="63576" y="57148"/>
                </a:lnTo>
                <a:lnTo>
                  <a:pt x="79386" y="57148"/>
                </a:lnTo>
                <a:lnTo>
                  <a:pt x="85782" y="50751"/>
                </a:lnTo>
                <a:lnTo>
                  <a:pt x="85783" y="34970"/>
                </a:lnTo>
                <a:lnTo>
                  <a:pt x="79386" y="28573"/>
                </a:lnTo>
                <a:close/>
              </a:path>
              <a:path w="652779" h="85725">
                <a:moveTo>
                  <a:pt x="136564" y="28573"/>
                </a:moveTo>
                <a:lnTo>
                  <a:pt x="120754" y="28573"/>
                </a:lnTo>
                <a:lnTo>
                  <a:pt x="114358" y="34970"/>
                </a:lnTo>
                <a:lnTo>
                  <a:pt x="114357" y="50753"/>
                </a:lnTo>
                <a:lnTo>
                  <a:pt x="120754" y="57148"/>
                </a:lnTo>
                <a:lnTo>
                  <a:pt x="136564" y="57148"/>
                </a:lnTo>
                <a:lnTo>
                  <a:pt x="142961" y="50753"/>
                </a:lnTo>
                <a:lnTo>
                  <a:pt x="142961" y="34970"/>
                </a:lnTo>
                <a:lnTo>
                  <a:pt x="136564" y="28573"/>
                </a:lnTo>
                <a:close/>
              </a:path>
              <a:path w="652779" h="85725">
                <a:moveTo>
                  <a:pt x="193743" y="28573"/>
                </a:moveTo>
                <a:lnTo>
                  <a:pt x="177933" y="28573"/>
                </a:lnTo>
                <a:lnTo>
                  <a:pt x="171536" y="34970"/>
                </a:lnTo>
                <a:lnTo>
                  <a:pt x="171536" y="50753"/>
                </a:lnTo>
                <a:lnTo>
                  <a:pt x="177933" y="57148"/>
                </a:lnTo>
                <a:lnTo>
                  <a:pt x="193743" y="57148"/>
                </a:lnTo>
                <a:lnTo>
                  <a:pt x="200139" y="50753"/>
                </a:lnTo>
                <a:lnTo>
                  <a:pt x="200140" y="34970"/>
                </a:lnTo>
                <a:lnTo>
                  <a:pt x="193743" y="28573"/>
                </a:lnTo>
                <a:close/>
              </a:path>
              <a:path w="652779" h="85725">
                <a:moveTo>
                  <a:pt x="250921" y="28573"/>
                </a:moveTo>
                <a:lnTo>
                  <a:pt x="235111" y="28573"/>
                </a:lnTo>
                <a:lnTo>
                  <a:pt x="228715" y="34970"/>
                </a:lnTo>
                <a:lnTo>
                  <a:pt x="228714" y="50753"/>
                </a:lnTo>
                <a:lnTo>
                  <a:pt x="235111" y="57148"/>
                </a:lnTo>
                <a:lnTo>
                  <a:pt x="250921" y="57148"/>
                </a:lnTo>
                <a:lnTo>
                  <a:pt x="257318" y="50753"/>
                </a:lnTo>
                <a:lnTo>
                  <a:pt x="257318" y="34970"/>
                </a:lnTo>
                <a:lnTo>
                  <a:pt x="250921" y="28573"/>
                </a:lnTo>
                <a:close/>
              </a:path>
              <a:path w="652779" h="85725">
                <a:moveTo>
                  <a:pt x="308100" y="28575"/>
                </a:moveTo>
                <a:lnTo>
                  <a:pt x="292290" y="28575"/>
                </a:lnTo>
                <a:lnTo>
                  <a:pt x="285893" y="34970"/>
                </a:lnTo>
                <a:lnTo>
                  <a:pt x="285893" y="50753"/>
                </a:lnTo>
                <a:lnTo>
                  <a:pt x="292290" y="57150"/>
                </a:lnTo>
                <a:lnTo>
                  <a:pt x="308100" y="57150"/>
                </a:lnTo>
                <a:lnTo>
                  <a:pt x="314496" y="50753"/>
                </a:lnTo>
                <a:lnTo>
                  <a:pt x="314496" y="34970"/>
                </a:lnTo>
                <a:lnTo>
                  <a:pt x="308100" y="28575"/>
                </a:lnTo>
                <a:close/>
              </a:path>
              <a:path w="652779" h="85725">
                <a:moveTo>
                  <a:pt x="365278" y="28575"/>
                </a:moveTo>
                <a:lnTo>
                  <a:pt x="349468" y="28575"/>
                </a:lnTo>
                <a:lnTo>
                  <a:pt x="343071" y="34970"/>
                </a:lnTo>
                <a:lnTo>
                  <a:pt x="343071" y="50753"/>
                </a:lnTo>
                <a:lnTo>
                  <a:pt x="349468" y="57150"/>
                </a:lnTo>
                <a:lnTo>
                  <a:pt x="365278" y="57150"/>
                </a:lnTo>
                <a:lnTo>
                  <a:pt x="371675" y="50753"/>
                </a:lnTo>
                <a:lnTo>
                  <a:pt x="371675" y="34970"/>
                </a:lnTo>
                <a:lnTo>
                  <a:pt x="365278" y="28575"/>
                </a:lnTo>
                <a:close/>
              </a:path>
              <a:path w="652779" h="85725">
                <a:moveTo>
                  <a:pt x="422457" y="28575"/>
                </a:moveTo>
                <a:lnTo>
                  <a:pt x="406647" y="28575"/>
                </a:lnTo>
                <a:lnTo>
                  <a:pt x="400250" y="34970"/>
                </a:lnTo>
                <a:lnTo>
                  <a:pt x="400250" y="50753"/>
                </a:lnTo>
                <a:lnTo>
                  <a:pt x="406647" y="57150"/>
                </a:lnTo>
                <a:lnTo>
                  <a:pt x="422457" y="57150"/>
                </a:lnTo>
                <a:lnTo>
                  <a:pt x="428853" y="50753"/>
                </a:lnTo>
                <a:lnTo>
                  <a:pt x="428853" y="34970"/>
                </a:lnTo>
                <a:lnTo>
                  <a:pt x="422457" y="28575"/>
                </a:lnTo>
                <a:close/>
              </a:path>
              <a:path w="652779" h="85725">
                <a:moveTo>
                  <a:pt x="479635" y="28575"/>
                </a:moveTo>
                <a:lnTo>
                  <a:pt x="463825" y="28575"/>
                </a:lnTo>
                <a:lnTo>
                  <a:pt x="457428" y="34971"/>
                </a:lnTo>
                <a:lnTo>
                  <a:pt x="457428" y="50753"/>
                </a:lnTo>
                <a:lnTo>
                  <a:pt x="463825" y="57150"/>
                </a:lnTo>
                <a:lnTo>
                  <a:pt x="479635" y="57150"/>
                </a:lnTo>
                <a:lnTo>
                  <a:pt x="486032" y="50753"/>
                </a:lnTo>
                <a:lnTo>
                  <a:pt x="486032" y="34971"/>
                </a:lnTo>
                <a:lnTo>
                  <a:pt x="479635" y="28575"/>
                </a:lnTo>
                <a:close/>
              </a:path>
              <a:path w="652779" h="85725">
                <a:moveTo>
                  <a:pt x="536815" y="28575"/>
                </a:moveTo>
                <a:lnTo>
                  <a:pt x="521004" y="28575"/>
                </a:lnTo>
                <a:lnTo>
                  <a:pt x="514607" y="34971"/>
                </a:lnTo>
                <a:lnTo>
                  <a:pt x="514607" y="50753"/>
                </a:lnTo>
                <a:lnTo>
                  <a:pt x="521004" y="57150"/>
                </a:lnTo>
                <a:lnTo>
                  <a:pt x="536815" y="57150"/>
                </a:lnTo>
                <a:lnTo>
                  <a:pt x="543210" y="50753"/>
                </a:lnTo>
                <a:lnTo>
                  <a:pt x="543210" y="34971"/>
                </a:lnTo>
                <a:lnTo>
                  <a:pt x="536815" y="28575"/>
                </a:lnTo>
                <a:close/>
              </a:path>
              <a:path w="652779" h="85725">
                <a:moveTo>
                  <a:pt x="566572" y="0"/>
                </a:moveTo>
                <a:lnTo>
                  <a:pt x="566572" y="85725"/>
                </a:lnTo>
                <a:lnTo>
                  <a:pt x="652297" y="42862"/>
                </a:lnTo>
                <a:lnTo>
                  <a:pt x="566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709129" y="3609340"/>
            <a:ext cx="5797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Corbel"/>
                <a:cs typeface="Corbel"/>
              </a:rPr>
              <a:t>Lin</a:t>
            </a:r>
            <a:r>
              <a:rPr dirty="0" sz="1600" spc="0" b="1">
                <a:latin typeface="Corbel"/>
                <a:cs typeface="Corbel"/>
              </a:rPr>
              <a:t>e</a:t>
            </a:r>
            <a:r>
              <a:rPr dirty="0" sz="1600" b="1">
                <a:latin typeface="Corbel"/>
                <a:cs typeface="Corbel"/>
              </a:rPr>
              <a:t>ar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  <p:sp>
        <p:nvSpPr>
          <p:cNvPr id="24" name="object 24"/>
          <p:cNvSpPr txBox="1"/>
          <p:nvPr/>
        </p:nvSpPr>
        <p:spPr>
          <a:xfrm>
            <a:off x="3423207" y="3799332"/>
            <a:ext cx="3784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111" sz="3000" spc="-247">
                <a:latin typeface="Cambria Math"/>
                <a:cs typeface="Cambria Math"/>
              </a:rPr>
              <a:t>𝑒</a:t>
            </a:r>
            <a:r>
              <a:rPr dirty="0" sz="1500" spc="330">
                <a:latin typeface="Cambria Math"/>
                <a:cs typeface="Cambria Math"/>
              </a:rPr>
              <a:t>)*</a:t>
            </a:r>
            <a:endParaRPr sz="15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099048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8985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FF"/>
                </a:solidFill>
              </a:rPr>
              <a:t>Multi-head </a:t>
            </a:r>
            <a:r>
              <a:rPr dirty="0" spc="-15">
                <a:solidFill>
                  <a:srgbClr val="0000FF"/>
                </a:solidFill>
              </a:rPr>
              <a:t>attention: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Stabilizes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learning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process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attention</a:t>
            </a:r>
            <a:r>
              <a:rPr dirty="0" spc="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mechanism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6951345" cy="8731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508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5" b="1">
                <a:latin typeface="Calibri"/>
                <a:cs typeface="Calibri"/>
              </a:rPr>
              <a:t>Create </a:t>
            </a:r>
            <a:r>
              <a:rPr dirty="0" sz="2800" spc="-5" b="1">
                <a:solidFill>
                  <a:srgbClr val="E66C7D"/>
                </a:solidFill>
                <a:latin typeface="Calibri"/>
                <a:cs typeface="Calibri"/>
              </a:rPr>
              <a:t>multiple </a:t>
            </a:r>
            <a:r>
              <a:rPr dirty="0" sz="2800" spc="-15" b="1">
                <a:solidFill>
                  <a:srgbClr val="E66C7D"/>
                </a:solidFill>
                <a:latin typeface="Calibri"/>
                <a:cs typeface="Calibri"/>
              </a:rPr>
              <a:t>attention </a:t>
            </a:r>
            <a:r>
              <a:rPr dirty="0" sz="2800" spc="-10" b="1">
                <a:solidFill>
                  <a:srgbClr val="E66C7D"/>
                </a:solidFill>
                <a:latin typeface="Calibri"/>
                <a:cs typeface="Calibri"/>
              </a:rPr>
              <a:t>scores </a:t>
            </a:r>
            <a:r>
              <a:rPr dirty="0" sz="2800" spc="-5">
                <a:latin typeface="Calibri"/>
                <a:cs typeface="Calibri"/>
              </a:rPr>
              <a:t>(each </a:t>
            </a:r>
            <a:r>
              <a:rPr dirty="0" sz="2800" spc="-15">
                <a:latin typeface="Calibri"/>
                <a:cs typeface="Calibri"/>
              </a:rPr>
              <a:t>replica 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10">
                <a:latin typeface="Calibri"/>
                <a:cs typeface="Calibri"/>
              </a:rPr>
              <a:t>set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parameters):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06747" y="6287134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60771" y="6021070"/>
            <a:ext cx="0" cy="260350"/>
          </a:xfrm>
          <a:custGeom>
            <a:avLst/>
            <a:gdLst/>
            <a:ahLst/>
            <a:cxnLst/>
            <a:rect l="l" t="t" r="r" b="b"/>
            <a:pathLst>
              <a:path w="0" h="260350">
                <a:moveTo>
                  <a:pt x="0" y="0"/>
                </a:moveTo>
                <a:lnTo>
                  <a:pt x="0" y="260349"/>
                </a:lnTo>
              </a:path>
            </a:pathLst>
          </a:custGeom>
          <a:ln w="24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06747" y="6015354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59324" y="6287134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377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71678" y="6021070"/>
            <a:ext cx="0" cy="260350"/>
          </a:xfrm>
          <a:custGeom>
            <a:avLst/>
            <a:gdLst/>
            <a:ahLst/>
            <a:cxnLst/>
            <a:rect l="l" t="t" r="r" b="b"/>
            <a:pathLst>
              <a:path w="0" h="260350">
                <a:moveTo>
                  <a:pt x="0" y="0"/>
                </a:moveTo>
                <a:lnTo>
                  <a:pt x="0" y="260349"/>
                </a:lnTo>
              </a:path>
            </a:pathLst>
          </a:custGeom>
          <a:ln w="247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59324" y="6015354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377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69026" y="6287134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23050" y="6021070"/>
            <a:ext cx="0" cy="260350"/>
          </a:xfrm>
          <a:custGeom>
            <a:avLst/>
            <a:gdLst/>
            <a:ahLst/>
            <a:cxnLst/>
            <a:rect l="l" t="t" r="r" b="b"/>
            <a:pathLst>
              <a:path w="0" h="260350">
                <a:moveTo>
                  <a:pt x="0" y="0"/>
                </a:moveTo>
                <a:lnTo>
                  <a:pt x="0" y="260349"/>
                </a:lnTo>
              </a:path>
            </a:pathLst>
          </a:custGeom>
          <a:ln w="24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69026" y="6015354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21603" y="6287134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377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33956" y="6021070"/>
            <a:ext cx="0" cy="260350"/>
          </a:xfrm>
          <a:custGeom>
            <a:avLst/>
            <a:gdLst/>
            <a:ahLst/>
            <a:cxnLst/>
            <a:rect l="l" t="t" r="r" b="b"/>
            <a:pathLst>
              <a:path w="0" h="260350">
                <a:moveTo>
                  <a:pt x="0" y="0"/>
                </a:moveTo>
                <a:lnTo>
                  <a:pt x="0" y="260349"/>
                </a:lnTo>
              </a:path>
            </a:pathLst>
          </a:custGeom>
          <a:ln w="24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21603" y="6015354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377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731305" y="6287134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785329" y="6021070"/>
            <a:ext cx="0" cy="260350"/>
          </a:xfrm>
          <a:custGeom>
            <a:avLst/>
            <a:gdLst/>
            <a:ahLst/>
            <a:cxnLst/>
            <a:rect l="l" t="t" r="r" b="b"/>
            <a:pathLst>
              <a:path w="0" h="260350">
                <a:moveTo>
                  <a:pt x="0" y="0"/>
                </a:moveTo>
                <a:lnTo>
                  <a:pt x="0" y="260349"/>
                </a:lnTo>
              </a:path>
            </a:pathLst>
          </a:custGeom>
          <a:ln w="24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31305" y="6015354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483882" y="6287134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377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496236" y="6021070"/>
            <a:ext cx="0" cy="260350"/>
          </a:xfrm>
          <a:custGeom>
            <a:avLst/>
            <a:gdLst/>
            <a:ahLst/>
            <a:cxnLst/>
            <a:rect l="l" t="t" r="r" b="b"/>
            <a:pathLst>
              <a:path w="0" h="260350">
                <a:moveTo>
                  <a:pt x="0" y="0"/>
                </a:moveTo>
                <a:lnTo>
                  <a:pt x="0" y="260349"/>
                </a:lnTo>
              </a:path>
            </a:pathLst>
          </a:custGeom>
          <a:ln w="247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483882" y="6015354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377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956563" y="4811945"/>
            <a:ext cx="5014595" cy="156210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3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E66C7D"/>
                </a:solidFill>
                <a:latin typeface="Calibri"/>
                <a:cs typeface="Calibri"/>
              </a:rPr>
              <a:t>Outputs </a:t>
            </a:r>
            <a:r>
              <a:rPr dirty="0" sz="2800" spc="-10" b="1">
                <a:solidFill>
                  <a:srgbClr val="E66C7D"/>
                </a:solidFill>
                <a:latin typeface="Calibri"/>
                <a:cs typeface="Calibri"/>
              </a:rPr>
              <a:t>are</a:t>
            </a:r>
            <a:r>
              <a:rPr dirty="0" sz="2800" spc="-50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E66C7D"/>
                </a:solidFill>
                <a:latin typeface="Calibri"/>
                <a:cs typeface="Calibri"/>
              </a:rPr>
              <a:t>aggregated: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4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By concatenation </a:t>
            </a:r>
            <a:r>
              <a:rPr dirty="0" sz="2400" spc="-5">
                <a:latin typeface="Calibri"/>
                <a:cs typeface="Calibri"/>
              </a:rPr>
              <a:t>or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summation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ts val="2039"/>
              </a:lnSpc>
              <a:spcBef>
                <a:spcPts val="132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245">
                <a:latin typeface="Cambria Math"/>
                <a:cs typeface="Cambria Math"/>
              </a:rPr>
              <a:t>𝐡</a:t>
            </a:r>
            <a:r>
              <a:rPr dirty="0" baseline="40123" sz="2700" spc="-367">
                <a:latin typeface="Cambria Math"/>
                <a:cs typeface="Cambria Math"/>
              </a:rPr>
              <a:t>(%)    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-130">
                <a:latin typeface="Cambria Math"/>
                <a:cs typeface="Cambria Math"/>
              </a:rPr>
              <a:t>AGG(𝐡</a:t>
            </a:r>
            <a:r>
              <a:rPr dirty="0" baseline="40123" sz="2700" spc="-195">
                <a:latin typeface="Cambria Math"/>
                <a:cs typeface="Cambria Math"/>
              </a:rPr>
              <a:t>(%)  </a:t>
            </a:r>
            <a:r>
              <a:rPr dirty="0" sz="2400">
                <a:latin typeface="Cambria Math"/>
                <a:cs typeface="Cambria Math"/>
              </a:rPr>
              <a:t>1 , </a:t>
            </a:r>
            <a:r>
              <a:rPr dirty="0" sz="2400" spc="-245">
                <a:latin typeface="Cambria Math"/>
                <a:cs typeface="Cambria Math"/>
              </a:rPr>
              <a:t>𝐡</a:t>
            </a:r>
            <a:r>
              <a:rPr dirty="0" baseline="40123" sz="2700" spc="-367">
                <a:latin typeface="Cambria Math"/>
                <a:cs typeface="Cambria Math"/>
              </a:rPr>
              <a:t>(%)    </a:t>
            </a:r>
            <a:r>
              <a:rPr dirty="0" sz="2400">
                <a:latin typeface="Cambria Math"/>
                <a:cs typeface="Cambria Math"/>
              </a:rPr>
              <a:t>2 , </a:t>
            </a:r>
            <a:r>
              <a:rPr dirty="0" sz="2400" spc="-245">
                <a:latin typeface="Cambria Math"/>
                <a:cs typeface="Cambria Math"/>
              </a:rPr>
              <a:t>𝐡</a:t>
            </a:r>
            <a:r>
              <a:rPr dirty="0" baseline="40123" sz="2700" spc="-367">
                <a:latin typeface="Cambria Math"/>
                <a:cs typeface="Cambria Math"/>
              </a:rPr>
              <a:t>(%)    </a:t>
            </a:r>
            <a:r>
              <a:rPr dirty="0" sz="2400">
                <a:latin typeface="Cambria Math"/>
                <a:cs typeface="Cambria Math"/>
              </a:rPr>
              <a:t>3 </a:t>
            </a:r>
            <a:r>
              <a:rPr dirty="0" sz="2400" spc="50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  <a:p>
            <a:pPr marL="737870">
              <a:lnSpc>
                <a:spcPts val="1320"/>
              </a:lnSpc>
              <a:tabLst>
                <a:tab pos="2286000" algn="l"/>
                <a:tab pos="3248660" algn="l"/>
                <a:tab pos="4210685" algn="l"/>
              </a:tabLst>
            </a:pPr>
            <a:r>
              <a:rPr dirty="0" sz="1800" spc="265">
                <a:latin typeface="Cambria Math"/>
                <a:cs typeface="Cambria Math"/>
              </a:rPr>
              <a:t>)	)	)	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10536" y="3549903"/>
            <a:ext cx="16192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25">
                <a:latin typeface="Cambria Math"/>
                <a:cs typeface="Cambria Math"/>
              </a:rPr>
              <a:t>!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08924" y="3375660"/>
            <a:ext cx="195135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55">
                <a:latin typeface="Cambria Math"/>
                <a:cs typeface="Cambria Math"/>
              </a:rPr>
              <a:t>𝐡</a:t>
            </a:r>
            <a:r>
              <a:rPr dirty="0" baseline="39473" sz="2850" spc="-82">
                <a:latin typeface="Cambria Math"/>
                <a:cs typeface="Cambria Math"/>
              </a:rPr>
              <a:t>(#)</a:t>
            </a:r>
            <a:r>
              <a:rPr dirty="0" sz="2600" spc="-55">
                <a:latin typeface="Cambria Math"/>
                <a:cs typeface="Cambria Math"/>
              </a:rPr>
              <a:t>[1]  </a:t>
            </a:r>
            <a:r>
              <a:rPr dirty="0" sz="2600">
                <a:latin typeface="Cambria Math"/>
                <a:cs typeface="Cambria Math"/>
              </a:rPr>
              <a:t>=</a:t>
            </a:r>
            <a:r>
              <a:rPr dirty="0" sz="2600" spc="-250">
                <a:latin typeface="Cambria Math"/>
                <a:cs typeface="Cambria Math"/>
              </a:rPr>
              <a:t> </a:t>
            </a:r>
            <a:r>
              <a:rPr dirty="0" sz="2600" spc="10">
                <a:latin typeface="Cambria Math"/>
                <a:cs typeface="Cambria Math"/>
              </a:rPr>
              <a:t>𝜎(</a:t>
            </a:r>
            <a:r>
              <a:rPr dirty="0" baseline="2136" sz="3900" spc="15">
                <a:latin typeface="Cambria Math"/>
                <a:cs typeface="Cambria Math"/>
              </a:rPr>
              <a:t>∑</a:t>
            </a:r>
            <a:endParaRPr baseline="2136" sz="39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668468" y="3626916"/>
            <a:ext cx="300990" cy="223520"/>
          </a:xfrm>
          <a:custGeom>
            <a:avLst/>
            <a:gdLst/>
            <a:ahLst/>
            <a:cxnLst/>
            <a:rect l="l" t="t" r="r" b="b"/>
            <a:pathLst>
              <a:path w="300989" h="223520">
                <a:moveTo>
                  <a:pt x="229085" y="0"/>
                </a:moveTo>
                <a:lnTo>
                  <a:pt x="225903" y="9072"/>
                </a:lnTo>
                <a:lnTo>
                  <a:pt x="238841" y="14687"/>
                </a:lnTo>
                <a:lnTo>
                  <a:pt x="249968" y="22460"/>
                </a:lnTo>
                <a:lnTo>
                  <a:pt x="272560" y="58488"/>
                </a:lnTo>
                <a:lnTo>
                  <a:pt x="279984" y="110636"/>
                </a:lnTo>
                <a:lnTo>
                  <a:pt x="279155" y="130349"/>
                </a:lnTo>
                <a:lnTo>
                  <a:pt x="266729" y="178619"/>
                </a:lnTo>
                <a:lnTo>
                  <a:pt x="238992" y="208796"/>
                </a:lnTo>
                <a:lnTo>
                  <a:pt x="226256" y="214436"/>
                </a:lnTo>
                <a:lnTo>
                  <a:pt x="229085" y="223509"/>
                </a:lnTo>
                <a:lnTo>
                  <a:pt x="271787" y="198137"/>
                </a:lnTo>
                <a:lnTo>
                  <a:pt x="295771" y="151299"/>
                </a:lnTo>
                <a:lnTo>
                  <a:pt x="300366" y="111813"/>
                </a:lnTo>
                <a:lnTo>
                  <a:pt x="299214" y="91323"/>
                </a:lnTo>
                <a:lnTo>
                  <a:pt x="281927" y="39176"/>
                </a:lnTo>
                <a:lnTo>
                  <a:pt x="245288" y="5851"/>
                </a:lnTo>
                <a:lnTo>
                  <a:pt x="229085" y="0"/>
                </a:lnTo>
                <a:close/>
              </a:path>
              <a:path w="300989" h="223520">
                <a:moveTo>
                  <a:pt x="71282" y="0"/>
                </a:moveTo>
                <a:lnTo>
                  <a:pt x="28656" y="25439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1" y="217666"/>
                </a:lnTo>
                <a:lnTo>
                  <a:pt x="71282" y="223509"/>
                </a:lnTo>
                <a:lnTo>
                  <a:pt x="74110" y="214436"/>
                </a:lnTo>
                <a:lnTo>
                  <a:pt x="61374" y="208796"/>
                </a:lnTo>
                <a:lnTo>
                  <a:pt x="50384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134244" y="3552952"/>
            <a:ext cx="76263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40">
                <a:latin typeface="Cambria Math"/>
                <a:cs typeface="Cambria Math"/>
              </a:rPr>
              <a:t>%∈+ </a:t>
            </a:r>
            <a:r>
              <a:rPr dirty="0" sz="1900" spc="50">
                <a:latin typeface="Cambria Math"/>
                <a:cs typeface="Cambria Math"/>
              </a:rPr>
              <a:t> </a:t>
            </a:r>
            <a:r>
              <a:rPr dirty="0" sz="1900" spc="525">
                <a:latin typeface="Cambria Math"/>
                <a:cs typeface="Cambria Math"/>
              </a:rPr>
              <a:t>!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30698" y="3534664"/>
            <a:ext cx="31877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30">
                <a:solidFill>
                  <a:srgbClr val="C00000"/>
                </a:solidFill>
                <a:latin typeface="Cambria Math"/>
                <a:cs typeface="Cambria Math"/>
              </a:rPr>
              <a:t>!%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86716" y="3549903"/>
            <a:ext cx="1822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459">
                <a:latin typeface="Cambria Math"/>
                <a:cs typeface="Cambria Math"/>
              </a:rPr>
              <a:t>%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32261" y="3201923"/>
            <a:ext cx="210121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8846" sz="3900" spc="397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dirty="0" baseline="-13157" sz="2850" spc="397">
                <a:solidFill>
                  <a:srgbClr val="C00000"/>
                </a:solidFill>
                <a:latin typeface="Cambria Math"/>
                <a:cs typeface="Cambria Math"/>
              </a:rPr>
              <a:t>-</a:t>
            </a:r>
            <a:r>
              <a:rPr dirty="0" baseline="-13157" sz="2850" spc="68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-28846" sz="3900" spc="97">
                <a:latin typeface="Cambria Math"/>
                <a:cs typeface="Cambria Math"/>
              </a:rPr>
              <a:t>𝐖</a:t>
            </a:r>
            <a:r>
              <a:rPr dirty="0" baseline="-13157" sz="2850" spc="97">
                <a:latin typeface="Cambria Math"/>
                <a:cs typeface="Cambria Math"/>
              </a:rPr>
              <a:t>(#)</a:t>
            </a:r>
            <a:r>
              <a:rPr dirty="0" baseline="-28846" sz="3900" spc="97">
                <a:latin typeface="Cambria Math"/>
                <a:cs typeface="Cambria Math"/>
              </a:rPr>
              <a:t>𝐡</a:t>
            </a:r>
            <a:r>
              <a:rPr dirty="0" sz="1900" spc="65">
                <a:latin typeface="Cambria Math"/>
                <a:cs typeface="Cambria Math"/>
              </a:rPr>
              <a:t>(#,-)</a:t>
            </a:r>
            <a:r>
              <a:rPr dirty="0" baseline="-28846" sz="3900" spc="97">
                <a:latin typeface="Corbel"/>
                <a:cs typeface="Corbel"/>
              </a:rPr>
              <a:t>)</a:t>
            </a:r>
            <a:endParaRPr baseline="-28846" sz="3900">
              <a:latin typeface="Corbel"/>
              <a:cs typeface="Corbe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10536" y="4071111"/>
            <a:ext cx="16192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25">
                <a:latin typeface="Cambria Math"/>
                <a:cs typeface="Cambria Math"/>
              </a:rPr>
              <a:t>!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08924" y="3896867"/>
            <a:ext cx="195135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55">
                <a:latin typeface="Cambria Math"/>
                <a:cs typeface="Cambria Math"/>
              </a:rPr>
              <a:t>𝐡</a:t>
            </a:r>
            <a:r>
              <a:rPr dirty="0" baseline="40935" sz="2850" spc="-82">
                <a:latin typeface="Cambria Math"/>
                <a:cs typeface="Cambria Math"/>
              </a:rPr>
              <a:t>(#)</a:t>
            </a:r>
            <a:r>
              <a:rPr dirty="0" sz="2600" spc="-55">
                <a:latin typeface="Cambria Math"/>
                <a:cs typeface="Cambria Math"/>
              </a:rPr>
              <a:t>[2]  </a:t>
            </a:r>
            <a:r>
              <a:rPr dirty="0" sz="2600">
                <a:latin typeface="Cambria Math"/>
                <a:cs typeface="Cambria Math"/>
              </a:rPr>
              <a:t>=</a:t>
            </a:r>
            <a:r>
              <a:rPr dirty="0" sz="2600" spc="-250">
                <a:latin typeface="Cambria Math"/>
                <a:cs typeface="Cambria Math"/>
              </a:rPr>
              <a:t> </a:t>
            </a:r>
            <a:r>
              <a:rPr dirty="0" sz="2600" spc="10">
                <a:latin typeface="Cambria Math"/>
                <a:cs typeface="Cambria Math"/>
              </a:rPr>
              <a:t>𝜎(</a:t>
            </a:r>
            <a:r>
              <a:rPr dirty="0" baseline="2136" sz="3900" spc="15">
                <a:latin typeface="Cambria Math"/>
                <a:cs typeface="Cambria Math"/>
              </a:rPr>
              <a:t>∑</a:t>
            </a:r>
            <a:endParaRPr baseline="2136" sz="39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668468" y="4147616"/>
            <a:ext cx="300990" cy="223520"/>
          </a:xfrm>
          <a:custGeom>
            <a:avLst/>
            <a:gdLst/>
            <a:ahLst/>
            <a:cxnLst/>
            <a:rect l="l" t="t" r="r" b="b"/>
            <a:pathLst>
              <a:path w="300989" h="223520">
                <a:moveTo>
                  <a:pt x="229085" y="0"/>
                </a:moveTo>
                <a:lnTo>
                  <a:pt x="225903" y="9072"/>
                </a:lnTo>
                <a:lnTo>
                  <a:pt x="238841" y="14687"/>
                </a:lnTo>
                <a:lnTo>
                  <a:pt x="249968" y="22460"/>
                </a:lnTo>
                <a:lnTo>
                  <a:pt x="272560" y="58488"/>
                </a:lnTo>
                <a:lnTo>
                  <a:pt x="279984" y="110636"/>
                </a:lnTo>
                <a:lnTo>
                  <a:pt x="279155" y="130349"/>
                </a:lnTo>
                <a:lnTo>
                  <a:pt x="266729" y="178619"/>
                </a:lnTo>
                <a:lnTo>
                  <a:pt x="238992" y="208796"/>
                </a:lnTo>
                <a:lnTo>
                  <a:pt x="226256" y="214436"/>
                </a:lnTo>
                <a:lnTo>
                  <a:pt x="229085" y="223509"/>
                </a:lnTo>
                <a:lnTo>
                  <a:pt x="271787" y="198137"/>
                </a:lnTo>
                <a:lnTo>
                  <a:pt x="295771" y="151299"/>
                </a:lnTo>
                <a:lnTo>
                  <a:pt x="300366" y="111813"/>
                </a:lnTo>
                <a:lnTo>
                  <a:pt x="299214" y="91323"/>
                </a:lnTo>
                <a:lnTo>
                  <a:pt x="281927" y="39176"/>
                </a:lnTo>
                <a:lnTo>
                  <a:pt x="245288" y="5851"/>
                </a:lnTo>
                <a:lnTo>
                  <a:pt x="229085" y="0"/>
                </a:lnTo>
                <a:close/>
              </a:path>
              <a:path w="300989" h="223520">
                <a:moveTo>
                  <a:pt x="71282" y="0"/>
                </a:moveTo>
                <a:lnTo>
                  <a:pt x="28656" y="25439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1" y="217666"/>
                </a:lnTo>
                <a:lnTo>
                  <a:pt x="71282" y="223509"/>
                </a:lnTo>
                <a:lnTo>
                  <a:pt x="74110" y="214436"/>
                </a:lnTo>
                <a:lnTo>
                  <a:pt x="61374" y="208796"/>
                </a:lnTo>
                <a:lnTo>
                  <a:pt x="50384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134244" y="4074159"/>
            <a:ext cx="76263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40">
                <a:latin typeface="Cambria Math"/>
                <a:cs typeface="Cambria Math"/>
              </a:rPr>
              <a:t>%∈+ </a:t>
            </a:r>
            <a:r>
              <a:rPr dirty="0" sz="1900" spc="50">
                <a:latin typeface="Cambria Math"/>
                <a:cs typeface="Cambria Math"/>
              </a:rPr>
              <a:t> </a:t>
            </a:r>
            <a:r>
              <a:rPr dirty="0" sz="1900" spc="525">
                <a:latin typeface="Cambria Math"/>
                <a:cs typeface="Cambria Math"/>
              </a:rPr>
              <a:t>!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30698" y="4052823"/>
            <a:ext cx="31877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30">
                <a:solidFill>
                  <a:srgbClr val="479249"/>
                </a:solidFill>
                <a:latin typeface="Cambria Math"/>
                <a:cs typeface="Cambria Math"/>
              </a:rPr>
              <a:t>!%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86716" y="4071111"/>
            <a:ext cx="1822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459">
                <a:latin typeface="Cambria Math"/>
                <a:cs typeface="Cambria Math"/>
              </a:rPr>
              <a:t>%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32261" y="3720084"/>
            <a:ext cx="210121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914" sz="3900" spc="569">
                <a:solidFill>
                  <a:srgbClr val="479249"/>
                </a:solidFill>
                <a:latin typeface="Cambria Math"/>
                <a:cs typeface="Cambria Math"/>
              </a:rPr>
              <a:t>𝛼</a:t>
            </a:r>
            <a:r>
              <a:rPr dirty="0" baseline="-13157" sz="2850" spc="569">
                <a:solidFill>
                  <a:srgbClr val="479249"/>
                </a:solidFill>
                <a:latin typeface="Cambria Math"/>
                <a:cs typeface="Cambria Math"/>
              </a:rPr>
              <a:t>'</a:t>
            </a:r>
            <a:r>
              <a:rPr dirty="0" baseline="-13157" sz="2850" spc="637">
                <a:solidFill>
                  <a:srgbClr val="479249"/>
                </a:solidFill>
                <a:latin typeface="Cambria Math"/>
                <a:cs typeface="Cambria Math"/>
              </a:rPr>
              <a:t> </a:t>
            </a:r>
            <a:r>
              <a:rPr dirty="0" baseline="-29914" sz="3900" spc="97">
                <a:latin typeface="Cambria Math"/>
                <a:cs typeface="Cambria Math"/>
              </a:rPr>
              <a:t>𝐖</a:t>
            </a:r>
            <a:r>
              <a:rPr dirty="0" baseline="-13157" sz="2850" spc="97">
                <a:latin typeface="Cambria Math"/>
                <a:cs typeface="Cambria Math"/>
              </a:rPr>
              <a:t>(#)</a:t>
            </a:r>
            <a:r>
              <a:rPr dirty="0" baseline="-29914" sz="3900" spc="97">
                <a:latin typeface="Cambria Math"/>
                <a:cs typeface="Cambria Math"/>
              </a:rPr>
              <a:t>𝐡</a:t>
            </a:r>
            <a:r>
              <a:rPr dirty="0" sz="1900" spc="65">
                <a:latin typeface="Cambria Math"/>
                <a:cs typeface="Cambria Math"/>
              </a:rPr>
              <a:t>(#,-)</a:t>
            </a:r>
            <a:r>
              <a:rPr dirty="0" baseline="-29914" sz="3900" spc="97">
                <a:latin typeface="Corbel"/>
                <a:cs typeface="Corbel"/>
              </a:rPr>
              <a:t>)</a:t>
            </a:r>
            <a:endParaRPr baseline="-29914" sz="3900">
              <a:latin typeface="Corbel"/>
              <a:cs typeface="Corbe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08924" y="4430267"/>
            <a:ext cx="195135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55">
                <a:latin typeface="Cambria Math"/>
                <a:cs typeface="Cambria Math"/>
              </a:rPr>
              <a:t>𝐡</a:t>
            </a:r>
            <a:r>
              <a:rPr dirty="0" baseline="40935" sz="2850" spc="-82">
                <a:latin typeface="Cambria Math"/>
                <a:cs typeface="Cambria Math"/>
              </a:rPr>
              <a:t>(#)</a:t>
            </a:r>
            <a:r>
              <a:rPr dirty="0" sz="2600" spc="-55">
                <a:latin typeface="Cambria Math"/>
                <a:cs typeface="Cambria Math"/>
              </a:rPr>
              <a:t>[3]  </a:t>
            </a:r>
            <a:r>
              <a:rPr dirty="0" sz="2600">
                <a:latin typeface="Cambria Math"/>
                <a:cs typeface="Cambria Math"/>
              </a:rPr>
              <a:t>=</a:t>
            </a:r>
            <a:r>
              <a:rPr dirty="0" sz="2600" spc="-250">
                <a:latin typeface="Cambria Math"/>
                <a:cs typeface="Cambria Math"/>
              </a:rPr>
              <a:t> </a:t>
            </a:r>
            <a:r>
              <a:rPr dirty="0" sz="2600" spc="10">
                <a:latin typeface="Cambria Math"/>
                <a:cs typeface="Cambria Math"/>
              </a:rPr>
              <a:t>𝜎(</a:t>
            </a:r>
            <a:r>
              <a:rPr dirty="0" baseline="2136" sz="3900" spc="15">
                <a:latin typeface="Cambria Math"/>
                <a:cs typeface="Cambria Math"/>
              </a:rPr>
              <a:t>∑</a:t>
            </a:r>
            <a:endParaRPr baseline="2136" sz="39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668468" y="4681016"/>
            <a:ext cx="300990" cy="223520"/>
          </a:xfrm>
          <a:custGeom>
            <a:avLst/>
            <a:gdLst/>
            <a:ahLst/>
            <a:cxnLst/>
            <a:rect l="l" t="t" r="r" b="b"/>
            <a:pathLst>
              <a:path w="300989" h="223520">
                <a:moveTo>
                  <a:pt x="229085" y="0"/>
                </a:moveTo>
                <a:lnTo>
                  <a:pt x="225903" y="9072"/>
                </a:lnTo>
                <a:lnTo>
                  <a:pt x="238841" y="14687"/>
                </a:lnTo>
                <a:lnTo>
                  <a:pt x="249968" y="22460"/>
                </a:lnTo>
                <a:lnTo>
                  <a:pt x="272560" y="58488"/>
                </a:lnTo>
                <a:lnTo>
                  <a:pt x="279984" y="110636"/>
                </a:lnTo>
                <a:lnTo>
                  <a:pt x="279155" y="130349"/>
                </a:lnTo>
                <a:lnTo>
                  <a:pt x="266729" y="178619"/>
                </a:lnTo>
                <a:lnTo>
                  <a:pt x="238992" y="208796"/>
                </a:lnTo>
                <a:lnTo>
                  <a:pt x="226256" y="214436"/>
                </a:lnTo>
                <a:lnTo>
                  <a:pt x="229085" y="223509"/>
                </a:lnTo>
                <a:lnTo>
                  <a:pt x="271787" y="198137"/>
                </a:lnTo>
                <a:lnTo>
                  <a:pt x="295771" y="151299"/>
                </a:lnTo>
                <a:lnTo>
                  <a:pt x="300366" y="111813"/>
                </a:lnTo>
                <a:lnTo>
                  <a:pt x="299214" y="91323"/>
                </a:lnTo>
                <a:lnTo>
                  <a:pt x="281927" y="39176"/>
                </a:lnTo>
                <a:lnTo>
                  <a:pt x="245288" y="5851"/>
                </a:lnTo>
                <a:lnTo>
                  <a:pt x="229085" y="0"/>
                </a:lnTo>
                <a:close/>
              </a:path>
              <a:path w="300989" h="223520">
                <a:moveTo>
                  <a:pt x="71282" y="0"/>
                </a:moveTo>
                <a:lnTo>
                  <a:pt x="28656" y="25439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1" y="217666"/>
                </a:lnTo>
                <a:lnTo>
                  <a:pt x="71282" y="223509"/>
                </a:lnTo>
                <a:lnTo>
                  <a:pt x="74110" y="214436"/>
                </a:lnTo>
                <a:lnTo>
                  <a:pt x="61374" y="208796"/>
                </a:lnTo>
                <a:lnTo>
                  <a:pt x="50384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410536" y="4607559"/>
            <a:ext cx="248602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6089" algn="l"/>
              </a:tabLst>
            </a:pPr>
            <a:r>
              <a:rPr dirty="0" sz="1900" spc="525">
                <a:latin typeface="Cambria Math"/>
                <a:cs typeface="Cambria Math"/>
              </a:rPr>
              <a:t>!	</a:t>
            </a:r>
            <a:r>
              <a:rPr dirty="0" sz="1900" spc="-140">
                <a:latin typeface="Cambria Math"/>
                <a:cs typeface="Cambria Math"/>
              </a:rPr>
              <a:t>%∈+ </a:t>
            </a:r>
            <a:r>
              <a:rPr dirty="0" sz="1900" spc="50">
                <a:latin typeface="Cambria Math"/>
                <a:cs typeface="Cambria Math"/>
              </a:rPr>
              <a:t> </a:t>
            </a:r>
            <a:r>
              <a:rPr dirty="0" sz="1900" spc="525">
                <a:latin typeface="Cambria Math"/>
                <a:cs typeface="Cambria Math"/>
              </a:rPr>
              <a:t>!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30698" y="4586223"/>
            <a:ext cx="31877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30">
                <a:solidFill>
                  <a:srgbClr val="0070C0"/>
                </a:solidFill>
                <a:latin typeface="Cambria Math"/>
                <a:cs typeface="Cambria Math"/>
              </a:rPr>
              <a:t>!%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386716" y="4604511"/>
            <a:ext cx="1822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459">
                <a:latin typeface="Cambria Math"/>
                <a:cs typeface="Cambria Math"/>
              </a:rPr>
              <a:t>%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032261" y="4253484"/>
            <a:ext cx="210121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914" sz="3900" spc="615">
                <a:solidFill>
                  <a:srgbClr val="0070C0"/>
                </a:solidFill>
                <a:latin typeface="Cambria Math"/>
                <a:cs typeface="Cambria Math"/>
              </a:rPr>
              <a:t>𝛼</a:t>
            </a:r>
            <a:r>
              <a:rPr dirty="0" baseline="-13157" sz="2850" spc="615">
                <a:solidFill>
                  <a:srgbClr val="0070C0"/>
                </a:solidFill>
                <a:latin typeface="Cambria Math"/>
                <a:cs typeface="Cambria Math"/>
              </a:rPr>
              <a:t>.</a:t>
            </a:r>
            <a:r>
              <a:rPr dirty="0" baseline="-13157" sz="2850" spc="637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baseline="-29914" sz="3900" spc="97">
                <a:latin typeface="Cambria Math"/>
                <a:cs typeface="Cambria Math"/>
              </a:rPr>
              <a:t>𝐖</a:t>
            </a:r>
            <a:r>
              <a:rPr dirty="0" baseline="-13157" sz="2850" spc="97">
                <a:latin typeface="Cambria Math"/>
                <a:cs typeface="Cambria Math"/>
              </a:rPr>
              <a:t>(#)</a:t>
            </a:r>
            <a:r>
              <a:rPr dirty="0" baseline="-29914" sz="3900" spc="97">
                <a:latin typeface="Cambria Math"/>
                <a:cs typeface="Cambria Math"/>
              </a:rPr>
              <a:t>𝐡</a:t>
            </a:r>
            <a:r>
              <a:rPr dirty="0" sz="1900" spc="65">
                <a:latin typeface="Cambria Math"/>
                <a:cs typeface="Cambria Math"/>
              </a:rPr>
              <a:t>(#,-)</a:t>
            </a:r>
            <a:r>
              <a:rPr dirty="0" baseline="-29914" sz="3900" spc="97">
                <a:latin typeface="Corbel"/>
                <a:cs typeface="Corbel"/>
              </a:rPr>
              <a:t>)</a:t>
            </a:r>
            <a:endParaRPr baseline="-29914" sz="3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8049768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2032"/>
            <a:ext cx="7856220" cy="1250950"/>
          </a:xfrm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marL="332740" marR="5080" indent="-320040">
              <a:lnSpc>
                <a:spcPct val="80000"/>
              </a:lnSpc>
              <a:spcBef>
                <a:spcPts val="745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30">
                <a:solidFill>
                  <a:srgbClr val="0000FF"/>
                </a:solidFill>
              </a:rPr>
              <a:t>Key </a:t>
            </a:r>
            <a:r>
              <a:rPr dirty="0" sz="2700" spc="-5">
                <a:solidFill>
                  <a:srgbClr val="0000FF"/>
                </a:solidFill>
              </a:rPr>
              <a:t>benefit: </a:t>
            </a:r>
            <a:r>
              <a:rPr dirty="0" sz="2700" spc="-10" b="0">
                <a:solidFill>
                  <a:srgbClr val="000000"/>
                </a:solidFill>
                <a:latin typeface="Calibri"/>
                <a:cs typeface="Calibri"/>
              </a:rPr>
              <a:t>Allows </a:t>
            </a:r>
            <a:r>
              <a:rPr dirty="0" sz="2700" spc="-20" b="0">
                <a:solidFill>
                  <a:srgbClr val="000000"/>
                </a:solidFill>
                <a:latin typeface="Calibri"/>
                <a:cs typeface="Calibri"/>
              </a:rPr>
              <a:t>for </a:t>
            </a:r>
            <a:r>
              <a:rPr dirty="0" sz="2700" spc="-5" b="0">
                <a:solidFill>
                  <a:srgbClr val="000000"/>
                </a:solidFill>
                <a:latin typeface="Calibri"/>
                <a:cs typeface="Calibri"/>
              </a:rPr>
              <a:t>(implicitly) specifying </a:t>
            </a:r>
            <a:r>
              <a:rPr dirty="0" sz="2700" spc="-15">
                <a:solidFill>
                  <a:srgbClr val="D60093"/>
                </a:solidFill>
              </a:rPr>
              <a:t>different  </a:t>
            </a:r>
            <a:r>
              <a:rPr dirty="0" sz="2700" spc="-5">
                <a:solidFill>
                  <a:srgbClr val="D60093"/>
                </a:solidFill>
              </a:rPr>
              <a:t>importance </a:t>
            </a:r>
            <a:r>
              <a:rPr dirty="0" sz="2700" spc="-10">
                <a:solidFill>
                  <a:srgbClr val="D60093"/>
                </a:solidFill>
              </a:rPr>
              <a:t>values </a:t>
            </a:r>
            <a:r>
              <a:rPr dirty="0" sz="2700" spc="0" b="0">
                <a:solidFill>
                  <a:srgbClr val="D60093"/>
                </a:solidFill>
                <a:latin typeface="Cambria Math"/>
                <a:cs typeface="Cambria Math"/>
              </a:rPr>
              <a:t>(𝜶</a:t>
            </a:r>
            <a:r>
              <a:rPr dirty="0" baseline="-15277" sz="3000" spc="0" b="0">
                <a:solidFill>
                  <a:srgbClr val="D60093"/>
                </a:solidFill>
                <a:latin typeface="Cambria Math"/>
                <a:cs typeface="Cambria Math"/>
              </a:rPr>
              <a:t>𝒗𝒖</a:t>
            </a:r>
            <a:r>
              <a:rPr dirty="0" sz="2700" spc="0" b="0">
                <a:solidFill>
                  <a:srgbClr val="D60093"/>
                </a:solidFill>
                <a:latin typeface="Cambria Math"/>
                <a:cs typeface="Cambria Math"/>
              </a:rPr>
              <a:t>) </a:t>
            </a:r>
            <a:r>
              <a:rPr dirty="0" sz="2700" spc="-15">
                <a:solidFill>
                  <a:srgbClr val="D60093"/>
                </a:solidFill>
              </a:rPr>
              <a:t>to different</a:t>
            </a:r>
            <a:r>
              <a:rPr dirty="0" sz="2700" spc="35">
                <a:solidFill>
                  <a:srgbClr val="D60093"/>
                </a:solidFill>
              </a:rPr>
              <a:t> </a:t>
            </a:r>
            <a:r>
              <a:rPr dirty="0" sz="2700" spc="-10">
                <a:solidFill>
                  <a:srgbClr val="D60093"/>
                </a:solidFill>
              </a:rPr>
              <a:t>neighbors</a:t>
            </a:r>
            <a:endParaRPr sz="27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57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0">
                <a:solidFill>
                  <a:srgbClr val="000000"/>
                </a:solidFill>
              </a:rPr>
              <a:t>Computationally</a:t>
            </a:r>
            <a:r>
              <a:rPr dirty="0" sz="2700" spc="-5">
                <a:solidFill>
                  <a:srgbClr val="000000"/>
                </a:solidFill>
              </a:rPr>
              <a:t> </a:t>
            </a:r>
            <a:r>
              <a:rPr dirty="0" sz="2700" spc="-10">
                <a:solidFill>
                  <a:srgbClr val="000000"/>
                </a:solidFill>
              </a:rPr>
              <a:t>efficient</a:t>
            </a:r>
            <a:r>
              <a:rPr dirty="0" sz="2700" spc="-10" b="0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504948"/>
            <a:ext cx="7854315" cy="414972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625475" marR="5080" indent="-274320">
              <a:lnSpc>
                <a:spcPts val="2300"/>
              </a:lnSpc>
              <a:spcBef>
                <a:spcPts val="660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Computation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15">
                <a:latin typeface="Calibri"/>
                <a:cs typeface="Calibri"/>
              </a:rPr>
              <a:t>attentional </a:t>
            </a:r>
            <a:r>
              <a:rPr dirty="0" sz="2400" spc="-10">
                <a:latin typeface="Calibri"/>
                <a:cs typeface="Calibri"/>
              </a:rPr>
              <a:t>coefficients can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15">
                <a:latin typeface="Calibri"/>
                <a:cs typeface="Calibri"/>
              </a:rPr>
              <a:t>parallelized  </a:t>
            </a:r>
            <a:r>
              <a:rPr dirty="0" sz="2400" spc="-10">
                <a:latin typeface="Calibri"/>
                <a:cs typeface="Calibri"/>
              </a:rPr>
              <a:t>across </a:t>
            </a:r>
            <a:r>
              <a:rPr dirty="0" sz="2400">
                <a:latin typeface="Calibri"/>
                <a:cs typeface="Calibri"/>
              </a:rPr>
              <a:t>all </a:t>
            </a:r>
            <a:r>
              <a:rPr dirty="0" sz="2400" spc="-10">
                <a:latin typeface="Calibri"/>
                <a:cs typeface="Calibri"/>
              </a:rPr>
              <a:t>edges </a:t>
            </a:r>
            <a:r>
              <a:rPr dirty="0" sz="2400" spc="-5">
                <a:latin typeface="Calibri"/>
                <a:cs typeface="Calibri"/>
              </a:rPr>
              <a:t>of 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  <a:p>
            <a:pPr marL="625475" indent="-274320">
              <a:lnSpc>
                <a:spcPts val="2550"/>
              </a:lnSpc>
              <a:spcBef>
                <a:spcPts val="20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15">
                <a:latin typeface="Calibri"/>
                <a:cs typeface="Calibri"/>
              </a:rPr>
              <a:t>Aggregation </a:t>
            </a:r>
            <a:r>
              <a:rPr dirty="0" sz="2400" spc="-20">
                <a:latin typeface="Calibri"/>
                <a:cs typeface="Calibri"/>
              </a:rPr>
              <a:t>may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15">
                <a:latin typeface="Calibri"/>
                <a:cs typeface="Calibri"/>
              </a:rPr>
              <a:t>parallelized </a:t>
            </a:r>
            <a:r>
              <a:rPr dirty="0" sz="2400" spc="-10">
                <a:latin typeface="Calibri"/>
                <a:cs typeface="Calibri"/>
              </a:rPr>
              <a:t>across </a:t>
            </a:r>
            <a:r>
              <a:rPr dirty="0" sz="2400" spc="-5">
                <a:latin typeface="Calibri"/>
                <a:cs typeface="Calibri"/>
              </a:rPr>
              <a:t>all</a:t>
            </a:r>
            <a:r>
              <a:rPr dirty="0" sz="2400" spc="8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2880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20" b="1">
                <a:latin typeface="Calibri"/>
                <a:cs typeface="Calibri"/>
              </a:rPr>
              <a:t>Storage</a:t>
            </a:r>
            <a:r>
              <a:rPr dirty="0" sz="2700" spc="-65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efficient</a:t>
            </a:r>
            <a:r>
              <a:rPr dirty="0" sz="2700" spc="-10"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ts val="2560"/>
              </a:lnSpc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Sparse matrix operations </a:t>
            </a:r>
            <a:r>
              <a:rPr dirty="0" sz="2400">
                <a:latin typeface="Calibri"/>
                <a:cs typeface="Calibri"/>
              </a:rPr>
              <a:t>do </a:t>
            </a:r>
            <a:r>
              <a:rPr dirty="0" sz="2400" spc="-5">
                <a:latin typeface="Calibri"/>
                <a:cs typeface="Calibri"/>
              </a:rPr>
              <a:t>not </a:t>
            </a:r>
            <a:r>
              <a:rPr dirty="0" sz="2400" spc="-15">
                <a:latin typeface="Calibri"/>
                <a:cs typeface="Calibri"/>
              </a:rPr>
              <a:t>require more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than</a:t>
            </a:r>
            <a:endParaRPr sz="2400">
              <a:latin typeface="Calibri"/>
              <a:cs typeface="Calibri"/>
            </a:endParaRPr>
          </a:p>
          <a:p>
            <a:pPr marL="625475">
              <a:lnSpc>
                <a:spcPts val="2590"/>
              </a:lnSpc>
            </a:pPr>
            <a:r>
              <a:rPr dirty="0" sz="2400" spc="10">
                <a:latin typeface="Cambria Math"/>
                <a:cs typeface="Cambria Math"/>
              </a:rPr>
              <a:t>𝑂(𝑉 </a:t>
            </a:r>
            <a:r>
              <a:rPr dirty="0" sz="2400">
                <a:latin typeface="Cambria Math"/>
                <a:cs typeface="Cambria Math"/>
              </a:rPr>
              <a:t>+ </a:t>
            </a:r>
            <a:r>
              <a:rPr dirty="0" sz="2400" spc="40">
                <a:latin typeface="Cambria Math"/>
                <a:cs typeface="Cambria Math"/>
              </a:rPr>
              <a:t>𝐸) </a:t>
            </a:r>
            <a:r>
              <a:rPr dirty="0" sz="2400" spc="-5">
                <a:latin typeface="Calibri"/>
                <a:cs typeface="Calibri"/>
              </a:rPr>
              <a:t>entries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0">
                <a:latin typeface="Calibri"/>
                <a:cs typeface="Calibri"/>
              </a:rPr>
              <a:t> stored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ts val="2540"/>
              </a:lnSpc>
              <a:spcBef>
                <a:spcPts val="2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15" b="1">
                <a:latin typeface="Calibri"/>
                <a:cs typeface="Calibri"/>
              </a:rPr>
              <a:t>Fixed </a:t>
            </a:r>
            <a:r>
              <a:rPr dirty="0" sz="2400" spc="-5">
                <a:latin typeface="Calibri"/>
                <a:cs typeface="Calibri"/>
              </a:rPr>
              <a:t>number of </a:t>
            </a:r>
            <a:r>
              <a:rPr dirty="0" sz="2400" spc="-15">
                <a:latin typeface="Calibri"/>
                <a:cs typeface="Calibri"/>
              </a:rPr>
              <a:t>parameters, </a:t>
            </a:r>
            <a:r>
              <a:rPr dirty="0" sz="2400" spc="-10">
                <a:latin typeface="Calibri"/>
                <a:cs typeface="Calibri"/>
              </a:rPr>
              <a:t>irrespective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15">
                <a:latin typeface="Calibri"/>
                <a:cs typeface="Calibri"/>
              </a:rPr>
              <a:t>graph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2900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0" b="1">
                <a:latin typeface="Calibri"/>
                <a:cs typeface="Calibri"/>
              </a:rPr>
              <a:t>Localized</a:t>
            </a:r>
            <a:r>
              <a:rPr dirty="0" sz="2700" spc="-10"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ts val="2540"/>
              </a:lnSpc>
              <a:spcBef>
                <a:spcPts val="60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Only </a:t>
            </a:r>
            <a:r>
              <a:rPr dirty="0" sz="2400" spc="-15" b="1">
                <a:solidFill>
                  <a:srgbClr val="0000FF"/>
                </a:solidFill>
                <a:latin typeface="Calibri"/>
                <a:cs typeface="Calibri"/>
              </a:rPr>
              <a:t>attends </a:t>
            </a: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over local network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 neighborhoods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2900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 b="1">
                <a:latin typeface="Calibri"/>
                <a:cs typeface="Calibri"/>
              </a:rPr>
              <a:t>Inductive</a:t>
            </a:r>
            <a:r>
              <a:rPr dirty="0" sz="2700" spc="-80" b="1">
                <a:latin typeface="Calibri"/>
                <a:cs typeface="Calibri"/>
              </a:rPr>
              <a:t> </a:t>
            </a:r>
            <a:r>
              <a:rPr dirty="0" sz="2700" spc="-5" b="1">
                <a:latin typeface="Calibri"/>
                <a:cs typeface="Calibri"/>
              </a:rPr>
              <a:t>capability</a:t>
            </a:r>
            <a:r>
              <a:rPr dirty="0" sz="2700" spc="-5"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ts val="2845"/>
              </a:lnSpc>
              <a:spcBef>
                <a:spcPts val="60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It is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>
                <a:latin typeface="Calibri"/>
                <a:cs typeface="Calibri"/>
              </a:rPr>
              <a:t>shared </a:t>
            </a:r>
            <a:r>
              <a:rPr dirty="0" sz="2400" spc="-5" i="1">
                <a:latin typeface="Calibri"/>
                <a:cs typeface="Calibri"/>
              </a:rPr>
              <a:t>edge-wise</a:t>
            </a:r>
            <a:r>
              <a:rPr dirty="0" sz="2400" spc="-20" i="1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mechanism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ts val="2845"/>
              </a:lnSpc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It does not </a:t>
            </a:r>
            <a:r>
              <a:rPr dirty="0" sz="2400">
                <a:latin typeface="Calibri"/>
                <a:cs typeface="Calibri"/>
              </a:rPr>
              <a:t>depend </a:t>
            </a:r>
            <a:r>
              <a:rPr dirty="0" sz="2400" spc="-5">
                <a:latin typeface="Calibri"/>
                <a:cs typeface="Calibri"/>
              </a:rPr>
              <a:t>on the global </a:t>
            </a:r>
            <a:r>
              <a:rPr dirty="0" sz="2400" spc="-15">
                <a:latin typeface="Calibri"/>
                <a:cs typeface="Calibri"/>
              </a:rPr>
              <a:t>graph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structure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9976" y="347472"/>
            <a:ext cx="7821168" cy="551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314565" y="6400291"/>
            <a:ext cx="929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3425" algn="l"/>
              </a:tabLst>
            </a:pPr>
            <a:r>
              <a:rPr dirty="0" sz="1800" spc="-280">
                <a:latin typeface="Cambria Math"/>
                <a:cs typeface="Cambria Math"/>
              </a:rPr>
              <a:t>7</a:t>
            </a:r>
            <a:r>
              <a:rPr dirty="0" sz="1800" spc="-260">
                <a:latin typeface="Cambria Math"/>
                <a:cs typeface="Cambria Math"/>
              </a:rPr>
              <a:t>8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-280">
                <a:latin typeface="Cambria Math"/>
                <a:cs typeface="Cambria Math"/>
              </a:rPr>
              <a:t>87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0883" y="6247891"/>
            <a:ext cx="71596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libri"/>
                <a:cs typeface="Calibri"/>
              </a:rPr>
              <a:t>nodes </a:t>
            </a:r>
            <a:r>
              <a:rPr dirty="0" sz="2400">
                <a:latin typeface="Cambria Math"/>
                <a:cs typeface="Cambria Math"/>
              </a:rPr>
              <a:t>𝑖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10">
                <a:latin typeface="Cambria Math"/>
                <a:cs typeface="Cambria Math"/>
              </a:rPr>
              <a:t>𝑗</a:t>
            </a:r>
            <a:r>
              <a:rPr dirty="0" sz="2400" spc="10">
                <a:latin typeface="Calibri"/>
                <a:cs typeface="Calibri"/>
              </a:rPr>
              <a:t>, </a:t>
            </a:r>
            <a:r>
              <a:rPr dirty="0" sz="2400" spc="-10">
                <a:latin typeface="Calibri"/>
                <a:cs typeface="Calibri"/>
              </a:rPr>
              <a:t>across eight </a:t>
            </a:r>
            <a:r>
              <a:rPr dirty="0" sz="2400" spc="-15">
                <a:latin typeface="Calibri"/>
                <a:cs typeface="Calibri"/>
              </a:rPr>
              <a:t>attention </a:t>
            </a:r>
            <a:r>
              <a:rPr dirty="0" sz="2400" spc="-5">
                <a:latin typeface="Calibri"/>
                <a:cs typeface="Calibri"/>
              </a:rPr>
              <a:t>heads, </a:t>
            </a:r>
            <a:r>
              <a:rPr dirty="0" baseline="2314" sz="3600" spc="82">
                <a:latin typeface="Cambria Math"/>
                <a:cs typeface="Cambria Math"/>
              </a:rPr>
              <a:t>∑</a:t>
            </a:r>
            <a:r>
              <a:rPr dirty="0" baseline="-18518" sz="2700" spc="82">
                <a:latin typeface="Cambria Math"/>
                <a:cs typeface="Cambria Math"/>
              </a:rPr>
              <a:t>6</a:t>
            </a:r>
            <a:r>
              <a:rPr dirty="0" sz="2400" spc="55">
                <a:latin typeface="Cambria Math"/>
                <a:cs typeface="Cambria Math"/>
              </a:rPr>
              <a:t>(𝛼</a:t>
            </a:r>
            <a:r>
              <a:rPr dirty="0" baseline="30864" sz="2700" spc="82">
                <a:latin typeface="Cambria Math"/>
                <a:cs typeface="Cambria Math"/>
              </a:rPr>
              <a:t>6 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-140">
                <a:latin typeface="Cambria Math"/>
                <a:cs typeface="Cambria Math"/>
              </a:rPr>
              <a:t> </a:t>
            </a:r>
            <a:r>
              <a:rPr dirty="0" sz="2400" spc="100">
                <a:latin typeface="Cambria Math"/>
                <a:cs typeface="Cambria Math"/>
              </a:rPr>
              <a:t>𝛼</a:t>
            </a:r>
            <a:r>
              <a:rPr dirty="0" baseline="30864" sz="2700" spc="150">
                <a:latin typeface="Cambria Math"/>
                <a:cs typeface="Cambria Math"/>
              </a:rPr>
              <a:t>6</a:t>
            </a:r>
            <a:r>
              <a:rPr dirty="0" sz="2400" spc="10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1447800"/>
            <a:ext cx="6082487" cy="3580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16036" y="1168288"/>
            <a:ext cx="3372408" cy="2603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48400" y="3200400"/>
            <a:ext cx="457200" cy="152400"/>
          </a:xfrm>
          <a:custGeom>
            <a:avLst/>
            <a:gdLst/>
            <a:ahLst/>
            <a:cxnLst/>
            <a:rect l="l" t="t" r="r" b="b"/>
            <a:pathLst>
              <a:path w="457200" h="152400">
                <a:moveTo>
                  <a:pt x="0" y="0"/>
                </a:moveTo>
                <a:lnTo>
                  <a:pt x="457200" y="0"/>
                </a:lnTo>
                <a:lnTo>
                  <a:pt x="4572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18108" y="3848100"/>
            <a:ext cx="8239759" cy="24739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555615" marR="5080">
              <a:lnSpc>
                <a:spcPct val="98600"/>
              </a:lnSpc>
              <a:spcBef>
                <a:spcPts val="120"/>
              </a:spcBef>
            </a:pP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Attention mechanism can be</a:t>
            </a:r>
            <a:r>
              <a:rPr dirty="0" sz="1400" spc="-6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used  with many </a:t>
            </a:r>
            <a:r>
              <a:rPr dirty="0" sz="1400" spc="-10">
                <a:solidFill>
                  <a:srgbClr val="008000"/>
                </a:solidFill>
                <a:latin typeface="Arial"/>
                <a:cs typeface="Arial"/>
              </a:rPr>
              <a:t>different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graph neural  network</a:t>
            </a:r>
            <a:r>
              <a:rPr dirty="0" sz="1400" spc="-8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models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Times New Roman"/>
              <a:cs typeface="Times New Roman"/>
            </a:endParaRPr>
          </a:p>
          <a:p>
            <a:pPr marL="5555615" marR="84455">
              <a:lnSpc>
                <a:spcPct val="100000"/>
              </a:lnSpc>
            </a:pP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In many cases, attention leads to  performance</a:t>
            </a:r>
            <a:r>
              <a:rPr dirty="0" sz="1400" spc="-8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gains</a:t>
            </a:r>
            <a:endParaRPr sz="14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11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20" b="1">
                <a:latin typeface="Calibri"/>
                <a:cs typeface="Calibri"/>
              </a:rPr>
              <a:t>t-SNE </a:t>
            </a:r>
            <a:r>
              <a:rPr dirty="0" sz="2700" spc="-5" b="1">
                <a:latin typeface="Calibri"/>
                <a:cs typeface="Calibri"/>
              </a:rPr>
              <a:t>plot of </a:t>
            </a:r>
            <a:r>
              <a:rPr dirty="0" sz="2700" spc="-45" b="1">
                <a:latin typeface="Calibri"/>
                <a:cs typeface="Calibri"/>
              </a:rPr>
              <a:t>GAT-based </a:t>
            </a:r>
            <a:r>
              <a:rPr dirty="0" sz="2700" spc="-5" b="1">
                <a:latin typeface="Calibri"/>
                <a:cs typeface="Calibri"/>
              </a:rPr>
              <a:t>node</a:t>
            </a:r>
            <a:r>
              <a:rPr dirty="0" sz="2700" spc="55" b="1">
                <a:latin typeface="Calibri"/>
                <a:cs typeface="Calibri"/>
              </a:rPr>
              <a:t> </a:t>
            </a:r>
            <a:r>
              <a:rPr dirty="0" sz="2700" spc="-5" b="1">
                <a:latin typeface="Calibri"/>
                <a:cs typeface="Calibri"/>
              </a:rPr>
              <a:t>embeddings: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 spc="-10">
                <a:latin typeface="Calibri"/>
                <a:cs typeface="Calibri"/>
              </a:rPr>
              <a:t>color: </a:t>
            </a:r>
            <a:r>
              <a:rPr dirty="0" sz="2400">
                <a:latin typeface="Calibri"/>
                <a:cs typeface="Calibri"/>
              </a:rPr>
              <a:t>7 </a:t>
            </a:r>
            <a:r>
              <a:rPr dirty="0" sz="2400" spc="-10">
                <a:latin typeface="Calibri"/>
                <a:cs typeface="Calibri"/>
              </a:rPr>
              <a:t>publication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classes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0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15">
                <a:latin typeface="Calibri"/>
                <a:cs typeface="Calibri"/>
              </a:rPr>
              <a:t>Edge </a:t>
            </a:r>
            <a:r>
              <a:rPr dirty="0" sz="2400" spc="-5">
                <a:latin typeface="Calibri"/>
                <a:cs typeface="Calibri"/>
              </a:rPr>
              <a:t>thickness: </a:t>
            </a:r>
            <a:r>
              <a:rPr dirty="0" sz="2400" spc="-10">
                <a:latin typeface="Calibri"/>
                <a:cs typeface="Calibri"/>
              </a:rPr>
              <a:t>Normalized </a:t>
            </a:r>
            <a:r>
              <a:rPr dirty="0" sz="2400" spc="-15">
                <a:latin typeface="Calibri"/>
                <a:cs typeface="Calibri"/>
              </a:rPr>
              <a:t>attention </a:t>
            </a:r>
            <a:r>
              <a:rPr dirty="0" sz="2400" spc="-10">
                <a:latin typeface="Calibri"/>
                <a:cs typeface="Calibri"/>
              </a:rPr>
              <a:t>coefficients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between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6"/>
              </a:rPr>
              <a:t>http://cs224w.stanford.edu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26387" y="2400314"/>
            <a:ext cx="3196976" cy="3470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9976" y="347472"/>
            <a:ext cx="5370576" cy="551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69662" y="1415796"/>
            <a:ext cx="559435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60B5CC"/>
                </a:solidFill>
              </a:rPr>
              <a:t>In </a:t>
            </a:r>
            <a:r>
              <a:rPr dirty="0" spc="-15">
                <a:solidFill>
                  <a:srgbClr val="60B5CC"/>
                </a:solidFill>
              </a:rPr>
              <a:t>practice, </a:t>
            </a:r>
            <a:r>
              <a:rPr dirty="0" spc="-5">
                <a:solidFill>
                  <a:srgbClr val="60B5CC"/>
                </a:solidFill>
              </a:rPr>
              <a:t>these classic GNN  </a:t>
            </a:r>
            <a:r>
              <a:rPr dirty="0" spc="-25">
                <a:solidFill>
                  <a:srgbClr val="60B5CC"/>
                </a:solidFill>
              </a:rPr>
              <a:t>layers </a:t>
            </a:r>
            <a:r>
              <a:rPr dirty="0" spc="-15">
                <a:solidFill>
                  <a:srgbClr val="60B5CC"/>
                </a:solidFill>
              </a:rPr>
              <a:t>are </a:t>
            </a:r>
            <a:r>
              <a:rPr dirty="0">
                <a:solidFill>
                  <a:srgbClr val="60B5CC"/>
                </a:solidFill>
              </a:rPr>
              <a:t>a </a:t>
            </a:r>
            <a:r>
              <a:rPr dirty="0" spc="-20">
                <a:solidFill>
                  <a:srgbClr val="60B5CC"/>
                </a:solidFill>
              </a:rPr>
              <a:t>great </a:t>
            </a:r>
            <a:r>
              <a:rPr dirty="0" spc="-15">
                <a:solidFill>
                  <a:srgbClr val="60B5CC"/>
                </a:solidFill>
              </a:rPr>
              <a:t>starting</a:t>
            </a:r>
            <a:r>
              <a:rPr dirty="0" spc="25">
                <a:solidFill>
                  <a:srgbClr val="60B5CC"/>
                </a:solidFill>
              </a:rPr>
              <a:t> </a:t>
            </a:r>
            <a:r>
              <a:rPr dirty="0" spc="-10">
                <a:solidFill>
                  <a:srgbClr val="60B5CC"/>
                </a:solidFill>
              </a:rPr>
              <a:t>point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908117" y="2481579"/>
            <a:ext cx="4996180" cy="30949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87020" marR="408305" indent="-274320">
              <a:lnSpc>
                <a:spcPct val="99600"/>
              </a:lnSpc>
              <a:spcBef>
                <a:spcPts val="11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often </a:t>
            </a:r>
            <a:r>
              <a:rPr dirty="0" sz="2800" spc="-20">
                <a:latin typeface="Calibri"/>
                <a:cs typeface="Calibri"/>
              </a:rPr>
              <a:t>get better  </a:t>
            </a:r>
            <a:r>
              <a:rPr dirty="0" sz="2800" spc="-10">
                <a:latin typeface="Calibri"/>
                <a:cs typeface="Calibri"/>
              </a:rPr>
              <a:t>performance by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considering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a  </a:t>
            </a:r>
            <a:r>
              <a:rPr dirty="0" sz="2800" spc="-20">
                <a:solidFill>
                  <a:srgbClr val="C00000"/>
                </a:solidFill>
                <a:latin typeface="Calibri"/>
                <a:cs typeface="Calibri"/>
              </a:rPr>
              <a:t>general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800" spc="-25">
                <a:solidFill>
                  <a:srgbClr val="C00000"/>
                </a:solidFill>
                <a:latin typeface="Calibri"/>
                <a:cs typeface="Calibri"/>
              </a:rPr>
              <a:t>layer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design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ct val="100200"/>
              </a:lnSpc>
              <a:spcBef>
                <a:spcPts val="63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35">
                <a:latin typeface="Calibri"/>
                <a:cs typeface="Calibri"/>
              </a:rPr>
              <a:t>Concretely,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include  modern deep learning modules 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20">
                <a:latin typeface="Calibri"/>
                <a:cs typeface="Calibri"/>
              </a:rPr>
              <a:t>proved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10">
                <a:latin typeface="Calibri"/>
                <a:cs typeface="Calibri"/>
              </a:rPr>
              <a:t>useful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5">
                <a:latin typeface="Calibri"/>
                <a:cs typeface="Calibri"/>
              </a:rPr>
              <a:t>many  </a:t>
            </a:r>
            <a:r>
              <a:rPr dirty="0" sz="2800" spc="-5">
                <a:latin typeface="Calibri"/>
                <a:cs typeface="Calibri"/>
              </a:rPr>
              <a:t>domains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0389" y="20827"/>
            <a:ext cx="5156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8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92697" y="1900427"/>
            <a:ext cx="24676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Calibri"/>
                <a:cs typeface="Calibri"/>
              </a:rPr>
              <a:t>A </a:t>
            </a:r>
            <a:r>
              <a:rPr dirty="0" sz="2000" spc="-10" b="1">
                <a:latin typeface="Calibri"/>
                <a:cs typeface="Calibri"/>
              </a:rPr>
              <a:t>suggested </a:t>
            </a:r>
            <a:r>
              <a:rPr dirty="0" sz="2000" spc="-5" b="1">
                <a:latin typeface="Calibri"/>
                <a:cs typeface="Calibri"/>
              </a:rPr>
              <a:t>GNN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5" b="1">
                <a:latin typeface="Calibri"/>
                <a:cs typeface="Calibri"/>
              </a:rPr>
              <a:t>Layer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7942" y="2872653"/>
            <a:ext cx="3196976" cy="3470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9976" y="347472"/>
            <a:ext cx="5370576" cy="551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6701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E66C7D"/>
                </a:solidFill>
              </a:rPr>
              <a:t>Many </a:t>
            </a:r>
            <a:r>
              <a:rPr dirty="0" spc="-5">
                <a:solidFill>
                  <a:srgbClr val="E66C7D"/>
                </a:solidFill>
              </a:rPr>
              <a:t>modern deep learning modules </a:t>
            </a:r>
            <a:r>
              <a:rPr dirty="0" spc="-15">
                <a:solidFill>
                  <a:srgbClr val="E66C7D"/>
                </a:solidFill>
              </a:rPr>
              <a:t>can </a:t>
            </a:r>
            <a:r>
              <a:rPr dirty="0" spc="-5">
                <a:solidFill>
                  <a:srgbClr val="E66C7D"/>
                </a:solidFill>
              </a:rPr>
              <a:t>be  </a:t>
            </a:r>
            <a:r>
              <a:rPr dirty="0" spc="-20">
                <a:solidFill>
                  <a:srgbClr val="E66C7D"/>
                </a:solidFill>
              </a:rPr>
              <a:t>incorporated into </a:t>
            </a:r>
            <a:r>
              <a:rPr dirty="0">
                <a:solidFill>
                  <a:srgbClr val="E66C7D"/>
                </a:solidFill>
              </a:rPr>
              <a:t>a </a:t>
            </a:r>
            <a:r>
              <a:rPr dirty="0" spc="-5">
                <a:solidFill>
                  <a:srgbClr val="E66C7D"/>
                </a:solidFill>
              </a:rPr>
              <a:t>GNN</a:t>
            </a:r>
            <a:r>
              <a:rPr dirty="0" spc="25">
                <a:solidFill>
                  <a:srgbClr val="E66C7D"/>
                </a:solidFill>
              </a:rPr>
              <a:t> </a:t>
            </a:r>
            <a:r>
              <a:rPr dirty="0" spc="-25">
                <a:solidFill>
                  <a:srgbClr val="E66C7D"/>
                </a:solidFill>
              </a:rPr>
              <a:t>layer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956563" y="2333921"/>
            <a:ext cx="5509260" cy="382714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3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5" b="1">
                <a:latin typeface="Calibri"/>
                <a:cs typeface="Calibri"/>
              </a:rPr>
              <a:t>Batch</a:t>
            </a:r>
            <a:r>
              <a:rPr dirty="0" sz="2800" spc="-3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Normalization: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4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Stabilize </a:t>
            </a:r>
            <a:r>
              <a:rPr dirty="0" sz="2400" spc="-10">
                <a:latin typeface="Calibri"/>
                <a:cs typeface="Calibri"/>
              </a:rPr>
              <a:t>neural network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training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2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Dropout: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Prevent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overfitting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5" b="1">
                <a:latin typeface="Calibri"/>
                <a:cs typeface="Calibri"/>
              </a:rPr>
              <a:t>Attention/Gating: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Control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importance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message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3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More: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20">
                <a:latin typeface="Calibri"/>
                <a:cs typeface="Calibri"/>
              </a:rPr>
              <a:t>Any </a:t>
            </a:r>
            <a:r>
              <a:rPr dirty="0" sz="2400" spc="-5">
                <a:latin typeface="Calibri"/>
                <a:cs typeface="Calibri"/>
              </a:rPr>
              <a:t>other useful </a:t>
            </a:r>
            <a:r>
              <a:rPr dirty="0" sz="2400">
                <a:latin typeface="Calibri"/>
                <a:cs typeface="Calibri"/>
              </a:rPr>
              <a:t>deep </a:t>
            </a:r>
            <a:r>
              <a:rPr dirty="0" sz="2400" spc="-5">
                <a:latin typeface="Calibri"/>
                <a:cs typeface="Calibri"/>
              </a:rPr>
              <a:t>learning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modules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0389" y="20827"/>
            <a:ext cx="5156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8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34253" y="2372867"/>
            <a:ext cx="24676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Calibri"/>
                <a:cs typeface="Calibri"/>
              </a:rPr>
              <a:t>A </a:t>
            </a:r>
            <a:r>
              <a:rPr dirty="0" sz="2000" spc="-10" b="1">
                <a:latin typeface="Calibri"/>
                <a:cs typeface="Calibri"/>
              </a:rPr>
              <a:t>suggested </a:t>
            </a:r>
            <a:r>
              <a:rPr dirty="0" sz="2000" spc="-5" b="1">
                <a:latin typeface="Calibri"/>
                <a:cs typeface="Calibri"/>
              </a:rPr>
              <a:t>GNN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5" b="1">
                <a:latin typeface="Calibri"/>
                <a:cs typeface="Calibri"/>
              </a:rPr>
              <a:t>Layer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04139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86130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solidFill>
                  <a:srgbClr val="C00000"/>
                </a:solidFill>
              </a:rPr>
              <a:t>Goal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sz="3000" spc="-20" b="0">
                <a:solidFill>
                  <a:srgbClr val="000000"/>
                </a:solidFill>
                <a:latin typeface="Calibri"/>
                <a:cs typeface="Calibri"/>
              </a:rPr>
              <a:t>Stabilize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neural networks</a:t>
            </a:r>
            <a:r>
              <a:rPr dirty="0" sz="3000" spc="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training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solidFill>
                  <a:srgbClr val="C00000"/>
                </a:solidFill>
              </a:rPr>
              <a:t>Idea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Given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z="3000" spc="-20" b="0">
                <a:solidFill>
                  <a:srgbClr val="000000"/>
                </a:solidFill>
                <a:latin typeface="Calibri"/>
                <a:cs typeface="Calibri"/>
              </a:rPr>
              <a:t>batch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inputs (node</a:t>
            </a:r>
            <a:r>
              <a:rPr dirty="0" sz="3000" spc="-4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embeddings)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278379"/>
            <a:ext cx="6680834" cy="9645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5">
                <a:latin typeface="Calibri"/>
                <a:cs typeface="Calibri"/>
              </a:rPr>
              <a:t>Re-center </a:t>
            </a:r>
            <a:r>
              <a:rPr dirty="0" sz="2600" spc="-5">
                <a:latin typeface="Calibri"/>
                <a:cs typeface="Calibri"/>
              </a:rPr>
              <a:t>the node embeddings </a:t>
            </a:r>
            <a:r>
              <a:rPr dirty="0" sz="2600" spc="-15">
                <a:latin typeface="Calibri"/>
                <a:cs typeface="Calibri"/>
              </a:rPr>
              <a:t>into </a:t>
            </a:r>
            <a:r>
              <a:rPr dirty="0" sz="2600" spc="-30">
                <a:latin typeface="Calibri"/>
                <a:cs typeface="Calibri"/>
              </a:rPr>
              <a:t>zero </a:t>
            </a:r>
            <a:r>
              <a:rPr dirty="0" sz="2600" spc="-90">
                <a:latin typeface="Calibri"/>
                <a:cs typeface="Calibri"/>
              </a:rPr>
              <a:t>mean</a:t>
            </a:r>
            <a:endParaRPr sz="26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5">
                <a:latin typeface="Calibri"/>
                <a:cs typeface="Calibri"/>
              </a:rPr>
              <a:t>Re-scale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variance </a:t>
            </a:r>
            <a:r>
              <a:rPr dirty="0" sz="2600" spc="-15">
                <a:latin typeface="Calibri"/>
                <a:cs typeface="Calibri"/>
              </a:rPr>
              <a:t>into </a:t>
            </a:r>
            <a:r>
              <a:rPr dirty="0" sz="2600" spc="-5">
                <a:latin typeface="Calibri"/>
                <a:cs typeface="Calibri"/>
              </a:rPr>
              <a:t>unit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variance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77181" y="3772408"/>
            <a:ext cx="901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335">
                <a:latin typeface="Cambria Math"/>
                <a:cs typeface="Cambria Math"/>
              </a:rPr>
              <a:t>.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73103" y="3835058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177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068594" y="3815588"/>
            <a:ext cx="1803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65838" y="3388359"/>
            <a:ext cx="1377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665">
                <a:latin typeface="Cambria Math"/>
                <a:cs typeface="Cambria Math"/>
              </a:rPr>
              <a:t>'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4306" y="3663188"/>
            <a:ext cx="12401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99085" algn="l"/>
              </a:tabLst>
            </a:pPr>
            <a:r>
              <a:rPr dirty="0" sz="1800">
                <a:latin typeface="Cambria Math"/>
                <a:cs typeface="Cambria Math"/>
              </a:rPr>
              <a:t>𝛍	=  </a:t>
            </a:r>
            <a:r>
              <a:rPr dirty="0" baseline="41666" sz="2700">
                <a:latin typeface="Cambria Math"/>
                <a:cs typeface="Cambria Math"/>
              </a:rPr>
              <a:t>1 </a:t>
            </a:r>
            <a:r>
              <a:rPr dirty="0" sz="1800" spc="1035">
                <a:latin typeface="Cambria Math"/>
                <a:cs typeface="Cambria Math"/>
              </a:rPr>
              <a:t>=</a:t>
            </a:r>
            <a:r>
              <a:rPr dirty="0" sz="1800" spc="-22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70333" y="3772408"/>
            <a:ext cx="18986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135">
                <a:latin typeface="Cambria Math"/>
                <a:cs typeface="Cambria Math"/>
              </a:rPr>
              <a:t>/</a:t>
            </a:r>
            <a:r>
              <a:rPr dirty="0" sz="1300" spc="0">
                <a:latin typeface="Cambria Math"/>
                <a:cs typeface="Cambria Math"/>
              </a:rPr>
              <a:t>,</a:t>
            </a:r>
            <a:r>
              <a:rPr dirty="0" sz="1300" spc="335">
                <a:latin typeface="Cambria Math"/>
                <a:cs typeface="Cambria Math"/>
              </a:rPr>
              <a:t>.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1857" y="3632708"/>
            <a:ext cx="2127250" cy="69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Input: </a:t>
            </a:r>
            <a:r>
              <a:rPr dirty="0" sz="2400">
                <a:latin typeface="Cambria Math"/>
                <a:cs typeface="Cambria Math"/>
              </a:rPr>
              <a:t>𝐗 ∈</a:t>
            </a:r>
            <a:r>
              <a:rPr dirty="0" sz="2400" spc="200">
                <a:latin typeface="Cambria Math"/>
                <a:cs typeface="Cambria Math"/>
              </a:rPr>
              <a:t> </a:t>
            </a:r>
            <a:r>
              <a:rPr dirty="0" sz="2400" spc="60">
                <a:latin typeface="Cambria Math"/>
                <a:cs typeface="Cambria Math"/>
              </a:rPr>
              <a:t>ℝ</a:t>
            </a:r>
            <a:r>
              <a:rPr dirty="0" baseline="27777" sz="2700" spc="89">
                <a:latin typeface="Cambria Math"/>
                <a:cs typeface="Cambria Math"/>
              </a:rPr>
              <a:t>+×5</a:t>
            </a:r>
            <a:endParaRPr baseline="27777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000">
                <a:latin typeface="Cambria Math"/>
                <a:cs typeface="Cambria Math"/>
              </a:rPr>
              <a:t>𝑁 </a:t>
            </a:r>
            <a:r>
              <a:rPr dirty="0" sz="2000" spc="-5">
                <a:latin typeface="Calibri"/>
                <a:cs typeface="Calibri"/>
              </a:rPr>
              <a:t>node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embeddings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4611115"/>
            <a:ext cx="3117215" cy="1740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Calibri"/>
                <a:cs typeface="Calibri"/>
              </a:rPr>
              <a:t>Trainable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Parameters:</a:t>
            </a:r>
            <a:endParaRPr sz="2400">
              <a:latin typeface="Calibri"/>
              <a:cs typeface="Calibri"/>
            </a:endParaRPr>
          </a:p>
          <a:p>
            <a:pPr marL="66040">
              <a:lnSpc>
                <a:spcPct val="100000"/>
              </a:lnSpc>
              <a:spcBef>
                <a:spcPts val="20"/>
              </a:spcBef>
            </a:pPr>
            <a:r>
              <a:rPr dirty="0" sz="2400" spc="-5">
                <a:latin typeface="Cambria Math"/>
                <a:cs typeface="Cambria Math"/>
              </a:rPr>
              <a:t>𝛄, </a:t>
            </a:r>
            <a:r>
              <a:rPr dirty="0" sz="2400">
                <a:latin typeface="Cambria Math"/>
                <a:cs typeface="Cambria Math"/>
              </a:rPr>
              <a:t>𝛃 ∈</a:t>
            </a:r>
            <a:r>
              <a:rPr dirty="0" sz="2400" spc="-150">
                <a:latin typeface="Cambria Math"/>
                <a:cs typeface="Cambria Math"/>
              </a:rPr>
              <a:t> </a:t>
            </a:r>
            <a:r>
              <a:rPr dirty="0" sz="2400" spc="140">
                <a:latin typeface="Cambria Math"/>
                <a:cs typeface="Cambria Math"/>
              </a:rPr>
              <a:t>ℝ</a:t>
            </a:r>
            <a:r>
              <a:rPr dirty="0" baseline="27777" sz="2700" spc="209">
                <a:latin typeface="Cambria Math"/>
                <a:cs typeface="Cambria Math"/>
              </a:rPr>
              <a:t>5</a:t>
            </a:r>
            <a:endParaRPr baseline="27777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420"/>
              </a:spcBef>
            </a:pPr>
            <a:r>
              <a:rPr dirty="0" sz="2400" spc="-5" b="1">
                <a:latin typeface="Calibri"/>
                <a:cs typeface="Calibri"/>
              </a:rPr>
              <a:t>Output: </a:t>
            </a:r>
            <a:r>
              <a:rPr dirty="0" sz="2400">
                <a:latin typeface="Cambria Math"/>
                <a:cs typeface="Cambria Math"/>
              </a:rPr>
              <a:t>𝐘 ∈</a:t>
            </a:r>
            <a:r>
              <a:rPr dirty="0" sz="2400" spc="200">
                <a:latin typeface="Cambria Math"/>
                <a:cs typeface="Cambria Math"/>
              </a:rPr>
              <a:t> </a:t>
            </a:r>
            <a:r>
              <a:rPr dirty="0" sz="2400" spc="60">
                <a:latin typeface="Cambria Math"/>
                <a:cs typeface="Cambria Math"/>
              </a:rPr>
              <a:t>ℝ</a:t>
            </a:r>
            <a:r>
              <a:rPr dirty="0" baseline="26234" sz="2700" spc="89">
                <a:latin typeface="Cambria Math"/>
                <a:cs typeface="Cambria Math"/>
              </a:rPr>
              <a:t>+×5</a:t>
            </a:r>
            <a:endParaRPr baseline="26234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000" spc="-10">
                <a:latin typeface="Calibri"/>
                <a:cs typeface="Calibri"/>
              </a:rPr>
              <a:t>Normalized </a:t>
            </a:r>
            <a:r>
              <a:rPr dirty="0" sz="2000" spc="-5">
                <a:latin typeface="Calibri"/>
                <a:cs typeface="Calibri"/>
              </a:rPr>
              <a:t>node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embeddings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38490" y="4647184"/>
            <a:ext cx="901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335">
                <a:latin typeface="Cambria Math"/>
                <a:cs typeface="Cambria Math"/>
              </a:rPr>
              <a:t>.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58810" y="4497832"/>
            <a:ext cx="1085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25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059686" y="4698795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177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086165" y="4355084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63561" y="4681220"/>
            <a:ext cx="1803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84476" y="4881879"/>
            <a:ext cx="2933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135">
                <a:latin typeface="Cambria Math"/>
                <a:cs typeface="Cambria Math"/>
              </a:rPr>
              <a:t>/</a:t>
            </a:r>
            <a:r>
              <a:rPr dirty="0" sz="1300" spc="225">
                <a:latin typeface="Cambria Math"/>
                <a:cs typeface="Cambria Math"/>
              </a:rPr>
              <a:t>0</a:t>
            </a:r>
            <a:r>
              <a:rPr dirty="0" sz="1300" spc="85">
                <a:latin typeface="Cambria Math"/>
                <a:cs typeface="Cambria Math"/>
              </a:rPr>
              <a:t>$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89511" y="3985767"/>
            <a:ext cx="293370" cy="488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120" marR="5080" indent="-71755">
              <a:lnSpc>
                <a:spcPct val="116900"/>
              </a:lnSpc>
              <a:spcBef>
                <a:spcPts val="100"/>
              </a:spcBef>
            </a:pPr>
            <a:r>
              <a:rPr dirty="0" sz="1300" spc="-135">
                <a:latin typeface="Cambria Math"/>
                <a:cs typeface="Cambria Math"/>
              </a:rPr>
              <a:t>/</a:t>
            </a:r>
            <a:r>
              <a:rPr dirty="0" sz="1300" spc="225">
                <a:latin typeface="Cambria Math"/>
                <a:cs typeface="Cambria Math"/>
              </a:rPr>
              <a:t>0</a:t>
            </a:r>
            <a:r>
              <a:rPr dirty="0" sz="1300" spc="50">
                <a:latin typeface="Cambria Math"/>
                <a:cs typeface="Cambria Math"/>
              </a:rPr>
              <a:t>$  </a:t>
            </a:r>
            <a:r>
              <a:rPr dirty="0" sz="1300" spc="665">
                <a:latin typeface="Cambria Math"/>
                <a:cs typeface="Cambria Math"/>
              </a:rPr>
              <a:t>'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597054" y="4565336"/>
            <a:ext cx="1017269" cy="276225"/>
          </a:xfrm>
          <a:custGeom>
            <a:avLst/>
            <a:gdLst/>
            <a:ahLst/>
            <a:cxnLst/>
            <a:rect l="l" t="t" r="r" b="b"/>
            <a:pathLst>
              <a:path w="1017270" h="276225">
                <a:moveTo>
                  <a:pt x="944100" y="0"/>
                </a:moveTo>
                <a:lnTo>
                  <a:pt x="941308" y="9152"/>
                </a:lnTo>
                <a:lnTo>
                  <a:pt x="953995" y="15731"/>
                </a:lnTo>
                <a:lnTo>
                  <a:pt x="965042" y="25309"/>
                </a:lnTo>
                <a:lnTo>
                  <a:pt x="988297" y="71569"/>
                </a:lnTo>
                <a:lnTo>
                  <a:pt x="995246" y="113929"/>
                </a:lnTo>
                <a:lnTo>
                  <a:pt x="996115" y="138186"/>
                </a:lnTo>
                <a:lnTo>
                  <a:pt x="995246" y="162390"/>
                </a:lnTo>
                <a:lnTo>
                  <a:pt x="988297" y="204667"/>
                </a:lnTo>
                <a:lnTo>
                  <a:pt x="965042" y="250854"/>
                </a:lnTo>
                <a:lnTo>
                  <a:pt x="941308" y="266997"/>
                </a:lnTo>
                <a:lnTo>
                  <a:pt x="944100" y="276150"/>
                </a:lnTo>
                <a:lnTo>
                  <a:pt x="987359" y="246032"/>
                </a:lnTo>
                <a:lnTo>
                  <a:pt x="1006042" y="208688"/>
                </a:lnTo>
                <a:lnTo>
                  <a:pt x="1015473" y="163370"/>
                </a:lnTo>
                <a:lnTo>
                  <a:pt x="1016652" y="138074"/>
                </a:lnTo>
                <a:lnTo>
                  <a:pt x="1015473" y="112778"/>
                </a:lnTo>
                <a:lnTo>
                  <a:pt x="1006042" y="67460"/>
                </a:lnTo>
                <a:lnTo>
                  <a:pt x="987359" y="30116"/>
                </a:lnTo>
                <a:lnTo>
                  <a:pt x="960515" y="6396"/>
                </a:lnTo>
                <a:lnTo>
                  <a:pt x="944100" y="0"/>
                </a:lnTo>
                <a:close/>
              </a:path>
              <a:path w="1017270" h="276225">
                <a:moveTo>
                  <a:pt x="72548" y="0"/>
                </a:moveTo>
                <a:lnTo>
                  <a:pt x="29288" y="30116"/>
                </a:lnTo>
                <a:lnTo>
                  <a:pt x="10605" y="67460"/>
                </a:lnTo>
                <a:lnTo>
                  <a:pt x="1173" y="112778"/>
                </a:lnTo>
                <a:lnTo>
                  <a:pt x="0" y="138186"/>
                </a:lnTo>
                <a:lnTo>
                  <a:pt x="1173" y="163370"/>
                </a:lnTo>
                <a:lnTo>
                  <a:pt x="10605" y="208688"/>
                </a:lnTo>
                <a:lnTo>
                  <a:pt x="29288" y="246032"/>
                </a:lnTo>
                <a:lnTo>
                  <a:pt x="72548" y="276150"/>
                </a:lnTo>
                <a:lnTo>
                  <a:pt x="75338" y="266997"/>
                </a:lnTo>
                <a:lnTo>
                  <a:pt x="62652" y="260422"/>
                </a:lnTo>
                <a:lnTo>
                  <a:pt x="51605" y="250854"/>
                </a:lnTo>
                <a:lnTo>
                  <a:pt x="28349" y="204667"/>
                </a:lnTo>
                <a:lnTo>
                  <a:pt x="21401" y="162390"/>
                </a:lnTo>
                <a:lnTo>
                  <a:pt x="20537" y="138074"/>
                </a:lnTo>
                <a:lnTo>
                  <a:pt x="21401" y="113929"/>
                </a:lnTo>
                <a:lnTo>
                  <a:pt x="28349" y="71569"/>
                </a:lnTo>
                <a:lnTo>
                  <a:pt x="51605" y="25309"/>
                </a:lnTo>
                <a:lnTo>
                  <a:pt x="75338" y="9152"/>
                </a:lnTo>
                <a:lnTo>
                  <a:pt x="725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517523" y="4528820"/>
            <a:ext cx="13163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10515" algn="l"/>
                <a:tab pos="756285" algn="l"/>
              </a:tabLst>
            </a:pPr>
            <a:r>
              <a:rPr dirty="0" sz="1800">
                <a:latin typeface="Cambria Math"/>
                <a:cs typeface="Cambria Math"/>
              </a:rPr>
              <a:t>𝛔	=	</a:t>
            </a:r>
            <a:r>
              <a:rPr dirty="0" sz="1800" spc="1035">
                <a:latin typeface="Cambria Math"/>
                <a:cs typeface="Cambria Math"/>
              </a:rPr>
              <a:t>=</a:t>
            </a:r>
            <a:r>
              <a:rPr dirty="0" sz="1800" spc="30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29877" y="4638040"/>
            <a:ext cx="18986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135">
                <a:latin typeface="Cambria Math"/>
                <a:cs typeface="Cambria Math"/>
              </a:rPr>
              <a:t>/</a:t>
            </a:r>
            <a:r>
              <a:rPr dirty="0" sz="1300" spc="0">
                <a:latin typeface="Cambria Math"/>
                <a:cs typeface="Cambria Math"/>
              </a:rPr>
              <a:t>,</a:t>
            </a:r>
            <a:r>
              <a:rPr dirty="0" sz="1300" spc="335">
                <a:latin typeface="Cambria Math"/>
                <a:cs typeface="Cambria Math"/>
              </a:rPr>
              <a:t>.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73020" y="4528820"/>
            <a:ext cx="3771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10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𝛍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38143" y="4638040"/>
            <a:ext cx="901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335">
                <a:latin typeface="Cambria Math"/>
                <a:cs typeface="Cambria Math"/>
              </a:rPr>
              <a:t>.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33787" y="4439920"/>
            <a:ext cx="1085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25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83134" y="5427979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-10802" sz="2700" spc="-1537">
                <a:latin typeface="Cambria Math"/>
                <a:cs typeface="Cambria Math"/>
              </a:rPr>
              <a:t>𝐗</a:t>
            </a:r>
            <a:r>
              <a:rPr dirty="0" sz="1800" spc="-105">
                <a:latin typeface="Cambria Math"/>
                <a:cs typeface="Cambria Math"/>
              </a:rPr>
              <a:t>B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33375" y="5582920"/>
            <a:ext cx="18986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135">
                <a:latin typeface="Cambria Math"/>
                <a:cs typeface="Cambria Math"/>
              </a:rPr>
              <a:t>/</a:t>
            </a:r>
            <a:r>
              <a:rPr dirty="0" sz="1300" spc="0">
                <a:latin typeface="Cambria Math"/>
                <a:cs typeface="Cambria Math"/>
              </a:rPr>
              <a:t>,</a:t>
            </a:r>
            <a:r>
              <a:rPr dirty="0" sz="1300" spc="335">
                <a:latin typeface="Cambria Math"/>
                <a:cs typeface="Cambria Math"/>
              </a:rPr>
              <a:t>.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523849" y="5644080"/>
            <a:ext cx="850900" cy="0"/>
          </a:xfrm>
          <a:custGeom>
            <a:avLst/>
            <a:gdLst/>
            <a:ahLst/>
            <a:cxnLst/>
            <a:rect l="l" t="t" r="r" b="b"/>
            <a:pathLst>
              <a:path w="850900" h="0">
                <a:moveTo>
                  <a:pt x="0" y="0"/>
                </a:moveTo>
                <a:lnTo>
                  <a:pt x="85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289217" y="5339588"/>
            <a:ext cx="1083945" cy="434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0">
              <a:lnSpc>
                <a:spcPts val="1610"/>
              </a:lnSpc>
              <a:spcBef>
                <a:spcPts val="100"/>
              </a:spcBef>
            </a:pPr>
            <a:r>
              <a:rPr dirty="0" baseline="12345" sz="2700" spc="89">
                <a:latin typeface="Cambria Math"/>
                <a:cs typeface="Cambria Math"/>
              </a:rPr>
              <a:t>𝐗</a:t>
            </a:r>
            <a:r>
              <a:rPr dirty="0" sz="1300" spc="60">
                <a:latin typeface="Cambria Math"/>
                <a:cs typeface="Cambria Math"/>
              </a:rPr>
              <a:t>/,. </a:t>
            </a:r>
            <a:r>
              <a:rPr dirty="0" baseline="12345" sz="2700">
                <a:latin typeface="Cambria Math"/>
                <a:cs typeface="Cambria Math"/>
              </a:rPr>
              <a:t>−</a:t>
            </a:r>
            <a:r>
              <a:rPr dirty="0" baseline="12345" sz="2700" spc="-60">
                <a:latin typeface="Cambria Math"/>
                <a:cs typeface="Cambria Math"/>
              </a:rPr>
              <a:t> </a:t>
            </a:r>
            <a:r>
              <a:rPr dirty="0" baseline="12345" sz="2700" spc="247">
                <a:latin typeface="Cambria Math"/>
                <a:cs typeface="Cambria Math"/>
              </a:rPr>
              <a:t>𝛍</a:t>
            </a:r>
            <a:r>
              <a:rPr dirty="0" sz="1300" spc="165">
                <a:latin typeface="Cambria Math"/>
                <a:cs typeface="Cambria Math"/>
              </a:rPr>
              <a:t>.</a:t>
            </a:r>
            <a:endParaRPr sz="1300">
              <a:latin typeface="Cambria Math"/>
              <a:cs typeface="Cambria Math"/>
            </a:endParaRPr>
          </a:p>
          <a:p>
            <a:pPr>
              <a:lnSpc>
                <a:spcPts val="1610"/>
              </a:lnSpc>
            </a:pPr>
            <a:r>
              <a:rPr dirty="0" sz="180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550870" y="5699982"/>
            <a:ext cx="798830" cy="509905"/>
          </a:xfrm>
          <a:custGeom>
            <a:avLst/>
            <a:gdLst/>
            <a:ahLst/>
            <a:cxnLst/>
            <a:rect l="l" t="t" r="r" b="b"/>
            <a:pathLst>
              <a:path w="798829" h="509904">
                <a:moveTo>
                  <a:pt x="48262" y="383306"/>
                </a:moveTo>
                <a:lnTo>
                  <a:pt x="24780" y="383306"/>
                </a:lnTo>
                <a:lnTo>
                  <a:pt x="93651" y="509885"/>
                </a:lnTo>
                <a:lnTo>
                  <a:pt x="104030" y="509885"/>
                </a:lnTo>
                <a:lnTo>
                  <a:pt x="108096" y="469366"/>
                </a:lnTo>
                <a:lnTo>
                  <a:pt x="94767" y="469366"/>
                </a:lnTo>
                <a:lnTo>
                  <a:pt x="48262" y="383306"/>
                </a:lnTo>
                <a:close/>
              </a:path>
              <a:path w="798829" h="509904">
                <a:moveTo>
                  <a:pt x="176027" y="0"/>
                </a:moveTo>
                <a:lnTo>
                  <a:pt x="141201" y="0"/>
                </a:lnTo>
                <a:lnTo>
                  <a:pt x="94767" y="469366"/>
                </a:lnTo>
                <a:lnTo>
                  <a:pt x="108096" y="469366"/>
                </a:lnTo>
                <a:lnTo>
                  <a:pt x="153703" y="14845"/>
                </a:lnTo>
                <a:lnTo>
                  <a:pt x="176027" y="14845"/>
                </a:lnTo>
                <a:lnTo>
                  <a:pt x="176027" y="13948"/>
                </a:lnTo>
                <a:lnTo>
                  <a:pt x="798479" y="13948"/>
                </a:lnTo>
                <a:lnTo>
                  <a:pt x="798479" y="1248"/>
                </a:lnTo>
                <a:lnTo>
                  <a:pt x="176027" y="1248"/>
                </a:lnTo>
                <a:lnTo>
                  <a:pt x="176027" y="0"/>
                </a:lnTo>
                <a:close/>
              </a:path>
              <a:path w="798829" h="509904">
                <a:moveTo>
                  <a:pt x="38732" y="365670"/>
                </a:moveTo>
                <a:lnTo>
                  <a:pt x="0" y="386097"/>
                </a:lnTo>
                <a:lnTo>
                  <a:pt x="4353" y="394022"/>
                </a:lnTo>
                <a:lnTo>
                  <a:pt x="24780" y="383306"/>
                </a:lnTo>
                <a:lnTo>
                  <a:pt x="48262" y="383306"/>
                </a:lnTo>
                <a:lnTo>
                  <a:pt x="38732" y="3656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718540" y="5775452"/>
            <a:ext cx="640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5">
                <a:latin typeface="Cambria Math"/>
                <a:cs typeface="Cambria Math"/>
              </a:rPr>
              <a:t>𝛔</a:t>
            </a:r>
            <a:r>
              <a:rPr dirty="0" baseline="27777" sz="1950" spc="7">
                <a:latin typeface="Cambria Math"/>
                <a:cs typeface="Cambria Math"/>
              </a:rPr>
              <a:t>2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4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19686" y="5792526"/>
            <a:ext cx="1682750" cy="761365"/>
          </a:xfrm>
          <a:prstGeom prst="rect">
            <a:avLst/>
          </a:prstGeom>
        </p:spPr>
        <p:txBody>
          <a:bodyPr wrap="square" lIns="0" tIns="123190" rIns="0" bIns="0" rtlCol="0" vert="horz">
            <a:spAutoFit/>
          </a:bodyPr>
          <a:lstStyle/>
          <a:p>
            <a:pPr algn="ctr" marL="434340">
              <a:lnSpc>
                <a:spcPct val="100000"/>
              </a:lnSpc>
              <a:spcBef>
                <a:spcPts val="970"/>
              </a:spcBef>
            </a:pPr>
            <a:r>
              <a:rPr dirty="0" sz="1300" spc="335">
                <a:latin typeface="Cambria Math"/>
                <a:cs typeface="Cambria Math"/>
              </a:rPr>
              <a:t>.</a:t>
            </a:r>
            <a:endParaRPr sz="13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r>
              <a:rPr dirty="0" baseline="10802" sz="2700" spc="22">
                <a:latin typeface="Cambria Math"/>
                <a:cs typeface="Cambria Math"/>
              </a:rPr>
              <a:t>𝐘</a:t>
            </a:r>
            <a:r>
              <a:rPr dirty="0" sz="1300" spc="15">
                <a:latin typeface="Cambria Math"/>
                <a:cs typeface="Cambria Math"/>
              </a:rPr>
              <a:t>/,.  </a:t>
            </a:r>
            <a:r>
              <a:rPr dirty="0" baseline="10802" sz="2700">
                <a:latin typeface="Cambria Math"/>
                <a:cs typeface="Cambria Math"/>
              </a:rPr>
              <a:t>= </a:t>
            </a:r>
            <a:r>
              <a:rPr dirty="0" baseline="10802" sz="2700" spc="-89">
                <a:latin typeface="Cambria Math"/>
                <a:cs typeface="Cambria Math"/>
              </a:rPr>
              <a:t>𝛄</a:t>
            </a:r>
            <a:r>
              <a:rPr dirty="0" sz="1300" spc="-60">
                <a:latin typeface="Cambria Math"/>
                <a:cs typeface="Cambria Math"/>
              </a:rPr>
              <a:t>.</a:t>
            </a:r>
            <a:r>
              <a:rPr dirty="0" baseline="10802" sz="2700" spc="-89">
                <a:latin typeface="Cambria Math"/>
                <a:cs typeface="Cambria Math"/>
              </a:rPr>
              <a:t>𝐗</a:t>
            </a:r>
            <a:r>
              <a:rPr dirty="0" baseline="21604" sz="2700" spc="-89">
                <a:latin typeface="Cambria Math"/>
                <a:cs typeface="Cambria Math"/>
              </a:rPr>
              <a:t>B</a:t>
            </a:r>
            <a:r>
              <a:rPr dirty="0" sz="1300" spc="-60">
                <a:latin typeface="Cambria Math"/>
                <a:cs typeface="Cambria Math"/>
              </a:rPr>
              <a:t>/,.  </a:t>
            </a:r>
            <a:r>
              <a:rPr dirty="0" baseline="10802" sz="2700">
                <a:latin typeface="Cambria Math"/>
                <a:cs typeface="Cambria Math"/>
              </a:rPr>
              <a:t>+</a:t>
            </a:r>
            <a:r>
              <a:rPr dirty="0" baseline="10802" sz="2700" spc="-300">
                <a:latin typeface="Cambria Math"/>
                <a:cs typeface="Cambria Math"/>
              </a:rPr>
              <a:t> </a:t>
            </a:r>
            <a:r>
              <a:rPr dirty="0" baseline="10802" sz="2700" spc="247">
                <a:latin typeface="Cambria Math"/>
                <a:cs typeface="Cambria Math"/>
              </a:rPr>
              <a:t>𝛃</a:t>
            </a:r>
            <a:r>
              <a:rPr dirty="0" sz="1300" spc="165">
                <a:latin typeface="Cambria Math"/>
                <a:cs typeface="Cambria Math"/>
              </a:rPr>
              <a:t>.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395571" y="3388687"/>
            <a:ext cx="2392045" cy="1723389"/>
          </a:xfrm>
          <a:custGeom>
            <a:avLst/>
            <a:gdLst/>
            <a:ahLst/>
            <a:cxnLst/>
            <a:rect l="l" t="t" r="r" b="b"/>
            <a:pathLst>
              <a:path w="2392045" h="1723389">
                <a:moveTo>
                  <a:pt x="0" y="0"/>
                </a:moveTo>
                <a:lnTo>
                  <a:pt x="2391523" y="0"/>
                </a:lnTo>
                <a:lnTo>
                  <a:pt x="2391523" y="1722901"/>
                </a:lnTo>
                <a:lnTo>
                  <a:pt x="0" y="1722901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106970" y="3601211"/>
            <a:ext cx="209994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Calibri"/>
                <a:cs typeface="Calibri"/>
              </a:rPr>
              <a:t>Step</a:t>
            </a:r>
            <a:r>
              <a:rPr dirty="0" sz="2000" spc="-90" b="1">
                <a:latin typeface="Calibri"/>
                <a:cs typeface="Calibri"/>
              </a:rPr>
              <a:t> </a:t>
            </a:r>
            <a:r>
              <a:rPr dirty="0" sz="2000" spc="-5" b="1">
                <a:latin typeface="Calibri"/>
                <a:cs typeface="Calibri"/>
              </a:rPr>
              <a:t>1:</a:t>
            </a:r>
            <a:endParaRPr sz="2000">
              <a:latin typeface="Calibri"/>
              <a:cs typeface="Calibri"/>
            </a:endParaRPr>
          </a:p>
          <a:p>
            <a:pPr marL="12700" marR="78740">
              <a:lnSpc>
                <a:spcPct val="100000"/>
              </a:lnSpc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Compute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the  mean and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variance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over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𝑵</a:t>
            </a:r>
            <a:r>
              <a:rPr dirty="0" sz="20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embeddings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755383" y="5322318"/>
            <a:ext cx="1877695" cy="1283335"/>
          </a:xfrm>
          <a:custGeom>
            <a:avLst/>
            <a:gdLst/>
            <a:ahLst/>
            <a:cxnLst/>
            <a:rect l="l" t="t" r="r" b="b"/>
            <a:pathLst>
              <a:path w="1877695" h="1283334">
                <a:moveTo>
                  <a:pt x="0" y="0"/>
                </a:moveTo>
                <a:lnTo>
                  <a:pt x="1877455" y="0"/>
                </a:lnTo>
                <a:lnTo>
                  <a:pt x="1877455" y="1283256"/>
                </a:lnTo>
                <a:lnTo>
                  <a:pt x="0" y="128325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0AD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106970" y="5271515"/>
            <a:ext cx="236474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Calibri"/>
                <a:cs typeface="Calibri"/>
              </a:rPr>
              <a:t>Step</a:t>
            </a:r>
            <a:r>
              <a:rPr dirty="0" sz="2000" spc="-90" b="1">
                <a:latin typeface="Calibri"/>
                <a:cs typeface="Calibri"/>
              </a:rPr>
              <a:t> </a:t>
            </a:r>
            <a:r>
              <a:rPr dirty="0" sz="2000" spc="-5" b="1">
                <a:latin typeface="Calibri"/>
                <a:cs typeface="Calibri"/>
              </a:rPr>
              <a:t>2:</a:t>
            </a:r>
            <a:endParaRPr sz="20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2000" spc="-10" b="1">
                <a:solidFill>
                  <a:srgbClr val="F0AD00"/>
                </a:solidFill>
                <a:latin typeface="Calibri"/>
                <a:cs typeface="Calibri"/>
              </a:rPr>
              <a:t>Normalize </a:t>
            </a:r>
            <a:r>
              <a:rPr dirty="0" sz="2000" spc="-5" b="1">
                <a:solidFill>
                  <a:srgbClr val="F0AD00"/>
                </a:solidFill>
                <a:latin typeface="Calibri"/>
                <a:cs typeface="Calibri"/>
              </a:rPr>
              <a:t>the </a:t>
            </a:r>
            <a:r>
              <a:rPr dirty="0" sz="2000" spc="-15" b="1">
                <a:solidFill>
                  <a:srgbClr val="F0AD00"/>
                </a:solidFill>
                <a:latin typeface="Calibri"/>
                <a:cs typeface="Calibri"/>
              </a:rPr>
              <a:t>feature  </a:t>
            </a:r>
            <a:r>
              <a:rPr dirty="0" sz="2000" spc="-5" b="1">
                <a:solidFill>
                  <a:srgbClr val="F0AD00"/>
                </a:solidFill>
                <a:latin typeface="Calibri"/>
                <a:cs typeface="Calibri"/>
              </a:rPr>
              <a:t>using </a:t>
            </a:r>
            <a:r>
              <a:rPr dirty="0" sz="2000" spc="-10" b="1">
                <a:solidFill>
                  <a:srgbClr val="F0AD00"/>
                </a:solidFill>
                <a:latin typeface="Calibri"/>
                <a:cs typeface="Calibri"/>
              </a:rPr>
              <a:t>computed </a:t>
            </a:r>
            <a:r>
              <a:rPr dirty="0" sz="2000" spc="-5" b="1">
                <a:solidFill>
                  <a:srgbClr val="F0AD00"/>
                </a:solidFill>
                <a:latin typeface="Calibri"/>
                <a:cs typeface="Calibri"/>
              </a:rPr>
              <a:t>mean  </a:t>
            </a:r>
            <a:r>
              <a:rPr dirty="0" sz="2000" b="1">
                <a:solidFill>
                  <a:srgbClr val="F0AD00"/>
                </a:solidFill>
                <a:latin typeface="Calibri"/>
                <a:cs typeface="Calibri"/>
              </a:rPr>
              <a:t>and</a:t>
            </a:r>
            <a:r>
              <a:rPr dirty="0" sz="2000" spc="-100" b="1">
                <a:solidFill>
                  <a:srgbClr val="F0AD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F0AD00"/>
                </a:solidFill>
                <a:latin typeface="Calibri"/>
                <a:cs typeface="Calibri"/>
              </a:rPr>
              <a:t>variance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  <p:sp>
        <p:nvSpPr>
          <p:cNvPr id="37" name="object 37"/>
          <p:cNvSpPr txBox="1"/>
          <p:nvPr/>
        </p:nvSpPr>
        <p:spPr>
          <a:xfrm>
            <a:off x="1120959" y="20827"/>
            <a:ext cx="79438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S.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Loffe,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C.Szegedy.</a:t>
            </a:r>
            <a:r>
              <a:rPr dirty="0" sz="1200" spc="-10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Batch Normalization: Accelerating Deep Network </a:t>
            </a:r>
            <a:r>
              <a:rPr dirty="0" sz="1200" spc="-15" u="sng">
                <a:solidFill>
                  <a:srgbClr val="168BBA"/>
                </a:solidFill>
                <a:latin typeface="Corbel"/>
                <a:cs typeface="Corbel"/>
              </a:rPr>
              <a:t>Training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by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Reducing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Internal Covariate Shift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ICML</a:t>
            </a:r>
            <a:r>
              <a:rPr dirty="0" sz="12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2015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5364" y="3941893"/>
            <a:ext cx="718185" cy="316865"/>
          </a:xfrm>
          <a:custGeom>
            <a:avLst/>
            <a:gdLst/>
            <a:ahLst/>
            <a:cxnLst/>
            <a:rect l="l" t="t" r="r" b="b"/>
            <a:pathLst>
              <a:path w="718185" h="316864">
                <a:moveTo>
                  <a:pt x="0" y="0"/>
                </a:moveTo>
                <a:lnTo>
                  <a:pt x="718184" y="316368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05364" y="3941893"/>
            <a:ext cx="718185" cy="1109345"/>
          </a:xfrm>
          <a:custGeom>
            <a:avLst/>
            <a:gdLst/>
            <a:ahLst/>
            <a:cxnLst/>
            <a:rect l="l" t="t" r="r" b="b"/>
            <a:pathLst>
              <a:path w="718185" h="1109345">
                <a:moveTo>
                  <a:pt x="0" y="0"/>
                </a:moveTo>
                <a:lnTo>
                  <a:pt x="718184" y="1108786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05364" y="3941893"/>
            <a:ext cx="718185" cy="1906905"/>
          </a:xfrm>
          <a:custGeom>
            <a:avLst/>
            <a:gdLst/>
            <a:ahLst/>
            <a:cxnLst/>
            <a:rect l="l" t="t" r="r" b="b"/>
            <a:pathLst>
              <a:path w="718185" h="1906904">
                <a:moveTo>
                  <a:pt x="0" y="0"/>
                </a:moveTo>
                <a:lnTo>
                  <a:pt x="718184" y="1906661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05364" y="4258260"/>
            <a:ext cx="718185" cy="424180"/>
          </a:xfrm>
          <a:custGeom>
            <a:avLst/>
            <a:gdLst/>
            <a:ahLst/>
            <a:cxnLst/>
            <a:rect l="l" t="t" r="r" b="b"/>
            <a:pathLst>
              <a:path w="718185" h="424179">
                <a:moveTo>
                  <a:pt x="0" y="423671"/>
                </a:moveTo>
                <a:lnTo>
                  <a:pt x="71818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05364" y="4681931"/>
            <a:ext cx="718185" cy="1167130"/>
          </a:xfrm>
          <a:custGeom>
            <a:avLst/>
            <a:gdLst/>
            <a:ahLst/>
            <a:cxnLst/>
            <a:rect l="l" t="t" r="r" b="b"/>
            <a:pathLst>
              <a:path w="718185" h="1167129">
                <a:moveTo>
                  <a:pt x="0" y="0"/>
                </a:moveTo>
                <a:lnTo>
                  <a:pt x="718184" y="1166622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05364" y="4258260"/>
            <a:ext cx="718185" cy="1163955"/>
          </a:xfrm>
          <a:custGeom>
            <a:avLst/>
            <a:gdLst/>
            <a:ahLst/>
            <a:cxnLst/>
            <a:rect l="l" t="t" r="r" b="b"/>
            <a:pathLst>
              <a:path w="718185" h="1163954">
                <a:moveTo>
                  <a:pt x="0" y="1163710"/>
                </a:moveTo>
                <a:lnTo>
                  <a:pt x="71818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05364" y="5050678"/>
            <a:ext cx="718185" cy="371475"/>
          </a:xfrm>
          <a:custGeom>
            <a:avLst/>
            <a:gdLst/>
            <a:ahLst/>
            <a:cxnLst/>
            <a:rect l="l" t="t" r="r" b="b"/>
            <a:pathLst>
              <a:path w="718185" h="371475">
                <a:moveTo>
                  <a:pt x="0" y="371292"/>
                </a:moveTo>
                <a:lnTo>
                  <a:pt x="71818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05364" y="4258261"/>
            <a:ext cx="718185" cy="1904364"/>
          </a:xfrm>
          <a:custGeom>
            <a:avLst/>
            <a:gdLst/>
            <a:ahLst/>
            <a:cxnLst/>
            <a:rect l="l" t="t" r="r" b="b"/>
            <a:pathLst>
              <a:path w="718185" h="1904364">
                <a:moveTo>
                  <a:pt x="0" y="1903749"/>
                </a:moveTo>
                <a:lnTo>
                  <a:pt x="71818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5216" y="381000"/>
            <a:ext cx="2023872" cy="518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750175" cy="8851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C00000"/>
                </a:solidFill>
              </a:rPr>
              <a:t>Goal</a:t>
            </a:r>
            <a:r>
              <a:rPr dirty="0" sz="2800" spc="-5" b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sz="2800" spc="-20" b="0">
                <a:solidFill>
                  <a:srgbClr val="000000"/>
                </a:solidFill>
                <a:latin typeface="Calibri"/>
                <a:cs typeface="Calibri"/>
              </a:rPr>
              <a:t>Regularize </a:t>
            </a:r>
            <a:r>
              <a:rPr dirty="0" sz="280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z="2800" spc="-15" b="0">
                <a:solidFill>
                  <a:srgbClr val="000000"/>
                </a:solidFill>
                <a:latin typeface="Calibri"/>
                <a:cs typeface="Calibri"/>
              </a:rPr>
              <a:t>neural </a:t>
            </a:r>
            <a:r>
              <a:rPr dirty="0" sz="2800" spc="-10" b="0">
                <a:solidFill>
                  <a:srgbClr val="000000"/>
                </a:solidFill>
                <a:latin typeface="Calibri"/>
                <a:cs typeface="Calibri"/>
              </a:rPr>
              <a:t>net </a:t>
            </a:r>
            <a:r>
              <a:rPr dirty="0" sz="2800" spc="-15" b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dirty="0" sz="2800" spc="-20" b="0">
                <a:solidFill>
                  <a:srgbClr val="000000"/>
                </a:solidFill>
                <a:latin typeface="Calibri"/>
                <a:cs typeface="Calibri"/>
              </a:rPr>
              <a:t>prevent</a:t>
            </a:r>
            <a:r>
              <a:rPr dirty="0" sz="2800" spc="1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spc="-15" b="0">
                <a:solidFill>
                  <a:srgbClr val="000000"/>
                </a:solidFill>
                <a:latin typeface="Calibri"/>
                <a:cs typeface="Calibri"/>
              </a:rPr>
              <a:t>overfitting.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C00000"/>
                </a:solidFill>
              </a:rPr>
              <a:t>Idea</a:t>
            </a:r>
            <a:r>
              <a:rPr dirty="0" sz="2800" spc="-5" b="0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6563" y="2288539"/>
            <a:ext cx="7045959" cy="118999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5080" indent="-274320">
              <a:lnSpc>
                <a:spcPts val="2810"/>
              </a:lnSpc>
              <a:spcBef>
                <a:spcPts val="250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5" b="1">
                <a:latin typeface="Calibri"/>
                <a:cs typeface="Calibri"/>
              </a:rPr>
              <a:t>During </a:t>
            </a:r>
            <a:r>
              <a:rPr dirty="0" sz="2400" spc="-10" b="1">
                <a:latin typeface="Calibri"/>
                <a:cs typeface="Calibri"/>
              </a:rPr>
              <a:t>training</a:t>
            </a:r>
            <a:r>
              <a:rPr dirty="0" sz="2400" spc="-10">
                <a:latin typeface="Calibri"/>
                <a:cs typeface="Calibri"/>
              </a:rPr>
              <a:t>: </a:t>
            </a:r>
            <a:r>
              <a:rPr dirty="0" sz="2400" spc="-5">
                <a:latin typeface="Calibri"/>
                <a:cs typeface="Calibri"/>
              </a:rPr>
              <a:t>with some probability </a:t>
            </a:r>
            <a:r>
              <a:rPr dirty="0" sz="2400" spc="5">
                <a:latin typeface="Cambria Math"/>
                <a:cs typeface="Cambria Math"/>
              </a:rPr>
              <a:t>𝑝</a:t>
            </a:r>
            <a:r>
              <a:rPr dirty="0" sz="2400" spc="5">
                <a:latin typeface="Calibri"/>
                <a:cs typeface="Calibri"/>
              </a:rPr>
              <a:t>, </a:t>
            </a:r>
            <a:r>
              <a:rPr dirty="0" sz="2400" spc="-10">
                <a:latin typeface="Calibri"/>
                <a:cs typeface="Calibri"/>
              </a:rPr>
              <a:t>randomly </a:t>
            </a:r>
            <a:r>
              <a:rPr dirty="0" sz="2400" spc="-5">
                <a:latin typeface="Calibri"/>
                <a:cs typeface="Calibri"/>
              </a:rPr>
              <a:t>set  </a:t>
            </a:r>
            <a:r>
              <a:rPr dirty="0" sz="2400" spc="-10">
                <a:latin typeface="Calibri"/>
                <a:cs typeface="Calibri"/>
              </a:rPr>
              <a:t>neurons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zero </a:t>
            </a:r>
            <a:r>
              <a:rPr dirty="0" sz="2400" spc="-5">
                <a:latin typeface="Calibri"/>
                <a:cs typeface="Calibri"/>
              </a:rPr>
              <a:t>(turn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off)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15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5" b="1">
                <a:latin typeface="Calibri"/>
                <a:cs typeface="Calibri"/>
              </a:rPr>
              <a:t>During </a:t>
            </a:r>
            <a:r>
              <a:rPr dirty="0" sz="2400" spc="-10" b="1">
                <a:latin typeface="Calibri"/>
                <a:cs typeface="Calibri"/>
              </a:rPr>
              <a:t>testing: </a:t>
            </a:r>
            <a:r>
              <a:rPr dirty="0" sz="2400" spc="-5">
                <a:latin typeface="Calibri"/>
                <a:cs typeface="Calibri"/>
              </a:rPr>
              <a:t>Use all the </a:t>
            </a:r>
            <a:r>
              <a:rPr dirty="0" sz="2400" spc="-10">
                <a:latin typeface="Calibri"/>
                <a:cs typeface="Calibri"/>
              </a:rPr>
              <a:t>neurons </a:t>
            </a:r>
            <a:r>
              <a:rPr dirty="0" sz="2400" spc="-20">
                <a:latin typeface="Calibri"/>
                <a:cs typeface="Calibri"/>
              </a:rPr>
              <a:t>for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computation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23548" y="4098700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23548" y="489111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023548" y="5688993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60851" y="4522372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60851" y="525687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86245" y="4522372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86245" y="5262411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86245" y="600244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86245" y="3782333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05364" y="4681931"/>
            <a:ext cx="718185" cy="368935"/>
          </a:xfrm>
          <a:custGeom>
            <a:avLst/>
            <a:gdLst/>
            <a:ahLst/>
            <a:cxnLst/>
            <a:rect l="l" t="t" r="r" b="b"/>
            <a:pathLst>
              <a:path w="718185" h="368935">
                <a:moveTo>
                  <a:pt x="0" y="0"/>
                </a:moveTo>
                <a:lnTo>
                  <a:pt x="718184" y="368747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305364" y="5050678"/>
            <a:ext cx="718185" cy="1111885"/>
          </a:xfrm>
          <a:custGeom>
            <a:avLst/>
            <a:gdLst/>
            <a:ahLst/>
            <a:cxnLst/>
            <a:rect l="l" t="t" r="r" b="b"/>
            <a:pathLst>
              <a:path w="718185" h="1111885">
                <a:moveTo>
                  <a:pt x="0" y="1111331"/>
                </a:moveTo>
                <a:lnTo>
                  <a:pt x="71818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05364" y="5848553"/>
            <a:ext cx="718185" cy="313690"/>
          </a:xfrm>
          <a:custGeom>
            <a:avLst/>
            <a:gdLst/>
            <a:ahLst/>
            <a:cxnLst/>
            <a:rect l="l" t="t" r="r" b="b"/>
            <a:pathLst>
              <a:path w="718185" h="313689">
                <a:moveTo>
                  <a:pt x="0" y="313456"/>
                </a:moveTo>
                <a:lnTo>
                  <a:pt x="71818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42667" y="4258260"/>
            <a:ext cx="718185" cy="424180"/>
          </a:xfrm>
          <a:custGeom>
            <a:avLst/>
            <a:gdLst/>
            <a:ahLst/>
            <a:cxnLst/>
            <a:rect l="l" t="t" r="r" b="b"/>
            <a:pathLst>
              <a:path w="718185" h="424179">
                <a:moveTo>
                  <a:pt x="718184" y="423671"/>
                </a:moveTo>
                <a:lnTo>
                  <a:pt x="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42667" y="4681931"/>
            <a:ext cx="718185" cy="368935"/>
          </a:xfrm>
          <a:custGeom>
            <a:avLst/>
            <a:gdLst/>
            <a:ahLst/>
            <a:cxnLst/>
            <a:rect l="l" t="t" r="r" b="b"/>
            <a:pathLst>
              <a:path w="718185" h="368935">
                <a:moveTo>
                  <a:pt x="0" y="368747"/>
                </a:moveTo>
                <a:lnTo>
                  <a:pt x="71818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42667" y="5416438"/>
            <a:ext cx="718185" cy="432434"/>
          </a:xfrm>
          <a:custGeom>
            <a:avLst/>
            <a:gdLst/>
            <a:ahLst/>
            <a:cxnLst/>
            <a:rect l="l" t="t" r="r" b="b"/>
            <a:pathLst>
              <a:path w="718185" h="432435">
                <a:moveTo>
                  <a:pt x="0" y="432115"/>
                </a:moveTo>
                <a:lnTo>
                  <a:pt x="71818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342667" y="4258260"/>
            <a:ext cx="718185" cy="1158240"/>
          </a:xfrm>
          <a:custGeom>
            <a:avLst/>
            <a:gdLst/>
            <a:ahLst/>
            <a:cxnLst/>
            <a:rect l="l" t="t" r="r" b="b"/>
            <a:pathLst>
              <a:path w="718185" h="1158239">
                <a:moveTo>
                  <a:pt x="0" y="0"/>
                </a:moveTo>
                <a:lnTo>
                  <a:pt x="718184" y="1158178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342667" y="5050678"/>
            <a:ext cx="718185" cy="365760"/>
          </a:xfrm>
          <a:custGeom>
            <a:avLst/>
            <a:gdLst/>
            <a:ahLst/>
            <a:cxnLst/>
            <a:rect l="l" t="t" r="r" b="b"/>
            <a:pathLst>
              <a:path w="718185" h="365760">
                <a:moveTo>
                  <a:pt x="0" y="0"/>
                </a:moveTo>
                <a:lnTo>
                  <a:pt x="718184" y="36576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342667" y="4681931"/>
            <a:ext cx="718185" cy="1167130"/>
          </a:xfrm>
          <a:custGeom>
            <a:avLst/>
            <a:gdLst/>
            <a:ahLst/>
            <a:cxnLst/>
            <a:rect l="l" t="t" r="r" b="b"/>
            <a:pathLst>
              <a:path w="718185" h="1167129">
                <a:moveTo>
                  <a:pt x="0" y="1166622"/>
                </a:moveTo>
                <a:lnTo>
                  <a:pt x="71818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129788" y="3941893"/>
            <a:ext cx="718185" cy="316865"/>
          </a:xfrm>
          <a:custGeom>
            <a:avLst/>
            <a:gdLst/>
            <a:ahLst/>
            <a:cxnLst/>
            <a:rect l="l" t="t" r="r" b="b"/>
            <a:pathLst>
              <a:path w="718184" h="316864">
                <a:moveTo>
                  <a:pt x="0" y="0"/>
                </a:moveTo>
                <a:lnTo>
                  <a:pt x="718184" y="316368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129788" y="3941893"/>
            <a:ext cx="718185" cy="1906905"/>
          </a:xfrm>
          <a:custGeom>
            <a:avLst/>
            <a:gdLst/>
            <a:ahLst/>
            <a:cxnLst/>
            <a:rect l="l" t="t" r="r" b="b"/>
            <a:pathLst>
              <a:path w="718184" h="1906904">
                <a:moveTo>
                  <a:pt x="0" y="0"/>
                </a:moveTo>
                <a:lnTo>
                  <a:pt x="718184" y="1906661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129788" y="4258260"/>
            <a:ext cx="718185" cy="1163955"/>
          </a:xfrm>
          <a:custGeom>
            <a:avLst/>
            <a:gdLst/>
            <a:ahLst/>
            <a:cxnLst/>
            <a:rect l="l" t="t" r="r" b="b"/>
            <a:pathLst>
              <a:path w="718184" h="1163954">
                <a:moveTo>
                  <a:pt x="0" y="1163710"/>
                </a:moveTo>
                <a:lnTo>
                  <a:pt x="71818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47971" y="4098700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847971" y="489111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159560" y="0"/>
                </a:moveTo>
                <a:lnTo>
                  <a:pt x="109126" y="8134"/>
                </a:lnTo>
                <a:lnTo>
                  <a:pt x="65326" y="30785"/>
                </a:lnTo>
                <a:lnTo>
                  <a:pt x="30785" y="65325"/>
                </a:lnTo>
                <a:lnTo>
                  <a:pt x="8134" y="109126"/>
                </a:lnTo>
                <a:lnTo>
                  <a:pt x="0" y="159558"/>
                </a:lnTo>
                <a:lnTo>
                  <a:pt x="8134" y="209992"/>
                </a:lnTo>
                <a:lnTo>
                  <a:pt x="30785" y="253793"/>
                </a:lnTo>
                <a:lnTo>
                  <a:pt x="65326" y="288333"/>
                </a:lnTo>
                <a:lnTo>
                  <a:pt x="109126" y="310984"/>
                </a:lnTo>
                <a:lnTo>
                  <a:pt x="159560" y="319119"/>
                </a:lnTo>
                <a:lnTo>
                  <a:pt x="209993" y="310984"/>
                </a:lnTo>
                <a:lnTo>
                  <a:pt x="253793" y="288333"/>
                </a:lnTo>
                <a:lnTo>
                  <a:pt x="288333" y="253793"/>
                </a:lnTo>
                <a:lnTo>
                  <a:pt x="310984" y="209992"/>
                </a:lnTo>
                <a:lnTo>
                  <a:pt x="319119" y="159558"/>
                </a:lnTo>
                <a:lnTo>
                  <a:pt x="310984" y="109126"/>
                </a:lnTo>
                <a:lnTo>
                  <a:pt x="288333" y="65325"/>
                </a:lnTo>
                <a:lnTo>
                  <a:pt x="253793" y="30785"/>
                </a:lnTo>
                <a:lnTo>
                  <a:pt x="209993" y="8134"/>
                </a:lnTo>
                <a:lnTo>
                  <a:pt x="15956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847971" y="489111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6868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847971" y="5688993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885275" y="4522372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885275" y="525687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810670" y="4522372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159558" y="0"/>
                </a:moveTo>
                <a:lnTo>
                  <a:pt x="109125" y="8134"/>
                </a:lnTo>
                <a:lnTo>
                  <a:pt x="65325" y="30785"/>
                </a:lnTo>
                <a:lnTo>
                  <a:pt x="30785" y="65325"/>
                </a:lnTo>
                <a:lnTo>
                  <a:pt x="8134" y="109126"/>
                </a:lnTo>
                <a:lnTo>
                  <a:pt x="0" y="159558"/>
                </a:lnTo>
                <a:lnTo>
                  <a:pt x="8134" y="209992"/>
                </a:lnTo>
                <a:lnTo>
                  <a:pt x="30785" y="253793"/>
                </a:lnTo>
                <a:lnTo>
                  <a:pt x="65325" y="288333"/>
                </a:lnTo>
                <a:lnTo>
                  <a:pt x="109125" y="310984"/>
                </a:lnTo>
                <a:lnTo>
                  <a:pt x="159558" y="319119"/>
                </a:lnTo>
                <a:lnTo>
                  <a:pt x="209992" y="310984"/>
                </a:lnTo>
                <a:lnTo>
                  <a:pt x="253792" y="288333"/>
                </a:lnTo>
                <a:lnTo>
                  <a:pt x="288332" y="253793"/>
                </a:lnTo>
                <a:lnTo>
                  <a:pt x="310983" y="209992"/>
                </a:lnTo>
                <a:lnTo>
                  <a:pt x="319117" y="159558"/>
                </a:lnTo>
                <a:lnTo>
                  <a:pt x="310983" y="109126"/>
                </a:lnTo>
                <a:lnTo>
                  <a:pt x="288332" y="65325"/>
                </a:lnTo>
                <a:lnTo>
                  <a:pt x="253792" y="30785"/>
                </a:lnTo>
                <a:lnTo>
                  <a:pt x="209992" y="8134"/>
                </a:lnTo>
                <a:lnTo>
                  <a:pt x="15955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10670" y="4522372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810670" y="5262411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810670" y="600244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159558" y="0"/>
                </a:moveTo>
                <a:lnTo>
                  <a:pt x="109125" y="8134"/>
                </a:lnTo>
                <a:lnTo>
                  <a:pt x="65325" y="30785"/>
                </a:lnTo>
                <a:lnTo>
                  <a:pt x="30785" y="65325"/>
                </a:lnTo>
                <a:lnTo>
                  <a:pt x="8134" y="109126"/>
                </a:lnTo>
                <a:lnTo>
                  <a:pt x="0" y="159559"/>
                </a:lnTo>
                <a:lnTo>
                  <a:pt x="8134" y="209992"/>
                </a:lnTo>
                <a:lnTo>
                  <a:pt x="30785" y="253793"/>
                </a:lnTo>
                <a:lnTo>
                  <a:pt x="65325" y="288333"/>
                </a:lnTo>
                <a:lnTo>
                  <a:pt x="109125" y="310984"/>
                </a:lnTo>
                <a:lnTo>
                  <a:pt x="159558" y="319118"/>
                </a:lnTo>
                <a:lnTo>
                  <a:pt x="209992" y="310984"/>
                </a:lnTo>
                <a:lnTo>
                  <a:pt x="253792" y="288333"/>
                </a:lnTo>
                <a:lnTo>
                  <a:pt x="288332" y="253793"/>
                </a:lnTo>
                <a:lnTo>
                  <a:pt x="310983" y="209992"/>
                </a:lnTo>
                <a:lnTo>
                  <a:pt x="319117" y="159559"/>
                </a:lnTo>
                <a:lnTo>
                  <a:pt x="310983" y="109126"/>
                </a:lnTo>
                <a:lnTo>
                  <a:pt x="288332" y="65325"/>
                </a:lnTo>
                <a:lnTo>
                  <a:pt x="253792" y="30785"/>
                </a:lnTo>
                <a:lnTo>
                  <a:pt x="209992" y="8134"/>
                </a:lnTo>
                <a:lnTo>
                  <a:pt x="15955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810670" y="600244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810670" y="3782333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67091" y="4258260"/>
            <a:ext cx="718185" cy="424180"/>
          </a:xfrm>
          <a:custGeom>
            <a:avLst/>
            <a:gdLst/>
            <a:ahLst/>
            <a:cxnLst/>
            <a:rect l="l" t="t" r="r" b="b"/>
            <a:pathLst>
              <a:path w="718184" h="424179">
                <a:moveTo>
                  <a:pt x="718184" y="423671"/>
                </a:moveTo>
                <a:lnTo>
                  <a:pt x="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167092" y="5416438"/>
            <a:ext cx="718185" cy="432434"/>
          </a:xfrm>
          <a:custGeom>
            <a:avLst/>
            <a:gdLst/>
            <a:ahLst/>
            <a:cxnLst/>
            <a:rect l="l" t="t" r="r" b="b"/>
            <a:pathLst>
              <a:path w="718184" h="432435">
                <a:moveTo>
                  <a:pt x="0" y="432115"/>
                </a:moveTo>
                <a:lnTo>
                  <a:pt x="71818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167092" y="4258260"/>
            <a:ext cx="718185" cy="1158240"/>
          </a:xfrm>
          <a:custGeom>
            <a:avLst/>
            <a:gdLst/>
            <a:ahLst/>
            <a:cxnLst/>
            <a:rect l="l" t="t" r="r" b="b"/>
            <a:pathLst>
              <a:path w="718184" h="1158239">
                <a:moveTo>
                  <a:pt x="0" y="0"/>
                </a:moveTo>
                <a:lnTo>
                  <a:pt x="718184" y="1158178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167092" y="4681931"/>
            <a:ext cx="718185" cy="1167130"/>
          </a:xfrm>
          <a:custGeom>
            <a:avLst/>
            <a:gdLst/>
            <a:ahLst/>
            <a:cxnLst/>
            <a:rect l="l" t="t" r="r" b="b"/>
            <a:pathLst>
              <a:path w="718184" h="1167129">
                <a:moveTo>
                  <a:pt x="0" y="1166622"/>
                </a:moveTo>
                <a:lnTo>
                  <a:pt x="71818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894707" y="4937852"/>
            <a:ext cx="226060" cy="226060"/>
          </a:xfrm>
          <a:custGeom>
            <a:avLst/>
            <a:gdLst/>
            <a:ahLst/>
            <a:cxnLst/>
            <a:rect l="l" t="t" r="r" b="b"/>
            <a:pathLst>
              <a:path w="226059" h="226060">
                <a:moveTo>
                  <a:pt x="225651" y="225651"/>
                </a:moveTo>
                <a:lnTo>
                  <a:pt x="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894707" y="4937852"/>
            <a:ext cx="226060" cy="226060"/>
          </a:xfrm>
          <a:custGeom>
            <a:avLst/>
            <a:gdLst/>
            <a:ahLst/>
            <a:cxnLst/>
            <a:rect l="l" t="t" r="r" b="b"/>
            <a:pathLst>
              <a:path w="226059" h="226060">
                <a:moveTo>
                  <a:pt x="0" y="225651"/>
                </a:moveTo>
                <a:lnTo>
                  <a:pt x="225651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857403" y="4569105"/>
            <a:ext cx="226060" cy="226060"/>
          </a:xfrm>
          <a:custGeom>
            <a:avLst/>
            <a:gdLst/>
            <a:ahLst/>
            <a:cxnLst/>
            <a:rect l="l" t="t" r="r" b="b"/>
            <a:pathLst>
              <a:path w="226060" h="226060">
                <a:moveTo>
                  <a:pt x="0" y="0"/>
                </a:moveTo>
                <a:lnTo>
                  <a:pt x="225651" y="225651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857403" y="4569105"/>
            <a:ext cx="226060" cy="226060"/>
          </a:xfrm>
          <a:custGeom>
            <a:avLst/>
            <a:gdLst/>
            <a:ahLst/>
            <a:cxnLst/>
            <a:rect l="l" t="t" r="r" b="b"/>
            <a:pathLst>
              <a:path w="226060" h="226060">
                <a:moveTo>
                  <a:pt x="0" y="225651"/>
                </a:moveTo>
                <a:lnTo>
                  <a:pt x="225651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129788" y="5421970"/>
            <a:ext cx="718185" cy="426720"/>
          </a:xfrm>
          <a:custGeom>
            <a:avLst/>
            <a:gdLst/>
            <a:ahLst/>
            <a:cxnLst/>
            <a:rect l="l" t="t" r="r" b="b"/>
            <a:pathLst>
              <a:path w="718184" h="426720">
                <a:moveTo>
                  <a:pt x="0" y="0"/>
                </a:moveTo>
                <a:lnTo>
                  <a:pt x="718184" y="426583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857403" y="6049183"/>
            <a:ext cx="226060" cy="226060"/>
          </a:xfrm>
          <a:custGeom>
            <a:avLst/>
            <a:gdLst/>
            <a:ahLst/>
            <a:cxnLst/>
            <a:rect l="l" t="t" r="r" b="b"/>
            <a:pathLst>
              <a:path w="226060" h="226060">
                <a:moveTo>
                  <a:pt x="0" y="225651"/>
                </a:moveTo>
                <a:lnTo>
                  <a:pt x="225651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857403" y="6049183"/>
            <a:ext cx="226060" cy="226060"/>
          </a:xfrm>
          <a:custGeom>
            <a:avLst/>
            <a:gdLst/>
            <a:ahLst/>
            <a:cxnLst/>
            <a:rect l="l" t="t" r="r" b="b"/>
            <a:pathLst>
              <a:path w="226060" h="226060">
                <a:moveTo>
                  <a:pt x="0" y="0"/>
                </a:moveTo>
                <a:lnTo>
                  <a:pt x="225651" y="225651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258374" y="4965446"/>
            <a:ext cx="707390" cy="123825"/>
          </a:xfrm>
          <a:custGeom>
            <a:avLst/>
            <a:gdLst/>
            <a:ahLst/>
            <a:cxnLst/>
            <a:rect l="l" t="t" r="r" b="b"/>
            <a:pathLst>
              <a:path w="707389" h="123825">
                <a:moveTo>
                  <a:pt x="583089" y="82549"/>
                </a:moveTo>
                <a:lnTo>
                  <a:pt x="583089" y="123824"/>
                </a:lnTo>
                <a:lnTo>
                  <a:pt x="665639" y="82549"/>
                </a:lnTo>
                <a:lnTo>
                  <a:pt x="583089" y="82549"/>
                </a:lnTo>
                <a:close/>
              </a:path>
              <a:path w="707389" h="123825">
                <a:moveTo>
                  <a:pt x="583089" y="41274"/>
                </a:moveTo>
                <a:lnTo>
                  <a:pt x="583089" y="82549"/>
                </a:lnTo>
                <a:lnTo>
                  <a:pt x="603733" y="82548"/>
                </a:lnTo>
                <a:lnTo>
                  <a:pt x="611762" y="80926"/>
                </a:lnTo>
                <a:lnTo>
                  <a:pt x="618321" y="76504"/>
                </a:lnTo>
                <a:lnTo>
                  <a:pt x="622743" y="69944"/>
                </a:lnTo>
                <a:lnTo>
                  <a:pt x="624364" y="61911"/>
                </a:lnTo>
                <a:lnTo>
                  <a:pt x="622742" y="53878"/>
                </a:lnTo>
                <a:lnTo>
                  <a:pt x="618319" y="47318"/>
                </a:lnTo>
                <a:lnTo>
                  <a:pt x="611755" y="42895"/>
                </a:lnTo>
                <a:lnTo>
                  <a:pt x="603727" y="41274"/>
                </a:lnTo>
                <a:lnTo>
                  <a:pt x="583089" y="41274"/>
                </a:lnTo>
                <a:close/>
              </a:path>
              <a:path w="707389" h="123825">
                <a:moveTo>
                  <a:pt x="583089" y="0"/>
                </a:moveTo>
                <a:lnTo>
                  <a:pt x="583089" y="41274"/>
                </a:lnTo>
                <a:lnTo>
                  <a:pt x="603727" y="41274"/>
                </a:lnTo>
                <a:lnTo>
                  <a:pt x="611760" y="42896"/>
                </a:lnTo>
                <a:lnTo>
                  <a:pt x="618320" y="47319"/>
                </a:lnTo>
                <a:lnTo>
                  <a:pt x="622743" y="53879"/>
                </a:lnTo>
                <a:lnTo>
                  <a:pt x="624364" y="61912"/>
                </a:lnTo>
                <a:lnTo>
                  <a:pt x="622743" y="69945"/>
                </a:lnTo>
                <a:lnTo>
                  <a:pt x="618320" y="76505"/>
                </a:lnTo>
                <a:lnTo>
                  <a:pt x="611760" y="80928"/>
                </a:lnTo>
                <a:lnTo>
                  <a:pt x="603727" y="82549"/>
                </a:lnTo>
                <a:lnTo>
                  <a:pt x="665642" y="82548"/>
                </a:lnTo>
                <a:lnTo>
                  <a:pt x="706914" y="61912"/>
                </a:lnTo>
                <a:lnTo>
                  <a:pt x="583089" y="0"/>
                </a:lnTo>
                <a:close/>
              </a:path>
              <a:path w="707389" h="123825">
                <a:moveTo>
                  <a:pt x="20637" y="41273"/>
                </a:moveTo>
                <a:lnTo>
                  <a:pt x="12602" y="42896"/>
                </a:lnTo>
                <a:lnTo>
                  <a:pt x="6043" y="47319"/>
                </a:lnTo>
                <a:lnTo>
                  <a:pt x="1621" y="53879"/>
                </a:lnTo>
                <a:lnTo>
                  <a:pt x="0" y="61912"/>
                </a:lnTo>
                <a:lnTo>
                  <a:pt x="1622" y="69945"/>
                </a:lnTo>
                <a:lnTo>
                  <a:pt x="6046" y="76505"/>
                </a:lnTo>
                <a:lnTo>
                  <a:pt x="12610" y="80928"/>
                </a:lnTo>
                <a:lnTo>
                  <a:pt x="20637" y="82548"/>
                </a:lnTo>
                <a:lnTo>
                  <a:pt x="583089" y="82549"/>
                </a:lnTo>
                <a:lnTo>
                  <a:pt x="583089" y="41274"/>
                </a:lnTo>
                <a:lnTo>
                  <a:pt x="20637" y="412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2969423" y="26923"/>
            <a:ext cx="6083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Srivastava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Dropout: </a:t>
            </a:r>
            <a:r>
              <a:rPr dirty="0" sz="1200" u="sng">
                <a:solidFill>
                  <a:srgbClr val="168BBA"/>
                </a:solidFill>
                <a:latin typeface="Corbel"/>
                <a:cs typeface="Corbel"/>
              </a:rPr>
              <a:t>A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Simple</a:t>
            </a:r>
            <a:r>
              <a:rPr dirty="0" sz="1200" spc="-185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Way to Prevent Neural Networks from Overfitting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JMLR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2014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  <p:sp>
        <p:nvSpPr>
          <p:cNvPr id="59" name="object 59"/>
          <p:cNvSpPr txBox="1"/>
          <p:nvPr/>
        </p:nvSpPr>
        <p:spPr>
          <a:xfrm>
            <a:off x="5103074" y="6338315"/>
            <a:ext cx="19405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Calibri"/>
                <a:cs typeface="Calibri"/>
              </a:rPr>
              <a:t>Removed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spc="-5" b="1">
                <a:latin typeface="Calibri"/>
                <a:cs typeface="Calibri"/>
              </a:rPr>
              <a:t>neurons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41593" y="4420107"/>
            <a:ext cx="12573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latin typeface="Calibri"/>
                <a:cs typeface="Calibri"/>
              </a:rPr>
              <a:t>D</a:t>
            </a:r>
            <a:r>
              <a:rPr dirty="0" sz="2800" spc="-35" b="1">
                <a:latin typeface="Calibri"/>
                <a:cs typeface="Calibri"/>
              </a:rPr>
              <a:t>r</a:t>
            </a:r>
            <a:r>
              <a:rPr dirty="0" sz="2800" spc="-10" b="1">
                <a:latin typeface="Calibri"/>
                <a:cs typeface="Calibri"/>
              </a:rPr>
              <a:t>o</a:t>
            </a:r>
            <a:r>
              <a:rPr dirty="0" sz="2800" spc="-5" b="1">
                <a:latin typeface="Calibri"/>
                <a:cs typeface="Calibri"/>
              </a:rPr>
              <a:t>p</a:t>
            </a:r>
            <a:r>
              <a:rPr dirty="0" sz="2800" spc="-10" b="1">
                <a:latin typeface="Calibri"/>
                <a:cs typeface="Calibri"/>
              </a:rPr>
              <a:t>o</a:t>
            </a:r>
            <a:r>
              <a:rPr dirty="0" sz="2800" spc="-5" b="1">
                <a:latin typeface="Calibri"/>
                <a:cs typeface="Calibri"/>
              </a:rPr>
              <a:t>u</a:t>
            </a:r>
            <a:r>
              <a:rPr dirty="0" sz="2800" b="1"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4392168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3872" y="1220724"/>
            <a:ext cx="634619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GNN,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Dropout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applied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dirty="0" spc="-5">
                <a:solidFill>
                  <a:srgbClr val="C00000"/>
                </a:solidFill>
              </a:rPr>
              <a:t>the </a:t>
            </a:r>
            <a:r>
              <a:rPr dirty="0" spc="-5" u="heavy">
                <a:solidFill>
                  <a:srgbClr val="C00000"/>
                </a:solidFill>
              </a:rPr>
              <a:t> linear </a:t>
            </a:r>
            <a:r>
              <a:rPr dirty="0" spc="-25" u="heavy">
                <a:solidFill>
                  <a:srgbClr val="C00000"/>
                </a:solidFill>
              </a:rPr>
              <a:t>layer</a:t>
            </a:r>
            <a:r>
              <a:rPr dirty="0" spc="-25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in </a:t>
            </a:r>
            <a:r>
              <a:rPr dirty="0" spc="-5">
                <a:solidFill>
                  <a:srgbClr val="C00000"/>
                </a:solidFill>
              </a:rPr>
              <a:t>the </a:t>
            </a:r>
            <a:r>
              <a:rPr dirty="0" spc="-10">
                <a:solidFill>
                  <a:srgbClr val="C00000"/>
                </a:solidFill>
              </a:rPr>
              <a:t>message</a:t>
            </a:r>
            <a:r>
              <a:rPr dirty="0" spc="0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function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2327" y="2286507"/>
            <a:ext cx="59137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b="1">
                <a:latin typeface="Calibri"/>
                <a:cs typeface="Calibri"/>
              </a:rPr>
              <a:t>A </a:t>
            </a:r>
            <a:r>
              <a:rPr dirty="0" sz="2800" spc="-5" b="1">
                <a:latin typeface="Calibri"/>
                <a:cs typeface="Calibri"/>
              </a:rPr>
              <a:t>simple </a:t>
            </a:r>
            <a:r>
              <a:rPr dirty="0" sz="2800" spc="-10" b="1">
                <a:latin typeface="Calibri"/>
                <a:cs typeface="Calibri"/>
              </a:rPr>
              <a:t>message </a:t>
            </a:r>
            <a:r>
              <a:rPr dirty="0" sz="2800" spc="-5" b="1">
                <a:latin typeface="Calibri"/>
                <a:cs typeface="Calibri"/>
              </a:rPr>
              <a:t>function with</a:t>
            </a:r>
            <a:r>
              <a:rPr dirty="0" sz="2800" spc="-1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linear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05334" y="2855368"/>
            <a:ext cx="269875" cy="235585"/>
          </a:xfrm>
          <a:custGeom>
            <a:avLst/>
            <a:gdLst/>
            <a:ahLst/>
            <a:cxnLst/>
            <a:rect l="l" t="t" r="r" b="b"/>
            <a:pathLst>
              <a:path w="269875" h="235585">
                <a:moveTo>
                  <a:pt x="194398" y="0"/>
                </a:moveTo>
                <a:lnTo>
                  <a:pt x="191049" y="9550"/>
                </a:lnTo>
                <a:lnTo>
                  <a:pt x="204668" y="15460"/>
                </a:lnTo>
                <a:lnTo>
                  <a:pt x="216381" y="23642"/>
                </a:lnTo>
                <a:lnTo>
                  <a:pt x="240163" y="61567"/>
                </a:lnTo>
                <a:lnTo>
                  <a:pt x="247976" y="116459"/>
                </a:lnTo>
                <a:lnTo>
                  <a:pt x="247104" y="137209"/>
                </a:lnTo>
                <a:lnTo>
                  <a:pt x="234024" y="188019"/>
                </a:lnTo>
                <a:lnTo>
                  <a:pt x="204828" y="219785"/>
                </a:lnTo>
                <a:lnTo>
                  <a:pt x="191422" y="225723"/>
                </a:lnTo>
                <a:lnTo>
                  <a:pt x="194398" y="235272"/>
                </a:lnTo>
                <a:lnTo>
                  <a:pt x="239348" y="208564"/>
                </a:lnTo>
                <a:lnTo>
                  <a:pt x="264596" y="159261"/>
                </a:lnTo>
                <a:lnTo>
                  <a:pt x="269433" y="117698"/>
                </a:lnTo>
                <a:lnTo>
                  <a:pt x="268219" y="96130"/>
                </a:lnTo>
                <a:lnTo>
                  <a:pt x="258514" y="57899"/>
                </a:lnTo>
                <a:lnTo>
                  <a:pt x="226412" y="15085"/>
                </a:lnTo>
                <a:lnTo>
                  <a:pt x="211455" y="6159"/>
                </a:lnTo>
                <a:lnTo>
                  <a:pt x="194398" y="0"/>
                </a:lnTo>
                <a:close/>
              </a:path>
              <a:path w="269875" h="235585">
                <a:moveTo>
                  <a:pt x="75034" y="0"/>
                </a:moveTo>
                <a:lnTo>
                  <a:pt x="30164" y="26777"/>
                </a:lnTo>
                <a:lnTo>
                  <a:pt x="4852" y="76197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3"/>
                </a:lnTo>
                <a:lnTo>
                  <a:pt x="64604" y="219785"/>
                </a:lnTo>
                <a:lnTo>
                  <a:pt x="53035" y="211522"/>
                </a:lnTo>
                <a:lnTo>
                  <a:pt x="29304" y="172989"/>
                </a:lnTo>
                <a:lnTo>
                  <a:pt x="21456" y="116459"/>
                </a:lnTo>
                <a:lnTo>
                  <a:pt x="22328" y="96386"/>
                </a:lnTo>
                <a:lnTo>
                  <a:pt x="35408" y="46819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53974" y="2806475"/>
            <a:ext cx="609600" cy="235585"/>
          </a:xfrm>
          <a:custGeom>
            <a:avLst/>
            <a:gdLst/>
            <a:ahLst/>
            <a:cxnLst/>
            <a:rect l="l" t="t" r="r" b="b"/>
            <a:pathLst>
              <a:path w="609600" h="235585">
                <a:moveTo>
                  <a:pt x="534123" y="0"/>
                </a:moveTo>
                <a:lnTo>
                  <a:pt x="530774" y="9549"/>
                </a:lnTo>
                <a:lnTo>
                  <a:pt x="544394" y="15459"/>
                </a:lnTo>
                <a:lnTo>
                  <a:pt x="556106" y="23641"/>
                </a:lnTo>
                <a:lnTo>
                  <a:pt x="579888" y="61565"/>
                </a:lnTo>
                <a:lnTo>
                  <a:pt x="587701" y="116457"/>
                </a:lnTo>
                <a:lnTo>
                  <a:pt x="586829" y="137208"/>
                </a:lnTo>
                <a:lnTo>
                  <a:pt x="573749" y="188018"/>
                </a:lnTo>
                <a:lnTo>
                  <a:pt x="544553" y="219784"/>
                </a:lnTo>
                <a:lnTo>
                  <a:pt x="531147" y="225722"/>
                </a:lnTo>
                <a:lnTo>
                  <a:pt x="534123" y="235271"/>
                </a:lnTo>
                <a:lnTo>
                  <a:pt x="579073" y="208563"/>
                </a:lnTo>
                <a:lnTo>
                  <a:pt x="604321" y="159260"/>
                </a:lnTo>
                <a:lnTo>
                  <a:pt x="609158" y="117697"/>
                </a:lnTo>
                <a:lnTo>
                  <a:pt x="607944" y="96129"/>
                </a:lnTo>
                <a:lnTo>
                  <a:pt x="598239" y="57898"/>
                </a:lnTo>
                <a:lnTo>
                  <a:pt x="566137" y="15083"/>
                </a:lnTo>
                <a:lnTo>
                  <a:pt x="551180" y="6158"/>
                </a:lnTo>
                <a:lnTo>
                  <a:pt x="534123" y="0"/>
                </a:lnTo>
                <a:close/>
              </a:path>
              <a:path w="609600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3" y="177542"/>
                </a:lnTo>
                <a:lnTo>
                  <a:pt x="42943" y="220218"/>
                </a:lnTo>
                <a:lnTo>
                  <a:pt x="75034" y="235271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22884" y="3909242"/>
            <a:ext cx="1188720" cy="5080"/>
          </a:xfrm>
          <a:custGeom>
            <a:avLst/>
            <a:gdLst/>
            <a:ahLst/>
            <a:cxnLst/>
            <a:rect l="l" t="t" r="r" b="b"/>
            <a:pathLst>
              <a:path w="1188720" h="5079">
                <a:moveTo>
                  <a:pt x="0" y="0"/>
                </a:moveTo>
                <a:lnTo>
                  <a:pt x="1188444" y="4641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22884" y="3909242"/>
            <a:ext cx="1182370" cy="746125"/>
          </a:xfrm>
          <a:custGeom>
            <a:avLst/>
            <a:gdLst/>
            <a:ahLst/>
            <a:cxnLst/>
            <a:rect l="l" t="t" r="r" b="b"/>
            <a:pathLst>
              <a:path w="1182370" h="746125">
                <a:moveTo>
                  <a:pt x="0" y="0"/>
                </a:moveTo>
                <a:lnTo>
                  <a:pt x="1182180" y="745637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22884" y="3909242"/>
            <a:ext cx="1167130" cy="1475740"/>
          </a:xfrm>
          <a:custGeom>
            <a:avLst/>
            <a:gdLst/>
            <a:ahLst/>
            <a:cxnLst/>
            <a:rect l="l" t="t" r="r" b="b"/>
            <a:pathLst>
              <a:path w="1167130" h="1475739">
                <a:moveTo>
                  <a:pt x="0" y="0"/>
                </a:moveTo>
                <a:lnTo>
                  <a:pt x="1167006" y="1475387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22884" y="3913883"/>
            <a:ext cx="1188720" cy="735965"/>
          </a:xfrm>
          <a:custGeom>
            <a:avLst/>
            <a:gdLst/>
            <a:ahLst/>
            <a:cxnLst/>
            <a:rect l="l" t="t" r="r" b="b"/>
            <a:pathLst>
              <a:path w="1188720" h="735964">
                <a:moveTo>
                  <a:pt x="0" y="735398"/>
                </a:moveTo>
                <a:lnTo>
                  <a:pt x="118844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22884" y="4649282"/>
            <a:ext cx="1167130" cy="735965"/>
          </a:xfrm>
          <a:custGeom>
            <a:avLst/>
            <a:gdLst/>
            <a:ahLst/>
            <a:cxnLst/>
            <a:rect l="l" t="t" r="r" b="b"/>
            <a:pathLst>
              <a:path w="1167130" h="735964">
                <a:moveTo>
                  <a:pt x="0" y="0"/>
                </a:moveTo>
                <a:lnTo>
                  <a:pt x="1167006" y="735348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22884" y="3913884"/>
            <a:ext cx="1188720" cy="1475740"/>
          </a:xfrm>
          <a:custGeom>
            <a:avLst/>
            <a:gdLst/>
            <a:ahLst/>
            <a:cxnLst/>
            <a:rect l="l" t="t" r="r" b="b"/>
            <a:pathLst>
              <a:path w="1188720" h="1475739">
                <a:moveTo>
                  <a:pt x="0" y="1475437"/>
                </a:moveTo>
                <a:lnTo>
                  <a:pt x="118844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22884" y="4654880"/>
            <a:ext cx="1182370" cy="734695"/>
          </a:xfrm>
          <a:custGeom>
            <a:avLst/>
            <a:gdLst/>
            <a:ahLst/>
            <a:cxnLst/>
            <a:rect l="l" t="t" r="r" b="b"/>
            <a:pathLst>
              <a:path w="1182370" h="734695">
                <a:moveTo>
                  <a:pt x="0" y="734441"/>
                </a:moveTo>
                <a:lnTo>
                  <a:pt x="118218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22884" y="3913883"/>
            <a:ext cx="1188720" cy="2215515"/>
          </a:xfrm>
          <a:custGeom>
            <a:avLst/>
            <a:gdLst/>
            <a:ahLst/>
            <a:cxnLst/>
            <a:rect l="l" t="t" r="r" b="b"/>
            <a:pathLst>
              <a:path w="1188720" h="2215515">
                <a:moveTo>
                  <a:pt x="0" y="2215476"/>
                </a:moveTo>
                <a:lnTo>
                  <a:pt x="118844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11328" y="3754324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05063" y="449531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159560" y="0"/>
                </a:moveTo>
                <a:lnTo>
                  <a:pt x="109126" y="8134"/>
                </a:lnTo>
                <a:lnTo>
                  <a:pt x="65326" y="30785"/>
                </a:lnTo>
                <a:lnTo>
                  <a:pt x="30785" y="65325"/>
                </a:lnTo>
                <a:lnTo>
                  <a:pt x="8134" y="109126"/>
                </a:lnTo>
                <a:lnTo>
                  <a:pt x="0" y="159558"/>
                </a:lnTo>
                <a:lnTo>
                  <a:pt x="8134" y="209992"/>
                </a:lnTo>
                <a:lnTo>
                  <a:pt x="30785" y="253793"/>
                </a:lnTo>
                <a:lnTo>
                  <a:pt x="65326" y="288333"/>
                </a:lnTo>
                <a:lnTo>
                  <a:pt x="109126" y="310984"/>
                </a:lnTo>
                <a:lnTo>
                  <a:pt x="159560" y="319119"/>
                </a:lnTo>
                <a:lnTo>
                  <a:pt x="209993" y="310984"/>
                </a:lnTo>
                <a:lnTo>
                  <a:pt x="253793" y="288333"/>
                </a:lnTo>
                <a:lnTo>
                  <a:pt x="288333" y="253793"/>
                </a:lnTo>
                <a:lnTo>
                  <a:pt x="310984" y="209992"/>
                </a:lnTo>
                <a:lnTo>
                  <a:pt x="319119" y="159558"/>
                </a:lnTo>
                <a:lnTo>
                  <a:pt x="310984" y="109126"/>
                </a:lnTo>
                <a:lnTo>
                  <a:pt x="288333" y="65325"/>
                </a:lnTo>
                <a:lnTo>
                  <a:pt x="253793" y="30785"/>
                </a:lnTo>
                <a:lnTo>
                  <a:pt x="209993" y="8134"/>
                </a:lnTo>
                <a:lnTo>
                  <a:pt x="1595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505063" y="449531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89889" y="522506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159560" y="0"/>
                </a:moveTo>
                <a:lnTo>
                  <a:pt x="109126" y="8134"/>
                </a:lnTo>
                <a:lnTo>
                  <a:pt x="65326" y="30785"/>
                </a:lnTo>
                <a:lnTo>
                  <a:pt x="30785" y="65326"/>
                </a:lnTo>
                <a:lnTo>
                  <a:pt x="8134" y="109126"/>
                </a:lnTo>
                <a:lnTo>
                  <a:pt x="0" y="159560"/>
                </a:lnTo>
                <a:lnTo>
                  <a:pt x="8134" y="209993"/>
                </a:lnTo>
                <a:lnTo>
                  <a:pt x="30785" y="253793"/>
                </a:lnTo>
                <a:lnTo>
                  <a:pt x="65326" y="288333"/>
                </a:lnTo>
                <a:lnTo>
                  <a:pt x="109126" y="310984"/>
                </a:lnTo>
                <a:lnTo>
                  <a:pt x="159560" y="319119"/>
                </a:lnTo>
                <a:lnTo>
                  <a:pt x="209993" y="310984"/>
                </a:lnTo>
                <a:lnTo>
                  <a:pt x="253793" y="288333"/>
                </a:lnTo>
                <a:lnTo>
                  <a:pt x="288333" y="253793"/>
                </a:lnTo>
                <a:lnTo>
                  <a:pt x="310984" y="209993"/>
                </a:lnTo>
                <a:lnTo>
                  <a:pt x="319119" y="159560"/>
                </a:lnTo>
                <a:lnTo>
                  <a:pt x="310984" y="109126"/>
                </a:lnTo>
                <a:lnTo>
                  <a:pt x="288333" y="65326"/>
                </a:lnTo>
                <a:lnTo>
                  <a:pt x="253793" y="30785"/>
                </a:lnTo>
                <a:lnTo>
                  <a:pt x="209993" y="8134"/>
                </a:lnTo>
                <a:lnTo>
                  <a:pt x="1595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89889" y="522506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03764" y="4489721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03764" y="5229761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003764" y="596979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03764" y="3749682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22884" y="4649282"/>
            <a:ext cx="1182370" cy="5715"/>
          </a:xfrm>
          <a:custGeom>
            <a:avLst/>
            <a:gdLst/>
            <a:ahLst/>
            <a:cxnLst/>
            <a:rect l="l" t="t" r="r" b="b"/>
            <a:pathLst>
              <a:path w="1182370" h="5714">
                <a:moveTo>
                  <a:pt x="0" y="0"/>
                </a:moveTo>
                <a:lnTo>
                  <a:pt x="1182180" y="5598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22884" y="4654879"/>
            <a:ext cx="1182370" cy="1475105"/>
          </a:xfrm>
          <a:custGeom>
            <a:avLst/>
            <a:gdLst/>
            <a:ahLst/>
            <a:cxnLst/>
            <a:rect l="l" t="t" r="r" b="b"/>
            <a:pathLst>
              <a:path w="1182370" h="1475104">
                <a:moveTo>
                  <a:pt x="0" y="1474480"/>
                </a:moveTo>
                <a:lnTo>
                  <a:pt x="118218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322884" y="5384629"/>
            <a:ext cx="1167130" cy="744855"/>
          </a:xfrm>
          <a:custGeom>
            <a:avLst/>
            <a:gdLst/>
            <a:ahLst/>
            <a:cxnLst/>
            <a:rect l="l" t="t" r="r" b="b"/>
            <a:pathLst>
              <a:path w="1167130" h="744854">
                <a:moveTo>
                  <a:pt x="0" y="744730"/>
                </a:moveTo>
                <a:lnTo>
                  <a:pt x="1167006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322883" y="3909243"/>
            <a:ext cx="1182370" cy="2217420"/>
          </a:xfrm>
          <a:custGeom>
            <a:avLst/>
            <a:gdLst/>
            <a:ahLst/>
            <a:cxnLst/>
            <a:rect l="l" t="t" r="r" b="b"/>
            <a:pathLst>
              <a:path w="1182370" h="2217420">
                <a:moveTo>
                  <a:pt x="1182180" y="2217286"/>
                </a:moveTo>
                <a:lnTo>
                  <a:pt x="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322884" y="6126528"/>
            <a:ext cx="1182370" cy="3175"/>
          </a:xfrm>
          <a:custGeom>
            <a:avLst/>
            <a:gdLst/>
            <a:ahLst/>
            <a:cxnLst/>
            <a:rect l="l" t="t" r="r" b="b"/>
            <a:pathLst>
              <a:path w="1182370" h="3175">
                <a:moveTo>
                  <a:pt x="0" y="2831"/>
                </a:moveTo>
                <a:lnTo>
                  <a:pt x="118218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322883" y="4649282"/>
            <a:ext cx="1182370" cy="1477645"/>
          </a:xfrm>
          <a:custGeom>
            <a:avLst/>
            <a:gdLst/>
            <a:ahLst/>
            <a:cxnLst/>
            <a:rect l="l" t="t" r="r" b="b"/>
            <a:pathLst>
              <a:path w="1182370" h="1477645">
                <a:moveTo>
                  <a:pt x="1182180" y="1477247"/>
                </a:moveTo>
                <a:lnTo>
                  <a:pt x="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505063" y="5966968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159560" y="0"/>
                </a:moveTo>
                <a:lnTo>
                  <a:pt x="109126" y="8134"/>
                </a:lnTo>
                <a:lnTo>
                  <a:pt x="65326" y="30785"/>
                </a:lnTo>
                <a:lnTo>
                  <a:pt x="30785" y="65325"/>
                </a:lnTo>
                <a:lnTo>
                  <a:pt x="8134" y="109126"/>
                </a:lnTo>
                <a:lnTo>
                  <a:pt x="0" y="159559"/>
                </a:lnTo>
                <a:lnTo>
                  <a:pt x="8134" y="209992"/>
                </a:lnTo>
                <a:lnTo>
                  <a:pt x="30785" y="253793"/>
                </a:lnTo>
                <a:lnTo>
                  <a:pt x="65326" y="288333"/>
                </a:lnTo>
                <a:lnTo>
                  <a:pt x="109126" y="310984"/>
                </a:lnTo>
                <a:lnTo>
                  <a:pt x="159560" y="319118"/>
                </a:lnTo>
                <a:lnTo>
                  <a:pt x="209993" y="310984"/>
                </a:lnTo>
                <a:lnTo>
                  <a:pt x="253793" y="288333"/>
                </a:lnTo>
                <a:lnTo>
                  <a:pt x="288333" y="253793"/>
                </a:lnTo>
                <a:lnTo>
                  <a:pt x="310984" y="209992"/>
                </a:lnTo>
                <a:lnTo>
                  <a:pt x="319119" y="159559"/>
                </a:lnTo>
                <a:lnTo>
                  <a:pt x="310984" y="109126"/>
                </a:lnTo>
                <a:lnTo>
                  <a:pt x="288333" y="65325"/>
                </a:lnTo>
                <a:lnTo>
                  <a:pt x="253793" y="30785"/>
                </a:lnTo>
                <a:lnTo>
                  <a:pt x="209993" y="8134"/>
                </a:lnTo>
                <a:lnTo>
                  <a:pt x="1595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505063" y="5966968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5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322884" y="5384630"/>
            <a:ext cx="1167130" cy="5080"/>
          </a:xfrm>
          <a:custGeom>
            <a:avLst/>
            <a:gdLst/>
            <a:ahLst/>
            <a:cxnLst/>
            <a:rect l="l" t="t" r="r" b="b"/>
            <a:pathLst>
              <a:path w="1167130" h="5079">
                <a:moveTo>
                  <a:pt x="0" y="4691"/>
                </a:moveTo>
                <a:lnTo>
                  <a:pt x="1167006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322884" y="5389321"/>
            <a:ext cx="1182370" cy="737235"/>
          </a:xfrm>
          <a:custGeom>
            <a:avLst/>
            <a:gdLst/>
            <a:ahLst/>
            <a:cxnLst/>
            <a:rect l="l" t="t" r="r" b="b"/>
            <a:pathLst>
              <a:path w="1182370" h="737235">
                <a:moveTo>
                  <a:pt x="0" y="0"/>
                </a:moveTo>
                <a:lnTo>
                  <a:pt x="1182180" y="737208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266344" y="5041456"/>
            <a:ext cx="707390" cy="123825"/>
          </a:xfrm>
          <a:custGeom>
            <a:avLst/>
            <a:gdLst/>
            <a:ahLst/>
            <a:cxnLst/>
            <a:rect l="l" t="t" r="r" b="b"/>
            <a:pathLst>
              <a:path w="707389" h="123825">
                <a:moveTo>
                  <a:pt x="583089" y="82549"/>
                </a:moveTo>
                <a:lnTo>
                  <a:pt x="583089" y="123825"/>
                </a:lnTo>
                <a:lnTo>
                  <a:pt x="665639" y="82550"/>
                </a:lnTo>
                <a:lnTo>
                  <a:pt x="583089" y="82549"/>
                </a:lnTo>
                <a:close/>
              </a:path>
              <a:path w="707389" h="123825">
                <a:moveTo>
                  <a:pt x="583089" y="41274"/>
                </a:moveTo>
                <a:lnTo>
                  <a:pt x="583089" y="82549"/>
                </a:lnTo>
                <a:lnTo>
                  <a:pt x="603733" y="82548"/>
                </a:lnTo>
                <a:lnTo>
                  <a:pt x="611762" y="80926"/>
                </a:lnTo>
                <a:lnTo>
                  <a:pt x="618320" y="76504"/>
                </a:lnTo>
                <a:lnTo>
                  <a:pt x="622743" y="69944"/>
                </a:lnTo>
                <a:lnTo>
                  <a:pt x="624364" y="61911"/>
                </a:lnTo>
                <a:lnTo>
                  <a:pt x="622742" y="53877"/>
                </a:lnTo>
                <a:lnTo>
                  <a:pt x="618318" y="47318"/>
                </a:lnTo>
                <a:lnTo>
                  <a:pt x="611754" y="42895"/>
                </a:lnTo>
                <a:lnTo>
                  <a:pt x="603727" y="41275"/>
                </a:lnTo>
                <a:lnTo>
                  <a:pt x="583089" y="41274"/>
                </a:lnTo>
                <a:close/>
              </a:path>
              <a:path w="707389" h="123825">
                <a:moveTo>
                  <a:pt x="583089" y="0"/>
                </a:moveTo>
                <a:lnTo>
                  <a:pt x="583089" y="41274"/>
                </a:lnTo>
                <a:lnTo>
                  <a:pt x="603727" y="41275"/>
                </a:lnTo>
                <a:lnTo>
                  <a:pt x="611760" y="42896"/>
                </a:lnTo>
                <a:lnTo>
                  <a:pt x="618320" y="47319"/>
                </a:lnTo>
                <a:lnTo>
                  <a:pt x="622743" y="53879"/>
                </a:lnTo>
                <a:lnTo>
                  <a:pt x="624364" y="61912"/>
                </a:lnTo>
                <a:lnTo>
                  <a:pt x="622743" y="69945"/>
                </a:lnTo>
                <a:lnTo>
                  <a:pt x="618320" y="76505"/>
                </a:lnTo>
                <a:lnTo>
                  <a:pt x="611760" y="80928"/>
                </a:lnTo>
                <a:lnTo>
                  <a:pt x="603727" y="82550"/>
                </a:lnTo>
                <a:lnTo>
                  <a:pt x="665642" y="82548"/>
                </a:lnTo>
                <a:lnTo>
                  <a:pt x="706914" y="61912"/>
                </a:lnTo>
                <a:lnTo>
                  <a:pt x="583089" y="0"/>
                </a:lnTo>
                <a:close/>
              </a:path>
              <a:path w="707389" h="123825">
                <a:moveTo>
                  <a:pt x="20637" y="41273"/>
                </a:moveTo>
                <a:lnTo>
                  <a:pt x="12602" y="42896"/>
                </a:lnTo>
                <a:lnTo>
                  <a:pt x="6043" y="47319"/>
                </a:lnTo>
                <a:lnTo>
                  <a:pt x="1621" y="53879"/>
                </a:lnTo>
                <a:lnTo>
                  <a:pt x="0" y="61912"/>
                </a:lnTo>
                <a:lnTo>
                  <a:pt x="1621" y="69945"/>
                </a:lnTo>
                <a:lnTo>
                  <a:pt x="6045" y="76505"/>
                </a:lnTo>
                <a:lnTo>
                  <a:pt x="12609" y="80928"/>
                </a:lnTo>
                <a:lnTo>
                  <a:pt x="20637" y="82548"/>
                </a:lnTo>
                <a:lnTo>
                  <a:pt x="583089" y="82549"/>
                </a:lnTo>
                <a:lnTo>
                  <a:pt x="583089" y="41274"/>
                </a:lnTo>
                <a:lnTo>
                  <a:pt x="20637" y="412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049562" y="4496307"/>
            <a:ext cx="12573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latin typeface="Calibri"/>
                <a:cs typeface="Calibri"/>
              </a:rPr>
              <a:t>D</a:t>
            </a:r>
            <a:r>
              <a:rPr dirty="0" sz="2800" spc="-35" b="1">
                <a:latin typeface="Calibri"/>
                <a:cs typeface="Calibri"/>
              </a:rPr>
              <a:t>r</a:t>
            </a:r>
            <a:r>
              <a:rPr dirty="0" sz="2800" spc="-10" b="1">
                <a:latin typeface="Calibri"/>
                <a:cs typeface="Calibri"/>
              </a:rPr>
              <a:t>o</a:t>
            </a:r>
            <a:r>
              <a:rPr dirty="0" sz="2800" spc="-5" b="1">
                <a:latin typeface="Calibri"/>
                <a:cs typeface="Calibri"/>
              </a:rPr>
              <a:t>p</a:t>
            </a:r>
            <a:r>
              <a:rPr dirty="0" sz="2800" spc="-10" b="1">
                <a:latin typeface="Calibri"/>
                <a:cs typeface="Calibri"/>
              </a:rPr>
              <a:t>o</a:t>
            </a:r>
            <a:r>
              <a:rPr dirty="0" sz="2800" spc="-5" b="1">
                <a:latin typeface="Calibri"/>
                <a:cs typeface="Calibri"/>
              </a:rPr>
              <a:t>u</a:t>
            </a:r>
            <a:r>
              <a:rPr dirty="0" sz="2800" b="1"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3005" y="4982971"/>
            <a:ext cx="173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>
                <a:solidFill>
                  <a:srgbClr val="60B5CC"/>
                </a:solidFill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15797" y="4828354"/>
            <a:ext cx="523240" cy="212090"/>
          </a:xfrm>
          <a:custGeom>
            <a:avLst/>
            <a:gdLst/>
            <a:ahLst/>
            <a:cxnLst/>
            <a:rect l="l" t="t" r="r" b="b"/>
            <a:pathLst>
              <a:path w="523240" h="212089">
                <a:moveTo>
                  <a:pt x="455412" y="0"/>
                </a:moveTo>
                <a:lnTo>
                  <a:pt x="452398" y="8595"/>
                </a:lnTo>
                <a:lnTo>
                  <a:pt x="464656" y="13914"/>
                </a:lnTo>
                <a:lnTo>
                  <a:pt x="475197" y="21278"/>
                </a:lnTo>
                <a:lnTo>
                  <a:pt x="496600" y="55409"/>
                </a:lnTo>
                <a:lnTo>
                  <a:pt x="503632" y="104813"/>
                </a:lnTo>
                <a:lnTo>
                  <a:pt x="502848" y="123488"/>
                </a:lnTo>
                <a:lnTo>
                  <a:pt x="491075" y="169217"/>
                </a:lnTo>
                <a:lnTo>
                  <a:pt x="464799" y="197806"/>
                </a:lnTo>
                <a:lnTo>
                  <a:pt x="452733" y="203150"/>
                </a:lnTo>
                <a:lnTo>
                  <a:pt x="455412" y="211745"/>
                </a:lnTo>
                <a:lnTo>
                  <a:pt x="495868" y="187708"/>
                </a:lnTo>
                <a:lnTo>
                  <a:pt x="518590" y="143335"/>
                </a:lnTo>
                <a:lnTo>
                  <a:pt x="522943" y="105928"/>
                </a:lnTo>
                <a:lnTo>
                  <a:pt x="521851" y="86516"/>
                </a:lnTo>
                <a:lnTo>
                  <a:pt x="505474" y="37114"/>
                </a:lnTo>
                <a:lnTo>
                  <a:pt x="470763" y="5542"/>
                </a:lnTo>
                <a:lnTo>
                  <a:pt x="455412" y="0"/>
                </a:lnTo>
                <a:close/>
              </a:path>
              <a:path w="523240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3"/>
                </a:lnTo>
                <a:lnTo>
                  <a:pt x="20095" y="86747"/>
                </a:lnTo>
                <a:lnTo>
                  <a:pt x="31867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97268" y="4681220"/>
            <a:ext cx="6832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7777" sz="3600">
                <a:solidFill>
                  <a:srgbClr val="60B5CC"/>
                </a:solidFill>
                <a:latin typeface="Cambria Math"/>
                <a:cs typeface="Cambria Math"/>
              </a:rPr>
              <a:t>𝐡</a:t>
            </a:r>
            <a:r>
              <a:rPr dirty="0" baseline="-27777" sz="3600" spc="150">
                <a:solidFill>
                  <a:srgbClr val="60B5CC"/>
                </a:solidFill>
                <a:latin typeface="Cambria Math"/>
                <a:cs typeface="Cambria Math"/>
              </a:rPr>
              <a:t> </a:t>
            </a:r>
            <a:r>
              <a:rPr dirty="0" sz="1800" spc="60">
                <a:solidFill>
                  <a:srgbClr val="60B5CC"/>
                </a:solidFill>
                <a:latin typeface="Cambria Math"/>
                <a:cs typeface="Cambria Math"/>
              </a:rPr>
              <a:t>%'(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225312" y="5019547"/>
            <a:ext cx="173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>
                <a:solidFill>
                  <a:srgbClr val="E66C7D"/>
                </a:solidFill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949087" y="4702555"/>
            <a:ext cx="5740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8935" sz="3600">
                <a:solidFill>
                  <a:srgbClr val="E66C7D"/>
                </a:solidFill>
                <a:latin typeface="Cambria Math"/>
                <a:cs typeface="Cambria Math"/>
              </a:rPr>
              <a:t>𝐦</a:t>
            </a:r>
            <a:r>
              <a:rPr dirty="0" sz="1800" spc="-25">
                <a:solidFill>
                  <a:srgbClr val="E66C7D"/>
                </a:solidFill>
                <a:latin typeface="Cambria Math"/>
                <a:cs typeface="Cambria Math"/>
              </a:rPr>
              <a:t>(</a:t>
            </a:r>
            <a:r>
              <a:rPr dirty="0" sz="1800" spc="-935">
                <a:solidFill>
                  <a:srgbClr val="E66C7D"/>
                </a:solidFill>
                <a:latin typeface="Cambria Math"/>
                <a:cs typeface="Cambria Math"/>
              </a:rPr>
              <a:t>%</a:t>
            </a:r>
            <a:r>
              <a:rPr dirty="0" sz="1800">
                <a:solidFill>
                  <a:srgbClr val="E66C7D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101018" y="3459819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4" h="212089">
                <a:moveTo>
                  <a:pt x="164900" y="0"/>
                </a:moveTo>
                <a:lnTo>
                  <a:pt x="161886" y="8595"/>
                </a:lnTo>
                <a:lnTo>
                  <a:pt x="174143" y="13914"/>
                </a:lnTo>
                <a:lnTo>
                  <a:pt x="184684" y="21277"/>
                </a:lnTo>
                <a:lnTo>
                  <a:pt x="206088" y="55409"/>
                </a:lnTo>
                <a:lnTo>
                  <a:pt x="213119" y="104811"/>
                </a:lnTo>
                <a:lnTo>
                  <a:pt x="212335" y="123487"/>
                </a:lnTo>
                <a:lnTo>
                  <a:pt x="200563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900" y="211745"/>
                </a:lnTo>
                <a:lnTo>
                  <a:pt x="205356" y="187708"/>
                </a:lnTo>
                <a:lnTo>
                  <a:pt x="228077" y="143335"/>
                </a:lnTo>
                <a:lnTo>
                  <a:pt x="232430" y="105928"/>
                </a:lnTo>
                <a:lnTo>
                  <a:pt x="231338" y="86516"/>
                </a:lnTo>
                <a:lnTo>
                  <a:pt x="214962" y="37114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4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086647" y="2807715"/>
            <a:ext cx="3502660" cy="8966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440"/>
              </a:lnSpc>
              <a:spcBef>
                <a:spcPts val="100"/>
              </a:spcBef>
            </a:pPr>
            <a:r>
              <a:rPr dirty="0" sz="2800" spc="-15" b="1">
                <a:latin typeface="Calibri"/>
                <a:cs typeface="Calibri"/>
              </a:rPr>
              <a:t>layer: </a:t>
            </a:r>
            <a:r>
              <a:rPr dirty="0" sz="2800" spc="-55">
                <a:solidFill>
                  <a:srgbClr val="E66C7D"/>
                </a:solidFill>
                <a:latin typeface="Cambria Math"/>
                <a:cs typeface="Cambria Math"/>
              </a:rPr>
              <a:t>𝐦</a:t>
            </a:r>
            <a:r>
              <a:rPr dirty="0" baseline="41666" sz="3000" spc="-82">
                <a:solidFill>
                  <a:srgbClr val="E66C7D"/>
                </a:solidFill>
                <a:latin typeface="Cambria Math"/>
                <a:cs typeface="Cambria Math"/>
              </a:rPr>
              <a:t>($)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>
                <a:solidFill>
                  <a:srgbClr val="F0AD00"/>
                </a:solidFill>
                <a:latin typeface="Cambria Math"/>
                <a:cs typeface="Cambria Math"/>
              </a:rPr>
              <a:t>𝐖  </a:t>
            </a:r>
            <a:r>
              <a:rPr dirty="0" baseline="29166" sz="3000" spc="-465">
                <a:solidFill>
                  <a:srgbClr val="F0AD00"/>
                </a:solidFill>
                <a:latin typeface="Cambria Math"/>
                <a:cs typeface="Cambria Math"/>
              </a:rPr>
              <a:t>$      </a:t>
            </a:r>
            <a:r>
              <a:rPr dirty="0" sz="2800">
                <a:solidFill>
                  <a:srgbClr val="60B5CC"/>
                </a:solidFill>
                <a:latin typeface="Cambria Math"/>
                <a:cs typeface="Cambria Math"/>
              </a:rPr>
              <a:t>𝐡</a:t>
            </a:r>
            <a:r>
              <a:rPr dirty="0" sz="2800" spc="-90">
                <a:solidFill>
                  <a:srgbClr val="60B5CC"/>
                </a:solidFill>
                <a:latin typeface="Cambria Math"/>
                <a:cs typeface="Cambria Math"/>
              </a:rPr>
              <a:t> </a:t>
            </a:r>
            <a:r>
              <a:rPr dirty="0" baseline="38888" sz="3000" spc="270">
                <a:solidFill>
                  <a:srgbClr val="60B5CC"/>
                </a:solidFill>
                <a:latin typeface="Cambria Math"/>
                <a:cs typeface="Cambria Math"/>
              </a:rPr>
              <a:t>$&amp;'</a:t>
            </a:r>
            <a:endParaRPr baseline="38888" sz="3000">
              <a:latin typeface="Cambria Math"/>
              <a:cs typeface="Cambria Math"/>
            </a:endParaRPr>
          </a:p>
          <a:p>
            <a:pPr marL="1242060">
              <a:lnSpc>
                <a:spcPts val="1480"/>
              </a:lnSpc>
              <a:tabLst>
                <a:tab pos="2944495" algn="l"/>
              </a:tabLst>
            </a:pPr>
            <a:r>
              <a:rPr dirty="0" sz="2000" spc="505">
                <a:solidFill>
                  <a:srgbClr val="E66C7D"/>
                </a:solidFill>
                <a:latin typeface="Cambria Math"/>
                <a:cs typeface="Cambria Math"/>
              </a:rPr>
              <a:t>"	</a:t>
            </a:r>
            <a:r>
              <a:rPr dirty="0" baseline="1388" sz="3000" spc="757">
                <a:solidFill>
                  <a:srgbClr val="60B5CC"/>
                </a:solidFill>
                <a:latin typeface="Cambria Math"/>
                <a:cs typeface="Cambria Math"/>
              </a:rPr>
              <a:t>"</a:t>
            </a:r>
            <a:endParaRPr baseline="1388" sz="3000">
              <a:latin typeface="Cambria Math"/>
              <a:cs typeface="Cambria Math"/>
            </a:endParaRPr>
          </a:p>
          <a:p>
            <a:pPr marL="685165">
              <a:lnSpc>
                <a:spcPct val="100000"/>
              </a:lnSpc>
              <a:spcBef>
                <a:spcPts val="55"/>
              </a:spcBef>
            </a:pPr>
            <a:r>
              <a:rPr dirty="0" baseline="-20833" sz="3600">
                <a:solidFill>
                  <a:srgbClr val="F0AD00"/>
                </a:solidFill>
                <a:latin typeface="Cambria Math"/>
                <a:cs typeface="Cambria Math"/>
              </a:rPr>
              <a:t>𝐖</a:t>
            </a:r>
            <a:r>
              <a:rPr dirty="0" baseline="-20833" sz="3600" spc="277">
                <a:solidFill>
                  <a:srgbClr val="F0AD00"/>
                </a:solidFill>
                <a:latin typeface="Cambria Math"/>
                <a:cs typeface="Cambria Math"/>
              </a:rPr>
              <a:t> </a:t>
            </a:r>
            <a:r>
              <a:rPr dirty="0" sz="1800" spc="-969">
                <a:solidFill>
                  <a:srgbClr val="F0AD00"/>
                </a:solidFill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5940" y="6308852"/>
            <a:ext cx="2755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Visualization </a:t>
            </a:r>
            <a:r>
              <a:rPr dirty="0" sz="1800" spc="-5" b="1">
                <a:latin typeface="Calibri"/>
                <a:cs typeface="Calibri"/>
              </a:rPr>
              <a:t>of </a:t>
            </a:r>
            <a:r>
              <a:rPr dirty="0" sz="1800" b="1">
                <a:latin typeface="Calibri"/>
                <a:cs typeface="Calibri"/>
              </a:rPr>
              <a:t>a </a:t>
            </a:r>
            <a:r>
              <a:rPr dirty="0" sz="1800" spc="-5" b="1">
                <a:latin typeface="Calibri"/>
                <a:cs typeface="Calibri"/>
              </a:rPr>
              <a:t>linear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5" b="1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533870" y="3906411"/>
            <a:ext cx="1188720" cy="5080"/>
          </a:xfrm>
          <a:custGeom>
            <a:avLst/>
            <a:gdLst/>
            <a:ahLst/>
            <a:cxnLst/>
            <a:rect l="l" t="t" r="r" b="b"/>
            <a:pathLst>
              <a:path w="1188720" h="5079">
                <a:moveTo>
                  <a:pt x="0" y="0"/>
                </a:moveTo>
                <a:lnTo>
                  <a:pt x="1188444" y="4641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533870" y="3906411"/>
            <a:ext cx="1182370" cy="746125"/>
          </a:xfrm>
          <a:custGeom>
            <a:avLst/>
            <a:gdLst/>
            <a:ahLst/>
            <a:cxnLst/>
            <a:rect l="l" t="t" r="r" b="b"/>
            <a:pathLst>
              <a:path w="1182370" h="746125">
                <a:moveTo>
                  <a:pt x="0" y="0"/>
                </a:moveTo>
                <a:lnTo>
                  <a:pt x="1182180" y="745637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533870" y="3911051"/>
            <a:ext cx="1188720" cy="1475740"/>
          </a:xfrm>
          <a:custGeom>
            <a:avLst/>
            <a:gdLst/>
            <a:ahLst/>
            <a:cxnLst/>
            <a:rect l="l" t="t" r="r" b="b"/>
            <a:pathLst>
              <a:path w="1188720" h="1475739">
                <a:moveTo>
                  <a:pt x="0" y="1475437"/>
                </a:moveTo>
                <a:lnTo>
                  <a:pt x="118844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533870" y="4652048"/>
            <a:ext cx="1182370" cy="734695"/>
          </a:xfrm>
          <a:custGeom>
            <a:avLst/>
            <a:gdLst/>
            <a:ahLst/>
            <a:cxnLst/>
            <a:rect l="l" t="t" r="r" b="b"/>
            <a:pathLst>
              <a:path w="1182370" h="734695">
                <a:moveTo>
                  <a:pt x="0" y="734441"/>
                </a:moveTo>
                <a:lnTo>
                  <a:pt x="118218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533870" y="3911053"/>
            <a:ext cx="1188720" cy="2215515"/>
          </a:xfrm>
          <a:custGeom>
            <a:avLst/>
            <a:gdLst/>
            <a:ahLst/>
            <a:cxnLst/>
            <a:rect l="l" t="t" r="r" b="b"/>
            <a:pathLst>
              <a:path w="1188720" h="2215515">
                <a:moveTo>
                  <a:pt x="0" y="2215476"/>
                </a:moveTo>
                <a:lnTo>
                  <a:pt x="118844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722314" y="3751492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716049" y="4492488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159560" y="0"/>
                </a:moveTo>
                <a:lnTo>
                  <a:pt x="109126" y="8134"/>
                </a:lnTo>
                <a:lnTo>
                  <a:pt x="65326" y="30785"/>
                </a:lnTo>
                <a:lnTo>
                  <a:pt x="30785" y="65325"/>
                </a:lnTo>
                <a:lnTo>
                  <a:pt x="8134" y="109126"/>
                </a:lnTo>
                <a:lnTo>
                  <a:pt x="0" y="159558"/>
                </a:lnTo>
                <a:lnTo>
                  <a:pt x="8134" y="209992"/>
                </a:lnTo>
                <a:lnTo>
                  <a:pt x="30785" y="253793"/>
                </a:lnTo>
                <a:lnTo>
                  <a:pt x="65326" y="288333"/>
                </a:lnTo>
                <a:lnTo>
                  <a:pt x="109126" y="310984"/>
                </a:lnTo>
                <a:lnTo>
                  <a:pt x="159560" y="319119"/>
                </a:lnTo>
                <a:lnTo>
                  <a:pt x="209993" y="310984"/>
                </a:lnTo>
                <a:lnTo>
                  <a:pt x="253793" y="288333"/>
                </a:lnTo>
                <a:lnTo>
                  <a:pt x="288333" y="253793"/>
                </a:lnTo>
                <a:lnTo>
                  <a:pt x="310984" y="209992"/>
                </a:lnTo>
                <a:lnTo>
                  <a:pt x="319119" y="159558"/>
                </a:lnTo>
                <a:lnTo>
                  <a:pt x="310984" y="109126"/>
                </a:lnTo>
                <a:lnTo>
                  <a:pt x="288333" y="65325"/>
                </a:lnTo>
                <a:lnTo>
                  <a:pt x="253793" y="30785"/>
                </a:lnTo>
                <a:lnTo>
                  <a:pt x="209993" y="8134"/>
                </a:lnTo>
                <a:lnTo>
                  <a:pt x="1595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716049" y="4492488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214751" y="5226930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214751" y="5966968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214751" y="3746851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533870" y="4652048"/>
            <a:ext cx="1182370" cy="1475105"/>
          </a:xfrm>
          <a:custGeom>
            <a:avLst/>
            <a:gdLst/>
            <a:ahLst/>
            <a:cxnLst/>
            <a:rect l="l" t="t" r="r" b="b"/>
            <a:pathLst>
              <a:path w="1182370" h="1475104">
                <a:moveTo>
                  <a:pt x="0" y="1474480"/>
                </a:moveTo>
                <a:lnTo>
                  <a:pt x="118218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533870" y="3906411"/>
            <a:ext cx="1182370" cy="2217420"/>
          </a:xfrm>
          <a:custGeom>
            <a:avLst/>
            <a:gdLst/>
            <a:ahLst/>
            <a:cxnLst/>
            <a:rect l="l" t="t" r="r" b="b"/>
            <a:pathLst>
              <a:path w="1182370" h="2217420">
                <a:moveTo>
                  <a:pt x="1182180" y="2217286"/>
                </a:moveTo>
                <a:lnTo>
                  <a:pt x="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533870" y="6123697"/>
            <a:ext cx="1182370" cy="3175"/>
          </a:xfrm>
          <a:custGeom>
            <a:avLst/>
            <a:gdLst/>
            <a:ahLst/>
            <a:cxnLst/>
            <a:rect l="l" t="t" r="r" b="b"/>
            <a:pathLst>
              <a:path w="1182370" h="3175">
                <a:moveTo>
                  <a:pt x="0" y="2831"/>
                </a:moveTo>
                <a:lnTo>
                  <a:pt x="118218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716049" y="5964137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159560" y="0"/>
                </a:moveTo>
                <a:lnTo>
                  <a:pt x="109126" y="8134"/>
                </a:lnTo>
                <a:lnTo>
                  <a:pt x="65326" y="30785"/>
                </a:lnTo>
                <a:lnTo>
                  <a:pt x="30785" y="65325"/>
                </a:lnTo>
                <a:lnTo>
                  <a:pt x="8134" y="109126"/>
                </a:lnTo>
                <a:lnTo>
                  <a:pt x="0" y="159559"/>
                </a:lnTo>
                <a:lnTo>
                  <a:pt x="8134" y="209992"/>
                </a:lnTo>
                <a:lnTo>
                  <a:pt x="30785" y="253793"/>
                </a:lnTo>
                <a:lnTo>
                  <a:pt x="65326" y="288333"/>
                </a:lnTo>
                <a:lnTo>
                  <a:pt x="109126" y="310984"/>
                </a:lnTo>
                <a:lnTo>
                  <a:pt x="159560" y="319118"/>
                </a:lnTo>
                <a:lnTo>
                  <a:pt x="209993" y="310984"/>
                </a:lnTo>
                <a:lnTo>
                  <a:pt x="253793" y="288333"/>
                </a:lnTo>
                <a:lnTo>
                  <a:pt x="288333" y="253793"/>
                </a:lnTo>
                <a:lnTo>
                  <a:pt x="310984" y="209992"/>
                </a:lnTo>
                <a:lnTo>
                  <a:pt x="319119" y="159559"/>
                </a:lnTo>
                <a:lnTo>
                  <a:pt x="310984" y="109126"/>
                </a:lnTo>
                <a:lnTo>
                  <a:pt x="288333" y="65325"/>
                </a:lnTo>
                <a:lnTo>
                  <a:pt x="253793" y="30785"/>
                </a:lnTo>
                <a:lnTo>
                  <a:pt x="209993" y="8134"/>
                </a:lnTo>
                <a:lnTo>
                  <a:pt x="1595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716049" y="5964137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533870" y="5386489"/>
            <a:ext cx="1182370" cy="737235"/>
          </a:xfrm>
          <a:custGeom>
            <a:avLst/>
            <a:gdLst/>
            <a:ahLst/>
            <a:cxnLst/>
            <a:rect l="l" t="t" r="r" b="b"/>
            <a:pathLst>
              <a:path w="1182370" h="737235">
                <a:moveTo>
                  <a:pt x="0" y="0"/>
                </a:moveTo>
                <a:lnTo>
                  <a:pt x="1182180" y="737208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208487" y="449531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159560" y="0"/>
                </a:moveTo>
                <a:lnTo>
                  <a:pt x="109126" y="8134"/>
                </a:lnTo>
                <a:lnTo>
                  <a:pt x="65326" y="30785"/>
                </a:lnTo>
                <a:lnTo>
                  <a:pt x="30785" y="65325"/>
                </a:lnTo>
                <a:lnTo>
                  <a:pt x="8134" y="109126"/>
                </a:lnTo>
                <a:lnTo>
                  <a:pt x="0" y="159558"/>
                </a:lnTo>
                <a:lnTo>
                  <a:pt x="8134" y="209992"/>
                </a:lnTo>
                <a:lnTo>
                  <a:pt x="30785" y="253793"/>
                </a:lnTo>
                <a:lnTo>
                  <a:pt x="65326" y="288333"/>
                </a:lnTo>
                <a:lnTo>
                  <a:pt x="109126" y="310984"/>
                </a:lnTo>
                <a:lnTo>
                  <a:pt x="159560" y="319119"/>
                </a:lnTo>
                <a:lnTo>
                  <a:pt x="209993" y="310984"/>
                </a:lnTo>
                <a:lnTo>
                  <a:pt x="253793" y="288333"/>
                </a:lnTo>
                <a:lnTo>
                  <a:pt x="288333" y="253793"/>
                </a:lnTo>
                <a:lnTo>
                  <a:pt x="310984" y="209992"/>
                </a:lnTo>
                <a:lnTo>
                  <a:pt x="319119" y="159558"/>
                </a:lnTo>
                <a:lnTo>
                  <a:pt x="310984" y="109126"/>
                </a:lnTo>
                <a:lnTo>
                  <a:pt x="288333" y="65325"/>
                </a:lnTo>
                <a:lnTo>
                  <a:pt x="253793" y="30785"/>
                </a:lnTo>
                <a:lnTo>
                  <a:pt x="209993" y="8134"/>
                </a:lnTo>
                <a:lnTo>
                  <a:pt x="15956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208487" y="449531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255222" y="4542053"/>
            <a:ext cx="226060" cy="226060"/>
          </a:xfrm>
          <a:custGeom>
            <a:avLst/>
            <a:gdLst/>
            <a:ahLst/>
            <a:cxnLst/>
            <a:rect l="l" t="t" r="r" b="b"/>
            <a:pathLst>
              <a:path w="226060" h="226060">
                <a:moveTo>
                  <a:pt x="0" y="0"/>
                </a:moveTo>
                <a:lnTo>
                  <a:pt x="225651" y="225651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255222" y="4542053"/>
            <a:ext cx="226060" cy="226060"/>
          </a:xfrm>
          <a:custGeom>
            <a:avLst/>
            <a:gdLst/>
            <a:ahLst/>
            <a:cxnLst/>
            <a:rect l="l" t="t" r="r" b="b"/>
            <a:pathLst>
              <a:path w="226060" h="226060">
                <a:moveTo>
                  <a:pt x="0" y="225651"/>
                </a:moveTo>
                <a:lnTo>
                  <a:pt x="225651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707141" y="521654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159558" y="0"/>
                </a:moveTo>
                <a:lnTo>
                  <a:pt x="109126" y="8134"/>
                </a:lnTo>
                <a:lnTo>
                  <a:pt x="65325" y="30785"/>
                </a:lnTo>
                <a:lnTo>
                  <a:pt x="30785" y="65325"/>
                </a:lnTo>
                <a:lnTo>
                  <a:pt x="8134" y="109126"/>
                </a:lnTo>
                <a:lnTo>
                  <a:pt x="0" y="159558"/>
                </a:lnTo>
                <a:lnTo>
                  <a:pt x="8134" y="209992"/>
                </a:lnTo>
                <a:lnTo>
                  <a:pt x="30785" y="253793"/>
                </a:lnTo>
                <a:lnTo>
                  <a:pt x="65325" y="288333"/>
                </a:lnTo>
                <a:lnTo>
                  <a:pt x="109126" y="310984"/>
                </a:lnTo>
                <a:lnTo>
                  <a:pt x="159558" y="319119"/>
                </a:lnTo>
                <a:lnTo>
                  <a:pt x="209992" y="310984"/>
                </a:lnTo>
                <a:lnTo>
                  <a:pt x="253793" y="288333"/>
                </a:lnTo>
                <a:lnTo>
                  <a:pt x="288333" y="253793"/>
                </a:lnTo>
                <a:lnTo>
                  <a:pt x="310984" y="209992"/>
                </a:lnTo>
                <a:lnTo>
                  <a:pt x="319119" y="159558"/>
                </a:lnTo>
                <a:lnTo>
                  <a:pt x="310984" y="109126"/>
                </a:lnTo>
                <a:lnTo>
                  <a:pt x="288333" y="65325"/>
                </a:lnTo>
                <a:lnTo>
                  <a:pt x="253793" y="30785"/>
                </a:lnTo>
                <a:lnTo>
                  <a:pt x="209992" y="8134"/>
                </a:lnTo>
                <a:lnTo>
                  <a:pt x="15955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707141" y="5216549"/>
            <a:ext cx="319405" cy="319405"/>
          </a:xfrm>
          <a:custGeom>
            <a:avLst/>
            <a:gdLst/>
            <a:ahLst/>
            <a:cxnLst/>
            <a:rect l="l" t="t" r="r" b="b"/>
            <a:pathLst>
              <a:path w="319404" h="319404">
                <a:moveTo>
                  <a:pt x="0" y="159559"/>
                </a:moveTo>
                <a:lnTo>
                  <a:pt x="8134" y="109126"/>
                </a:lnTo>
                <a:lnTo>
                  <a:pt x="30785" y="65325"/>
                </a:lnTo>
                <a:lnTo>
                  <a:pt x="65325" y="30785"/>
                </a:lnTo>
                <a:lnTo>
                  <a:pt x="109126" y="8134"/>
                </a:lnTo>
                <a:lnTo>
                  <a:pt x="159559" y="0"/>
                </a:lnTo>
                <a:lnTo>
                  <a:pt x="209992" y="8134"/>
                </a:lnTo>
                <a:lnTo>
                  <a:pt x="253793" y="30785"/>
                </a:lnTo>
                <a:lnTo>
                  <a:pt x="288333" y="65325"/>
                </a:lnTo>
                <a:lnTo>
                  <a:pt x="310984" y="109126"/>
                </a:lnTo>
                <a:lnTo>
                  <a:pt x="319119" y="159559"/>
                </a:lnTo>
                <a:lnTo>
                  <a:pt x="310984" y="209992"/>
                </a:lnTo>
                <a:lnTo>
                  <a:pt x="288333" y="253793"/>
                </a:lnTo>
                <a:lnTo>
                  <a:pt x="253793" y="288333"/>
                </a:lnTo>
                <a:lnTo>
                  <a:pt x="209992" y="310984"/>
                </a:lnTo>
                <a:lnTo>
                  <a:pt x="159559" y="319119"/>
                </a:lnTo>
                <a:lnTo>
                  <a:pt x="109126" y="310984"/>
                </a:lnTo>
                <a:lnTo>
                  <a:pt x="65325" y="288333"/>
                </a:lnTo>
                <a:lnTo>
                  <a:pt x="30785" y="253793"/>
                </a:lnTo>
                <a:lnTo>
                  <a:pt x="8134" y="209992"/>
                </a:lnTo>
                <a:lnTo>
                  <a:pt x="0" y="159559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753875" y="5263282"/>
            <a:ext cx="226060" cy="226060"/>
          </a:xfrm>
          <a:custGeom>
            <a:avLst/>
            <a:gdLst/>
            <a:ahLst/>
            <a:cxnLst/>
            <a:rect l="l" t="t" r="r" b="b"/>
            <a:pathLst>
              <a:path w="226059" h="226060">
                <a:moveTo>
                  <a:pt x="0" y="0"/>
                </a:moveTo>
                <a:lnTo>
                  <a:pt x="225651" y="225651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753875" y="5263282"/>
            <a:ext cx="226060" cy="226060"/>
          </a:xfrm>
          <a:custGeom>
            <a:avLst/>
            <a:gdLst/>
            <a:ahLst/>
            <a:cxnLst/>
            <a:rect l="l" t="t" r="r" b="b"/>
            <a:pathLst>
              <a:path w="226059" h="226060">
                <a:moveTo>
                  <a:pt x="0" y="225651"/>
                </a:moveTo>
                <a:lnTo>
                  <a:pt x="225651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966445" y="1286949"/>
            <a:ext cx="989951" cy="1563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7908956" y="1792355"/>
            <a:ext cx="120586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1450" spc="-7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1450" spc="-5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908956" y="2254949"/>
            <a:ext cx="95123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b="1">
                <a:solidFill>
                  <a:srgbClr val="C00000"/>
                </a:solidFill>
                <a:latin typeface="Calibri"/>
                <a:cs typeface="Calibri"/>
              </a:rPr>
              <a:t>(1)</a:t>
            </a:r>
            <a:r>
              <a:rPr dirty="0" sz="145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C00000"/>
                </a:solidFill>
                <a:latin typeface="Calibri"/>
                <a:cs typeface="Calibri"/>
              </a:rPr>
              <a:t>Message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077467" y="2276901"/>
            <a:ext cx="777240" cy="259079"/>
          </a:xfrm>
          <a:custGeom>
            <a:avLst/>
            <a:gdLst/>
            <a:ahLst/>
            <a:cxnLst/>
            <a:rect l="l" t="t" r="r" b="b"/>
            <a:pathLst>
              <a:path w="777240" h="259080">
                <a:moveTo>
                  <a:pt x="0" y="0"/>
                </a:moveTo>
                <a:lnTo>
                  <a:pt x="777157" y="0"/>
                </a:lnTo>
                <a:lnTo>
                  <a:pt x="777157" y="259052"/>
                </a:lnTo>
                <a:lnTo>
                  <a:pt x="0" y="259052"/>
                </a:lnTo>
                <a:lnTo>
                  <a:pt x="0" y="0"/>
                </a:lnTo>
                <a:close/>
              </a:path>
            </a:pathLst>
          </a:custGeom>
          <a:ln w="18503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75" name="object 7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28497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5672" y="1225803"/>
            <a:ext cx="5464175" cy="121412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dirty="0" sz="2800" spc="-5">
                <a:solidFill>
                  <a:srgbClr val="60B5CC"/>
                </a:solidFill>
              </a:rPr>
              <a:t>Apply </a:t>
            </a:r>
            <a:r>
              <a:rPr dirty="0" sz="2800" spc="-10">
                <a:solidFill>
                  <a:srgbClr val="60B5CC"/>
                </a:solidFill>
              </a:rPr>
              <a:t>activation </a:t>
            </a:r>
            <a:r>
              <a:rPr dirty="0" sz="2800" spc="-15">
                <a:solidFill>
                  <a:srgbClr val="60B5CC"/>
                </a:solidFill>
              </a:rPr>
              <a:t>to </a:t>
            </a:r>
            <a:r>
              <a:rPr dirty="0" sz="2800" spc="-5" b="0">
                <a:solidFill>
                  <a:srgbClr val="60B5CC"/>
                </a:solidFill>
                <a:latin typeface="Cambria Math"/>
                <a:cs typeface="Cambria Math"/>
              </a:rPr>
              <a:t>𝒊</a:t>
            </a:r>
            <a:r>
              <a:rPr dirty="0" sz="2800" spc="-5">
                <a:solidFill>
                  <a:srgbClr val="60B5CC"/>
                </a:solidFill>
              </a:rPr>
              <a:t>-th dimension of  embedding</a:t>
            </a:r>
            <a:r>
              <a:rPr dirty="0" sz="2800" spc="-85">
                <a:solidFill>
                  <a:srgbClr val="60B5CC"/>
                </a:solidFill>
              </a:rPr>
              <a:t> </a:t>
            </a:r>
            <a:r>
              <a:rPr dirty="0" sz="2800" b="0">
                <a:solidFill>
                  <a:srgbClr val="60B5CC"/>
                </a:solidFill>
                <a:latin typeface="Cambria Math"/>
                <a:cs typeface="Cambria Math"/>
              </a:rPr>
              <a:t>𝐱</a:t>
            </a:r>
            <a:endParaRPr sz="2800">
              <a:latin typeface="Cambria Math"/>
              <a:cs typeface="Cambria Math"/>
            </a:endParaRPr>
          </a:p>
          <a:p>
            <a:pPr marL="332740" indent="-320040">
              <a:lnSpc>
                <a:spcPts val="296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000000"/>
                </a:solidFill>
              </a:rPr>
              <a:t>Rectified linear unit</a:t>
            </a:r>
            <a:r>
              <a:rPr dirty="0" sz="2800" spc="-15">
                <a:solidFill>
                  <a:srgbClr val="000000"/>
                </a:solidFill>
              </a:rPr>
              <a:t> </a:t>
            </a:r>
            <a:r>
              <a:rPr dirty="0" sz="2800" spc="-25">
                <a:solidFill>
                  <a:srgbClr val="000000"/>
                </a:solidFill>
              </a:rPr>
              <a:t>(ReLU)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1906116" y="2509578"/>
            <a:ext cx="467995" cy="282575"/>
          </a:xfrm>
          <a:custGeom>
            <a:avLst/>
            <a:gdLst/>
            <a:ahLst/>
            <a:cxnLst/>
            <a:rect l="l" t="t" r="r" b="b"/>
            <a:pathLst>
              <a:path w="467994" h="282575">
                <a:moveTo>
                  <a:pt x="377410" y="0"/>
                </a:moveTo>
                <a:lnTo>
                  <a:pt x="373392" y="11460"/>
                </a:lnTo>
                <a:lnTo>
                  <a:pt x="389735" y="18552"/>
                </a:lnTo>
                <a:lnTo>
                  <a:pt x="403790" y="28370"/>
                </a:lnTo>
                <a:lnTo>
                  <a:pt x="432328" y="73879"/>
                </a:lnTo>
                <a:lnTo>
                  <a:pt x="440662" y="115662"/>
                </a:lnTo>
                <a:lnTo>
                  <a:pt x="441704" y="139749"/>
                </a:lnTo>
                <a:lnTo>
                  <a:pt x="440658" y="164650"/>
                </a:lnTo>
                <a:lnTo>
                  <a:pt x="432286" y="207587"/>
                </a:lnTo>
                <a:lnTo>
                  <a:pt x="403808" y="253826"/>
                </a:lnTo>
                <a:lnTo>
                  <a:pt x="373838" y="270868"/>
                </a:lnTo>
                <a:lnTo>
                  <a:pt x="377410" y="282327"/>
                </a:lnTo>
                <a:lnTo>
                  <a:pt x="415920" y="264263"/>
                </a:lnTo>
                <a:lnTo>
                  <a:pt x="444234" y="232990"/>
                </a:lnTo>
                <a:lnTo>
                  <a:pt x="461647" y="191114"/>
                </a:lnTo>
                <a:lnTo>
                  <a:pt x="467451" y="141237"/>
                </a:lnTo>
                <a:lnTo>
                  <a:pt x="465995" y="115355"/>
                </a:lnTo>
                <a:lnTo>
                  <a:pt x="454350" y="69479"/>
                </a:lnTo>
                <a:lnTo>
                  <a:pt x="431254" y="32133"/>
                </a:lnTo>
                <a:lnTo>
                  <a:pt x="397879" y="7390"/>
                </a:lnTo>
                <a:lnTo>
                  <a:pt x="377410" y="0"/>
                </a:lnTo>
                <a:close/>
              </a:path>
              <a:path w="467994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2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8"/>
                </a:lnTo>
                <a:lnTo>
                  <a:pt x="77526" y="263742"/>
                </a:lnTo>
                <a:lnTo>
                  <a:pt x="63643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9"/>
                </a:lnTo>
                <a:lnTo>
                  <a:pt x="63755" y="28370"/>
                </a:lnTo>
                <a:lnTo>
                  <a:pt x="94060" y="11460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75672" y="2376931"/>
            <a:ext cx="3587115" cy="121856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617220">
              <a:lnSpc>
                <a:spcPct val="100000"/>
              </a:lnSpc>
              <a:spcBef>
                <a:spcPts val="434"/>
              </a:spcBef>
              <a:tabLst>
                <a:tab pos="1908810" algn="l"/>
              </a:tabLst>
            </a:pPr>
            <a:r>
              <a:rPr dirty="0" sz="2400" spc="-30">
                <a:latin typeface="Cambria Math"/>
                <a:cs typeface="Cambria Math"/>
              </a:rPr>
              <a:t>ReLU  </a:t>
            </a:r>
            <a:r>
              <a:rPr dirty="0" sz="2400" spc="-150">
                <a:latin typeface="Cambria Math"/>
                <a:cs typeface="Cambria Math"/>
              </a:rPr>
              <a:t>𝐱</a:t>
            </a:r>
            <a:r>
              <a:rPr dirty="0" baseline="-15432" sz="2700" spc="-225">
                <a:latin typeface="Cambria Math"/>
                <a:cs typeface="Cambria Math"/>
              </a:rPr>
              <a:t>7	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-30">
                <a:latin typeface="Cambria Math"/>
                <a:cs typeface="Cambria Math"/>
              </a:rPr>
              <a:t>max(𝐱</a:t>
            </a:r>
            <a:r>
              <a:rPr dirty="0" baseline="-15432" sz="2700" spc="-44">
                <a:latin typeface="Cambria Math"/>
                <a:cs typeface="Cambria Math"/>
              </a:rPr>
              <a:t>7</a:t>
            </a:r>
            <a:r>
              <a:rPr dirty="0" sz="2400" spc="-30">
                <a:latin typeface="Cambria Math"/>
                <a:cs typeface="Cambria Math"/>
              </a:rPr>
              <a:t>,</a:t>
            </a:r>
            <a:r>
              <a:rPr dirty="0" sz="2400" spc="-8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0)</a:t>
            </a:r>
            <a:endParaRPr sz="2400">
              <a:latin typeface="Cambria Math"/>
              <a:cs typeface="Cambria Math"/>
            </a:endParaRPr>
          </a:p>
          <a:p>
            <a:pPr marL="625475" indent="-274320">
              <a:lnSpc>
                <a:spcPts val="2680"/>
              </a:lnSpc>
              <a:spcBef>
                <a:spcPts val="33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Most commonly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used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16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latin typeface="Calibri"/>
                <a:cs typeface="Calibri"/>
              </a:rPr>
              <a:t>Sigmoid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38846" y="3855778"/>
            <a:ext cx="467995" cy="282575"/>
          </a:xfrm>
          <a:custGeom>
            <a:avLst/>
            <a:gdLst/>
            <a:ahLst/>
            <a:cxnLst/>
            <a:rect l="l" t="t" r="r" b="b"/>
            <a:pathLst>
              <a:path w="467994" h="282575">
                <a:moveTo>
                  <a:pt x="377410" y="0"/>
                </a:moveTo>
                <a:lnTo>
                  <a:pt x="373392" y="11460"/>
                </a:lnTo>
                <a:lnTo>
                  <a:pt x="389735" y="18552"/>
                </a:lnTo>
                <a:lnTo>
                  <a:pt x="403789" y="28370"/>
                </a:lnTo>
                <a:lnTo>
                  <a:pt x="432327" y="73880"/>
                </a:lnTo>
                <a:lnTo>
                  <a:pt x="440662" y="115662"/>
                </a:lnTo>
                <a:lnTo>
                  <a:pt x="441704" y="139749"/>
                </a:lnTo>
                <a:lnTo>
                  <a:pt x="440657" y="164650"/>
                </a:lnTo>
                <a:lnTo>
                  <a:pt x="432285" y="207587"/>
                </a:lnTo>
                <a:lnTo>
                  <a:pt x="403808" y="253826"/>
                </a:lnTo>
                <a:lnTo>
                  <a:pt x="373837" y="270868"/>
                </a:lnTo>
                <a:lnTo>
                  <a:pt x="377410" y="282327"/>
                </a:lnTo>
                <a:lnTo>
                  <a:pt x="415919" y="264263"/>
                </a:lnTo>
                <a:lnTo>
                  <a:pt x="444233" y="232990"/>
                </a:lnTo>
                <a:lnTo>
                  <a:pt x="461646" y="191114"/>
                </a:lnTo>
                <a:lnTo>
                  <a:pt x="467450" y="141237"/>
                </a:lnTo>
                <a:lnTo>
                  <a:pt x="465995" y="115355"/>
                </a:lnTo>
                <a:lnTo>
                  <a:pt x="454349" y="69479"/>
                </a:lnTo>
                <a:lnTo>
                  <a:pt x="431253" y="32133"/>
                </a:lnTo>
                <a:lnTo>
                  <a:pt x="397878" y="7390"/>
                </a:lnTo>
                <a:lnTo>
                  <a:pt x="377410" y="0"/>
                </a:lnTo>
                <a:close/>
              </a:path>
              <a:path w="467994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1" y="167176"/>
                </a:lnTo>
                <a:lnTo>
                  <a:pt x="13059" y="213052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0" y="282327"/>
                </a:lnTo>
                <a:lnTo>
                  <a:pt x="93612" y="270868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7" y="139749"/>
                </a:lnTo>
                <a:lnTo>
                  <a:pt x="26793" y="115662"/>
                </a:lnTo>
                <a:lnTo>
                  <a:pt x="35165" y="73880"/>
                </a:lnTo>
                <a:lnTo>
                  <a:pt x="63754" y="28370"/>
                </a:lnTo>
                <a:lnTo>
                  <a:pt x="94059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95839" y="3903979"/>
            <a:ext cx="106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70">
                <a:latin typeface="Cambria Math"/>
                <a:cs typeface="Cambria Math"/>
              </a:rPr>
              <a:t>7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127" y="3766820"/>
            <a:ext cx="1044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3850" algn="l"/>
                <a:tab pos="803275" algn="l"/>
              </a:tabLst>
            </a:pPr>
            <a:r>
              <a:rPr dirty="0" sz="2400">
                <a:latin typeface="Cambria Math"/>
                <a:cs typeface="Cambria Math"/>
              </a:rPr>
              <a:t>𝜎	𝐱	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31728" y="3995079"/>
            <a:ext cx="1079500" cy="0"/>
          </a:xfrm>
          <a:custGeom>
            <a:avLst/>
            <a:gdLst/>
            <a:ahLst/>
            <a:cxnLst/>
            <a:rect l="l" t="t" r="r" b="b"/>
            <a:pathLst>
              <a:path w="1079500" h="0">
                <a:moveTo>
                  <a:pt x="0" y="0"/>
                </a:moveTo>
                <a:lnTo>
                  <a:pt x="10794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69751" y="3535171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16678" y="3971035"/>
            <a:ext cx="10769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1 +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275">
                <a:latin typeface="Cambria Math"/>
                <a:cs typeface="Cambria Math"/>
              </a:rPr>
              <a:t>𝑒</a:t>
            </a:r>
            <a:r>
              <a:rPr dirty="0" baseline="21604" sz="2700" spc="412">
                <a:latin typeface="Cambria Math"/>
                <a:cs typeface="Cambria Math"/>
              </a:rPr>
              <a:t>'𝐱</a:t>
            </a:r>
            <a:r>
              <a:rPr dirty="0" baseline="13888" sz="2100" spc="412">
                <a:latin typeface="Cambria Math"/>
                <a:cs typeface="Cambria Math"/>
              </a:rPr>
              <a:t>!</a:t>
            </a:r>
            <a:endParaRPr baseline="13888" sz="21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12453" y="5468678"/>
            <a:ext cx="467995" cy="282575"/>
          </a:xfrm>
          <a:custGeom>
            <a:avLst/>
            <a:gdLst/>
            <a:ahLst/>
            <a:cxnLst/>
            <a:rect l="l" t="t" r="r" b="b"/>
            <a:pathLst>
              <a:path w="467994" h="282575">
                <a:moveTo>
                  <a:pt x="377410" y="0"/>
                </a:moveTo>
                <a:lnTo>
                  <a:pt x="373392" y="11460"/>
                </a:lnTo>
                <a:lnTo>
                  <a:pt x="389735" y="18552"/>
                </a:lnTo>
                <a:lnTo>
                  <a:pt x="403790" y="28370"/>
                </a:lnTo>
                <a:lnTo>
                  <a:pt x="432328" y="73878"/>
                </a:lnTo>
                <a:lnTo>
                  <a:pt x="440662" y="115662"/>
                </a:lnTo>
                <a:lnTo>
                  <a:pt x="441704" y="139749"/>
                </a:lnTo>
                <a:lnTo>
                  <a:pt x="440658" y="164650"/>
                </a:lnTo>
                <a:lnTo>
                  <a:pt x="432286" y="207587"/>
                </a:lnTo>
                <a:lnTo>
                  <a:pt x="403808" y="253826"/>
                </a:lnTo>
                <a:lnTo>
                  <a:pt x="373838" y="270867"/>
                </a:lnTo>
                <a:lnTo>
                  <a:pt x="377410" y="282327"/>
                </a:lnTo>
                <a:lnTo>
                  <a:pt x="415920" y="264263"/>
                </a:lnTo>
                <a:lnTo>
                  <a:pt x="444234" y="232990"/>
                </a:lnTo>
                <a:lnTo>
                  <a:pt x="461647" y="191114"/>
                </a:lnTo>
                <a:lnTo>
                  <a:pt x="467451" y="141238"/>
                </a:lnTo>
                <a:lnTo>
                  <a:pt x="465995" y="115355"/>
                </a:lnTo>
                <a:lnTo>
                  <a:pt x="454350" y="69479"/>
                </a:lnTo>
                <a:lnTo>
                  <a:pt x="431254" y="32133"/>
                </a:lnTo>
                <a:lnTo>
                  <a:pt x="397879" y="7390"/>
                </a:lnTo>
                <a:lnTo>
                  <a:pt x="377410" y="0"/>
                </a:lnTo>
                <a:close/>
              </a:path>
              <a:path w="467994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8"/>
                </a:lnTo>
                <a:lnTo>
                  <a:pt x="1451" y="167176"/>
                </a:lnTo>
                <a:lnTo>
                  <a:pt x="13060" y="213052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7"/>
                </a:lnTo>
                <a:lnTo>
                  <a:pt x="77526" y="263742"/>
                </a:lnTo>
                <a:lnTo>
                  <a:pt x="63643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5" y="28370"/>
                </a:lnTo>
                <a:lnTo>
                  <a:pt x="94060" y="11460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80637" y="5468678"/>
            <a:ext cx="748665" cy="282575"/>
          </a:xfrm>
          <a:custGeom>
            <a:avLst/>
            <a:gdLst/>
            <a:ahLst/>
            <a:cxnLst/>
            <a:rect l="l" t="t" r="r" b="b"/>
            <a:pathLst>
              <a:path w="748664" h="282575">
                <a:moveTo>
                  <a:pt x="658398" y="0"/>
                </a:moveTo>
                <a:lnTo>
                  <a:pt x="654380" y="11460"/>
                </a:lnTo>
                <a:lnTo>
                  <a:pt x="670723" y="18552"/>
                </a:lnTo>
                <a:lnTo>
                  <a:pt x="684778" y="28370"/>
                </a:lnTo>
                <a:lnTo>
                  <a:pt x="713316" y="73878"/>
                </a:lnTo>
                <a:lnTo>
                  <a:pt x="721650" y="115662"/>
                </a:lnTo>
                <a:lnTo>
                  <a:pt x="722692" y="139749"/>
                </a:lnTo>
                <a:lnTo>
                  <a:pt x="721645" y="164650"/>
                </a:lnTo>
                <a:lnTo>
                  <a:pt x="713273" y="207587"/>
                </a:lnTo>
                <a:lnTo>
                  <a:pt x="684796" y="253826"/>
                </a:lnTo>
                <a:lnTo>
                  <a:pt x="654825" y="270867"/>
                </a:lnTo>
                <a:lnTo>
                  <a:pt x="658398" y="282327"/>
                </a:lnTo>
                <a:lnTo>
                  <a:pt x="696907" y="264263"/>
                </a:lnTo>
                <a:lnTo>
                  <a:pt x="725222" y="232990"/>
                </a:lnTo>
                <a:lnTo>
                  <a:pt x="742634" y="191114"/>
                </a:lnTo>
                <a:lnTo>
                  <a:pt x="748438" y="141238"/>
                </a:lnTo>
                <a:lnTo>
                  <a:pt x="746983" y="115355"/>
                </a:lnTo>
                <a:lnTo>
                  <a:pt x="735337" y="69479"/>
                </a:lnTo>
                <a:lnTo>
                  <a:pt x="712241" y="32133"/>
                </a:lnTo>
                <a:lnTo>
                  <a:pt x="678866" y="7390"/>
                </a:lnTo>
                <a:lnTo>
                  <a:pt x="658398" y="0"/>
                </a:lnTo>
                <a:close/>
              </a:path>
              <a:path w="748664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8"/>
                </a:lnTo>
                <a:lnTo>
                  <a:pt x="1451" y="167176"/>
                </a:lnTo>
                <a:lnTo>
                  <a:pt x="13060" y="213052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7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60" y="11460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75672" y="4300220"/>
            <a:ext cx="5588000" cy="228409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625475" marR="5080" indent="-274320">
              <a:lnSpc>
                <a:spcPts val="2590"/>
              </a:lnSpc>
              <a:spcBef>
                <a:spcPts val="42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Used only when </a:t>
            </a:r>
            <a:r>
              <a:rPr dirty="0" sz="2400" spc="-15">
                <a:latin typeface="Calibri"/>
                <a:cs typeface="Calibri"/>
              </a:rPr>
              <a:t>you want to </a:t>
            </a:r>
            <a:r>
              <a:rPr dirty="0" sz="2400" spc="-10">
                <a:latin typeface="Calibri"/>
                <a:cs typeface="Calibri"/>
              </a:rPr>
              <a:t>restrict </a:t>
            </a:r>
            <a:r>
              <a:rPr dirty="0" sz="2400" spc="-5">
                <a:latin typeface="Calibri"/>
                <a:cs typeface="Calibri"/>
              </a:rPr>
              <a:t>the  </a:t>
            </a:r>
            <a:r>
              <a:rPr dirty="0" sz="2400" spc="-15">
                <a:latin typeface="Calibri"/>
                <a:cs typeface="Calibri"/>
              </a:rPr>
              <a:t>range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10">
                <a:latin typeface="Calibri"/>
                <a:cs typeface="Calibri"/>
              </a:rPr>
              <a:t>your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embeddings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2945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latin typeface="Calibri"/>
                <a:cs typeface="Calibri"/>
              </a:rPr>
              <a:t>Parametric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spc="-30" b="1">
                <a:latin typeface="Calibri"/>
                <a:cs typeface="Calibri"/>
              </a:rPr>
              <a:t>ReLU</a:t>
            </a:r>
            <a:endParaRPr sz="2800">
              <a:latin typeface="Calibri"/>
              <a:cs typeface="Calibri"/>
            </a:endParaRPr>
          </a:p>
          <a:p>
            <a:pPr marL="350520">
              <a:lnSpc>
                <a:spcPct val="100000"/>
              </a:lnSpc>
              <a:spcBef>
                <a:spcPts val="40"/>
              </a:spcBef>
              <a:tabLst>
                <a:tab pos="1815464" algn="l"/>
                <a:tab pos="3547745" algn="l"/>
              </a:tabLst>
            </a:pPr>
            <a:r>
              <a:rPr dirty="0" sz="2400" spc="-25">
                <a:latin typeface="Cambria Math"/>
                <a:cs typeface="Cambria Math"/>
              </a:rPr>
              <a:t>PReLU</a:t>
            </a:r>
            <a:r>
              <a:rPr dirty="0" sz="2400" spc="465">
                <a:latin typeface="Cambria Math"/>
                <a:cs typeface="Cambria Math"/>
              </a:rPr>
              <a:t> </a:t>
            </a:r>
            <a:r>
              <a:rPr dirty="0" sz="2400" spc="-150">
                <a:latin typeface="Cambria Math"/>
                <a:cs typeface="Cambria Math"/>
              </a:rPr>
              <a:t>𝐱</a:t>
            </a:r>
            <a:r>
              <a:rPr dirty="0" baseline="-15432" sz="2700" spc="-225">
                <a:latin typeface="Cambria Math"/>
                <a:cs typeface="Cambria Math"/>
              </a:rPr>
              <a:t>7	</a:t>
            </a:r>
            <a:r>
              <a:rPr dirty="0" sz="2400">
                <a:latin typeface="Cambria Math"/>
                <a:cs typeface="Cambria Math"/>
              </a:rPr>
              <a:t>= max 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 spc="-65">
                <a:latin typeface="Cambria Math"/>
                <a:cs typeface="Cambria Math"/>
              </a:rPr>
              <a:t>𝐱</a:t>
            </a:r>
            <a:r>
              <a:rPr dirty="0" baseline="-15432" sz="2700" spc="-97">
                <a:latin typeface="Cambria Math"/>
                <a:cs typeface="Cambria Math"/>
              </a:rPr>
              <a:t>7</a:t>
            </a:r>
            <a:r>
              <a:rPr dirty="0" sz="2400" spc="-6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0	+ </a:t>
            </a:r>
            <a:r>
              <a:rPr dirty="0" sz="2400" spc="-55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r>
              <a:rPr dirty="0" baseline="-15432" sz="2700" spc="-82">
                <a:solidFill>
                  <a:srgbClr val="C00000"/>
                </a:solidFill>
                <a:latin typeface="Cambria Math"/>
                <a:cs typeface="Cambria Math"/>
              </a:rPr>
              <a:t>7</a:t>
            </a:r>
            <a:r>
              <a:rPr dirty="0" sz="2400" spc="-55">
                <a:latin typeface="Cambria Math"/>
                <a:cs typeface="Cambria Math"/>
              </a:rPr>
              <a:t>min(𝐱</a:t>
            </a:r>
            <a:r>
              <a:rPr dirty="0" baseline="-15432" sz="2700" spc="-82">
                <a:latin typeface="Cambria Math"/>
                <a:cs typeface="Cambria Math"/>
              </a:rPr>
              <a:t>7</a:t>
            </a:r>
            <a:r>
              <a:rPr dirty="0" sz="2400" spc="-55">
                <a:latin typeface="Cambria Math"/>
                <a:cs typeface="Cambria Math"/>
              </a:rPr>
              <a:t>,</a:t>
            </a:r>
            <a:r>
              <a:rPr dirty="0" sz="2400" spc="-20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0)</a:t>
            </a:r>
            <a:endParaRPr sz="2400">
              <a:latin typeface="Cambria Math"/>
              <a:cs typeface="Cambria Math"/>
            </a:endParaRPr>
          </a:p>
          <a:p>
            <a:pPr marL="808355">
              <a:lnSpc>
                <a:spcPct val="100000"/>
              </a:lnSpc>
              <a:spcBef>
                <a:spcPts val="305"/>
              </a:spcBef>
            </a:pPr>
            <a:r>
              <a:rPr dirty="0" sz="2400" spc="-185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r>
              <a:rPr dirty="0" baseline="-15432" sz="2700" spc="-277">
                <a:solidFill>
                  <a:srgbClr val="C00000"/>
                </a:solidFill>
                <a:latin typeface="Cambria Math"/>
                <a:cs typeface="Cambria Math"/>
              </a:rPr>
              <a:t>7  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>
                <a:latin typeface="Calibri"/>
                <a:cs typeface="Calibri"/>
              </a:rPr>
              <a:t>trainable</a:t>
            </a:r>
            <a:r>
              <a:rPr dirty="0" sz="2400" spc="-16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parameter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30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Empirically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performs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better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than</a:t>
            </a:r>
            <a:r>
              <a:rPr dirty="0" sz="2400" spc="-25">
                <a:solidFill>
                  <a:srgbClr val="C00000"/>
                </a:solidFill>
                <a:latin typeface="Calibri"/>
                <a:cs typeface="Calibri"/>
              </a:rPr>
              <a:t> ReLU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65859" y="2234321"/>
            <a:ext cx="2066925" cy="76200"/>
          </a:xfrm>
          <a:custGeom>
            <a:avLst/>
            <a:gdLst/>
            <a:ahLst/>
            <a:cxnLst/>
            <a:rect l="l" t="t" r="r" b="b"/>
            <a:pathLst>
              <a:path w="2066925" h="76200">
                <a:moveTo>
                  <a:pt x="1990725" y="47624"/>
                </a:moveTo>
                <a:lnTo>
                  <a:pt x="1990725" y="76200"/>
                </a:lnTo>
                <a:lnTo>
                  <a:pt x="2047875" y="47625"/>
                </a:lnTo>
                <a:lnTo>
                  <a:pt x="1990725" y="47624"/>
                </a:lnTo>
                <a:close/>
              </a:path>
              <a:path w="2066925" h="76200">
                <a:moveTo>
                  <a:pt x="1990725" y="28574"/>
                </a:moveTo>
                <a:lnTo>
                  <a:pt x="1990725" y="47624"/>
                </a:lnTo>
                <a:lnTo>
                  <a:pt x="2008689" y="47623"/>
                </a:lnTo>
                <a:lnTo>
                  <a:pt x="2012952" y="43360"/>
                </a:lnTo>
                <a:lnTo>
                  <a:pt x="2012951" y="32838"/>
                </a:lnTo>
                <a:lnTo>
                  <a:pt x="2008687" y="28575"/>
                </a:lnTo>
                <a:lnTo>
                  <a:pt x="1990725" y="28574"/>
                </a:lnTo>
                <a:close/>
              </a:path>
              <a:path w="2066925" h="76200">
                <a:moveTo>
                  <a:pt x="1990725" y="0"/>
                </a:moveTo>
                <a:lnTo>
                  <a:pt x="1990725" y="28574"/>
                </a:lnTo>
                <a:lnTo>
                  <a:pt x="2003427" y="28575"/>
                </a:lnTo>
                <a:lnTo>
                  <a:pt x="2008687" y="28575"/>
                </a:lnTo>
                <a:lnTo>
                  <a:pt x="2012951" y="32838"/>
                </a:lnTo>
                <a:lnTo>
                  <a:pt x="2012952" y="43360"/>
                </a:lnTo>
                <a:lnTo>
                  <a:pt x="2008687" y="47625"/>
                </a:lnTo>
                <a:lnTo>
                  <a:pt x="2047877" y="47623"/>
                </a:lnTo>
                <a:lnTo>
                  <a:pt x="2066925" y="38100"/>
                </a:lnTo>
                <a:lnTo>
                  <a:pt x="1990725" y="0"/>
                </a:lnTo>
                <a:close/>
              </a:path>
              <a:path w="2066925" h="76200">
                <a:moveTo>
                  <a:pt x="9525" y="28573"/>
                </a:moveTo>
                <a:lnTo>
                  <a:pt x="4263" y="28575"/>
                </a:lnTo>
                <a:lnTo>
                  <a:pt x="0" y="32838"/>
                </a:lnTo>
                <a:lnTo>
                  <a:pt x="1" y="43360"/>
                </a:lnTo>
                <a:lnTo>
                  <a:pt x="4264" y="47623"/>
                </a:lnTo>
                <a:lnTo>
                  <a:pt x="1990725" y="47624"/>
                </a:lnTo>
                <a:lnTo>
                  <a:pt x="1990725" y="28574"/>
                </a:lnTo>
                <a:lnTo>
                  <a:pt x="9525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27885" y="1434219"/>
            <a:ext cx="76200" cy="1381125"/>
          </a:xfrm>
          <a:custGeom>
            <a:avLst/>
            <a:gdLst/>
            <a:ahLst/>
            <a:cxnLst/>
            <a:rect l="l" t="t" r="r" b="b"/>
            <a:pathLst>
              <a:path w="76200" h="1381125">
                <a:moveTo>
                  <a:pt x="43360" y="53973"/>
                </a:moveTo>
                <a:lnTo>
                  <a:pt x="32838" y="53973"/>
                </a:lnTo>
                <a:lnTo>
                  <a:pt x="28575" y="58238"/>
                </a:lnTo>
                <a:lnTo>
                  <a:pt x="28573" y="1376860"/>
                </a:lnTo>
                <a:lnTo>
                  <a:pt x="32838" y="1381125"/>
                </a:lnTo>
                <a:lnTo>
                  <a:pt x="43359" y="1381125"/>
                </a:lnTo>
                <a:lnTo>
                  <a:pt x="47623" y="1376860"/>
                </a:lnTo>
                <a:lnTo>
                  <a:pt x="47625" y="58238"/>
                </a:lnTo>
                <a:lnTo>
                  <a:pt x="43360" y="53973"/>
                </a:lnTo>
                <a:close/>
              </a:path>
              <a:path w="76200" h="1381125">
                <a:moveTo>
                  <a:pt x="38100" y="0"/>
                </a:moveTo>
                <a:lnTo>
                  <a:pt x="0" y="76200"/>
                </a:lnTo>
                <a:lnTo>
                  <a:pt x="28574" y="76200"/>
                </a:lnTo>
                <a:lnTo>
                  <a:pt x="28575" y="58238"/>
                </a:lnTo>
                <a:lnTo>
                  <a:pt x="32838" y="53973"/>
                </a:lnTo>
                <a:lnTo>
                  <a:pt x="65086" y="53973"/>
                </a:lnTo>
                <a:lnTo>
                  <a:pt x="38100" y="0"/>
                </a:lnTo>
                <a:close/>
              </a:path>
              <a:path w="76200" h="1381125">
                <a:moveTo>
                  <a:pt x="65086" y="53973"/>
                </a:moveTo>
                <a:lnTo>
                  <a:pt x="43360" y="53973"/>
                </a:lnTo>
                <a:lnTo>
                  <a:pt x="47625" y="58238"/>
                </a:lnTo>
                <a:lnTo>
                  <a:pt x="47624" y="76200"/>
                </a:lnTo>
                <a:lnTo>
                  <a:pt x="76200" y="76200"/>
                </a:lnTo>
                <a:lnTo>
                  <a:pt x="65086" y="53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80184" y="2272419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 h="0">
                <a:moveTo>
                  <a:pt x="685800" y="0"/>
                </a:moveTo>
                <a:lnTo>
                  <a:pt x="0" y="1"/>
                </a:lnTo>
              </a:path>
            </a:pathLst>
          </a:custGeom>
          <a:ln w="476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65984" y="166281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0"/>
                </a:moveTo>
                <a:lnTo>
                  <a:pt x="0" y="609600"/>
                </a:lnTo>
              </a:path>
            </a:pathLst>
          </a:custGeom>
          <a:ln w="476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 rot="10800000">
            <a:off x="8406537" y="2334161"/>
            <a:ext cx="25908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8155" y="1358900"/>
            <a:ext cx="153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88946" y="2272283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565859" y="4139492"/>
            <a:ext cx="2066925" cy="76200"/>
          </a:xfrm>
          <a:custGeom>
            <a:avLst/>
            <a:gdLst/>
            <a:ahLst/>
            <a:cxnLst/>
            <a:rect l="l" t="t" r="r" b="b"/>
            <a:pathLst>
              <a:path w="2066925" h="76200">
                <a:moveTo>
                  <a:pt x="1990725" y="0"/>
                </a:moveTo>
                <a:lnTo>
                  <a:pt x="1990725" y="76200"/>
                </a:lnTo>
                <a:lnTo>
                  <a:pt x="2047875" y="47625"/>
                </a:lnTo>
                <a:lnTo>
                  <a:pt x="2008687" y="47625"/>
                </a:lnTo>
                <a:lnTo>
                  <a:pt x="2012952" y="43360"/>
                </a:lnTo>
                <a:lnTo>
                  <a:pt x="2012951" y="32838"/>
                </a:lnTo>
                <a:lnTo>
                  <a:pt x="2008687" y="28575"/>
                </a:lnTo>
                <a:lnTo>
                  <a:pt x="2047875" y="28575"/>
                </a:lnTo>
                <a:lnTo>
                  <a:pt x="1990725" y="0"/>
                </a:lnTo>
                <a:close/>
              </a:path>
              <a:path w="2066925" h="76200">
                <a:moveTo>
                  <a:pt x="1990725" y="28575"/>
                </a:moveTo>
                <a:lnTo>
                  <a:pt x="4264" y="28575"/>
                </a:lnTo>
                <a:lnTo>
                  <a:pt x="0" y="32838"/>
                </a:lnTo>
                <a:lnTo>
                  <a:pt x="0" y="43360"/>
                </a:lnTo>
                <a:lnTo>
                  <a:pt x="4264" y="47625"/>
                </a:lnTo>
                <a:lnTo>
                  <a:pt x="1990725" y="47625"/>
                </a:lnTo>
                <a:lnTo>
                  <a:pt x="1990725" y="28575"/>
                </a:lnTo>
                <a:close/>
              </a:path>
              <a:path w="2066925" h="76200">
                <a:moveTo>
                  <a:pt x="2047875" y="28575"/>
                </a:moveTo>
                <a:lnTo>
                  <a:pt x="2008687" y="28575"/>
                </a:lnTo>
                <a:lnTo>
                  <a:pt x="2012951" y="32838"/>
                </a:lnTo>
                <a:lnTo>
                  <a:pt x="2012952" y="43360"/>
                </a:lnTo>
                <a:lnTo>
                  <a:pt x="2008687" y="47625"/>
                </a:lnTo>
                <a:lnTo>
                  <a:pt x="2047875" y="47625"/>
                </a:lnTo>
                <a:lnTo>
                  <a:pt x="2066925" y="38100"/>
                </a:lnTo>
                <a:lnTo>
                  <a:pt x="204787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527885" y="3339392"/>
            <a:ext cx="76200" cy="1381125"/>
          </a:xfrm>
          <a:custGeom>
            <a:avLst/>
            <a:gdLst/>
            <a:ahLst/>
            <a:cxnLst/>
            <a:rect l="l" t="t" r="r" b="b"/>
            <a:pathLst>
              <a:path w="76200" h="1381125">
                <a:moveTo>
                  <a:pt x="43360" y="53973"/>
                </a:moveTo>
                <a:lnTo>
                  <a:pt x="32838" y="53973"/>
                </a:lnTo>
                <a:lnTo>
                  <a:pt x="28575" y="58238"/>
                </a:lnTo>
                <a:lnTo>
                  <a:pt x="28573" y="1376860"/>
                </a:lnTo>
                <a:lnTo>
                  <a:pt x="32838" y="1381123"/>
                </a:lnTo>
                <a:lnTo>
                  <a:pt x="43359" y="1381123"/>
                </a:lnTo>
                <a:lnTo>
                  <a:pt x="47623" y="1376860"/>
                </a:lnTo>
                <a:lnTo>
                  <a:pt x="47625" y="58238"/>
                </a:lnTo>
                <a:lnTo>
                  <a:pt x="43360" y="53973"/>
                </a:lnTo>
                <a:close/>
              </a:path>
              <a:path w="76200" h="1381125">
                <a:moveTo>
                  <a:pt x="38100" y="0"/>
                </a:moveTo>
                <a:lnTo>
                  <a:pt x="0" y="76200"/>
                </a:lnTo>
                <a:lnTo>
                  <a:pt x="28574" y="76200"/>
                </a:lnTo>
                <a:lnTo>
                  <a:pt x="28575" y="58238"/>
                </a:lnTo>
                <a:lnTo>
                  <a:pt x="32838" y="53973"/>
                </a:lnTo>
                <a:lnTo>
                  <a:pt x="65086" y="53973"/>
                </a:lnTo>
                <a:lnTo>
                  <a:pt x="38100" y="0"/>
                </a:lnTo>
                <a:close/>
              </a:path>
              <a:path w="76200" h="1381125">
                <a:moveTo>
                  <a:pt x="65086" y="53973"/>
                </a:moveTo>
                <a:lnTo>
                  <a:pt x="43360" y="53973"/>
                </a:lnTo>
                <a:lnTo>
                  <a:pt x="47625" y="58238"/>
                </a:lnTo>
                <a:lnTo>
                  <a:pt x="47624" y="76200"/>
                </a:lnTo>
                <a:lnTo>
                  <a:pt x="76200" y="76200"/>
                </a:lnTo>
                <a:lnTo>
                  <a:pt x="65086" y="53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 rot="10800000">
            <a:off x="8406537" y="4239161"/>
            <a:ext cx="25908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88946" y="4177284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572546" y="3749278"/>
            <a:ext cx="1958975" cy="369570"/>
          </a:xfrm>
          <a:custGeom>
            <a:avLst/>
            <a:gdLst/>
            <a:ahLst/>
            <a:cxnLst/>
            <a:rect l="l" t="t" r="r" b="b"/>
            <a:pathLst>
              <a:path w="1958975" h="369570">
                <a:moveTo>
                  <a:pt x="0" y="369018"/>
                </a:moveTo>
                <a:lnTo>
                  <a:pt x="68148" y="368454"/>
                </a:lnTo>
                <a:lnTo>
                  <a:pt x="136015" y="366800"/>
                </a:lnTo>
                <a:lnTo>
                  <a:pt x="203318" y="364105"/>
                </a:lnTo>
                <a:lnTo>
                  <a:pt x="269776" y="360423"/>
                </a:lnTo>
                <a:lnTo>
                  <a:pt x="335106" y="355805"/>
                </a:lnTo>
                <a:lnTo>
                  <a:pt x="399028" y="350303"/>
                </a:lnTo>
                <a:lnTo>
                  <a:pt x="461259" y="343970"/>
                </a:lnTo>
                <a:lnTo>
                  <a:pt x="521517" y="336857"/>
                </a:lnTo>
                <a:lnTo>
                  <a:pt x="579521" y="329016"/>
                </a:lnTo>
                <a:lnTo>
                  <a:pt x="634988" y="320499"/>
                </a:lnTo>
                <a:lnTo>
                  <a:pt x="687638" y="311358"/>
                </a:lnTo>
                <a:lnTo>
                  <a:pt x="737188" y="301646"/>
                </a:lnTo>
                <a:lnTo>
                  <a:pt x="783356" y="291414"/>
                </a:lnTo>
                <a:lnTo>
                  <a:pt x="825860" y="280714"/>
                </a:lnTo>
                <a:lnTo>
                  <a:pt x="864420" y="269598"/>
                </a:lnTo>
                <a:lnTo>
                  <a:pt x="928576" y="246326"/>
                </a:lnTo>
                <a:lnTo>
                  <a:pt x="973570" y="222015"/>
                </a:lnTo>
                <a:lnTo>
                  <a:pt x="1000201" y="184509"/>
                </a:lnTo>
                <a:lnTo>
                  <a:pt x="1003409" y="171339"/>
                </a:lnTo>
                <a:lnTo>
                  <a:pt x="1049059" y="132429"/>
                </a:lnTo>
                <a:lnTo>
                  <a:pt x="1106405" y="107585"/>
                </a:lnTo>
                <a:lnTo>
                  <a:pt x="1182383" y="84175"/>
                </a:lnTo>
                <a:lnTo>
                  <a:pt x="1226583" y="73158"/>
                </a:lnTo>
                <a:lnTo>
                  <a:pt x="1274510" y="62678"/>
                </a:lnTo>
                <a:lnTo>
                  <a:pt x="1325852" y="52796"/>
                </a:lnTo>
                <a:lnTo>
                  <a:pt x="1380300" y="43572"/>
                </a:lnTo>
                <a:lnTo>
                  <a:pt x="1437543" y="35064"/>
                </a:lnTo>
                <a:lnTo>
                  <a:pt x="1497270" y="27334"/>
                </a:lnTo>
                <a:lnTo>
                  <a:pt x="1559171" y="20441"/>
                </a:lnTo>
                <a:lnTo>
                  <a:pt x="1622935" y="14444"/>
                </a:lnTo>
                <a:lnTo>
                  <a:pt x="1688252" y="9403"/>
                </a:lnTo>
                <a:lnTo>
                  <a:pt x="1754810" y="5379"/>
                </a:lnTo>
                <a:lnTo>
                  <a:pt x="1822301" y="2430"/>
                </a:lnTo>
                <a:lnTo>
                  <a:pt x="1890412" y="617"/>
                </a:lnTo>
                <a:lnTo>
                  <a:pt x="1958835" y="0"/>
                </a:lnTo>
              </a:path>
            </a:pathLst>
          </a:custGeom>
          <a:ln w="412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559839" y="3715630"/>
            <a:ext cx="2030095" cy="9525"/>
          </a:xfrm>
          <a:custGeom>
            <a:avLst/>
            <a:gdLst/>
            <a:ahLst/>
            <a:cxnLst/>
            <a:rect l="l" t="t" r="r" b="b"/>
            <a:pathLst>
              <a:path w="2030095" h="9525">
                <a:moveTo>
                  <a:pt x="2027709" y="0"/>
                </a:moveTo>
                <a:lnTo>
                  <a:pt x="2022439" y="0"/>
                </a:lnTo>
                <a:lnTo>
                  <a:pt x="2020307" y="2131"/>
                </a:lnTo>
                <a:lnTo>
                  <a:pt x="2020307" y="7392"/>
                </a:lnTo>
                <a:lnTo>
                  <a:pt x="2022439" y="9525"/>
                </a:lnTo>
                <a:lnTo>
                  <a:pt x="2027709" y="9525"/>
                </a:lnTo>
                <a:lnTo>
                  <a:pt x="2029842" y="7392"/>
                </a:lnTo>
                <a:lnTo>
                  <a:pt x="2029842" y="2131"/>
                </a:lnTo>
                <a:lnTo>
                  <a:pt x="2027709" y="0"/>
                </a:lnTo>
                <a:close/>
              </a:path>
              <a:path w="2030095" h="9525">
                <a:moveTo>
                  <a:pt x="2008649" y="0"/>
                </a:moveTo>
                <a:lnTo>
                  <a:pt x="2003379" y="0"/>
                </a:lnTo>
                <a:lnTo>
                  <a:pt x="2001248" y="2131"/>
                </a:lnTo>
                <a:lnTo>
                  <a:pt x="2001248" y="7392"/>
                </a:lnTo>
                <a:lnTo>
                  <a:pt x="2003379" y="9525"/>
                </a:lnTo>
                <a:lnTo>
                  <a:pt x="2008649" y="9525"/>
                </a:lnTo>
                <a:lnTo>
                  <a:pt x="2010782" y="7392"/>
                </a:lnTo>
                <a:lnTo>
                  <a:pt x="2010782" y="2131"/>
                </a:lnTo>
                <a:lnTo>
                  <a:pt x="2008649" y="0"/>
                </a:lnTo>
                <a:close/>
              </a:path>
              <a:path w="2030095" h="9525">
                <a:moveTo>
                  <a:pt x="1989590" y="0"/>
                </a:moveTo>
                <a:lnTo>
                  <a:pt x="1984320" y="0"/>
                </a:lnTo>
                <a:lnTo>
                  <a:pt x="1982188" y="2131"/>
                </a:lnTo>
                <a:lnTo>
                  <a:pt x="1982188" y="7392"/>
                </a:lnTo>
                <a:lnTo>
                  <a:pt x="1984320" y="9525"/>
                </a:lnTo>
                <a:lnTo>
                  <a:pt x="1989590" y="9525"/>
                </a:lnTo>
                <a:lnTo>
                  <a:pt x="1991723" y="7392"/>
                </a:lnTo>
                <a:lnTo>
                  <a:pt x="1991723" y="2131"/>
                </a:lnTo>
                <a:lnTo>
                  <a:pt x="1989590" y="0"/>
                </a:lnTo>
                <a:close/>
              </a:path>
              <a:path w="2030095" h="9525">
                <a:moveTo>
                  <a:pt x="1970530" y="0"/>
                </a:moveTo>
                <a:lnTo>
                  <a:pt x="1965260" y="0"/>
                </a:lnTo>
                <a:lnTo>
                  <a:pt x="1963129" y="2131"/>
                </a:lnTo>
                <a:lnTo>
                  <a:pt x="1963129" y="7392"/>
                </a:lnTo>
                <a:lnTo>
                  <a:pt x="1965260" y="9525"/>
                </a:lnTo>
                <a:lnTo>
                  <a:pt x="1970530" y="9525"/>
                </a:lnTo>
                <a:lnTo>
                  <a:pt x="1972663" y="7392"/>
                </a:lnTo>
                <a:lnTo>
                  <a:pt x="1972663" y="2131"/>
                </a:lnTo>
                <a:lnTo>
                  <a:pt x="1970530" y="0"/>
                </a:lnTo>
                <a:close/>
              </a:path>
              <a:path w="2030095" h="9525">
                <a:moveTo>
                  <a:pt x="1951471" y="0"/>
                </a:moveTo>
                <a:lnTo>
                  <a:pt x="1946201" y="0"/>
                </a:lnTo>
                <a:lnTo>
                  <a:pt x="1944069" y="2131"/>
                </a:lnTo>
                <a:lnTo>
                  <a:pt x="1944069" y="7392"/>
                </a:lnTo>
                <a:lnTo>
                  <a:pt x="1946201" y="9525"/>
                </a:lnTo>
                <a:lnTo>
                  <a:pt x="1951471" y="9525"/>
                </a:lnTo>
                <a:lnTo>
                  <a:pt x="1953604" y="7392"/>
                </a:lnTo>
                <a:lnTo>
                  <a:pt x="1953604" y="2131"/>
                </a:lnTo>
                <a:lnTo>
                  <a:pt x="1951471" y="0"/>
                </a:lnTo>
                <a:close/>
              </a:path>
              <a:path w="2030095" h="9525">
                <a:moveTo>
                  <a:pt x="1932411" y="0"/>
                </a:moveTo>
                <a:lnTo>
                  <a:pt x="1927142" y="0"/>
                </a:lnTo>
                <a:lnTo>
                  <a:pt x="1925010" y="2131"/>
                </a:lnTo>
                <a:lnTo>
                  <a:pt x="1925010" y="7392"/>
                </a:lnTo>
                <a:lnTo>
                  <a:pt x="1927142" y="9525"/>
                </a:lnTo>
                <a:lnTo>
                  <a:pt x="1932411" y="9525"/>
                </a:lnTo>
                <a:lnTo>
                  <a:pt x="1934544" y="7392"/>
                </a:lnTo>
                <a:lnTo>
                  <a:pt x="1934544" y="2131"/>
                </a:lnTo>
                <a:lnTo>
                  <a:pt x="1932411" y="0"/>
                </a:lnTo>
                <a:close/>
              </a:path>
              <a:path w="2030095" h="9525">
                <a:moveTo>
                  <a:pt x="1913352" y="0"/>
                </a:moveTo>
                <a:lnTo>
                  <a:pt x="1908082" y="0"/>
                </a:lnTo>
                <a:lnTo>
                  <a:pt x="1905949" y="2131"/>
                </a:lnTo>
                <a:lnTo>
                  <a:pt x="1905949" y="7392"/>
                </a:lnTo>
                <a:lnTo>
                  <a:pt x="1908082" y="9525"/>
                </a:lnTo>
                <a:lnTo>
                  <a:pt x="1913352" y="9525"/>
                </a:lnTo>
                <a:lnTo>
                  <a:pt x="1915485" y="7392"/>
                </a:lnTo>
                <a:lnTo>
                  <a:pt x="1915485" y="2131"/>
                </a:lnTo>
                <a:lnTo>
                  <a:pt x="1913352" y="0"/>
                </a:lnTo>
                <a:close/>
              </a:path>
              <a:path w="2030095" h="9525">
                <a:moveTo>
                  <a:pt x="1894292" y="0"/>
                </a:moveTo>
                <a:lnTo>
                  <a:pt x="1889022" y="0"/>
                </a:lnTo>
                <a:lnTo>
                  <a:pt x="1886891" y="2131"/>
                </a:lnTo>
                <a:lnTo>
                  <a:pt x="1886891" y="7392"/>
                </a:lnTo>
                <a:lnTo>
                  <a:pt x="1889023" y="9525"/>
                </a:lnTo>
                <a:lnTo>
                  <a:pt x="1894292" y="9525"/>
                </a:lnTo>
                <a:lnTo>
                  <a:pt x="1896424" y="7392"/>
                </a:lnTo>
                <a:lnTo>
                  <a:pt x="1896424" y="2131"/>
                </a:lnTo>
                <a:lnTo>
                  <a:pt x="1894292" y="0"/>
                </a:lnTo>
                <a:close/>
              </a:path>
              <a:path w="2030095" h="9525">
                <a:moveTo>
                  <a:pt x="1875233" y="0"/>
                </a:moveTo>
                <a:lnTo>
                  <a:pt x="1869963" y="0"/>
                </a:lnTo>
                <a:lnTo>
                  <a:pt x="1867830" y="2132"/>
                </a:lnTo>
                <a:lnTo>
                  <a:pt x="1867830" y="7392"/>
                </a:lnTo>
                <a:lnTo>
                  <a:pt x="1869963" y="9525"/>
                </a:lnTo>
                <a:lnTo>
                  <a:pt x="1875233" y="9525"/>
                </a:lnTo>
                <a:lnTo>
                  <a:pt x="1877366" y="7392"/>
                </a:lnTo>
                <a:lnTo>
                  <a:pt x="1877366" y="2132"/>
                </a:lnTo>
                <a:lnTo>
                  <a:pt x="1875233" y="0"/>
                </a:lnTo>
                <a:close/>
              </a:path>
              <a:path w="2030095" h="9525">
                <a:moveTo>
                  <a:pt x="1856173" y="0"/>
                </a:moveTo>
                <a:lnTo>
                  <a:pt x="1850903" y="0"/>
                </a:lnTo>
                <a:lnTo>
                  <a:pt x="1848772" y="2132"/>
                </a:lnTo>
                <a:lnTo>
                  <a:pt x="1848772" y="7392"/>
                </a:lnTo>
                <a:lnTo>
                  <a:pt x="1850904" y="9525"/>
                </a:lnTo>
                <a:lnTo>
                  <a:pt x="1856173" y="9525"/>
                </a:lnTo>
                <a:lnTo>
                  <a:pt x="1858305" y="7392"/>
                </a:lnTo>
                <a:lnTo>
                  <a:pt x="1858305" y="2132"/>
                </a:lnTo>
                <a:lnTo>
                  <a:pt x="1856173" y="0"/>
                </a:lnTo>
                <a:close/>
              </a:path>
              <a:path w="2030095" h="9525">
                <a:moveTo>
                  <a:pt x="1837114" y="0"/>
                </a:moveTo>
                <a:lnTo>
                  <a:pt x="1831844" y="0"/>
                </a:lnTo>
                <a:lnTo>
                  <a:pt x="1829711" y="2132"/>
                </a:lnTo>
                <a:lnTo>
                  <a:pt x="1829711" y="7392"/>
                </a:lnTo>
                <a:lnTo>
                  <a:pt x="1831844" y="9525"/>
                </a:lnTo>
                <a:lnTo>
                  <a:pt x="1837114" y="9525"/>
                </a:lnTo>
                <a:lnTo>
                  <a:pt x="1839247" y="7392"/>
                </a:lnTo>
                <a:lnTo>
                  <a:pt x="1839247" y="2132"/>
                </a:lnTo>
                <a:lnTo>
                  <a:pt x="1837114" y="0"/>
                </a:lnTo>
                <a:close/>
              </a:path>
              <a:path w="2030095" h="9525">
                <a:moveTo>
                  <a:pt x="1818054" y="0"/>
                </a:moveTo>
                <a:lnTo>
                  <a:pt x="1812784" y="0"/>
                </a:lnTo>
                <a:lnTo>
                  <a:pt x="1810652" y="2132"/>
                </a:lnTo>
                <a:lnTo>
                  <a:pt x="1810652" y="7392"/>
                </a:lnTo>
                <a:lnTo>
                  <a:pt x="1812784" y="9525"/>
                </a:lnTo>
                <a:lnTo>
                  <a:pt x="1818054" y="9525"/>
                </a:lnTo>
                <a:lnTo>
                  <a:pt x="1820186" y="7392"/>
                </a:lnTo>
                <a:lnTo>
                  <a:pt x="1820186" y="2132"/>
                </a:lnTo>
                <a:lnTo>
                  <a:pt x="1818054" y="0"/>
                </a:lnTo>
                <a:close/>
              </a:path>
              <a:path w="2030095" h="9525">
                <a:moveTo>
                  <a:pt x="1798995" y="0"/>
                </a:moveTo>
                <a:lnTo>
                  <a:pt x="1793725" y="0"/>
                </a:lnTo>
                <a:lnTo>
                  <a:pt x="1791592" y="2132"/>
                </a:lnTo>
                <a:lnTo>
                  <a:pt x="1791592" y="7392"/>
                </a:lnTo>
                <a:lnTo>
                  <a:pt x="1793725" y="9525"/>
                </a:lnTo>
                <a:lnTo>
                  <a:pt x="1798995" y="9525"/>
                </a:lnTo>
                <a:lnTo>
                  <a:pt x="1801127" y="7392"/>
                </a:lnTo>
                <a:lnTo>
                  <a:pt x="1801127" y="2132"/>
                </a:lnTo>
                <a:lnTo>
                  <a:pt x="1798995" y="0"/>
                </a:lnTo>
                <a:close/>
              </a:path>
              <a:path w="2030095" h="9525">
                <a:moveTo>
                  <a:pt x="1779935" y="0"/>
                </a:moveTo>
                <a:lnTo>
                  <a:pt x="1774664" y="0"/>
                </a:lnTo>
                <a:lnTo>
                  <a:pt x="1772533" y="2132"/>
                </a:lnTo>
                <a:lnTo>
                  <a:pt x="1772533" y="7392"/>
                </a:lnTo>
                <a:lnTo>
                  <a:pt x="1774664" y="9525"/>
                </a:lnTo>
                <a:lnTo>
                  <a:pt x="1779935" y="9525"/>
                </a:lnTo>
                <a:lnTo>
                  <a:pt x="1782067" y="7392"/>
                </a:lnTo>
                <a:lnTo>
                  <a:pt x="1782067" y="2132"/>
                </a:lnTo>
                <a:lnTo>
                  <a:pt x="1779935" y="0"/>
                </a:lnTo>
                <a:close/>
              </a:path>
              <a:path w="2030095" h="9525">
                <a:moveTo>
                  <a:pt x="1760876" y="0"/>
                </a:moveTo>
                <a:lnTo>
                  <a:pt x="1755606" y="0"/>
                </a:lnTo>
                <a:lnTo>
                  <a:pt x="1753473" y="2132"/>
                </a:lnTo>
                <a:lnTo>
                  <a:pt x="1753473" y="7392"/>
                </a:lnTo>
                <a:lnTo>
                  <a:pt x="1755606" y="9525"/>
                </a:lnTo>
                <a:lnTo>
                  <a:pt x="1760876" y="9525"/>
                </a:lnTo>
                <a:lnTo>
                  <a:pt x="1763008" y="7392"/>
                </a:lnTo>
                <a:lnTo>
                  <a:pt x="1763008" y="2132"/>
                </a:lnTo>
                <a:lnTo>
                  <a:pt x="1760876" y="0"/>
                </a:lnTo>
                <a:close/>
              </a:path>
              <a:path w="2030095" h="9525">
                <a:moveTo>
                  <a:pt x="1741816" y="0"/>
                </a:moveTo>
                <a:lnTo>
                  <a:pt x="1736545" y="0"/>
                </a:lnTo>
                <a:lnTo>
                  <a:pt x="1734414" y="2132"/>
                </a:lnTo>
                <a:lnTo>
                  <a:pt x="1734414" y="7392"/>
                </a:lnTo>
                <a:lnTo>
                  <a:pt x="1736545" y="9525"/>
                </a:lnTo>
                <a:lnTo>
                  <a:pt x="1741816" y="9525"/>
                </a:lnTo>
                <a:lnTo>
                  <a:pt x="1743948" y="7392"/>
                </a:lnTo>
                <a:lnTo>
                  <a:pt x="1743948" y="2132"/>
                </a:lnTo>
                <a:lnTo>
                  <a:pt x="1741816" y="0"/>
                </a:lnTo>
                <a:close/>
              </a:path>
              <a:path w="2030095" h="9525">
                <a:moveTo>
                  <a:pt x="1722757" y="0"/>
                </a:moveTo>
                <a:lnTo>
                  <a:pt x="1717487" y="0"/>
                </a:lnTo>
                <a:lnTo>
                  <a:pt x="1715354" y="2132"/>
                </a:lnTo>
                <a:lnTo>
                  <a:pt x="1715354" y="7392"/>
                </a:lnTo>
                <a:lnTo>
                  <a:pt x="1717487" y="9525"/>
                </a:lnTo>
                <a:lnTo>
                  <a:pt x="1722757" y="9525"/>
                </a:lnTo>
                <a:lnTo>
                  <a:pt x="1724889" y="7392"/>
                </a:lnTo>
                <a:lnTo>
                  <a:pt x="1724889" y="2132"/>
                </a:lnTo>
                <a:lnTo>
                  <a:pt x="1722757" y="0"/>
                </a:lnTo>
                <a:close/>
              </a:path>
              <a:path w="2030095" h="9525">
                <a:moveTo>
                  <a:pt x="1703697" y="0"/>
                </a:moveTo>
                <a:lnTo>
                  <a:pt x="1698426" y="0"/>
                </a:lnTo>
                <a:lnTo>
                  <a:pt x="1696295" y="2132"/>
                </a:lnTo>
                <a:lnTo>
                  <a:pt x="1696295" y="7392"/>
                </a:lnTo>
                <a:lnTo>
                  <a:pt x="1698426" y="9525"/>
                </a:lnTo>
                <a:lnTo>
                  <a:pt x="1703697" y="9525"/>
                </a:lnTo>
                <a:lnTo>
                  <a:pt x="1705829" y="7392"/>
                </a:lnTo>
                <a:lnTo>
                  <a:pt x="1705829" y="2132"/>
                </a:lnTo>
                <a:lnTo>
                  <a:pt x="1703697" y="0"/>
                </a:lnTo>
                <a:close/>
              </a:path>
              <a:path w="2030095" h="9525">
                <a:moveTo>
                  <a:pt x="1684638" y="0"/>
                </a:moveTo>
                <a:lnTo>
                  <a:pt x="1679367" y="0"/>
                </a:lnTo>
                <a:lnTo>
                  <a:pt x="1677235" y="2132"/>
                </a:lnTo>
                <a:lnTo>
                  <a:pt x="1677235" y="7392"/>
                </a:lnTo>
                <a:lnTo>
                  <a:pt x="1679367" y="9525"/>
                </a:lnTo>
                <a:lnTo>
                  <a:pt x="1684638" y="9525"/>
                </a:lnTo>
                <a:lnTo>
                  <a:pt x="1686770" y="7392"/>
                </a:lnTo>
                <a:lnTo>
                  <a:pt x="1686770" y="2132"/>
                </a:lnTo>
                <a:lnTo>
                  <a:pt x="1684638" y="0"/>
                </a:lnTo>
                <a:close/>
              </a:path>
              <a:path w="2030095" h="9525">
                <a:moveTo>
                  <a:pt x="1665578" y="0"/>
                </a:moveTo>
                <a:lnTo>
                  <a:pt x="1660307" y="0"/>
                </a:lnTo>
                <a:lnTo>
                  <a:pt x="1658176" y="2132"/>
                </a:lnTo>
                <a:lnTo>
                  <a:pt x="1658176" y="7392"/>
                </a:lnTo>
                <a:lnTo>
                  <a:pt x="1660307" y="9525"/>
                </a:lnTo>
                <a:lnTo>
                  <a:pt x="1665578" y="9525"/>
                </a:lnTo>
                <a:lnTo>
                  <a:pt x="1667710" y="7392"/>
                </a:lnTo>
                <a:lnTo>
                  <a:pt x="1667710" y="2132"/>
                </a:lnTo>
                <a:lnTo>
                  <a:pt x="1665578" y="0"/>
                </a:lnTo>
                <a:close/>
              </a:path>
              <a:path w="2030095" h="9525">
                <a:moveTo>
                  <a:pt x="1646519" y="0"/>
                </a:moveTo>
                <a:lnTo>
                  <a:pt x="1641248" y="0"/>
                </a:lnTo>
                <a:lnTo>
                  <a:pt x="1639116" y="2132"/>
                </a:lnTo>
                <a:lnTo>
                  <a:pt x="1639116" y="7392"/>
                </a:lnTo>
                <a:lnTo>
                  <a:pt x="1641248" y="9525"/>
                </a:lnTo>
                <a:lnTo>
                  <a:pt x="1646519" y="9525"/>
                </a:lnTo>
                <a:lnTo>
                  <a:pt x="1648651" y="7392"/>
                </a:lnTo>
                <a:lnTo>
                  <a:pt x="1648651" y="2132"/>
                </a:lnTo>
                <a:lnTo>
                  <a:pt x="1646519" y="0"/>
                </a:lnTo>
                <a:close/>
              </a:path>
              <a:path w="2030095" h="9525">
                <a:moveTo>
                  <a:pt x="1627459" y="0"/>
                </a:moveTo>
                <a:lnTo>
                  <a:pt x="1622188" y="0"/>
                </a:lnTo>
                <a:lnTo>
                  <a:pt x="1620057" y="2132"/>
                </a:lnTo>
                <a:lnTo>
                  <a:pt x="1620057" y="7392"/>
                </a:lnTo>
                <a:lnTo>
                  <a:pt x="1622188" y="9525"/>
                </a:lnTo>
                <a:lnTo>
                  <a:pt x="1627459" y="9525"/>
                </a:lnTo>
                <a:lnTo>
                  <a:pt x="1629591" y="7392"/>
                </a:lnTo>
                <a:lnTo>
                  <a:pt x="1629591" y="2132"/>
                </a:lnTo>
                <a:lnTo>
                  <a:pt x="1627459" y="0"/>
                </a:lnTo>
                <a:close/>
              </a:path>
              <a:path w="2030095" h="9525">
                <a:moveTo>
                  <a:pt x="1608400" y="0"/>
                </a:moveTo>
                <a:lnTo>
                  <a:pt x="1603129" y="0"/>
                </a:lnTo>
                <a:lnTo>
                  <a:pt x="1600997" y="2132"/>
                </a:lnTo>
                <a:lnTo>
                  <a:pt x="1600997" y="7392"/>
                </a:lnTo>
                <a:lnTo>
                  <a:pt x="1603129" y="9525"/>
                </a:lnTo>
                <a:lnTo>
                  <a:pt x="1608400" y="9525"/>
                </a:lnTo>
                <a:lnTo>
                  <a:pt x="1610532" y="7392"/>
                </a:lnTo>
                <a:lnTo>
                  <a:pt x="1610532" y="2132"/>
                </a:lnTo>
                <a:lnTo>
                  <a:pt x="1608400" y="0"/>
                </a:lnTo>
                <a:close/>
              </a:path>
              <a:path w="2030095" h="9525">
                <a:moveTo>
                  <a:pt x="1589340" y="0"/>
                </a:moveTo>
                <a:lnTo>
                  <a:pt x="1584069" y="0"/>
                </a:lnTo>
                <a:lnTo>
                  <a:pt x="1581938" y="2132"/>
                </a:lnTo>
                <a:lnTo>
                  <a:pt x="1581938" y="7392"/>
                </a:lnTo>
                <a:lnTo>
                  <a:pt x="1584069" y="9525"/>
                </a:lnTo>
                <a:lnTo>
                  <a:pt x="1589340" y="9525"/>
                </a:lnTo>
                <a:lnTo>
                  <a:pt x="1591472" y="7392"/>
                </a:lnTo>
                <a:lnTo>
                  <a:pt x="1591472" y="2132"/>
                </a:lnTo>
                <a:lnTo>
                  <a:pt x="1589340" y="0"/>
                </a:lnTo>
                <a:close/>
              </a:path>
              <a:path w="2030095" h="9525">
                <a:moveTo>
                  <a:pt x="1570281" y="0"/>
                </a:moveTo>
                <a:lnTo>
                  <a:pt x="1565010" y="0"/>
                </a:lnTo>
                <a:lnTo>
                  <a:pt x="1562878" y="2132"/>
                </a:lnTo>
                <a:lnTo>
                  <a:pt x="1562878" y="7392"/>
                </a:lnTo>
                <a:lnTo>
                  <a:pt x="1565010" y="9525"/>
                </a:lnTo>
                <a:lnTo>
                  <a:pt x="1570281" y="9525"/>
                </a:lnTo>
                <a:lnTo>
                  <a:pt x="1572413" y="7392"/>
                </a:lnTo>
                <a:lnTo>
                  <a:pt x="1572413" y="2132"/>
                </a:lnTo>
                <a:lnTo>
                  <a:pt x="1570281" y="0"/>
                </a:lnTo>
                <a:close/>
              </a:path>
              <a:path w="2030095" h="9525">
                <a:moveTo>
                  <a:pt x="1551221" y="0"/>
                </a:moveTo>
                <a:lnTo>
                  <a:pt x="1545950" y="0"/>
                </a:lnTo>
                <a:lnTo>
                  <a:pt x="1543818" y="2132"/>
                </a:lnTo>
                <a:lnTo>
                  <a:pt x="1543818" y="7392"/>
                </a:lnTo>
                <a:lnTo>
                  <a:pt x="1545950" y="9525"/>
                </a:lnTo>
                <a:lnTo>
                  <a:pt x="1551221" y="9525"/>
                </a:lnTo>
                <a:lnTo>
                  <a:pt x="1553353" y="7392"/>
                </a:lnTo>
                <a:lnTo>
                  <a:pt x="1553353" y="2132"/>
                </a:lnTo>
                <a:lnTo>
                  <a:pt x="1551221" y="0"/>
                </a:lnTo>
                <a:close/>
              </a:path>
              <a:path w="2030095" h="9525">
                <a:moveTo>
                  <a:pt x="1532162" y="0"/>
                </a:moveTo>
                <a:lnTo>
                  <a:pt x="1526891" y="0"/>
                </a:lnTo>
                <a:lnTo>
                  <a:pt x="1524759" y="2132"/>
                </a:lnTo>
                <a:lnTo>
                  <a:pt x="1524759" y="7392"/>
                </a:lnTo>
                <a:lnTo>
                  <a:pt x="1526891" y="9525"/>
                </a:lnTo>
                <a:lnTo>
                  <a:pt x="1532162" y="9525"/>
                </a:lnTo>
                <a:lnTo>
                  <a:pt x="1534293" y="7392"/>
                </a:lnTo>
                <a:lnTo>
                  <a:pt x="1534293" y="2132"/>
                </a:lnTo>
                <a:lnTo>
                  <a:pt x="1532162" y="0"/>
                </a:lnTo>
                <a:close/>
              </a:path>
              <a:path w="2030095" h="9525">
                <a:moveTo>
                  <a:pt x="1513102" y="0"/>
                </a:moveTo>
                <a:lnTo>
                  <a:pt x="1507831" y="0"/>
                </a:lnTo>
                <a:lnTo>
                  <a:pt x="1505699" y="2132"/>
                </a:lnTo>
                <a:lnTo>
                  <a:pt x="1505699" y="7392"/>
                </a:lnTo>
                <a:lnTo>
                  <a:pt x="1507831" y="9525"/>
                </a:lnTo>
                <a:lnTo>
                  <a:pt x="1513102" y="9525"/>
                </a:lnTo>
                <a:lnTo>
                  <a:pt x="1515234" y="7392"/>
                </a:lnTo>
                <a:lnTo>
                  <a:pt x="1515234" y="2132"/>
                </a:lnTo>
                <a:lnTo>
                  <a:pt x="1513102" y="0"/>
                </a:lnTo>
                <a:close/>
              </a:path>
              <a:path w="2030095" h="9525">
                <a:moveTo>
                  <a:pt x="1494043" y="0"/>
                </a:moveTo>
                <a:lnTo>
                  <a:pt x="1488772" y="0"/>
                </a:lnTo>
                <a:lnTo>
                  <a:pt x="1486640" y="2132"/>
                </a:lnTo>
                <a:lnTo>
                  <a:pt x="1486640" y="7392"/>
                </a:lnTo>
                <a:lnTo>
                  <a:pt x="1488772" y="9525"/>
                </a:lnTo>
                <a:lnTo>
                  <a:pt x="1494043" y="9525"/>
                </a:lnTo>
                <a:lnTo>
                  <a:pt x="1496174" y="7392"/>
                </a:lnTo>
                <a:lnTo>
                  <a:pt x="1496174" y="2132"/>
                </a:lnTo>
                <a:lnTo>
                  <a:pt x="1494043" y="0"/>
                </a:lnTo>
                <a:close/>
              </a:path>
              <a:path w="2030095" h="9525">
                <a:moveTo>
                  <a:pt x="1474983" y="0"/>
                </a:moveTo>
                <a:lnTo>
                  <a:pt x="1469712" y="0"/>
                </a:lnTo>
                <a:lnTo>
                  <a:pt x="1467581" y="2132"/>
                </a:lnTo>
                <a:lnTo>
                  <a:pt x="1467581" y="7392"/>
                </a:lnTo>
                <a:lnTo>
                  <a:pt x="1469712" y="9525"/>
                </a:lnTo>
                <a:lnTo>
                  <a:pt x="1474983" y="9525"/>
                </a:lnTo>
                <a:lnTo>
                  <a:pt x="1477115" y="7392"/>
                </a:lnTo>
                <a:lnTo>
                  <a:pt x="1477115" y="2132"/>
                </a:lnTo>
                <a:lnTo>
                  <a:pt x="1474983" y="0"/>
                </a:lnTo>
                <a:close/>
              </a:path>
              <a:path w="2030095" h="9525">
                <a:moveTo>
                  <a:pt x="1455924" y="0"/>
                </a:moveTo>
                <a:lnTo>
                  <a:pt x="1450653" y="0"/>
                </a:lnTo>
                <a:lnTo>
                  <a:pt x="1448521" y="2132"/>
                </a:lnTo>
                <a:lnTo>
                  <a:pt x="1448521" y="7392"/>
                </a:lnTo>
                <a:lnTo>
                  <a:pt x="1450653" y="9525"/>
                </a:lnTo>
                <a:lnTo>
                  <a:pt x="1455924" y="9525"/>
                </a:lnTo>
                <a:lnTo>
                  <a:pt x="1458056" y="7392"/>
                </a:lnTo>
                <a:lnTo>
                  <a:pt x="1458056" y="2132"/>
                </a:lnTo>
                <a:lnTo>
                  <a:pt x="1455924" y="0"/>
                </a:lnTo>
                <a:close/>
              </a:path>
              <a:path w="2030095" h="9525">
                <a:moveTo>
                  <a:pt x="1436864" y="0"/>
                </a:moveTo>
                <a:lnTo>
                  <a:pt x="1431593" y="0"/>
                </a:lnTo>
                <a:lnTo>
                  <a:pt x="1429462" y="2132"/>
                </a:lnTo>
                <a:lnTo>
                  <a:pt x="1429462" y="7392"/>
                </a:lnTo>
                <a:lnTo>
                  <a:pt x="1431593" y="9525"/>
                </a:lnTo>
                <a:lnTo>
                  <a:pt x="1436864" y="9525"/>
                </a:lnTo>
                <a:lnTo>
                  <a:pt x="1438996" y="7392"/>
                </a:lnTo>
                <a:lnTo>
                  <a:pt x="1438996" y="2132"/>
                </a:lnTo>
                <a:lnTo>
                  <a:pt x="1436864" y="0"/>
                </a:lnTo>
                <a:close/>
              </a:path>
              <a:path w="2030095" h="9525">
                <a:moveTo>
                  <a:pt x="1417805" y="0"/>
                </a:moveTo>
                <a:lnTo>
                  <a:pt x="1412534" y="0"/>
                </a:lnTo>
                <a:lnTo>
                  <a:pt x="1410402" y="2132"/>
                </a:lnTo>
                <a:lnTo>
                  <a:pt x="1410402" y="7392"/>
                </a:lnTo>
                <a:lnTo>
                  <a:pt x="1412534" y="9525"/>
                </a:lnTo>
                <a:lnTo>
                  <a:pt x="1417805" y="9525"/>
                </a:lnTo>
                <a:lnTo>
                  <a:pt x="1419937" y="7392"/>
                </a:lnTo>
                <a:lnTo>
                  <a:pt x="1419937" y="2132"/>
                </a:lnTo>
                <a:lnTo>
                  <a:pt x="1417805" y="0"/>
                </a:lnTo>
                <a:close/>
              </a:path>
              <a:path w="2030095" h="9525">
                <a:moveTo>
                  <a:pt x="1398744" y="0"/>
                </a:moveTo>
                <a:lnTo>
                  <a:pt x="1393475" y="0"/>
                </a:lnTo>
                <a:lnTo>
                  <a:pt x="1391343" y="2132"/>
                </a:lnTo>
                <a:lnTo>
                  <a:pt x="1391343" y="7392"/>
                </a:lnTo>
                <a:lnTo>
                  <a:pt x="1393475" y="9525"/>
                </a:lnTo>
                <a:lnTo>
                  <a:pt x="1398744" y="9525"/>
                </a:lnTo>
                <a:lnTo>
                  <a:pt x="1400877" y="7392"/>
                </a:lnTo>
                <a:lnTo>
                  <a:pt x="1400877" y="2132"/>
                </a:lnTo>
                <a:lnTo>
                  <a:pt x="1398744" y="0"/>
                </a:lnTo>
                <a:close/>
              </a:path>
              <a:path w="2030095" h="9525">
                <a:moveTo>
                  <a:pt x="1379686" y="0"/>
                </a:moveTo>
                <a:lnTo>
                  <a:pt x="1374415" y="0"/>
                </a:lnTo>
                <a:lnTo>
                  <a:pt x="1372283" y="2132"/>
                </a:lnTo>
                <a:lnTo>
                  <a:pt x="1372283" y="7392"/>
                </a:lnTo>
                <a:lnTo>
                  <a:pt x="1374415" y="9525"/>
                </a:lnTo>
                <a:lnTo>
                  <a:pt x="1379686" y="9525"/>
                </a:lnTo>
                <a:lnTo>
                  <a:pt x="1381818" y="7392"/>
                </a:lnTo>
                <a:lnTo>
                  <a:pt x="1381818" y="2132"/>
                </a:lnTo>
                <a:lnTo>
                  <a:pt x="1379686" y="0"/>
                </a:lnTo>
                <a:close/>
              </a:path>
              <a:path w="2030095" h="9525">
                <a:moveTo>
                  <a:pt x="1360625" y="0"/>
                </a:moveTo>
                <a:lnTo>
                  <a:pt x="1355356" y="0"/>
                </a:lnTo>
                <a:lnTo>
                  <a:pt x="1353224" y="2132"/>
                </a:lnTo>
                <a:lnTo>
                  <a:pt x="1353224" y="7392"/>
                </a:lnTo>
                <a:lnTo>
                  <a:pt x="1355356" y="9525"/>
                </a:lnTo>
                <a:lnTo>
                  <a:pt x="1360625" y="9525"/>
                </a:lnTo>
                <a:lnTo>
                  <a:pt x="1362758" y="7392"/>
                </a:lnTo>
                <a:lnTo>
                  <a:pt x="1362758" y="2132"/>
                </a:lnTo>
                <a:lnTo>
                  <a:pt x="1360625" y="0"/>
                </a:lnTo>
                <a:close/>
              </a:path>
              <a:path w="2030095" h="9525">
                <a:moveTo>
                  <a:pt x="1341567" y="0"/>
                </a:moveTo>
                <a:lnTo>
                  <a:pt x="1336296" y="0"/>
                </a:lnTo>
                <a:lnTo>
                  <a:pt x="1334164" y="2132"/>
                </a:lnTo>
                <a:lnTo>
                  <a:pt x="1334164" y="7392"/>
                </a:lnTo>
                <a:lnTo>
                  <a:pt x="1336296" y="9525"/>
                </a:lnTo>
                <a:lnTo>
                  <a:pt x="1341567" y="9525"/>
                </a:lnTo>
                <a:lnTo>
                  <a:pt x="1343699" y="7392"/>
                </a:lnTo>
                <a:lnTo>
                  <a:pt x="1343699" y="2132"/>
                </a:lnTo>
                <a:lnTo>
                  <a:pt x="1341567" y="0"/>
                </a:lnTo>
                <a:close/>
              </a:path>
              <a:path w="2030095" h="9525">
                <a:moveTo>
                  <a:pt x="1322506" y="0"/>
                </a:moveTo>
                <a:lnTo>
                  <a:pt x="1317237" y="0"/>
                </a:lnTo>
                <a:lnTo>
                  <a:pt x="1315105" y="2132"/>
                </a:lnTo>
                <a:lnTo>
                  <a:pt x="1315105" y="7392"/>
                </a:lnTo>
                <a:lnTo>
                  <a:pt x="1317237" y="9525"/>
                </a:lnTo>
                <a:lnTo>
                  <a:pt x="1322506" y="9525"/>
                </a:lnTo>
                <a:lnTo>
                  <a:pt x="1324639" y="7392"/>
                </a:lnTo>
                <a:lnTo>
                  <a:pt x="1324639" y="2132"/>
                </a:lnTo>
                <a:lnTo>
                  <a:pt x="1322506" y="0"/>
                </a:lnTo>
                <a:close/>
              </a:path>
              <a:path w="2030095" h="9525">
                <a:moveTo>
                  <a:pt x="1303447" y="0"/>
                </a:moveTo>
                <a:lnTo>
                  <a:pt x="1298177" y="0"/>
                </a:lnTo>
                <a:lnTo>
                  <a:pt x="1296045" y="2132"/>
                </a:lnTo>
                <a:lnTo>
                  <a:pt x="1296045" y="7392"/>
                </a:lnTo>
                <a:lnTo>
                  <a:pt x="1298177" y="9525"/>
                </a:lnTo>
                <a:lnTo>
                  <a:pt x="1303447" y="9525"/>
                </a:lnTo>
                <a:lnTo>
                  <a:pt x="1305580" y="7392"/>
                </a:lnTo>
                <a:lnTo>
                  <a:pt x="1305580" y="2132"/>
                </a:lnTo>
                <a:lnTo>
                  <a:pt x="1303447" y="0"/>
                </a:lnTo>
                <a:close/>
              </a:path>
              <a:path w="2030095" h="9525">
                <a:moveTo>
                  <a:pt x="1284387" y="0"/>
                </a:moveTo>
                <a:lnTo>
                  <a:pt x="1279118" y="0"/>
                </a:lnTo>
                <a:lnTo>
                  <a:pt x="1276986" y="2132"/>
                </a:lnTo>
                <a:lnTo>
                  <a:pt x="1276986" y="7392"/>
                </a:lnTo>
                <a:lnTo>
                  <a:pt x="1279118" y="9525"/>
                </a:lnTo>
                <a:lnTo>
                  <a:pt x="1284387" y="9525"/>
                </a:lnTo>
                <a:lnTo>
                  <a:pt x="1286520" y="7392"/>
                </a:lnTo>
                <a:lnTo>
                  <a:pt x="1286520" y="2132"/>
                </a:lnTo>
                <a:lnTo>
                  <a:pt x="1284387" y="0"/>
                </a:lnTo>
                <a:close/>
              </a:path>
              <a:path w="2030095" h="9525">
                <a:moveTo>
                  <a:pt x="1265328" y="0"/>
                </a:moveTo>
                <a:lnTo>
                  <a:pt x="1260058" y="0"/>
                </a:lnTo>
                <a:lnTo>
                  <a:pt x="1257926" y="2132"/>
                </a:lnTo>
                <a:lnTo>
                  <a:pt x="1257926" y="7392"/>
                </a:lnTo>
                <a:lnTo>
                  <a:pt x="1260058" y="9525"/>
                </a:lnTo>
                <a:lnTo>
                  <a:pt x="1265328" y="9525"/>
                </a:lnTo>
                <a:lnTo>
                  <a:pt x="1267461" y="7392"/>
                </a:lnTo>
                <a:lnTo>
                  <a:pt x="1267461" y="2132"/>
                </a:lnTo>
                <a:lnTo>
                  <a:pt x="1265328" y="0"/>
                </a:lnTo>
                <a:close/>
              </a:path>
              <a:path w="2030095" h="9525">
                <a:moveTo>
                  <a:pt x="1246268" y="0"/>
                </a:moveTo>
                <a:lnTo>
                  <a:pt x="1240999" y="0"/>
                </a:lnTo>
                <a:lnTo>
                  <a:pt x="1238867" y="2132"/>
                </a:lnTo>
                <a:lnTo>
                  <a:pt x="1238867" y="7392"/>
                </a:lnTo>
                <a:lnTo>
                  <a:pt x="1240999" y="9525"/>
                </a:lnTo>
                <a:lnTo>
                  <a:pt x="1246268" y="9525"/>
                </a:lnTo>
                <a:lnTo>
                  <a:pt x="1248401" y="7392"/>
                </a:lnTo>
                <a:lnTo>
                  <a:pt x="1248401" y="2132"/>
                </a:lnTo>
                <a:lnTo>
                  <a:pt x="1246268" y="0"/>
                </a:lnTo>
                <a:close/>
              </a:path>
              <a:path w="2030095" h="9525">
                <a:moveTo>
                  <a:pt x="1227209" y="0"/>
                </a:moveTo>
                <a:lnTo>
                  <a:pt x="1221939" y="0"/>
                </a:lnTo>
                <a:lnTo>
                  <a:pt x="1219807" y="2132"/>
                </a:lnTo>
                <a:lnTo>
                  <a:pt x="1219807" y="7392"/>
                </a:lnTo>
                <a:lnTo>
                  <a:pt x="1221939" y="9525"/>
                </a:lnTo>
                <a:lnTo>
                  <a:pt x="1227209" y="9525"/>
                </a:lnTo>
                <a:lnTo>
                  <a:pt x="1229342" y="7392"/>
                </a:lnTo>
                <a:lnTo>
                  <a:pt x="1229342" y="2132"/>
                </a:lnTo>
                <a:lnTo>
                  <a:pt x="1227209" y="0"/>
                </a:lnTo>
                <a:close/>
              </a:path>
              <a:path w="2030095" h="9525">
                <a:moveTo>
                  <a:pt x="1208149" y="0"/>
                </a:moveTo>
                <a:lnTo>
                  <a:pt x="1202880" y="0"/>
                </a:lnTo>
                <a:lnTo>
                  <a:pt x="1200748" y="2132"/>
                </a:lnTo>
                <a:lnTo>
                  <a:pt x="1200748" y="7392"/>
                </a:lnTo>
                <a:lnTo>
                  <a:pt x="1202880" y="9525"/>
                </a:lnTo>
                <a:lnTo>
                  <a:pt x="1208149" y="9525"/>
                </a:lnTo>
                <a:lnTo>
                  <a:pt x="1210282" y="7392"/>
                </a:lnTo>
                <a:lnTo>
                  <a:pt x="1210282" y="2132"/>
                </a:lnTo>
                <a:lnTo>
                  <a:pt x="1208149" y="0"/>
                </a:lnTo>
                <a:close/>
              </a:path>
              <a:path w="2030095" h="9525">
                <a:moveTo>
                  <a:pt x="1189090" y="0"/>
                </a:moveTo>
                <a:lnTo>
                  <a:pt x="1183820" y="0"/>
                </a:lnTo>
                <a:lnTo>
                  <a:pt x="1181688" y="2132"/>
                </a:lnTo>
                <a:lnTo>
                  <a:pt x="1181688" y="7392"/>
                </a:lnTo>
                <a:lnTo>
                  <a:pt x="1183820" y="9525"/>
                </a:lnTo>
                <a:lnTo>
                  <a:pt x="1189090" y="9525"/>
                </a:lnTo>
                <a:lnTo>
                  <a:pt x="1191223" y="7392"/>
                </a:lnTo>
                <a:lnTo>
                  <a:pt x="1191223" y="2132"/>
                </a:lnTo>
                <a:lnTo>
                  <a:pt x="1189090" y="0"/>
                </a:lnTo>
                <a:close/>
              </a:path>
              <a:path w="2030095" h="9525">
                <a:moveTo>
                  <a:pt x="1170030" y="0"/>
                </a:moveTo>
                <a:lnTo>
                  <a:pt x="1164761" y="0"/>
                </a:lnTo>
                <a:lnTo>
                  <a:pt x="1162629" y="2132"/>
                </a:lnTo>
                <a:lnTo>
                  <a:pt x="1162629" y="7392"/>
                </a:lnTo>
                <a:lnTo>
                  <a:pt x="1164761" y="9525"/>
                </a:lnTo>
                <a:lnTo>
                  <a:pt x="1170030" y="9525"/>
                </a:lnTo>
                <a:lnTo>
                  <a:pt x="1172163" y="7392"/>
                </a:lnTo>
                <a:lnTo>
                  <a:pt x="1172163" y="2132"/>
                </a:lnTo>
                <a:lnTo>
                  <a:pt x="1170030" y="0"/>
                </a:lnTo>
                <a:close/>
              </a:path>
              <a:path w="2030095" h="9525">
                <a:moveTo>
                  <a:pt x="1150971" y="0"/>
                </a:moveTo>
                <a:lnTo>
                  <a:pt x="1145701" y="0"/>
                </a:lnTo>
                <a:lnTo>
                  <a:pt x="1143568" y="2132"/>
                </a:lnTo>
                <a:lnTo>
                  <a:pt x="1143568" y="7392"/>
                </a:lnTo>
                <a:lnTo>
                  <a:pt x="1145701" y="9525"/>
                </a:lnTo>
                <a:lnTo>
                  <a:pt x="1150971" y="9525"/>
                </a:lnTo>
                <a:lnTo>
                  <a:pt x="1153104" y="7392"/>
                </a:lnTo>
                <a:lnTo>
                  <a:pt x="1153104" y="2132"/>
                </a:lnTo>
                <a:lnTo>
                  <a:pt x="1150971" y="0"/>
                </a:lnTo>
                <a:close/>
              </a:path>
              <a:path w="2030095" h="9525">
                <a:moveTo>
                  <a:pt x="1131911" y="0"/>
                </a:moveTo>
                <a:lnTo>
                  <a:pt x="1126642" y="0"/>
                </a:lnTo>
                <a:lnTo>
                  <a:pt x="1124510" y="2132"/>
                </a:lnTo>
                <a:lnTo>
                  <a:pt x="1124510" y="7392"/>
                </a:lnTo>
                <a:lnTo>
                  <a:pt x="1126642" y="9525"/>
                </a:lnTo>
                <a:lnTo>
                  <a:pt x="1131911" y="9525"/>
                </a:lnTo>
                <a:lnTo>
                  <a:pt x="1134043" y="7392"/>
                </a:lnTo>
                <a:lnTo>
                  <a:pt x="1134043" y="2132"/>
                </a:lnTo>
                <a:lnTo>
                  <a:pt x="1131911" y="0"/>
                </a:lnTo>
                <a:close/>
              </a:path>
              <a:path w="2030095" h="9525">
                <a:moveTo>
                  <a:pt x="1112852" y="0"/>
                </a:moveTo>
                <a:lnTo>
                  <a:pt x="1107582" y="0"/>
                </a:lnTo>
                <a:lnTo>
                  <a:pt x="1105449" y="2132"/>
                </a:lnTo>
                <a:lnTo>
                  <a:pt x="1105449" y="7392"/>
                </a:lnTo>
                <a:lnTo>
                  <a:pt x="1107582" y="9525"/>
                </a:lnTo>
                <a:lnTo>
                  <a:pt x="1112852" y="9525"/>
                </a:lnTo>
                <a:lnTo>
                  <a:pt x="1114985" y="7392"/>
                </a:lnTo>
                <a:lnTo>
                  <a:pt x="1114985" y="2132"/>
                </a:lnTo>
                <a:lnTo>
                  <a:pt x="1112852" y="0"/>
                </a:lnTo>
                <a:close/>
              </a:path>
              <a:path w="2030095" h="9525">
                <a:moveTo>
                  <a:pt x="1093792" y="0"/>
                </a:moveTo>
                <a:lnTo>
                  <a:pt x="1088523" y="0"/>
                </a:lnTo>
                <a:lnTo>
                  <a:pt x="1086391" y="2132"/>
                </a:lnTo>
                <a:lnTo>
                  <a:pt x="1086391" y="7392"/>
                </a:lnTo>
                <a:lnTo>
                  <a:pt x="1088523" y="9525"/>
                </a:lnTo>
                <a:lnTo>
                  <a:pt x="1093792" y="9525"/>
                </a:lnTo>
                <a:lnTo>
                  <a:pt x="1095924" y="7392"/>
                </a:lnTo>
                <a:lnTo>
                  <a:pt x="1095924" y="2132"/>
                </a:lnTo>
                <a:lnTo>
                  <a:pt x="1093792" y="0"/>
                </a:lnTo>
                <a:close/>
              </a:path>
              <a:path w="2030095" h="9525">
                <a:moveTo>
                  <a:pt x="1074733" y="0"/>
                </a:moveTo>
                <a:lnTo>
                  <a:pt x="1069463" y="0"/>
                </a:lnTo>
                <a:lnTo>
                  <a:pt x="1067330" y="2132"/>
                </a:lnTo>
                <a:lnTo>
                  <a:pt x="1067330" y="7392"/>
                </a:lnTo>
                <a:lnTo>
                  <a:pt x="1069463" y="9525"/>
                </a:lnTo>
                <a:lnTo>
                  <a:pt x="1074733" y="9525"/>
                </a:lnTo>
                <a:lnTo>
                  <a:pt x="1076866" y="7392"/>
                </a:lnTo>
                <a:lnTo>
                  <a:pt x="1076866" y="2132"/>
                </a:lnTo>
                <a:lnTo>
                  <a:pt x="1074733" y="0"/>
                </a:lnTo>
                <a:close/>
              </a:path>
              <a:path w="2030095" h="9525">
                <a:moveTo>
                  <a:pt x="1055674" y="0"/>
                </a:moveTo>
                <a:lnTo>
                  <a:pt x="1050404" y="0"/>
                </a:lnTo>
                <a:lnTo>
                  <a:pt x="1048271" y="2132"/>
                </a:lnTo>
                <a:lnTo>
                  <a:pt x="1048271" y="7392"/>
                </a:lnTo>
                <a:lnTo>
                  <a:pt x="1050404" y="9525"/>
                </a:lnTo>
                <a:lnTo>
                  <a:pt x="1055674" y="9525"/>
                </a:lnTo>
                <a:lnTo>
                  <a:pt x="1057805" y="7392"/>
                </a:lnTo>
                <a:lnTo>
                  <a:pt x="1057805" y="2132"/>
                </a:lnTo>
                <a:lnTo>
                  <a:pt x="1055674" y="0"/>
                </a:lnTo>
                <a:close/>
              </a:path>
              <a:path w="2030095" h="9525">
                <a:moveTo>
                  <a:pt x="1036614" y="0"/>
                </a:moveTo>
                <a:lnTo>
                  <a:pt x="1031344" y="0"/>
                </a:lnTo>
                <a:lnTo>
                  <a:pt x="1029211" y="2132"/>
                </a:lnTo>
                <a:lnTo>
                  <a:pt x="1029211" y="7392"/>
                </a:lnTo>
                <a:lnTo>
                  <a:pt x="1031344" y="9525"/>
                </a:lnTo>
                <a:lnTo>
                  <a:pt x="1036614" y="9525"/>
                </a:lnTo>
                <a:lnTo>
                  <a:pt x="1038746" y="7392"/>
                </a:lnTo>
                <a:lnTo>
                  <a:pt x="1038746" y="2132"/>
                </a:lnTo>
                <a:lnTo>
                  <a:pt x="1036614" y="0"/>
                </a:lnTo>
                <a:close/>
              </a:path>
              <a:path w="2030095" h="9525">
                <a:moveTo>
                  <a:pt x="1017555" y="0"/>
                </a:moveTo>
                <a:lnTo>
                  <a:pt x="1012285" y="0"/>
                </a:lnTo>
                <a:lnTo>
                  <a:pt x="1010152" y="2132"/>
                </a:lnTo>
                <a:lnTo>
                  <a:pt x="1010152" y="7392"/>
                </a:lnTo>
                <a:lnTo>
                  <a:pt x="1012285" y="9525"/>
                </a:lnTo>
                <a:lnTo>
                  <a:pt x="1017555" y="9525"/>
                </a:lnTo>
                <a:lnTo>
                  <a:pt x="1019686" y="7392"/>
                </a:lnTo>
                <a:lnTo>
                  <a:pt x="1019686" y="2132"/>
                </a:lnTo>
                <a:lnTo>
                  <a:pt x="1017555" y="0"/>
                </a:lnTo>
                <a:close/>
              </a:path>
              <a:path w="2030095" h="9525">
                <a:moveTo>
                  <a:pt x="998495" y="0"/>
                </a:moveTo>
                <a:lnTo>
                  <a:pt x="993225" y="0"/>
                </a:lnTo>
                <a:lnTo>
                  <a:pt x="991094" y="2132"/>
                </a:lnTo>
                <a:lnTo>
                  <a:pt x="991094" y="7392"/>
                </a:lnTo>
                <a:lnTo>
                  <a:pt x="993225" y="9525"/>
                </a:lnTo>
                <a:lnTo>
                  <a:pt x="998495" y="9525"/>
                </a:lnTo>
                <a:lnTo>
                  <a:pt x="1000627" y="7392"/>
                </a:lnTo>
                <a:lnTo>
                  <a:pt x="1000627" y="2132"/>
                </a:lnTo>
                <a:lnTo>
                  <a:pt x="998495" y="0"/>
                </a:lnTo>
                <a:close/>
              </a:path>
              <a:path w="2030095" h="9525">
                <a:moveTo>
                  <a:pt x="979436" y="0"/>
                </a:moveTo>
                <a:lnTo>
                  <a:pt x="974166" y="0"/>
                </a:lnTo>
                <a:lnTo>
                  <a:pt x="972033" y="2132"/>
                </a:lnTo>
                <a:lnTo>
                  <a:pt x="972033" y="7392"/>
                </a:lnTo>
                <a:lnTo>
                  <a:pt x="974166" y="9525"/>
                </a:lnTo>
                <a:lnTo>
                  <a:pt x="979436" y="9525"/>
                </a:lnTo>
                <a:lnTo>
                  <a:pt x="981569" y="7392"/>
                </a:lnTo>
                <a:lnTo>
                  <a:pt x="981569" y="2132"/>
                </a:lnTo>
                <a:lnTo>
                  <a:pt x="979436" y="0"/>
                </a:lnTo>
                <a:close/>
              </a:path>
              <a:path w="2030095" h="9525">
                <a:moveTo>
                  <a:pt x="960376" y="0"/>
                </a:moveTo>
                <a:lnTo>
                  <a:pt x="955107" y="0"/>
                </a:lnTo>
                <a:lnTo>
                  <a:pt x="952974" y="2132"/>
                </a:lnTo>
                <a:lnTo>
                  <a:pt x="952974" y="7392"/>
                </a:lnTo>
                <a:lnTo>
                  <a:pt x="955107" y="9525"/>
                </a:lnTo>
                <a:lnTo>
                  <a:pt x="960376" y="9525"/>
                </a:lnTo>
                <a:lnTo>
                  <a:pt x="962508" y="7392"/>
                </a:lnTo>
                <a:lnTo>
                  <a:pt x="962508" y="2132"/>
                </a:lnTo>
                <a:lnTo>
                  <a:pt x="960376" y="0"/>
                </a:lnTo>
                <a:close/>
              </a:path>
              <a:path w="2030095" h="9525">
                <a:moveTo>
                  <a:pt x="941317" y="0"/>
                </a:moveTo>
                <a:lnTo>
                  <a:pt x="936047" y="0"/>
                </a:lnTo>
                <a:lnTo>
                  <a:pt x="933914" y="2132"/>
                </a:lnTo>
                <a:lnTo>
                  <a:pt x="933914" y="7392"/>
                </a:lnTo>
                <a:lnTo>
                  <a:pt x="936047" y="9525"/>
                </a:lnTo>
                <a:lnTo>
                  <a:pt x="941317" y="9525"/>
                </a:lnTo>
                <a:lnTo>
                  <a:pt x="943449" y="7392"/>
                </a:lnTo>
                <a:lnTo>
                  <a:pt x="943449" y="2132"/>
                </a:lnTo>
                <a:lnTo>
                  <a:pt x="941317" y="0"/>
                </a:lnTo>
                <a:close/>
              </a:path>
              <a:path w="2030095" h="9525">
                <a:moveTo>
                  <a:pt x="922257" y="0"/>
                </a:moveTo>
                <a:lnTo>
                  <a:pt x="916988" y="0"/>
                </a:lnTo>
                <a:lnTo>
                  <a:pt x="914855" y="2132"/>
                </a:lnTo>
                <a:lnTo>
                  <a:pt x="914855" y="7392"/>
                </a:lnTo>
                <a:lnTo>
                  <a:pt x="916988" y="9525"/>
                </a:lnTo>
                <a:lnTo>
                  <a:pt x="922257" y="9525"/>
                </a:lnTo>
                <a:lnTo>
                  <a:pt x="924389" y="7392"/>
                </a:lnTo>
                <a:lnTo>
                  <a:pt x="924389" y="2132"/>
                </a:lnTo>
                <a:lnTo>
                  <a:pt x="922257" y="0"/>
                </a:lnTo>
                <a:close/>
              </a:path>
              <a:path w="2030095" h="9525">
                <a:moveTo>
                  <a:pt x="903198" y="0"/>
                </a:moveTo>
                <a:lnTo>
                  <a:pt x="897928" y="0"/>
                </a:lnTo>
                <a:lnTo>
                  <a:pt x="895795" y="2132"/>
                </a:lnTo>
                <a:lnTo>
                  <a:pt x="895795" y="7392"/>
                </a:lnTo>
                <a:lnTo>
                  <a:pt x="897928" y="9525"/>
                </a:lnTo>
                <a:lnTo>
                  <a:pt x="903198" y="9525"/>
                </a:lnTo>
                <a:lnTo>
                  <a:pt x="905330" y="7392"/>
                </a:lnTo>
                <a:lnTo>
                  <a:pt x="905330" y="2132"/>
                </a:lnTo>
                <a:lnTo>
                  <a:pt x="903198" y="0"/>
                </a:lnTo>
                <a:close/>
              </a:path>
              <a:path w="2030095" h="9525">
                <a:moveTo>
                  <a:pt x="884138" y="0"/>
                </a:moveTo>
                <a:lnTo>
                  <a:pt x="878869" y="0"/>
                </a:lnTo>
                <a:lnTo>
                  <a:pt x="876736" y="2132"/>
                </a:lnTo>
                <a:lnTo>
                  <a:pt x="876736" y="7392"/>
                </a:lnTo>
                <a:lnTo>
                  <a:pt x="878869" y="9525"/>
                </a:lnTo>
                <a:lnTo>
                  <a:pt x="884138" y="9525"/>
                </a:lnTo>
                <a:lnTo>
                  <a:pt x="886270" y="7392"/>
                </a:lnTo>
                <a:lnTo>
                  <a:pt x="886270" y="2132"/>
                </a:lnTo>
                <a:lnTo>
                  <a:pt x="884138" y="0"/>
                </a:lnTo>
                <a:close/>
              </a:path>
              <a:path w="2030095" h="9525">
                <a:moveTo>
                  <a:pt x="865079" y="0"/>
                </a:moveTo>
                <a:lnTo>
                  <a:pt x="859809" y="0"/>
                </a:lnTo>
                <a:lnTo>
                  <a:pt x="857676" y="2132"/>
                </a:lnTo>
                <a:lnTo>
                  <a:pt x="857676" y="7392"/>
                </a:lnTo>
                <a:lnTo>
                  <a:pt x="859809" y="9525"/>
                </a:lnTo>
                <a:lnTo>
                  <a:pt x="865079" y="9525"/>
                </a:lnTo>
                <a:lnTo>
                  <a:pt x="867211" y="7392"/>
                </a:lnTo>
                <a:lnTo>
                  <a:pt x="867211" y="2132"/>
                </a:lnTo>
                <a:lnTo>
                  <a:pt x="865079" y="0"/>
                </a:lnTo>
                <a:close/>
              </a:path>
              <a:path w="2030095" h="9525">
                <a:moveTo>
                  <a:pt x="846019" y="0"/>
                </a:moveTo>
                <a:lnTo>
                  <a:pt x="840750" y="0"/>
                </a:lnTo>
                <a:lnTo>
                  <a:pt x="838617" y="2132"/>
                </a:lnTo>
                <a:lnTo>
                  <a:pt x="838617" y="7392"/>
                </a:lnTo>
                <a:lnTo>
                  <a:pt x="840750" y="9525"/>
                </a:lnTo>
                <a:lnTo>
                  <a:pt x="846019" y="9525"/>
                </a:lnTo>
                <a:lnTo>
                  <a:pt x="848151" y="7392"/>
                </a:lnTo>
                <a:lnTo>
                  <a:pt x="848151" y="2132"/>
                </a:lnTo>
                <a:lnTo>
                  <a:pt x="846019" y="0"/>
                </a:lnTo>
                <a:close/>
              </a:path>
              <a:path w="2030095" h="9525">
                <a:moveTo>
                  <a:pt x="826960" y="0"/>
                </a:moveTo>
                <a:lnTo>
                  <a:pt x="821690" y="0"/>
                </a:lnTo>
                <a:lnTo>
                  <a:pt x="819557" y="2132"/>
                </a:lnTo>
                <a:lnTo>
                  <a:pt x="819557" y="7392"/>
                </a:lnTo>
                <a:lnTo>
                  <a:pt x="821690" y="9525"/>
                </a:lnTo>
                <a:lnTo>
                  <a:pt x="826960" y="9525"/>
                </a:lnTo>
                <a:lnTo>
                  <a:pt x="829092" y="7392"/>
                </a:lnTo>
                <a:lnTo>
                  <a:pt x="829092" y="2132"/>
                </a:lnTo>
                <a:lnTo>
                  <a:pt x="826960" y="0"/>
                </a:lnTo>
                <a:close/>
              </a:path>
              <a:path w="2030095" h="9525">
                <a:moveTo>
                  <a:pt x="807900" y="0"/>
                </a:moveTo>
                <a:lnTo>
                  <a:pt x="802631" y="0"/>
                </a:lnTo>
                <a:lnTo>
                  <a:pt x="800498" y="2132"/>
                </a:lnTo>
                <a:lnTo>
                  <a:pt x="800498" y="7392"/>
                </a:lnTo>
                <a:lnTo>
                  <a:pt x="802631" y="9525"/>
                </a:lnTo>
                <a:lnTo>
                  <a:pt x="807900" y="9525"/>
                </a:lnTo>
                <a:lnTo>
                  <a:pt x="810032" y="7392"/>
                </a:lnTo>
                <a:lnTo>
                  <a:pt x="810032" y="2132"/>
                </a:lnTo>
                <a:lnTo>
                  <a:pt x="807900" y="0"/>
                </a:lnTo>
                <a:close/>
              </a:path>
              <a:path w="2030095" h="9525">
                <a:moveTo>
                  <a:pt x="788841" y="0"/>
                </a:moveTo>
                <a:lnTo>
                  <a:pt x="783570" y="0"/>
                </a:lnTo>
                <a:lnTo>
                  <a:pt x="781438" y="2132"/>
                </a:lnTo>
                <a:lnTo>
                  <a:pt x="781438" y="7392"/>
                </a:lnTo>
                <a:lnTo>
                  <a:pt x="783570" y="9525"/>
                </a:lnTo>
                <a:lnTo>
                  <a:pt x="788841" y="9525"/>
                </a:lnTo>
                <a:lnTo>
                  <a:pt x="790973" y="7392"/>
                </a:lnTo>
                <a:lnTo>
                  <a:pt x="790973" y="2132"/>
                </a:lnTo>
                <a:lnTo>
                  <a:pt x="788841" y="0"/>
                </a:lnTo>
                <a:close/>
              </a:path>
              <a:path w="2030095" h="9525">
                <a:moveTo>
                  <a:pt x="769781" y="0"/>
                </a:moveTo>
                <a:lnTo>
                  <a:pt x="764512" y="0"/>
                </a:lnTo>
                <a:lnTo>
                  <a:pt x="762379" y="2132"/>
                </a:lnTo>
                <a:lnTo>
                  <a:pt x="762379" y="7392"/>
                </a:lnTo>
                <a:lnTo>
                  <a:pt x="764512" y="9525"/>
                </a:lnTo>
                <a:lnTo>
                  <a:pt x="769781" y="9525"/>
                </a:lnTo>
                <a:lnTo>
                  <a:pt x="771913" y="7392"/>
                </a:lnTo>
                <a:lnTo>
                  <a:pt x="771913" y="2132"/>
                </a:lnTo>
                <a:lnTo>
                  <a:pt x="769781" y="0"/>
                </a:lnTo>
                <a:close/>
              </a:path>
              <a:path w="2030095" h="9525">
                <a:moveTo>
                  <a:pt x="750722" y="0"/>
                </a:moveTo>
                <a:lnTo>
                  <a:pt x="745451" y="0"/>
                </a:lnTo>
                <a:lnTo>
                  <a:pt x="743319" y="2132"/>
                </a:lnTo>
                <a:lnTo>
                  <a:pt x="743319" y="7392"/>
                </a:lnTo>
                <a:lnTo>
                  <a:pt x="745451" y="9525"/>
                </a:lnTo>
                <a:lnTo>
                  <a:pt x="750722" y="9525"/>
                </a:lnTo>
                <a:lnTo>
                  <a:pt x="752854" y="7392"/>
                </a:lnTo>
                <a:lnTo>
                  <a:pt x="752854" y="2132"/>
                </a:lnTo>
                <a:lnTo>
                  <a:pt x="750722" y="0"/>
                </a:lnTo>
                <a:close/>
              </a:path>
              <a:path w="2030095" h="9525">
                <a:moveTo>
                  <a:pt x="731662" y="0"/>
                </a:moveTo>
                <a:lnTo>
                  <a:pt x="726393" y="0"/>
                </a:lnTo>
                <a:lnTo>
                  <a:pt x="724260" y="2132"/>
                </a:lnTo>
                <a:lnTo>
                  <a:pt x="724260" y="7392"/>
                </a:lnTo>
                <a:lnTo>
                  <a:pt x="726393" y="9525"/>
                </a:lnTo>
                <a:lnTo>
                  <a:pt x="731662" y="9525"/>
                </a:lnTo>
                <a:lnTo>
                  <a:pt x="733794" y="7392"/>
                </a:lnTo>
                <a:lnTo>
                  <a:pt x="733794" y="2132"/>
                </a:lnTo>
                <a:lnTo>
                  <a:pt x="731662" y="0"/>
                </a:lnTo>
                <a:close/>
              </a:path>
              <a:path w="2030095" h="9525">
                <a:moveTo>
                  <a:pt x="712603" y="0"/>
                </a:moveTo>
                <a:lnTo>
                  <a:pt x="707332" y="0"/>
                </a:lnTo>
                <a:lnTo>
                  <a:pt x="705200" y="2132"/>
                </a:lnTo>
                <a:lnTo>
                  <a:pt x="705200" y="7392"/>
                </a:lnTo>
                <a:lnTo>
                  <a:pt x="707332" y="9525"/>
                </a:lnTo>
                <a:lnTo>
                  <a:pt x="712603" y="9525"/>
                </a:lnTo>
                <a:lnTo>
                  <a:pt x="714735" y="7392"/>
                </a:lnTo>
                <a:lnTo>
                  <a:pt x="714735" y="2132"/>
                </a:lnTo>
                <a:lnTo>
                  <a:pt x="712603" y="0"/>
                </a:lnTo>
                <a:close/>
              </a:path>
              <a:path w="2030095" h="9525">
                <a:moveTo>
                  <a:pt x="693543" y="0"/>
                </a:moveTo>
                <a:lnTo>
                  <a:pt x="688273" y="0"/>
                </a:lnTo>
                <a:lnTo>
                  <a:pt x="686141" y="2132"/>
                </a:lnTo>
                <a:lnTo>
                  <a:pt x="686141" y="7392"/>
                </a:lnTo>
                <a:lnTo>
                  <a:pt x="688273" y="9525"/>
                </a:lnTo>
                <a:lnTo>
                  <a:pt x="693543" y="9525"/>
                </a:lnTo>
                <a:lnTo>
                  <a:pt x="695675" y="7392"/>
                </a:lnTo>
                <a:lnTo>
                  <a:pt x="695675" y="2132"/>
                </a:lnTo>
                <a:lnTo>
                  <a:pt x="693543" y="0"/>
                </a:lnTo>
                <a:close/>
              </a:path>
              <a:path w="2030095" h="9525">
                <a:moveTo>
                  <a:pt x="674484" y="0"/>
                </a:moveTo>
                <a:lnTo>
                  <a:pt x="669213" y="0"/>
                </a:lnTo>
                <a:lnTo>
                  <a:pt x="667081" y="2132"/>
                </a:lnTo>
                <a:lnTo>
                  <a:pt x="667081" y="7392"/>
                </a:lnTo>
                <a:lnTo>
                  <a:pt x="669213" y="9525"/>
                </a:lnTo>
                <a:lnTo>
                  <a:pt x="674484" y="9525"/>
                </a:lnTo>
                <a:lnTo>
                  <a:pt x="676616" y="7392"/>
                </a:lnTo>
                <a:lnTo>
                  <a:pt x="676616" y="2132"/>
                </a:lnTo>
                <a:lnTo>
                  <a:pt x="674484" y="0"/>
                </a:lnTo>
                <a:close/>
              </a:path>
              <a:path w="2030095" h="9525">
                <a:moveTo>
                  <a:pt x="655424" y="0"/>
                </a:moveTo>
                <a:lnTo>
                  <a:pt x="650154" y="0"/>
                </a:lnTo>
                <a:lnTo>
                  <a:pt x="648022" y="2132"/>
                </a:lnTo>
                <a:lnTo>
                  <a:pt x="648022" y="7392"/>
                </a:lnTo>
                <a:lnTo>
                  <a:pt x="650154" y="9525"/>
                </a:lnTo>
                <a:lnTo>
                  <a:pt x="655424" y="9525"/>
                </a:lnTo>
                <a:lnTo>
                  <a:pt x="657556" y="7392"/>
                </a:lnTo>
                <a:lnTo>
                  <a:pt x="657556" y="2132"/>
                </a:lnTo>
                <a:lnTo>
                  <a:pt x="655424" y="0"/>
                </a:lnTo>
                <a:close/>
              </a:path>
              <a:path w="2030095" h="9525">
                <a:moveTo>
                  <a:pt x="636365" y="0"/>
                </a:moveTo>
                <a:lnTo>
                  <a:pt x="631094" y="0"/>
                </a:lnTo>
                <a:lnTo>
                  <a:pt x="628962" y="2132"/>
                </a:lnTo>
                <a:lnTo>
                  <a:pt x="628962" y="7392"/>
                </a:lnTo>
                <a:lnTo>
                  <a:pt x="631094" y="9525"/>
                </a:lnTo>
                <a:lnTo>
                  <a:pt x="636365" y="9525"/>
                </a:lnTo>
                <a:lnTo>
                  <a:pt x="638497" y="7392"/>
                </a:lnTo>
                <a:lnTo>
                  <a:pt x="638497" y="2132"/>
                </a:lnTo>
                <a:lnTo>
                  <a:pt x="636365" y="0"/>
                </a:lnTo>
                <a:close/>
              </a:path>
              <a:path w="2030095" h="9525">
                <a:moveTo>
                  <a:pt x="617306" y="0"/>
                </a:moveTo>
                <a:lnTo>
                  <a:pt x="612035" y="0"/>
                </a:lnTo>
                <a:lnTo>
                  <a:pt x="609903" y="2132"/>
                </a:lnTo>
                <a:lnTo>
                  <a:pt x="609903" y="7392"/>
                </a:lnTo>
                <a:lnTo>
                  <a:pt x="612035" y="9525"/>
                </a:lnTo>
                <a:lnTo>
                  <a:pt x="617306" y="9525"/>
                </a:lnTo>
                <a:lnTo>
                  <a:pt x="619437" y="7392"/>
                </a:lnTo>
                <a:lnTo>
                  <a:pt x="619437" y="2132"/>
                </a:lnTo>
                <a:lnTo>
                  <a:pt x="617306" y="0"/>
                </a:lnTo>
                <a:close/>
              </a:path>
              <a:path w="2030095" h="9525">
                <a:moveTo>
                  <a:pt x="598246" y="0"/>
                </a:moveTo>
                <a:lnTo>
                  <a:pt x="592975" y="0"/>
                </a:lnTo>
                <a:lnTo>
                  <a:pt x="590843" y="2132"/>
                </a:lnTo>
                <a:lnTo>
                  <a:pt x="590843" y="7392"/>
                </a:lnTo>
                <a:lnTo>
                  <a:pt x="592975" y="9525"/>
                </a:lnTo>
                <a:lnTo>
                  <a:pt x="598246" y="9525"/>
                </a:lnTo>
                <a:lnTo>
                  <a:pt x="600378" y="7392"/>
                </a:lnTo>
                <a:lnTo>
                  <a:pt x="600378" y="2132"/>
                </a:lnTo>
                <a:lnTo>
                  <a:pt x="598246" y="0"/>
                </a:lnTo>
                <a:close/>
              </a:path>
              <a:path w="2030095" h="9525">
                <a:moveTo>
                  <a:pt x="579187" y="0"/>
                </a:moveTo>
                <a:lnTo>
                  <a:pt x="573916" y="0"/>
                </a:lnTo>
                <a:lnTo>
                  <a:pt x="571784" y="2132"/>
                </a:lnTo>
                <a:lnTo>
                  <a:pt x="571784" y="7392"/>
                </a:lnTo>
                <a:lnTo>
                  <a:pt x="573916" y="9525"/>
                </a:lnTo>
                <a:lnTo>
                  <a:pt x="579187" y="9525"/>
                </a:lnTo>
                <a:lnTo>
                  <a:pt x="581318" y="7392"/>
                </a:lnTo>
                <a:lnTo>
                  <a:pt x="581318" y="2132"/>
                </a:lnTo>
                <a:lnTo>
                  <a:pt x="579187" y="0"/>
                </a:lnTo>
                <a:close/>
              </a:path>
              <a:path w="2030095" h="9525">
                <a:moveTo>
                  <a:pt x="560127" y="0"/>
                </a:moveTo>
                <a:lnTo>
                  <a:pt x="554856" y="0"/>
                </a:lnTo>
                <a:lnTo>
                  <a:pt x="552725" y="2132"/>
                </a:lnTo>
                <a:lnTo>
                  <a:pt x="552725" y="7392"/>
                </a:lnTo>
                <a:lnTo>
                  <a:pt x="554856" y="9525"/>
                </a:lnTo>
                <a:lnTo>
                  <a:pt x="560127" y="9525"/>
                </a:lnTo>
                <a:lnTo>
                  <a:pt x="562259" y="7392"/>
                </a:lnTo>
                <a:lnTo>
                  <a:pt x="562259" y="2132"/>
                </a:lnTo>
                <a:lnTo>
                  <a:pt x="560127" y="0"/>
                </a:lnTo>
                <a:close/>
              </a:path>
              <a:path w="2030095" h="9525">
                <a:moveTo>
                  <a:pt x="541068" y="0"/>
                </a:moveTo>
                <a:lnTo>
                  <a:pt x="535797" y="0"/>
                </a:lnTo>
                <a:lnTo>
                  <a:pt x="533665" y="2132"/>
                </a:lnTo>
                <a:lnTo>
                  <a:pt x="533665" y="7392"/>
                </a:lnTo>
                <a:lnTo>
                  <a:pt x="535797" y="9525"/>
                </a:lnTo>
                <a:lnTo>
                  <a:pt x="541068" y="9525"/>
                </a:lnTo>
                <a:lnTo>
                  <a:pt x="543200" y="7392"/>
                </a:lnTo>
                <a:lnTo>
                  <a:pt x="543200" y="2132"/>
                </a:lnTo>
                <a:lnTo>
                  <a:pt x="541068" y="0"/>
                </a:lnTo>
                <a:close/>
              </a:path>
              <a:path w="2030095" h="9525">
                <a:moveTo>
                  <a:pt x="522008" y="0"/>
                </a:moveTo>
                <a:lnTo>
                  <a:pt x="516738" y="0"/>
                </a:lnTo>
                <a:lnTo>
                  <a:pt x="514606" y="2132"/>
                </a:lnTo>
                <a:lnTo>
                  <a:pt x="514606" y="7392"/>
                </a:lnTo>
                <a:lnTo>
                  <a:pt x="516738" y="9525"/>
                </a:lnTo>
                <a:lnTo>
                  <a:pt x="522008" y="9525"/>
                </a:lnTo>
                <a:lnTo>
                  <a:pt x="524140" y="7392"/>
                </a:lnTo>
                <a:lnTo>
                  <a:pt x="524140" y="2132"/>
                </a:lnTo>
                <a:lnTo>
                  <a:pt x="522008" y="0"/>
                </a:lnTo>
                <a:close/>
              </a:path>
              <a:path w="2030095" h="9525">
                <a:moveTo>
                  <a:pt x="502949" y="0"/>
                </a:moveTo>
                <a:lnTo>
                  <a:pt x="497678" y="0"/>
                </a:lnTo>
                <a:lnTo>
                  <a:pt x="495546" y="2132"/>
                </a:lnTo>
                <a:lnTo>
                  <a:pt x="495546" y="7392"/>
                </a:lnTo>
                <a:lnTo>
                  <a:pt x="497678" y="9525"/>
                </a:lnTo>
                <a:lnTo>
                  <a:pt x="502949" y="9525"/>
                </a:lnTo>
                <a:lnTo>
                  <a:pt x="505081" y="7392"/>
                </a:lnTo>
                <a:lnTo>
                  <a:pt x="505081" y="2132"/>
                </a:lnTo>
                <a:lnTo>
                  <a:pt x="502949" y="0"/>
                </a:lnTo>
                <a:close/>
              </a:path>
              <a:path w="2030095" h="9525">
                <a:moveTo>
                  <a:pt x="483889" y="0"/>
                </a:moveTo>
                <a:lnTo>
                  <a:pt x="478619" y="0"/>
                </a:lnTo>
                <a:lnTo>
                  <a:pt x="476487" y="2132"/>
                </a:lnTo>
                <a:lnTo>
                  <a:pt x="476487" y="7392"/>
                </a:lnTo>
                <a:lnTo>
                  <a:pt x="478619" y="9525"/>
                </a:lnTo>
                <a:lnTo>
                  <a:pt x="483889" y="9525"/>
                </a:lnTo>
                <a:lnTo>
                  <a:pt x="486021" y="7392"/>
                </a:lnTo>
                <a:lnTo>
                  <a:pt x="486021" y="2132"/>
                </a:lnTo>
                <a:lnTo>
                  <a:pt x="483889" y="0"/>
                </a:lnTo>
                <a:close/>
              </a:path>
              <a:path w="2030095" h="9525">
                <a:moveTo>
                  <a:pt x="464830" y="0"/>
                </a:moveTo>
                <a:lnTo>
                  <a:pt x="459559" y="0"/>
                </a:lnTo>
                <a:lnTo>
                  <a:pt x="457427" y="2132"/>
                </a:lnTo>
                <a:lnTo>
                  <a:pt x="457427" y="7392"/>
                </a:lnTo>
                <a:lnTo>
                  <a:pt x="459559" y="9525"/>
                </a:lnTo>
                <a:lnTo>
                  <a:pt x="464830" y="9525"/>
                </a:lnTo>
                <a:lnTo>
                  <a:pt x="466962" y="7392"/>
                </a:lnTo>
                <a:lnTo>
                  <a:pt x="466962" y="2132"/>
                </a:lnTo>
                <a:lnTo>
                  <a:pt x="464830" y="0"/>
                </a:lnTo>
                <a:close/>
              </a:path>
              <a:path w="2030095" h="9525">
                <a:moveTo>
                  <a:pt x="445770" y="0"/>
                </a:moveTo>
                <a:lnTo>
                  <a:pt x="440500" y="0"/>
                </a:lnTo>
                <a:lnTo>
                  <a:pt x="438368" y="2132"/>
                </a:lnTo>
                <a:lnTo>
                  <a:pt x="438368" y="7392"/>
                </a:lnTo>
                <a:lnTo>
                  <a:pt x="440500" y="9525"/>
                </a:lnTo>
                <a:lnTo>
                  <a:pt x="445770" y="9525"/>
                </a:lnTo>
                <a:lnTo>
                  <a:pt x="447902" y="7392"/>
                </a:lnTo>
                <a:lnTo>
                  <a:pt x="447902" y="2132"/>
                </a:lnTo>
                <a:lnTo>
                  <a:pt x="445770" y="0"/>
                </a:lnTo>
                <a:close/>
              </a:path>
              <a:path w="2030095" h="9525">
                <a:moveTo>
                  <a:pt x="426711" y="0"/>
                </a:moveTo>
                <a:lnTo>
                  <a:pt x="421440" y="0"/>
                </a:lnTo>
                <a:lnTo>
                  <a:pt x="419308" y="2132"/>
                </a:lnTo>
                <a:lnTo>
                  <a:pt x="419308" y="7392"/>
                </a:lnTo>
                <a:lnTo>
                  <a:pt x="421440" y="9525"/>
                </a:lnTo>
                <a:lnTo>
                  <a:pt x="426711" y="9525"/>
                </a:lnTo>
                <a:lnTo>
                  <a:pt x="428843" y="7392"/>
                </a:lnTo>
                <a:lnTo>
                  <a:pt x="428843" y="2132"/>
                </a:lnTo>
                <a:lnTo>
                  <a:pt x="426711" y="0"/>
                </a:lnTo>
                <a:close/>
              </a:path>
              <a:path w="2030095" h="9525">
                <a:moveTo>
                  <a:pt x="407650" y="0"/>
                </a:moveTo>
                <a:lnTo>
                  <a:pt x="402381" y="0"/>
                </a:lnTo>
                <a:lnTo>
                  <a:pt x="400249" y="2132"/>
                </a:lnTo>
                <a:lnTo>
                  <a:pt x="400249" y="7392"/>
                </a:lnTo>
                <a:lnTo>
                  <a:pt x="402381" y="9525"/>
                </a:lnTo>
                <a:lnTo>
                  <a:pt x="407650" y="9525"/>
                </a:lnTo>
                <a:lnTo>
                  <a:pt x="409783" y="7392"/>
                </a:lnTo>
                <a:lnTo>
                  <a:pt x="409783" y="2132"/>
                </a:lnTo>
                <a:lnTo>
                  <a:pt x="407650" y="0"/>
                </a:lnTo>
                <a:close/>
              </a:path>
              <a:path w="2030095" h="9525">
                <a:moveTo>
                  <a:pt x="388592" y="0"/>
                </a:moveTo>
                <a:lnTo>
                  <a:pt x="383321" y="0"/>
                </a:lnTo>
                <a:lnTo>
                  <a:pt x="381189" y="2132"/>
                </a:lnTo>
                <a:lnTo>
                  <a:pt x="381189" y="7392"/>
                </a:lnTo>
                <a:lnTo>
                  <a:pt x="383321" y="9525"/>
                </a:lnTo>
                <a:lnTo>
                  <a:pt x="388592" y="9525"/>
                </a:lnTo>
                <a:lnTo>
                  <a:pt x="390724" y="7392"/>
                </a:lnTo>
                <a:lnTo>
                  <a:pt x="390724" y="2132"/>
                </a:lnTo>
                <a:lnTo>
                  <a:pt x="388592" y="0"/>
                </a:lnTo>
                <a:close/>
              </a:path>
              <a:path w="2030095" h="9525">
                <a:moveTo>
                  <a:pt x="369531" y="0"/>
                </a:moveTo>
                <a:lnTo>
                  <a:pt x="364262" y="0"/>
                </a:lnTo>
                <a:lnTo>
                  <a:pt x="362130" y="2132"/>
                </a:lnTo>
                <a:lnTo>
                  <a:pt x="362130" y="7392"/>
                </a:lnTo>
                <a:lnTo>
                  <a:pt x="364262" y="9525"/>
                </a:lnTo>
                <a:lnTo>
                  <a:pt x="369531" y="9525"/>
                </a:lnTo>
                <a:lnTo>
                  <a:pt x="371664" y="7392"/>
                </a:lnTo>
                <a:lnTo>
                  <a:pt x="371664" y="2132"/>
                </a:lnTo>
                <a:lnTo>
                  <a:pt x="369531" y="0"/>
                </a:lnTo>
                <a:close/>
              </a:path>
              <a:path w="2030095" h="9525">
                <a:moveTo>
                  <a:pt x="350473" y="0"/>
                </a:moveTo>
                <a:lnTo>
                  <a:pt x="345202" y="0"/>
                </a:lnTo>
                <a:lnTo>
                  <a:pt x="343070" y="2132"/>
                </a:lnTo>
                <a:lnTo>
                  <a:pt x="343070" y="7392"/>
                </a:lnTo>
                <a:lnTo>
                  <a:pt x="345202" y="9525"/>
                </a:lnTo>
                <a:lnTo>
                  <a:pt x="350473" y="9525"/>
                </a:lnTo>
                <a:lnTo>
                  <a:pt x="352605" y="7392"/>
                </a:lnTo>
                <a:lnTo>
                  <a:pt x="352605" y="2132"/>
                </a:lnTo>
                <a:lnTo>
                  <a:pt x="350473" y="0"/>
                </a:lnTo>
                <a:close/>
              </a:path>
              <a:path w="2030095" h="9525">
                <a:moveTo>
                  <a:pt x="331412" y="0"/>
                </a:moveTo>
                <a:lnTo>
                  <a:pt x="326143" y="0"/>
                </a:lnTo>
                <a:lnTo>
                  <a:pt x="324011" y="2132"/>
                </a:lnTo>
                <a:lnTo>
                  <a:pt x="324011" y="7392"/>
                </a:lnTo>
                <a:lnTo>
                  <a:pt x="326143" y="9525"/>
                </a:lnTo>
                <a:lnTo>
                  <a:pt x="331412" y="9525"/>
                </a:lnTo>
                <a:lnTo>
                  <a:pt x="333545" y="7392"/>
                </a:lnTo>
                <a:lnTo>
                  <a:pt x="333545" y="2132"/>
                </a:lnTo>
                <a:lnTo>
                  <a:pt x="331412" y="0"/>
                </a:lnTo>
                <a:close/>
              </a:path>
              <a:path w="2030095" h="9525">
                <a:moveTo>
                  <a:pt x="312353" y="0"/>
                </a:moveTo>
                <a:lnTo>
                  <a:pt x="307083" y="0"/>
                </a:lnTo>
                <a:lnTo>
                  <a:pt x="304951" y="2132"/>
                </a:lnTo>
                <a:lnTo>
                  <a:pt x="304951" y="7392"/>
                </a:lnTo>
                <a:lnTo>
                  <a:pt x="307083" y="9525"/>
                </a:lnTo>
                <a:lnTo>
                  <a:pt x="312353" y="9525"/>
                </a:lnTo>
                <a:lnTo>
                  <a:pt x="314486" y="7392"/>
                </a:lnTo>
                <a:lnTo>
                  <a:pt x="314486" y="2132"/>
                </a:lnTo>
                <a:lnTo>
                  <a:pt x="312353" y="0"/>
                </a:lnTo>
                <a:close/>
              </a:path>
              <a:path w="2030095" h="9525">
                <a:moveTo>
                  <a:pt x="293293" y="0"/>
                </a:moveTo>
                <a:lnTo>
                  <a:pt x="288024" y="0"/>
                </a:lnTo>
                <a:lnTo>
                  <a:pt x="285892" y="2132"/>
                </a:lnTo>
                <a:lnTo>
                  <a:pt x="285892" y="7392"/>
                </a:lnTo>
                <a:lnTo>
                  <a:pt x="288024" y="9525"/>
                </a:lnTo>
                <a:lnTo>
                  <a:pt x="293293" y="9525"/>
                </a:lnTo>
                <a:lnTo>
                  <a:pt x="295426" y="7392"/>
                </a:lnTo>
                <a:lnTo>
                  <a:pt x="295426" y="2132"/>
                </a:lnTo>
                <a:lnTo>
                  <a:pt x="293293" y="0"/>
                </a:lnTo>
                <a:close/>
              </a:path>
              <a:path w="2030095" h="9525">
                <a:moveTo>
                  <a:pt x="274234" y="0"/>
                </a:moveTo>
                <a:lnTo>
                  <a:pt x="268964" y="0"/>
                </a:lnTo>
                <a:lnTo>
                  <a:pt x="266832" y="2132"/>
                </a:lnTo>
                <a:lnTo>
                  <a:pt x="266832" y="7392"/>
                </a:lnTo>
                <a:lnTo>
                  <a:pt x="268964" y="9525"/>
                </a:lnTo>
                <a:lnTo>
                  <a:pt x="274234" y="9525"/>
                </a:lnTo>
                <a:lnTo>
                  <a:pt x="276367" y="7392"/>
                </a:lnTo>
                <a:lnTo>
                  <a:pt x="276367" y="2132"/>
                </a:lnTo>
                <a:lnTo>
                  <a:pt x="274234" y="0"/>
                </a:lnTo>
                <a:close/>
              </a:path>
              <a:path w="2030095" h="9525">
                <a:moveTo>
                  <a:pt x="255174" y="0"/>
                </a:moveTo>
                <a:lnTo>
                  <a:pt x="249905" y="0"/>
                </a:lnTo>
                <a:lnTo>
                  <a:pt x="247773" y="2132"/>
                </a:lnTo>
                <a:lnTo>
                  <a:pt x="247773" y="7392"/>
                </a:lnTo>
                <a:lnTo>
                  <a:pt x="249905" y="9525"/>
                </a:lnTo>
                <a:lnTo>
                  <a:pt x="255174" y="9525"/>
                </a:lnTo>
                <a:lnTo>
                  <a:pt x="257307" y="7392"/>
                </a:lnTo>
                <a:lnTo>
                  <a:pt x="257307" y="2132"/>
                </a:lnTo>
                <a:lnTo>
                  <a:pt x="255174" y="0"/>
                </a:lnTo>
                <a:close/>
              </a:path>
              <a:path w="2030095" h="9525">
                <a:moveTo>
                  <a:pt x="236115" y="0"/>
                </a:moveTo>
                <a:lnTo>
                  <a:pt x="230845" y="0"/>
                </a:lnTo>
                <a:lnTo>
                  <a:pt x="228713" y="2132"/>
                </a:lnTo>
                <a:lnTo>
                  <a:pt x="228713" y="7392"/>
                </a:lnTo>
                <a:lnTo>
                  <a:pt x="230845" y="9525"/>
                </a:lnTo>
                <a:lnTo>
                  <a:pt x="236115" y="9525"/>
                </a:lnTo>
                <a:lnTo>
                  <a:pt x="238248" y="7392"/>
                </a:lnTo>
                <a:lnTo>
                  <a:pt x="238248" y="2132"/>
                </a:lnTo>
                <a:lnTo>
                  <a:pt x="236115" y="0"/>
                </a:lnTo>
                <a:close/>
              </a:path>
              <a:path w="2030095" h="9525">
                <a:moveTo>
                  <a:pt x="217055" y="0"/>
                </a:moveTo>
                <a:lnTo>
                  <a:pt x="211786" y="0"/>
                </a:lnTo>
                <a:lnTo>
                  <a:pt x="209654" y="2132"/>
                </a:lnTo>
                <a:lnTo>
                  <a:pt x="209654" y="7392"/>
                </a:lnTo>
                <a:lnTo>
                  <a:pt x="211786" y="9525"/>
                </a:lnTo>
                <a:lnTo>
                  <a:pt x="217055" y="9525"/>
                </a:lnTo>
                <a:lnTo>
                  <a:pt x="219188" y="7392"/>
                </a:lnTo>
                <a:lnTo>
                  <a:pt x="219188" y="2132"/>
                </a:lnTo>
                <a:lnTo>
                  <a:pt x="217055" y="0"/>
                </a:lnTo>
                <a:close/>
              </a:path>
              <a:path w="2030095" h="9525">
                <a:moveTo>
                  <a:pt x="197996" y="0"/>
                </a:moveTo>
                <a:lnTo>
                  <a:pt x="192726" y="0"/>
                </a:lnTo>
                <a:lnTo>
                  <a:pt x="190593" y="2132"/>
                </a:lnTo>
                <a:lnTo>
                  <a:pt x="190593" y="7392"/>
                </a:lnTo>
                <a:lnTo>
                  <a:pt x="192726" y="9525"/>
                </a:lnTo>
                <a:lnTo>
                  <a:pt x="197996" y="9525"/>
                </a:lnTo>
                <a:lnTo>
                  <a:pt x="200129" y="7392"/>
                </a:lnTo>
                <a:lnTo>
                  <a:pt x="200129" y="2132"/>
                </a:lnTo>
                <a:lnTo>
                  <a:pt x="197996" y="0"/>
                </a:lnTo>
                <a:close/>
              </a:path>
              <a:path w="2030095" h="9525">
                <a:moveTo>
                  <a:pt x="178936" y="0"/>
                </a:moveTo>
                <a:lnTo>
                  <a:pt x="173667" y="0"/>
                </a:lnTo>
                <a:lnTo>
                  <a:pt x="171535" y="2132"/>
                </a:lnTo>
                <a:lnTo>
                  <a:pt x="171535" y="7392"/>
                </a:lnTo>
                <a:lnTo>
                  <a:pt x="173667" y="9525"/>
                </a:lnTo>
                <a:lnTo>
                  <a:pt x="178936" y="9525"/>
                </a:lnTo>
                <a:lnTo>
                  <a:pt x="181068" y="7392"/>
                </a:lnTo>
                <a:lnTo>
                  <a:pt x="181068" y="2132"/>
                </a:lnTo>
                <a:lnTo>
                  <a:pt x="178936" y="0"/>
                </a:lnTo>
                <a:close/>
              </a:path>
              <a:path w="2030095" h="9525">
                <a:moveTo>
                  <a:pt x="159877" y="0"/>
                </a:moveTo>
                <a:lnTo>
                  <a:pt x="154607" y="0"/>
                </a:lnTo>
                <a:lnTo>
                  <a:pt x="152474" y="2132"/>
                </a:lnTo>
                <a:lnTo>
                  <a:pt x="152474" y="7392"/>
                </a:lnTo>
                <a:lnTo>
                  <a:pt x="154607" y="9525"/>
                </a:lnTo>
                <a:lnTo>
                  <a:pt x="159877" y="9525"/>
                </a:lnTo>
                <a:lnTo>
                  <a:pt x="162010" y="7392"/>
                </a:lnTo>
                <a:lnTo>
                  <a:pt x="162010" y="2132"/>
                </a:lnTo>
                <a:lnTo>
                  <a:pt x="159877" y="0"/>
                </a:lnTo>
                <a:close/>
              </a:path>
              <a:path w="2030095" h="9525">
                <a:moveTo>
                  <a:pt x="140818" y="0"/>
                </a:moveTo>
                <a:lnTo>
                  <a:pt x="135548" y="0"/>
                </a:lnTo>
                <a:lnTo>
                  <a:pt x="133416" y="2132"/>
                </a:lnTo>
                <a:lnTo>
                  <a:pt x="133416" y="7392"/>
                </a:lnTo>
                <a:lnTo>
                  <a:pt x="135548" y="9525"/>
                </a:lnTo>
                <a:lnTo>
                  <a:pt x="140818" y="9525"/>
                </a:lnTo>
                <a:lnTo>
                  <a:pt x="142949" y="7392"/>
                </a:lnTo>
                <a:lnTo>
                  <a:pt x="142949" y="2132"/>
                </a:lnTo>
                <a:lnTo>
                  <a:pt x="140818" y="0"/>
                </a:lnTo>
                <a:close/>
              </a:path>
              <a:path w="2030095" h="9525">
                <a:moveTo>
                  <a:pt x="121758" y="0"/>
                </a:moveTo>
                <a:lnTo>
                  <a:pt x="116488" y="0"/>
                </a:lnTo>
                <a:lnTo>
                  <a:pt x="114355" y="2132"/>
                </a:lnTo>
                <a:lnTo>
                  <a:pt x="114355" y="7392"/>
                </a:lnTo>
                <a:lnTo>
                  <a:pt x="116488" y="9525"/>
                </a:lnTo>
                <a:lnTo>
                  <a:pt x="121758" y="9525"/>
                </a:lnTo>
                <a:lnTo>
                  <a:pt x="123891" y="7392"/>
                </a:lnTo>
                <a:lnTo>
                  <a:pt x="123891" y="2132"/>
                </a:lnTo>
                <a:lnTo>
                  <a:pt x="121758" y="0"/>
                </a:lnTo>
                <a:close/>
              </a:path>
              <a:path w="2030095" h="9525">
                <a:moveTo>
                  <a:pt x="102699" y="0"/>
                </a:moveTo>
                <a:lnTo>
                  <a:pt x="97429" y="0"/>
                </a:lnTo>
                <a:lnTo>
                  <a:pt x="95296" y="2132"/>
                </a:lnTo>
                <a:lnTo>
                  <a:pt x="95296" y="7392"/>
                </a:lnTo>
                <a:lnTo>
                  <a:pt x="97429" y="9525"/>
                </a:lnTo>
                <a:lnTo>
                  <a:pt x="102699" y="9525"/>
                </a:lnTo>
                <a:lnTo>
                  <a:pt x="104830" y="7392"/>
                </a:lnTo>
                <a:lnTo>
                  <a:pt x="104830" y="2132"/>
                </a:lnTo>
                <a:lnTo>
                  <a:pt x="102699" y="0"/>
                </a:lnTo>
                <a:close/>
              </a:path>
              <a:path w="2030095" h="9525">
                <a:moveTo>
                  <a:pt x="83639" y="0"/>
                </a:moveTo>
                <a:lnTo>
                  <a:pt x="78369" y="0"/>
                </a:lnTo>
                <a:lnTo>
                  <a:pt x="76238" y="2132"/>
                </a:lnTo>
                <a:lnTo>
                  <a:pt x="76238" y="7392"/>
                </a:lnTo>
                <a:lnTo>
                  <a:pt x="78369" y="9525"/>
                </a:lnTo>
                <a:lnTo>
                  <a:pt x="83639" y="9525"/>
                </a:lnTo>
                <a:lnTo>
                  <a:pt x="85771" y="7392"/>
                </a:lnTo>
                <a:lnTo>
                  <a:pt x="85771" y="2132"/>
                </a:lnTo>
                <a:lnTo>
                  <a:pt x="83639" y="0"/>
                </a:lnTo>
                <a:close/>
              </a:path>
              <a:path w="2030095" h="9525">
                <a:moveTo>
                  <a:pt x="64580" y="0"/>
                </a:moveTo>
                <a:lnTo>
                  <a:pt x="59310" y="0"/>
                </a:lnTo>
                <a:lnTo>
                  <a:pt x="57177" y="2132"/>
                </a:lnTo>
                <a:lnTo>
                  <a:pt x="57177" y="7392"/>
                </a:lnTo>
                <a:lnTo>
                  <a:pt x="59310" y="9525"/>
                </a:lnTo>
                <a:lnTo>
                  <a:pt x="64580" y="9525"/>
                </a:lnTo>
                <a:lnTo>
                  <a:pt x="66713" y="7392"/>
                </a:lnTo>
                <a:lnTo>
                  <a:pt x="66713" y="2132"/>
                </a:lnTo>
                <a:lnTo>
                  <a:pt x="64580" y="0"/>
                </a:lnTo>
                <a:close/>
              </a:path>
              <a:path w="2030095" h="9525">
                <a:moveTo>
                  <a:pt x="45520" y="0"/>
                </a:moveTo>
                <a:lnTo>
                  <a:pt x="40251" y="0"/>
                </a:lnTo>
                <a:lnTo>
                  <a:pt x="38119" y="2132"/>
                </a:lnTo>
                <a:lnTo>
                  <a:pt x="38119" y="7392"/>
                </a:lnTo>
                <a:lnTo>
                  <a:pt x="40251" y="9525"/>
                </a:lnTo>
                <a:lnTo>
                  <a:pt x="45520" y="9525"/>
                </a:lnTo>
                <a:lnTo>
                  <a:pt x="47652" y="7392"/>
                </a:lnTo>
                <a:lnTo>
                  <a:pt x="47652" y="2132"/>
                </a:lnTo>
                <a:lnTo>
                  <a:pt x="45520" y="0"/>
                </a:lnTo>
                <a:close/>
              </a:path>
              <a:path w="2030095" h="9525">
                <a:moveTo>
                  <a:pt x="26461" y="0"/>
                </a:moveTo>
                <a:lnTo>
                  <a:pt x="21191" y="0"/>
                </a:lnTo>
                <a:lnTo>
                  <a:pt x="19058" y="2132"/>
                </a:lnTo>
                <a:lnTo>
                  <a:pt x="19058" y="7392"/>
                </a:lnTo>
                <a:lnTo>
                  <a:pt x="21191" y="9525"/>
                </a:lnTo>
                <a:lnTo>
                  <a:pt x="26461" y="9525"/>
                </a:lnTo>
                <a:lnTo>
                  <a:pt x="28594" y="7392"/>
                </a:lnTo>
                <a:lnTo>
                  <a:pt x="28594" y="2132"/>
                </a:lnTo>
                <a:lnTo>
                  <a:pt x="26461" y="0"/>
                </a:lnTo>
                <a:close/>
              </a:path>
              <a:path w="2030095" h="9525">
                <a:moveTo>
                  <a:pt x="7401" y="0"/>
                </a:moveTo>
                <a:lnTo>
                  <a:pt x="2132" y="0"/>
                </a:lnTo>
                <a:lnTo>
                  <a:pt x="0" y="2132"/>
                </a:lnTo>
                <a:lnTo>
                  <a:pt x="0" y="7392"/>
                </a:lnTo>
                <a:lnTo>
                  <a:pt x="2132" y="9525"/>
                </a:lnTo>
                <a:lnTo>
                  <a:pt x="7401" y="9525"/>
                </a:lnTo>
                <a:lnTo>
                  <a:pt x="9533" y="7392"/>
                </a:lnTo>
                <a:lnTo>
                  <a:pt x="9533" y="2132"/>
                </a:lnTo>
                <a:lnTo>
                  <a:pt x="7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65859" y="5918291"/>
            <a:ext cx="2066925" cy="76200"/>
          </a:xfrm>
          <a:custGeom>
            <a:avLst/>
            <a:gdLst/>
            <a:ahLst/>
            <a:cxnLst/>
            <a:rect l="l" t="t" r="r" b="b"/>
            <a:pathLst>
              <a:path w="2066925" h="76200">
                <a:moveTo>
                  <a:pt x="1990725" y="47624"/>
                </a:moveTo>
                <a:lnTo>
                  <a:pt x="1990725" y="76200"/>
                </a:lnTo>
                <a:lnTo>
                  <a:pt x="2047875" y="47625"/>
                </a:lnTo>
                <a:lnTo>
                  <a:pt x="1990725" y="47624"/>
                </a:lnTo>
                <a:close/>
              </a:path>
              <a:path w="2066925" h="76200">
                <a:moveTo>
                  <a:pt x="1990725" y="28574"/>
                </a:moveTo>
                <a:lnTo>
                  <a:pt x="1990725" y="47624"/>
                </a:lnTo>
                <a:lnTo>
                  <a:pt x="2008688" y="47624"/>
                </a:lnTo>
                <a:lnTo>
                  <a:pt x="2012952" y="43360"/>
                </a:lnTo>
                <a:lnTo>
                  <a:pt x="2012951" y="32838"/>
                </a:lnTo>
                <a:lnTo>
                  <a:pt x="2008687" y="28575"/>
                </a:lnTo>
                <a:lnTo>
                  <a:pt x="1990725" y="28574"/>
                </a:lnTo>
                <a:close/>
              </a:path>
              <a:path w="2066925" h="76200">
                <a:moveTo>
                  <a:pt x="1990725" y="0"/>
                </a:moveTo>
                <a:lnTo>
                  <a:pt x="1990725" y="28574"/>
                </a:lnTo>
                <a:lnTo>
                  <a:pt x="2003427" y="28575"/>
                </a:lnTo>
                <a:lnTo>
                  <a:pt x="2008687" y="28575"/>
                </a:lnTo>
                <a:lnTo>
                  <a:pt x="2012951" y="32838"/>
                </a:lnTo>
                <a:lnTo>
                  <a:pt x="2012952" y="43360"/>
                </a:lnTo>
                <a:lnTo>
                  <a:pt x="2008687" y="47625"/>
                </a:lnTo>
                <a:lnTo>
                  <a:pt x="2047876" y="47624"/>
                </a:lnTo>
                <a:lnTo>
                  <a:pt x="2066925" y="38100"/>
                </a:lnTo>
                <a:lnTo>
                  <a:pt x="1990725" y="0"/>
                </a:lnTo>
                <a:close/>
              </a:path>
              <a:path w="2066925" h="76200">
                <a:moveTo>
                  <a:pt x="9525" y="28574"/>
                </a:moveTo>
                <a:lnTo>
                  <a:pt x="4263" y="28575"/>
                </a:lnTo>
                <a:lnTo>
                  <a:pt x="0" y="32838"/>
                </a:lnTo>
                <a:lnTo>
                  <a:pt x="1" y="43360"/>
                </a:lnTo>
                <a:lnTo>
                  <a:pt x="4264" y="47624"/>
                </a:lnTo>
                <a:lnTo>
                  <a:pt x="1990725" y="47624"/>
                </a:lnTo>
                <a:lnTo>
                  <a:pt x="1990725" y="28574"/>
                </a:lnTo>
                <a:lnTo>
                  <a:pt x="9525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527885" y="5118191"/>
            <a:ext cx="76200" cy="1381125"/>
          </a:xfrm>
          <a:custGeom>
            <a:avLst/>
            <a:gdLst/>
            <a:ahLst/>
            <a:cxnLst/>
            <a:rect l="l" t="t" r="r" b="b"/>
            <a:pathLst>
              <a:path w="76200" h="1381125">
                <a:moveTo>
                  <a:pt x="43360" y="53973"/>
                </a:moveTo>
                <a:lnTo>
                  <a:pt x="32838" y="53973"/>
                </a:lnTo>
                <a:lnTo>
                  <a:pt x="28575" y="58238"/>
                </a:lnTo>
                <a:lnTo>
                  <a:pt x="28573" y="1376859"/>
                </a:lnTo>
                <a:lnTo>
                  <a:pt x="32838" y="1381124"/>
                </a:lnTo>
                <a:lnTo>
                  <a:pt x="43359" y="1381124"/>
                </a:lnTo>
                <a:lnTo>
                  <a:pt x="47623" y="1376859"/>
                </a:lnTo>
                <a:lnTo>
                  <a:pt x="47625" y="58238"/>
                </a:lnTo>
                <a:lnTo>
                  <a:pt x="43360" y="53973"/>
                </a:lnTo>
                <a:close/>
              </a:path>
              <a:path w="76200" h="1381125">
                <a:moveTo>
                  <a:pt x="38100" y="0"/>
                </a:moveTo>
                <a:lnTo>
                  <a:pt x="0" y="76200"/>
                </a:lnTo>
                <a:lnTo>
                  <a:pt x="28574" y="76200"/>
                </a:lnTo>
                <a:lnTo>
                  <a:pt x="28575" y="58238"/>
                </a:lnTo>
                <a:lnTo>
                  <a:pt x="32838" y="53973"/>
                </a:lnTo>
                <a:lnTo>
                  <a:pt x="65086" y="53973"/>
                </a:lnTo>
                <a:lnTo>
                  <a:pt x="38100" y="0"/>
                </a:lnTo>
                <a:close/>
              </a:path>
              <a:path w="76200" h="1381125">
                <a:moveTo>
                  <a:pt x="65086" y="53973"/>
                </a:moveTo>
                <a:lnTo>
                  <a:pt x="43360" y="53973"/>
                </a:lnTo>
                <a:lnTo>
                  <a:pt x="47625" y="58238"/>
                </a:lnTo>
                <a:lnTo>
                  <a:pt x="47624" y="76200"/>
                </a:lnTo>
                <a:lnTo>
                  <a:pt x="76200" y="76200"/>
                </a:lnTo>
                <a:lnTo>
                  <a:pt x="65086" y="53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825343" y="5956391"/>
            <a:ext cx="741045" cy="134620"/>
          </a:xfrm>
          <a:custGeom>
            <a:avLst/>
            <a:gdLst/>
            <a:ahLst/>
            <a:cxnLst/>
            <a:rect l="l" t="t" r="r" b="b"/>
            <a:pathLst>
              <a:path w="741045" h="134620">
                <a:moveTo>
                  <a:pt x="740641" y="0"/>
                </a:moveTo>
                <a:lnTo>
                  <a:pt x="0" y="134296"/>
                </a:lnTo>
              </a:path>
            </a:pathLst>
          </a:custGeom>
          <a:ln w="476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565984" y="534679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0"/>
                </a:moveTo>
                <a:lnTo>
                  <a:pt x="0" y="609600"/>
                </a:lnTo>
              </a:path>
            </a:pathLst>
          </a:custGeom>
          <a:ln w="476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 rot="10800000">
            <a:off x="8406537" y="6016145"/>
            <a:ext cx="25908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28155" y="5043932"/>
            <a:ext cx="153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88946" y="5957315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71357" y="6146291"/>
            <a:ext cx="5530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𝑦 =</a:t>
            </a:r>
            <a:r>
              <a:rPr dirty="0" sz="1400" spc="80">
                <a:latin typeface="Cambria Math"/>
                <a:cs typeface="Cambria Math"/>
              </a:rPr>
              <a:t> </a:t>
            </a:r>
            <a:r>
              <a:rPr dirty="0" sz="1400" spc="-5">
                <a:latin typeface="Cambria Math"/>
                <a:cs typeface="Cambria Math"/>
              </a:rPr>
              <a:t>𝑎𝑥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95495" y="5417820"/>
            <a:ext cx="4552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𝑦 =</a:t>
            </a:r>
            <a:r>
              <a:rPr dirty="0" sz="1400" spc="7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𝑥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22764" y="1781555"/>
            <a:ext cx="4552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𝑦 =</a:t>
            </a:r>
            <a:r>
              <a:rPr dirty="0" sz="1400" spc="7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𝑥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28155" y="3121515"/>
            <a:ext cx="714375" cy="78295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73025" marR="5080" indent="-60960">
              <a:lnSpc>
                <a:spcPct val="143000"/>
              </a:lnSpc>
              <a:spcBef>
                <a:spcPts val="365"/>
              </a:spcBef>
              <a:tabLst>
                <a:tab pos="415925" algn="l"/>
              </a:tabLst>
            </a:pPr>
            <a:r>
              <a:rPr dirty="0" baseline="1543" sz="2700">
                <a:latin typeface="Cambria Math"/>
                <a:cs typeface="Cambria Math"/>
              </a:rPr>
              <a:t>𝑦	</a:t>
            </a:r>
            <a:r>
              <a:rPr dirty="0" sz="1400">
                <a:latin typeface="Cambria Math"/>
                <a:cs typeface="Cambria Math"/>
              </a:rPr>
              <a:t>𝑦 =  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074502" y="3469876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 h="0">
                <a:moveTo>
                  <a:pt x="0" y="0"/>
                </a:moveTo>
                <a:lnTo>
                  <a:pt x="584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8066819" y="3150108"/>
            <a:ext cx="603885" cy="53149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algn="ctr" marL="11430">
              <a:lnSpc>
                <a:spcPct val="100000"/>
              </a:lnSpc>
              <a:spcBef>
                <a:spcPts val="409"/>
              </a:spcBef>
            </a:pPr>
            <a:r>
              <a:rPr dirty="0" sz="140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dirty="0" sz="1400">
                <a:latin typeface="Cambria Math"/>
                <a:cs typeface="Cambria Math"/>
              </a:rPr>
              <a:t>1 +</a:t>
            </a:r>
            <a:r>
              <a:rPr dirty="0" sz="1400" spc="-80">
                <a:latin typeface="Cambria Math"/>
                <a:cs typeface="Cambria Math"/>
              </a:rPr>
              <a:t> </a:t>
            </a:r>
            <a:r>
              <a:rPr dirty="0" sz="1400" spc="229">
                <a:latin typeface="Cambria Math"/>
                <a:cs typeface="Cambria Math"/>
              </a:rPr>
              <a:t>𝑒</a:t>
            </a:r>
            <a:r>
              <a:rPr dirty="0" baseline="25000" sz="1500" spc="345">
                <a:latin typeface="Cambria Math"/>
                <a:cs typeface="Cambria Math"/>
              </a:rPr>
              <a:t>!"</a:t>
            </a:r>
            <a:endParaRPr baseline="25000" sz="15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26387" y="2400314"/>
            <a:ext cx="3196976" cy="3470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9976" y="347472"/>
            <a:ext cx="5370576" cy="551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69662" y="1414779"/>
            <a:ext cx="5605145" cy="13030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32740" marR="5080" indent="-320040">
              <a:lnSpc>
                <a:spcPct val="99600"/>
              </a:lnSpc>
              <a:spcBef>
                <a:spcPts val="11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60B5CC"/>
                </a:solidFill>
              </a:rPr>
              <a:t>Summary: </a:t>
            </a:r>
            <a:r>
              <a:rPr dirty="0" sz="2800" spc="-5" b="0">
                <a:solidFill>
                  <a:srgbClr val="000000"/>
                </a:solidFill>
                <a:latin typeface="Calibri"/>
                <a:cs typeface="Calibri"/>
              </a:rPr>
              <a:t>Modern deep learning  modules </a:t>
            </a:r>
            <a:r>
              <a:rPr dirty="0" sz="2800" spc="-10" b="0">
                <a:solidFill>
                  <a:srgbClr val="000000"/>
                </a:solidFill>
                <a:latin typeface="Calibri"/>
                <a:cs typeface="Calibri"/>
              </a:rPr>
              <a:t>can </a:t>
            </a:r>
            <a:r>
              <a:rPr dirty="0" sz="2800" b="0">
                <a:solidFill>
                  <a:srgbClr val="000000"/>
                </a:solidFill>
                <a:latin typeface="Calibri"/>
                <a:cs typeface="Calibri"/>
              </a:rPr>
              <a:t>be </a:t>
            </a:r>
            <a:r>
              <a:rPr dirty="0" sz="2800" spc="-5" b="0">
                <a:solidFill>
                  <a:srgbClr val="000000"/>
                </a:solidFill>
                <a:latin typeface="Calibri"/>
                <a:cs typeface="Calibri"/>
              </a:rPr>
              <a:t>included </a:t>
            </a:r>
            <a:r>
              <a:rPr dirty="0" sz="2800" spc="-15" b="0">
                <a:solidFill>
                  <a:srgbClr val="000000"/>
                </a:solidFill>
                <a:latin typeface="Calibri"/>
                <a:cs typeface="Calibri"/>
              </a:rPr>
              <a:t>into </a:t>
            </a:r>
            <a:r>
              <a:rPr dirty="0" sz="280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z="2800" spc="-5" b="0">
                <a:solidFill>
                  <a:srgbClr val="000000"/>
                </a:solidFill>
                <a:latin typeface="Calibri"/>
                <a:cs typeface="Calibri"/>
              </a:rPr>
              <a:t>GNN  </a:t>
            </a:r>
            <a:r>
              <a:rPr dirty="0" sz="2800" spc="-25" b="0">
                <a:solidFill>
                  <a:srgbClr val="000000"/>
                </a:solidFill>
                <a:latin typeface="Calibri"/>
                <a:cs typeface="Calibri"/>
              </a:rPr>
              <a:t>layer for </a:t>
            </a:r>
            <a:r>
              <a:rPr dirty="0" sz="2800" spc="-20" b="0">
                <a:solidFill>
                  <a:srgbClr val="000000"/>
                </a:solidFill>
                <a:latin typeface="Calibri"/>
                <a:cs typeface="Calibri"/>
              </a:rPr>
              <a:t>better</a:t>
            </a:r>
            <a:r>
              <a:rPr dirty="0" sz="2800" spc="-10" b="0">
                <a:solidFill>
                  <a:srgbClr val="000000"/>
                </a:solidFill>
                <a:latin typeface="Calibri"/>
                <a:cs typeface="Calibri"/>
              </a:rPr>
              <a:t> performance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569662" y="3130803"/>
            <a:ext cx="5340350" cy="25857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33020" indent="-320040">
              <a:lnSpc>
                <a:spcPts val="3290"/>
              </a:lnSpc>
              <a:spcBef>
                <a:spcPts val="26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Designing </a:t>
            </a:r>
            <a:r>
              <a:rPr dirty="0" sz="2800" spc="-10" b="1">
                <a:solidFill>
                  <a:srgbClr val="6BB76D"/>
                </a:solidFill>
                <a:latin typeface="Calibri"/>
                <a:cs typeface="Calibri"/>
              </a:rPr>
              <a:t>novel </a:t>
            </a:r>
            <a:r>
              <a:rPr dirty="0" sz="2800" b="1">
                <a:solidFill>
                  <a:srgbClr val="6BB76D"/>
                </a:solidFill>
                <a:latin typeface="Calibri"/>
                <a:cs typeface="Calibri"/>
              </a:rPr>
              <a:t>GNN </a:t>
            </a:r>
            <a:r>
              <a:rPr dirty="0" sz="2800" spc="-25" b="1">
                <a:solidFill>
                  <a:srgbClr val="6BB76D"/>
                </a:solidFill>
                <a:latin typeface="Calibri"/>
                <a:cs typeface="Calibri"/>
              </a:rPr>
              <a:t>layers 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is </a:t>
            </a:r>
            <a:r>
              <a:rPr dirty="0" sz="2800" spc="-10" b="1">
                <a:solidFill>
                  <a:srgbClr val="6BB76D"/>
                </a:solidFill>
                <a:latin typeface="Calibri"/>
                <a:cs typeface="Calibri"/>
              </a:rPr>
              <a:t>still  </a:t>
            </a:r>
            <a:r>
              <a:rPr dirty="0" sz="2800" b="1">
                <a:solidFill>
                  <a:srgbClr val="6BB76D"/>
                </a:solidFill>
                <a:latin typeface="Calibri"/>
                <a:cs typeface="Calibri"/>
              </a:rPr>
              <a:t>an </a:t>
            </a:r>
            <a:r>
              <a:rPr dirty="0" sz="2800" spc="-10" b="1">
                <a:solidFill>
                  <a:srgbClr val="6BB76D"/>
                </a:solidFill>
                <a:latin typeface="Calibri"/>
                <a:cs typeface="Calibri"/>
              </a:rPr>
              <a:t>active research</a:t>
            </a:r>
            <a:r>
              <a:rPr dirty="0" sz="2800" spc="-25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6BB76D"/>
                </a:solidFill>
                <a:latin typeface="Calibri"/>
                <a:cs typeface="Calibri"/>
              </a:rPr>
              <a:t>frontier!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0AD00"/>
              </a:buClr>
              <a:buFont typeface="Arial"/>
              <a:buChar char="▪"/>
            </a:pPr>
            <a:endParaRPr sz="275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10140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solidFill>
                  <a:srgbClr val="E66C7D"/>
                </a:solidFill>
                <a:latin typeface="Calibri"/>
                <a:cs typeface="Calibri"/>
              </a:rPr>
              <a:t>Suggested </a:t>
            </a:r>
            <a:r>
              <a:rPr dirty="0" sz="2800" spc="-10" b="1">
                <a:solidFill>
                  <a:srgbClr val="E66C7D"/>
                </a:solidFill>
                <a:latin typeface="Calibri"/>
                <a:cs typeface="Calibri"/>
              </a:rPr>
              <a:t>resources: </a:t>
            </a:r>
            <a:r>
              <a:rPr dirty="0" sz="2800" spc="-75">
                <a:latin typeface="Calibri"/>
                <a:cs typeface="Calibri"/>
              </a:rPr>
              <a:t>You </a:t>
            </a:r>
            <a:r>
              <a:rPr dirty="0" sz="2800" spc="-10">
                <a:latin typeface="Calibri"/>
                <a:cs typeface="Calibri"/>
              </a:rPr>
              <a:t>can  </a:t>
            </a:r>
            <a:r>
              <a:rPr dirty="0" sz="2800" spc="-20">
                <a:latin typeface="Calibri"/>
                <a:cs typeface="Calibri"/>
              </a:rPr>
              <a:t>explore </a:t>
            </a:r>
            <a:r>
              <a:rPr dirty="0" sz="2800" spc="-15">
                <a:latin typeface="Calibri"/>
                <a:cs typeface="Calibri"/>
              </a:rPr>
              <a:t>diverse </a:t>
            </a:r>
            <a:r>
              <a:rPr dirty="0" sz="2800" spc="-5">
                <a:latin typeface="Calibri"/>
                <a:cs typeface="Calibri"/>
              </a:rPr>
              <a:t>GNN designs or </a:t>
            </a:r>
            <a:r>
              <a:rPr dirty="0" sz="2800">
                <a:latin typeface="Calibri"/>
                <a:cs typeface="Calibri"/>
              </a:rPr>
              <a:t>try  </a:t>
            </a:r>
            <a:r>
              <a:rPr dirty="0" sz="2800" spc="-5">
                <a:latin typeface="Calibri"/>
                <a:cs typeface="Calibri"/>
              </a:rPr>
              <a:t>out </a:t>
            </a:r>
            <a:r>
              <a:rPr dirty="0" sz="2800" spc="-15">
                <a:latin typeface="Calibri"/>
                <a:cs typeface="Calibri"/>
              </a:rPr>
              <a:t>your </a:t>
            </a:r>
            <a:r>
              <a:rPr dirty="0" sz="2800" spc="-10">
                <a:latin typeface="Calibri"/>
                <a:cs typeface="Calibri"/>
              </a:rPr>
              <a:t>own </a:t>
            </a:r>
            <a:r>
              <a:rPr dirty="0" sz="2800" spc="-5">
                <a:latin typeface="Calibri"/>
                <a:cs typeface="Calibri"/>
              </a:rPr>
              <a:t>ideas in</a:t>
            </a:r>
            <a:r>
              <a:rPr dirty="0" sz="2800" spc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15" b="1" u="heavy">
                <a:solidFill>
                  <a:srgbClr val="0000FF"/>
                </a:solidFill>
                <a:latin typeface="Calibri"/>
                <a:cs typeface="Calibri"/>
              </a:rPr>
              <a:t>GraphGym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10075" y="1900427"/>
            <a:ext cx="13544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Calibri"/>
                <a:cs typeface="Calibri"/>
              </a:rPr>
              <a:t>A </a:t>
            </a:r>
            <a:r>
              <a:rPr dirty="0" sz="2000" spc="-5" b="1">
                <a:latin typeface="Calibri"/>
                <a:cs typeface="Calibri"/>
              </a:rPr>
              <a:t>GNN</a:t>
            </a:r>
            <a:r>
              <a:rPr dirty="0" sz="2000" spc="-95" b="1">
                <a:latin typeface="Calibri"/>
                <a:cs typeface="Calibri"/>
              </a:rPr>
              <a:t> </a:t>
            </a:r>
            <a:r>
              <a:rPr dirty="0" sz="2000" spc="-15" b="1">
                <a:latin typeface="Calibri"/>
                <a:cs typeface="Calibri"/>
              </a:rPr>
              <a:t>Layer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672" y="3550920"/>
            <a:ext cx="6464808" cy="1298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3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51846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1345" y="2516037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6219" y="2118419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5704" y="2054125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5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26446" y="1628394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4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42171" y="3085247"/>
            <a:ext cx="716915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9395" y="1645108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70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3542" y="1868218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53221" y="0"/>
                </a:moveTo>
                <a:lnTo>
                  <a:pt x="0" y="179"/>
                </a:lnTo>
                <a:lnTo>
                  <a:pt x="26791" y="53310"/>
                </a:lnTo>
                <a:lnTo>
                  <a:pt x="53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0918" y="1488617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1480" y="1616090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30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15290" y="150268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63088" y="148152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4951" y="2096364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09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7340" y="25463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33366" y="272762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13972" y="2490946"/>
            <a:ext cx="862965" cy="39814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3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82927" y="2179035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40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23426" y="238460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90"/>
                </a:lnTo>
                <a:lnTo>
                  <a:pt x="90961" y="181432"/>
                </a:lnTo>
                <a:lnTo>
                  <a:pt x="125190" y="174790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2" y="90716"/>
                </a:lnTo>
                <a:lnTo>
                  <a:pt x="175262" y="56579"/>
                </a:lnTo>
                <a:lnTo>
                  <a:pt x="155280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562249" y="2368538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63392" y="203937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402585" y="202260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1847" y="1967625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09117" y="194277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17636" y="2155510"/>
            <a:ext cx="3449642" cy="397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079980" y="2891656"/>
            <a:ext cx="5986145" cy="1302385"/>
          </a:xfrm>
          <a:prstGeom prst="rect">
            <a:avLst/>
          </a:prstGeom>
          <a:ln w="25400">
            <a:solidFill>
              <a:srgbClr val="C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3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27" name="object 27"/>
          <p:cNvSpPr txBox="1"/>
          <p:nvPr/>
        </p:nvSpPr>
        <p:spPr>
          <a:xfrm>
            <a:off x="2079979" y="4688799"/>
            <a:ext cx="5986145" cy="1096010"/>
          </a:xfrm>
          <a:prstGeom prst="rect">
            <a:avLst/>
          </a:prstGeom>
          <a:ln w="25400">
            <a:solidFill>
              <a:srgbClr val="C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5724" y="4025900"/>
            <a:ext cx="157353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(3) 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Layer  c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nne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sz="2400" spc="0" b="1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2400" spc="0" b="1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2132868" y="1151636"/>
            <a:ext cx="50793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</a:rPr>
              <a:t>How </a:t>
            </a:r>
            <a:r>
              <a:rPr dirty="0" sz="2400" spc="-10">
                <a:solidFill>
                  <a:srgbClr val="C00000"/>
                </a:solidFill>
              </a:rPr>
              <a:t>to connect </a:t>
            </a:r>
            <a:r>
              <a:rPr dirty="0" sz="2400" spc="-5">
                <a:solidFill>
                  <a:srgbClr val="C00000"/>
                </a:solidFill>
              </a:rPr>
              <a:t>GNN </a:t>
            </a:r>
            <a:r>
              <a:rPr dirty="0" sz="2400" spc="-20">
                <a:solidFill>
                  <a:srgbClr val="C00000"/>
                </a:solidFill>
              </a:rPr>
              <a:t>layers </a:t>
            </a:r>
            <a:r>
              <a:rPr dirty="0" sz="2400" spc="-15">
                <a:solidFill>
                  <a:srgbClr val="C00000"/>
                </a:solidFill>
              </a:rPr>
              <a:t>into </a:t>
            </a:r>
            <a:r>
              <a:rPr dirty="0" sz="2400">
                <a:solidFill>
                  <a:srgbClr val="C00000"/>
                </a:solidFill>
              </a:rPr>
              <a:t>a</a:t>
            </a:r>
            <a:r>
              <a:rPr dirty="0" sz="2400" spc="-20">
                <a:solidFill>
                  <a:srgbClr val="C00000"/>
                </a:solidFill>
              </a:rPr>
              <a:t> </a:t>
            </a:r>
            <a:r>
              <a:rPr dirty="0" sz="2400" spc="-10">
                <a:solidFill>
                  <a:srgbClr val="C00000"/>
                </a:solidFill>
              </a:rPr>
              <a:t>GNN?</a:t>
            </a:r>
            <a:endParaRPr sz="2400"/>
          </a:p>
        </p:txBody>
      </p:sp>
      <p:sp>
        <p:nvSpPr>
          <p:cNvPr id="30" name="object 30"/>
          <p:cNvSpPr txBox="1"/>
          <p:nvPr/>
        </p:nvSpPr>
        <p:spPr>
          <a:xfrm>
            <a:off x="2132868" y="1520444"/>
            <a:ext cx="447103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5" b="1">
                <a:latin typeface="Calibri"/>
                <a:cs typeface="Calibri"/>
              </a:rPr>
              <a:t>Stack </a:t>
            </a:r>
            <a:r>
              <a:rPr dirty="0" sz="2400" spc="-20" b="1">
                <a:latin typeface="Calibri"/>
                <a:cs typeface="Calibri"/>
              </a:rPr>
              <a:t>layers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sequentially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40" b="1">
                <a:latin typeface="Calibri"/>
                <a:cs typeface="Calibri"/>
              </a:rPr>
              <a:t>Ways </a:t>
            </a:r>
            <a:r>
              <a:rPr dirty="0" sz="2400" spc="-5" b="1">
                <a:latin typeface="Calibri"/>
                <a:cs typeface="Calibri"/>
              </a:rPr>
              <a:t>of adding skip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connections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30389" y="20827"/>
            <a:ext cx="516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1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51846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231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C00000"/>
                </a:solidFill>
              </a:rPr>
              <a:t>How </a:t>
            </a:r>
            <a:r>
              <a:rPr dirty="0" spc="-15">
                <a:solidFill>
                  <a:srgbClr val="C00000"/>
                </a:solidFill>
              </a:rPr>
              <a:t>to </a:t>
            </a:r>
            <a:r>
              <a:rPr dirty="0" spc="-10">
                <a:solidFill>
                  <a:srgbClr val="C00000"/>
                </a:solidFill>
              </a:rPr>
              <a:t>construct </a:t>
            </a:r>
            <a:r>
              <a:rPr dirty="0">
                <a:solidFill>
                  <a:srgbClr val="C00000"/>
                </a:solidFill>
              </a:rPr>
              <a:t>a </a:t>
            </a:r>
            <a:r>
              <a:rPr dirty="0" spc="-20">
                <a:solidFill>
                  <a:srgbClr val="C00000"/>
                </a:solidFill>
              </a:rPr>
              <a:t>Graph </a:t>
            </a:r>
            <a:r>
              <a:rPr dirty="0" spc="-15">
                <a:solidFill>
                  <a:srgbClr val="C00000"/>
                </a:solidFill>
              </a:rPr>
              <a:t>Neural</a:t>
            </a:r>
            <a:r>
              <a:rPr dirty="0" spc="15">
                <a:solidFill>
                  <a:srgbClr val="C00000"/>
                </a:solidFill>
              </a:rPr>
              <a:t> </a:t>
            </a:r>
            <a:r>
              <a:rPr dirty="0" spc="-10">
                <a:solidFill>
                  <a:srgbClr val="C00000"/>
                </a:solidFill>
              </a:rPr>
              <a:t>Network?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26259"/>
            <a:ext cx="7355205" cy="10680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The </a:t>
            </a:r>
            <a:r>
              <a:rPr dirty="0" sz="2800" spc="-15" b="1">
                <a:latin typeface="Calibri"/>
                <a:cs typeface="Calibri"/>
              </a:rPr>
              <a:t>standard </a:t>
            </a:r>
            <a:r>
              <a:rPr dirty="0" sz="2800" spc="-25" b="1">
                <a:latin typeface="Calibri"/>
                <a:cs typeface="Calibri"/>
              </a:rPr>
              <a:t>way: </a:t>
            </a:r>
            <a:r>
              <a:rPr dirty="0" sz="2800" spc="-10">
                <a:latin typeface="Calibri"/>
                <a:cs typeface="Calibri"/>
              </a:rPr>
              <a:t>Stack </a:t>
            </a:r>
            <a:r>
              <a:rPr dirty="0" sz="2800" spc="-5">
                <a:latin typeface="Calibri"/>
                <a:cs typeface="Calibri"/>
              </a:rPr>
              <a:t>GNN </a:t>
            </a:r>
            <a:r>
              <a:rPr dirty="0" sz="2800" spc="-30">
                <a:latin typeface="Calibri"/>
                <a:cs typeface="Calibri"/>
              </a:rPr>
              <a:t>layers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sequentially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Input: </a:t>
            </a:r>
            <a:r>
              <a:rPr dirty="0" sz="2800" spc="-5">
                <a:latin typeface="Calibri"/>
                <a:cs typeface="Calibri"/>
              </a:rPr>
              <a:t>Initial </a:t>
            </a:r>
            <a:r>
              <a:rPr dirty="0" sz="2800" spc="-30">
                <a:latin typeface="Calibri"/>
                <a:cs typeface="Calibri"/>
              </a:rPr>
              <a:t>raw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spc="-25">
                <a:latin typeface="Calibri"/>
                <a:cs typeface="Calibri"/>
              </a:rPr>
              <a:t>feature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185">
                <a:solidFill>
                  <a:srgbClr val="60B5CC"/>
                </a:solidFill>
                <a:latin typeface="Cambria Math"/>
                <a:cs typeface="Cambria Math"/>
              </a:rPr>
              <a:t>𝐱</a:t>
            </a:r>
            <a:r>
              <a:rPr dirty="0" baseline="-15277" sz="3000" spc="277">
                <a:solidFill>
                  <a:srgbClr val="60B5CC"/>
                </a:solidFill>
                <a:latin typeface="Cambria Math"/>
                <a:cs typeface="Cambria Math"/>
              </a:rPr>
              <a:t>(</a:t>
            </a:r>
            <a:endParaRPr baseline="-15277" sz="3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3063747"/>
            <a:ext cx="76600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  <a:tab pos="4321810" algn="l"/>
              </a:tabLst>
            </a:pPr>
            <a:r>
              <a:rPr dirty="0" sz="2800" spc="-5" b="1">
                <a:latin typeface="Calibri"/>
                <a:cs typeface="Calibri"/>
              </a:rPr>
              <a:t>Output:</a:t>
            </a:r>
            <a:r>
              <a:rPr dirty="0" sz="2800" spc="15" b="1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embeddings	</a:t>
            </a:r>
            <a:r>
              <a:rPr dirty="0" sz="2800" spc="-120">
                <a:solidFill>
                  <a:srgbClr val="6BB76D"/>
                </a:solidFill>
                <a:latin typeface="Cambria Math"/>
                <a:cs typeface="Cambria Math"/>
              </a:rPr>
              <a:t>𝐡</a:t>
            </a:r>
            <a:r>
              <a:rPr dirty="0" baseline="41666" sz="3000" spc="-179">
                <a:solidFill>
                  <a:srgbClr val="6BB76D"/>
                </a:solidFill>
                <a:latin typeface="Cambria Math"/>
                <a:cs typeface="Cambria Math"/>
              </a:rPr>
              <a:t>(M)  </a:t>
            </a:r>
            <a:r>
              <a:rPr dirty="0" sz="2800" spc="-15">
                <a:latin typeface="Calibri"/>
                <a:cs typeface="Calibri"/>
              </a:rPr>
              <a:t>after </a:t>
            </a:r>
            <a:r>
              <a:rPr dirty="0" sz="2800">
                <a:latin typeface="Cambria Math"/>
                <a:cs typeface="Cambria Math"/>
              </a:rPr>
              <a:t>𝐿 </a:t>
            </a:r>
            <a:r>
              <a:rPr dirty="0" sz="2800" spc="-5">
                <a:latin typeface="Calibri"/>
                <a:cs typeface="Calibri"/>
              </a:rPr>
              <a:t>GNN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layers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58059" y="3567475"/>
            <a:ext cx="1627879" cy="30162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05533" y="3256788"/>
            <a:ext cx="1033144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89865">
              <a:lnSpc>
                <a:spcPts val="2220"/>
              </a:lnSpc>
              <a:spcBef>
                <a:spcPts val="100"/>
              </a:spcBef>
            </a:pPr>
            <a:r>
              <a:rPr dirty="0" sz="2000" spc="300">
                <a:solidFill>
                  <a:srgbClr val="6BB76D"/>
                </a:solidFill>
                <a:latin typeface="Cambria Math"/>
                <a:cs typeface="Cambria Math"/>
              </a:rPr>
              <a:t>(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ts val="2220"/>
              </a:lnSpc>
            </a:pPr>
            <a:r>
              <a:rPr dirty="0" baseline="-29166" sz="3000" spc="112">
                <a:solidFill>
                  <a:srgbClr val="60B5CC"/>
                </a:solidFill>
                <a:latin typeface="Cambria Math"/>
                <a:cs typeface="Cambria Math"/>
              </a:rPr>
              <a:t>𝐡</a:t>
            </a:r>
            <a:r>
              <a:rPr dirty="0" sz="1500" spc="75">
                <a:solidFill>
                  <a:srgbClr val="60B5CC"/>
                </a:solidFill>
                <a:latin typeface="Cambria Math"/>
                <a:cs typeface="Cambria Math"/>
              </a:rPr>
              <a:t>(-) </a:t>
            </a:r>
            <a:r>
              <a:rPr dirty="0" baseline="-29166" sz="3000">
                <a:solidFill>
                  <a:srgbClr val="60B5CC"/>
                </a:solidFill>
                <a:latin typeface="Cambria Math"/>
                <a:cs typeface="Cambria Math"/>
              </a:rPr>
              <a:t>=</a:t>
            </a:r>
            <a:r>
              <a:rPr dirty="0" baseline="-29166" sz="3000" spc="112">
                <a:solidFill>
                  <a:srgbClr val="60B5CC"/>
                </a:solidFill>
                <a:latin typeface="Cambria Math"/>
                <a:cs typeface="Cambria Math"/>
              </a:rPr>
              <a:t> </a:t>
            </a:r>
            <a:r>
              <a:rPr dirty="0" baseline="-29166" sz="3000" spc="225">
                <a:solidFill>
                  <a:srgbClr val="60B5CC"/>
                </a:solidFill>
                <a:latin typeface="Cambria Math"/>
                <a:cs typeface="Cambria Math"/>
              </a:rPr>
              <a:t>𝐱</a:t>
            </a:r>
            <a:r>
              <a:rPr dirty="0" baseline="-53703" sz="2250" spc="225">
                <a:solidFill>
                  <a:srgbClr val="60B5CC"/>
                </a:solidFill>
                <a:latin typeface="Cambria Math"/>
                <a:cs typeface="Cambria Math"/>
              </a:rPr>
              <a:t>"</a:t>
            </a:r>
            <a:endParaRPr baseline="-53703" sz="22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4805907" y="3780535"/>
            <a:ext cx="456565" cy="281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100"/>
              </a:spcBef>
            </a:pPr>
            <a:r>
              <a:rPr dirty="0" sz="1500" spc="250">
                <a:solidFill>
                  <a:srgbClr val="60B5CC"/>
                </a:solidFill>
                <a:latin typeface="Cambria Math"/>
                <a:cs typeface="Cambria Math"/>
              </a:rPr>
              <a:t>"</a:t>
            </a:r>
            <a:endParaRPr sz="15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50">
              <a:latin typeface="Times New Roman"/>
              <a:cs typeface="Times New Roman"/>
            </a:endParaRPr>
          </a:p>
          <a:p>
            <a:pPr algn="ctr" marR="3810">
              <a:lnSpc>
                <a:spcPts val="2230"/>
              </a:lnSpc>
            </a:pPr>
            <a:r>
              <a:rPr dirty="0" baseline="-29166" sz="3000">
                <a:latin typeface="Cambria Math"/>
                <a:cs typeface="Cambria Math"/>
              </a:rPr>
              <a:t>𝐡</a:t>
            </a:r>
            <a:r>
              <a:rPr dirty="0" sz="1500" spc="-25">
                <a:latin typeface="Cambria Math"/>
                <a:cs typeface="Cambria Math"/>
              </a:rPr>
              <a:t>(</a:t>
            </a:r>
            <a:r>
              <a:rPr dirty="0" sz="1500" spc="-185">
                <a:latin typeface="Cambria Math"/>
                <a:cs typeface="Cambria Math"/>
              </a:rPr>
              <a:t>&amp;</a:t>
            </a:r>
            <a:r>
              <a:rPr dirty="0" sz="1500">
                <a:latin typeface="Cambria Math"/>
                <a:cs typeface="Cambria Math"/>
              </a:rPr>
              <a:t>)</a:t>
            </a:r>
            <a:endParaRPr sz="1500">
              <a:latin typeface="Cambria Math"/>
              <a:cs typeface="Cambria Math"/>
            </a:endParaRPr>
          </a:p>
          <a:p>
            <a:pPr algn="ctr" marR="3810">
              <a:lnSpc>
                <a:spcPts val="1630"/>
              </a:lnSpc>
            </a:pPr>
            <a:r>
              <a:rPr dirty="0" sz="1500" spc="250">
                <a:latin typeface="Cambria Math"/>
                <a:cs typeface="Cambria Math"/>
              </a:rPr>
              <a:t>"</a:t>
            </a:r>
            <a:endParaRPr sz="15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algn="ctr" marL="1270">
              <a:lnSpc>
                <a:spcPts val="2240"/>
              </a:lnSpc>
              <a:spcBef>
                <a:spcPts val="1145"/>
              </a:spcBef>
            </a:pPr>
            <a:r>
              <a:rPr dirty="0" baseline="-30555" sz="3000" spc="187">
                <a:latin typeface="Cambria Math"/>
                <a:cs typeface="Cambria Math"/>
              </a:rPr>
              <a:t>𝐡</a:t>
            </a:r>
            <a:r>
              <a:rPr dirty="0" sz="1500" spc="125">
                <a:latin typeface="Cambria Math"/>
                <a:cs typeface="Cambria Math"/>
              </a:rPr>
              <a:t>(.)</a:t>
            </a:r>
            <a:endParaRPr sz="1500">
              <a:latin typeface="Cambria Math"/>
              <a:cs typeface="Cambria Math"/>
            </a:endParaRPr>
          </a:p>
          <a:p>
            <a:pPr algn="ctr" marL="1270">
              <a:lnSpc>
                <a:spcPts val="1639"/>
              </a:lnSpc>
            </a:pPr>
            <a:r>
              <a:rPr dirty="0" sz="1500" spc="250">
                <a:latin typeface="Cambria Math"/>
                <a:cs typeface="Cambria Math"/>
              </a:rPr>
              <a:t>"</a:t>
            </a:r>
            <a:endParaRPr sz="15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50">
              <a:latin typeface="Times New Roman"/>
              <a:cs typeface="Times New Roman"/>
            </a:endParaRPr>
          </a:p>
          <a:p>
            <a:pPr algn="ctr" marL="11430">
              <a:lnSpc>
                <a:spcPts val="2240"/>
              </a:lnSpc>
            </a:pPr>
            <a:r>
              <a:rPr dirty="0" baseline="-30555" sz="3000">
                <a:solidFill>
                  <a:srgbClr val="6BB76D"/>
                </a:solidFill>
                <a:latin typeface="Cambria Math"/>
                <a:cs typeface="Cambria Math"/>
              </a:rPr>
              <a:t>𝐡</a:t>
            </a:r>
            <a:r>
              <a:rPr dirty="0" sz="1500" spc="-25">
                <a:solidFill>
                  <a:srgbClr val="6BB76D"/>
                </a:solidFill>
                <a:latin typeface="Cambria Math"/>
                <a:cs typeface="Cambria Math"/>
              </a:rPr>
              <a:t>(</a:t>
            </a:r>
            <a:r>
              <a:rPr dirty="0" sz="1500" spc="110">
                <a:solidFill>
                  <a:srgbClr val="6BB76D"/>
                </a:solidFill>
                <a:latin typeface="Cambria Math"/>
                <a:cs typeface="Cambria Math"/>
              </a:rPr>
              <a:t>/</a:t>
            </a:r>
            <a:r>
              <a:rPr dirty="0" sz="1500">
                <a:solidFill>
                  <a:srgbClr val="6BB76D"/>
                </a:solidFill>
                <a:latin typeface="Cambria Math"/>
                <a:cs typeface="Cambria Math"/>
              </a:rPr>
              <a:t>)</a:t>
            </a:r>
            <a:endParaRPr sz="1500">
              <a:latin typeface="Cambria Math"/>
              <a:cs typeface="Cambria Math"/>
            </a:endParaRPr>
          </a:p>
          <a:p>
            <a:pPr algn="ctr" marL="11430">
              <a:lnSpc>
                <a:spcPts val="1639"/>
              </a:lnSpc>
            </a:pPr>
            <a:r>
              <a:rPr dirty="0" sz="1500" spc="250">
                <a:solidFill>
                  <a:srgbClr val="6BB76D"/>
                </a:solidFill>
                <a:latin typeface="Cambria Math"/>
                <a:cs typeface="Cambria Math"/>
              </a:rPr>
              <a:t>"</a:t>
            </a:r>
            <a:endParaRPr sz="15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2511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80783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60B5CC"/>
                </a:solidFill>
              </a:rPr>
              <a:t>The Issue </a:t>
            </a:r>
            <a:r>
              <a:rPr dirty="0">
                <a:solidFill>
                  <a:srgbClr val="60B5CC"/>
                </a:solidFill>
              </a:rPr>
              <a:t>of </a:t>
            </a:r>
            <a:r>
              <a:rPr dirty="0" spc="-15">
                <a:solidFill>
                  <a:srgbClr val="60B5CC"/>
                </a:solidFill>
              </a:rPr>
              <a:t>stacking </a:t>
            </a:r>
            <a:r>
              <a:rPr dirty="0" spc="-20">
                <a:solidFill>
                  <a:srgbClr val="60B5CC"/>
                </a:solidFill>
              </a:rPr>
              <a:t>many </a:t>
            </a:r>
            <a:r>
              <a:rPr dirty="0" spc="-5">
                <a:solidFill>
                  <a:srgbClr val="60B5CC"/>
                </a:solidFill>
              </a:rPr>
              <a:t>GNN</a:t>
            </a:r>
            <a:r>
              <a:rPr dirty="0" spc="5">
                <a:solidFill>
                  <a:srgbClr val="60B5CC"/>
                </a:solidFill>
              </a:rPr>
              <a:t> </a:t>
            </a:r>
            <a:r>
              <a:rPr dirty="0" spc="-25">
                <a:solidFill>
                  <a:srgbClr val="60B5CC"/>
                </a:solidFill>
              </a:rPr>
              <a:t>layers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7467600" cy="3345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GNN </a:t>
            </a:r>
            <a:r>
              <a:rPr dirty="0" sz="2800" spc="-25">
                <a:latin typeface="Calibri"/>
                <a:cs typeface="Calibri"/>
              </a:rPr>
              <a:t>suffers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over-smoothing</a:t>
            </a:r>
            <a:r>
              <a:rPr dirty="0" sz="280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problem</a:t>
            </a:r>
            <a:endParaRPr sz="2800">
              <a:latin typeface="Calibri"/>
              <a:cs typeface="Calibri"/>
            </a:endParaRPr>
          </a:p>
          <a:p>
            <a:pPr marL="332740" marR="9525" indent="-320040">
              <a:lnSpc>
                <a:spcPts val="3790"/>
              </a:lnSpc>
              <a:spcBef>
                <a:spcPts val="2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over-smoothing problem: </a:t>
            </a:r>
            <a:r>
              <a:rPr dirty="0" sz="3200" spc="-5" b="1">
                <a:latin typeface="Calibri"/>
                <a:cs typeface="Calibri"/>
              </a:rPr>
              <a:t>all the node  embeddings </a:t>
            </a:r>
            <a:r>
              <a:rPr dirty="0" sz="3200" spc="-25" b="1">
                <a:latin typeface="Calibri"/>
                <a:cs typeface="Calibri"/>
              </a:rPr>
              <a:t>converge </a:t>
            </a:r>
            <a:r>
              <a:rPr dirty="0" sz="3200" spc="-15" b="1">
                <a:latin typeface="Calibri"/>
                <a:cs typeface="Calibri"/>
              </a:rPr>
              <a:t>to </a:t>
            </a:r>
            <a:r>
              <a:rPr dirty="0" sz="3200" spc="-5" b="1">
                <a:latin typeface="Calibri"/>
                <a:cs typeface="Calibri"/>
              </a:rPr>
              <a:t>the same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value</a:t>
            </a:r>
            <a:endParaRPr sz="3200">
              <a:latin typeface="Calibri"/>
              <a:cs typeface="Calibri"/>
            </a:endParaRPr>
          </a:p>
          <a:p>
            <a:pPr lvl="1" marL="625475" marR="906780" indent="-274320">
              <a:lnSpc>
                <a:spcPct val="101400"/>
              </a:lnSpc>
              <a:spcBef>
                <a:spcPts val="49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This is bad </a:t>
            </a:r>
            <a:r>
              <a:rPr dirty="0" sz="2800" spc="-10">
                <a:latin typeface="Calibri"/>
                <a:cs typeface="Calibri"/>
              </a:rPr>
              <a:t>because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want to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use node  embeddings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to differentiate</a:t>
            </a:r>
            <a:r>
              <a:rPr dirty="0" sz="28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nodes</a:t>
            </a:r>
            <a:endParaRPr sz="2800">
              <a:latin typeface="Calibri"/>
              <a:cs typeface="Calibri"/>
            </a:endParaRPr>
          </a:p>
          <a:p>
            <a:pPr marL="332740" marR="520700" indent="-320040">
              <a:lnSpc>
                <a:spcPts val="3910"/>
              </a:lnSpc>
              <a:spcBef>
                <a:spcPts val="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 b="1">
                <a:latin typeface="Calibri"/>
                <a:cs typeface="Calibri"/>
              </a:rPr>
              <a:t>Why </a:t>
            </a:r>
            <a:r>
              <a:rPr dirty="0" sz="3200" spc="-5" b="1">
                <a:latin typeface="Calibri"/>
                <a:cs typeface="Calibri"/>
              </a:rPr>
              <a:t>does the </a:t>
            </a:r>
            <a:r>
              <a:rPr dirty="0" sz="3200" spc="-10" b="1">
                <a:latin typeface="Calibri"/>
                <a:cs typeface="Calibri"/>
              </a:rPr>
              <a:t>over-smoothing problem  </a:t>
            </a:r>
            <a:r>
              <a:rPr dirty="0" sz="3200" spc="-5" b="1">
                <a:latin typeface="Calibri"/>
                <a:cs typeface="Calibri"/>
              </a:rPr>
              <a:t>happen?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01980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29818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/>
              <a:t>Receptive </a:t>
            </a:r>
            <a:r>
              <a:rPr dirty="0" spc="-5"/>
              <a:t>field: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set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of nodes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that determine 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embedding of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node of</a:t>
            </a:r>
            <a:r>
              <a:rPr dirty="0" spc="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interest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7936230" cy="873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ts val="3335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In a </a:t>
            </a:r>
            <a:r>
              <a:rPr dirty="0" sz="2800" spc="-15">
                <a:solidFill>
                  <a:srgbClr val="C00000"/>
                </a:solidFill>
                <a:latin typeface="Cambria Math"/>
                <a:cs typeface="Cambria Math"/>
              </a:rPr>
              <a:t>𝑲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-layer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GNN, each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 has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receptive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field</a:t>
            </a:r>
            <a:r>
              <a:rPr dirty="0" sz="280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endParaRPr sz="2800">
              <a:latin typeface="Calibri"/>
              <a:cs typeface="Calibri"/>
            </a:endParaRPr>
          </a:p>
          <a:p>
            <a:pPr marL="287020">
              <a:lnSpc>
                <a:spcPts val="3335"/>
              </a:lnSpc>
            </a:pPr>
            <a:r>
              <a:rPr dirty="0" sz="2800" spc="-5">
                <a:solidFill>
                  <a:srgbClr val="C00000"/>
                </a:solidFill>
                <a:latin typeface="Cambria Math"/>
                <a:cs typeface="Cambria Math"/>
              </a:rPr>
              <a:t>𝑲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-hop</a:t>
            </a:r>
            <a:r>
              <a:rPr dirty="0" sz="2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neighborhood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4908" y="4176802"/>
            <a:ext cx="2569446" cy="25557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45416" y="4173424"/>
            <a:ext cx="2569446" cy="25557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41838" y="4173424"/>
            <a:ext cx="2569446" cy="25557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12985" y="3650996"/>
            <a:ext cx="174942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299085" marR="5080" indent="-287020">
              <a:lnSpc>
                <a:spcPts val="2090"/>
              </a:lnSpc>
              <a:spcBef>
                <a:spcPts val="225"/>
              </a:spcBef>
            </a:pPr>
            <a:r>
              <a:rPr dirty="0" sz="1800" spc="-15" b="1">
                <a:latin typeface="Calibri"/>
                <a:cs typeface="Calibri"/>
              </a:rPr>
              <a:t>Receptive </a:t>
            </a:r>
            <a:r>
              <a:rPr dirty="0" sz="1800" spc="-10" b="1">
                <a:latin typeface="Calibri"/>
                <a:cs typeface="Calibri"/>
              </a:rPr>
              <a:t>field </a:t>
            </a:r>
            <a:r>
              <a:rPr dirty="0" sz="1800" spc="-15" b="1">
                <a:latin typeface="Calibri"/>
                <a:cs typeface="Calibri"/>
              </a:rPr>
              <a:t>for  </a:t>
            </a:r>
            <a:r>
              <a:rPr dirty="0" sz="1800" spc="-15" b="1">
                <a:solidFill>
                  <a:srgbClr val="C00000"/>
                </a:solidFill>
                <a:latin typeface="Calibri"/>
                <a:cs typeface="Calibri"/>
              </a:rPr>
              <a:t>1-layer</a:t>
            </a:r>
            <a:r>
              <a:rPr dirty="0" sz="1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GNN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6"/>
              </a:rPr>
              <a:t>http://cs224w.stanford.edu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3857612" y="3650996"/>
            <a:ext cx="174942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299085" marR="5080" indent="-287020">
              <a:lnSpc>
                <a:spcPts val="2090"/>
              </a:lnSpc>
              <a:spcBef>
                <a:spcPts val="225"/>
              </a:spcBef>
            </a:pPr>
            <a:r>
              <a:rPr dirty="0" sz="1800" spc="-15" b="1">
                <a:latin typeface="Calibri"/>
                <a:cs typeface="Calibri"/>
              </a:rPr>
              <a:t>Receptive </a:t>
            </a:r>
            <a:r>
              <a:rPr dirty="0" sz="1800" spc="-10" b="1">
                <a:latin typeface="Calibri"/>
                <a:cs typeface="Calibri"/>
              </a:rPr>
              <a:t>field </a:t>
            </a:r>
            <a:r>
              <a:rPr dirty="0" sz="1800" spc="-15" b="1">
                <a:latin typeface="Calibri"/>
                <a:cs typeface="Calibri"/>
              </a:rPr>
              <a:t>for  </a:t>
            </a:r>
            <a:r>
              <a:rPr dirty="0" sz="1800" spc="-15" b="1">
                <a:solidFill>
                  <a:srgbClr val="C00000"/>
                </a:solidFill>
                <a:latin typeface="Calibri"/>
                <a:cs typeface="Calibri"/>
              </a:rPr>
              <a:t>2-layer</a:t>
            </a:r>
            <a:r>
              <a:rPr dirty="0" sz="1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GNN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18103" y="3650996"/>
            <a:ext cx="174942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299085" marR="5080" indent="-287020">
              <a:lnSpc>
                <a:spcPts val="2090"/>
              </a:lnSpc>
              <a:spcBef>
                <a:spcPts val="225"/>
              </a:spcBef>
            </a:pPr>
            <a:r>
              <a:rPr dirty="0" sz="1800" spc="-15" b="1">
                <a:latin typeface="Calibri"/>
                <a:cs typeface="Calibri"/>
              </a:rPr>
              <a:t>Receptive </a:t>
            </a:r>
            <a:r>
              <a:rPr dirty="0" sz="1800" spc="-10" b="1">
                <a:latin typeface="Calibri"/>
                <a:cs typeface="Calibri"/>
              </a:rPr>
              <a:t>field </a:t>
            </a:r>
            <a:r>
              <a:rPr dirty="0" sz="1800" spc="-15" b="1">
                <a:latin typeface="Calibri"/>
                <a:cs typeface="Calibri"/>
              </a:rPr>
              <a:t>for  </a:t>
            </a:r>
            <a:r>
              <a:rPr dirty="0" sz="1800" spc="-15" b="1">
                <a:solidFill>
                  <a:srgbClr val="C00000"/>
                </a:solidFill>
                <a:latin typeface="Calibri"/>
                <a:cs typeface="Calibri"/>
              </a:rPr>
              <a:t>3-layer</a:t>
            </a:r>
            <a:r>
              <a:rPr dirty="0" sz="1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GNN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01980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5957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00B050"/>
                </a:solidFill>
              </a:rPr>
              <a:t>Receptive </a:t>
            </a:r>
            <a:r>
              <a:rPr dirty="0" spc="-5">
                <a:solidFill>
                  <a:srgbClr val="00B050"/>
                </a:solidFill>
              </a:rPr>
              <a:t>field </a:t>
            </a:r>
            <a:r>
              <a:rPr dirty="0" spc="-10">
                <a:solidFill>
                  <a:srgbClr val="00B050"/>
                </a:solidFill>
              </a:rPr>
              <a:t>overlap </a:t>
            </a:r>
            <a:r>
              <a:rPr dirty="0" spc="-25" b="0">
                <a:solidFill>
                  <a:srgbClr val="00B050"/>
                </a:solidFill>
                <a:latin typeface="Calibri"/>
                <a:cs typeface="Calibri"/>
              </a:rPr>
              <a:t>for </a:t>
            </a:r>
            <a:r>
              <a:rPr dirty="0" spc="-10" b="0">
                <a:solidFill>
                  <a:srgbClr val="00B050"/>
                </a:solidFill>
                <a:latin typeface="Calibri"/>
                <a:cs typeface="Calibri"/>
              </a:rPr>
              <a:t>two</a:t>
            </a:r>
            <a:r>
              <a:rPr dirty="0" spc="35" b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B050"/>
                </a:solidFill>
                <a:latin typeface="Calibri"/>
                <a:cs typeface="Calibri"/>
              </a:rPr>
              <a:t>nodes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7459345" cy="8820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shared neighbors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quickly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grows </a:t>
            </a:r>
            <a:r>
              <a:rPr dirty="0" sz="2800" spc="-5">
                <a:latin typeface="Calibri"/>
                <a:cs typeface="Calibri"/>
              </a:rPr>
              <a:t>when </a:t>
            </a:r>
            <a:r>
              <a:rPr dirty="0" sz="2800" spc="-15">
                <a:latin typeface="Calibri"/>
                <a:cs typeface="Calibri"/>
              </a:rPr>
              <a:t>we  </a:t>
            </a:r>
            <a:r>
              <a:rPr dirty="0" sz="2800" spc="-10">
                <a:latin typeface="Calibri"/>
                <a:cs typeface="Calibri"/>
              </a:rPr>
              <a:t>increase </a:t>
            </a:r>
            <a:r>
              <a:rPr dirty="0" sz="2800" spc="-5">
                <a:latin typeface="Calibri"/>
                <a:cs typeface="Calibri"/>
              </a:rPr>
              <a:t>the number of hops </a:t>
            </a:r>
            <a:r>
              <a:rPr dirty="0" sz="2800">
                <a:latin typeface="Calibri"/>
                <a:cs typeface="Calibri"/>
              </a:rPr>
              <a:t>(num </a:t>
            </a:r>
            <a:r>
              <a:rPr dirty="0" sz="2800" spc="-5">
                <a:latin typeface="Calibri"/>
                <a:cs typeface="Calibri"/>
              </a:rPr>
              <a:t>of GNN </a:t>
            </a:r>
            <a:r>
              <a:rPr dirty="0" sz="2800" spc="-25">
                <a:latin typeface="Calibri"/>
                <a:cs typeface="Calibri"/>
              </a:rPr>
              <a:t>layers)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7422" y="3668271"/>
            <a:ext cx="2690749" cy="26763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16776" y="3668271"/>
            <a:ext cx="2690750" cy="26763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39876" y="3668271"/>
            <a:ext cx="2690750" cy="26763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67465" y="3050539"/>
            <a:ext cx="224345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 b="1">
                <a:solidFill>
                  <a:srgbClr val="C00000"/>
                </a:solidFill>
                <a:latin typeface="Calibri"/>
                <a:cs typeface="Calibri"/>
              </a:rPr>
              <a:t>1-hop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neighbor overlap 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spc="-5" b="1">
                <a:latin typeface="Calibri"/>
                <a:cs typeface="Calibri"/>
              </a:rPr>
              <a:t>Only </a:t>
            </a:r>
            <a:r>
              <a:rPr dirty="0" sz="1800" b="1">
                <a:latin typeface="Calibri"/>
                <a:cs typeface="Calibri"/>
              </a:rPr>
              <a:t>1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node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6"/>
              </a:rPr>
              <a:t>http://cs224w.stanford.edu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3354279" y="3050539"/>
            <a:ext cx="224345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 b="1">
                <a:solidFill>
                  <a:srgbClr val="C00000"/>
                </a:solidFill>
                <a:latin typeface="Calibri"/>
                <a:cs typeface="Calibri"/>
              </a:rPr>
              <a:t>2-hop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neighbor overlap 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spc="-5" b="1">
                <a:latin typeface="Calibri"/>
                <a:cs typeface="Calibri"/>
              </a:rPr>
              <a:t>About </a:t>
            </a:r>
            <a:r>
              <a:rPr dirty="0" sz="1800" b="1">
                <a:latin typeface="Calibri"/>
                <a:cs typeface="Calibri"/>
              </a:rPr>
              <a:t>20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spc="-5" b="1">
                <a:latin typeface="Calibri"/>
                <a:cs typeface="Calibri"/>
              </a:rPr>
              <a:t>nodes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1768" y="3050539"/>
            <a:ext cx="224345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 b="1">
                <a:solidFill>
                  <a:srgbClr val="C00000"/>
                </a:solidFill>
                <a:latin typeface="Calibri"/>
                <a:cs typeface="Calibri"/>
              </a:rPr>
              <a:t>3-hop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neighbor overlap </a:t>
            </a:r>
            <a:r>
              <a:rPr dirty="0" sz="1800" spc="-10" b="1">
                <a:latin typeface="Calibri"/>
                <a:cs typeface="Calibri"/>
              </a:rPr>
              <a:t> Almost </a:t>
            </a:r>
            <a:r>
              <a:rPr dirty="0" sz="1800" spc="-5" b="1">
                <a:latin typeface="Calibri"/>
                <a:cs typeface="Calibri"/>
              </a:rPr>
              <a:t>all the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5" b="1">
                <a:latin typeface="Calibri"/>
                <a:cs typeface="Calibri"/>
              </a:rPr>
              <a:t>nodes!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580376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54836"/>
            <a:ext cx="810387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>
                <a:solidFill>
                  <a:srgbClr val="60B5CC"/>
                </a:solidFill>
              </a:rPr>
              <a:t>We </a:t>
            </a:r>
            <a:r>
              <a:rPr dirty="0" spc="-10">
                <a:solidFill>
                  <a:srgbClr val="60B5CC"/>
                </a:solidFill>
              </a:rPr>
              <a:t>can explain over-smoothing </a:t>
            </a:r>
            <a:r>
              <a:rPr dirty="0" spc="-5">
                <a:solidFill>
                  <a:srgbClr val="60B5CC"/>
                </a:solidFill>
              </a:rPr>
              <a:t>via the notion  </a:t>
            </a:r>
            <a:r>
              <a:rPr dirty="0">
                <a:solidFill>
                  <a:srgbClr val="60B5CC"/>
                </a:solidFill>
              </a:rPr>
              <a:t>of </a:t>
            </a:r>
            <a:r>
              <a:rPr dirty="0" spc="-15">
                <a:solidFill>
                  <a:srgbClr val="60B5CC"/>
                </a:solidFill>
              </a:rPr>
              <a:t>receptive</a:t>
            </a:r>
            <a:r>
              <a:rPr dirty="0" spc="-45">
                <a:solidFill>
                  <a:srgbClr val="60B5CC"/>
                </a:solidFill>
              </a:rPr>
              <a:t> </a:t>
            </a:r>
            <a:r>
              <a:rPr dirty="0" spc="-5">
                <a:solidFill>
                  <a:srgbClr val="60B5CC"/>
                </a:solidFill>
              </a:rPr>
              <a:t>field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420619"/>
            <a:ext cx="8208009" cy="389382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625475" marR="324485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knew </a:t>
            </a:r>
            <a:r>
              <a:rPr dirty="0" sz="2800" spc="-5" b="1">
                <a:latin typeface="Calibri"/>
                <a:cs typeface="Calibri"/>
              </a:rPr>
              <a:t>the embedding of </a:t>
            </a:r>
            <a:r>
              <a:rPr dirty="0" sz="2800" b="1">
                <a:latin typeface="Calibri"/>
                <a:cs typeface="Calibri"/>
              </a:rPr>
              <a:t>a </a:t>
            </a:r>
            <a:r>
              <a:rPr dirty="0" sz="2800" spc="-5" b="1">
                <a:latin typeface="Calibri"/>
                <a:cs typeface="Calibri"/>
              </a:rPr>
              <a:t>node is </a:t>
            </a:r>
            <a:r>
              <a:rPr dirty="0" sz="2800" spc="-10" b="1">
                <a:latin typeface="Calibri"/>
                <a:cs typeface="Calibri"/>
              </a:rPr>
              <a:t>determined  by </a:t>
            </a:r>
            <a:r>
              <a:rPr dirty="0" sz="2800" spc="-5" b="1">
                <a:latin typeface="Calibri"/>
                <a:cs typeface="Calibri"/>
              </a:rPr>
              <a:t>its </a:t>
            </a:r>
            <a:r>
              <a:rPr dirty="0" sz="2800" spc="-10" b="1">
                <a:solidFill>
                  <a:srgbClr val="60B5CC"/>
                </a:solidFill>
                <a:latin typeface="Calibri"/>
                <a:cs typeface="Calibri"/>
              </a:rPr>
              <a:t>receptive</a:t>
            </a:r>
            <a:r>
              <a:rPr dirty="0" sz="2800" spc="-5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60B5CC"/>
                </a:solidFill>
                <a:latin typeface="Calibri"/>
                <a:cs typeface="Calibri"/>
              </a:rPr>
              <a:t>field</a:t>
            </a:r>
            <a:endParaRPr sz="2800">
              <a:latin typeface="Calibri"/>
              <a:cs typeface="Calibri"/>
            </a:endParaRPr>
          </a:p>
          <a:p>
            <a:pPr lvl="1" marL="890905" marR="5080" indent="-228600">
              <a:lnSpc>
                <a:spcPct val="100000"/>
              </a:lnSpc>
              <a:spcBef>
                <a:spcPts val="535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If </a:t>
            </a:r>
            <a:r>
              <a:rPr dirty="0" sz="2400" spc="-15">
                <a:latin typeface="Calibri"/>
                <a:cs typeface="Calibri"/>
              </a:rPr>
              <a:t>two </a:t>
            </a:r>
            <a:r>
              <a:rPr dirty="0" sz="2400" spc="-5">
                <a:latin typeface="Calibri"/>
                <a:cs typeface="Calibri"/>
              </a:rPr>
              <a:t>nodes </a:t>
            </a:r>
            <a:r>
              <a:rPr dirty="0" sz="2400" spc="-20" b="1">
                <a:latin typeface="Calibri"/>
                <a:cs typeface="Calibri"/>
              </a:rPr>
              <a:t>have </a:t>
            </a:r>
            <a:r>
              <a:rPr dirty="0" sz="2400" spc="-10" b="1">
                <a:latin typeface="Calibri"/>
                <a:cs typeface="Calibri"/>
              </a:rPr>
              <a:t>highly-overlapped receptive </a:t>
            </a:r>
            <a:r>
              <a:rPr dirty="0" sz="2400" spc="-5" b="1">
                <a:latin typeface="Calibri"/>
                <a:cs typeface="Calibri"/>
              </a:rPr>
              <a:t>fields, then  their embeddings </a:t>
            </a:r>
            <a:r>
              <a:rPr dirty="0" sz="2400" spc="-15" b="1">
                <a:latin typeface="Calibri"/>
                <a:cs typeface="Calibri"/>
              </a:rPr>
              <a:t>are </a:t>
            </a:r>
            <a:r>
              <a:rPr dirty="0" sz="2400" spc="-5" b="1">
                <a:latin typeface="Calibri"/>
                <a:cs typeface="Calibri"/>
              </a:rPr>
              <a:t>highly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similar</a:t>
            </a:r>
            <a:endParaRPr sz="2400">
              <a:latin typeface="Calibri"/>
              <a:cs typeface="Calibri"/>
            </a:endParaRPr>
          </a:p>
          <a:p>
            <a:pPr marL="625475" marR="294005" indent="-274320">
              <a:lnSpc>
                <a:spcPct val="100200"/>
              </a:lnSpc>
              <a:spcBef>
                <a:spcPts val="62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E66C7D"/>
                </a:solidFill>
                <a:latin typeface="Calibri"/>
                <a:cs typeface="Calibri"/>
              </a:rPr>
              <a:t>Stack </a:t>
            </a:r>
            <a:r>
              <a:rPr dirty="0" sz="2800" spc="-15" b="1">
                <a:solidFill>
                  <a:srgbClr val="E66C7D"/>
                </a:solidFill>
                <a:latin typeface="Calibri"/>
                <a:cs typeface="Calibri"/>
              </a:rPr>
              <a:t>many </a:t>
            </a:r>
            <a:r>
              <a:rPr dirty="0" sz="2800" b="1">
                <a:solidFill>
                  <a:srgbClr val="E66C7D"/>
                </a:solidFill>
                <a:latin typeface="Calibri"/>
                <a:cs typeface="Calibri"/>
              </a:rPr>
              <a:t>GNN </a:t>
            </a:r>
            <a:r>
              <a:rPr dirty="0" sz="2800" spc="-20" b="1">
                <a:solidFill>
                  <a:srgbClr val="E66C7D"/>
                </a:solidFill>
                <a:latin typeface="Calibri"/>
                <a:cs typeface="Calibri"/>
              </a:rPr>
              <a:t>layers </a:t>
            </a:r>
            <a:r>
              <a:rPr dirty="0" sz="2800" spc="1180">
                <a:latin typeface="Arial"/>
                <a:cs typeface="Arial"/>
              </a:rPr>
              <a:t>à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B48200"/>
                </a:solidFill>
                <a:latin typeface="Calibri"/>
                <a:cs typeface="Calibri"/>
              </a:rPr>
              <a:t>nodes </a:t>
            </a:r>
            <a:r>
              <a:rPr dirty="0" sz="2800" b="1">
                <a:solidFill>
                  <a:srgbClr val="B48200"/>
                </a:solidFill>
                <a:latin typeface="Calibri"/>
                <a:cs typeface="Calibri"/>
              </a:rPr>
              <a:t>will </a:t>
            </a:r>
            <a:r>
              <a:rPr dirty="0" sz="2800" spc="-20" b="1">
                <a:solidFill>
                  <a:srgbClr val="B48200"/>
                </a:solidFill>
                <a:latin typeface="Calibri"/>
                <a:cs typeface="Calibri"/>
              </a:rPr>
              <a:t>have </a:t>
            </a:r>
            <a:r>
              <a:rPr dirty="0" sz="2800" spc="-15" b="1">
                <a:solidFill>
                  <a:srgbClr val="B48200"/>
                </a:solidFill>
                <a:latin typeface="Calibri"/>
                <a:cs typeface="Calibri"/>
              </a:rPr>
              <a:t>highly-  </a:t>
            </a:r>
            <a:r>
              <a:rPr dirty="0" sz="2800" spc="-5" b="1">
                <a:solidFill>
                  <a:srgbClr val="B48200"/>
                </a:solidFill>
                <a:latin typeface="Calibri"/>
                <a:cs typeface="Calibri"/>
              </a:rPr>
              <a:t>overlapped </a:t>
            </a:r>
            <a:r>
              <a:rPr dirty="0" sz="2800" spc="-10" b="1">
                <a:solidFill>
                  <a:srgbClr val="B48200"/>
                </a:solidFill>
                <a:latin typeface="Calibri"/>
                <a:cs typeface="Calibri"/>
              </a:rPr>
              <a:t>receptive </a:t>
            </a:r>
            <a:r>
              <a:rPr dirty="0" sz="2800" spc="-5" b="1">
                <a:solidFill>
                  <a:srgbClr val="B48200"/>
                </a:solidFill>
                <a:latin typeface="Calibri"/>
                <a:cs typeface="Calibri"/>
              </a:rPr>
              <a:t>fields </a:t>
            </a:r>
            <a:r>
              <a:rPr dirty="0" sz="2800" spc="1180">
                <a:latin typeface="Arial"/>
                <a:cs typeface="Arial"/>
              </a:rPr>
              <a:t>à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3792AA"/>
                </a:solidFill>
                <a:latin typeface="Calibri"/>
                <a:cs typeface="Calibri"/>
              </a:rPr>
              <a:t>node embeddings  will be highly similar </a:t>
            </a:r>
            <a:r>
              <a:rPr dirty="0" sz="2800" spc="1180">
                <a:latin typeface="Arial"/>
                <a:cs typeface="Arial"/>
              </a:rPr>
              <a:t>à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suffer from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over- 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smoothing</a:t>
            </a:r>
            <a:r>
              <a:rPr dirty="0" sz="28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problem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29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E66C7D"/>
                </a:solidFill>
                <a:latin typeface="Calibri"/>
                <a:cs typeface="Calibri"/>
              </a:rPr>
              <a:t>Next: </a:t>
            </a:r>
            <a:r>
              <a:rPr dirty="0" sz="2800" spc="-5">
                <a:latin typeface="Calibri"/>
                <a:cs typeface="Calibri"/>
              </a:rPr>
              <a:t>how </a:t>
            </a:r>
            <a:r>
              <a:rPr dirty="0" sz="2800">
                <a:latin typeface="Calibri"/>
                <a:cs typeface="Calibri"/>
              </a:rPr>
              <a:t>do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20">
                <a:latin typeface="Calibri"/>
                <a:cs typeface="Calibri"/>
              </a:rPr>
              <a:t>overcome </a:t>
            </a:r>
            <a:r>
              <a:rPr dirty="0" sz="2800" spc="-15">
                <a:latin typeface="Calibri"/>
                <a:cs typeface="Calibri"/>
              </a:rPr>
              <a:t>over-smoothing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problem?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083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8262620" cy="8851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>
                <a:solidFill>
                  <a:srgbClr val="00B050"/>
                </a:solidFill>
              </a:rPr>
              <a:t>What </a:t>
            </a:r>
            <a:r>
              <a:rPr dirty="0" sz="2800" spc="-5">
                <a:solidFill>
                  <a:srgbClr val="00B050"/>
                </a:solidFill>
              </a:rPr>
              <a:t>do </a:t>
            </a:r>
            <a:r>
              <a:rPr dirty="0" sz="2800" spc="-15">
                <a:solidFill>
                  <a:srgbClr val="00B050"/>
                </a:solidFill>
              </a:rPr>
              <a:t>we </a:t>
            </a:r>
            <a:r>
              <a:rPr dirty="0" sz="2800" spc="-5">
                <a:solidFill>
                  <a:srgbClr val="00B050"/>
                </a:solidFill>
              </a:rPr>
              <a:t>learn </a:t>
            </a:r>
            <a:r>
              <a:rPr dirty="0" sz="2800" spc="-10">
                <a:solidFill>
                  <a:srgbClr val="00B050"/>
                </a:solidFill>
              </a:rPr>
              <a:t>from </a:t>
            </a:r>
            <a:r>
              <a:rPr dirty="0" sz="2800" spc="-5">
                <a:solidFill>
                  <a:srgbClr val="00B050"/>
                </a:solidFill>
              </a:rPr>
              <a:t>the </a:t>
            </a:r>
            <a:r>
              <a:rPr dirty="0" sz="2800" spc="-10">
                <a:solidFill>
                  <a:srgbClr val="00B050"/>
                </a:solidFill>
              </a:rPr>
              <a:t>over-smoothing</a:t>
            </a:r>
            <a:r>
              <a:rPr dirty="0" sz="2800" spc="30">
                <a:solidFill>
                  <a:srgbClr val="00B050"/>
                </a:solidFill>
              </a:rPr>
              <a:t> </a:t>
            </a:r>
            <a:r>
              <a:rPr dirty="0" sz="2800" spc="-10">
                <a:solidFill>
                  <a:srgbClr val="00B050"/>
                </a:solidFill>
              </a:rPr>
              <a:t>problem?</a:t>
            </a:r>
            <a:endParaRPr sz="2800"/>
          </a:p>
          <a:p>
            <a:pPr marL="332740" indent="-320040"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C00000"/>
                </a:solidFill>
              </a:rPr>
              <a:t>Lesson </a:t>
            </a:r>
            <a:r>
              <a:rPr dirty="0" sz="2800">
                <a:solidFill>
                  <a:srgbClr val="C00000"/>
                </a:solidFill>
              </a:rPr>
              <a:t>1: Be </a:t>
            </a:r>
            <a:r>
              <a:rPr dirty="0" sz="2800" spc="-5">
                <a:solidFill>
                  <a:srgbClr val="C00000"/>
                </a:solidFill>
              </a:rPr>
              <a:t>cautious when adding </a:t>
            </a:r>
            <a:r>
              <a:rPr dirty="0" sz="2800">
                <a:solidFill>
                  <a:srgbClr val="C00000"/>
                </a:solidFill>
              </a:rPr>
              <a:t>GNN</a:t>
            </a:r>
            <a:r>
              <a:rPr dirty="0" sz="2800" spc="-5">
                <a:solidFill>
                  <a:srgbClr val="C00000"/>
                </a:solidFill>
              </a:rPr>
              <a:t> </a:t>
            </a:r>
            <a:r>
              <a:rPr dirty="0" sz="2800" spc="-20">
                <a:solidFill>
                  <a:srgbClr val="C00000"/>
                </a:solidFill>
              </a:rPr>
              <a:t>layers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276348"/>
            <a:ext cx="8188959" cy="384302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222885" indent="-274320">
              <a:lnSpc>
                <a:spcPct val="100800"/>
              </a:lnSpc>
              <a:spcBef>
                <a:spcPts val="7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20">
                <a:latin typeface="Calibri"/>
                <a:cs typeface="Calibri"/>
              </a:rPr>
              <a:t>Unlike </a:t>
            </a:r>
            <a:r>
              <a:rPr dirty="0" sz="2400" spc="-10">
                <a:latin typeface="Calibri"/>
                <a:cs typeface="Calibri"/>
              </a:rPr>
              <a:t>neural networks </a:t>
            </a:r>
            <a:r>
              <a:rPr dirty="0" sz="2400" spc="-5">
                <a:latin typeface="Calibri"/>
                <a:cs typeface="Calibri"/>
              </a:rPr>
              <a:t>in other domains (CNN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-10">
                <a:latin typeface="Calibri"/>
                <a:cs typeface="Calibri"/>
              </a:rPr>
              <a:t>image  classification), </a:t>
            </a:r>
            <a:r>
              <a:rPr dirty="0" sz="2400" spc="-5" b="1">
                <a:latin typeface="Calibri"/>
                <a:cs typeface="Calibri"/>
              </a:rPr>
              <a:t>adding </a:t>
            </a:r>
            <a:r>
              <a:rPr dirty="0" sz="2400" spc="-15" b="1">
                <a:latin typeface="Calibri"/>
                <a:cs typeface="Calibri"/>
              </a:rPr>
              <a:t>more </a:t>
            </a:r>
            <a:r>
              <a:rPr dirty="0" sz="2400" spc="-5" b="1">
                <a:latin typeface="Calibri"/>
                <a:cs typeface="Calibri"/>
              </a:rPr>
              <a:t>GNN </a:t>
            </a:r>
            <a:r>
              <a:rPr dirty="0" sz="2400" spc="-20" b="1">
                <a:latin typeface="Calibri"/>
                <a:cs typeface="Calibri"/>
              </a:rPr>
              <a:t>layers </a:t>
            </a:r>
            <a:r>
              <a:rPr dirty="0" sz="2400" spc="-5" b="1">
                <a:latin typeface="Calibri"/>
                <a:cs typeface="Calibri"/>
              </a:rPr>
              <a:t>do not </a:t>
            </a:r>
            <a:r>
              <a:rPr dirty="0" sz="2400" spc="-20" b="1">
                <a:latin typeface="Calibri"/>
                <a:cs typeface="Calibri"/>
              </a:rPr>
              <a:t>always</a:t>
            </a:r>
            <a:r>
              <a:rPr dirty="0" sz="2400" spc="55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help</a:t>
            </a:r>
            <a:endParaRPr sz="2400">
              <a:latin typeface="Calibri"/>
              <a:cs typeface="Calibri"/>
            </a:endParaRPr>
          </a:p>
          <a:p>
            <a:pPr marL="625475" marR="282575" indent="-274320">
              <a:lnSpc>
                <a:spcPct val="100800"/>
              </a:lnSpc>
              <a:spcBef>
                <a:spcPts val="57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10" b="1">
                <a:latin typeface="Calibri"/>
                <a:cs typeface="Calibri"/>
              </a:rPr>
              <a:t>Step </a:t>
            </a:r>
            <a:r>
              <a:rPr dirty="0" sz="2400" spc="-5" b="1">
                <a:latin typeface="Calibri"/>
                <a:cs typeface="Calibri"/>
              </a:rPr>
              <a:t>1: </a:t>
            </a:r>
            <a:r>
              <a:rPr dirty="0" sz="2400" spc="-15" b="1">
                <a:latin typeface="Calibri"/>
                <a:cs typeface="Calibri"/>
              </a:rPr>
              <a:t>Analyze </a:t>
            </a:r>
            <a:r>
              <a:rPr dirty="0" sz="2400" spc="-5" b="1">
                <a:latin typeface="Calibri"/>
                <a:cs typeface="Calibri"/>
              </a:rPr>
              <a:t>the necessary </a:t>
            </a:r>
            <a:r>
              <a:rPr dirty="0" sz="2400" spc="-10" b="1">
                <a:latin typeface="Calibri"/>
                <a:cs typeface="Calibri"/>
              </a:rPr>
              <a:t>receptive </a:t>
            </a:r>
            <a:r>
              <a:rPr dirty="0" sz="2400" spc="-5" b="1">
                <a:latin typeface="Calibri"/>
                <a:cs typeface="Calibri"/>
              </a:rPr>
              <a:t>field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10">
                <a:latin typeface="Calibri"/>
                <a:cs typeface="Calibri"/>
              </a:rPr>
              <a:t>solve your  problem. </a:t>
            </a:r>
            <a:r>
              <a:rPr dirty="0" sz="2400">
                <a:latin typeface="Calibri"/>
                <a:cs typeface="Calibri"/>
              </a:rPr>
              <a:t>E.g., </a:t>
            </a:r>
            <a:r>
              <a:rPr dirty="0" sz="2400" spc="-10">
                <a:latin typeface="Calibri"/>
                <a:cs typeface="Calibri"/>
              </a:rPr>
              <a:t>by </a:t>
            </a:r>
            <a:r>
              <a:rPr dirty="0" sz="2400" spc="-5">
                <a:latin typeface="Calibri"/>
                <a:cs typeface="Calibri"/>
              </a:rPr>
              <a:t>computing the </a:t>
            </a:r>
            <a:r>
              <a:rPr dirty="0" sz="2400" spc="-10">
                <a:latin typeface="Calibri"/>
                <a:cs typeface="Calibri"/>
              </a:rPr>
              <a:t>diameter </a:t>
            </a:r>
            <a:r>
              <a:rPr dirty="0" sz="2400" spc="-5">
                <a:latin typeface="Calibri"/>
                <a:cs typeface="Calibri"/>
              </a:rPr>
              <a:t>of the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  <a:p>
            <a:pPr marL="625475" marR="5080" indent="-274320">
              <a:lnSpc>
                <a:spcPct val="100800"/>
              </a:lnSpc>
              <a:spcBef>
                <a:spcPts val="50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10" b="1">
                <a:latin typeface="Calibri"/>
                <a:cs typeface="Calibri"/>
              </a:rPr>
              <a:t>Step </a:t>
            </a:r>
            <a:r>
              <a:rPr dirty="0" sz="2400" spc="-5" b="1">
                <a:latin typeface="Calibri"/>
                <a:cs typeface="Calibri"/>
              </a:rPr>
              <a:t>2: </a:t>
            </a:r>
            <a:r>
              <a:rPr dirty="0" sz="2400" spc="-5">
                <a:latin typeface="Calibri"/>
                <a:cs typeface="Calibri"/>
              </a:rPr>
              <a:t>Set number of GNN </a:t>
            </a:r>
            <a:r>
              <a:rPr dirty="0" sz="2400" spc="-25">
                <a:latin typeface="Calibri"/>
                <a:cs typeface="Calibri"/>
              </a:rPr>
              <a:t>layers </a:t>
            </a:r>
            <a:r>
              <a:rPr dirty="0" sz="2400">
                <a:latin typeface="Cambria Math"/>
                <a:cs typeface="Cambria Math"/>
              </a:rPr>
              <a:t>𝐿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be a bit </a:t>
            </a:r>
            <a:r>
              <a:rPr dirty="0" sz="2400" spc="-15">
                <a:latin typeface="Calibri"/>
                <a:cs typeface="Calibri"/>
              </a:rPr>
              <a:t>more </a:t>
            </a:r>
            <a:r>
              <a:rPr dirty="0" sz="2400" spc="-5">
                <a:latin typeface="Calibri"/>
                <a:cs typeface="Calibri"/>
              </a:rPr>
              <a:t>than the  </a:t>
            </a:r>
            <a:r>
              <a:rPr dirty="0" sz="2400" spc="-10">
                <a:latin typeface="Calibri"/>
                <a:cs typeface="Calibri"/>
              </a:rPr>
              <a:t>receptive </a:t>
            </a:r>
            <a:r>
              <a:rPr dirty="0" sz="2400" spc="-5">
                <a:latin typeface="Calibri"/>
                <a:cs typeface="Calibri"/>
              </a:rPr>
              <a:t>field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 spc="-20">
                <a:latin typeface="Calibri"/>
                <a:cs typeface="Calibri"/>
              </a:rPr>
              <a:t>like. </a:t>
            </a:r>
            <a:r>
              <a:rPr dirty="0" sz="2400" spc="-5" b="1">
                <a:latin typeface="Calibri"/>
                <a:cs typeface="Calibri"/>
              </a:rPr>
              <a:t>Do not set </a:t>
            </a:r>
            <a:r>
              <a:rPr dirty="0" sz="2400">
                <a:latin typeface="Cambria Math"/>
                <a:cs typeface="Cambria Math"/>
              </a:rPr>
              <a:t>𝑳 </a:t>
            </a:r>
            <a:r>
              <a:rPr dirty="0" sz="2400" spc="-10" b="1">
                <a:latin typeface="Calibri"/>
                <a:cs typeface="Calibri"/>
              </a:rPr>
              <a:t>to </a:t>
            </a:r>
            <a:r>
              <a:rPr dirty="0" sz="2400" spc="-5" b="1">
                <a:latin typeface="Calibri"/>
                <a:cs typeface="Calibri"/>
              </a:rPr>
              <a:t>be unnecessarily  </a:t>
            </a:r>
            <a:r>
              <a:rPr dirty="0" sz="2400" spc="-15" b="1">
                <a:latin typeface="Calibri"/>
                <a:cs typeface="Calibri"/>
              </a:rPr>
              <a:t>large</a:t>
            </a:r>
            <a:r>
              <a:rPr dirty="0" sz="2400" spc="-15">
                <a:latin typeface="Calibri"/>
                <a:cs typeface="Calibri"/>
              </a:rPr>
              <a:t>!</a:t>
            </a:r>
            <a:endParaRPr sz="2400">
              <a:latin typeface="Calibri"/>
              <a:cs typeface="Calibri"/>
            </a:endParaRPr>
          </a:p>
          <a:p>
            <a:pPr marL="332740" marR="184150" indent="-320040">
              <a:lnSpc>
                <a:spcPct val="101400"/>
              </a:lnSpc>
              <a:spcBef>
                <a:spcPts val="185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Question: </a:t>
            </a:r>
            <a:r>
              <a:rPr dirty="0" sz="2800" spc="-5">
                <a:latin typeface="Calibri"/>
                <a:cs typeface="Calibri"/>
              </a:rPr>
              <a:t>How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enhance the </a:t>
            </a:r>
            <a:r>
              <a:rPr dirty="0" sz="2800" spc="-15">
                <a:latin typeface="Calibri"/>
                <a:cs typeface="Calibri"/>
              </a:rPr>
              <a:t>expressive power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a  </a:t>
            </a:r>
            <a:r>
              <a:rPr dirty="0" sz="2800" spc="-5">
                <a:latin typeface="Calibri"/>
                <a:cs typeface="Calibri"/>
              </a:rPr>
              <a:t>GNN,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if the number of GNN </a:t>
            </a:r>
            <a:r>
              <a:rPr dirty="0" sz="2800" spc="-30">
                <a:solidFill>
                  <a:srgbClr val="C00000"/>
                </a:solidFill>
                <a:latin typeface="Calibri"/>
                <a:cs typeface="Calibri"/>
              </a:rPr>
              <a:t>layers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dirty="0" sz="2800" spc="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small</a:t>
            </a:r>
            <a:r>
              <a:rPr dirty="0" sz="2800" spc="-5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6615"/>
            <a:ext cx="7946135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400290" cy="13030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>
                <a:solidFill>
                  <a:srgbClr val="00B050"/>
                </a:solidFill>
              </a:rPr>
              <a:t>How </a:t>
            </a:r>
            <a:r>
              <a:rPr dirty="0" sz="2800" spc="-15">
                <a:solidFill>
                  <a:srgbClr val="00B050"/>
                </a:solidFill>
              </a:rPr>
              <a:t>to </a:t>
            </a:r>
            <a:r>
              <a:rPr dirty="0" sz="2800" spc="-20">
                <a:solidFill>
                  <a:srgbClr val="00B050"/>
                </a:solidFill>
              </a:rPr>
              <a:t>make </a:t>
            </a:r>
            <a:r>
              <a:rPr dirty="0" sz="2800">
                <a:solidFill>
                  <a:srgbClr val="00B050"/>
                </a:solidFill>
              </a:rPr>
              <a:t>a </a:t>
            </a:r>
            <a:r>
              <a:rPr dirty="0" sz="2800" spc="-5">
                <a:solidFill>
                  <a:srgbClr val="00B050"/>
                </a:solidFill>
              </a:rPr>
              <a:t>shallow </a:t>
            </a:r>
            <a:r>
              <a:rPr dirty="0" sz="2800">
                <a:solidFill>
                  <a:srgbClr val="00B050"/>
                </a:solidFill>
              </a:rPr>
              <a:t>GNN </a:t>
            </a:r>
            <a:r>
              <a:rPr dirty="0" sz="2800" spc="-15">
                <a:solidFill>
                  <a:srgbClr val="00B050"/>
                </a:solidFill>
              </a:rPr>
              <a:t>more</a:t>
            </a:r>
            <a:r>
              <a:rPr dirty="0" sz="2800" spc="50">
                <a:solidFill>
                  <a:srgbClr val="00B050"/>
                </a:solidFill>
              </a:rPr>
              <a:t> </a:t>
            </a:r>
            <a:r>
              <a:rPr dirty="0" sz="2800" spc="-15">
                <a:solidFill>
                  <a:srgbClr val="00B050"/>
                </a:solidFill>
              </a:rPr>
              <a:t>expressive?</a:t>
            </a:r>
            <a:endParaRPr sz="2800"/>
          </a:p>
          <a:p>
            <a:pPr marL="332740" marR="5080" indent="-320040">
              <a:lnSpc>
                <a:spcPts val="3290"/>
              </a:lnSpc>
              <a:spcBef>
                <a:spcPts val="21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C00000"/>
                </a:solidFill>
              </a:rPr>
              <a:t>Solution </a:t>
            </a:r>
            <a:r>
              <a:rPr dirty="0" sz="2800">
                <a:solidFill>
                  <a:srgbClr val="C00000"/>
                </a:solidFill>
              </a:rPr>
              <a:t>1</a:t>
            </a:r>
            <a:r>
              <a:rPr dirty="0" sz="2800">
                <a:solidFill>
                  <a:srgbClr val="000000"/>
                </a:solidFill>
              </a:rPr>
              <a:t>: </a:t>
            </a:r>
            <a:r>
              <a:rPr dirty="0" sz="2800" spc="-10" b="0">
                <a:solidFill>
                  <a:srgbClr val="000000"/>
                </a:solidFill>
                <a:latin typeface="Calibri"/>
                <a:cs typeface="Calibri"/>
              </a:rPr>
              <a:t>Increase </a:t>
            </a:r>
            <a:r>
              <a:rPr dirty="0" sz="2800" spc="-5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z="2800" spc="-15" b="0">
                <a:solidFill>
                  <a:srgbClr val="000000"/>
                </a:solidFill>
                <a:latin typeface="Calibri"/>
                <a:cs typeface="Calibri"/>
              </a:rPr>
              <a:t>expressive power </a:t>
            </a:r>
            <a:r>
              <a:rPr dirty="0" sz="2800" spc="-5">
                <a:solidFill>
                  <a:srgbClr val="C00000"/>
                </a:solidFill>
              </a:rPr>
              <a:t>within  </a:t>
            </a:r>
            <a:r>
              <a:rPr dirty="0" sz="2800">
                <a:solidFill>
                  <a:srgbClr val="C00000"/>
                </a:solidFill>
              </a:rPr>
              <a:t>each GNN</a:t>
            </a:r>
            <a:r>
              <a:rPr dirty="0" sz="2800" spc="-90">
                <a:solidFill>
                  <a:srgbClr val="C00000"/>
                </a:solidFill>
              </a:rPr>
              <a:t> </a:t>
            </a:r>
            <a:r>
              <a:rPr dirty="0" sz="2800" spc="-20">
                <a:solidFill>
                  <a:srgbClr val="C00000"/>
                </a:solidFill>
              </a:rPr>
              <a:t>layer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706116"/>
            <a:ext cx="7009130" cy="156210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95630" indent="-274320">
              <a:lnSpc>
                <a:spcPct val="100800"/>
              </a:lnSpc>
              <a:spcBef>
                <a:spcPts val="75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5">
                <a:latin typeface="Calibri"/>
                <a:cs typeface="Calibri"/>
              </a:rPr>
              <a:t>In our </a:t>
            </a:r>
            <a:r>
              <a:rPr dirty="0" sz="2400" spc="-10">
                <a:latin typeface="Calibri"/>
                <a:cs typeface="Calibri"/>
              </a:rPr>
              <a:t>previous </a:t>
            </a:r>
            <a:r>
              <a:rPr dirty="0" sz="2400" spc="-15">
                <a:latin typeface="Calibri"/>
                <a:cs typeface="Calibri"/>
              </a:rPr>
              <a:t>examples, </a:t>
            </a:r>
            <a:r>
              <a:rPr dirty="0" sz="2400" spc="-5">
                <a:latin typeface="Calibri"/>
                <a:cs typeface="Calibri"/>
              </a:rPr>
              <a:t>each </a:t>
            </a:r>
            <a:r>
              <a:rPr dirty="0" sz="2400" spc="-15">
                <a:latin typeface="Calibri"/>
                <a:cs typeface="Calibri"/>
              </a:rPr>
              <a:t>transformation </a:t>
            </a:r>
            <a:r>
              <a:rPr dirty="0" sz="2400" spc="-5">
                <a:latin typeface="Calibri"/>
                <a:cs typeface="Calibri"/>
              </a:rPr>
              <a:t>or  </a:t>
            </a:r>
            <a:r>
              <a:rPr dirty="0" sz="2400" spc="-15">
                <a:latin typeface="Calibri"/>
                <a:cs typeface="Calibri"/>
              </a:rPr>
              <a:t>aggregation </a:t>
            </a:r>
            <a:r>
              <a:rPr dirty="0" sz="2400" spc="-5">
                <a:latin typeface="Calibri"/>
                <a:cs typeface="Calibri"/>
              </a:rPr>
              <a:t>function only include one linear</a:t>
            </a:r>
            <a:r>
              <a:rPr dirty="0" sz="2400" spc="8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layer</a:t>
            </a:r>
            <a:endParaRPr sz="2400">
              <a:latin typeface="Calibri"/>
              <a:cs typeface="Calibri"/>
            </a:endParaRPr>
          </a:p>
          <a:p>
            <a:pPr marL="287020" marR="5080" indent="-274320">
              <a:lnSpc>
                <a:spcPct val="100800"/>
              </a:lnSpc>
              <a:spcBef>
                <a:spcPts val="500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45">
                <a:latin typeface="Calibri"/>
                <a:cs typeface="Calibri"/>
              </a:rPr>
              <a:t>We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 spc="-20" b="1">
                <a:latin typeface="Calibri"/>
                <a:cs typeface="Calibri"/>
              </a:rPr>
              <a:t>make </a:t>
            </a:r>
            <a:r>
              <a:rPr dirty="0" sz="2400" spc="-10" b="1">
                <a:latin typeface="Calibri"/>
                <a:cs typeface="Calibri"/>
              </a:rPr>
              <a:t>aggregation </a:t>
            </a:r>
            <a:r>
              <a:rPr dirty="0" sz="2400" b="1">
                <a:latin typeface="Calibri"/>
                <a:cs typeface="Calibri"/>
              </a:rPr>
              <a:t>/ </a:t>
            </a:r>
            <a:r>
              <a:rPr dirty="0" sz="2400" spc="-15" b="1">
                <a:latin typeface="Calibri"/>
                <a:cs typeface="Calibri"/>
              </a:rPr>
              <a:t>transformation </a:t>
            </a:r>
            <a:r>
              <a:rPr dirty="0" sz="2400" spc="-10" b="1">
                <a:latin typeface="Calibri"/>
                <a:cs typeface="Calibri"/>
              </a:rPr>
              <a:t>become </a:t>
            </a:r>
            <a:r>
              <a:rPr dirty="0" sz="2400" b="1">
                <a:latin typeface="Calibri"/>
                <a:cs typeface="Calibri"/>
              </a:rPr>
              <a:t>a  </a:t>
            </a:r>
            <a:r>
              <a:rPr dirty="0" sz="2400" spc="-5" b="1">
                <a:latin typeface="Calibri"/>
                <a:cs typeface="Calibri"/>
              </a:rPr>
              <a:t>deep </a:t>
            </a:r>
            <a:r>
              <a:rPr dirty="0" sz="2400" spc="-15" b="1">
                <a:latin typeface="Calibri"/>
                <a:cs typeface="Calibri"/>
              </a:rPr>
              <a:t>neural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network</a:t>
            </a:r>
            <a:r>
              <a:rPr dirty="0" sz="2400" spc="-10">
                <a:latin typeface="Calibri"/>
                <a:cs typeface="Calibri"/>
              </a:rPr>
              <a:t>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39525" y="4573268"/>
            <a:ext cx="1336259" cy="19817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410206" y="5144201"/>
            <a:ext cx="1603375" cy="322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5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1950" spc="-7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10206" y="5762834"/>
            <a:ext cx="1934210" cy="322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5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1950" spc="-8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1950" spc="-20" b="1">
                <a:solidFill>
                  <a:srgbClr val="5A6378"/>
                </a:solidFill>
                <a:latin typeface="Calibri"/>
                <a:cs typeface="Calibri"/>
              </a:rPr>
              <a:t>Transformation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2566" y="5153659"/>
            <a:ext cx="325501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latin typeface="Calibri"/>
                <a:cs typeface="Calibri"/>
              </a:rPr>
              <a:t>If needed, each </a:t>
            </a:r>
            <a:r>
              <a:rPr dirty="0" sz="2400" spc="-20" b="1">
                <a:latin typeface="Calibri"/>
                <a:cs typeface="Calibri"/>
              </a:rPr>
              <a:t>box </a:t>
            </a:r>
            <a:r>
              <a:rPr dirty="0" sz="2400" spc="-10" b="1">
                <a:latin typeface="Calibri"/>
                <a:cs typeface="Calibri"/>
              </a:rPr>
              <a:t>could  </a:t>
            </a:r>
            <a:r>
              <a:rPr dirty="0" sz="2400" spc="-5" b="1">
                <a:latin typeface="Calibri"/>
                <a:cs typeface="Calibri"/>
              </a:rPr>
              <a:t>include </a:t>
            </a:r>
            <a:r>
              <a:rPr dirty="0" sz="2400" b="1">
                <a:latin typeface="Calibri"/>
                <a:cs typeface="Calibri"/>
              </a:rPr>
              <a:t>a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3-layer</a:t>
            </a:r>
            <a:r>
              <a:rPr dirty="0" sz="24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MLP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20018" y="5339093"/>
            <a:ext cx="1241425" cy="239395"/>
          </a:xfrm>
          <a:custGeom>
            <a:avLst/>
            <a:gdLst/>
            <a:ahLst/>
            <a:cxnLst/>
            <a:rect l="l" t="t" r="r" b="b"/>
            <a:pathLst>
              <a:path w="1241425" h="239395">
                <a:moveTo>
                  <a:pt x="1154486" y="28221"/>
                </a:moveTo>
                <a:lnTo>
                  <a:pt x="5314" y="210632"/>
                </a:lnTo>
                <a:lnTo>
                  <a:pt x="0" y="217952"/>
                </a:lnTo>
                <a:lnTo>
                  <a:pt x="2475" y="233539"/>
                </a:lnTo>
                <a:lnTo>
                  <a:pt x="9795" y="238853"/>
                </a:lnTo>
                <a:lnTo>
                  <a:pt x="1158965" y="56443"/>
                </a:lnTo>
                <a:lnTo>
                  <a:pt x="1154486" y="28221"/>
                </a:lnTo>
                <a:close/>
              </a:path>
              <a:path w="1241425" h="239395">
                <a:moveTo>
                  <a:pt x="1228269" y="24744"/>
                </a:moveTo>
                <a:lnTo>
                  <a:pt x="1176390" y="24744"/>
                </a:lnTo>
                <a:lnTo>
                  <a:pt x="1183711" y="30059"/>
                </a:lnTo>
                <a:lnTo>
                  <a:pt x="1186185" y="45646"/>
                </a:lnTo>
                <a:lnTo>
                  <a:pt x="1180870" y="52966"/>
                </a:lnTo>
                <a:lnTo>
                  <a:pt x="1158965" y="56443"/>
                </a:lnTo>
                <a:lnTo>
                  <a:pt x="1163445" y="84665"/>
                </a:lnTo>
                <a:lnTo>
                  <a:pt x="1241391" y="28893"/>
                </a:lnTo>
                <a:lnTo>
                  <a:pt x="1228269" y="24744"/>
                </a:lnTo>
                <a:close/>
              </a:path>
              <a:path w="1241425" h="239395">
                <a:moveTo>
                  <a:pt x="1176390" y="24744"/>
                </a:moveTo>
                <a:lnTo>
                  <a:pt x="1154486" y="28221"/>
                </a:lnTo>
                <a:lnTo>
                  <a:pt x="1158965" y="56443"/>
                </a:lnTo>
                <a:lnTo>
                  <a:pt x="1180870" y="52966"/>
                </a:lnTo>
                <a:lnTo>
                  <a:pt x="1186185" y="45646"/>
                </a:lnTo>
                <a:lnTo>
                  <a:pt x="1183711" y="30059"/>
                </a:lnTo>
                <a:lnTo>
                  <a:pt x="1176390" y="24744"/>
                </a:lnTo>
                <a:close/>
              </a:path>
              <a:path w="1241425" h="239395">
                <a:moveTo>
                  <a:pt x="1150006" y="0"/>
                </a:moveTo>
                <a:lnTo>
                  <a:pt x="1154486" y="28221"/>
                </a:lnTo>
                <a:lnTo>
                  <a:pt x="1176390" y="24744"/>
                </a:lnTo>
                <a:lnTo>
                  <a:pt x="1228269" y="24744"/>
                </a:lnTo>
                <a:lnTo>
                  <a:pt x="115000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120217" y="5727808"/>
            <a:ext cx="1155700" cy="188595"/>
          </a:xfrm>
          <a:custGeom>
            <a:avLst/>
            <a:gdLst/>
            <a:ahLst/>
            <a:cxnLst/>
            <a:rect l="l" t="t" r="r" b="b"/>
            <a:pathLst>
              <a:path w="1155700" h="188595">
                <a:moveTo>
                  <a:pt x="1068841" y="160123"/>
                </a:moveTo>
                <a:lnTo>
                  <a:pt x="1065326" y="188481"/>
                </a:lnTo>
                <a:lnTo>
                  <a:pt x="1137703" y="162851"/>
                </a:lnTo>
                <a:lnTo>
                  <a:pt x="1090851" y="162851"/>
                </a:lnTo>
                <a:lnTo>
                  <a:pt x="1068841" y="160123"/>
                </a:lnTo>
                <a:close/>
              </a:path>
              <a:path w="1155700" h="188595">
                <a:moveTo>
                  <a:pt x="1072355" y="131765"/>
                </a:moveTo>
                <a:lnTo>
                  <a:pt x="1068841" y="160123"/>
                </a:lnTo>
                <a:lnTo>
                  <a:pt x="1090851" y="162851"/>
                </a:lnTo>
                <a:lnTo>
                  <a:pt x="1097986" y="157289"/>
                </a:lnTo>
                <a:lnTo>
                  <a:pt x="1099926" y="141628"/>
                </a:lnTo>
                <a:lnTo>
                  <a:pt x="1094365" y="134493"/>
                </a:lnTo>
                <a:lnTo>
                  <a:pt x="1072355" y="131765"/>
                </a:lnTo>
                <a:close/>
              </a:path>
              <a:path w="1155700" h="188595">
                <a:moveTo>
                  <a:pt x="1075870" y="103407"/>
                </a:moveTo>
                <a:lnTo>
                  <a:pt x="1072355" y="131765"/>
                </a:lnTo>
                <a:lnTo>
                  <a:pt x="1094365" y="134493"/>
                </a:lnTo>
                <a:lnTo>
                  <a:pt x="1099926" y="141628"/>
                </a:lnTo>
                <a:lnTo>
                  <a:pt x="1097986" y="157289"/>
                </a:lnTo>
                <a:lnTo>
                  <a:pt x="1090851" y="162851"/>
                </a:lnTo>
                <a:lnTo>
                  <a:pt x="1137703" y="162851"/>
                </a:lnTo>
                <a:lnTo>
                  <a:pt x="1155673" y="156487"/>
                </a:lnTo>
                <a:lnTo>
                  <a:pt x="1075870" y="103407"/>
                </a:lnTo>
                <a:close/>
              </a:path>
              <a:path w="1155700" h="188595">
                <a:moveTo>
                  <a:pt x="9075" y="0"/>
                </a:moveTo>
                <a:lnTo>
                  <a:pt x="1940" y="5561"/>
                </a:lnTo>
                <a:lnTo>
                  <a:pt x="0" y="21223"/>
                </a:lnTo>
                <a:lnTo>
                  <a:pt x="5561" y="28358"/>
                </a:lnTo>
                <a:lnTo>
                  <a:pt x="1068841" y="160123"/>
                </a:lnTo>
                <a:lnTo>
                  <a:pt x="1072355" y="131765"/>
                </a:lnTo>
                <a:lnTo>
                  <a:pt x="907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6615"/>
            <a:ext cx="7946135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401559" cy="8851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>
                <a:solidFill>
                  <a:srgbClr val="00B050"/>
                </a:solidFill>
              </a:rPr>
              <a:t>How </a:t>
            </a:r>
            <a:r>
              <a:rPr dirty="0" sz="2800" spc="-15">
                <a:solidFill>
                  <a:srgbClr val="00B050"/>
                </a:solidFill>
              </a:rPr>
              <a:t>to </a:t>
            </a:r>
            <a:r>
              <a:rPr dirty="0" sz="2800" spc="-20">
                <a:solidFill>
                  <a:srgbClr val="00B050"/>
                </a:solidFill>
              </a:rPr>
              <a:t>make </a:t>
            </a:r>
            <a:r>
              <a:rPr dirty="0" sz="2800">
                <a:solidFill>
                  <a:srgbClr val="00B050"/>
                </a:solidFill>
              </a:rPr>
              <a:t>a </a:t>
            </a:r>
            <a:r>
              <a:rPr dirty="0" sz="2800" spc="-5">
                <a:solidFill>
                  <a:srgbClr val="00B050"/>
                </a:solidFill>
              </a:rPr>
              <a:t>shallow </a:t>
            </a:r>
            <a:r>
              <a:rPr dirty="0" sz="2800">
                <a:solidFill>
                  <a:srgbClr val="00B050"/>
                </a:solidFill>
              </a:rPr>
              <a:t>GNN </a:t>
            </a:r>
            <a:r>
              <a:rPr dirty="0" sz="2800" spc="-15">
                <a:solidFill>
                  <a:srgbClr val="00B050"/>
                </a:solidFill>
              </a:rPr>
              <a:t>more</a:t>
            </a:r>
            <a:r>
              <a:rPr dirty="0" sz="2800" spc="50">
                <a:solidFill>
                  <a:srgbClr val="00B050"/>
                </a:solidFill>
              </a:rPr>
              <a:t> </a:t>
            </a:r>
            <a:r>
              <a:rPr dirty="0" sz="2800" spc="-15">
                <a:solidFill>
                  <a:srgbClr val="00B050"/>
                </a:solidFill>
              </a:rPr>
              <a:t>expressive?</a:t>
            </a:r>
            <a:endParaRPr sz="2800"/>
          </a:p>
          <a:p>
            <a:pPr marL="332740" indent="-320040"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C00000"/>
                </a:solidFill>
              </a:rPr>
              <a:t>Solution </a:t>
            </a:r>
            <a:r>
              <a:rPr dirty="0" sz="2800">
                <a:solidFill>
                  <a:srgbClr val="C00000"/>
                </a:solidFill>
              </a:rPr>
              <a:t>2: </a:t>
            </a:r>
            <a:r>
              <a:rPr dirty="0" sz="2800" b="0">
                <a:solidFill>
                  <a:srgbClr val="000000"/>
                </a:solidFill>
                <a:latin typeface="Calibri"/>
                <a:cs typeface="Calibri"/>
              </a:rPr>
              <a:t>Add </a:t>
            </a:r>
            <a:r>
              <a:rPr dirty="0" sz="2800" spc="-30" b="0">
                <a:solidFill>
                  <a:srgbClr val="000000"/>
                </a:solidFill>
                <a:latin typeface="Calibri"/>
                <a:cs typeface="Calibri"/>
              </a:rPr>
              <a:t>layers </a:t>
            </a:r>
            <a:r>
              <a:rPr dirty="0" sz="2800" spc="-10" b="0">
                <a:solidFill>
                  <a:srgbClr val="000000"/>
                </a:solidFill>
                <a:latin typeface="Calibri"/>
                <a:cs typeface="Calibri"/>
              </a:rPr>
              <a:t>that </a:t>
            </a:r>
            <a:r>
              <a:rPr dirty="0" sz="2800" b="0">
                <a:solidFill>
                  <a:srgbClr val="000000"/>
                </a:solidFill>
                <a:latin typeface="Calibri"/>
                <a:cs typeface="Calibri"/>
              </a:rPr>
              <a:t>do </a:t>
            </a:r>
            <a:r>
              <a:rPr dirty="0" sz="2800" spc="-5" b="0">
                <a:solidFill>
                  <a:srgbClr val="000000"/>
                </a:solidFill>
                <a:latin typeface="Calibri"/>
                <a:cs typeface="Calibri"/>
              </a:rPr>
              <a:t>not pass</a:t>
            </a:r>
            <a:r>
              <a:rPr dirty="0" sz="2800" spc="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"/>
                <a:cs typeface="Calibri"/>
              </a:rPr>
              <a:t>messages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0704" y="3484524"/>
            <a:ext cx="2133598" cy="32139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6563" y="2197099"/>
            <a:ext cx="7608570" cy="440753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25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>
                <a:latin typeface="Calibri"/>
                <a:cs typeface="Calibri"/>
              </a:rPr>
              <a:t>GNN does not necessarily only </a:t>
            </a:r>
            <a:r>
              <a:rPr dirty="0" sz="2400" spc="-15">
                <a:latin typeface="Calibri"/>
                <a:cs typeface="Calibri"/>
              </a:rPr>
              <a:t>contain </a:t>
            </a:r>
            <a:r>
              <a:rPr dirty="0" sz="2400" spc="-5">
                <a:latin typeface="Calibri"/>
                <a:cs typeface="Calibri"/>
              </a:rPr>
              <a:t>GNN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  <a:p>
            <a:pPr lvl="1" marL="552450" marR="67945" indent="-228600">
              <a:lnSpc>
                <a:spcPct val="100000"/>
              </a:lnSpc>
              <a:spcBef>
                <a:spcPts val="52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000" spc="-5">
                <a:latin typeface="Calibri"/>
                <a:cs typeface="Calibri"/>
              </a:rPr>
              <a:t>E.g., </a:t>
            </a:r>
            <a:r>
              <a:rPr dirty="0" sz="2000" spc="-15">
                <a:latin typeface="Calibri"/>
                <a:cs typeface="Calibri"/>
              </a:rPr>
              <a:t>we </a:t>
            </a:r>
            <a:r>
              <a:rPr dirty="0" sz="2000" spc="-5">
                <a:latin typeface="Calibri"/>
                <a:cs typeface="Calibri"/>
              </a:rPr>
              <a:t>can add </a:t>
            </a:r>
            <a:r>
              <a:rPr dirty="0" sz="2000" b="1">
                <a:latin typeface="Calibri"/>
                <a:cs typeface="Calibri"/>
              </a:rPr>
              <a:t>MLP </a:t>
            </a:r>
            <a:r>
              <a:rPr dirty="0" sz="2000" spc="-15" b="1">
                <a:latin typeface="Calibri"/>
                <a:cs typeface="Calibri"/>
              </a:rPr>
              <a:t>layers </a:t>
            </a:r>
            <a:r>
              <a:rPr dirty="0" sz="2000" spc="-5">
                <a:latin typeface="Calibri"/>
                <a:cs typeface="Calibri"/>
              </a:rPr>
              <a:t>(applied </a:t>
            </a:r>
            <a:r>
              <a:rPr dirty="0" sz="2000" spc="-10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each </a:t>
            </a:r>
            <a:r>
              <a:rPr dirty="0" sz="2000" spc="-5">
                <a:latin typeface="Calibri"/>
                <a:cs typeface="Calibri"/>
              </a:rPr>
              <a:t>node) </a:t>
            </a:r>
            <a:r>
              <a:rPr dirty="0" sz="2000" spc="-15">
                <a:latin typeface="Calibri"/>
                <a:cs typeface="Calibri"/>
              </a:rPr>
              <a:t>before </a:t>
            </a:r>
            <a:r>
              <a:rPr dirty="0" sz="2000" spc="-5">
                <a:latin typeface="Calibri"/>
                <a:cs typeface="Calibri"/>
              </a:rPr>
              <a:t>and </a:t>
            </a:r>
            <a:r>
              <a:rPr dirty="0" sz="2000" spc="-70">
                <a:latin typeface="Calibri"/>
                <a:cs typeface="Calibri"/>
              </a:rPr>
              <a:t>after  </a:t>
            </a:r>
            <a:r>
              <a:rPr dirty="0" sz="2000" spc="-5">
                <a:latin typeface="Calibri"/>
                <a:cs typeface="Calibri"/>
              </a:rPr>
              <a:t>GNN </a:t>
            </a:r>
            <a:r>
              <a:rPr dirty="0" sz="2000" spc="-15">
                <a:latin typeface="Calibri"/>
                <a:cs typeface="Calibri"/>
              </a:rPr>
              <a:t>layers, </a:t>
            </a:r>
            <a:r>
              <a:rPr dirty="0" sz="2000">
                <a:latin typeface="Calibri"/>
                <a:cs typeface="Calibri"/>
              </a:rPr>
              <a:t>as </a:t>
            </a:r>
            <a:r>
              <a:rPr dirty="0" sz="2000" spc="-5" b="1">
                <a:latin typeface="Calibri"/>
                <a:cs typeface="Calibri"/>
              </a:rPr>
              <a:t>pre-process </a:t>
            </a:r>
            <a:r>
              <a:rPr dirty="0" sz="2000" spc="-20" b="1">
                <a:latin typeface="Calibri"/>
                <a:cs typeface="Calibri"/>
              </a:rPr>
              <a:t>layers </a:t>
            </a:r>
            <a:r>
              <a:rPr dirty="0" sz="2000" spc="-5">
                <a:latin typeface="Calibri"/>
                <a:cs typeface="Calibri"/>
              </a:rPr>
              <a:t>and </a:t>
            </a:r>
            <a:r>
              <a:rPr dirty="0" sz="2000" spc="-10" b="1">
                <a:latin typeface="Calibri"/>
                <a:cs typeface="Calibri"/>
              </a:rPr>
              <a:t>post-process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layers</a:t>
            </a:r>
            <a:endParaRPr sz="2000">
              <a:latin typeface="Calibri"/>
              <a:cs typeface="Calibri"/>
            </a:endParaRPr>
          </a:p>
          <a:p>
            <a:pPr marL="2961640" marR="615315">
              <a:lnSpc>
                <a:spcPct val="100000"/>
              </a:lnSpc>
              <a:spcBef>
                <a:spcPts val="1680"/>
              </a:spcBef>
            </a:pPr>
            <a:r>
              <a:rPr dirty="0" sz="2000" spc="-5" b="1">
                <a:latin typeface="Calibri"/>
                <a:cs typeface="Calibri"/>
              </a:rPr>
              <a:t>Pre-processing </a:t>
            </a:r>
            <a:r>
              <a:rPr dirty="0" sz="2000" spc="-15" b="1">
                <a:latin typeface="Calibri"/>
                <a:cs typeface="Calibri"/>
              </a:rPr>
              <a:t>layers</a:t>
            </a:r>
            <a:r>
              <a:rPr dirty="0" sz="2000" spc="-15">
                <a:latin typeface="Calibri"/>
                <a:cs typeface="Calibri"/>
              </a:rPr>
              <a:t>: </a:t>
            </a:r>
            <a:r>
              <a:rPr dirty="0" sz="2000" spc="-10">
                <a:latin typeface="Calibri"/>
                <a:cs typeface="Calibri"/>
              </a:rPr>
              <a:t>Important </a:t>
            </a:r>
            <a:r>
              <a:rPr dirty="0" sz="2000" spc="-5">
                <a:latin typeface="Calibri"/>
                <a:cs typeface="Calibri"/>
              </a:rPr>
              <a:t>when  encoding node </a:t>
            </a:r>
            <a:r>
              <a:rPr dirty="0" sz="2000" spc="-15">
                <a:latin typeface="Calibri"/>
                <a:cs typeface="Calibri"/>
              </a:rPr>
              <a:t>features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5">
                <a:latin typeface="Calibri"/>
                <a:cs typeface="Calibri"/>
              </a:rPr>
              <a:t>necessary.</a:t>
            </a:r>
            <a:endParaRPr sz="2000">
              <a:latin typeface="Calibri"/>
              <a:cs typeface="Calibri"/>
            </a:endParaRPr>
          </a:p>
          <a:p>
            <a:pPr marL="2961640">
              <a:lnSpc>
                <a:spcPct val="100000"/>
              </a:lnSpc>
            </a:pP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E.g., when nodes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represent</a:t>
            </a:r>
            <a:r>
              <a:rPr dirty="0" sz="2000" spc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images/text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2961640" marR="518795">
              <a:lnSpc>
                <a:spcPct val="100000"/>
              </a:lnSpc>
            </a:pPr>
            <a:r>
              <a:rPr dirty="0" sz="2000" spc="-10" b="1">
                <a:latin typeface="Calibri"/>
                <a:cs typeface="Calibri"/>
              </a:rPr>
              <a:t>Post-processing </a:t>
            </a:r>
            <a:r>
              <a:rPr dirty="0" sz="2000" spc="-15" b="1">
                <a:latin typeface="Calibri"/>
                <a:cs typeface="Calibri"/>
              </a:rPr>
              <a:t>layers</a:t>
            </a:r>
            <a:r>
              <a:rPr dirty="0" sz="2000" spc="-15">
                <a:latin typeface="Calibri"/>
                <a:cs typeface="Calibri"/>
              </a:rPr>
              <a:t>: </a:t>
            </a:r>
            <a:r>
              <a:rPr dirty="0" sz="2000" spc="-10">
                <a:latin typeface="Calibri"/>
                <a:cs typeface="Calibri"/>
              </a:rPr>
              <a:t>Important </a:t>
            </a:r>
            <a:r>
              <a:rPr dirty="0" sz="2000" spc="-5">
                <a:latin typeface="Calibri"/>
                <a:cs typeface="Calibri"/>
              </a:rPr>
              <a:t>when  reasoning </a:t>
            </a:r>
            <a:r>
              <a:rPr dirty="0" sz="2000">
                <a:latin typeface="Calibri"/>
                <a:cs typeface="Calibri"/>
              </a:rPr>
              <a:t>/ </a:t>
            </a:r>
            <a:r>
              <a:rPr dirty="0" sz="2000" spc="-10">
                <a:latin typeface="Calibri"/>
                <a:cs typeface="Calibri"/>
              </a:rPr>
              <a:t>transformation over </a:t>
            </a:r>
            <a:r>
              <a:rPr dirty="0" sz="2000" spc="-5">
                <a:latin typeface="Calibri"/>
                <a:cs typeface="Calibri"/>
              </a:rPr>
              <a:t>node  embeddings </a:t>
            </a:r>
            <a:r>
              <a:rPr dirty="0" sz="2000" spc="-10">
                <a:latin typeface="Calibri"/>
                <a:cs typeface="Calibri"/>
              </a:rPr>
              <a:t>are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needed</a:t>
            </a:r>
            <a:endParaRPr sz="2000">
              <a:latin typeface="Calibri"/>
              <a:cs typeface="Calibri"/>
            </a:endParaRPr>
          </a:p>
          <a:p>
            <a:pPr marL="2961640">
              <a:lnSpc>
                <a:spcPct val="100000"/>
              </a:lnSpc>
            </a:pP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E.g.,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classification,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knowledge</a:t>
            </a:r>
            <a:r>
              <a:rPr dirty="0" sz="200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296164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latin typeface="Calibri"/>
                <a:cs typeface="Calibri"/>
              </a:rPr>
              <a:t>In </a:t>
            </a:r>
            <a:r>
              <a:rPr dirty="0" sz="2000" spc="-10" b="1">
                <a:latin typeface="Calibri"/>
                <a:cs typeface="Calibri"/>
              </a:rPr>
              <a:t>practice, </a:t>
            </a:r>
            <a:r>
              <a:rPr dirty="0" sz="2000" spc="-5" b="1">
                <a:latin typeface="Calibri"/>
                <a:cs typeface="Calibri"/>
              </a:rPr>
              <a:t>adding these </a:t>
            </a:r>
            <a:r>
              <a:rPr dirty="0" sz="2000" spc="-15" b="1">
                <a:latin typeface="Calibri"/>
                <a:cs typeface="Calibri"/>
              </a:rPr>
              <a:t>layers </a:t>
            </a:r>
            <a:r>
              <a:rPr dirty="0" sz="2000" spc="-10" b="1">
                <a:latin typeface="Calibri"/>
                <a:cs typeface="Calibri"/>
              </a:rPr>
              <a:t>works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great!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083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983855" cy="8851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>
                <a:solidFill>
                  <a:srgbClr val="00B050"/>
                </a:solidFill>
              </a:rPr>
              <a:t>What </a:t>
            </a:r>
            <a:r>
              <a:rPr dirty="0" sz="2800" spc="-5">
                <a:solidFill>
                  <a:srgbClr val="00B050"/>
                </a:solidFill>
              </a:rPr>
              <a:t>if </a:t>
            </a:r>
            <a:r>
              <a:rPr dirty="0" sz="2800" spc="-30">
                <a:solidFill>
                  <a:srgbClr val="00B050"/>
                </a:solidFill>
              </a:rPr>
              <a:t>my </a:t>
            </a:r>
            <a:r>
              <a:rPr dirty="0" sz="2800" spc="-10">
                <a:solidFill>
                  <a:srgbClr val="00B050"/>
                </a:solidFill>
              </a:rPr>
              <a:t>problem still requires </a:t>
            </a:r>
            <a:r>
              <a:rPr dirty="0" sz="2800" spc="-15">
                <a:solidFill>
                  <a:srgbClr val="00B050"/>
                </a:solidFill>
              </a:rPr>
              <a:t>many </a:t>
            </a:r>
            <a:r>
              <a:rPr dirty="0" sz="2800">
                <a:solidFill>
                  <a:srgbClr val="00B050"/>
                </a:solidFill>
              </a:rPr>
              <a:t>GNN</a:t>
            </a:r>
            <a:r>
              <a:rPr dirty="0" sz="2800" spc="60">
                <a:solidFill>
                  <a:srgbClr val="00B050"/>
                </a:solidFill>
              </a:rPr>
              <a:t> </a:t>
            </a:r>
            <a:r>
              <a:rPr dirty="0" sz="2800" spc="-20">
                <a:solidFill>
                  <a:srgbClr val="00B050"/>
                </a:solidFill>
              </a:rPr>
              <a:t>layers?</a:t>
            </a:r>
            <a:endParaRPr sz="2800"/>
          </a:p>
          <a:p>
            <a:pPr marL="332740" indent="-320040"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C00000"/>
                </a:solidFill>
              </a:rPr>
              <a:t>Lesson </a:t>
            </a:r>
            <a:r>
              <a:rPr dirty="0" sz="2800">
                <a:solidFill>
                  <a:srgbClr val="C00000"/>
                </a:solidFill>
              </a:rPr>
              <a:t>2: </a:t>
            </a:r>
            <a:r>
              <a:rPr dirty="0" sz="2800" spc="-5">
                <a:solidFill>
                  <a:srgbClr val="C00000"/>
                </a:solidFill>
              </a:rPr>
              <a:t>Add skip connections in</a:t>
            </a:r>
            <a:r>
              <a:rPr dirty="0" sz="2800" spc="-10">
                <a:solidFill>
                  <a:srgbClr val="C00000"/>
                </a:solidFill>
              </a:rPr>
              <a:t> </a:t>
            </a:r>
            <a:r>
              <a:rPr dirty="0" sz="2800">
                <a:solidFill>
                  <a:srgbClr val="C00000"/>
                </a:solidFill>
              </a:rPr>
              <a:t>GNNs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566927" y="6712593"/>
            <a:ext cx="37528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35"/>
              </a:lnSpc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22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3615" y="6694423"/>
            <a:ext cx="434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5661" y="3940342"/>
            <a:ext cx="2036677" cy="29176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35084" y="4555988"/>
            <a:ext cx="3100137" cy="17519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79973" y="5289982"/>
            <a:ext cx="299720" cy="235585"/>
          </a:xfrm>
          <a:custGeom>
            <a:avLst/>
            <a:gdLst/>
            <a:ahLst/>
            <a:cxnLst/>
            <a:rect l="l" t="t" r="r" b="b"/>
            <a:pathLst>
              <a:path w="299720" h="235585">
                <a:moveTo>
                  <a:pt x="224497" y="0"/>
                </a:moveTo>
                <a:lnTo>
                  <a:pt x="221148" y="9550"/>
                </a:lnTo>
                <a:lnTo>
                  <a:pt x="234767" y="15460"/>
                </a:lnTo>
                <a:lnTo>
                  <a:pt x="246480" y="23642"/>
                </a:lnTo>
                <a:lnTo>
                  <a:pt x="270262" y="61565"/>
                </a:lnTo>
                <a:lnTo>
                  <a:pt x="278075" y="116457"/>
                </a:lnTo>
                <a:lnTo>
                  <a:pt x="277203" y="137208"/>
                </a:lnTo>
                <a:lnTo>
                  <a:pt x="264123" y="188019"/>
                </a:lnTo>
                <a:lnTo>
                  <a:pt x="234927" y="219785"/>
                </a:lnTo>
                <a:lnTo>
                  <a:pt x="221521" y="225723"/>
                </a:lnTo>
                <a:lnTo>
                  <a:pt x="224497" y="235272"/>
                </a:lnTo>
                <a:lnTo>
                  <a:pt x="269447" y="208564"/>
                </a:lnTo>
                <a:lnTo>
                  <a:pt x="294695" y="159261"/>
                </a:lnTo>
                <a:lnTo>
                  <a:pt x="299532" y="117698"/>
                </a:lnTo>
                <a:lnTo>
                  <a:pt x="298318" y="96129"/>
                </a:lnTo>
                <a:lnTo>
                  <a:pt x="288613" y="57899"/>
                </a:lnTo>
                <a:lnTo>
                  <a:pt x="256511" y="15084"/>
                </a:lnTo>
                <a:lnTo>
                  <a:pt x="241554" y="6158"/>
                </a:lnTo>
                <a:lnTo>
                  <a:pt x="224497" y="0"/>
                </a:lnTo>
                <a:close/>
              </a:path>
              <a:path w="29972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3"/>
                </a:lnTo>
                <a:lnTo>
                  <a:pt x="64604" y="219785"/>
                </a:lnTo>
                <a:lnTo>
                  <a:pt x="53035" y="211522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61596" y="5899583"/>
            <a:ext cx="299720" cy="235585"/>
          </a:xfrm>
          <a:custGeom>
            <a:avLst/>
            <a:gdLst/>
            <a:ahLst/>
            <a:cxnLst/>
            <a:rect l="l" t="t" r="r" b="b"/>
            <a:pathLst>
              <a:path w="299720" h="235585">
                <a:moveTo>
                  <a:pt x="224497" y="0"/>
                </a:moveTo>
                <a:lnTo>
                  <a:pt x="221148" y="9549"/>
                </a:lnTo>
                <a:lnTo>
                  <a:pt x="234767" y="15460"/>
                </a:lnTo>
                <a:lnTo>
                  <a:pt x="246480" y="23642"/>
                </a:lnTo>
                <a:lnTo>
                  <a:pt x="270262" y="61565"/>
                </a:lnTo>
                <a:lnTo>
                  <a:pt x="278075" y="116457"/>
                </a:lnTo>
                <a:lnTo>
                  <a:pt x="277203" y="137208"/>
                </a:lnTo>
                <a:lnTo>
                  <a:pt x="264123" y="188019"/>
                </a:lnTo>
                <a:lnTo>
                  <a:pt x="234927" y="219785"/>
                </a:lnTo>
                <a:lnTo>
                  <a:pt x="221521" y="225722"/>
                </a:lnTo>
                <a:lnTo>
                  <a:pt x="224497" y="235272"/>
                </a:lnTo>
                <a:lnTo>
                  <a:pt x="269447" y="208564"/>
                </a:lnTo>
                <a:lnTo>
                  <a:pt x="294695" y="159261"/>
                </a:lnTo>
                <a:lnTo>
                  <a:pt x="299532" y="117698"/>
                </a:lnTo>
                <a:lnTo>
                  <a:pt x="298318" y="96129"/>
                </a:lnTo>
                <a:lnTo>
                  <a:pt x="288613" y="57899"/>
                </a:lnTo>
                <a:lnTo>
                  <a:pt x="256511" y="15084"/>
                </a:lnTo>
                <a:lnTo>
                  <a:pt x="241554" y="6158"/>
                </a:lnTo>
                <a:lnTo>
                  <a:pt x="224497" y="0"/>
                </a:lnTo>
                <a:close/>
              </a:path>
              <a:path w="29972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5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56563" y="2276348"/>
            <a:ext cx="7769859" cy="219075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43815" indent="-274320">
              <a:lnSpc>
                <a:spcPct val="100800"/>
              </a:lnSpc>
              <a:spcBef>
                <a:spcPts val="75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10" b="1">
                <a:latin typeface="Calibri"/>
                <a:cs typeface="Calibri"/>
              </a:rPr>
              <a:t>Observation from over-smoothing: </a:t>
            </a:r>
            <a:r>
              <a:rPr dirty="0" sz="2400" spc="-5">
                <a:latin typeface="Calibri"/>
                <a:cs typeface="Calibri"/>
              </a:rPr>
              <a:t>Node embeddings in  earlier GNN </a:t>
            </a:r>
            <a:r>
              <a:rPr dirty="0" sz="2400" spc="-25">
                <a:latin typeface="Calibri"/>
                <a:cs typeface="Calibri"/>
              </a:rPr>
              <a:t>layers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 spc="-5">
                <a:latin typeface="Calibri"/>
                <a:cs typeface="Calibri"/>
              </a:rPr>
              <a:t>sometimes </a:t>
            </a:r>
            <a:r>
              <a:rPr dirty="0" sz="2400" spc="-15">
                <a:latin typeface="Calibri"/>
                <a:cs typeface="Calibri"/>
              </a:rPr>
              <a:t>better </a:t>
            </a:r>
            <a:r>
              <a:rPr dirty="0" sz="2400" spc="-20">
                <a:latin typeface="Calibri"/>
                <a:cs typeface="Calibri"/>
              </a:rPr>
              <a:t>differentiate</a:t>
            </a:r>
            <a:r>
              <a:rPr dirty="0" sz="2400" spc="12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</a:t>
            </a:r>
            <a:endParaRPr sz="2400">
              <a:latin typeface="Calibri"/>
              <a:cs typeface="Calibri"/>
            </a:endParaRPr>
          </a:p>
          <a:p>
            <a:pPr marL="287020" marR="508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5" b="1">
                <a:latin typeface="Calibri"/>
                <a:cs typeface="Calibri"/>
              </a:rPr>
              <a:t>Solution: </a:t>
            </a:r>
            <a:r>
              <a:rPr dirty="0" sz="2400" spc="-45">
                <a:latin typeface="Calibri"/>
                <a:cs typeface="Calibri"/>
              </a:rPr>
              <a:t>We </a:t>
            </a:r>
            <a:r>
              <a:rPr dirty="0" sz="2400" spc="-10">
                <a:latin typeface="Calibri"/>
                <a:cs typeface="Calibri"/>
              </a:rPr>
              <a:t>can increase </a:t>
            </a:r>
            <a:r>
              <a:rPr dirty="0" sz="2400" spc="-5">
                <a:latin typeface="Calibri"/>
                <a:cs typeface="Calibri"/>
              </a:rPr>
              <a:t>the impact of earlier </a:t>
            </a:r>
            <a:r>
              <a:rPr dirty="0" sz="2400" spc="-25">
                <a:latin typeface="Calibri"/>
                <a:cs typeface="Calibri"/>
              </a:rPr>
              <a:t>layers </a:t>
            </a:r>
            <a:r>
              <a:rPr dirty="0" sz="2400" spc="-5">
                <a:latin typeface="Calibri"/>
                <a:cs typeface="Calibri"/>
              </a:rPr>
              <a:t>on the  final node embeddings,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by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adding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shortcuts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2400" spc="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GNN</a:t>
            </a:r>
            <a:endParaRPr sz="2400">
              <a:latin typeface="Calibri"/>
              <a:cs typeface="Calibri"/>
            </a:endParaRPr>
          </a:p>
          <a:p>
            <a:pPr algn="ctr" marL="3561715" marR="3423285">
              <a:lnSpc>
                <a:spcPts val="1900"/>
              </a:lnSpc>
              <a:spcBef>
                <a:spcPts val="1140"/>
              </a:spcBef>
            </a:pPr>
            <a:r>
              <a:rPr dirty="0" sz="160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dirty="0" sz="1600" spc="-5">
                <a:solidFill>
                  <a:srgbClr val="C00000"/>
                </a:solidFill>
                <a:latin typeface="Calibri"/>
                <a:cs typeface="Calibri"/>
              </a:rPr>
              <a:t>up</a:t>
            </a:r>
            <a:r>
              <a:rPr dirty="0" sz="1600" spc="-10">
                <a:solidFill>
                  <a:srgbClr val="C00000"/>
                </a:solidFill>
                <a:latin typeface="Calibri"/>
                <a:cs typeface="Calibri"/>
              </a:rPr>
              <a:t>li</a:t>
            </a:r>
            <a:r>
              <a:rPr dirty="0" sz="1600" spc="-20">
                <a:solidFill>
                  <a:srgbClr val="C00000"/>
                </a:solidFill>
                <a:latin typeface="Calibri"/>
                <a:cs typeface="Calibri"/>
              </a:rPr>
              <a:t>cat</a:t>
            </a:r>
            <a:r>
              <a:rPr dirty="0" sz="1600">
                <a:solidFill>
                  <a:srgbClr val="C00000"/>
                </a:solidFill>
                <a:latin typeface="Calibri"/>
                <a:cs typeface="Calibri"/>
              </a:rPr>
              <a:t>e  </a:t>
            </a:r>
            <a:r>
              <a:rPr dirty="0" sz="1600" spc="-10">
                <a:solidFill>
                  <a:srgbClr val="C00000"/>
                </a:solidFill>
                <a:latin typeface="Calibri"/>
                <a:cs typeface="Calibri"/>
              </a:rPr>
              <a:t>into</a:t>
            </a:r>
            <a:r>
              <a:rPr dirty="0" sz="1600" spc="-9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600" spc="-5">
                <a:solidFill>
                  <a:srgbClr val="C00000"/>
                </a:solidFill>
                <a:latin typeface="Calibri"/>
                <a:cs typeface="Calibri"/>
              </a:rPr>
              <a:t>two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5887" y="4438396"/>
            <a:ext cx="7753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C00000"/>
                </a:solidFill>
                <a:latin typeface="Calibri"/>
                <a:cs typeface="Calibri"/>
              </a:rPr>
              <a:t>branches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99021" y="4473497"/>
            <a:ext cx="244475" cy="339090"/>
          </a:xfrm>
          <a:custGeom>
            <a:avLst/>
            <a:gdLst/>
            <a:ahLst/>
            <a:cxnLst/>
            <a:rect l="l" t="t" r="r" b="b"/>
            <a:pathLst>
              <a:path w="244475" h="339089">
                <a:moveTo>
                  <a:pt x="229939" y="0"/>
                </a:moveTo>
                <a:lnTo>
                  <a:pt x="221023" y="1525"/>
                </a:lnTo>
                <a:lnTo>
                  <a:pt x="211889" y="14431"/>
                </a:lnTo>
                <a:lnTo>
                  <a:pt x="213414" y="23347"/>
                </a:lnTo>
                <a:lnTo>
                  <a:pt x="226296" y="32465"/>
                </a:lnTo>
                <a:lnTo>
                  <a:pt x="235212" y="30938"/>
                </a:lnTo>
                <a:lnTo>
                  <a:pt x="244346" y="18034"/>
                </a:lnTo>
                <a:lnTo>
                  <a:pt x="242821" y="9117"/>
                </a:lnTo>
                <a:lnTo>
                  <a:pt x="229939" y="0"/>
                </a:lnTo>
                <a:close/>
              </a:path>
              <a:path w="244475" h="339089">
                <a:moveTo>
                  <a:pt x="196905" y="46671"/>
                </a:moveTo>
                <a:lnTo>
                  <a:pt x="187989" y="48196"/>
                </a:lnTo>
                <a:lnTo>
                  <a:pt x="178856" y="61102"/>
                </a:lnTo>
                <a:lnTo>
                  <a:pt x="180381" y="70018"/>
                </a:lnTo>
                <a:lnTo>
                  <a:pt x="193263" y="79136"/>
                </a:lnTo>
                <a:lnTo>
                  <a:pt x="202180" y="77609"/>
                </a:lnTo>
                <a:lnTo>
                  <a:pt x="211314" y="64705"/>
                </a:lnTo>
                <a:lnTo>
                  <a:pt x="209787" y="55788"/>
                </a:lnTo>
                <a:lnTo>
                  <a:pt x="196905" y="46671"/>
                </a:lnTo>
                <a:close/>
              </a:path>
              <a:path w="244475" h="339089">
                <a:moveTo>
                  <a:pt x="163874" y="93342"/>
                </a:moveTo>
                <a:lnTo>
                  <a:pt x="154957" y="94867"/>
                </a:lnTo>
                <a:lnTo>
                  <a:pt x="145822" y="107772"/>
                </a:lnTo>
                <a:lnTo>
                  <a:pt x="147347" y="116688"/>
                </a:lnTo>
                <a:lnTo>
                  <a:pt x="160229" y="125806"/>
                </a:lnTo>
                <a:lnTo>
                  <a:pt x="169146" y="124282"/>
                </a:lnTo>
                <a:lnTo>
                  <a:pt x="178281" y="111377"/>
                </a:lnTo>
                <a:lnTo>
                  <a:pt x="176756" y="102461"/>
                </a:lnTo>
                <a:lnTo>
                  <a:pt x="163874" y="93342"/>
                </a:lnTo>
                <a:close/>
              </a:path>
              <a:path w="244475" h="339089">
                <a:moveTo>
                  <a:pt x="130839" y="140013"/>
                </a:moveTo>
                <a:lnTo>
                  <a:pt x="121922" y="141540"/>
                </a:lnTo>
                <a:lnTo>
                  <a:pt x="112789" y="154445"/>
                </a:lnTo>
                <a:lnTo>
                  <a:pt x="114316" y="163362"/>
                </a:lnTo>
                <a:lnTo>
                  <a:pt x="127199" y="172478"/>
                </a:lnTo>
                <a:lnTo>
                  <a:pt x="136114" y="170952"/>
                </a:lnTo>
                <a:lnTo>
                  <a:pt x="145247" y="158046"/>
                </a:lnTo>
                <a:lnTo>
                  <a:pt x="143720" y="149129"/>
                </a:lnTo>
                <a:lnTo>
                  <a:pt x="130839" y="140013"/>
                </a:lnTo>
                <a:close/>
              </a:path>
              <a:path w="244475" h="339089">
                <a:moveTo>
                  <a:pt x="97809" y="186684"/>
                </a:moveTo>
                <a:lnTo>
                  <a:pt x="88892" y="188210"/>
                </a:lnTo>
                <a:lnTo>
                  <a:pt x="79757" y="201113"/>
                </a:lnTo>
                <a:lnTo>
                  <a:pt x="81281" y="210030"/>
                </a:lnTo>
                <a:lnTo>
                  <a:pt x="94161" y="219148"/>
                </a:lnTo>
                <a:lnTo>
                  <a:pt x="103079" y="217624"/>
                </a:lnTo>
                <a:lnTo>
                  <a:pt x="112214" y="204720"/>
                </a:lnTo>
                <a:lnTo>
                  <a:pt x="110689" y="195803"/>
                </a:lnTo>
                <a:lnTo>
                  <a:pt x="97809" y="186684"/>
                </a:lnTo>
                <a:close/>
              </a:path>
              <a:path w="244475" h="339089">
                <a:moveTo>
                  <a:pt x="14538" y="243798"/>
                </a:moveTo>
                <a:lnTo>
                  <a:pt x="0" y="338532"/>
                </a:lnTo>
                <a:lnTo>
                  <a:pt x="84509" y="293323"/>
                </a:lnTo>
                <a:lnTo>
                  <a:pt x="14538" y="243798"/>
                </a:lnTo>
                <a:close/>
              </a:path>
              <a:path w="244475" h="339089">
                <a:moveTo>
                  <a:pt x="64776" y="233356"/>
                </a:moveTo>
                <a:lnTo>
                  <a:pt x="55859" y="234881"/>
                </a:lnTo>
                <a:lnTo>
                  <a:pt x="46724" y="247784"/>
                </a:lnTo>
                <a:lnTo>
                  <a:pt x="48248" y="256701"/>
                </a:lnTo>
                <a:lnTo>
                  <a:pt x="61128" y="265819"/>
                </a:lnTo>
                <a:lnTo>
                  <a:pt x="70045" y="264295"/>
                </a:lnTo>
                <a:lnTo>
                  <a:pt x="79180" y="251391"/>
                </a:lnTo>
                <a:lnTo>
                  <a:pt x="77656" y="242474"/>
                </a:lnTo>
                <a:lnTo>
                  <a:pt x="64776" y="2333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700398" y="4604003"/>
            <a:ext cx="4042410" cy="20091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402715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Idea of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skip</a:t>
            </a:r>
            <a:r>
              <a:rPr dirty="0" sz="20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connections:</a:t>
            </a:r>
            <a:endParaRPr sz="2000">
              <a:latin typeface="Calibri"/>
              <a:cs typeface="Calibri"/>
            </a:endParaRPr>
          </a:p>
          <a:p>
            <a:pPr marL="1415415">
              <a:lnSpc>
                <a:spcPct val="100000"/>
              </a:lnSpc>
            </a:pPr>
            <a:r>
              <a:rPr dirty="0" sz="2000" spc="-15">
                <a:latin typeface="Calibri"/>
                <a:cs typeface="Calibri"/>
              </a:rPr>
              <a:t>Before </a:t>
            </a:r>
            <a:r>
              <a:rPr dirty="0" sz="2000" spc="-5">
                <a:latin typeface="Calibri"/>
                <a:cs typeface="Calibri"/>
              </a:rPr>
              <a:t>adding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shortcuts:</a:t>
            </a:r>
            <a:endParaRPr sz="2000">
              <a:latin typeface="Calibri"/>
              <a:cs typeface="Calibri"/>
            </a:endParaRPr>
          </a:p>
          <a:p>
            <a:pPr algn="ctr" marL="1348740">
              <a:lnSpc>
                <a:spcPct val="100000"/>
              </a:lnSpc>
            </a:pPr>
            <a:r>
              <a:rPr dirty="0" sz="2000">
                <a:latin typeface="Cambria Math"/>
                <a:cs typeface="Cambria Math"/>
              </a:rPr>
              <a:t>𝑭</a:t>
            </a:r>
            <a:r>
              <a:rPr dirty="0" sz="2000" spc="28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𝐱</a:t>
            </a:r>
            <a:endParaRPr sz="2000">
              <a:latin typeface="Cambria Math"/>
              <a:cs typeface="Cambria Math"/>
            </a:endParaRPr>
          </a:p>
          <a:p>
            <a:pPr marL="1415415">
              <a:lnSpc>
                <a:spcPct val="100000"/>
              </a:lnSpc>
            </a:pPr>
            <a:r>
              <a:rPr dirty="0" sz="2000" spc="-5">
                <a:latin typeface="Calibri"/>
                <a:cs typeface="Calibri"/>
              </a:rPr>
              <a:t>After adding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shortcuts:</a:t>
            </a:r>
            <a:endParaRPr sz="2000">
              <a:latin typeface="Calibri"/>
              <a:cs typeface="Calibri"/>
            </a:endParaRPr>
          </a:p>
          <a:p>
            <a:pPr algn="ctr" marL="1454150">
              <a:lnSpc>
                <a:spcPts val="2300"/>
              </a:lnSpc>
              <a:tabLst>
                <a:tab pos="2016760" algn="l"/>
              </a:tabLst>
            </a:pPr>
            <a:r>
              <a:rPr dirty="0" sz="2000">
                <a:latin typeface="Cambria Math"/>
                <a:cs typeface="Cambria Math"/>
              </a:rPr>
              <a:t>𝑭</a:t>
            </a:r>
            <a:r>
              <a:rPr dirty="0" sz="2000" spc="38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𝐱	+</a:t>
            </a:r>
            <a:r>
              <a:rPr dirty="0" sz="2000" spc="-10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𝐱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ts val="1810"/>
              </a:lnSpc>
            </a:pPr>
            <a:r>
              <a:rPr dirty="0" sz="1600" spc="-5">
                <a:solidFill>
                  <a:srgbClr val="C00000"/>
                </a:solidFill>
                <a:latin typeface="Calibri"/>
                <a:cs typeface="Calibri"/>
              </a:rPr>
              <a:t>Sum</a:t>
            </a:r>
            <a:r>
              <a:rPr dirty="0" sz="1600" spc="-9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600" spc="-5">
                <a:solidFill>
                  <a:srgbClr val="C00000"/>
                </a:solidFill>
                <a:latin typeface="Calibri"/>
                <a:cs typeface="Calibri"/>
              </a:rPr>
              <a:t>two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910"/>
              </a:lnSpc>
            </a:pPr>
            <a:r>
              <a:rPr dirty="0" sz="1600" spc="-10">
                <a:solidFill>
                  <a:srgbClr val="C00000"/>
                </a:solidFill>
                <a:latin typeface="Calibri"/>
                <a:cs typeface="Calibri"/>
              </a:rPr>
              <a:t>branches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59178" y="6033836"/>
            <a:ext cx="378460" cy="356235"/>
          </a:xfrm>
          <a:custGeom>
            <a:avLst/>
            <a:gdLst/>
            <a:ahLst/>
            <a:cxnLst/>
            <a:rect l="l" t="t" r="r" b="b"/>
            <a:pathLst>
              <a:path w="378460" h="356235">
                <a:moveTo>
                  <a:pt x="366486" y="324562"/>
                </a:moveTo>
                <a:lnTo>
                  <a:pt x="357445" y="324846"/>
                </a:lnTo>
                <a:lnTo>
                  <a:pt x="346641" y="336350"/>
                </a:lnTo>
                <a:lnTo>
                  <a:pt x="346925" y="345392"/>
                </a:lnTo>
                <a:lnTo>
                  <a:pt x="358451" y="356215"/>
                </a:lnTo>
                <a:lnTo>
                  <a:pt x="367492" y="355931"/>
                </a:lnTo>
                <a:lnTo>
                  <a:pt x="378296" y="344427"/>
                </a:lnTo>
                <a:lnTo>
                  <a:pt x="378011" y="335385"/>
                </a:lnTo>
                <a:lnTo>
                  <a:pt x="366486" y="324562"/>
                </a:lnTo>
                <a:close/>
              </a:path>
              <a:path w="378460" h="356235">
                <a:moveTo>
                  <a:pt x="324807" y="285421"/>
                </a:moveTo>
                <a:lnTo>
                  <a:pt x="315765" y="285704"/>
                </a:lnTo>
                <a:lnTo>
                  <a:pt x="304961" y="297207"/>
                </a:lnTo>
                <a:lnTo>
                  <a:pt x="305244" y="306249"/>
                </a:lnTo>
                <a:lnTo>
                  <a:pt x="316768" y="317073"/>
                </a:lnTo>
                <a:lnTo>
                  <a:pt x="325810" y="316790"/>
                </a:lnTo>
                <a:lnTo>
                  <a:pt x="336614" y="305286"/>
                </a:lnTo>
                <a:lnTo>
                  <a:pt x="336331" y="296244"/>
                </a:lnTo>
                <a:lnTo>
                  <a:pt x="324807" y="285421"/>
                </a:lnTo>
                <a:close/>
              </a:path>
              <a:path w="378460" h="356235">
                <a:moveTo>
                  <a:pt x="283126" y="246279"/>
                </a:moveTo>
                <a:lnTo>
                  <a:pt x="274085" y="246562"/>
                </a:lnTo>
                <a:lnTo>
                  <a:pt x="263279" y="258065"/>
                </a:lnTo>
                <a:lnTo>
                  <a:pt x="263563" y="267107"/>
                </a:lnTo>
                <a:lnTo>
                  <a:pt x="275087" y="277931"/>
                </a:lnTo>
                <a:lnTo>
                  <a:pt x="284129" y="277648"/>
                </a:lnTo>
                <a:lnTo>
                  <a:pt x="294933" y="266144"/>
                </a:lnTo>
                <a:lnTo>
                  <a:pt x="294650" y="257102"/>
                </a:lnTo>
                <a:lnTo>
                  <a:pt x="283126" y="246279"/>
                </a:lnTo>
                <a:close/>
              </a:path>
              <a:path w="378460" h="356235">
                <a:moveTo>
                  <a:pt x="241446" y="207137"/>
                </a:moveTo>
                <a:lnTo>
                  <a:pt x="232403" y="207420"/>
                </a:lnTo>
                <a:lnTo>
                  <a:pt x="221599" y="218923"/>
                </a:lnTo>
                <a:lnTo>
                  <a:pt x="221882" y="227965"/>
                </a:lnTo>
                <a:lnTo>
                  <a:pt x="233406" y="238789"/>
                </a:lnTo>
                <a:lnTo>
                  <a:pt x="242448" y="238506"/>
                </a:lnTo>
                <a:lnTo>
                  <a:pt x="253253" y="227002"/>
                </a:lnTo>
                <a:lnTo>
                  <a:pt x="252970" y="217960"/>
                </a:lnTo>
                <a:lnTo>
                  <a:pt x="241446" y="207137"/>
                </a:lnTo>
                <a:close/>
              </a:path>
              <a:path w="378460" h="356235">
                <a:moveTo>
                  <a:pt x="199764" y="167995"/>
                </a:moveTo>
                <a:lnTo>
                  <a:pt x="190722" y="168278"/>
                </a:lnTo>
                <a:lnTo>
                  <a:pt x="179918" y="179781"/>
                </a:lnTo>
                <a:lnTo>
                  <a:pt x="180201" y="188823"/>
                </a:lnTo>
                <a:lnTo>
                  <a:pt x="191725" y="199647"/>
                </a:lnTo>
                <a:lnTo>
                  <a:pt x="200767" y="199364"/>
                </a:lnTo>
                <a:lnTo>
                  <a:pt x="211571" y="187860"/>
                </a:lnTo>
                <a:lnTo>
                  <a:pt x="211288" y="178819"/>
                </a:lnTo>
                <a:lnTo>
                  <a:pt x="199764" y="167995"/>
                </a:lnTo>
                <a:close/>
              </a:path>
              <a:path w="378460" h="356235">
                <a:moveTo>
                  <a:pt x="158083" y="128853"/>
                </a:moveTo>
                <a:lnTo>
                  <a:pt x="149042" y="129136"/>
                </a:lnTo>
                <a:lnTo>
                  <a:pt x="138236" y="140639"/>
                </a:lnTo>
                <a:lnTo>
                  <a:pt x="138521" y="149681"/>
                </a:lnTo>
                <a:lnTo>
                  <a:pt x="150045" y="160505"/>
                </a:lnTo>
                <a:lnTo>
                  <a:pt x="159086" y="160222"/>
                </a:lnTo>
                <a:lnTo>
                  <a:pt x="169891" y="148719"/>
                </a:lnTo>
                <a:lnTo>
                  <a:pt x="169607" y="139677"/>
                </a:lnTo>
                <a:lnTo>
                  <a:pt x="158083" y="128853"/>
                </a:lnTo>
                <a:close/>
              </a:path>
              <a:path w="378460" h="356235">
                <a:moveTo>
                  <a:pt x="116403" y="89711"/>
                </a:moveTo>
                <a:lnTo>
                  <a:pt x="107360" y="89994"/>
                </a:lnTo>
                <a:lnTo>
                  <a:pt x="96556" y="101497"/>
                </a:lnTo>
                <a:lnTo>
                  <a:pt x="96840" y="110539"/>
                </a:lnTo>
                <a:lnTo>
                  <a:pt x="108364" y="121363"/>
                </a:lnTo>
                <a:lnTo>
                  <a:pt x="117406" y="121080"/>
                </a:lnTo>
                <a:lnTo>
                  <a:pt x="128210" y="109577"/>
                </a:lnTo>
                <a:lnTo>
                  <a:pt x="127927" y="100535"/>
                </a:lnTo>
                <a:lnTo>
                  <a:pt x="116403" y="89711"/>
                </a:lnTo>
                <a:close/>
              </a:path>
              <a:path w="378460" h="356235">
                <a:moveTo>
                  <a:pt x="0" y="0"/>
                </a:moveTo>
                <a:lnTo>
                  <a:pt x="33148" y="89928"/>
                </a:lnTo>
                <a:lnTo>
                  <a:pt x="55010" y="66648"/>
                </a:lnTo>
                <a:lnTo>
                  <a:pt x="54874" y="62361"/>
                </a:lnTo>
                <a:lnTo>
                  <a:pt x="65674" y="50854"/>
                </a:lnTo>
                <a:lnTo>
                  <a:pt x="69970" y="50718"/>
                </a:lnTo>
                <a:lnTo>
                  <a:pt x="91832" y="27438"/>
                </a:lnTo>
                <a:lnTo>
                  <a:pt x="0" y="0"/>
                </a:lnTo>
                <a:close/>
              </a:path>
              <a:path w="378460" h="356235">
                <a:moveTo>
                  <a:pt x="74715" y="50567"/>
                </a:moveTo>
                <a:lnTo>
                  <a:pt x="69970" y="50718"/>
                </a:lnTo>
                <a:lnTo>
                  <a:pt x="55010" y="66648"/>
                </a:lnTo>
                <a:lnTo>
                  <a:pt x="55161" y="71403"/>
                </a:lnTo>
                <a:lnTo>
                  <a:pt x="66688" y="82223"/>
                </a:lnTo>
                <a:lnTo>
                  <a:pt x="75731" y="81936"/>
                </a:lnTo>
                <a:lnTo>
                  <a:pt x="86531" y="70429"/>
                </a:lnTo>
                <a:lnTo>
                  <a:pt x="86244" y="61387"/>
                </a:lnTo>
                <a:lnTo>
                  <a:pt x="74715" y="50567"/>
                </a:lnTo>
                <a:close/>
              </a:path>
              <a:path w="378460" h="356235">
                <a:moveTo>
                  <a:pt x="69970" y="50718"/>
                </a:moveTo>
                <a:lnTo>
                  <a:pt x="65674" y="50854"/>
                </a:lnTo>
                <a:lnTo>
                  <a:pt x="54874" y="62361"/>
                </a:lnTo>
                <a:lnTo>
                  <a:pt x="55010" y="66648"/>
                </a:lnTo>
                <a:lnTo>
                  <a:pt x="69970" y="5071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27719" y="14731"/>
            <a:ext cx="42303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He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Deep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Residual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Learning for Image Recognition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CVPR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2015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8927" y="3636464"/>
            <a:ext cx="7748337" cy="26930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1375"/>
            <a:ext cx="5980176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501078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25">
                <a:solidFill>
                  <a:srgbClr val="00B050"/>
                </a:solidFill>
              </a:rPr>
              <a:t>Why </a:t>
            </a:r>
            <a:r>
              <a:rPr dirty="0" sz="2800" spc="-5">
                <a:solidFill>
                  <a:srgbClr val="00B050"/>
                </a:solidFill>
              </a:rPr>
              <a:t>do skip connections</a:t>
            </a:r>
            <a:r>
              <a:rPr dirty="0" sz="2800" spc="-15">
                <a:solidFill>
                  <a:srgbClr val="00B050"/>
                </a:solidFill>
              </a:rPr>
              <a:t> </a:t>
            </a:r>
            <a:r>
              <a:rPr dirty="0" sz="2800" spc="-10">
                <a:solidFill>
                  <a:srgbClr val="00B050"/>
                </a:solidFill>
              </a:rPr>
              <a:t>work?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956563" y="1776475"/>
            <a:ext cx="7066915" cy="134874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10" b="1">
                <a:latin typeface="Calibri"/>
                <a:cs typeface="Calibri"/>
              </a:rPr>
              <a:t>Intuition: </a:t>
            </a:r>
            <a:r>
              <a:rPr dirty="0" sz="2400" spc="-5">
                <a:latin typeface="Calibri"/>
                <a:cs typeface="Calibri"/>
              </a:rPr>
              <a:t>Skip connections </a:t>
            </a:r>
            <a:r>
              <a:rPr dirty="0" sz="2400" spc="-20">
                <a:latin typeface="Calibri"/>
                <a:cs typeface="Calibri"/>
              </a:rPr>
              <a:t>create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mixture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>
                <a:latin typeface="Cambria Math"/>
                <a:cs typeface="Cambria Math"/>
              </a:rPr>
              <a:t>𝑁 </a:t>
            </a:r>
            <a:r>
              <a:rPr dirty="0" sz="2400" spc="-5">
                <a:latin typeface="Calibri"/>
                <a:cs typeface="Calibri"/>
              </a:rPr>
              <a:t>skip connections </a:t>
            </a:r>
            <a:r>
              <a:rPr dirty="0" sz="2400" spc="1010">
                <a:latin typeface="Arial"/>
                <a:cs typeface="Arial"/>
              </a:rPr>
              <a:t>à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 spc="0">
                <a:latin typeface="Cambria Math"/>
                <a:cs typeface="Cambria Math"/>
              </a:rPr>
              <a:t>2</a:t>
            </a:r>
            <a:r>
              <a:rPr dirty="0" baseline="26234" sz="2700" spc="0">
                <a:latin typeface="Cambria Math"/>
                <a:cs typeface="Cambria Math"/>
              </a:rPr>
              <a:t>+ </a:t>
            </a:r>
            <a:r>
              <a:rPr dirty="0" sz="2400" spc="-5">
                <a:latin typeface="Calibri"/>
                <a:cs typeface="Calibri"/>
              </a:rPr>
              <a:t>possible </a:t>
            </a:r>
            <a:r>
              <a:rPr dirty="0" sz="2400" spc="-10">
                <a:latin typeface="Calibri"/>
                <a:cs typeface="Calibri"/>
              </a:rPr>
              <a:t>paths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15">
                <a:latin typeface="Calibri"/>
                <a:cs typeface="Calibri"/>
              </a:rPr>
              <a:t>Each </a:t>
            </a:r>
            <a:r>
              <a:rPr dirty="0" sz="2400" spc="-10">
                <a:latin typeface="Calibri"/>
                <a:cs typeface="Calibri"/>
              </a:rPr>
              <a:t>path could </a:t>
            </a:r>
            <a:r>
              <a:rPr dirty="0" sz="2400" spc="-20">
                <a:latin typeface="Calibri"/>
                <a:cs typeface="Calibri"/>
              </a:rPr>
              <a:t>have </a:t>
            </a:r>
            <a:r>
              <a:rPr dirty="0" sz="2400">
                <a:latin typeface="Calibri"/>
                <a:cs typeface="Calibri"/>
              </a:rPr>
              <a:t>up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>
                <a:latin typeface="Cambria Math"/>
                <a:cs typeface="Cambria Math"/>
              </a:rPr>
              <a:t>𝑁</a:t>
            </a:r>
            <a:r>
              <a:rPr dirty="0" sz="2400" spc="85">
                <a:latin typeface="Cambria Math"/>
                <a:cs typeface="Cambria Math"/>
              </a:rPr>
              <a:t> </a:t>
            </a:r>
            <a:r>
              <a:rPr dirty="0" sz="2400" spc="-5">
                <a:latin typeface="Calibri"/>
                <a:cs typeface="Calibri"/>
              </a:rPr>
              <a:t>modules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735828"/>
            <a:ext cx="7580630" cy="8839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solidFill>
                  <a:srgbClr val="C00000"/>
                </a:solidFill>
                <a:latin typeface="Calibri"/>
                <a:cs typeface="Calibri"/>
              </a:rPr>
              <a:t>Path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1: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include this</a:t>
            </a:r>
            <a:r>
              <a:rPr dirty="0" sz="180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module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</a:pPr>
            <a:r>
              <a:rPr dirty="0" sz="1400" spc="-15">
                <a:solidFill>
                  <a:srgbClr val="7F7F7F"/>
                </a:solidFill>
                <a:latin typeface="Corbel"/>
                <a:cs typeface="Corbel"/>
              </a:rPr>
              <a:t>Veit </a:t>
            </a:r>
            <a:r>
              <a:rPr dirty="0" sz="1400">
                <a:solidFill>
                  <a:srgbClr val="7F7F7F"/>
                </a:solidFill>
                <a:latin typeface="Corbel"/>
                <a:cs typeface="Corbel"/>
              </a:rPr>
              <a:t>et al. </a:t>
            </a:r>
            <a:r>
              <a:rPr dirty="0" sz="1400" spc="-10" u="sng">
                <a:solidFill>
                  <a:srgbClr val="7F7F7F"/>
                </a:solidFill>
                <a:latin typeface="Corbel"/>
                <a:cs typeface="Corbel"/>
              </a:rPr>
              <a:t>Residual </a:t>
            </a:r>
            <a:r>
              <a:rPr dirty="0" sz="1400" u="sng">
                <a:solidFill>
                  <a:srgbClr val="7F7F7F"/>
                </a:solidFill>
                <a:latin typeface="Corbel"/>
                <a:cs typeface="Corbel"/>
              </a:rPr>
              <a:t>Networks </a:t>
            </a:r>
            <a:r>
              <a:rPr dirty="0" sz="1400" spc="-5" u="sng">
                <a:solidFill>
                  <a:srgbClr val="7F7F7F"/>
                </a:solidFill>
                <a:latin typeface="Corbel"/>
                <a:cs typeface="Corbel"/>
              </a:rPr>
              <a:t>Behave </a:t>
            </a:r>
            <a:r>
              <a:rPr dirty="0" sz="1400" spc="-10" u="sng">
                <a:solidFill>
                  <a:srgbClr val="7F7F7F"/>
                </a:solidFill>
                <a:latin typeface="Corbel"/>
                <a:cs typeface="Corbel"/>
              </a:rPr>
              <a:t>Like </a:t>
            </a:r>
            <a:r>
              <a:rPr dirty="0" sz="1400" spc="-5" u="sng">
                <a:solidFill>
                  <a:srgbClr val="7F7F7F"/>
                </a:solidFill>
                <a:latin typeface="Corbel"/>
                <a:cs typeface="Corbel"/>
              </a:rPr>
              <a:t>Ensembles </a:t>
            </a:r>
            <a:r>
              <a:rPr dirty="0" sz="1400" u="sng">
                <a:solidFill>
                  <a:srgbClr val="7F7F7F"/>
                </a:solidFill>
                <a:latin typeface="Corbel"/>
                <a:cs typeface="Corbel"/>
              </a:rPr>
              <a:t>of </a:t>
            </a:r>
            <a:r>
              <a:rPr dirty="0" sz="1400" spc="-5" u="sng">
                <a:solidFill>
                  <a:srgbClr val="7F7F7F"/>
                </a:solidFill>
                <a:latin typeface="Corbel"/>
                <a:cs typeface="Corbel"/>
              </a:rPr>
              <a:t>Relatively </a:t>
            </a:r>
            <a:r>
              <a:rPr dirty="0" sz="1400" u="sng">
                <a:solidFill>
                  <a:srgbClr val="7F7F7F"/>
                </a:solidFill>
                <a:latin typeface="Corbel"/>
                <a:cs typeface="Corbel"/>
              </a:rPr>
              <a:t>Shallow </a:t>
            </a:r>
            <a:r>
              <a:rPr dirty="0" sz="1400" spc="-5" u="sng">
                <a:solidFill>
                  <a:srgbClr val="7F7F7F"/>
                </a:solidFill>
                <a:latin typeface="Corbel"/>
                <a:cs typeface="Corbel"/>
              </a:rPr>
              <a:t>Networks</a:t>
            </a:r>
            <a:r>
              <a:rPr dirty="0" sz="1400" spc="-5">
                <a:solidFill>
                  <a:srgbClr val="7F7F7F"/>
                </a:solidFill>
                <a:latin typeface="Corbel"/>
                <a:cs typeface="Corbel"/>
              </a:rPr>
              <a:t>, ArXiv</a:t>
            </a:r>
            <a:r>
              <a:rPr dirty="0" sz="1400" spc="-20">
                <a:solidFill>
                  <a:srgbClr val="7F7F7F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7F7F7F"/>
                </a:solidFill>
                <a:latin typeface="Corbel"/>
                <a:cs typeface="Corbel"/>
              </a:rPr>
              <a:t>2016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50533" y="5376422"/>
            <a:ext cx="85725" cy="352425"/>
          </a:xfrm>
          <a:custGeom>
            <a:avLst/>
            <a:gdLst/>
            <a:ahLst/>
            <a:cxnLst/>
            <a:rect l="l" t="t" r="r" b="b"/>
            <a:pathLst>
              <a:path w="85725" h="352425">
                <a:moveTo>
                  <a:pt x="50751" y="323563"/>
                </a:moveTo>
                <a:lnTo>
                  <a:pt x="34970" y="323563"/>
                </a:lnTo>
                <a:lnTo>
                  <a:pt x="28573" y="329960"/>
                </a:lnTo>
                <a:lnTo>
                  <a:pt x="28574" y="345770"/>
                </a:lnTo>
                <a:lnTo>
                  <a:pt x="34970" y="352167"/>
                </a:lnTo>
                <a:lnTo>
                  <a:pt x="50751" y="352167"/>
                </a:lnTo>
                <a:lnTo>
                  <a:pt x="57148" y="345770"/>
                </a:lnTo>
                <a:lnTo>
                  <a:pt x="57148" y="329960"/>
                </a:lnTo>
                <a:lnTo>
                  <a:pt x="50751" y="323563"/>
                </a:lnTo>
                <a:close/>
              </a:path>
              <a:path w="85725" h="352425">
                <a:moveTo>
                  <a:pt x="50753" y="266385"/>
                </a:moveTo>
                <a:lnTo>
                  <a:pt x="34970" y="266385"/>
                </a:lnTo>
                <a:lnTo>
                  <a:pt x="28573" y="272781"/>
                </a:lnTo>
                <a:lnTo>
                  <a:pt x="28574" y="288592"/>
                </a:lnTo>
                <a:lnTo>
                  <a:pt x="34970" y="294988"/>
                </a:lnTo>
                <a:lnTo>
                  <a:pt x="50753" y="294988"/>
                </a:lnTo>
                <a:lnTo>
                  <a:pt x="57148" y="288592"/>
                </a:lnTo>
                <a:lnTo>
                  <a:pt x="57148" y="272781"/>
                </a:lnTo>
                <a:lnTo>
                  <a:pt x="50753" y="266385"/>
                </a:lnTo>
                <a:close/>
              </a:path>
              <a:path w="85725" h="352425">
                <a:moveTo>
                  <a:pt x="50753" y="209207"/>
                </a:moveTo>
                <a:lnTo>
                  <a:pt x="34970" y="209207"/>
                </a:lnTo>
                <a:lnTo>
                  <a:pt x="28575" y="215603"/>
                </a:lnTo>
                <a:lnTo>
                  <a:pt x="28574" y="231413"/>
                </a:lnTo>
                <a:lnTo>
                  <a:pt x="34970" y="237810"/>
                </a:lnTo>
                <a:lnTo>
                  <a:pt x="50753" y="237810"/>
                </a:lnTo>
                <a:lnTo>
                  <a:pt x="57148" y="231413"/>
                </a:lnTo>
                <a:lnTo>
                  <a:pt x="57150" y="215603"/>
                </a:lnTo>
                <a:lnTo>
                  <a:pt x="50753" y="209207"/>
                </a:lnTo>
                <a:close/>
              </a:path>
              <a:path w="85725" h="352425">
                <a:moveTo>
                  <a:pt x="50753" y="152027"/>
                </a:moveTo>
                <a:lnTo>
                  <a:pt x="34970" y="152027"/>
                </a:lnTo>
                <a:lnTo>
                  <a:pt x="28575" y="158424"/>
                </a:lnTo>
                <a:lnTo>
                  <a:pt x="28575" y="174235"/>
                </a:lnTo>
                <a:lnTo>
                  <a:pt x="34970" y="180632"/>
                </a:lnTo>
                <a:lnTo>
                  <a:pt x="50753" y="180632"/>
                </a:lnTo>
                <a:lnTo>
                  <a:pt x="57150" y="174235"/>
                </a:lnTo>
                <a:lnTo>
                  <a:pt x="57150" y="158424"/>
                </a:lnTo>
                <a:lnTo>
                  <a:pt x="50753" y="152027"/>
                </a:lnTo>
                <a:close/>
              </a:path>
              <a:path w="85725" h="352425">
                <a:moveTo>
                  <a:pt x="50753" y="94849"/>
                </a:moveTo>
                <a:lnTo>
                  <a:pt x="34972" y="94849"/>
                </a:lnTo>
                <a:lnTo>
                  <a:pt x="28575" y="101245"/>
                </a:lnTo>
                <a:lnTo>
                  <a:pt x="28575" y="117055"/>
                </a:lnTo>
                <a:lnTo>
                  <a:pt x="34972" y="123452"/>
                </a:lnTo>
                <a:lnTo>
                  <a:pt x="50753" y="123452"/>
                </a:lnTo>
                <a:lnTo>
                  <a:pt x="57150" y="117055"/>
                </a:lnTo>
                <a:lnTo>
                  <a:pt x="57148" y="101245"/>
                </a:lnTo>
                <a:lnTo>
                  <a:pt x="50753" y="94849"/>
                </a:lnTo>
                <a:close/>
              </a:path>
              <a:path w="85725" h="352425">
                <a:moveTo>
                  <a:pt x="42862" y="0"/>
                </a:moveTo>
                <a:lnTo>
                  <a:pt x="0" y="85725"/>
                </a:lnTo>
                <a:lnTo>
                  <a:pt x="85725" y="85725"/>
                </a:lnTo>
                <a:lnTo>
                  <a:pt x="4286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50533" y="4847943"/>
            <a:ext cx="85725" cy="347980"/>
          </a:xfrm>
          <a:custGeom>
            <a:avLst/>
            <a:gdLst/>
            <a:ahLst/>
            <a:cxnLst/>
            <a:rect l="l" t="t" r="r" b="b"/>
            <a:pathLst>
              <a:path w="85725" h="347979">
                <a:moveTo>
                  <a:pt x="50751" y="0"/>
                </a:moveTo>
                <a:lnTo>
                  <a:pt x="34970" y="0"/>
                </a:lnTo>
                <a:lnTo>
                  <a:pt x="28573" y="6396"/>
                </a:lnTo>
                <a:lnTo>
                  <a:pt x="28573" y="22207"/>
                </a:lnTo>
                <a:lnTo>
                  <a:pt x="34970" y="28604"/>
                </a:lnTo>
                <a:lnTo>
                  <a:pt x="50751" y="28604"/>
                </a:lnTo>
                <a:lnTo>
                  <a:pt x="57148" y="22207"/>
                </a:lnTo>
                <a:lnTo>
                  <a:pt x="57148" y="6396"/>
                </a:lnTo>
                <a:lnTo>
                  <a:pt x="50751" y="0"/>
                </a:lnTo>
                <a:close/>
              </a:path>
              <a:path w="85725" h="347979">
                <a:moveTo>
                  <a:pt x="50753" y="57179"/>
                </a:moveTo>
                <a:lnTo>
                  <a:pt x="34970" y="57179"/>
                </a:lnTo>
                <a:lnTo>
                  <a:pt x="28573" y="63574"/>
                </a:lnTo>
                <a:lnTo>
                  <a:pt x="28573" y="79385"/>
                </a:lnTo>
                <a:lnTo>
                  <a:pt x="34970" y="85782"/>
                </a:lnTo>
                <a:lnTo>
                  <a:pt x="50753" y="85782"/>
                </a:lnTo>
                <a:lnTo>
                  <a:pt x="57148" y="79385"/>
                </a:lnTo>
                <a:lnTo>
                  <a:pt x="57148" y="63574"/>
                </a:lnTo>
                <a:lnTo>
                  <a:pt x="50753" y="57179"/>
                </a:lnTo>
                <a:close/>
              </a:path>
              <a:path w="85725" h="347979">
                <a:moveTo>
                  <a:pt x="50753" y="114357"/>
                </a:moveTo>
                <a:lnTo>
                  <a:pt x="34970" y="114357"/>
                </a:lnTo>
                <a:lnTo>
                  <a:pt x="28573" y="120754"/>
                </a:lnTo>
                <a:lnTo>
                  <a:pt x="28575" y="136564"/>
                </a:lnTo>
                <a:lnTo>
                  <a:pt x="34970" y="142961"/>
                </a:lnTo>
                <a:lnTo>
                  <a:pt x="50753" y="142961"/>
                </a:lnTo>
                <a:lnTo>
                  <a:pt x="57150" y="136564"/>
                </a:lnTo>
                <a:lnTo>
                  <a:pt x="57148" y="120754"/>
                </a:lnTo>
                <a:lnTo>
                  <a:pt x="50753" y="114357"/>
                </a:lnTo>
                <a:close/>
              </a:path>
              <a:path w="85725" h="347979">
                <a:moveTo>
                  <a:pt x="50753" y="171536"/>
                </a:moveTo>
                <a:lnTo>
                  <a:pt x="34970" y="171536"/>
                </a:lnTo>
                <a:lnTo>
                  <a:pt x="28575" y="177932"/>
                </a:lnTo>
                <a:lnTo>
                  <a:pt x="28575" y="193742"/>
                </a:lnTo>
                <a:lnTo>
                  <a:pt x="34970" y="200139"/>
                </a:lnTo>
                <a:lnTo>
                  <a:pt x="50753" y="200139"/>
                </a:lnTo>
                <a:lnTo>
                  <a:pt x="57150" y="193742"/>
                </a:lnTo>
                <a:lnTo>
                  <a:pt x="57150" y="177932"/>
                </a:lnTo>
                <a:lnTo>
                  <a:pt x="50753" y="171536"/>
                </a:lnTo>
                <a:close/>
              </a:path>
              <a:path w="85725" h="347979">
                <a:moveTo>
                  <a:pt x="50753" y="228714"/>
                </a:moveTo>
                <a:lnTo>
                  <a:pt x="34972" y="228714"/>
                </a:lnTo>
                <a:lnTo>
                  <a:pt x="28575" y="235111"/>
                </a:lnTo>
                <a:lnTo>
                  <a:pt x="28575" y="250921"/>
                </a:lnTo>
                <a:lnTo>
                  <a:pt x="34972" y="257318"/>
                </a:lnTo>
                <a:lnTo>
                  <a:pt x="50753" y="257318"/>
                </a:lnTo>
                <a:lnTo>
                  <a:pt x="57150" y="250921"/>
                </a:lnTo>
                <a:lnTo>
                  <a:pt x="57150" y="235111"/>
                </a:lnTo>
                <a:lnTo>
                  <a:pt x="50753" y="228714"/>
                </a:lnTo>
                <a:close/>
              </a:path>
              <a:path w="85725" h="347979">
                <a:moveTo>
                  <a:pt x="85725" y="262141"/>
                </a:moveTo>
                <a:lnTo>
                  <a:pt x="0" y="262143"/>
                </a:lnTo>
                <a:lnTo>
                  <a:pt x="42862" y="347868"/>
                </a:lnTo>
                <a:lnTo>
                  <a:pt x="85725" y="262141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35940" y="4425188"/>
            <a:ext cx="22580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solidFill>
                  <a:srgbClr val="0070C0"/>
                </a:solidFill>
                <a:latin typeface="Calibri"/>
                <a:cs typeface="Calibri"/>
              </a:rPr>
              <a:t>Path </a:t>
            </a:r>
            <a:r>
              <a:rPr dirty="0" sz="1800" b="1">
                <a:solidFill>
                  <a:srgbClr val="0070C0"/>
                </a:solidFill>
                <a:latin typeface="Calibri"/>
                <a:cs typeface="Calibri"/>
              </a:rPr>
              <a:t>2: </a:t>
            </a:r>
            <a:r>
              <a:rPr dirty="0" sz="1800" spc="-5">
                <a:solidFill>
                  <a:srgbClr val="0070C0"/>
                </a:solidFill>
                <a:latin typeface="Calibri"/>
                <a:cs typeface="Calibri"/>
              </a:rPr>
              <a:t>skip this</a:t>
            </a:r>
            <a:r>
              <a:rPr dirty="0" sz="1800" spc="-2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0070C0"/>
                </a:solidFill>
                <a:latin typeface="Calibri"/>
                <a:cs typeface="Calibri"/>
              </a:rPr>
              <a:t>module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5750114" y="3334003"/>
            <a:ext cx="2110740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alibri"/>
                <a:cs typeface="Calibri"/>
              </a:rPr>
              <a:t>All the possible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paths:</a:t>
            </a:r>
            <a:endParaRPr sz="1800">
              <a:latin typeface="Calibri"/>
              <a:cs typeface="Calibri"/>
            </a:endParaRPr>
          </a:p>
          <a:p>
            <a:pPr algn="ctr" marL="19685">
              <a:lnSpc>
                <a:spcPct val="100000"/>
              </a:lnSpc>
              <a:spcBef>
                <a:spcPts val="45"/>
              </a:spcBef>
            </a:pPr>
            <a:r>
              <a:rPr dirty="0" sz="1800">
                <a:latin typeface="Cambria Math"/>
                <a:cs typeface="Cambria Math"/>
              </a:rPr>
              <a:t>2 ∗ 2 ∗ 2 = </a:t>
            </a:r>
            <a:r>
              <a:rPr dirty="0" sz="1800" spc="10">
                <a:latin typeface="Cambria Math"/>
                <a:cs typeface="Cambria Math"/>
              </a:rPr>
              <a:t>2</a:t>
            </a:r>
            <a:r>
              <a:rPr dirty="0" baseline="27777" sz="1950" spc="15">
                <a:latin typeface="Cambria Math"/>
                <a:cs typeface="Cambria Math"/>
              </a:rPr>
              <a:t>3 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5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8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6563" y="3227323"/>
            <a:ext cx="442087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800"/>
              </a:lnSpc>
              <a:spcBef>
                <a:spcPts val="75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45">
                <a:latin typeface="Calibri"/>
                <a:cs typeface="Calibri"/>
              </a:rPr>
              <a:t>We </a:t>
            </a:r>
            <a:r>
              <a:rPr dirty="0" sz="2400" spc="-10">
                <a:latin typeface="Calibri"/>
                <a:cs typeface="Calibri"/>
              </a:rPr>
              <a:t>automatically </a:t>
            </a:r>
            <a:r>
              <a:rPr dirty="0" sz="2400" spc="-15">
                <a:latin typeface="Calibri"/>
                <a:cs typeface="Calibri"/>
              </a:rPr>
              <a:t>get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mixture 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of shallow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GNNs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and deep</a:t>
            </a:r>
            <a:r>
              <a:rPr dirty="0" sz="24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GNNs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82888" y="4812336"/>
            <a:ext cx="2389505" cy="739775"/>
          </a:xfrm>
          <a:custGeom>
            <a:avLst/>
            <a:gdLst/>
            <a:ahLst/>
            <a:cxnLst/>
            <a:rect l="l" t="t" r="r" b="b"/>
            <a:pathLst>
              <a:path w="2389504" h="739775">
                <a:moveTo>
                  <a:pt x="0" y="0"/>
                </a:moveTo>
                <a:lnTo>
                  <a:pt x="2389108" y="0"/>
                </a:lnTo>
                <a:lnTo>
                  <a:pt x="2389108" y="739429"/>
                </a:lnTo>
                <a:lnTo>
                  <a:pt x="0" y="739429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71776" y="4801223"/>
            <a:ext cx="2411730" cy="762000"/>
          </a:xfrm>
          <a:custGeom>
            <a:avLst/>
            <a:gdLst/>
            <a:ahLst/>
            <a:cxnLst/>
            <a:rect l="l" t="t" r="r" b="b"/>
            <a:pathLst>
              <a:path w="2411729" h="762000">
                <a:moveTo>
                  <a:pt x="2406359" y="0"/>
                </a:moveTo>
                <a:lnTo>
                  <a:pt x="4975" y="0"/>
                </a:lnTo>
                <a:lnTo>
                  <a:pt x="0" y="4974"/>
                </a:lnTo>
                <a:lnTo>
                  <a:pt x="0" y="756679"/>
                </a:lnTo>
                <a:lnTo>
                  <a:pt x="4975" y="761654"/>
                </a:lnTo>
                <a:lnTo>
                  <a:pt x="2406359" y="761654"/>
                </a:lnTo>
                <a:lnTo>
                  <a:pt x="2411333" y="756679"/>
                </a:lnTo>
                <a:lnTo>
                  <a:pt x="2411333" y="748319"/>
                </a:lnTo>
                <a:lnTo>
                  <a:pt x="13335" y="748319"/>
                </a:lnTo>
                <a:lnTo>
                  <a:pt x="13335" y="13334"/>
                </a:lnTo>
                <a:lnTo>
                  <a:pt x="2411333" y="13334"/>
                </a:lnTo>
                <a:lnTo>
                  <a:pt x="2411333" y="4974"/>
                </a:lnTo>
                <a:lnTo>
                  <a:pt x="2406359" y="0"/>
                </a:lnTo>
                <a:close/>
              </a:path>
              <a:path w="2411729" h="762000">
                <a:moveTo>
                  <a:pt x="2411333" y="13334"/>
                </a:moveTo>
                <a:lnTo>
                  <a:pt x="2397998" y="13334"/>
                </a:lnTo>
                <a:lnTo>
                  <a:pt x="2397998" y="748319"/>
                </a:lnTo>
                <a:lnTo>
                  <a:pt x="2411333" y="748319"/>
                </a:lnTo>
                <a:lnTo>
                  <a:pt x="2411333" y="13334"/>
                </a:lnTo>
                <a:close/>
              </a:path>
              <a:path w="2411729" h="762000">
                <a:moveTo>
                  <a:pt x="2393553" y="17779"/>
                </a:moveTo>
                <a:lnTo>
                  <a:pt x="17780" y="17779"/>
                </a:lnTo>
                <a:lnTo>
                  <a:pt x="17780" y="743874"/>
                </a:lnTo>
                <a:lnTo>
                  <a:pt x="2393553" y="743874"/>
                </a:lnTo>
                <a:lnTo>
                  <a:pt x="2393553" y="739429"/>
                </a:lnTo>
                <a:lnTo>
                  <a:pt x="22225" y="739429"/>
                </a:lnTo>
                <a:lnTo>
                  <a:pt x="22225" y="22225"/>
                </a:lnTo>
                <a:lnTo>
                  <a:pt x="2393553" y="22225"/>
                </a:lnTo>
                <a:lnTo>
                  <a:pt x="2393553" y="17779"/>
                </a:lnTo>
                <a:close/>
              </a:path>
              <a:path w="2411729" h="762000">
                <a:moveTo>
                  <a:pt x="2393553" y="22225"/>
                </a:moveTo>
                <a:lnTo>
                  <a:pt x="2389108" y="22225"/>
                </a:lnTo>
                <a:lnTo>
                  <a:pt x="2389108" y="739429"/>
                </a:lnTo>
                <a:lnTo>
                  <a:pt x="2393553" y="739429"/>
                </a:lnTo>
                <a:lnTo>
                  <a:pt x="2393553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69474" y="4812336"/>
            <a:ext cx="832485" cy="739775"/>
          </a:xfrm>
          <a:custGeom>
            <a:avLst/>
            <a:gdLst/>
            <a:ahLst/>
            <a:cxnLst/>
            <a:rect l="l" t="t" r="r" b="b"/>
            <a:pathLst>
              <a:path w="832485" h="739775">
                <a:moveTo>
                  <a:pt x="0" y="0"/>
                </a:moveTo>
                <a:lnTo>
                  <a:pt x="832462" y="0"/>
                </a:lnTo>
                <a:lnTo>
                  <a:pt x="832462" y="739429"/>
                </a:lnTo>
                <a:lnTo>
                  <a:pt x="0" y="739429"/>
                </a:lnTo>
                <a:lnTo>
                  <a:pt x="0" y="0"/>
                </a:lnTo>
                <a:close/>
              </a:path>
            </a:pathLst>
          </a:custGeom>
          <a:solidFill>
            <a:srgbClr val="60B5CC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58361" y="4801223"/>
            <a:ext cx="854710" cy="762000"/>
          </a:xfrm>
          <a:custGeom>
            <a:avLst/>
            <a:gdLst/>
            <a:ahLst/>
            <a:cxnLst/>
            <a:rect l="l" t="t" r="r" b="b"/>
            <a:pathLst>
              <a:path w="854710" h="762000">
                <a:moveTo>
                  <a:pt x="849712" y="0"/>
                </a:moveTo>
                <a:lnTo>
                  <a:pt x="4975" y="0"/>
                </a:lnTo>
                <a:lnTo>
                  <a:pt x="0" y="4974"/>
                </a:lnTo>
                <a:lnTo>
                  <a:pt x="0" y="756679"/>
                </a:lnTo>
                <a:lnTo>
                  <a:pt x="4975" y="761654"/>
                </a:lnTo>
                <a:lnTo>
                  <a:pt x="849712" y="761654"/>
                </a:lnTo>
                <a:lnTo>
                  <a:pt x="854687" y="756679"/>
                </a:lnTo>
                <a:lnTo>
                  <a:pt x="854687" y="748319"/>
                </a:lnTo>
                <a:lnTo>
                  <a:pt x="13335" y="748319"/>
                </a:lnTo>
                <a:lnTo>
                  <a:pt x="13335" y="13334"/>
                </a:lnTo>
                <a:lnTo>
                  <a:pt x="854687" y="13334"/>
                </a:lnTo>
                <a:lnTo>
                  <a:pt x="854687" y="4974"/>
                </a:lnTo>
                <a:lnTo>
                  <a:pt x="849712" y="0"/>
                </a:lnTo>
                <a:close/>
              </a:path>
              <a:path w="854710" h="762000">
                <a:moveTo>
                  <a:pt x="854687" y="13334"/>
                </a:moveTo>
                <a:lnTo>
                  <a:pt x="841352" y="13334"/>
                </a:lnTo>
                <a:lnTo>
                  <a:pt x="841352" y="748319"/>
                </a:lnTo>
                <a:lnTo>
                  <a:pt x="854687" y="748319"/>
                </a:lnTo>
                <a:lnTo>
                  <a:pt x="854687" y="13334"/>
                </a:lnTo>
                <a:close/>
              </a:path>
              <a:path w="854710" h="762000">
                <a:moveTo>
                  <a:pt x="836907" y="17779"/>
                </a:moveTo>
                <a:lnTo>
                  <a:pt x="17779" y="17779"/>
                </a:lnTo>
                <a:lnTo>
                  <a:pt x="17779" y="743874"/>
                </a:lnTo>
                <a:lnTo>
                  <a:pt x="836907" y="743874"/>
                </a:lnTo>
                <a:lnTo>
                  <a:pt x="836907" y="739429"/>
                </a:lnTo>
                <a:lnTo>
                  <a:pt x="22225" y="739429"/>
                </a:lnTo>
                <a:lnTo>
                  <a:pt x="22225" y="22225"/>
                </a:lnTo>
                <a:lnTo>
                  <a:pt x="836907" y="22225"/>
                </a:lnTo>
                <a:lnTo>
                  <a:pt x="836907" y="17779"/>
                </a:lnTo>
                <a:close/>
              </a:path>
              <a:path w="854710" h="762000">
                <a:moveTo>
                  <a:pt x="836907" y="22225"/>
                </a:moveTo>
                <a:lnTo>
                  <a:pt x="832462" y="22225"/>
                </a:lnTo>
                <a:lnTo>
                  <a:pt x="832462" y="739429"/>
                </a:lnTo>
                <a:lnTo>
                  <a:pt x="836907" y="739429"/>
                </a:lnTo>
                <a:lnTo>
                  <a:pt x="836907" y="22225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82890" y="2191175"/>
            <a:ext cx="2389505" cy="739775"/>
          </a:xfrm>
          <a:custGeom>
            <a:avLst/>
            <a:gdLst/>
            <a:ahLst/>
            <a:cxnLst/>
            <a:rect l="l" t="t" r="r" b="b"/>
            <a:pathLst>
              <a:path w="2389504" h="739775">
                <a:moveTo>
                  <a:pt x="0" y="0"/>
                </a:moveTo>
                <a:lnTo>
                  <a:pt x="2389108" y="0"/>
                </a:lnTo>
                <a:lnTo>
                  <a:pt x="2389108" y="739429"/>
                </a:lnTo>
                <a:lnTo>
                  <a:pt x="0" y="739429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71777" y="2180062"/>
            <a:ext cx="2411730" cy="762000"/>
          </a:xfrm>
          <a:custGeom>
            <a:avLst/>
            <a:gdLst/>
            <a:ahLst/>
            <a:cxnLst/>
            <a:rect l="l" t="t" r="r" b="b"/>
            <a:pathLst>
              <a:path w="2411729" h="762000">
                <a:moveTo>
                  <a:pt x="2406359" y="0"/>
                </a:moveTo>
                <a:lnTo>
                  <a:pt x="4975" y="0"/>
                </a:lnTo>
                <a:lnTo>
                  <a:pt x="0" y="4974"/>
                </a:lnTo>
                <a:lnTo>
                  <a:pt x="0" y="756678"/>
                </a:lnTo>
                <a:lnTo>
                  <a:pt x="4975" y="761654"/>
                </a:lnTo>
                <a:lnTo>
                  <a:pt x="2406359" y="761654"/>
                </a:lnTo>
                <a:lnTo>
                  <a:pt x="2411333" y="756678"/>
                </a:lnTo>
                <a:lnTo>
                  <a:pt x="2411333" y="748319"/>
                </a:lnTo>
                <a:lnTo>
                  <a:pt x="13334" y="748319"/>
                </a:lnTo>
                <a:lnTo>
                  <a:pt x="13334" y="13335"/>
                </a:lnTo>
                <a:lnTo>
                  <a:pt x="2411333" y="13335"/>
                </a:lnTo>
                <a:lnTo>
                  <a:pt x="2411333" y="4974"/>
                </a:lnTo>
                <a:lnTo>
                  <a:pt x="2406359" y="0"/>
                </a:lnTo>
                <a:close/>
              </a:path>
              <a:path w="2411729" h="762000">
                <a:moveTo>
                  <a:pt x="2411333" y="13335"/>
                </a:moveTo>
                <a:lnTo>
                  <a:pt x="2397998" y="13335"/>
                </a:lnTo>
                <a:lnTo>
                  <a:pt x="2397998" y="748319"/>
                </a:lnTo>
                <a:lnTo>
                  <a:pt x="2411333" y="748319"/>
                </a:lnTo>
                <a:lnTo>
                  <a:pt x="2411333" y="13335"/>
                </a:lnTo>
                <a:close/>
              </a:path>
              <a:path w="2411729" h="762000">
                <a:moveTo>
                  <a:pt x="2393553" y="17779"/>
                </a:moveTo>
                <a:lnTo>
                  <a:pt x="17780" y="17779"/>
                </a:lnTo>
                <a:lnTo>
                  <a:pt x="17780" y="743874"/>
                </a:lnTo>
                <a:lnTo>
                  <a:pt x="2393553" y="743874"/>
                </a:lnTo>
                <a:lnTo>
                  <a:pt x="2393553" y="739429"/>
                </a:lnTo>
                <a:lnTo>
                  <a:pt x="22225" y="739429"/>
                </a:lnTo>
                <a:lnTo>
                  <a:pt x="22225" y="22225"/>
                </a:lnTo>
                <a:lnTo>
                  <a:pt x="2393553" y="22225"/>
                </a:lnTo>
                <a:lnTo>
                  <a:pt x="2393553" y="17779"/>
                </a:lnTo>
                <a:close/>
              </a:path>
              <a:path w="2411729" h="762000">
                <a:moveTo>
                  <a:pt x="2393553" y="22225"/>
                </a:moveTo>
                <a:lnTo>
                  <a:pt x="2389108" y="22225"/>
                </a:lnTo>
                <a:lnTo>
                  <a:pt x="2389108" y="739429"/>
                </a:lnTo>
                <a:lnTo>
                  <a:pt x="2393553" y="739429"/>
                </a:lnTo>
                <a:lnTo>
                  <a:pt x="2393553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2168" y="365759"/>
            <a:ext cx="8378952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34874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>
                <a:solidFill>
                  <a:srgbClr val="000000"/>
                </a:solidFill>
              </a:rPr>
              <a:t>A </a:t>
            </a:r>
            <a:r>
              <a:rPr dirty="0" sz="2800" spc="-15">
                <a:solidFill>
                  <a:srgbClr val="000000"/>
                </a:solidFill>
              </a:rPr>
              <a:t>standard </a:t>
            </a:r>
            <a:r>
              <a:rPr dirty="0" sz="2800">
                <a:solidFill>
                  <a:srgbClr val="000000"/>
                </a:solidFill>
              </a:rPr>
              <a:t>GCN</a:t>
            </a:r>
            <a:r>
              <a:rPr dirty="0" sz="2800" spc="-40">
                <a:solidFill>
                  <a:srgbClr val="000000"/>
                </a:solidFill>
              </a:rPr>
              <a:t> </a:t>
            </a:r>
            <a:r>
              <a:rPr dirty="0" sz="2800" spc="-20">
                <a:solidFill>
                  <a:srgbClr val="000000"/>
                </a:solidFill>
              </a:rPr>
              <a:t>layer</a:t>
            </a:r>
            <a:endParaRPr sz="2800"/>
          </a:p>
        </p:txBody>
      </p:sp>
      <p:sp>
        <p:nvSpPr>
          <p:cNvPr id="10" name="object 10"/>
          <p:cNvSpPr txBox="1"/>
          <p:nvPr/>
        </p:nvSpPr>
        <p:spPr>
          <a:xfrm>
            <a:off x="1123886" y="2251964"/>
            <a:ext cx="297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(</a:t>
            </a:r>
            <a:r>
              <a:rPr dirty="0" sz="1800" spc="-935">
                <a:latin typeface="Cambria Math"/>
                <a:cs typeface="Cambria Math"/>
              </a:rPr>
              <a:t>%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8108" y="2340355"/>
            <a:ext cx="13881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  <a:tab pos="885190" algn="l"/>
              </a:tabLst>
            </a:pPr>
            <a:r>
              <a:rPr dirty="0" sz="2400" spc="125">
                <a:latin typeface="Cambria Math"/>
                <a:cs typeface="Cambria Math"/>
              </a:rPr>
              <a:t>𝐡</a:t>
            </a:r>
            <a:r>
              <a:rPr dirty="0" baseline="-18518" sz="2700" spc="187">
                <a:latin typeface="Cambria Math"/>
                <a:cs typeface="Cambria Math"/>
              </a:rPr>
              <a:t>)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76419" y="2268759"/>
            <a:ext cx="2632075" cy="602615"/>
          </a:xfrm>
          <a:custGeom>
            <a:avLst/>
            <a:gdLst/>
            <a:ahLst/>
            <a:cxnLst/>
            <a:rect l="l" t="t" r="r" b="b"/>
            <a:pathLst>
              <a:path w="2632075" h="602614">
                <a:moveTo>
                  <a:pt x="2524998" y="0"/>
                </a:moveTo>
                <a:lnTo>
                  <a:pt x="2516366" y="9970"/>
                </a:lnTo>
                <a:lnTo>
                  <a:pt x="2534374" y="29802"/>
                </a:lnTo>
                <a:lnTo>
                  <a:pt x="2550745" y="54470"/>
                </a:lnTo>
                <a:lnTo>
                  <a:pt x="2578575" y="118318"/>
                </a:lnTo>
                <a:lnTo>
                  <a:pt x="2589319" y="157311"/>
                </a:lnTo>
                <a:lnTo>
                  <a:pt x="2596993" y="200768"/>
                </a:lnTo>
                <a:lnTo>
                  <a:pt x="2601597" y="248691"/>
                </a:lnTo>
                <a:lnTo>
                  <a:pt x="2603132" y="301078"/>
                </a:lnTo>
                <a:lnTo>
                  <a:pt x="2601597" y="353466"/>
                </a:lnTo>
                <a:lnTo>
                  <a:pt x="2596993" y="401389"/>
                </a:lnTo>
                <a:lnTo>
                  <a:pt x="2589319" y="444847"/>
                </a:lnTo>
                <a:lnTo>
                  <a:pt x="2578575" y="483839"/>
                </a:lnTo>
                <a:lnTo>
                  <a:pt x="2550745" y="547687"/>
                </a:lnTo>
                <a:lnTo>
                  <a:pt x="2516366" y="592187"/>
                </a:lnTo>
                <a:lnTo>
                  <a:pt x="2524998" y="602157"/>
                </a:lnTo>
                <a:lnTo>
                  <a:pt x="2565256" y="557826"/>
                </a:lnTo>
                <a:lnTo>
                  <a:pt x="2600007" y="492099"/>
                </a:lnTo>
                <a:lnTo>
                  <a:pt x="2614006" y="451492"/>
                </a:lnTo>
                <a:lnTo>
                  <a:pt x="2624006" y="406095"/>
                </a:lnTo>
                <a:lnTo>
                  <a:pt x="2630006" y="355908"/>
                </a:lnTo>
                <a:lnTo>
                  <a:pt x="2632006" y="300930"/>
                </a:lnTo>
                <a:lnTo>
                  <a:pt x="2630006" y="246082"/>
                </a:lnTo>
                <a:lnTo>
                  <a:pt x="2624006" y="195987"/>
                </a:lnTo>
                <a:lnTo>
                  <a:pt x="2614006" y="150646"/>
                </a:lnTo>
                <a:lnTo>
                  <a:pt x="2600007" y="110058"/>
                </a:lnTo>
                <a:lnTo>
                  <a:pt x="2583319" y="74520"/>
                </a:lnTo>
                <a:lnTo>
                  <a:pt x="2545815" y="19491"/>
                </a:lnTo>
                <a:lnTo>
                  <a:pt x="2524998" y="0"/>
                </a:lnTo>
                <a:close/>
              </a:path>
              <a:path w="2632075" h="602614">
                <a:moveTo>
                  <a:pt x="107002" y="0"/>
                </a:moveTo>
                <a:lnTo>
                  <a:pt x="66743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3" y="406095"/>
                </a:lnTo>
                <a:lnTo>
                  <a:pt x="17993" y="451492"/>
                </a:lnTo>
                <a:lnTo>
                  <a:pt x="31992" y="492099"/>
                </a:lnTo>
                <a:lnTo>
                  <a:pt x="48679" y="527637"/>
                </a:lnTo>
                <a:lnTo>
                  <a:pt x="86184" y="582666"/>
                </a:lnTo>
                <a:lnTo>
                  <a:pt x="107002" y="602157"/>
                </a:lnTo>
                <a:lnTo>
                  <a:pt x="115633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39"/>
                </a:lnTo>
                <a:lnTo>
                  <a:pt x="42679" y="444847"/>
                </a:lnTo>
                <a:lnTo>
                  <a:pt x="35005" y="401389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1"/>
                </a:lnTo>
                <a:lnTo>
                  <a:pt x="35005" y="200768"/>
                </a:lnTo>
                <a:lnTo>
                  <a:pt x="42679" y="157311"/>
                </a:lnTo>
                <a:lnTo>
                  <a:pt x="53423" y="118318"/>
                </a:lnTo>
                <a:lnTo>
                  <a:pt x="81254" y="54470"/>
                </a:lnTo>
                <a:lnTo>
                  <a:pt x="115633" y="9970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201735" y="2328164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97657" y="2566858"/>
            <a:ext cx="278130" cy="212090"/>
          </a:xfrm>
          <a:custGeom>
            <a:avLst/>
            <a:gdLst/>
            <a:ahLst/>
            <a:cxnLst/>
            <a:rect l="l" t="t" r="r" b="b"/>
            <a:pathLst>
              <a:path w="278130" h="212089">
                <a:moveTo>
                  <a:pt x="210557" y="0"/>
                </a:moveTo>
                <a:lnTo>
                  <a:pt x="207543" y="8595"/>
                </a:lnTo>
                <a:lnTo>
                  <a:pt x="219800" y="13914"/>
                </a:lnTo>
                <a:lnTo>
                  <a:pt x="230341" y="21277"/>
                </a:lnTo>
                <a:lnTo>
                  <a:pt x="251744" y="55409"/>
                </a:lnTo>
                <a:lnTo>
                  <a:pt x="258776" y="104811"/>
                </a:lnTo>
                <a:lnTo>
                  <a:pt x="257991" y="123487"/>
                </a:lnTo>
                <a:lnTo>
                  <a:pt x="246219" y="169217"/>
                </a:lnTo>
                <a:lnTo>
                  <a:pt x="219942" y="197806"/>
                </a:lnTo>
                <a:lnTo>
                  <a:pt x="207877" y="203150"/>
                </a:lnTo>
                <a:lnTo>
                  <a:pt x="210557" y="211744"/>
                </a:lnTo>
                <a:lnTo>
                  <a:pt x="251012" y="187708"/>
                </a:lnTo>
                <a:lnTo>
                  <a:pt x="273733" y="143335"/>
                </a:lnTo>
                <a:lnTo>
                  <a:pt x="278086" y="105928"/>
                </a:lnTo>
                <a:lnTo>
                  <a:pt x="276995" y="86516"/>
                </a:lnTo>
                <a:lnTo>
                  <a:pt x="260619" y="37114"/>
                </a:lnTo>
                <a:lnTo>
                  <a:pt x="225908" y="5542"/>
                </a:lnTo>
                <a:lnTo>
                  <a:pt x="210557" y="0"/>
                </a:lnTo>
                <a:close/>
              </a:path>
              <a:path w="278130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17698" y="2495804"/>
            <a:ext cx="694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5">
                <a:latin typeface="Cambria Math"/>
                <a:cs typeface="Cambria Math"/>
              </a:rPr>
              <a:t>#∈+</a:t>
            </a:r>
            <a:r>
              <a:rPr dirty="0" sz="1800" spc="225">
                <a:latin typeface="Cambria Math"/>
                <a:cs typeface="Cambria Math"/>
              </a:rPr>
              <a:t> </a:t>
            </a:r>
            <a:r>
              <a:rPr dirty="0" sz="1800" spc="26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72979" y="2374326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5" h="212089">
                <a:moveTo>
                  <a:pt x="164900" y="0"/>
                </a:moveTo>
                <a:lnTo>
                  <a:pt x="161886" y="8595"/>
                </a:lnTo>
                <a:lnTo>
                  <a:pt x="174143" y="13914"/>
                </a:lnTo>
                <a:lnTo>
                  <a:pt x="184684" y="21277"/>
                </a:lnTo>
                <a:lnTo>
                  <a:pt x="206088" y="55409"/>
                </a:lnTo>
                <a:lnTo>
                  <a:pt x="213119" y="104811"/>
                </a:lnTo>
                <a:lnTo>
                  <a:pt x="212335" y="123487"/>
                </a:lnTo>
                <a:lnTo>
                  <a:pt x="200563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900" y="211744"/>
                </a:lnTo>
                <a:lnTo>
                  <a:pt x="205356" y="187708"/>
                </a:lnTo>
                <a:lnTo>
                  <a:pt x="228077" y="143335"/>
                </a:lnTo>
                <a:lnTo>
                  <a:pt x="232430" y="105928"/>
                </a:lnTo>
                <a:lnTo>
                  <a:pt x="231338" y="86516"/>
                </a:lnTo>
                <a:lnTo>
                  <a:pt x="214962" y="37114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244088" y="2227579"/>
            <a:ext cx="4946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-20833" sz="3600">
                <a:solidFill>
                  <a:srgbClr val="C00000"/>
                </a:solidFill>
                <a:latin typeface="Cambria Math"/>
                <a:cs typeface="Cambria Math"/>
              </a:rPr>
              <a:t>𝐖</a:t>
            </a:r>
            <a:r>
              <a:rPr dirty="0" baseline="-20833" sz="3600" spc="277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 spc="-969">
                <a:solidFill>
                  <a:srgbClr val="C00000"/>
                </a:solidFill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90264" y="2567939"/>
            <a:ext cx="635000" cy="0"/>
          </a:xfrm>
          <a:custGeom>
            <a:avLst/>
            <a:gdLst/>
            <a:ahLst/>
            <a:cxnLst/>
            <a:rect l="l" t="t" r="r" b="b"/>
            <a:pathLst>
              <a:path w="635000" h="0">
                <a:moveTo>
                  <a:pt x="0" y="0"/>
                </a:moveTo>
                <a:lnTo>
                  <a:pt x="635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046861" y="2227860"/>
            <a:ext cx="434340" cy="165100"/>
          </a:xfrm>
          <a:custGeom>
            <a:avLst/>
            <a:gdLst/>
            <a:ahLst/>
            <a:cxnLst/>
            <a:rect l="l" t="t" r="r" b="b"/>
            <a:pathLst>
              <a:path w="434339" h="165100">
                <a:moveTo>
                  <a:pt x="381810" y="0"/>
                </a:moveTo>
                <a:lnTo>
                  <a:pt x="379465" y="6684"/>
                </a:lnTo>
                <a:lnTo>
                  <a:pt x="388999" y="10821"/>
                </a:lnTo>
                <a:lnTo>
                  <a:pt x="397198" y="16548"/>
                </a:lnTo>
                <a:lnTo>
                  <a:pt x="416883" y="54661"/>
                </a:lnTo>
                <a:lnTo>
                  <a:pt x="419314" y="81520"/>
                </a:lnTo>
                <a:lnTo>
                  <a:pt x="418704" y="96045"/>
                </a:lnTo>
                <a:lnTo>
                  <a:pt x="404021" y="140652"/>
                </a:lnTo>
                <a:lnTo>
                  <a:pt x="379726" y="158005"/>
                </a:lnTo>
                <a:lnTo>
                  <a:pt x="381810" y="164689"/>
                </a:lnTo>
                <a:lnTo>
                  <a:pt x="420790" y="135910"/>
                </a:lnTo>
                <a:lnTo>
                  <a:pt x="433487" y="97518"/>
                </a:lnTo>
                <a:lnTo>
                  <a:pt x="434333" y="82388"/>
                </a:lnTo>
                <a:lnTo>
                  <a:pt x="433484" y="67290"/>
                </a:lnTo>
                <a:lnTo>
                  <a:pt x="420747" y="28865"/>
                </a:lnTo>
                <a:lnTo>
                  <a:pt x="393750" y="4310"/>
                </a:lnTo>
                <a:lnTo>
                  <a:pt x="381810" y="0"/>
                </a:lnTo>
                <a:close/>
              </a:path>
              <a:path w="434339" h="165100">
                <a:moveTo>
                  <a:pt x="52523" y="0"/>
                </a:moveTo>
                <a:lnTo>
                  <a:pt x="13586" y="28865"/>
                </a:lnTo>
                <a:lnTo>
                  <a:pt x="849" y="67290"/>
                </a:lnTo>
                <a:lnTo>
                  <a:pt x="0" y="82388"/>
                </a:lnTo>
                <a:lnTo>
                  <a:pt x="846" y="97518"/>
                </a:lnTo>
                <a:lnTo>
                  <a:pt x="13543" y="135910"/>
                </a:lnTo>
                <a:lnTo>
                  <a:pt x="52523" y="164689"/>
                </a:lnTo>
                <a:lnTo>
                  <a:pt x="54607" y="158005"/>
                </a:lnTo>
                <a:lnTo>
                  <a:pt x="45222" y="153849"/>
                </a:lnTo>
                <a:lnTo>
                  <a:pt x="37124" y="148064"/>
                </a:lnTo>
                <a:lnTo>
                  <a:pt x="17460" y="109236"/>
                </a:lnTo>
                <a:lnTo>
                  <a:pt x="15019" y="81520"/>
                </a:lnTo>
                <a:lnTo>
                  <a:pt x="15629" y="67469"/>
                </a:lnTo>
                <a:lnTo>
                  <a:pt x="30328" y="23865"/>
                </a:lnTo>
                <a:lnTo>
                  <a:pt x="54867" y="6684"/>
                </a:lnTo>
                <a:lnTo>
                  <a:pt x="525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894709" y="2120900"/>
            <a:ext cx="537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-27777" sz="2700">
                <a:latin typeface="Cambria Math"/>
                <a:cs typeface="Cambria Math"/>
              </a:rPr>
              <a:t>𝐡</a:t>
            </a:r>
            <a:r>
              <a:rPr dirty="0" baseline="-27777" sz="2700" spc="112">
                <a:latin typeface="Cambria Math"/>
                <a:cs typeface="Cambria Math"/>
              </a:rPr>
              <a:t> </a:t>
            </a:r>
            <a:r>
              <a:rPr dirty="0" sz="1400" spc="210">
                <a:latin typeface="Cambria Math"/>
                <a:cs typeface="Cambria Math"/>
              </a:rPr>
              <a:t>+,-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482181" y="2641254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80">
                <a:moveTo>
                  <a:pt x="0" y="0"/>
                </a:moveTo>
                <a:lnTo>
                  <a:pt x="0" y="207727"/>
                </a:lnTo>
              </a:path>
            </a:pathLst>
          </a:custGeom>
          <a:ln w="171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22555" y="2641254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80">
                <a:moveTo>
                  <a:pt x="0" y="0"/>
                </a:moveTo>
                <a:lnTo>
                  <a:pt x="0" y="207727"/>
                </a:lnTo>
              </a:path>
            </a:pathLst>
          </a:custGeom>
          <a:ln w="171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150385" y="2639248"/>
            <a:ext cx="278130" cy="212090"/>
          </a:xfrm>
          <a:custGeom>
            <a:avLst/>
            <a:gdLst/>
            <a:ahLst/>
            <a:cxnLst/>
            <a:rect l="l" t="t" r="r" b="b"/>
            <a:pathLst>
              <a:path w="278129" h="212089">
                <a:moveTo>
                  <a:pt x="210557" y="0"/>
                </a:moveTo>
                <a:lnTo>
                  <a:pt x="207543" y="8595"/>
                </a:lnTo>
                <a:lnTo>
                  <a:pt x="219800" y="13914"/>
                </a:lnTo>
                <a:lnTo>
                  <a:pt x="230341" y="21277"/>
                </a:lnTo>
                <a:lnTo>
                  <a:pt x="251744" y="55409"/>
                </a:lnTo>
                <a:lnTo>
                  <a:pt x="258776" y="104811"/>
                </a:lnTo>
                <a:lnTo>
                  <a:pt x="257991" y="123487"/>
                </a:lnTo>
                <a:lnTo>
                  <a:pt x="246219" y="169217"/>
                </a:lnTo>
                <a:lnTo>
                  <a:pt x="219942" y="197806"/>
                </a:lnTo>
                <a:lnTo>
                  <a:pt x="207877" y="203150"/>
                </a:lnTo>
                <a:lnTo>
                  <a:pt x="210557" y="211744"/>
                </a:lnTo>
                <a:lnTo>
                  <a:pt x="251012" y="187708"/>
                </a:lnTo>
                <a:lnTo>
                  <a:pt x="273733" y="143335"/>
                </a:lnTo>
                <a:lnTo>
                  <a:pt x="278086" y="105928"/>
                </a:lnTo>
                <a:lnTo>
                  <a:pt x="276995" y="86516"/>
                </a:lnTo>
                <a:lnTo>
                  <a:pt x="260619" y="37114"/>
                </a:lnTo>
                <a:lnTo>
                  <a:pt x="225908" y="5542"/>
                </a:lnTo>
                <a:lnTo>
                  <a:pt x="210557" y="0"/>
                </a:lnTo>
                <a:close/>
              </a:path>
              <a:path w="27812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956811" y="2348483"/>
            <a:ext cx="408305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25095">
              <a:lnSpc>
                <a:spcPct val="100000"/>
              </a:lnSpc>
              <a:spcBef>
                <a:spcPts val="100"/>
              </a:spcBef>
            </a:pPr>
            <a:r>
              <a:rPr dirty="0" sz="1400" spc="385">
                <a:latin typeface="Cambria Math"/>
                <a:cs typeface="Cambria Math"/>
              </a:rPr>
              <a:t>*</a:t>
            </a:r>
            <a:endParaRPr sz="1400">
              <a:latin typeface="Cambria Math"/>
              <a:cs typeface="Cambria Math"/>
            </a:endParaRPr>
          </a:p>
          <a:p>
            <a:pPr algn="ctr" marR="5080">
              <a:lnSpc>
                <a:spcPct val="100000"/>
              </a:lnSpc>
              <a:spcBef>
                <a:spcPts val="55"/>
              </a:spcBef>
            </a:pPr>
            <a:r>
              <a:rPr dirty="0" sz="1800" spc="10">
                <a:latin typeface="Cambria Math"/>
                <a:cs typeface="Cambria Math"/>
              </a:rPr>
              <a:t>+</a:t>
            </a:r>
            <a:r>
              <a:rPr dirty="0" sz="1800" spc="225">
                <a:latin typeface="Cambria Math"/>
                <a:cs typeface="Cambria Math"/>
              </a:rPr>
              <a:t> </a:t>
            </a:r>
            <a:r>
              <a:rPr dirty="0" sz="1800" spc="26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23886" y="4894579"/>
            <a:ext cx="297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(</a:t>
            </a:r>
            <a:r>
              <a:rPr dirty="0" sz="1800" spc="-935">
                <a:latin typeface="Cambria Math"/>
                <a:cs typeface="Cambria Math"/>
              </a:rPr>
              <a:t>%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8108" y="4979923"/>
            <a:ext cx="13881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  <a:tab pos="885190" algn="l"/>
              </a:tabLst>
            </a:pPr>
            <a:r>
              <a:rPr dirty="0" sz="2400" spc="125">
                <a:latin typeface="Cambria Math"/>
                <a:cs typeface="Cambria Math"/>
              </a:rPr>
              <a:t>𝐡</a:t>
            </a:r>
            <a:r>
              <a:rPr dirty="0" baseline="-18518" sz="2700" spc="187">
                <a:latin typeface="Cambria Math"/>
                <a:cs typeface="Cambria Math"/>
              </a:rPr>
              <a:t>)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76419" y="4910359"/>
            <a:ext cx="3753485" cy="602615"/>
          </a:xfrm>
          <a:custGeom>
            <a:avLst/>
            <a:gdLst/>
            <a:ahLst/>
            <a:cxnLst/>
            <a:rect l="l" t="t" r="r" b="b"/>
            <a:pathLst>
              <a:path w="3753485" h="602614">
                <a:moveTo>
                  <a:pt x="3645963" y="0"/>
                </a:moveTo>
                <a:lnTo>
                  <a:pt x="3637331" y="9970"/>
                </a:lnTo>
                <a:lnTo>
                  <a:pt x="3655339" y="29802"/>
                </a:lnTo>
                <a:lnTo>
                  <a:pt x="3671710" y="54470"/>
                </a:lnTo>
                <a:lnTo>
                  <a:pt x="3699541" y="118318"/>
                </a:lnTo>
                <a:lnTo>
                  <a:pt x="3710285" y="157311"/>
                </a:lnTo>
                <a:lnTo>
                  <a:pt x="3717959" y="200768"/>
                </a:lnTo>
                <a:lnTo>
                  <a:pt x="3722563" y="248691"/>
                </a:lnTo>
                <a:lnTo>
                  <a:pt x="3724098" y="301078"/>
                </a:lnTo>
                <a:lnTo>
                  <a:pt x="3722563" y="353466"/>
                </a:lnTo>
                <a:lnTo>
                  <a:pt x="3717959" y="401389"/>
                </a:lnTo>
                <a:lnTo>
                  <a:pt x="3710285" y="444847"/>
                </a:lnTo>
                <a:lnTo>
                  <a:pt x="3699541" y="483839"/>
                </a:lnTo>
                <a:lnTo>
                  <a:pt x="3671710" y="547687"/>
                </a:lnTo>
                <a:lnTo>
                  <a:pt x="3637331" y="592187"/>
                </a:lnTo>
                <a:lnTo>
                  <a:pt x="3645963" y="602157"/>
                </a:lnTo>
                <a:lnTo>
                  <a:pt x="3686221" y="557826"/>
                </a:lnTo>
                <a:lnTo>
                  <a:pt x="3720972" y="492099"/>
                </a:lnTo>
                <a:lnTo>
                  <a:pt x="3734971" y="451492"/>
                </a:lnTo>
                <a:lnTo>
                  <a:pt x="3744971" y="406095"/>
                </a:lnTo>
                <a:lnTo>
                  <a:pt x="3750970" y="355908"/>
                </a:lnTo>
                <a:lnTo>
                  <a:pt x="3752970" y="300930"/>
                </a:lnTo>
                <a:lnTo>
                  <a:pt x="3750970" y="246082"/>
                </a:lnTo>
                <a:lnTo>
                  <a:pt x="3744971" y="195987"/>
                </a:lnTo>
                <a:lnTo>
                  <a:pt x="3734971" y="150646"/>
                </a:lnTo>
                <a:lnTo>
                  <a:pt x="3720972" y="110058"/>
                </a:lnTo>
                <a:lnTo>
                  <a:pt x="3704285" y="74520"/>
                </a:lnTo>
                <a:lnTo>
                  <a:pt x="3666781" y="19491"/>
                </a:lnTo>
                <a:lnTo>
                  <a:pt x="3645963" y="0"/>
                </a:lnTo>
                <a:close/>
              </a:path>
              <a:path w="3753485" h="602614">
                <a:moveTo>
                  <a:pt x="107002" y="0"/>
                </a:moveTo>
                <a:lnTo>
                  <a:pt x="66743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3" y="406095"/>
                </a:lnTo>
                <a:lnTo>
                  <a:pt x="17993" y="451492"/>
                </a:lnTo>
                <a:lnTo>
                  <a:pt x="31992" y="492099"/>
                </a:lnTo>
                <a:lnTo>
                  <a:pt x="48679" y="527637"/>
                </a:lnTo>
                <a:lnTo>
                  <a:pt x="86184" y="582666"/>
                </a:lnTo>
                <a:lnTo>
                  <a:pt x="107002" y="602157"/>
                </a:lnTo>
                <a:lnTo>
                  <a:pt x="115633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39"/>
                </a:lnTo>
                <a:lnTo>
                  <a:pt x="42680" y="444847"/>
                </a:lnTo>
                <a:lnTo>
                  <a:pt x="35006" y="401389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1"/>
                </a:lnTo>
                <a:lnTo>
                  <a:pt x="35006" y="200768"/>
                </a:lnTo>
                <a:lnTo>
                  <a:pt x="42680" y="157311"/>
                </a:lnTo>
                <a:lnTo>
                  <a:pt x="53423" y="118318"/>
                </a:lnTo>
                <a:lnTo>
                  <a:pt x="81254" y="54470"/>
                </a:lnTo>
                <a:lnTo>
                  <a:pt x="115633" y="9970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201735" y="4967732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897657" y="5208458"/>
            <a:ext cx="278130" cy="212090"/>
          </a:xfrm>
          <a:custGeom>
            <a:avLst/>
            <a:gdLst/>
            <a:ahLst/>
            <a:cxnLst/>
            <a:rect l="l" t="t" r="r" b="b"/>
            <a:pathLst>
              <a:path w="278130" h="212089">
                <a:moveTo>
                  <a:pt x="210557" y="0"/>
                </a:moveTo>
                <a:lnTo>
                  <a:pt x="207543" y="8595"/>
                </a:lnTo>
                <a:lnTo>
                  <a:pt x="219800" y="13914"/>
                </a:lnTo>
                <a:lnTo>
                  <a:pt x="230341" y="21277"/>
                </a:lnTo>
                <a:lnTo>
                  <a:pt x="251744" y="55409"/>
                </a:lnTo>
                <a:lnTo>
                  <a:pt x="258776" y="104811"/>
                </a:lnTo>
                <a:lnTo>
                  <a:pt x="257991" y="123487"/>
                </a:lnTo>
                <a:lnTo>
                  <a:pt x="246219" y="169217"/>
                </a:lnTo>
                <a:lnTo>
                  <a:pt x="219942" y="197806"/>
                </a:lnTo>
                <a:lnTo>
                  <a:pt x="207877" y="203150"/>
                </a:lnTo>
                <a:lnTo>
                  <a:pt x="210557" y="211744"/>
                </a:lnTo>
                <a:lnTo>
                  <a:pt x="251012" y="187708"/>
                </a:lnTo>
                <a:lnTo>
                  <a:pt x="273733" y="143335"/>
                </a:lnTo>
                <a:lnTo>
                  <a:pt x="278086" y="105928"/>
                </a:lnTo>
                <a:lnTo>
                  <a:pt x="276995" y="86516"/>
                </a:lnTo>
                <a:lnTo>
                  <a:pt x="260619" y="37114"/>
                </a:lnTo>
                <a:lnTo>
                  <a:pt x="225908" y="5542"/>
                </a:lnTo>
                <a:lnTo>
                  <a:pt x="210557" y="0"/>
                </a:lnTo>
                <a:close/>
              </a:path>
              <a:path w="278130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417698" y="5138420"/>
            <a:ext cx="694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5">
                <a:latin typeface="Cambria Math"/>
                <a:cs typeface="Cambria Math"/>
              </a:rPr>
              <a:t>#∈+</a:t>
            </a:r>
            <a:r>
              <a:rPr dirty="0" sz="1800" spc="225">
                <a:latin typeface="Cambria Math"/>
                <a:cs typeface="Cambria Math"/>
              </a:rPr>
              <a:t> </a:t>
            </a:r>
            <a:r>
              <a:rPr dirty="0" sz="1800" spc="26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72979" y="5015926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5" h="212089">
                <a:moveTo>
                  <a:pt x="164900" y="0"/>
                </a:moveTo>
                <a:lnTo>
                  <a:pt x="161886" y="8595"/>
                </a:lnTo>
                <a:lnTo>
                  <a:pt x="174143" y="13914"/>
                </a:lnTo>
                <a:lnTo>
                  <a:pt x="184684" y="21277"/>
                </a:lnTo>
                <a:lnTo>
                  <a:pt x="206088" y="55409"/>
                </a:lnTo>
                <a:lnTo>
                  <a:pt x="213119" y="104811"/>
                </a:lnTo>
                <a:lnTo>
                  <a:pt x="212335" y="123487"/>
                </a:lnTo>
                <a:lnTo>
                  <a:pt x="200563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900" y="211744"/>
                </a:lnTo>
                <a:lnTo>
                  <a:pt x="205356" y="187708"/>
                </a:lnTo>
                <a:lnTo>
                  <a:pt x="228077" y="143335"/>
                </a:lnTo>
                <a:lnTo>
                  <a:pt x="232430" y="105928"/>
                </a:lnTo>
                <a:lnTo>
                  <a:pt x="231338" y="86516"/>
                </a:lnTo>
                <a:lnTo>
                  <a:pt x="214962" y="37114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244088" y="4870195"/>
            <a:ext cx="4946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-19675" sz="3600">
                <a:solidFill>
                  <a:srgbClr val="C00000"/>
                </a:solidFill>
                <a:latin typeface="Cambria Math"/>
                <a:cs typeface="Cambria Math"/>
              </a:rPr>
              <a:t>𝐖</a:t>
            </a:r>
            <a:r>
              <a:rPr dirty="0" baseline="-19675" sz="3600" spc="277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 spc="-969">
                <a:solidFill>
                  <a:srgbClr val="C00000"/>
                </a:solidFill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890264" y="5209540"/>
            <a:ext cx="635000" cy="0"/>
          </a:xfrm>
          <a:custGeom>
            <a:avLst/>
            <a:gdLst/>
            <a:ahLst/>
            <a:cxnLst/>
            <a:rect l="l" t="t" r="r" b="b"/>
            <a:pathLst>
              <a:path w="635000" h="0">
                <a:moveTo>
                  <a:pt x="0" y="0"/>
                </a:moveTo>
                <a:lnTo>
                  <a:pt x="635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046861" y="4869460"/>
            <a:ext cx="434340" cy="165100"/>
          </a:xfrm>
          <a:custGeom>
            <a:avLst/>
            <a:gdLst/>
            <a:ahLst/>
            <a:cxnLst/>
            <a:rect l="l" t="t" r="r" b="b"/>
            <a:pathLst>
              <a:path w="434339" h="165100">
                <a:moveTo>
                  <a:pt x="381810" y="0"/>
                </a:moveTo>
                <a:lnTo>
                  <a:pt x="379465" y="6684"/>
                </a:lnTo>
                <a:lnTo>
                  <a:pt x="388999" y="10821"/>
                </a:lnTo>
                <a:lnTo>
                  <a:pt x="397198" y="16548"/>
                </a:lnTo>
                <a:lnTo>
                  <a:pt x="416883" y="54661"/>
                </a:lnTo>
                <a:lnTo>
                  <a:pt x="419314" y="81520"/>
                </a:lnTo>
                <a:lnTo>
                  <a:pt x="418704" y="96045"/>
                </a:lnTo>
                <a:lnTo>
                  <a:pt x="404021" y="140652"/>
                </a:lnTo>
                <a:lnTo>
                  <a:pt x="379726" y="158005"/>
                </a:lnTo>
                <a:lnTo>
                  <a:pt x="381810" y="164689"/>
                </a:lnTo>
                <a:lnTo>
                  <a:pt x="420790" y="135910"/>
                </a:lnTo>
                <a:lnTo>
                  <a:pt x="433487" y="97518"/>
                </a:lnTo>
                <a:lnTo>
                  <a:pt x="434333" y="82388"/>
                </a:lnTo>
                <a:lnTo>
                  <a:pt x="433484" y="67290"/>
                </a:lnTo>
                <a:lnTo>
                  <a:pt x="420747" y="28865"/>
                </a:lnTo>
                <a:lnTo>
                  <a:pt x="393750" y="4310"/>
                </a:lnTo>
                <a:lnTo>
                  <a:pt x="381810" y="0"/>
                </a:lnTo>
                <a:close/>
              </a:path>
              <a:path w="434339" h="165100">
                <a:moveTo>
                  <a:pt x="52523" y="0"/>
                </a:moveTo>
                <a:lnTo>
                  <a:pt x="13586" y="28865"/>
                </a:lnTo>
                <a:lnTo>
                  <a:pt x="849" y="67290"/>
                </a:lnTo>
                <a:lnTo>
                  <a:pt x="0" y="82388"/>
                </a:lnTo>
                <a:lnTo>
                  <a:pt x="846" y="97518"/>
                </a:lnTo>
                <a:lnTo>
                  <a:pt x="13543" y="135910"/>
                </a:lnTo>
                <a:lnTo>
                  <a:pt x="52523" y="164689"/>
                </a:lnTo>
                <a:lnTo>
                  <a:pt x="54607" y="158005"/>
                </a:lnTo>
                <a:lnTo>
                  <a:pt x="45222" y="153849"/>
                </a:lnTo>
                <a:lnTo>
                  <a:pt x="37124" y="148064"/>
                </a:lnTo>
                <a:lnTo>
                  <a:pt x="17460" y="109236"/>
                </a:lnTo>
                <a:lnTo>
                  <a:pt x="15019" y="81520"/>
                </a:lnTo>
                <a:lnTo>
                  <a:pt x="15629" y="67469"/>
                </a:lnTo>
                <a:lnTo>
                  <a:pt x="30328" y="23865"/>
                </a:lnTo>
                <a:lnTo>
                  <a:pt x="54867" y="6684"/>
                </a:lnTo>
                <a:lnTo>
                  <a:pt x="525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894709" y="4760467"/>
            <a:ext cx="537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-27777" sz="2700">
                <a:latin typeface="Cambria Math"/>
                <a:cs typeface="Cambria Math"/>
              </a:rPr>
              <a:t>𝐡</a:t>
            </a:r>
            <a:r>
              <a:rPr dirty="0" baseline="-27777" sz="2700" spc="112">
                <a:latin typeface="Cambria Math"/>
                <a:cs typeface="Cambria Math"/>
              </a:rPr>
              <a:t> </a:t>
            </a:r>
            <a:r>
              <a:rPr dirty="0" sz="1400" spc="210">
                <a:latin typeface="Cambria Math"/>
                <a:cs typeface="Cambria Math"/>
              </a:rPr>
              <a:t>+,-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82181" y="5282854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7"/>
                </a:lnTo>
              </a:path>
            </a:pathLst>
          </a:custGeom>
          <a:ln w="171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922555" y="5282854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7"/>
                </a:lnTo>
              </a:path>
            </a:pathLst>
          </a:custGeom>
          <a:ln w="171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150385" y="5280847"/>
            <a:ext cx="278130" cy="212090"/>
          </a:xfrm>
          <a:custGeom>
            <a:avLst/>
            <a:gdLst/>
            <a:ahLst/>
            <a:cxnLst/>
            <a:rect l="l" t="t" r="r" b="b"/>
            <a:pathLst>
              <a:path w="278129" h="212089">
                <a:moveTo>
                  <a:pt x="210557" y="0"/>
                </a:moveTo>
                <a:lnTo>
                  <a:pt x="207543" y="8595"/>
                </a:lnTo>
                <a:lnTo>
                  <a:pt x="219800" y="13914"/>
                </a:lnTo>
                <a:lnTo>
                  <a:pt x="230341" y="21277"/>
                </a:lnTo>
                <a:lnTo>
                  <a:pt x="251744" y="55409"/>
                </a:lnTo>
                <a:lnTo>
                  <a:pt x="258776" y="104811"/>
                </a:lnTo>
                <a:lnTo>
                  <a:pt x="257991" y="123487"/>
                </a:lnTo>
                <a:lnTo>
                  <a:pt x="246219" y="169217"/>
                </a:lnTo>
                <a:lnTo>
                  <a:pt x="219942" y="197806"/>
                </a:lnTo>
                <a:lnTo>
                  <a:pt x="207877" y="203150"/>
                </a:lnTo>
                <a:lnTo>
                  <a:pt x="210557" y="211744"/>
                </a:lnTo>
                <a:lnTo>
                  <a:pt x="251012" y="187708"/>
                </a:lnTo>
                <a:lnTo>
                  <a:pt x="273733" y="143335"/>
                </a:lnTo>
                <a:lnTo>
                  <a:pt x="278086" y="105928"/>
                </a:lnTo>
                <a:lnTo>
                  <a:pt x="276995" y="86516"/>
                </a:lnTo>
                <a:lnTo>
                  <a:pt x="260619" y="37114"/>
                </a:lnTo>
                <a:lnTo>
                  <a:pt x="225908" y="5542"/>
                </a:lnTo>
                <a:lnTo>
                  <a:pt x="210557" y="0"/>
                </a:lnTo>
                <a:close/>
              </a:path>
              <a:path w="27812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3956811" y="4988052"/>
            <a:ext cx="408305" cy="523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25095">
              <a:lnSpc>
                <a:spcPct val="100000"/>
              </a:lnSpc>
              <a:spcBef>
                <a:spcPts val="100"/>
              </a:spcBef>
            </a:pPr>
            <a:r>
              <a:rPr dirty="0" sz="1400" spc="385">
                <a:latin typeface="Cambria Math"/>
                <a:cs typeface="Cambria Math"/>
              </a:rPr>
              <a:t>*</a:t>
            </a:r>
            <a:endParaRPr sz="1400">
              <a:latin typeface="Cambria Math"/>
              <a:cs typeface="Cambria Math"/>
            </a:endParaRPr>
          </a:p>
          <a:p>
            <a:pPr algn="ctr" marR="5080">
              <a:lnSpc>
                <a:spcPct val="100000"/>
              </a:lnSpc>
              <a:spcBef>
                <a:spcPts val="80"/>
              </a:spcBef>
            </a:pPr>
            <a:r>
              <a:rPr dirty="0" sz="1800" spc="10">
                <a:latin typeface="Cambria Math"/>
                <a:cs typeface="Cambria Math"/>
              </a:rPr>
              <a:t>+</a:t>
            </a:r>
            <a:r>
              <a:rPr dirty="0" sz="1800" spc="225">
                <a:latin typeface="Cambria Math"/>
                <a:cs typeface="Cambria Math"/>
              </a:rPr>
              <a:t> </a:t>
            </a:r>
            <a:r>
              <a:rPr dirty="0" sz="1800" spc="26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38166" y="4979923"/>
            <a:ext cx="253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+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31371" y="5135371"/>
            <a:ext cx="142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45634" y="4818379"/>
            <a:ext cx="761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-28935" sz="3600" spc="22">
                <a:latin typeface="Cambria Math"/>
                <a:cs typeface="Cambria Math"/>
              </a:rPr>
              <a:t>𝐡</a:t>
            </a:r>
            <a:r>
              <a:rPr dirty="0" sz="1800" spc="15">
                <a:latin typeface="Cambria Math"/>
                <a:cs typeface="Cambria Math"/>
              </a:rPr>
              <a:t>(%'()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446479" y="2983581"/>
            <a:ext cx="2491779" cy="35696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322421" y="1264921"/>
            <a:ext cx="2645917" cy="14952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043493" y="3085928"/>
            <a:ext cx="360045" cy="282575"/>
          </a:xfrm>
          <a:custGeom>
            <a:avLst/>
            <a:gdLst/>
            <a:ahLst/>
            <a:cxnLst/>
            <a:rect l="l" t="t" r="r" b="b"/>
            <a:pathLst>
              <a:path w="360045" h="282575">
                <a:moveTo>
                  <a:pt x="269713" y="0"/>
                </a:moveTo>
                <a:lnTo>
                  <a:pt x="265695" y="11460"/>
                </a:lnTo>
                <a:lnTo>
                  <a:pt x="282038" y="18552"/>
                </a:lnTo>
                <a:lnTo>
                  <a:pt x="296093" y="28370"/>
                </a:lnTo>
                <a:lnTo>
                  <a:pt x="324631" y="73878"/>
                </a:lnTo>
                <a:lnTo>
                  <a:pt x="332965" y="115662"/>
                </a:lnTo>
                <a:lnTo>
                  <a:pt x="334007" y="139749"/>
                </a:lnTo>
                <a:lnTo>
                  <a:pt x="332961" y="164650"/>
                </a:lnTo>
                <a:lnTo>
                  <a:pt x="324589" y="207587"/>
                </a:lnTo>
                <a:lnTo>
                  <a:pt x="296111" y="253826"/>
                </a:lnTo>
                <a:lnTo>
                  <a:pt x="266142" y="270866"/>
                </a:lnTo>
                <a:lnTo>
                  <a:pt x="269713" y="282327"/>
                </a:lnTo>
                <a:lnTo>
                  <a:pt x="308223" y="264263"/>
                </a:lnTo>
                <a:lnTo>
                  <a:pt x="336537" y="232990"/>
                </a:lnTo>
                <a:lnTo>
                  <a:pt x="353950" y="191113"/>
                </a:lnTo>
                <a:lnTo>
                  <a:pt x="359755" y="141237"/>
                </a:lnTo>
                <a:lnTo>
                  <a:pt x="358299" y="115355"/>
                </a:lnTo>
                <a:lnTo>
                  <a:pt x="346653" y="69479"/>
                </a:lnTo>
                <a:lnTo>
                  <a:pt x="323557" y="32133"/>
                </a:lnTo>
                <a:lnTo>
                  <a:pt x="290182" y="7390"/>
                </a:lnTo>
                <a:lnTo>
                  <a:pt x="269713" y="0"/>
                </a:lnTo>
                <a:close/>
              </a:path>
              <a:path w="360045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CF5B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618108" y="2995676"/>
            <a:ext cx="5243195" cy="1447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5470">
              <a:lnSpc>
                <a:spcPct val="100000"/>
              </a:lnSpc>
              <a:spcBef>
                <a:spcPts val="100"/>
              </a:spcBef>
              <a:tabLst>
                <a:tab pos="3524885" algn="l"/>
              </a:tabLst>
            </a:pPr>
            <a:r>
              <a:rPr dirty="0" sz="2400" spc="-5" b="1">
                <a:solidFill>
                  <a:srgbClr val="CF5B1B"/>
                </a:solidFill>
                <a:latin typeface="Calibri"/>
                <a:cs typeface="Calibri"/>
              </a:rPr>
              <a:t>This is</a:t>
            </a:r>
            <a:r>
              <a:rPr dirty="0" sz="2400" b="1">
                <a:solidFill>
                  <a:srgbClr val="CF5B1B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F5B1B"/>
                </a:solidFill>
                <a:latin typeface="Calibri"/>
                <a:cs typeface="Calibri"/>
              </a:rPr>
              <a:t>our</a:t>
            </a:r>
            <a:r>
              <a:rPr dirty="0" sz="2400" spc="-10" b="1">
                <a:solidFill>
                  <a:srgbClr val="CF5B1B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F5B1B"/>
                </a:solidFill>
                <a:latin typeface="Cambria Math"/>
                <a:cs typeface="Cambria Math"/>
              </a:rPr>
              <a:t>𝑭	𝐱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3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b="1">
                <a:latin typeface="Calibri"/>
                <a:cs typeface="Calibri"/>
              </a:rPr>
              <a:t>A GCN </a:t>
            </a:r>
            <a:r>
              <a:rPr dirty="0" sz="2800" spc="-20" b="1">
                <a:latin typeface="Calibri"/>
                <a:cs typeface="Calibri"/>
              </a:rPr>
              <a:t>layer </a:t>
            </a:r>
            <a:r>
              <a:rPr dirty="0" sz="2800" spc="-5" b="1">
                <a:latin typeface="Calibri"/>
                <a:cs typeface="Calibri"/>
              </a:rPr>
              <a:t>with skip</a:t>
            </a:r>
            <a:r>
              <a:rPr dirty="0" sz="280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connection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47" name="object 47"/>
          <p:cNvSpPr txBox="1"/>
          <p:nvPr/>
        </p:nvSpPr>
        <p:spPr>
          <a:xfrm>
            <a:off x="3194747" y="5653532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F5B1B"/>
                </a:solidFill>
                <a:latin typeface="Cambria Math"/>
                <a:cs typeface="Cambria Math"/>
              </a:rPr>
              <a:t>𝑭(𝐱)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675311" y="5708396"/>
            <a:ext cx="1962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244877" y="5653532"/>
            <a:ext cx="1860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0B5CC"/>
                </a:solidFill>
                <a:latin typeface="Cambria Math"/>
                <a:cs typeface="Cambria Math"/>
              </a:rPr>
              <a:t>𝐱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79683" y="1839496"/>
            <a:ext cx="2961284" cy="4010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6927" y="356615"/>
            <a:ext cx="7702296" cy="509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8108" y="2253996"/>
            <a:ext cx="4608195" cy="280416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332740" marR="445134" indent="-320040">
              <a:lnSpc>
                <a:spcPts val="3820"/>
              </a:lnSpc>
              <a:spcBef>
                <a:spcPts val="24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Other options: </a:t>
            </a:r>
            <a:r>
              <a:rPr dirty="0" sz="3200" spc="-10">
                <a:latin typeface="Calibri"/>
                <a:cs typeface="Calibri"/>
              </a:rPr>
              <a:t>Directly  </a:t>
            </a:r>
            <a:r>
              <a:rPr dirty="0" sz="3200" spc="-5">
                <a:latin typeface="Calibri"/>
                <a:cs typeface="Calibri"/>
              </a:rPr>
              <a:t>skip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last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layer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200"/>
              </a:lnSpc>
              <a:spcBef>
                <a:spcPts val="63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final </a:t>
            </a:r>
            <a:r>
              <a:rPr dirty="0" sz="2800" spc="-25">
                <a:latin typeface="Calibri"/>
                <a:cs typeface="Calibri"/>
              </a:rPr>
              <a:t>layer </a:t>
            </a:r>
            <a:r>
              <a:rPr dirty="0" sz="2800" spc="-10">
                <a:latin typeface="Calibri"/>
                <a:cs typeface="Calibri"/>
              </a:rPr>
              <a:t>directly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aggregates from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all the  node embeddings </a:t>
            </a:r>
            <a:r>
              <a:rPr dirty="0" sz="2800" spc="-5">
                <a:latin typeface="Calibri"/>
                <a:cs typeface="Calibri"/>
              </a:rPr>
              <a:t>in the  </a:t>
            </a:r>
            <a:r>
              <a:rPr dirty="0" sz="2800" spc="-10">
                <a:latin typeface="Calibri"/>
                <a:cs typeface="Calibri"/>
              </a:rPr>
              <a:t>previous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layers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3321250" y="20827"/>
            <a:ext cx="56565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Xu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Representation learning on graphs with jumping knowledge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ICML</a:t>
            </a:r>
            <a:r>
              <a:rPr dirty="0" sz="1200" spc="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2018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36988" y="2959100"/>
            <a:ext cx="1117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330">
                <a:latin typeface="Cambria Math"/>
                <a:cs typeface="Cambria Math"/>
              </a:rPr>
              <a:t>!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13163" y="2746755"/>
            <a:ext cx="3606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513" sz="2400" spc="-7">
                <a:latin typeface="Cambria Math"/>
                <a:cs typeface="Cambria Math"/>
              </a:rPr>
              <a:t>𝐡</a:t>
            </a:r>
            <a:r>
              <a:rPr dirty="0" sz="1200" spc="-15">
                <a:latin typeface="Cambria Math"/>
                <a:cs typeface="Cambria Math"/>
              </a:rPr>
              <a:t>(</a:t>
            </a:r>
            <a:r>
              <a:rPr dirty="0" sz="1200" spc="-70">
                <a:latin typeface="Cambria Math"/>
                <a:cs typeface="Cambria Math"/>
              </a:rPr>
              <a:t>#</a:t>
            </a:r>
            <a:r>
              <a:rPr dirty="0" sz="1200">
                <a:latin typeface="Cambria Math"/>
                <a:cs typeface="Cambria Math"/>
              </a:rPr>
              <a:t>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36988" y="3836923"/>
            <a:ext cx="1117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330">
                <a:latin typeface="Cambria Math"/>
                <a:cs typeface="Cambria Math"/>
              </a:rPr>
              <a:t>!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13163" y="3624579"/>
            <a:ext cx="3606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513" sz="2400" spc="-7">
                <a:latin typeface="Cambria Math"/>
                <a:cs typeface="Cambria Math"/>
              </a:rPr>
              <a:t>𝐡</a:t>
            </a:r>
            <a:r>
              <a:rPr dirty="0" sz="1200" spc="-15">
                <a:latin typeface="Cambria Math"/>
                <a:cs typeface="Cambria Math"/>
              </a:rPr>
              <a:t>(</a:t>
            </a:r>
            <a:r>
              <a:rPr dirty="0" sz="1200" spc="-395">
                <a:latin typeface="Cambria Math"/>
                <a:cs typeface="Cambria Math"/>
              </a:rPr>
              <a:t>%</a:t>
            </a:r>
            <a:r>
              <a:rPr dirty="0" sz="1200">
                <a:latin typeface="Cambria Math"/>
                <a:cs typeface="Cambria Math"/>
              </a:rPr>
              <a:t>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36986" y="4638547"/>
            <a:ext cx="1117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330">
                <a:latin typeface="Cambria Math"/>
                <a:cs typeface="Cambria Math"/>
              </a:rPr>
              <a:t>!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13161" y="4429251"/>
            <a:ext cx="3606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513" sz="2400" spc="-7">
                <a:latin typeface="Cambria Math"/>
                <a:cs typeface="Cambria Math"/>
              </a:rPr>
              <a:t>𝐡</a:t>
            </a:r>
            <a:r>
              <a:rPr dirty="0" sz="1200" spc="-15">
                <a:latin typeface="Cambria Math"/>
                <a:cs typeface="Cambria Math"/>
              </a:rPr>
              <a:t>(</a:t>
            </a:r>
            <a:r>
              <a:rPr dirty="0" sz="1200" spc="-155">
                <a:latin typeface="Cambria Math"/>
                <a:cs typeface="Cambria Math"/>
              </a:rPr>
              <a:t>&amp;</a:t>
            </a:r>
            <a:r>
              <a:rPr dirty="0" sz="1200">
                <a:latin typeface="Cambria Math"/>
                <a:cs typeface="Cambria Math"/>
              </a:rPr>
              <a:t>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71504" y="1825244"/>
            <a:ext cx="1117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330">
                <a:latin typeface="Cambria Math"/>
                <a:cs typeface="Cambria Math"/>
              </a:rPr>
              <a:t>!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95229" y="1722627"/>
            <a:ext cx="9131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Calibri"/>
                <a:cs typeface="Calibri"/>
              </a:rPr>
              <a:t>Input:</a:t>
            </a:r>
            <a:r>
              <a:rPr dirty="0" sz="1600" spc="-90" b="1">
                <a:latin typeface="Calibri"/>
                <a:cs typeface="Calibri"/>
              </a:rPr>
              <a:t> </a:t>
            </a:r>
            <a:r>
              <a:rPr dirty="0" sz="1600" spc="85">
                <a:latin typeface="Cambria Math"/>
                <a:cs typeface="Cambria Math"/>
              </a:rPr>
              <a:t>𝐡</a:t>
            </a:r>
            <a:r>
              <a:rPr dirty="0" baseline="39351" sz="1800" spc="127">
                <a:latin typeface="Cambria Math"/>
                <a:cs typeface="Cambria Math"/>
              </a:rPr>
              <a:t>(')</a:t>
            </a:r>
            <a:endParaRPr baseline="39351"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95301" y="5885179"/>
            <a:ext cx="1117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330">
                <a:latin typeface="Cambria Math"/>
                <a:cs typeface="Cambria Math"/>
              </a:rPr>
              <a:t>!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65039" y="5782564"/>
            <a:ext cx="13690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Calibri"/>
                <a:cs typeface="Calibri"/>
              </a:rPr>
              <a:t>Output:</a:t>
            </a:r>
            <a:r>
              <a:rPr dirty="0" sz="1600" spc="-75" b="1">
                <a:latin typeface="Calibri"/>
                <a:cs typeface="Calibri"/>
              </a:rPr>
              <a:t> </a:t>
            </a:r>
            <a:r>
              <a:rPr dirty="0" sz="1600" spc="40">
                <a:latin typeface="Cambria Math"/>
                <a:cs typeface="Cambria Math"/>
              </a:rPr>
              <a:t>𝐡</a:t>
            </a:r>
            <a:r>
              <a:rPr dirty="0" baseline="39351" sz="1800" spc="60">
                <a:latin typeface="Cambria Math"/>
                <a:cs typeface="Cambria Math"/>
              </a:rPr>
              <a:t>(()*+,)</a:t>
            </a:r>
            <a:endParaRPr baseline="39351"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8576" y="3550920"/>
            <a:ext cx="7321296" cy="1292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3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15086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1345" y="2516037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6219" y="2118419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5704" y="2054125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5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26446" y="1628394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4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9395" y="1645108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70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3542" y="1868218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53221" y="0"/>
                </a:moveTo>
                <a:lnTo>
                  <a:pt x="0" y="179"/>
                </a:lnTo>
                <a:lnTo>
                  <a:pt x="26791" y="53310"/>
                </a:lnTo>
                <a:lnTo>
                  <a:pt x="53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0918" y="1488617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1480" y="1616090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30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15290" y="150268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63088" y="148152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4951" y="2096364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09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7340" y="25463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33366" y="272762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13972" y="2490946"/>
            <a:ext cx="1045210" cy="7391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  <a:p>
            <a:pPr marL="775335">
              <a:lnSpc>
                <a:spcPct val="100000"/>
              </a:lnSpc>
              <a:spcBef>
                <a:spcPts val="3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 marL="340360">
              <a:lnSpc>
                <a:spcPct val="100000"/>
              </a:lnSpc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82927" y="2179035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40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23426" y="238460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90"/>
                </a:lnTo>
                <a:lnTo>
                  <a:pt x="90961" y="181432"/>
                </a:lnTo>
                <a:lnTo>
                  <a:pt x="125190" y="174790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2" y="90716"/>
                </a:lnTo>
                <a:lnTo>
                  <a:pt x="175262" y="56579"/>
                </a:lnTo>
                <a:lnTo>
                  <a:pt x="155280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62249" y="2368538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63392" y="203937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402585" y="202260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1847" y="1967625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09117" y="194277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17636" y="2155510"/>
            <a:ext cx="3449642" cy="397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11181" y="6168644"/>
            <a:ext cx="29737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(4) </a:t>
            </a:r>
            <a:r>
              <a:rPr dirty="0" sz="2400" spc="-15" b="1">
                <a:solidFill>
                  <a:srgbClr val="0070C0"/>
                </a:solidFill>
                <a:latin typeface="Calibri"/>
                <a:cs typeface="Calibri"/>
              </a:rPr>
              <a:t>Graph</a:t>
            </a:r>
            <a:r>
              <a:rPr dirty="0" sz="2400" spc="-9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manipulation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55</a:t>
            </a:fld>
          </a:p>
        </p:txBody>
      </p:sp>
      <p:sp>
        <p:nvSpPr>
          <p:cNvPr id="26" name="object 26"/>
          <p:cNvSpPr txBox="1"/>
          <p:nvPr/>
        </p:nvSpPr>
        <p:spPr>
          <a:xfrm>
            <a:off x="3830389" y="20827"/>
            <a:ext cx="5156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8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132868" y="1163827"/>
            <a:ext cx="58102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</a:rPr>
              <a:t>Idea: </a:t>
            </a:r>
            <a:r>
              <a:rPr dirty="0" sz="2400" spc="-10">
                <a:solidFill>
                  <a:srgbClr val="C00000"/>
                </a:solidFill>
              </a:rPr>
              <a:t>Raw </a:t>
            </a:r>
            <a:r>
              <a:rPr dirty="0" sz="2400" spc="-5">
                <a:solidFill>
                  <a:srgbClr val="C00000"/>
                </a:solidFill>
              </a:rPr>
              <a:t>input </a:t>
            </a:r>
            <a:r>
              <a:rPr dirty="0" sz="2400" spc="-15">
                <a:solidFill>
                  <a:srgbClr val="C00000"/>
                </a:solidFill>
              </a:rPr>
              <a:t>graph </a:t>
            </a:r>
            <a:r>
              <a:rPr dirty="0" sz="2400" b="0">
                <a:solidFill>
                  <a:srgbClr val="C00000"/>
                </a:solidFill>
                <a:latin typeface="Cambria Math"/>
                <a:cs typeface="Cambria Math"/>
              </a:rPr>
              <a:t>≠ </a:t>
            </a:r>
            <a:r>
              <a:rPr dirty="0" sz="2400" spc="-10">
                <a:solidFill>
                  <a:srgbClr val="C00000"/>
                </a:solidFill>
              </a:rPr>
              <a:t>computational</a:t>
            </a:r>
            <a:r>
              <a:rPr dirty="0" sz="2400" spc="-15">
                <a:solidFill>
                  <a:srgbClr val="C00000"/>
                </a:solidFill>
              </a:rPr>
              <a:t> graph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32868" y="1520444"/>
            <a:ext cx="4123690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15" b="1">
                <a:latin typeface="Calibri"/>
                <a:cs typeface="Calibri"/>
              </a:rPr>
              <a:t>Graph feature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15" b="1">
                <a:latin typeface="Calibri"/>
                <a:cs typeface="Calibri"/>
              </a:rPr>
              <a:t>Graph </a:t>
            </a:r>
            <a:r>
              <a:rPr dirty="0" sz="2400" spc="-10" b="1">
                <a:latin typeface="Calibri"/>
                <a:cs typeface="Calibri"/>
              </a:rPr>
              <a:t>structure</a:t>
            </a:r>
            <a:r>
              <a:rPr dirty="0" sz="2400" spc="-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manipulation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58887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120890" cy="13912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670"/>
              </a:lnSpc>
              <a:spcBef>
                <a:spcPts val="100"/>
              </a:spcBef>
            </a:pPr>
            <a:r>
              <a:rPr dirty="0" spc="-5">
                <a:solidFill>
                  <a:srgbClr val="00B050"/>
                </a:solidFill>
              </a:rPr>
              <a:t>Our </a:t>
            </a:r>
            <a:r>
              <a:rPr dirty="0" spc="-10">
                <a:solidFill>
                  <a:srgbClr val="00B050"/>
                </a:solidFill>
              </a:rPr>
              <a:t>assumption </a:t>
            </a:r>
            <a:r>
              <a:rPr dirty="0" spc="-5">
                <a:solidFill>
                  <a:srgbClr val="00B050"/>
                </a:solidFill>
              </a:rPr>
              <a:t>so </a:t>
            </a:r>
            <a:r>
              <a:rPr dirty="0" spc="-25">
                <a:solidFill>
                  <a:srgbClr val="00B050"/>
                </a:solidFill>
              </a:rPr>
              <a:t>far </a:t>
            </a:r>
            <a:r>
              <a:rPr dirty="0" spc="-10">
                <a:solidFill>
                  <a:srgbClr val="00B050"/>
                </a:solidFill>
              </a:rPr>
              <a:t>has</a:t>
            </a:r>
            <a:r>
              <a:rPr dirty="0" spc="15">
                <a:solidFill>
                  <a:srgbClr val="00B050"/>
                </a:solidFill>
              </a:rPr>
              <a:t> </a:t>
            </a:r>
            <a:r>
              <a:rPr dirty="0" spc="-5">
                <a:solidFill>
                  <a:srgbClr val="00B050"/>
                </a:solidFill>
              </a:rPr>
              <a:t>been</a:t>
            </a:r>
          </a:p>
          <a:p>
            <a:pPr marL="12700" marR="5080">
              <a:lnSpc>
                <a:spcPts val="3410"/>
              </a:lnSpc>
              <a:spcBef>
                <a:spcPts val="30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C00000"/>
                </a:solidFill>
              </a:rPr>
              <a:t>Raw </a:t>
            </a:r>
            <a:r>
              <a:rPr dirty="0" spc="-5">
                <a:solidFill>
                  <a:srgbClr val="C00000"/>
                </a:solidFill>
              </a:rPr>
              <a:t>input </a:t>
            </a:r>
            <a:r>
              <a:rPr dirty="0" spc="-20">
                <a:solidFill>
                  <a:srgbClr val="C00000"/>
                </a:solidFill>
              </a:rPr>
              <a:t>graph </a:t>
            </a:r>
            <a:r>
              <a:rPr dirty="0" b="0">
                <a:solidFill>
                  <a:srgbClr val="C00000"/>
                </a:solidFill>
                <a:latin typeface="Cambria Math"/>
                <a:cs typeface="Cambria Math"/>
              </a:rPr>
              <a:t>= </a:t>
            </a:r>
            <a:r>
              <a:rPr dirty="0" spc="-10">
                <a:solidFill>
                  <a:srgbClr val="C00000"/>
                </a:solidFill>
              </a:rPr>
              <a:t>computational </a:t>
            </a:r>
            <a:r>
              <a:rPr dirty="0" spc="-20">
                <a:solidFill>
                  <a:srgbClr val="C00000"/>
                </a:solidFill>
              </a:rPr>
              <a:t>graph </a:t>
            </a:r>
            <a:r>
              <a:rPr dirty="0" spc="-20">
                <a:solidFill>
                  <a:srgbClr val="0000FF"/>
                </a:solidFill>
              </a:rPr>
              <a:t> </a:t>
            </a:r>
            <a:r>
              <a:rPr dirty="0" spc="-15">
                <a:solidFill>
                  <a:srgbClr val="0000FF"/>
                </a:solidFill>
              </a:rPr>
              <a:t>Reasons </a:t>
            </a:r>
            <a:r>
              <a:rPr dirty="0" spc="-20">
                <a:solidFill>
                  <a:srgbClr val="0000FF"/>
                </a:solidFill>
              </a:rPr>
              <a:t>for </a:t>
            </a:r>
            <a:r>
              <a:rPr dirty="0" spc="-10">
                <a:solidFill>
                  <a:srgbClr val="0000FF"/>
                </a:solidFill>
              </a:rPr>
              <a:t>breaking </a:t>
            </a:r>
            <a:r>
              <a:rPr dirty="0" spc="-5">
                <a:solidFill>
                  <a:srgbClr val="0000FF"/>
                </a:solidFill>
              </a:rPr>
              <a:t>this</a:t>
            </a:r>
            <a:r>
              <a:rPr dirty="0" spc="4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FF"/>
                </a:solidFill>
              </a:rPr>
              <a:t>assumption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55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956563" y="2654977"/>
            <a:ext cx="7809865" cy="376872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09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5" b="1">
                <a:latin typeface="Calibri"/>
                <a:cs typeface="Calibri"/>
              </a:rPr>
              <a:t>Feature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level: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5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The input </a:t>
            </a:r>
            <a:r>
              <a:rPr dirty="0" sz="2400" spc="-15">
                <a:latin typeface="Calibri"/>
                <a:cs typeface="Calibri"/>
              </a:rPr>
              <a:t>graph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lacks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features </a:t>
            </a:r>
            <a:r>
              <a:rPr dirty="0" baseline="1182" sz="3525" spc="1552">
                <a:latin typeface="Arial"/>
                <a:cs typeface="Arial"/>
              </a:rPr>
              <a:t>à</a:t>
            </a:r>
            <a:r>
              <a:rPr dirty="0" baseline="1182" sz="3525" spc="-112">
                <a:latin typeface="Arial"/>
                <a:cs typeface="Arial"/>
              </a:rPr>
              <a:t> </a:t>
            </a:r>
            <a:r>
              <a:rPr dirty="0" sz="2400" spc="-20">
                <a:latin typeface="Calibri"/>
                <a:cs typeface="Calibri"/>
              </a:rPr>
              <a:t>feature </a:t>
            </a:r>
            <a:r>
              <a:rPr dirty="0" sz="2400" spc="-10"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Structure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level: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2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graph </a:t>
            </a:r>
            <a:r>
              <a:rPr dirty="0" sz="2400">
                <a:latin typeface="Calibri"/>
                <a:cs typeface="Calibri"/>
              </a:rPr>
              <a:t>is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too sparse </a:t>
            </a:r>
            <a:r>
              <a:rPr dirty="0" sz="2400" spc="1010">
                <a:latin typeface="Arial"/>
                <a:cs typeface="Arial"/>
              </a:rPr>
              <a:t>à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0">
                <a:latin typeface="Calibri"/>
                <a:cs typeface="Calibri"/>
              </a:rPr>
              <a:t>inefficient message </a:t>
            </a:r>
            <a:r>
              <a:rPr dirty="0" sz="2400" spc="-5">
                <a:latin typeface="Calibri"/>
                <a:cs typeface="Calibri"/>
              </a:rPr>
              <a:t>passing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21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graph </a:t>
            </a:r>
            <a:r>
              <a:rPr dirty="0" sz="2400">
                <a:latin typeface="Calibri"/>
                <a:cs typeface="Calibri"/>
              </a:rPr>
              <a:t>is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too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dense </a:t>
            </a:r>
            <a:r>
              <a:rPr dirty="0" sz="2400" spc="1010">
                <a:latin typeface="Arial"/>
                <a:cs typeface="Arial"/>
              </a:rPr>
              <a:t>à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">
                <a:latin typeface="Calibri"/>
                <a:cs typeface="Calibri"/>
              </a:rPr>
              <a:t>message </a:t>
            </a:r>
            <a:r>
              <a:rPr dirty="0" sz="2400" spc="-5">
                <a:latin typeface="Calibri"/>
                <a:cs typeface="Calibri"/>
              </a:rPr>
              <a:t>passing is </a:t>
            </a:r>
            <a:r>
              <a:rPr dirty="0" sz="2400" spc="-15">
                <a:latin typeface="Calibri"/>
                <a:cs typeface="Calibri"/>
              </a:rPr>
              <a:t>too costly</a:t>
            </a:r>
            <a:endParaRPr sz="2400">
              <a:latin typeface="Calibri"/>
              <a:cs typeface="Calibri"/>
            </a:endParaRPr>
          </a:p>
          <a:p>
            <a:pPr lvl="1" marL="552450" marR="584835" indent="-228600">
              <a:lnSpc>
                <a:spcPts val="2590"/>
              </a:lnSpc>
              <a:spcBef>
                <a:spcPts val="66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graph </a:t>
            </a:r>
            <a:r>
              <a:rPr dirty="0" sz="2400">
                <a:latin typeface="Calibri"/>
                <a:cs typeface="Calibri"/>
              </a:rPr>
              <a:t>is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too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large </a:t>
            </a:r>
            <a:r>
              <a:rPr dirty="0" sz="2400" spc="1010">
                <a:latin typeface="Arial"/>
                <a:cs typeface="Arial"/>
              </a:rPr>
              <a:t>à</a:t>
            </a:r>
            <a:r>
              <a:rPr dirty="0" sz="2400" spc="-175">
                <a:latin typeface="Arial"/>
                <a:cs typeface="Arial"/>
              </a:rPr>
              <a:t> </a:t>
            </a:r>
            <a:r>
              <a:rPr dirty="0" sz="2400" spc="-5">
                <a:latin typeface="Calibri"/>
                <a:cs typeface="Calibri"/>
              </a:rPr>
              <a:t>cannot </a:t>
            </a:r>
            <a:r>
              <a:rPr dirty="0" sz="2400">
                <a:latin typeface="Calibri"/>
                <a:cs typeface="Calibri"/>
              </a:rPr>
              <a:t>fit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computational  </a:t>
            </a:r>
            <a:r>
              <a:rPr dirty="0" sz="2400" spc="-15">
                <a:latin typeface="Calibri"/>
                <a:cs typeface="Calibri"/>
              </a:rPr>
              <a:t>graph into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GPU</a:t>
            </a:r>
            <a:endParaRPr sz="2400">
              <a:latin typeface="Calibri"/>
              <a:cs typeface="Calibri"/>
            </a:endParaRPr>
          </a:p>
          <a:p>
            <a:pPr marL="287020" marR="5080" indent="-274320">
              <a:lnSpc>
                <a:spcPts val="3000"/>
              </a:lnSpc>
              <a:spcBef>
                <a:spcPts val="68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25">
                <a:latin typeface="Calibri"/>
                <a:cs typeface="Calibri"/>
              </a:rPr>
              <a:t>It’s </a:t>
            </a:r>
            <a:r>
              <a:rPr dirty="0" sz="2800" spc="-10">
                <a:latin typeface="Calibri"/>
                <a:cs typeface="Calibri"/>
              </a:rPr>
              <a:t>just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unlikely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that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input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happens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be  the optimal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computation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2800" spc="-25">
                <a:latin typeface="Calibri"/>
                <a:cs typeface="Calibri"/>
              </a:rPr>
              <a:t>for</a:t>
            </a:r>
            <a:r>
              <a:rPr dirty="0" sz="2800" spc="-5">
                <a:latin typeface="Calibri"/>
                <a:cs typeface="Calibri"/>
              </a:rPr>
              <a:t> embeddings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8882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1003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00B050"/>
                </a:solidFill>
              </a:rPr>
              <a:t>Graph Feature</a:t>
            </a:r>
            <a:r>
              <a:rPr dirty="0" spc="-30">
                <a:solidFill>
                  <a:srgbClr val="00B050"/>
                </a:solidFill>
              </a:rPr>
              <a:t> </a:t>
            </a:r>
            <a:r>
              <a:rPr dirty="0" spc="-10">
                <a:solidFill>
                  <a:srgbClr val="00B050"/>
                </a:solidFill>
              </a:rPr>
              <a:t>manipulation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55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932939"/>
            <a:ext cx="8292465" cy="418846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625475" marR="1682750" indent="-274320">
              <a:lnSpc>
                <a:spcPts val="3290"/>
              </a:lnSpc>
              <a:spcBef>
                <a:spcPts val="26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input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 b="1">
                <a:latin typeface="Calibri"/>
                <a:cs typeface="Calibri"/>
              </a:rPr>
              <a:t>lacks </a:t>
            </a:r>
            <a:r>
              <a:rPr dirty="0" sz="2800" spc="-15" b="1">
                <a:latin typeface="Calibri"/>
                <a:cs typeface="Calibri"/>
              </a:rPr>
              <a:t>features </a:t>
            </a:r>
            <a:r>
              <a:rPr dirty="0" baseline="1010" sz="4125" spc="1807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dirty="0" baseline="1010" sz="4125" spc="-1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feature 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augmentation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00B050"/>
                </a:solidFill>
                <a:latin typeface="Calibri"/>
                <a:cs typeface="Calibri"/>
              </a:rPr>
              <a:t>Graph </a:t>
            </a:r>
            <a:r>
              <a:rPr dirty="0" sz="3200" spc="-10" b="1">
                <a:solidFill>
                  <a:srgbClr val="00B050"/>
                </a:solidFill>
                <a:latin typeface="Calibri"/>
                <a:cs typeface="Calibri"/>
              </a:rPr>
              <a:t>Structure</a:t>
            </a:r>
            <a:r>
              <a:rPr dirty="0" sz="3200" spc="-40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manipulation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5" b="1">
                <a:latin typeface="Calibri"/>
                <a:cs typeface="Calibri"/>
              </a:rPr>
              <a:t>too </a:t>
            </a:r>
            <a:r>
              <a:rPr dirty="0" sz="2800" spc="-10" b="1">
                <a:latin typeface="Calibri"/>
                <a:cs typeface="Calibri"/>
              </a:rPr>
              <a:t>sparse </a:t>
            </a:r>
            <a:r>
              <a:rPr dirty="0" baseline="1010" sz="4125" spc="1807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dirty="0" baseline="1010" sz="4125" spc="-97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Add virtual nodes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edges</a:t>
            </a:r>
            <a:endParaRPr sz="2800">
              <a:latin typeface="Calibri"/>
              <a:cs typeface="Calibri"/>
            </a:endParaRPr>
          </a:p>
          <a:p>
            <a:pPr lvl="1" marL="625475" marR="318770" indent="-274320">
              <a:lnSpc>
                <a:spcPct val="101400"/>
              </a:lnSpc>
              <a:spcBef>
                <a:spcPts val="57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5" b="1">
                <a:latin typeface="Calibri"/>
                <a:cs typeface="Calibri"/>
              </a:rPr>
              <a:t>too </a:t>
            </a:r>
            <a:r>
              <a:rPr dirty="0" sz="2800" spc="-5" b="1">
                <a:latin typeface="Calibri"/>
                <a:cs typeface="Calibri"/>
              </a:rPr>
              <a:t>dense </a:t>
            </a:r>
            <a:r>
              <a:rPr dirty="0" baseline="1010" sz="4125" spc="1807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dirty="0" baseline="1010" sz="4125" spc="-89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Sample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neighbors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when  doing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message</a:t>
            </a:r>
            <a:r>
              <a:rPr dirty="0" sz="28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passing</a:t>
            </a:r>
            <a:endParaRPr sz="2800">
              <a:latin typeface="Calibri"/>
              <a:cs typeface="Calibri"/>
            </a:endParaRPr>
          </a:p>
          <a:p>
            <a:pPr lvl="1" marL="625475" marR="935990" indent="-274320">
              <a:lnSpc>
                <a:spcPts val="3290"/>
              </a:lnSpc>
              <a:spcBef>
                <a:spcPts val="81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5" b="1">
                <a:latin typeface="Calibri"/>
                <a:cs typeface="Calibri"/>
              </a:rPr>
              <a:t>too large </a:t>
            </a:r>
            <a:r>
              <a:rPr dirty="0" baseline="1010" sz="4125" spc="1807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dirty="0" baseline="1010" sz="4125" spc="-127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Sample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subgraphs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to  compute</a:t>
            </a:r>
            <a:r>
              <a:rPr dirty="0" sz="28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embeddings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Will </a:t>
            </a:r>
            <a:r>
              <a:rPr dirty="0" sz="2400" spc="-15">
                <a:latin typeface="Calibri"/>
                <a:cs typeface="Calibri"/>
              </a:rPr>
              <a:t>cover later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 spc="-10">
                <a:latin typeface="Calibri"/>
                <a:cs typeface="Calibri"/>
              </a:rPr>
              <a:t>lecture: Scaling </a:t>
            </a:r>
            <a:r>
              <a:rPr dirty="0" sz="2400">
                <a:latin typeface="Calibri"/>
                <a:cs typeface="Calibri"/>
              </a:rPr>
              <a:t>up</a:t>
            </a:r>
            <a:r>
              <a:rPr dirty="0" sz="2400" spc="4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GNNs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4827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25">
                <a:solidFill>
                  <a:srgbClr val="00B050"/>
                </a:solidFill>
              </a:rPr>
              <a:t>Why </a:t>
            </a:r>
            <a:r>
              <a:rPr dirty="0" spc="-5">
                <a:solidFill>
                  <a:srgbClr val="00B050"/>
                </a:solidFill>
              </a:rPr>
              <a:t>do </a:t>
            </a:r>
            <a:r>
              <a:rPr dirty="0" spc="-15">
                <a:solidFill>
                  <a:srgbClr val="00B050"/>
                </a:solidFill>
              </a:rPr>
              <a:t>we </a:t>
            </a:r>
            <a:r>
              <a:rPr dirty="0" spc="-5">
                <a:solidFill>
                  <a:srgbClr val="00B050"/>
                </a:solidFill>
              </a:rPr>
              <a:t>need </a:t>
            </a:r>
            <a:r>
              <a:rPr dirty="0" spc="-20">
                <a:solidFill>
                  <a:srgbClr val="00B050"/>
                </a:solidFill>
              </a:rPr>
              <a:t>feature</a:t>
            </a:r>
            <a:r>
              <a:rPr dirty="0" spc="-25">
                <a:solidFill>
                  <a:srgbClr val="00B050"/>
                </a:solidFill>
              </a:rPr>
              <a:t> </a:t>
            </a:r>
            <a:r>
              <a:rPr dirty="0" spc="-10">
                <a:solidFill>
                  <a:srgbClr val="00B050"/>
                </a:solidFill>
              </a:rPr>
              <a:t>augmentation?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C00000"/>
                </a:solidFill>
              </a:rPr>
              <a:t>(1) </a:t>
            </a:r>
            <a:r>
              <a:rPr dirty="0" spc="-5">
                <a:solidFill>
                  <a:srgbClr val="C00000"/>
                </a:solidFill>
              </a:rPr>
              <a:t>Input </a:t>
            </a:r>
            <a:r>
              <a:rPr dirty="0" spc="-20">
                <a:solidFill>
                  <a:srgbClr val="C00000"/>
                </a:solidFill>
              </a:rPr>
              <a:t>graph </a:t>
            </a:r>
            <a:r>
              <a:rPr dirty="0" spc="-5">
                <a:solidFill>
                  <a:srgbClr val="C00000"/>
                </a:solidFill>
              </a:rPr>
              <a:t>does not </a:t>
            </a:r>
            <a:r>
              <a:rPr dirty="0" spc="-25">
                <a:solidFill>
                  <a:srgbClr val="C00000"/>
                </a:solidFill>
              </a:rPr>
              <a:t>have </a:t>
            </a:r>
            <a:r>
              <a:rPr dirty="0" spc="-5">
                <a:solidFill>
                  <a:srgbClr val="C00000"/>
                </a:solidFill>
              </a:rPr>
              <a:t>node</a:t>
            </a:r>
            <a:r>
              <a:rPr dirty="0" spc="40">
                <a:solidFill>
                  <a:srgbClr val="C00000"/>
                </a:solidFill>
              </a:rPr>
              <a:t> </a:t>
            </a:r>
            <a:r>
              <a:rPr dirty="0" spc="-20">
                <a:solidFill>
                  <a:srgbClr val="C00000"/>
                </a:solidFill>
              </a:rPr>
              <a:t>features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pc="-5"/>
              <a:t>This is </a:t>
            </a:r>
            <a:r>
              <a:rPr dirty="0" spc="-10"/>
              <a:t>common </a:t>
            </a:r>
            <a:r>
              <a:rPr dirty="0" spc="-5"/>
              <a:t>when </a:t>
            </a:r>
            <a:r>
              <a:rPr dirty="0" spc="-15"/>
              <a:t>we </a:t>
            </a:r>
            <a:r>
              <a:rPr dirty="0" spc="-5"/>
              <a:t>only </a:t>
            </a:r>
            <a:r>
              <a:rPr dirty="0" spc="-25"/>
              <a:t>have </a:t>
            </a:r>
            <a:r>
              <a:rPr dirty="0" spc="-5"/>
              <a:t>the adj.</a:t>
            </a:r>
            <a:r>
              <a:rPr dirty="0" spc="75"/>
              <a:t> </a:t>
            </a:r>
            <a:r>
              <a:rPr dirty="0" spc="-10"/>
              <a:t>matrix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Standard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approaches: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a) Assign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constant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values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32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20715" y="4649666"/>
            <a:ext cx="1881234" cy="1903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65629" y="49677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55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3152722" y="57785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8945" y="449834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1851" y="50987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80690" y="563524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8945" y="60833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4827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25">
                <a:solidFill>
                  <a:srgbClr val="00B050"/>
                </a:solidFill>
              </a:rPr>
              <a:t>Why </a:t>
            </a:r>
            <a:r>
              <a:rPr dirty="0" spc="-5">
                <a:solidFill>
                  <a:srgbClr val="00B050"/>
                </a:solidFill>
              </a:rPr>
              <a:t>do </a:t>
            </a:r>
            <a:r>
              <a:rPr dirty="0" spc="-15">
                <a:solidFill>
                  <a:srgbClr val="00B050"/>
                </a:solidFill>
              </a:rPr>
              <a:t>we </a:t>
            </a:r>
            <a:r>
              <a:rPr dirty="0" spc="-5">
                <a:solidFill>
                  <a:srgbClr val="00B050"/>
                </a:solidFill>
              </a:rPr>
              <a:t>need </a:t>
            </a:r>
            <a:r>
              <a:rPr dirty="0" spc="-20">
                <a:solidFill>
                  <a:srgbClr val="00B050"/>
                </a:solidFill>
              </a:rPr>
              <a:t>feature</a:t>
            </a:r>
            <a:r>
              <a:rPr dirty="0" spc="-25">
                <a:solidFill>
                  <a:srgbClr val="00B050"/>
                </a:solidFill>
              </a:rPr>
              <a:t> </a:t>
            </a:r>
            <a:r>
              <a:rPr dirty="0" spc="-10">
                <a:solidFill>
                  <a:srgbClr val="00B050"/>
                </a:solidFill>
              </a:rPr>
              <a:t>augmentation?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C00000"/>
                </a:solidFill>
              </a:rPr>
              <a:t>(1) </a:t>
            </a:r>
            <a:r>
              <a:rPr dirty="0" spc="-5">
                <a:solidFill>
                  <a:srgbClr val="C00000"/>
                </a:solidFill>
              </a:rPr>
              <a:t>Input </a:t>
            </a:r>
            <a:r>
              <a:rPr dirty="0" spc="-20">
                <a:solidFill>
                  <a:srgbClr val="C00000"/>
                </a:solidFill>
              </a:rPr>
              <a:t>graph </a:t>
            </a:r>
            <a:r>
              <a:rPr dirty="0" spc="-5">
                <a:solidFill>
                  <a:srgbClr val="C00000"/>
                </a:solidFill>
              </a:rPr>
              <a:t>does not </a:t>
            </a:r>
            <a:r>
              <a:rPr dirty="0" spc="-25">
                <a:solidFill>
                  <a:srgbClr val="C00000"/>
                </a:solidFill>
              </a:rPr>
              <a:t>have </a:t>
            </a:r>
            <a:r>
              <a:rPr dirty="0" spc="-5">
                <a:solidFill>
                  <a:srgbClr val="C00000"/>
                </a:solidFill>
              </a:rPr>
              <a:t>node</a:t>
            </a:r>
            <a:r>
              <a:rPr dirty="0" spc="40">
                <a:solidFill>
                  <a:srgbClr val="C00000"/>
                </a:solidFill>
              </a:rPr>
              <a:t> </a:t>
            </a:r>
            <a:r>
              <a:rPr dirty="0" spc="-20">
                <a:solidFill>
                  <a:srgbClr val="C00000"/>
                </a:solidFill>
              </a:rPr>
              <a:t>features</a:t>
            </a:r>
          </a:p>
        </p:txBody>
      </p:sp>
      <p:sp>
        <p:nvSpPr>
          <p:cNvPr id="4" name="object 4"/>
          <p:cNvSpPr/>
          <p:nvPr/>
        </p:nvSpPr>
        <p:spPr>
          <a:xfrm>
            <a:off x="1413710" y="4572573"/>
            <a:ext cx="1881234" cy="19035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58624" y="48915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5717" y="56992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34846" y="50225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3685" y="55559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21941" y="60071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8587" y="5444235"/>
            <a:ext cx="2275840" cy="1033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Calibri"/>
                <a:cs typeface="Calibri"/>
              </a:rPr>
              <a:t>[0, 0, 0, 0, 1,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0]</a:t>
            </a:r>
            <a:endParaRPr sz="2800">
              <a:latin typeface="Calibri"/>
              <a:cs typeface="Calibri"/>
            </a:endParaRPr>
          </a:p>
          <a:p>
            <a:pPr marL="71120">
              <a:lnSpc>
                <a:spcPct val="100000"/>
              </a:lnSpc>
              <a:spcBef>
                <a:spcPts val="2415"/>
              </a:spcBef>
            </a:pPr>
            <a:r>
              <a:rPr dirty="0" sz="1800" spc="-40" b="1">
                <a:latin typeface="Calibri"/>
                <a:cs typeface="Calibri"/>
              </a:rPr>
              <a:t>Total </a:t>
            </a:r>
            <a:r>
              <a:rPr dirty="0" sz="1800" spc="-5" b="1">
                <a:latin typeface="Calibri"/>
                <a:cs typeface="Calibri"/>
              </a:rPr>
              <a:t>number of IDs </a:t>
            </a:r>
            <a:r>
              <a:rPr dirty="0" sz="1800" b="1">
                <a:latin typeface="Calibri"/>
                <a:cs typeface="Calibri"/>
              </a:rPr>
              <a:t>=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00030" y="6026521"/>
            <a:ext cx="1881505" cy="155575"/>
          </a:xfrm>
          <a:custGeom>
            <a:avLst/>
            <a:gdLst/>
            <a:ahLst/>
            <a:cxnLst/>
            <a:rect l="l" t="t" r="r" b="b"/>
            <a:pathLst>
              <a:path w="1881504" h="155575">
                <a:moveTo>
                  <a:pt x="1881233" y="0"/>
                </a:moveTo>
                <a:lnTo>
                  <a:pt x="1880218" y="30156"/>
                </a:lnTo>
                <a:lnTo>
                  <a:pt x="1877451" y="54782"/>
                </a:lnTo>
                <a:lnTo>
                  <a:pt x="1873347" y="71385"/>
                </a:lnTo>
                <a:lnTo>
                  <a:pt x="1868321" y="77474"/>
                </a:lnTo>
                <a:lnTo>
                  <a:pt x="953528" y="77474"/>
                </a:lnTo>
                <a:lnTo>
                  <a:pt x="948502" y="83562"/>
                </a:lnTo>
                <a:lnTo>
                  <a:pt x="944398" y="100165"/>
                </a:lnTo>
                <a:lnTo>
                  <a:pt x="941631" y="124791"/>
                </a:lnTo>
                <a:lnTo>
                  <a:pt x="940616" y="154948"/>
                </a:lnTo>
                <a:lnTo>
                  <a:pt x="939601" y="124791"/>
                </a:lnTo>
                <a:lnTo>
                  <a:pt x="936834" y="100165"/>
                </a:lnTo>
                <a:lnTo>
                  <a:pt x="932730" y="83562"/>
                </a:lnTo>
                <a:lnTo>
                  <a:pt x="927704" y="77474"/>
                </a:lnTo>
                <a:lnTo>
                  <a:pt x="12912" y="77474"/>
                </a:lnTo>
                <a:lnTo>
                  <a:pt x="7886" y="71385"/>
                </a:lnTo>
                <a:lnTo>
                  <a:pt x="3781" y="54782"/>
                </a:lnTo>
                <a:lnTo>
                  <a:pt x="1014" y="30156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684224" y="4967732"/>
            <a:ext cx="5651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00000"/>
                </a:solidFill>
                <a:latin typeface="Calibri"/>
                <a:cs typeface="Calibri"/>
              </a:rPr>
              <a:t>ID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dirty="0" sz="18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27465" y="5302017"/>
            <a:ext cx="85725" cy="222885"/>
          </a:xfrm>
          <a:custGeom>
            <a:avLst/>
            <a:gdLst/>
            <a:ahLst/>
            <a:cxnLst/>
            <a:rect l="l" t="t" r="r" b="b"/>
            <a:pathLst>
              <a:path w="85725" h="222885">
                <a:moveTo>
                  <a:pt x="0" y="136597"/>
                </a:moveTo>
                <a:lnTo>
                  <a:pt x="42862" y="222323"/>
                </a:lnTo>
                <a:lnTo>
                  <a:pt x="71437" y="165173"/>
                </a:lnTo>
                <a:lnTo>
                  <a:pt x="34971" y="165173"/>
                </a:lnTo>
                <a:lnTo>
                  <a:pt x="28575" y="158776"/>
                </a:lnTo>
                <a:lnTo>
                  <a:pt x="28575" y="136597"/>
                </a:lnTo>
                <a:lnTo>
                  <a:pt x="0" y="136597"/>
                </a:lnTo>
                <a:close/>
              </a:path>
              <a:path w="85725" h="222885">
                <a:moveTo>
                  <a:pt x="28575" y="136597"/>
                </a:moveTo>
                <a:lnTo>
                  <a:pt x="28575" y="158776"/>
                </a:lnTo>
                <a:lnTo>
                  <a:pt x="34971" y="165173"/>
                </a:lnTo>
                <a:lnTo>
                  <a:pt x="50753" y="165173"/>
                </a:lnTo>
                <a:lnTo>
                  <a:pt x="57150" y="158776"/>
                </a:lnTo>
                <a:lnTo>
                  <a:pt x="57150" y="136598"/>
                </a:lnTo>
                <a:lnTo>
                  <a:pt x="28575" y="136597"/>
                </a:lnTo>
                <a:close/>
              </a:path>
              <a:path w="85725" h="222885">
                <a:moveTo>
                  <a:pt x="57150" y="136598"/>
                </a:moveTo>
                <a:lnTo>
                  <a:pt x="57150" y="158776"/>
                </a:lnTo>
                <a:lnTo>
                  <a:pt x="50753" y="165173"/>
                </a:lnTo>
                <a:lnTo>
                  <a:pt x="71437" y="165173"/>
                </a:lnTo>
                <a:lnTo>
                  <a:pt x="85725" y="136598"/>
                </a:lnTo>
                <a:lnTo>
                  <a:pt x="57150" y="136598"/>
                </a:lnTo>
                <a:close/>
              </a:path>
              <a:path w="85725" h="222885">
                <a:moveTo>
                  <a:pt x="42863" y="0"/>
                </a:moveTo>
                <a:lnTo>
                  <a:pt x="34971" y="1"/>
                </a:lnTo>
                <a:lnTo>
                  <a:pt x="28576" y="6396"/>
                </a:lnTo>
                <a:lnTo>
                  <a:pt x="28575" y="136597"/>
                </a:lnTo>
                <a:lnTo>
                  <a:pt x="57150" y="136598"/>
                </a:lnTo>
                <a:lnTo>
                  <a:pt x="57151" y="6396"/>
                </a:lnTo>
                <a:lnTo>
                  <a:pt x="50754" y="1"/>
                </a:lnTo>
                <a:lnTo>
                  <a:pt x="4286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4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pc="-5"/>
              <a:t>This is </a:t>
            </a:r>
            <a:r>
              <a:rPr dirty="0" spc="-10"/>
              <a:t>common </a:t>
            </a:r>
            <a:r>
              <a:rPr dirty="0" spc="-5"/>
              <a:t>when </a:t>
            </a:r>
            <a:r>
              <a:rPr dirty="0" spc="-15"/>
              <a:t>we </a:t>
            </a:r>
            <a:r>
              <a:rPr dirty="0" spc="-5"/>
              <a:t>only </a:t>
            </a:r>
            <a:r>
              <a:rPr dirty="0" spc="-25"/>
              <a:t>have </a:t>
            </a:r>
            <a:r>
              <a:rPr dirty="0" spc="-5"/>
              <a:t>the adj.</a:t>
            </a:r>
            <a:r>
              <a:rPr dirty="0" spc="75"/>
              <a:t> </a:t>
            </a:r>
            <a:r>
              <a:rPr dirty="0" spc="-10"/>
              <a:t>matrix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Standard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approaches: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b) Assign unique IDs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These IDs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20">
                <a:latin typeface="Calibri"/>
                <a:cs typeface="Calibri"/>
              </a:rPr>
              <a:t>converted into </a:t>
            </a:r>
            <a:r>
              <a:rPr dirty="0" sz="2800" spc="-5" b="1">
                <a:latin typeface="Calibri"/>
                <a:cs typeface="Calibri"/>
              </a:rPr>
              <a:t>one-hot</a:t>
            </a:r>
            <a:r>
              <a:rPr dirty="0" sz="2800" spc="30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vectors</a:t>
            </a:r>
            <a:endParaRPr sz="2800">
              <a:latin typeface="Calibri"/>
              <a:cs typeface="Calibri"/>
            </a:endParaRPr>
          </a:p>
          <a:p>
            <a:pPr marL="2216150">
              <a:lnSpc>
                <a:spcPts val="1845"/>
              </a:lnSpc>
              <a:spcBef>
                <a:spcPts val="735"/>
              </a:spcBef>
            </a:pPr>
            <a:r>
              <a:rPr dirty="0" sz="1800" b="1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4105275">
              <a:lnSpc>
                <a:spcPts val="2085"/>
              </a:lnSpc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One-hot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vector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node with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ID=5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55</a:t>
            </a:fld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69492"/>
            <a:ext cx="76485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 b="0">
                <a:solidFill>
                  <a:srgbClr val="00B050"/>
                </a:solidFill>
                <a:latin typeface="Calibri"/>
                <a:cs typeface="Calibri"/>
              </a:rPr>
              <a:t>Feature </a:t>
            </a:r>
            <a:r>
              <a:rPr dirty="0" spc="-10" b="0">
                <a:solidFill>
                  <a:srgbClr val="00B050"/>
                </a:solidFill>
                <a:latin typeface="Calibri"/>
                <a:cs typeface="Calibri"/>
              </a:rPr>
              <a:t>augmentation: </a:t>
            </a:r>
            <a:r>
              <a:rPr dirty="0" spc="-20">
                <a:solidFill>
                  <a:srgbClr val="00B050"/>
                </a:solidFill>
              </a:rPr>
              <a:t>constant </a:t>
            </a:r>
            <a:r>
              <a:rPr dirty="0" spc="-5" b="0">
                <a:solidFill>
                  <a:srgbClr val="00B050"/>
                </a:solidFill>
                <a:latin typeface="Calibri"/>
                <a:cs typeface="Calibri"/>
              </a:rPr>
              <a:t>vs.</a:t>
            </a:r>
            <a:r>
              <a:rPr dirty="0" spc="75" b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pc="-5">
                <a:solidFill>
                  <a:srgbClr val="00B050"/>
                </a:solidFill>
              </a:rPr>
              <a:t>one-hot</a:t>
            </a:r>
          </a:p>
        </p:txBody>
      </p:sp>
      <p:sp>
        <p:nvSpPr>
          <p:cNvPr id="4" name="object 4"/>
          <p:cNvSpPr/>
          <p:nvPr/>
        </p:nvSpPr>
        <p:spPr>
          <a:xfrm>
            <a:off x="6416926" y="5507901"/>
            <a:ext cx="444500" cy="212090"/>
          </a:xfrm>
          <a:custGeom>
            <a:avLst/>
            <a:gdLst/>
            <a:ahLst/>
            <a:cxnLst/>
            <a:rect l="l" t="t" r="r" b="b"/>
            <a:pathLst>
              <a:path w="444500" h="212089">
                <a:moveTo>
                  <a:pt x="376798" y="0"/>
                </a:moveTo>
                <a:lnTo>
                  <a:pt x="373785" y="8594"/>
                </a:lnTo>
                <a:lnTo>
                  <a:pt x="386042" y="13913"/>
                </a:lnTo>
                <a:lnTo>
                  <a:pt x="396584" y="21277"/>
                </a:lnTo>
                <a:lnTo>
                  <a:pt x="417987" y="55408"/>
                </a:lnTo>
                <a:lnTo>
                  <a:pt x="425019" y="104811"/>
                </a:lnTo>
                <a:lnTo>
                  <a:pt x="424234" y="123487"/>
                </a:lnTo>
                <a:lnTo>
                  <a:pt x="412461" y="169217"/>
                </a:lnTo>
                <a:lnTo>
                  <a:pt x="386185" y="197806"/>
                </a:lnTo>
                <a:lnTo>
                  <a:pt x="374120" y="203150"/>
                </a:lnTo>
                <a:lnTo>
                  <a:pt x="376798" y="211744"/>
                </a:lnTo>
                <a:lnTo>
                  <a:pt x="417254" y="187708"/>
                </a:lnTo>
                <a:lnTo>
                  <a:pt x="439976" y="143335"/>
                </a:lnTo>
                <a:lnTo>
                  <a:pt x="444329" y="105928"/>
                </a:lnTo>
                <a:lnTo>
                  <a:pt x="443238" y="86516"/>
                </a:lnTo>
                <a:lnTo>
                  <a:pt x="426860" y="37113"/>
                </a:lnTo>
                <a:lnTo>
                  <a:pt x="392150" y="5542"/>
                </a:lnTo>
                <a:lnTo>
                  <a:pt x="376798" y="0"/>
                </a:lnTo>
                <a:close/>
              </a:path>
              <a:path w="444500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3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6" y="42136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50308" y="5509907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7"/>
                </a:lnTo>
              </a:path>
            </a:pathLst>
          </a:custGeom>
          <a:ln w="171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27868" y="5509907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7"/>
                </a:lnTo>
              </a:path>
            </a:pathLst>
          </a:custGeom>
          <a:ln w="171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39003" y="2265196"/>
            <a:ext cx="1014983" cy="1028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49847" y="2265196"/>
            <a:ext cx="1021842" cy="1028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24515" y="1862405"/>
          <a:ext cx="8658225" cy="4841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7087"/>
                <a:gridCol w="3338116"/>
                <a:gridCol w="3363471"/>
              </a:tblGrid>
              <a:tr h="142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9425">
                        <a:lnSpc>
                          <a:spcPts val="2350"/>
                        </a:lnSpc>
                        <a:spcBef>
                          <a:spcPts val="175"/>
                        </a:spcBef>
                      </a:pPr>
                      <a:r>
                        <a:rPr dirty="0" sz="200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Constant </a:t>
                      </a:r>
                      <a:r>
                        <a:rPr dirty="0" sz="2000" spc="-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node</a:t>
                      </a:r>
                      <a:r>
                        <a:rPr dirty="0" sz="2000" spc="-6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algn="ctr" marL="23495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algn="ctr" marR="269875">
                        <a:lnSpc>
                          <a:spcPct val="100000"/>
                        </a:lnSpc>
                        <a:spcBef>
                          <a:spcPts val="860"/>
                        </a:spcBef>
                        <a:tabLst>
                          <a:tab pos="850900" algn="l"/>
                        </a:tabLst>
                      </a:pPr>
                      <a:r>
                        <a:rPr dirty="0" sz="950" spc="5" b="1">
                          <a:latin typeface="Arial"/>
                          <a:cs typeface="Arial"/>
                        </a:rPr>
                        <a:t>1	</a:t>
                      </a:r>
                      <a:r>
                        <a:rPr dirty="0" baseline="-32163" sz="1425" spc="7" b="1">
                          <a:latin typeface="Arial"/>
                          <a:cs typeface="Arial"/>
                        </a:rPr>
                        <a:t>1</a:t>
                      </a:r>
                      <a:endParaRPr baseline="-32163" sz="1425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309880">
                        <a:lnSpc>
                          <a:spcPct val="100000"/>
                        </a:lnSpc>
                        <a:tabLst>
                          <a:tab pos="1148715" algn="l"/>
                        </a:tabLst>
                      </a:pPr>
                      <a:r>
                        <a:rPr dirty="0" baseline="-35087" sz="1425" spc="7" b="1">
                          <a:latin typeface="Arial"/>
                          <a:cs typeface="Arial"/>
                        </a:rPr>
                        <a:t>1	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algn="ctr" marL="23495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0"/>
                        </a:lnSpc>
                        <a:spcBef>
                          <a:spcPts val="175"/>
                        </a:spcBef>
                      </a:pPr>
                      <a:r>
                        <a:rPr dirty="0" sz="2000" spc="-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One-hot node</a:t>
                      </a:r>
                      <a:r>
                        <a:rPr dirty="0" sz="2000" spc="-3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algn="ctr" marL="509905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  <a:tabLst>
                          <a:tab pos="850900" algn="l"/>
                        </a:tabLst>
                      </a:pPr>
                      <a:r>
                        <a:rPr dirty="0" sz="950" spc="5" b="1">
                          <a:latin typeface="Arial"/>
                          <a:cs typeface="Arial"/>
                        </a:rPr>
                        <a:t>1	</a:t>
                      </a:r>
                      <a:r>
                        <a:rPr dirty="0" baseline="-32163" sz="1425" spc="7" b="1">
                          <a:latin typeface="Arial"/>
                          <a:cs typeface="Arial"/>
                        </a:rPr>
                        <a:t>3</a:t>
                      </a:r>
                      <a:endParaRPr baseline="-32163" sz="1425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35560">
                        <a:lnSpc>
                          <a:spcPct val="100000"/>
                        </a:lnSpc>
                        <a:tabLst>
                          <a:tab pos="1148715" algn="l"/>
                        </a:tabLst>
                      </a:pPr>
                      <a:r>
                        <a:rPr dirty="0" baseline="-35087" sz="1425" spc="7" b="1">
                          <a:latin typeface="Arial"/>
                          <a:cs typeface="Arial"/>
                        </a:rPr>
                        <a:t>4	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6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algn="ctr" marL="50990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5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Expressive</a:t>
                      </a:r>
                      <a:r>
                        <a:rPr dirty="0" sz="1800" spc="-9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power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241935">
                        <a:lnSpc>
                          <a:spcPct val="994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Medium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. All the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nodes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are 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identical,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but </a:t>
                      </a:r>
                      <a:r>
                        <a:rPr dirty="0" sz="180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GNN </a:t>
                      </a:r>
                      <a:r>
                        <a:rPr dirty="0" sz="1800" spc="-1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can still </a:t>
                      </a:r>
                      <a:r>
                        <a:rPr dirty="0" sz="1800" spc="-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learn  </a:t>
                      </a:r>
                      <a:r>
                        <a:rPr dirty="0" sz="1800" spc="-1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from </a:t>
                      </a:r>
                      <a:r>
                        <a:rPr dirty="0" sz="1800" spc="-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800" spc="-1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graph</a:t>
                      </a:r>
                      <a:r>
                        <a:rPr dirty="0" sz="1800" spc="-1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structure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81280" marR="215265">
                        <a:lnSpc>
                          <a:spcPct val="994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.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Each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node has a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unique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ID, 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so </a:t>
                      </a:r>
                      <a:r>
                        <a:rPr dirty="0" sz="1800" spc="-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node-specific </a:t>
                      </a:r>
                      <a:r>
                        <a:rPr dirty="0" sz="1800" spc="-1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information can  </a:t>
                      </a:r>
                      <a:r>
                        <a:rPr dirty="0" sz="180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1800" spc="-8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stored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68400">
                <a:tc>
                  <a:txBody>
                    <a:bodyPr/>
                    <a:lstStyle/>
                    <a:p>
                      <a:pPr marL="81280" marR="126364">
                        <a:lnSpc>
                          <a:spcPct val="99400"/>
                        </a:lnSpc>
                        <a:spcBef>
                          <a:spcPts val="190"/>
                        </a:spcBef>
                      </a:pP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Inductive</a:t>
                      </a:r>
                      <a:r>
                        <a:rPr dirty="0" sz="1800" spc="-5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learning  </a:t>
                      </a:r>
                      <a:r>
                        <a:rPr dirty="0" sz="1800" spc="-1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(Generalize </a:t>
                      </a: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to  unseen</a:t>
                      </a:r>
                      <a:r>
                        <a:rPr dirty="0" sz="1800" spc="-6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nodes)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121285">
                        <a:lnSpc>
                          <a:spcPct val="100400"/>
                        </a:lnSpc>
                        <a:spcBef>
                          <a:spcPts val="170"/>
                        </a:spcBef>
                      </a:pPr>
                      <a:r>
                        <a:rPr dirty="0" sz="1800" spc="-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. </a:t>
                      </a:r>
                      <a:r>
                        <a:rPr dirty="0" sz="1800" spc="-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Simple </a:t>
                      </a:r>
                      <a:r>
                        <a:rPr dirty="0" sz="1800" spc="-1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to generalize to </a:t>
                      </a:r>
                      <a:r>
                        <a:rPr dirty="0" sz="1800" spc="-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new  nodes: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we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assign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constant  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feature to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them, then apply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our  GNN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 marR="163830">
                        <a:lnSpc>
                          <a:spcPct val="100400"/>
                        </a:lnSpc>
                        <a:spcBef>
                          <a:spcPts val="170"/>
                        </a:spcBef>
                      </a:pPr>
                      <a:r>
                        <a:rPr dirty="0" sz="1800" spc="-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. </a:t>
                      </a:r>
                      <a:r>
                        <a:rPr dirty="0" sz="1800" spc="-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Cannot </a:t>
                      </a:r>
                      <a:r>
                        <a:rPr dirty="0" sz="1800" spc="-1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generalize to </a:t>
                      </a:r>
                      <a:r>
                        <a:rPr dirty="0" sz="1800" spc="-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new  nodes: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new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nodes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introduce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new  IDs,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GNN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doesn’t know how 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to 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embed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unseen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IDs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81280" marR="419100">
                        <a:lnSpc>
                          <a:spcPts val="2110"/>
                        </a:lnSpc>
                        <a:spcBef>
                          <a:spcPts val="290"/>
                        </a:spcBef>
                      </a:pPr>
                      <a:r>
                        <a:rPr dirty="0" sz="1800" spc="-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800" spc="-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mpu</a:t>
                      </a:r>
                      <a:r>
                        <a:rPr dirty="0" sz="1800" spc="-2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ta</a:t>
                      </a:r>
                      <a:r>
                        <a:rPr dirty="0" sz="180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io</a:t>
                      </a:r>
                      <a:r>
                        <a:rPr dirty="0" sz="1800" spc="-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nal  </a:t>
                      </a:r>
                      <a:r>
                        <a:rPr dirty="0" sz="1800" spc="-1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. Only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1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dimensional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feature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 marR="100330">
                        <a:lnSpc>
                          <a:spcPts val="2110"/>
                        </a:lnSpc>
                        <a:spcBef>
                          <a:spcPts val="290"/>
                        </a:spcBef>
                        <a:tabLst>
                          <a:tab pos="948055" algn="l"/>
                          <a:tab pos="1317625" algn="l"/>
                        </a:tabLst>
                      </a:pPr>
                      <a:r>
                        <a:rPr dirty="0" sz="1800" spc="-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𝑂	𝑉	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dimensional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feature,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cannot apply 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large</a:t>
                      </a:r>
                      <a:r>
                        <a:rPr dirty="0" sz="18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graphs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r>
                        <a:rPr dirty="0" sz="1800" spc="-9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cases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553085">
                        <a:lnSpc>
                          <a:spcPts val="2110"/>
                        </a:lnSpc>
                        <a:spcBef>
                          <a:spcPts val="290"/>
                        </a:spcBef>
                      </a:pPr>
                      <a:r>
                        <a:rPr dirty="0" sz="1800" spc="-1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Any </a:t>
                      </a:r>
                      <a:r>
                        <a:rPr dirty="0" sz="1800" spc="-1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graph, </a:t>
                      </a:r>
                      <a:r>
                        <a:rPr dirty="0" sz="1800" spc="-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inductive </a:t>
                      </a:r>
                      <a:r>
                        <a:rPr dirty="0" sz="1800" spc="-1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settings  (generalize </a:t>
                      </a:r>
                      <a:r>
                        <a:rPr dirty="0" sz="1800" spc="-1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800" spc="-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800" spc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nodes)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 marR="131445">
                        <a:lnSpc>
                          <a:spcPts val="2110"/>
                        </a:lnSpc>
                        <a:spcBef>
                          <a:spcPts val="290"/>
                        </a:spcBef>
                      </a:pPr>
                      <a:r>
                        <a:rPr dirty="0" sz="1800" spc="-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Small </a:t>
                      </a:r>
                      <a:r>
                        <a:rPr dirty="0" sz="1800" spc="-1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graph, transductive settings  </a:t>
                      </a:r>
                      <a:r>
                        <a:rPr dirty="0" sz="180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(no </a:t>
                      </a:r>
                      <a:r>
                        <a:rPr dirty="0" sz="1800" spc="-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800" spc="-6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nodes)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29"/>
              </a:lnSpc>
              <a:spcBef>
                <a:spcPts val="100"/>
              </a:spcBef>
            </a:pPr>
            <a:r>
              <a:rPr dirty="0" spc="-25">
                <a:solidFill>
                  <a:srgbClr val="00B050"/>
                </a:solidFill>
              </a:rPr>
              <a:t>Why </a:t>
            </a:r>
            <a:r>
              <a:rPr dirty="0" spc="-5">
                <a:solidFill>
                  <a:srgbClr val="00B050"/>
                </a:solidFill>
              </a:rPr>
              <a:t>do </a:t>
            </a:r>
            <a:r>
              <a:rPr dirty="0" spc="-15">
                <a:solidFill>
                  <a:srgbClr val="00B050"/>
                </a:solidFill>
              </a:rPr>
              <a:t>we </a:t>
            </a:r>
            <a:r>
              <a:rPr dirty="0" spc="-5">
                <a:solidFill>
                  <a:srgbClr val="00B050"/>
                </a:solidFill>
              </a:rPr>
              <a:t>need </a:t>
            </a:r>
            <a:r>
              <a:rPr dirty="0" spc="-20">
                <a:solidFill>
                  <a:srgbClr val="00B050"/>
                </a:solidFill>
              </a:rPr>
              <a:t>feature</a:t>
            </a:r>
            <a:r>
              <a:rPr dirty="0" spc="-25">
                <a:solidFill>
                  <a:srgbClr val="00B050"/>
                </a:solidFill>
              </a:rPr>
              <a:t> </a:t>
            </a:r>
            <a:r>
              <a:rPr dirty="0" spc="-10">
                <a:solidFill>
                  <a:srgbClr val="00B050"/>
                </a:solidFill>
              </a:rPr>
              <a:t>augmentation?</a:t>
            </a:r>
          </a:p>
          <a:p>
            <a:pPr marL="332740" indent="-320040">
              <a:lnSpc>
                <a:spcPts val="38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000000"/>
                </a:solidFill>
              </a:rPr>
              <a:t>(2) </a:t>
            </a:r>
            <a:r>
              <a:rPr dirty="0" spc="-5">
                <a:solidFill>
                  <a:srgbClr val="000000"/>
                </a:solidFill>
              </a:rPr>
              <a:t>Certain </a:t>
            </a:r>
            <a:r>
              <a:rPr dirty="0" spc="-10">
                <a:solidFill>
                  <a:srgbClr val="000000"/>
                </a:solidFill>
              </a:rPr>
              <a:t>structures </a:t>
            </a:r>
            <a:r>
              <a:rPr dirty="0" spc="-15">
                <a:solidFill>
                  <a:srgbClr val="000000"/>
                </a:solidFill>
              </a:rPr>
              <a:t>are hard to </a:t>
            </a:r>
            <a:r>
              <a:rPr dirty="0" spc="-5">
                <a:solidFill>
                  <a:srgbClr val="000000"/>
                </a:solidFill>
              </a:rPr>
              <a:t>learn </a:t>
            </a:r>
            <a:r>
              <a:rPr dirty="0" spc="-15">
                <a:solidFill>
                  <a:srgbClr val="000000"/>
                </a:solidFill>
              </a:rPr>
              <a:t>by</a:t>
            </a:r>
            <a:r>
              <a:rPr dirty="0" spc="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GNN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871" y="2200293"/>
            <a:ext cx="8463915" cy="163004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Example: </a:t>
            </a:r>
            <a:r>
              <a:rPr dirty="0" sz="3200" spc="-10">
                <a:latin typeface="Calibri"/>
                <a:cs typeface="Calibri"/>
              </a:rPr>
              <a:t>Cycle </a:t>
            </a:r>
            <a:r>
              <a:rPr dirty="0" sz="3200" spc="-15">
                <a:latin typeface="Calibri"/>
                <a:cs typeface="Calibri"/>
              </a:rPr>
              <a:t>count</a:t>
            </a:r>
            <a:r>
              <a:rPr dirty="0" sz="3200" spc="-25">
                <a:latin typeface="Calibri"/>
                <a:cs typeface="Calibri"/>
              </a:rPr>
              <a:t> feature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Can GNN learn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length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cycle that </a:t>
            </a:r>
            <a:r>
              <a:rPr dirty="0" sz="2800" spc="285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baseline="-16666" sz="3000" spc="427">
                <a:solidFill>
                  <a:srgbClr val="C00000"/>
                </a:solidFill>
                <a:latin typeface="Cambria Math"/>
                <a:cs typeface="Cambria Math"/>
              </a:rPr>
              <a:t>'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resides</a:t>
            </a:r>
            <a:r>
              <a:rPr dirty="0" sz="2800" spc="-1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2800" spc="-5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Unfortunately,</a:t>
            </a:r>
            <a:r>
              <a:rPr dirty="0" sz="28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7046" y="5049237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87046" y="6138510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60942" y="5587586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21134" y="5317416"/>
            <a:ext cx="0" cy="821690"/>
          </a:xfrm>
          <a:custGeom>
            <a:avLst/>
            <a:gdLst/>
            <a:ahLst/>
            <a:cxnLst/>
            <a:rect l="l" t="t" r="r" b="b"/>
            <a:pathLst>
              <a:path w="0" h="821689">
                <a:moveTo>
                  <a:pt x="0" y="0"/>
                </a:moveTo>
                <a:lnTo>
                  <a:pt x="1" y="82109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55223" y="5183327"/>
            <a:ext cx="845185" cy="443865"/>
          </a:xfrm>
          <a:custGeom>
            <a:avLst/>
            <a:gdLst/>
            <a:ahLst/>
            <a:cxnLst/>
            <a:rect l="l" t="t" r="r" b="b"/>
            <a:pathLst>
              <a:path w="845185" h="443864">
                <a:moveTo>
                  <a:pt x="0" y="0"/>
                </a:moveTo>
                <a:lnTo>
                  <a:pt x="844992" y="4435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55223" y="5816488"/>
            <a:ext cx="845185" cy="456565"/>
          </a:xfrm>
          <a:custGeom>
            <a:avLst/>
            <a:gdLst/>
            <a:ahLst/>
            <a:cxnLst/>
            <a:rect l="l" t="t" r="r" b="b"/>
            <a:pathLst>
              <a:path w="845185" h="456564">
                <a:moveTo>
                  <a:pt x="0" y="456110"/>
                </a:moveTo>
                <a:lnTo>
                  <a:pt x="84499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63248" y="5055100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63248" y="6138510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93498" y="5058072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439067" y="5020564"/>
            <a:ext cx="218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-75">
                <a:latin typeface="Cambria Math"/>
                <a:cs typeface="Cambria Math"/>
              </a:rPr>
              <a:t>#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97337" y="5323277"/>
            <a:ext cx="0" cy="815340"/>
          </a:xfrm>
          <a:custGeom>
            <a:avLst/>
            <a:gdLst/>
            <a:ahLst/>
            <a:cxnLst/>
            <a:rect l="l" t="t" r="r" b="b"/>
            <a:pathLst>
              <a:path w="0" h="815339">
                <a:moveTo>
                  <a:pt x="0" y="0"/>
                </a:moveTo>
                <a:lnTo>
                  <a:pt x="1" y="8152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527587" y="5326248"/>
            <a:ext cx="0" cy="812800"/>
          </a:xfrm>
          <a:custGeom>
            <a:avLst/>
            <a:gdLst/>
            <a:ahLst/>
            <a:cxnLst/>
            <a:rect l="l" t="t" r="r" b="b"/>
            <a:pathLst>
              <a:path w="0" h="812800">
                <a:moveTo>
                  <a:pt x="0" y="812262"/>
                </a:moveTo>
                <a:lnTo>
                  <a:pt x="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393498" y="6138510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61674" y="5189189"/>
            <a:ext cx="901700" cy="3175"/>
          </a:xfrm>
          <a:custGeom>
            <a:avLst/>
            <a:gdLst/>
            <a:ahLst/>
            <a:cxnLst/>
            <a:rect l="l" t="t" r="r" b="b"/>
            <a:pathLst>
              <a:path w="901700" h="3175">
                <a:moveTo>
                  <a:pt x="901574" y="0"/>
                </a:moveTo>
                <a:lnTo>
                  <a:pt x="0" y="297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661674" y="6272598"/>
            <a:ext cx="901700" cy="0"/>
          </a:xfrm>
          <a:custGeom>
            <a:avLst/>
            <a:gdLst/>
            <a:ahLst/>
            <a:cxnLst/>
            <a:rect l="l" t="t" r="r" b="b"/>
            <a:pathLst>
              <a:path w="901700" h="0">
                <a:moveTo>
                  <a:pt x="901574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48102" y="4504816"/>
            <a:ext cx="3124835" cy="77914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 spc="5">
                <a:latin typeface="Cambria Math"/>
                <a:cs typeface="Cambria Math"/>
              </a:rPr>
              <a:t>𝑣</a:t>
            </a:r>
            <a:r>
              <a:rPr dirty="0" baseline="-14957" sz="1950" spc="7">
                <a:latin typeface="Cambria Math"/>
                <a:cs typeface="Cambria Math"/>
              </a:rPr>
              <a:t>$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1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algn="ctr" marR="731520">
              <a:lnSpc>
                <a:spcPct val="100000"/>
              </a:lnSpc>
              <a:spcBef>
                <a:spcPts val="869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3888" sz="1800" spc="-75">
                <a:latin typeface="Cambria Math"/>
                <a:cs typeface="Cambria Math"/>
              </a:rPr>
              <a:t>#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21" name="object 21"/>
          <p:cNvSpPr txBox="1"/>
          <p:nvPr/>
        </p:nvSpPr>
        <p:spPr>
          <a:xfrm>
            <a:off x="4605020" y="4629403"/>
            <a:ext cx="3124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">
                <a:latin typeface="Cambria Math"/>
                <a:cs typeface="Cambria Math"/>
              </a:rPr>
              <a:t>𝑣</a:t>
            </a:r>
            <a:r>
              <a:rPr dirty="0" baseline="-14957" sz="1950" spc="7">
                <a:latin typeface="Cambria Math"/>
                <a:cs typeface="Cambria Math"/>
              </a:rPr>
              <a:t>$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1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42315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0">
                <a:solidFill>
                  <a:srgbClr val="E66C7D"/>
                </a:solidFill>
                <a:latin typeface="Cambria Math"/>
                <a:cs typeface="Cambria Math"/>
              </a:rPr>
              <a:t>𝒗</a:t>
            </a:r>
            <a:r>
              <a:rPr dirty="0" baseline="-16666" sz="3000" spc="-7" b="0">
                <a:solidFill>
                  <a:srgbClr val="E66C7D"/>
                </a:solidFill>
                <a:latin typeface="Cambria Math"/>
                <a:cs typeface="Cambria Math"/>
              </a:rPr>
              <a:t>𝟏 </a:t>
            </a:r>
            <a:r>
              <a:rPr dirty="0" sz="2800" spc="-10">
                <a:solidFill>
                  <a:srgbClr val="E66C7D"/>
                </a:solidFill>
              </a:rPr>
              <a:t>cannot </a:t>
            </a:r>
            <a:r>
              <a:rPr dirty="0" sz="2800" spc="-15">
                <a:solidFill>
                  <a:srgbClr val="E66C7D"/>
                </a:solidFill>
              </a:rPr>
              <a:t>differentiate </a:t>
            </a:r>
            <a:r>
              <a:rPr dirty="0" sz="2800" spc="-5">
                <a:solidFill>
                  <a:srgbClr val="E66C7D"/>
                </a:solidFill>
              </a:rPr>
              <a:t>which </a:t>
            </a:r>
            <a:r>
              <a:rPr dirty="0" sz="2800" spc="-15">
                <a:solidFill>
                  <a:srgbClr val="E66C7D"/>
                </a:solidFill>
              </a:rPr>
              <a:t>graph </a:t>
            </a:r>
            <a:r>
              <a:rPr dirty="0" sz="2800">
                <a:solidFill>
                  <a:srgbClr val="E66C7D"/>
                </a:solidFill>
              </a:rPr>
              <a:t>it </a:t>
            </a:r>
            <a:r>
              <a:rPr dirty="0" sz="2800" spc="-10">
                <a:solidFill>
                  <a:srgbClr val="E66C7D"/>
                </a:solidFill>
              </a:rPr>
              <a:t>resides</a:t>
            </a:r>
            <a:r>
              <a:rPr dirty="0" sz="2800" spc="200">
                <a:solidFill>
                  <a:srgbClr val="E66C7D"/>
                </a:solidFill>
              </a:rPr>
              <a:t> </a:t>
            </a:r>
            <a:r>
              <a:rPr dirty="0" sz="2800">
                <a:solidFill>
                  <a:srgbClr val="E66C7D"/>
                </a:solidFill>
              </a:rPr>
              <a:t>in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788667"/>
            <a:ext cx="7042150" cy="8915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10">
                <a:latin typeface="Calibri"/>
                <a:cs typeface="Calibri"/>
              </a:rPr>
              <a:t>Because </a:t>
            </a:r>
            <a:r>
              <a:rPr dirty="0" sz="2400">
                <a:latin typeface="Calibri"/>
                <a:cs typeface="Calibri"/>
              </a:rPr>
              <a:t>all </a:t>
            </a:r>
            <a:r>
              <a:rPr dirty="0" sz="2400" spc="-5">
                <a:latin typeface="Calibri"/>
                <a:cs typeface="Calibri"/>
              </a:rPr>
              <a:t>the nodes </a:t>
            </a:r>
            <a:r>
              <a:rPr dirty="0" sz="2400">
                <a:latin typeface="Calibri"/>
                <a:cs typeface="Calibri"/>
              </a:rPr>
              <a:t>in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graph </a:t>
            </a: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have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degree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computational graphs </a:t>
            </a:r>
            <a:r>
              <a:rPr dirty="0" sz="2400" spc="-5">
                <a:latin typeface="Calibri"/>
                <a:cs typeface="Calibri"/>
              </a:rPr>
              <a:t>will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the same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binary</a:t>
            </a:r>
            <a:r>
              <a:rPr dirty="0" sz="24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9997" y="3646882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9997" y="4736153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73892" y="4185230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34086" y="3915059"/>
            <a:ext cx="0" cy="821690"/>
          </a:xfrm>
          <a:custGeom>
            <a:avLst/>
            <a:gdLst/>
            <a:ahLst/>
            <a:cxnLst/>
            <a:rect l="l" t="t" r="r" b="b"/>
            <a:pathLst>
              <a:path w="0" h="821689">
                <a:moveTo>
                  <a:pt x="0" y="0"/>
                </a:moveTo>
                <a:lnTo>
                  <a:pt x="1" y="82109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68175" y="3780971"/>
            <a:ext cx="845185" cy="443865"/>
          </a:xfrm>
          <a:custGeom>
            <a:avLst/>
            <a:gdLst/>
            <a:ahLst/>
            <a:cxnLst/>
            <a:rect l="l" t="t" r="r" b="b"/>
            <a:pathLst>
              <a:path w="845185" h="443864">
                <a:moveTo>
                  <a:pt x="0" y="0"/>
                </a:moveTo>
                <a:lnTo>
                  <a:pt x="844992" y="4435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68175" y="4414132"/>
            <a:ext cx="845185" cy="456565"/>
          </a:xfrm>
          <a:custGeom>
            <a:avLst/>
            <a:gdLst/>
            <a:ahLst/>
            <a:cxnLst/>
            <a:rect l="l" t="t" r="r" b="b"/>
            <a:pathLst>
              <a:path w="845185" h="456564">
                <a:moveTo>
                  <a:pt x="0" y="456110"/>
                </a:moveTo>
                <a:lnTo>
                  <a:pt x="84499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74023" y="3652414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74023" y="4735824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04273" y="3655386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247492" y="3618484"/>
            <a:ext cx="2228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Cambria Math"/>
                <a:cs typeface="Cambria Math"/>
              </a:rPr>
              <a:t>𝑣</a:t>
            </a:r>
            <a:r>
              <a:rPr dirty="0" baseline="-16203" sz="1800" spc="-562">
                <a:latin typeface="Cambria Math"/>
                <a:cs typeface="Cambria Math"/>
              </a:rPr>
              <a:t>%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08112" y="3920590"/>
            <a:ext cx="0" cy="815340"/>
          </a:xfrm>
          <a:custGeom>
            <a:avLst/>
            <a:gdLst/>
            <a:ahLst/>
            <a:cxnLst/>
            <a:rect l="l" t="t" r="r" b="b"/>
            <a:pathLst>
              <a:path w="0" h="815339">
                <a:moveTo>
                  <a:pt x="0" y="0"/>
                </a:moveTo>
                <a:lnTo>
                  <a:pt x="1" y="8152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338361" y="3923562"/>
            <a:ext cx="0" cy="812800"/>
          </a:xfrm>
          <a:custGeom>
            <a:avLst/>
            <a:gdLst/>
            <a:ahLst/>
            <a:cxnLst/>
            <a:rect l="l" t="t" r="r" b="b"/>
            <a:pathLst>
              <a:path w="0" h="812800">
                <a:moveTo>
                  <a:pt x="0" y="812263"/>
                </a:moveTo>
                <a:lnTo>
                  <a:pt x="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04273" y="4735824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472449" y="3786502"/>
            <a:ext cx="901700" cy="3175"/>
          </a:xfrm>
          <a:custGeom>
            <a:avLst/>
            <a:gdLst/>
            <a:ahLst/>
            <a:cxnLst/>
            <a:rect l="l" t="t" r="r" b="b"/>
            <a:pathLst>
              <a:path w="901700" h="3175">
                <a:moveTo>
                  <a:pt x="901574" y="0"/>
                </a:moveTo>
                <a:lnTo>
                  <a:pt x="0" y="297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72449" y="4869912"/>
            <a:ext cx="901700" cy="0"/>
          </a:xfrm>
          <a:custGeom>
            <a:avLst/>
            <a:gdLst/>
            <a:ahLst/>
            <a:cxnLst/>
            <a:rect l="l" t="t" r="r" b="b"/>
            <a:pathLst>
              <a:path w="901700" h="0">
                <a:moveTo>
                  <a:pt x="901574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93320" y="2989579"/>
            <a:ext cx="1849755" cy="88900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5">
                <a:latin typeface="Cambria Math"/>
                <a:cs typeface="Cambria Math"/>
              </a:rPr>
              <a:t>𝑣</a:t>
            </a:r>
            <a:r>
              <a:rPr dirty="0" baseline="-17094" sz="1950" spc="7">
                <a:latin typeface="Cambria Math"/>
                <a:cs typeface="Cambria Math"/>
              </a:rPr>
              <a:t>$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363855">
              <a:lnSpc>
                <a:spcPct val="100000"/>
              </a:lnSpc>
              <a:spcBef>
                <a:spcPts val="545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-75">
                <a:latin typeface="Cambria Math"/>
                <a:cs typeface="Cambria Math"/>
              </a:rPr>
              <a:t>#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50651" y="2983483"/>
            <a:ext cx="184975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5">
                <a:latin typeface="Cambria Math"/>
                <a:cs typeface="Cambria Math"/>
              </a:rPr>
              <a:t>𝑣</a:t>
            </a:r>
            <a:r>
              <a:rPr dirty="0" baseline="-17094" sz="1950" spc="7">
                <a:latin typeface="Cambria Math"/>
                <a:cs typeface="Cambria Math"/>
              </a:rPr>
              <a:t>$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83202" y="5966413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427977" y="5928867"/>
            <a:ext cx="218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-75">
                <a:latin typeface="Cambria Math"/>
                <a:cs typeface="Cambria Math"/>
              </a:rPr>
              <a:t>#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14800" y="5966412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82977" y="6100502"/>
            <a:ext cx="600710" cy="0"/>
          </a:xfrm>
          <a:custGeom>
            <a:avLst/>
            <a:gdLst/>
            <a:ahLst/>
            <a:cxnLst/>
            <a:rect l="l" t="t" r="r" b="b"/>
            <a:pathLst>
              <a:path w="600710" h="0">
                <a:moveTo>
                  <a:pt x="600225" y="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46397" y="5966412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14575" y="6100502"/>
            <a:ext cx="600710" cy="0"/>
          </a:xfrm>
          <a:custGeom>
            <a:avLst/>
            <a:gdLst/>
            <a:ahLst/>
            <a:cxnLst/>
            <a:rect l="l" t="t" r="r" b="b"/>
            <a:pathLst>
              <a:path w="600710" h="0">
                <a:moveTo>
                  <a:pt x="600225" y="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78125" y="5981881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651379" y="6100503"/>
            <a:ext cx="615315" cy="0"/>
          </a:xfrm>
          <a:custGeom>
            <a:avLst/>
            <a:gdLst/>
            <a:ahLst/>
            <a:cxnLst/>
            <a:rect l="l" t="t" r="r" b="b"/>
            <a:pathLst>
              <a:path w="615314" h="0">
                <a:moveTo>
                  <a:pt x="615134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278298" y="5976489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546302" y="6115970"/>
            <a:ext cx="732155" cy="0"/>
          </a:xfrm>
          <a:custGeom>
            <a:avLst/>
            <a:gdLst/>
            <a:ahLst/>
            <a:cxnLst/>
            <a:rect l="l" t="t" r="r" b="b"/>
            <a:pathLst>
              <a:path w="732154" h="0">
                <a:moveTo>
                  <a:pt x="731996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79641" y="5403596"/>
            <a:ext cx="3663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">
                <a:latin typeface="Cambria Math"/>
                <a:cs typeface="Cambria Math"/>
              </a:rPr>
              <a:t>𝑣</a:t>
            </a:r>
            <a:r>
              <a:rPr dirty="0" baseline="-14957" sz="1950" spc="7">
                <a:latin typeface="Cambria Math"/>
                <a:cs typeface="Cambria Math"/>
              </a:rPr>
              <a:t>$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infinite</a:t>
            </a:r>
            <a:r>
              <a:rPr dirty="0" sz="1800" spc="1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1346" y="5888228"/>
            <a:ext cx="197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05330" y="5885179"/>
            <a:ext cx="197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58668" y="5327663"/>
            <a:ext cx="260985" cy="4006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spc="0">
                <a:latin typeface="Cambria Math"/>
                <a:cs typeface="Cambria Math"/>
              </a:rPr>
              <a:t>…</a:t>
            </a:r>
            <a:endParaRPr sz="245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185326" y="5236207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489115" y="5236207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341560" y="4845620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400485" y="5236207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704276" y="5236207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556720" y="4845620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792906" y="5236207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096696" y="5236207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949141" y="4845620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008064" y="5236207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311855" y="5236207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64300" y="4845620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645350" y="4489752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860510" y="4481072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252930" y="415992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853664" y="4368236"/>
            <a:ext cx="431800" cy="149860"/>
          </a:xfrm>
          <a:custGeom>
            <a:avLst/>
            <a:gdLst/>
            <a:ahLst/>
            <a:cxnLst/>
            <a:rect l="l" t="t" r="r" b="b"/>
            <a:pathLst>
              <a:path w="431800" h="149860">
                <a:moveTo>
                  <a:pt x="0" y="149623"/>
                </a:moveTo>
                <a:lnTo>
                  <a:pt x="431381" y="0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461243" y="4368236"/>
            <a:ext cx="433070" cy="147320"/>
          </a:xfrm>
          <a:custGeom>
            <a:avLst/>
            <a:gdLst/>
            <a:ahLst/>
            <a:cxnLst/>
            <a:rect l="l" t="t" r="r" b="b"/>
            <a:pathLst>
              <a:path w="433070" h="147320">
                <a:moveTo>
                  <a:pt x="0" y="0"/>
                </a:moveTo>
                <a:lnTo>
                  <a:pt x="432462" y="147280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463077" y="4698065"/>
            <a:ext cx="219075" cy="154305"/>
          </a:xfrm>
          <a:custGeom>
            <a:avLst/>
            <a:gdLst/>
            <a:ahLst/>
            <a:cxnLst/>
            <a:rect l="l" t="t" r="r" b="b"/>
            <a:pathLst>
              <a:path w="219075" h="154304">
                <a:moveTo>
                  <a:pt x="218987" y="0"/>
                </a:moveTo>
                <a:lnTo>
                  <a:pt x="0" y="153811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853664" y="4698065"/>
            <a:ext cx="214629" cy="154305"/>
          </a:xfrm>
          <a:custGeom>
            <a:avLst/>
            <a:gdLst/>
            <a:ahLst/>
            <a:cxnLst/>
            <a:rect l="l" t="t" r="r" b="b"/>
            <a:pathLst>
              <a:path w="214629" h="154304">
                <a:moveTo>
                  <a:pt x="0" y="0"/>
                </a:moveTo>
                <a:lnTo>
                  <a:pt x="214012" y="153811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678236" y="4689386"/>
            <a:ext cx="217170" cy="156210"/>
          </a:xfrm>
          <a:custGeom>
            <a:avLst/>
            <a:gdLst/>
            <a:ahLst/>
            <a:cxnLst/>
            <a:rect l="l" t="t" r="r" b="b"/>
            <a:pathLst>
              <a:path w="217170" h="156210">
                <a:moveTo>
                  <a:pt x="216833" y="0"/>
                </a:moveTo>
                <a:lnTo>
                  <a:pt x="0" y="156155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068822" y="4689386"/>
            <a:ext cx="216535" cy="156210"/>
          </a:xfrm>
          <a:custGeom>
            <a:avLst/>
            <a:gdLst/>
            <a:ahLst/>
            <a:cxnLst/>
            <a:rect l="l" t="t" r="r" b="b"/>
            <a:pathLst>
              <a:path w="216534" h="156210">
                <a:moveTo>
                  <a:pt x="0" y="0"/>
                </a:moveTo>
                <a:lnTo>
                  <a:pt x="216165" y="156155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315522" y="5053933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39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549873" y="5053933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914422" y="5053933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40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157454" y="5053933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522002" y="5053933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40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765033" y="5053933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129581" y="5053933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40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372613" y="5053933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511623" y="3073215"/>
            <a:ext cx="28575" cy="3402329"/>
          </a:xfrm>
          <a:custGeom>
            <a:avLst/>
            <a:gdLst/>
            <a:ahLst/>
            <a:cxnLst/>
            <a:rect l="l" t="t" r="r" b="b"/>
            <a:pathLst>
              <a:path w="28575" h="3402329">
                <a:moveTo>
                  <a:pt x="22178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22205"/>
                </a:lnTo>
                <a:lnTo>
                  <a:pt x="6396" y="28602"/>
                </a:lnTo>
                <a:lnTo>
                  <a:pt x="22178" y="28602"/>
                </a:lnTo>
                <a:lnTo>
                  <a:pt x="28575" y="22205"/>
                </a:lnTo>
                <a:lnTo>
                  <a:pt x="28575" y="6396"/>
                </a:lnTo>
                <a:lnTo>
                  <a:pt x="22178" y="0"/>
                </a:lnTo>
                <a:close/>
              </a:path>
              <a:path w="28575" h="3402329">
                <a:moveTo>
                  <a:pt x="22178" y="57177"/>
                </a:moveTo>
                <a:lnTo>
                  <a:pt x="6396" y="57177"/>
                </a:lnTo>
                <a:lnTo>
                  <a:pt x="0" y="63574"/>
                </a:lnTo>
                <a:lnTo>
                  <a:pt x="0" y="79385"/>
                </a:lnTo>
                <a:lnTo>
                  <a:pt x="6396" y="85782"/>
                </a:lnTo>
                <a:lnTo>
                  <a:pt x="22178" y="85782"/>
                </a:lnTo>
                <a:lnTo>
                  <a:pt x="28575" y="79385"/>
                </a:lnTo>
                <a:lnTo>
                  <a:pt x="28575" y="63574"/>
                </a:lnTo>
                <a:lnTo>
                  <a:pt x="22178" y="57177"/>
                </a:lnTo>
                <a:close/>
              </a:path>
              <a:path w="28575" h="3402329">
                <a:moveTo>
                  <a:pt x="22178" y="114357"/>
                </a:moveTo>
                <a:lnTo>
                  <a:pt x="6396" y="114357"/>
                </a:lnTo>
                <a:lnTo>
                  <a:pt x="0" y="120754"/>
                </a:lnTo>
                <a:lnTo>
                  <a:pt x="0" y="136563"/>
                </a:lnTo>
                <a:lnTo>
                  <a:pt x="6396" y="142960"/>
                </a:lnTo>
                <a:lnTo>
                  <a:pt x="22178" y="142960"/>
                </a:lnTo>
                <a:lnTo>
                  <a:pt x="28575" y="136563"/>
                </a:lnTo>
                <a:lnTo>
                  <a:pt x="28575" y="120754"/>
                </a:lnTo>
                <a:lnTo>
                  <a:pt x="22178" y="114357"/>
                </a:lnTo>
                <a:close/>
              </a:path>
              <a:path w="28575" h="3402329">
                <a:moveTo>
                  <a:pt x="22178" y="171535"/>
                </a:moveTo>
                <a:lnTo>
                  <a:pt x="6396" y="171535"/>
                </a:lnTo>
                <a:lnTo>
                  <a:pt x="0" y="177932"/>
                </a:lnTo>
                <a:lnTo>
                  <a:pt x="0" y="193742"/>
                </a:lnTo>
                <a:lnTo>
                  <a:pt x="6396" y="200139"/>
                </a:lnTo>
                <a:lnTo>
                  <a:pt x="22178" y="200139"/>
                </a:lnTo>
                <a:lnTo>
                  <a:pt x="28575" y="193742"/>
                </a:lnTo>
                <a:lnTo>
                  <a:pt x="28575" y="177932"/>
                </a:lnTo>
                <a:lnTo>
                  <a:pt x="22178" y="171535"/>
                </a:lnTo>
                <a:close/>
              </a:path>
              <a:path w="28575" h="3402329">
                <a:moveTo>
                  <a:pt x="22178" y="228714"/>
                </a:moveTo>
                <a:lnTo>
                  <a:pt x="6396" y="228714"/>
                </a:lnTo>
                <a:lnTo>
                  <a:pt x="0" y="235111"/>
                </a:lnTo>
                <a:lnTo>
                  <a:pt x="0" y="250920"/>
                </a:lnTo>
                <a:lnTo>
                  <a:pt x="6396" y="257317"/>
                </a:lnTo>
                <a:lnTo>
                  <a:pt x="22178" y="257317"/>
                </a:lnTo>
                <a:lnTo>
                  <a:pt x="28575" y="250920"/>
                </a:lnTo>
                <a:lnTo>
                  <a:pt x="28575" y="235111"/>
                </a:lnTo>
                <a:lnTo>
                  <a:pt x="22178" y="228714"/>
                </a:lnTo>
                <a:close/>
              </a:path>
              <a:path w="28575" h="3402329">
                <a:moveTo>
                  <a:pt x="22178" y="285892"/>
                </a:moveTo>
                <a:lnTo>
                  <a:pt x="6396" y="285892"/>
                </a:lnTo>
                <a:lnTo>
                  <a:pt x="0" y="292289"/>
                </a:lnTo>
                <a:lnTo>
                  <a:pt x="0" y="308099"/>
                </a:lnTo>
                <a:lnTo>
                  <a:pt x="6396" y="314496"/>
                </a:lnTo>
                <a:lnTo>
                  <a:pt x="22178" y="314496"/>
                </a:lnTo>
                <a:lnTo>
                  <a:pt x="28575" y="308099"/>
                </a:lnTo>
                <a:lnTo>
                  <a:pt x="28575" y="292289"/>
                </a:lnTo>
                <a:lnTo>
                  <a:pt x="22178" y="285892"/>
                </a:lnTo>
                <a:close/>
              </a:path>
              <a:path w="28575" h="3402329">
                <a:moveTo>
                  <a:pt x="22178" y="343071"/>
                </a:moveTo>
                <a:lnTo>
                  <a:pt x="6396" y="343071"/>
                </a:lnTo>
                <a:lnTo>
                  <a:pt x="0" y="349468"/>
                </a:lnTo>
                <a:lnTo>
                  <a:pt x="0" y="365277"/>
                </a:lnTo>
                <a:lnTo>
                  <a:pt x="6396" y="371674"/>
                </a:lnTo>
                <a:lnTo>
                  <a:pt x="22178" y="371674"/>
                </a:lnTo>
                <a:lnTo>
                  <a:pt x="28575" y="365277"/>
                </a:lnTo>
                <a:lnTo>
                  <a:pt x="28575" y="349468"/>
                </a:lnTo>
                <a:lnTo>
                  <a:pt x="22178" y="343071"/>
                </a:lnTo>
                <a:close/>
              </a:path>
              <a:path w="28575" h="3402329">
                <a:moveTo>
                  <a:pt x="22178" y="400249"/>
                </a:moveTo>
                <a:lnTo>
                  <a:pt x="6396" y="400249"/>
                </a:lnTo>
                <a:lnTo>
                  <a:pt x="0" y="406646"/>
                </a:lnTo>
                <a:lnTo>
                  <a:pt x="0" y="422456"/>
                </a:lnTo>
                <a:lnTo>
                  <a:pt x="6396" y="428853"/>
                </a:lnTo>
                <a:lnTo>
                  <a:pt x="22178" y="428853"/>
                </a:lnTo>
                <a:lnTo>
                  <a:pt x="28575" y="422456"/>
                </a:lnTo>
                <a:lnTo>
                  <a:pt x="28575" y="406646"/>
                </a:lnTo>
                <a:lnTo>
                  <a:pt x="22178" y="400249"/>
                </a:lnTo>
                <a:close/>
              </a:path>
              <a:path w="28575" h="3402329">
                <a:moveTo>
                  <a:pt x="22178" y="457428"/>
                </a:moveTo>
                <a:lnTo>
                  <a:pt x="6396" y="457428"/>
                </a:lnTo>
                <a:lnTo>
                  <a:pt x="1" y="463824"/>
                </a:lnTo>
                <a:lnTo>
                  <a:pt x="0" y="479634"/>
                </a:lnTo>
                <a:lnTo>
                  <a:pt x="6396" y="486031"/>
                </a:lnTo>
                <a:lnTo>
                  <a:pt x="22178" y="486031"/>
                </a:lnTo>
                <a:lnTo>
                  <a:pt x="28575" y="479634"/>
                </a:lnTo>
                <a:lnTo>
                  <a:pt x="28575" y="463824"/>
                </a:lnTo>
                <a:lnTo>
                  <a:pt x="22178" y="457428"/>
                </a:lnTo>
                <a:close/>
              </a:path>
              <a:path w="28575" h="3402329">
                <a:moveTo>
                  <a:pt x="22178" y="514606"/>
                </a:moveTo>
                <a:lnTo>
                  <a:pt x="6396" y="514606"/>
                </a:lnTo>
                <a:lnTo>
                  <a:pt x="0" y="521003"/>
                </a:lnTo>
                <a:lnTo>
                  <a:pt x="0" y="536813"/>
                </a:lnTo>
                <a:lnTo>
                  <a:pt x="6396" y="543210"/>
                </a:lnTo>
                <a:lnTo>
                  <a:pt x="22178" y="543210"/>
                </a:lnTo>
                <a:lnTo>
                  <a:pt x="28575" y="536813"/>
                </a:lnTo>
                <a:lnTo>
                  <a:pt x="28575" y="521003"/>
                </a:lnTo>
                <a:lnTo>
                  <a:pt x="22178" y="514606"/>
                </a:lnTo>
                <a:close/>
              </a:path>
              <a:path w="28575" h="3402329">
                <a:moveTo>
                  <a:pt x="22178" y="571785"/>
                </a:moveTo>
                <a:lnTo>
                  <a:pt x="6396" y="571785"/>
                </a:lnTo>
                <a:lnTo>
                  <a:pt x="0" y="578181"/>
                </a:lnTo>
                <a:lnTo>
                  <a:pt x="0" y="593991"/>
                </a:lnTo>
                <a:lnTo>
                  <a:pt x="6396" y="600388"/>
                </a:lnTo>
                <a:lnTo>
                  <a:pt x="22178" y="600388"/>
                </a:lnTo>
                <a:lnTo>
                  <a:pt x="28575" y="593991"/>
                </a:lnTo>
                <a:lnTo>
                  <a:pt x="28575" y="578181"/>
                </a:lnTo>
                <a:lnTo>
                  <a:pt x="22178" y="571785"/>
                </a:lnTo>
                <a:close/>
              </a:path>
              <a:path w="28575" h="3402329">
                <a:moveTo>
                  <a:pt x="22178" y="628963"/>
                </a:moveTo>
                <a:lnTo>
                  <a:pt x="6396" y="628963"/>
                </a:lnTo>
                <a:lnTo>
                  <a:pt x="0" y="635360"/>
                </a:lnTo>
                <a:lnTo>
                  <a:pt x="0" y="651170"/>
                </a:lnTo>
                <a:lnTo>
                  <a:pt x="6396" y="657567"/>
                </a:lnTo>
                <a:lnTo>
                  <a:pt x="22178" y="657567"/>
                </a:lnTo>
                <a:lnTo>
                  <a:pt x="28575" y="651170"/>
                </a:lnTo>
                <a:lnTo>
                  <a:pt x="28575" y="635360"/>
                </a:lnTo>
                <a:lnTo>
                  <a:pt x="22178" y="628963"/>
                </a:lnTo>
                <a:close/>
              </a:path>
              <a:path w="28575" h="3402329">
                <a:moveTo>
                  <a:pt x="22178" y="686142"/>
                </a:moveTo>
                <a:lnTo>
                  <a:pt x="6396" y="686142"/>
                </a:lnTo>
                <a:lnTo>
                  <a:pt x="0" y="692538"/>
                </a:lnTo>
                <a:lnTo>
                  <a:pt x="0" y="708348"/>
                </a:lnTo>
                <a:lnTo>
                  <a:pt x="6396" y="714745"/>
                </a:lnTo>
                <a:lnTo>
                  <a:pt x="22178" y="714745"/>
                </a:lnTo>
                <a:lnTo>
                  <a:pt x="28575" y="708348"/>
                </a:lnTo>
                <a:lnTo>
                  <a:pt x="28575" y="692538"/>
                </a:lnTo>
                <a:lnTo>
                  <a:pt x="22178" y="686142"/>
                </a:lnTo>
                <a:close/>
              </a:path>
              <a:path w="28575" h="3402329">
                <a:moveTo>
                  <a:pt x="22178" y="743320"/>
                </a:moveTo>
                <a:lnTo>
                  <a:pt x="6396" y="743320"/>
                </a:lnTo>
                <a:lnTo>
                  <a:pt x="0" y="749717"/>
                </a:lnTo>
                <a:lnTo>
                  <a:pt x="0" y="765528"/>
                </a:lnTo>
                <a:lnTo>
                  <a:pt x="6396" y="771925"/>
                </a:lnTo>
                <a:lnTo>
                  <a:pt x="22178" y="771925"/>
                </a:lnTo>
                <a:lnTo>
                  <a:pt x="28575" y="765528"/>
                </a:lnTo>
                <a:lnTo>
                  <a:pt x="28575" y="749717"/>
                </a:lnTo>
                <a:lnTo>
                  <a:pt x="22178" y="743320"/>
                </a:lnTo>
                <a:close/>
              </a:path>
              <a:path w="28575" h="3402329">
                <a:moveTo>
                  <a:pt x="22178" y="800500"/>
                </a:moveTo>
                <a:lnTo>
                  <a:pt x="6396" y="800500"/>
                </a:lnTo>
                <a:lnTo>
                  <a:pt x="0" y="806895"/>
                </a:lnTo>
                <a:lnTo>
                  <a:pt x="0" y="822706"/>
                </a:lnTo>
                <a:lnTo>
                  <a:pt x="6396" y="829102"/>
                </a:lnTo>
                <a:lnTo>
                  <a:pt x="22178" y="829102"/>
                </a:lnTo>
                <a:lnTo>
                  <a:pt x="28575" y="822706"/>
                </a:lnTo>
                <a:lnTo>
                  <a:pt x="28575" y="806895"/>
                </a:lnTo>
                <a:lnTo>
                  <a:pt x="22178" y="800500"/>
                </a:lnTo>
                <a:close/>
              </a:path>
              <a:path w="28575" h="3402329">
                <a:moveTo>
                  <a:pt x="22178" y="857677"/>
                </a:moveTo>
                <a:lnTo>
                  <a:pt x="6396" y="857677"/>
                </a:lnTo>
                <a:lnTo>
                  <a:pt x="0" y="864074"/>
                </a:lnTo>
                <a:lnTo>
                  <a:pt x="0" y="879885"/>
                </a:lnTo>
                <a:lnTo>
                  <a:pt x="6396" y="886282"/>
                </a:lnTo>
                <a:lnTo>
                  <a:pt x="22178" y="886282"/>
                </a:lnTo>
                <a:lnTo>
                  <a:pt x="28575" y="879885"/>
                </a:lnTo>
                <a:lnTo>
                  <a:pt x="28575" y="864074"/>
                </a:lnTo>
                <a:lnTo>
                  <a:pt x="22178" y="857677"/>
                </a:lnTo>
                <a:close/>
              </a:path>
              <a:path w="28575" h="3402329">
                <a:moveTo>
                  <a:pt x="22178" y="914857"/>
                </a:moveTo>
                <a:lnTo>
                  <a:pt x="6396" y="914857"/>
                </a:lnTo>
                <a:lnTo>
                  <a:pt x="0" y="921252"/>
                </a:lnTo>
                <a:lnTo>
                  <a:pt x="0" y="937063"/>
                </a:lnTo>
                <a:lnTo>
                  <a:pt x="6396" y="943460"/>
                </a:lnTo>
                <a:lnTo>
                  <a:pt x="22178" y="943460"/>
                </a:lnTo>
                <a:lnTo>
                  <a:pt x="28575" y="937063"/>
                </a:lnTo>
                <a:lnTo>
                  <a:pt x="28575" y="921252"/>
                </a:lnTo>
                <a:lnTo>
                  <a:pt x="22178" y="914857"/>
                </a:lnTo>
                <a:close/>
              </a:path>
              <a:path w="28575" h="3402329">
                <a:moveTo>
                  <a:pt x="22178" y="972035"/>
                </a:moveTo>
                <a:lnTo>
                  <a:pt x="6396" y="972035"/>
                </a:lnTo>
                <a:lnTo>
                  <a:pt x="0" y="978432"/>
                </a:lnTo>
                <a:lnTo>
                  <a:pt x="0" y="994242"/>
                </a:lnTo>
                <a:lnTo>
                  <a:pt x="6396" y="1000639"/>
                </a:lnTo>
                <a:lnTo>
                  <a:pt x="22178" y="1000639"/>
                </a:lnTo>
                <a:lnTo>
                  <a:pt x="28575" y="994242"/>
                </a:lnTo>
                <a:lnTo>
                  <a:pt x="28575" y="978432"/>
                </a:lnTo>
                <a:lnTo>
                  <a:pt x="22178" y="972035"/>
                </a:lnTo>
                <a:close/>
              </a:path>
              <a:path w="28575" h="3402329">
                <a:moveTo>
                  <a:pt x="22178" y="1029214"/>
                </a:moveTo>
                <a:lnTo>
                  <a:pt x="6396" y="1029214"/>
                </a:lnTo>
                <a:lnTo>
                  <a:pt x="0" y="1035610"/>
                </a:lnTo>
                <a:lnTo>
                  <a:pt x="0" y="1051420"/>
                </a:lnTo>
                <a:lnTo>
                  <a:pt x="6396" y="1057817"/>
                </a:lnTo>
                <a:lnTo>
                  <a:pt x="22178" y="1057817"/>
                </a:lnTo>
                <a:lnTo>
                  <a:pt x="28575" y="1051420"/>
                </a:lnTo>
                <a:lnTo>
                  <a:pt x="28575" y="1035610"/>
                </a:lnTo>
                <a:lnTo>
                  <a:pt x="22178" y="1029214"/>
                </a:lnTo>
                <a:close/>
              </a:path>
              <a:path w="28575" h="3402329">
                <a:moveTo>
                  <a:pt x="22178" y="1086392"/>
                </a:moveTo>
                <a:lnTo>
                  <a:pt x="6396" y="1086392"/>
                </a:lnTo>
                <a:lnTo>
                  <a:pt x="0" y="1092789"/>
                </a:lnTo>
                <a:lnTo>
                  <a:pt x="0" y="1108599"/>
                </a:lnTo>
                <a:lnTo>
                  <a:pt x="6396" y="1114996"/>
                </a:lnTo>
                <a:lnTo>
                  <a:pt x="22178" y="1114996"/>
                </a:lnTo>
                <a:lnTo>
                  <a:pt x="28575" y="1108599"/>
                </a:lnTo>
                <a:lnTo>
                  <a:pt x="28575" y="1092789"/>
                </a:lnTo>
                <a:lnTo>
                  <a:pt x="22178" y="1086392"/>
                </a:lnTo>
                <a:close/>
              </a:path>
              <a:path w="28575" h="3402329">
                <a:moveTo>
                  <a:pt x="22178" y="1143571"/>
                </a:moveTo>
                <a:lnTo>
                  <a:pt x="6396" y="1143571"/>
                </a:lnTo>
                <a:lnTo>
                  <a:pt x="0" y="1149967"/>
                </a:lnTo>
                <a:lnTo>
                  <a:pt x="0" y="1165777"/>
                </a:lnTo>
                <a:lnTo>
                  <a:pt x="6396" y="1172174"/>
                </a:lnTo>
                <a:lnTo>
                  <a:pt x="22178" y="1172174"/>
                </a:lnTo>
                <a:lnTo>
                  <a:pt x="28575" y="1165777"/>
                </a:lnTo>
                <a:lnTo>
                  <a:pt x="28575" y="1149967"/>
                </a:lnTo>
                <a:lnTo>
                  <a:pt x="22178" y="1143571"/>
                </a:lnTo>
                <a:close/>
              </a:path>
              <a:path w="28575" h="3402329">
                <a:moveTo>
                  <a:pt x="22178" y="1200749"/>
                </a:moveTo>
                <a:lnTo>
                  <a:pt x="6396" y="1200749"/>
                </a:lnTo>
                <a:lnTo>
                  <a:pt x="0" y="1207146"/>
                </a:lnTo>
                <a:lnTo>
                  <a:pt x="0" y="1222956"/>
                </a:lnTo>
                <a:lnTo>
                  <a:pt x="6396" y="1229353"/>
                </a:lnTo>
                <a:lnTo>
                  <a:pt x="22178" y="1229353"/>
                </a:lnTo>
                <a:lnTo>
                  <a:pt x="28575" y="1222956"/>
                </a:lnTo>
                <a:lnTo>
                  <a:pt x="28575" y="1207146"/>
                </a:lnTo>
                <a:lnTo>
                  <a:pt x="22178" y="1200749"/>
                </a:lnTo>
                <a:close/>
              </a:path>
              <a:path w="28575" h="3402329">
                <a:moveTo>
                  <a:pt x="22178" y="1257928"/>
                </a:moveTo>
                <a:lnTo>
                  <a:pt x="6396" y="1257928"/>
                </a:lnTo>
                <a:lnTo>
                  <a:pt x="0" y="1264324"/>
                </a:lnTo>
                <a:lnTo>
                  <a:pt x="0" y="1280134"/>
                </a:lnTo>
                <a:lnTo>
                  <a:pt x="6396" y="1286531"/>
                </a:lnTo>
                <a:lnTo>
                  <a:pt x="22178" y="1286531"/>
                </a:lnTo>
                <a:lnTo>
                  <a:pt x="28575" y="1280134"/>
                </a:lnTo>
                <a:lnTo>
                  <a:pt x="28575" y="1264324"/>
                </a:lnTo>
                <a:lnTo>
                  <a:pt x="22178" y="1257928"/>
                </a:lnTo>
                <a:close/>
              </a:path>
              <a:path w="28575" h="3402329">
                <a:moveTo>
                  <a:pt x="22178" y="1315106"/>
                </a:moveTo>
                <a:lnTo>
                  <a:pt x="6396" y="1315106"/>
                </a:lnTo>
                <a:lnTo>
                  <a:pt x="0" y="1321503"/>
                </a:lnTo>
                <a:lnTo>
                  <a:pt x="0" y="1337313"/>
                </a:lnTo>
                <a:lnTo>
                  <a:pt x="6396" y="1343710"/>
                </a:lnTo>
                <a:lnTo>
                  <a:pt x="22178" y="1343710"/>
                </a:lnTo>
                <a:lnTo>
                  <a:pt x="28575" y="1337313"/>
                </a:lnTo>
                <a:lnTo>
                  <a:pt x="28575" y="1321503"/>
                </a:lnTo>
                <a:lnTo>
                  <a:pt x="22178" y="1315106"/>
                </a:lnTo>
                <a:close/>
              </a:path>
              <a:path w="28575" h="3402329">
                <a:moveTo>
                  <a:pt x="22178" y="1372285"/>
                </a:moveTo>
                <a:lnTo>
                  <a:pt x="6396" y="1372285"/>
                </a:lnTo>
                <a:lnTo>
                  <a:pt x="0" y="1378681"/>
                </a:lnTo>
                <a:lnTo>
                  <a:pt x="0" y="1394491"/>
                </a:lnTo>
                <a:lnTo>
                  <a:pt x="6396" y="1400888"/>
                </a:lnTo>
                <a:lnTo>
                  <a:pt x="22178" y="1400888"/>
                </a:lnTo>
                <a:lnTo>
                  <a:pt x="28575" y="1394491"/>
                </a:lnTo>
                <a:lnTo>
                  <a:pt x="28575" y="1378681"/>
                </a:lnTo>
                <a:lnTo>
                  <a:pt x="22178" y="1372285"/>
                </a:lnTo>
                <a:close/>
              </a:path>
              <a:path w="28575" h="3402329">
                <a:moveTo>
                  <a:pt x="22178" y="1429463"/>
                </a:moveTo>
                <a:lnTo>
                  <a:pt x="6396" y="1429463"/>
                </a:lnTo>
                <a:lnTo>
                  <a:pt x="0" y="1435860"/>
                </a:lnTo>
                <a:lnTo>
                  <a:pt x="0" y="1451670"/>
                </a:lnTo>
                <a:lnTo>
                  <a:pt x="6396" y="1458067"/>
                </a:lnTo>
                <a:lnTo>
                  <a:pt x="22178" y="1458067"/>
                </a:lnTo>
                <a:lnTo>
                  <a:pt x="28575" y="1451670"/>
                </a:lnTo>
                <a:lnTo>
                  <a:pt x="28575" y="1435860"/>
                </a:lnTo>
                <a:lnTo>
                  <a:pt x="22178" y="1429463"/>
                </a:lnTo>
                <a:close/>
              </a:path>
              <a:path w="28575" h="3402329">
                <a:moveTo>
                  <a:pt x="22178" y="1486642"/>
                </a:moveTo>
                <a:lnTo>
                  <a:pt x="6396" y="1486642"/>
                </a:lnTo>
                <a:lnTo>
                  <a:pt x="0" y="1493039"/>
                </a:lnTo>
                <a:lnTo>
                  <a:pt x="0" y="1508848"/>
                </a:lnTo>
                <a:lnTo>
                  <a:pt x="6396" y="1515245"/>
                </a:lnTo>
                <a:lnTo>
                  <a:pt x="22178" y="1515245"/>
                </a:lnTo>
                <a:lnTo>
                  <a:pt x="28575" y="1508848"/>
                </a:lnTo>
                <a:lnTo>
                  <a:pt x="28575" y="1493039"/>
                </a:lnTo>
                <a:lnTo>
                  <a:pt x="22178" y="1486642"/>
                </a:lnTo>
                <a:close/>
              </a:path>
              <a:path w="28575" h="3402329">
                <a:moveTo>
                  <a:pt x="22178" y="1543820"/>
                </a:moveTo>
                <a:lnTo>
                  <a:pt x="6396" y="1543820"/>
                </a:lnTo>
                <a:lnTo>
                  <a:pt x="0" y="1550217"/>
                </a:lnTo>
                <a:lnTo>
                  <a:pt x="0" y="1566028"/>
                </a:lnTo>
                <a:lnTo>
                  <a:pt x="6396" y="1572425"/>
                </a:lnTo>
                <a:lnTo>
                  <a:pt x="22178" y="1572425"/>
                </a:lnTo>
                <a:lnTo>
                  <a:pt x="28575" y="1566028"/>
                </a:lnTo>
                <a:lnTo>
                  <a:pt x="28575" y="1550217"/>
                </a:lnTo>
                <a:lnTo>
                  <a:pt x="22178" y="1543820"/>
                </a:lnTo>
                <a:close/>
              </a:path>
              <a:path w="28575" h="3402329">
                <a:moveTo>
                  <a:pt x="22178" y="1601000"/>
                </a:moveTo>
                <a:lnTo>
                  <a:pt x="6396" y="1601000"/>
                </a:lnTo>
                <a:lnTo>
                  <a:pt x="0" y="1607397"/>
                </a:lnTo>
                <a:lnTo>
                  <a:pt x="0" y="1623207"/>
                </a:lnTo>
                <a:lnTo>
                  <a:pt x="6396" y="1629603"/>
                </a:lnTo>
                <a:lnTo>
                  <a:pt x="22178" y="1629603"/>
                </a:lnTo>
                <a:lnTo>
                  <a:pt x="28575" y="1623207"/>
                </a:lnTo>
                <a:lnTo>
                  <a:pt x="28575" y="1607397"/>
                </a:lnTo>
                <a:lnTo>
                  <a:pt x="22178" y="1601000"/>
                </a:lnTo>
                <a:close/>
              </a:path>
              <a:path w="28575" h="3402329">
                <a:moveTo>
                  <a:pt x="22178" y="1658178"/>
                </a:moveTo>
                <a:lnTo>
                  <a:pt x="6396" y="1658178"/>
                </a:lnTo>
                <a:lnTo>
                  <a:pt x="0" y="1664575"/>
                </a:lnTo>
                <a:lnTo>
                  <a:pt x="0" y="1680385"/>
                </a:lnTo>
                <a:lnTo>
                  <a:pt x="6396" y="1686782"/>
                </a:lnTo>
                <a:lnTo>
                  <a:pt x="22178" y="1686782"/>
                </a:lnTo>
                <a:lnTo>
                  <a:pt x="28575" y="1680385"/>
                </a:lnTo>
                <a:lnTo>
                  <a:pt x="28575" y="1664575"/>
                </a:lnTo>
                <a:lnTo>
                  <a:pt x="22178" y="1658178"/>
                </a:lnTo>
                <a:close/>
              </a:path>
              <a:path w="28575" h="3402329">
                <a:moveTo>
                  <a:pt x="22178" y="1715357"/>
                </a:moveTo>
                <a:lnTo>
                  <a:pt x="6396" y="1715357"/>
                </a:lnTo>
                <a:lnTo>
                  <a:pt x="0" y="1721754"/>
                </a:lnTo>
                <a:lnTo>
                  <a:pt x="0" y="1737564"/>
                </a:lnTo>
                <a:lnTo>
                  <a:pt x="6396" y="1743960"/>
                </a:lnTo>
                <a:lnTo>
                  <a:pt x="22178" y="1743960"/>
                </a:lnTo>
                <a:lnTo>
                  <a:pt x="28575" y="1737564"/>
                </a:lnTo>
                <a:lnTo>
                  <a:pt x="28575" y="1721754"/>
                </a:lnTo>
                <a:lnTo>
                  <a:pt x="22178" y="1715357"/>
                </a:lnTo>
                <a:close/>
              </a:path>
              <a:path w="28575" h="3402329">
                <a:moveTo>
                  <a:pt x="22178" y="1772535"/>
                </a:moveTo>
                <a:lnTo>
                  <a:pt x="6396" y="1772535"/>
                </a:lnTo>
                <a:lnTo>
                  <a:pt x="0" y="1778932"/>
                </a:lnTo>
                <a:lnTo>
                  <a:pt x="0" y="1794742"/>
                </a:lnTo>
                <a:lnTo>
                  <a:pt x="6396" y="1801139"/>
                </a:lnTo>
                <a:lnTo>
                  <a:pt x="22178" y="1801139"/>
                </a:lnTo>
                <a:lnTo>
                  <a:pt x="28575" y="1794742"/>
                </a:lnTo>
                <a:lnTo>
                  <a:pt x="28575" y="1778932"/>
                </a:lnTo>
                <a:lnTo>
                  <a:pt x="22178" y="1772535"/>
                </a:lnTo>
                <a:close/>
              </a:path>
              <a:path w="28575" h="3402329">
                <a:moveTo>
                  <a:pt x="22178" y="1829714"/>
                </a:moveTo>
                <a:lnTo>
                  <a:pt x="6396" y="1829714"/>
                </a:lnTo>
                <a:lnTo>
                  <a:pt x="0" y="1836111"/>
                </a:lnTo>
                <a:lnTo>
                  <a:pt x="0" y="1851921"/>
                </a:lnTo>
                <a:lnTo>
                  <a:pt x="6396" y="1858318"/>
                </a:lnTo>
                <a:lnTo>
                  <a:pt x="22178" y="1858318"/>
                </a:lnTo>
                <a:lnTo>
                  <a:pt x="28575" y="1851921"/>
                </a:lnTo>
                <a:lnTo>
                  <a:pt x="28575" y="1836111"/>
                </a:lnTo>
                <a:lnTo>
                  <a:pt x="22178" y="1829714"/>
                </a:lnTo>
                <a:close/>
              </a:path>
              <a:path w="28575" h="3402329">
                <a:moveTo>
                  <a:pt x="22178" y="1886892"/>
                </a:moveTo>
                <a:lnTo>
                  <a:pt x="6396" y="1886892"/>
                </a:lnTo>
                <a:lnTo>
                  <a:pt x="0" y="1893289"/>
                </a:lnTo>
                <a:lnTo>
                  <a:pt x="0" y="1909099"/>
                </a:lnTo>
                <a:lnTo>
                  <a:pt x="6396" y="1915496"/>
                </a:lnTo>
                <a:lnTo>
                  <a:pt x="22178" y="1915496"/>
                </a:lnTo>
                <a:lnTo>
                  <a:pt x="28575" y="1909099"/>
                </a:lnTo>
                <a:lnTo>
                  <a:pt x="28575" y="1893289"/>
                </a:lnTo>
                <a:lnTo>
                  <a:pt x="22178" y="1886892"/>
                </a:lnTo>
                <a:close/>
              </a:path>
              <a:path w="28575" h="3402329">
                <a:moveTo>
                  <a:pt x="22178" y="1944071"/>
                </a:moveTo>
                <a:lnTo>
                  <a:pt x="6396" y="1944071"/>
                </a:lnTo>
                <a:lnTo>
                  <a:pt x="0" y="1950468"/>
                </a:lnTo>
                <a:lnTo>
                  <a:pt x="0" y="1966278"/>
                </a:lnTo>
                <a:lnTo>
                  <a:pt x="6396" y="1972674"/>
                </a:lnTo>
                <a:lnTo>
                  <a:pt x="22178" y="1972674"/>
                </a:lnTo>
                <a:lnTo>
                  <a:pt x="28575" y="1966278"/>
                </a:lnTo>
                <a:lnTo>
                  <a:pt x="28575" y="1950468"/>
                </a:lnTo>
                <a:lnTo>
                  <a:pt x="22178" y="1944071"/>
                </a:lnTo>
                <a:close/>
              </a:path>
              <a:path w="28575" h="3402329">
                <a:moveTo>
                  <a:pt x="22179" y="2001249"/>
                </a:moveTo>
                <a:lnTo>
                  <a:pt x="6396" y="2001249"/>
                </a:lnTo>
                <a:lnTo>
                  <a:pt x="0" y="2007646"/>
                </a:lnTo>
                <a:lnTo>
                  <a:pt x="0" y="2023456"/>
                </a:lnTo>
                <a:lnTo>
                  <a:pt x="6396" y="2029853"/>
                </a:lnTo>
                <a:lnTo>
                  <a:pt x="22179" y="2029853"/>
                </a:lnTo>
                <a:lnTo>
                  <a:pt x="28575" y="2023456"/>
                </a:lnTo>
                <a:lnTo>
                  <a:pt x="28575" y="2007646"/>
                </a:lnTo>
                <a:lnTo>
                  <a:pt x="22179" y="2001249"/>
                </a:lnTo>
                <a:close/>
              </a:path>
              <a:path w="28575" h="3402329">
                <a:moveTo>
                  <a:pt x="22179" y="2058428"/>
                </a:moveTo>
                <a:lnTo>
                  <a:pt x="6396" y="2058428"/>
                </a:lnTo>
                <a:lnTo>
                  <a:pt x="0" y="2064825"/>
                </a:lnTo>
                <a:lnTo>
                  <a:pt x="0" y="2080635"/>
                </a:lnTo>
                <a:lnTo>
                  <a:pt x="6396" y="2087031"/>
                </a:lnTo>
                <a:lnTo>
                  <a:pt x="22179" y="2087031"/>
                </a:lnTo>
                <a:lnTo>
                  <a:pt x="28575" y="2080635"/>
                </a:lnTo>
                <a:lnTo>
                  <a:pt x="28575" y="2064825"/>
                </a:lnTo>
                <a:lnTo>
                  <a:pt x="22179" y="2058428"/>
                </a:lnTo>
                <a:close/>
              </a:path>
              <a:path w="28575" h="3402329">
                <a:moveTo>
                  <a:pt x="22179" y="2115606"/>
                </a:moveTo>
                <a:lnTo>
                  <a:pt x="6396" y="2115606"/>
                </a:lnTo>
                <a:lnTo>
                  <a:pt x="0" y="2122003"/>
                </a:lnTo>
                <a:lnTo>
                  <a:pt x="0" y="2137813"/>
                </a:lnTo>
                <a:lnTo>
                  <a:pt x="6396" y="2144210"/>
                </a:lnTo>
                <a:lnTo>
                  <a:pt x="22179" y="2144210"/>
                </a:lnTo>
                <a:lnTo>
                  <a:pt x="28575" y="2137813"/>
                </a:lnTo>
                <a:lnTo>
                  <a:pt x="28575" y="2122003"/>
                </a:lnTo>
                <a:lnTo>
                  <a:pt x="22179" y="2115606"/>
                </a:lnTo>
                <a:close/>
              </a:path>
              <a:path w="28575" h="3402329">
                <a:moveTo>
                  <a:pt x="22179" y="2172785"/>
                </a:moveTo>
                <a:lnTo>
                  <a:pt x="6396" y="2172785"/>
                </a:lnTo>
                <a:lnTo>
                  <a:pt x="0" y="2179182"/>
                </a:lnTo>
                <a:lnTo>
                  <a:pt x="0" y="2194991"/>
                </a:lnTo>
                <a:lnTo>
                  <a:pt x="6396" y="2201388"/>
                </a:lnTo>
                <a:lnTo>
                  <a:pt x="22179" y="2201388"/>
                </a:lnTo>
                <a:lnTo>
                  <a:pt x="28575" y="2194991"/>
                </a:lnTo>
                <a:lnTo>
                  <a:pt x="28575" y="2179182"/>
                </a:lnTo>
                <a:lnTo>
                  <a:pt x="22179" y="2172785"/>
                </a:lnTo>
                <a:close/>
              </a:path>
              <a:path w="28575" h="3402329">
                <a:moveTo>
                  <a:pt x="22179" y="2229963"/>
                </a:moveTo>
                <a:lnTo>
                  <a:pt x="6396" y="2229963"/>
                </a:lnTo>
                <a:lnTo>
                  <a:pt x="0" y="2236360"/>
                </a:lnTo>
                <a:lnTo>
                  <a:pt x="0" y="2252171"/>
                </a:lnTo>
                <a:lnTo>
                  <a:pt x="6396" y="2258568"/>
                </a:lnTo>
                <a:lnTo>
                  <a:pt x="22179" y="2258568"/>
                </a:lnTo>
                <a:lnTo>
                  <a:pt x="28575" y="2252171"/>
                </a:lnTo>
                <a:lnTo>
                  <a:pt x="28575" y="2236360"/>
                </a:lnTo>
                <a:lnTo>
                  <a:pt x="22179" y="2229963"/>
                </a:lnTo>
                <a:close/>
              </a:path>
              <a:path w="28575" h="3402329">
                <a:moveTo>
                  <a:pt x="22179" y="2287143"/>
                </a:moveTo>
                <a:lnTo>
                  <a:pt x="6396" y="2287143"/>
                </a:lnTo>
                <a:lnTo>
                  <a:pt x="0" y="2293538"/>
                </a:lnTo>
                <a:lnTo>
                  <a:pt x="0" y="2309348"/>
                </a:lnTo>
                <a:lnTo>
                  <a:pt x="6396" y="2315745"/>
                </a:lnTo>
                <a:lnTo>
                  <a:pt x="22179" y="2315745"/>
                </a:lnTo>
                <a:lnTo>
                  <a:pt x="28575" y="2309348"/>
                </a:lnTo>
                <a:lnTo>
                  <a:pt x="28575" y="2293538"/>
                </a:lnTo>
                <a:lnTo>
                  <a:pt x="22179" y="2287143"/>
                </a:lnTo>
                <a:close/>
              </a:path>
              <a:path w="28575" h="3402329">
                <a:moveTo>
                  <a:pt x="22179" y="2344320"/>
                </a:moveTo>
                <a:lnTo>
                  <a:pt x="6396" y="2344320"/>
                </a:lnTo>
                <a:lnTo>
                  <a:pt x="0" y="2350717"/>
                </a:lnTo>
                <a:lnTo>
                  <a:pt x="0" y="2366528"/>
                </a:lnTo>
                <a:lnTo>
                  <a:pt x="6396" y="2372925"/>
                </a:lnTo>
                <a:lnTo>
                  <a:pt x="22179" y="2372925"/>
                </a:lnTo>
                <a:lnTo>
                  <a:pt x="28575" y="2366528"/>
                </a:lnTo>
                <a:lnTo>
                  <a:pt x="28575" y="2350717"/>
                </a:lnTo>
                <a:lnTo>
                  <a:pt x="22179" y="2344320"/>
                </a:lnTo>
                <a:close/>
              </a:path>
              <a:path w="28575" h="3402329">
                <a:moveTo>
                  <a:pt x="22179" y="2401500"/>
                </a:moveTo>
                <a:lnTo>
                  <a:pt x="6396" y="2401500"/>
                </a:lnTo>
                <a:lnTo>
                  <a:pt x="0" y="2407895"/>
                </a:lnTo>
                <a:lnTo>
                  <a:pt x="0" y="2423706"/>
                </a:lnTo>
                <a:lnTo>
                  <a:pt x="6396" y="2430103"/>
                </a:lnTo>
                <a:lnTo>
                  <a:pt x="22179" y="2430103"/>
                </a:lnTo>
                <a:lnTo>
                  <a:pt x="28575" y="2423706"/>
                </a:lnTo>
                <a:lnTo>
                  <a:pt x="28575" y="2407895"/>
                </a:lnTo>
                <a:lnTo>
                  <a:pt x="22179" y="2401500"/>
                </a:lnTo>
                <a:close/>
              </a:path>
              <a:path w="28575" h="3402329">
                <a:moveTo>
                  <a:pt x="22179" y="2458678"/>
                </a:moveTo>
                <a:lnTo>
                  <a:pt x="6396" y="2458678"/>
                </a:lnTo>
                <a:lnTo>
                  <a:pt x="0" y="2465075"/>
                </a:lnTo>
                <a:lnTo>
                  <a:pt x="0" y="2480885"/>
                </a:lnTo>
                <a:lnTo>
                  <a:pt x="6396" y="2487281"/>
                </a:lnTo>
                <a:lnTo>
                  <a:pt x="22179" y="2487281"/>
                </a:lnTo>
                <a:lnTo>
                  <a:pt x="28575" y="2480885"/>
                </a:lnTo>
                <a:lnTo>
                  <a:pt x="28575" y="2465075"/>
                </a:lnTo>
                <a:lnTo>
                  <a:pt x="22179" y="2458678"/>
                </a:lnTo>
                <a:close/>
              </a:path>
              <a:path w="28575" h="3402329">
                <a:moveTo>
                  <a:pt x="22179" y="2515856"/>
                </a:moveTo>
                <a:lnTo>
                  <a:pt x="6396" y="2515856"/>
                </a:lnTo>
                <a:lnTo>
                  <a:pt x="0" y="2522253"/>
                </a:lnTo>
                <a:lnTo>
                  <a:pt x="0" y="2538063"/>
                </a:lnTo>
                <a:lnTo>
                  <a:pt x="6396" y="2544460"/>
                </a:lnTo>
                <a:lnTo>
                  <a:pt x="22179" y="2544460"/>
                </a:lnTo>
                <a:lnTo>
                  <a:pt x="28575" y="2538063"/>
                </a:lnTo>
                <a:lnTo>
                  <a:pt x="28575" y="2522253"/>
                </a:lnTo>
                <a:lnTo>
                  <a:pt x="22179" y="2515856"/>
                </a:lnTo>
                <a:close/>
              </a:path>
              <a:path w="28575" h="3402329">
                <a:moveTo>
                  <a:pt x="22179" y="2573035"/>
                </a:moveTo>
                <a:lnTo>
                  <a:pt x="6396" y="2573035"/>
                </a:lnTo>
                <a:lnTo>
                  <a:pt x="0" y="2579431"/>
                </a:lnTo>
                <a:lnTo>
                  <a:pt x="0" y="2595241"/>
                </a:lnTo>
                <a:lnTo>
                  <a:pt x="6396" y="2601638"/>
                </a:lnTo>
                <a:lnTo>
                  <a:pt x="22179" y="2601638"/>
                </a:lnTo>
                <a:lnTo>
                  <a:pt x="28575" y="2595241"/>
                </a:lnTo>
                <a:lnTo>
                  <a:pt x="28575" y="2579431"/>
                </a:lnTo>
                <a:lnTo>
                  <a:pt x="22179" y="2573035"/>
                </a:lnTo>
                <a:close/>
              </a:path>
              <a:path w="28575" h="3402329">
                <a:moveTo>
                  <a:pt x="22179" y="2630213"/>
                </a:moveTo>
                <a:lnTo>
                  <a:pt x="6396" y="2630213"/>
                </a:lnTo>
                <a:lnTo>
                  <a:pt x="0" y="2636610"/>
                </a:lnTo>
                <a:lnTo>
                  <a:pt x="0" y="2652420"/>
                </a:lnTo>
                <a:lnTo>
                  <a:pt x="6396" y="2658817"/>
                </a:lnTo>
                <a:lnTo>
                  <a:pt x="22179" y="2658817"/>
                </a:lnTo>
                <a:lnTo>
                  <a:pt x="28575" y="2652420"/>
                </a:lnTo>
                <a:lnTo>
                  <a:pt x="28575" y="2636610"/>
                </a:lnTo>
                <a:lnTo>
                  <a:pt x="22179" y="2630213"/>
                </a:lnTo>
                <a:close/>
              </a:path>
              <a:path w="28575" h="3402329">
                <a:moveTo>
                  <a:pt x="22179" y="2687392"/>
                </a:moveTo>
                <a:lnTo>
                  <a:pt x="6396" y="2687392"/>
                </a:lnTo>
                <a:lnTo>
                  <a:pt x="0" y="2693788"/>
                </a:lnTo>
                <a:lnTo>
                  <a:pt x="0" y="2709598"/>
                </a:lnTo>
                <a:lnTo>
                  <a:pt x="6396" y="2715995"/>
                </a:lnTo>
                <a:lnTo>
                  <a:pt x="22179" y="2715995"/>
                </a:lnTo>
                <a:lnTo>
                  <a:pt x="28575" y="2709598"/>
                </a:lnTo>
                <a:lnTo>
                  <a:pt x="28575" y="2693788"/>
                </a:lnTo>
                <a:lnTo>
                  <a:pt x="22179" y="2687392"/>
                </a:lnTo>
                <a:close/>
              </a:path>
              <a:path w="28575" h="3402329">
                <a:moveTo>
                  <a:pt x="22179" y="2744570"/>
                </a:moveTo>
                <a:lnTo>
                  <a:pt x="6396" y="2744570"/>
                </a:lnTo>
                <a:lnTo>
                  <a:pt x="0" y="2750967"/>
                </a:lnTo>
                <a:lnTo>
                  <a:pt x="0" y="2766777"/>
                </a:lnTo>
                <a:lnTo>
                  <a:pt x="6396" y="2773174"/>
                </a:lnTo>
                <a:lnTo>
                  <a:pt x="22179" y="2773174"/>
                </a:lnTo>
                <a:lnTo>
                  <a:pt x="28575" y="2766777"/>
                </a:lnTo>
                <a:lnTo>
                  <a:pt x="28575" y="2750967"/>
                </a:lnTo>
                <a:lnTo>
                  <a:pt x="22179" y="2744570"/>
                </a:lnTo>
                <a:close/>
              </a:path>
              <a:path w="28575" h="3402329">
                <a:moveTo>
                  <a:pt x="22179" y="2801749"/>
                </a:moveTo>
                <a:lnTo>
                  <a:pt x="6396" y="2801749"/>
                </a:lnTo>
                <a:lnTo>
                  <a:pt x="0" y="2808145"/>
                </a:lnTo>
                <a:lnTo>
                  <a:pt x="0" y="2823955"/>
                </a:lnTo>
                <a:lnTo>
                  <a:pt x="6396" y="2830352"/>
                </a:lnTo>
                <a:lnTo>
                  <a:pt x="22179" y="2830352"/>
                </a:lnTo>
                <a:lnTo>
                  <a:pt x="28575" y="2823955"/>
                </a:lnTo>
                <a:lnTo>
                  <a:pt x="28575" y="2808145"/>
                </a:lnTo>
                <a:lnTo>
                  <a:pt x="22179" y="2801749"/>
                </a:lnTo>
                <a:close/>
              </a:path>
              <a:path w="28575" h="3402329">
                <a:moveTo>
                  <a:pt x="22179" y="2858927"/>
                </a:moveTo>
                <a:lnTo>
                  <a:pt x="6396" y="2858927"/>
                </a:lnTo>
                <a:lnTo>
                  <a:pt x="1" y="2865324"/>
                </a:lnTo>
                <a:lnTo>
                  <a:pt x="1" y="2881134"/>
                </a:lnTo>
                <a:lnTo>
                  <a:pt x="6396" y="2887531"/>
                </a:lnTo>
                <a:lnTo>
                  <a:pt x="22179" y="2887531"/>
                </a:lnTo>
                <a:lnTo>
                  <a:pt x="28576" y="2881134"/>
                </a:lnTo>
                <a:lnTo>
                  <a:pt x="28575" y="2865324"/>
                </a:lnTo>
                <a:lnTo>
                  <a:pt x="22179" y="2858927"/>
                </a:lnTo>
                <a:close/>
              </a:path>
              <a:path w="28575" h="3402329">
                <a:moveTo>
                  <a:pt x="22179" y="2916106"/>
                </a:moveTo>
                <a:lnTo>
                  <a:pt x="6396" y="2916106"/>
                </a:lnTo>
                <a:lnTo>
                  <a:pt x="1" y="2922502"/>
                </a:lnTo>
                <a:lnTo>
                  <a:pt x="1" y="2938312"/>
                </a:lnTo>
                <a:lnTo>
                  <a:pt x="6396" y="2944709"/>
                </a:lnTo>
                <a:lnTo>
                  <a:pt x="22179" y="2944709"/>
                </a:lnTo>
                <a:lnTo>
                  <a:pt x="28576" y="2938312"/>
                </a:lnTo>
                <a:lnTo>
                  <a:pt x="28576" y="2922502"/>
                </a:lnTo>
                <a:lnTo>
                  <a:pt x="22179" y="2916106"/>
                </a:lnTo>
                <a:close/>
              </a:path>
              <a:path w="28575" h="3402329">
                <a:moveTo>
                  <a:pt x="22179" y="2973284"/>
                </a:moveTo>
                <a:lnTo>
                  <a:pt x="6396" y="2973284"/>
                </a:lnTo>
                <a:lnTo>
                  <a:pt x="1" y="2979681"/>
                </a:lnTo>
                <a:lnTo>
                  <a:pt x="1" y="2995491"/>
                </a:lnTo>
                <a:lnTo>
                  <a:pt x="6396" y="3001888"/>
                </a:lnTo>
                <a:lnTo>
                  <a:pt x="22179" y="3001888"/>
                </a:lnTo>
                <a:lnTo>
                  <a:pt x="28576" y="2995491"/>
                </a:lnTo>
                <a:lnTo>
                  <a:pt x="28576" y="2979681"/>
                </a:lnTo>
                <a:lnTo>
                  <a:pt x="22179" y="2973284"/>
                </a:lnTo>
                <a:close/>
              </a:path>
              <a:path w="28575" h="3402329">
                <a:moveTo>
                  <a:pt x="22179" y="3030463"/>
                </a:moveTo>
                <a:lnTo>
                  <a:pt x="6396" y="3030463"/>
                </a:lnTo>
                <a:lnTo>
                  <a:pt x="1" y="3036859"/>
                </a:lnTo>
                <a:lnTo>
                  <a:pt x="1" y="3052669"/>
                </a:lnTo>
                <a:lnTo>
                  <a:pt x="6396" y="3059066"/>
                </a:lnTo>
                <a:lnTo>
                  <a:pt x="22179" y="3059066"/>
                </a:lnTo>
                <a:lnTo>
                  <a:pt x="28576" y="3052669"/>
                </a:lnTo>
                <a:lnTo>
                  <a:pt x="28576" y="3036859"/>
                </a:lnTo>
                <a:lnTo>
                  <a:pt x="22179" y="3030463"/>
                </a:lnTo>
                <a:close/>
              </a:path>
              <a:path w="28575" h="3402329">
                <a:moveTo>
                  <a:pt x="22179" y="3087641"/>
                </a:moveTo>
                <a:lnTo>
                  <a:pt x="6396" y="3087641"/>
                </a:lnTo>
                <a:lnTo>
                  <a:pt x="1" y="3094038"/>
                </a:lnTo>
                <a:lnTo>
                  <a:pt x="1" y="3109848"/>
                </a:lnTo>
                <a:lnTo>
                  <a:pt x="6396" y="3116245"/>
                </a:lnTo>
                <a:lnTo>
                  <a:pt x="22179" y="3116245"/>
                </a:lnTo>
                <a:lnTo>
                  <a:pt x="28576" y="3109848"/>
                </a:lnTo>
                <a:lnTo>
                  <a:pt x="28576" y="3094038"/>
                </a:lnTo>
                <a:lnTo>
                  <a:pt x="22179" y="3087641"/>
                </a:lnTo>
                <a:close/>
              </a:path>
              <a:path w="28575" h="3402329">
                <a:moveTo>
                  <a:pt x="22179" y="3144820"/>
                </a:moveTo>
                <a:lnTo>
                  <a:pt x="6396" y="3144820"/>
                </a:lnTo>
                <a:lnTo>
                  <a:pt x="1" y="3151216"/>
                </a:lnTo>
                <a:lnTo>
                  <a:pt x="1" y="3167026"/>
                </a:lnTo>
                <a:lnTo>
                  <a:pt x="6396" y="3173423"/>
                </a:lnTo>
                <a:lnTo>
                  <a:pt x="22179" y="3173423"/>
                </a:lnTo>
                <a:lnTo>
                  <a:pt x="28576" y="3167026"/>
                </a:lnTo>
                <a:lnTo>
                  <a:pt x="28576" y="3151216"/>
                </a:lnTo>
                <a:lnTo>
                  <a:pt x="22179" y="3144820"/>
                </a:lnTo>
                <a:close/>
              </a:path>
              <a:path w="28575" h="3402329">
                <a:moveTo>
                  <a:pt x="22179" y="3201998"/>
                </a:moveTo>
                <a:lnTo>
                  <a:pt x="6396" y="3201998"/>
                </a:lnTo>
                <a:lnTo>
                  <a:pt x="1" y="3208395"/>
                </a:lnTo>
                <a:lnTo>
                  <a:pt x="1" y="3224205"/>
                </a:lnTo>
                <a:lnTo>
                  <a:pt x="6396" y="3230602"/>
                </a:lnTo>
                <a:lnTo>
                  <a:pt x="22179" y="3230602"/>
                </a:lnTo>
                <a:lnTo>
                  <a:pt x="28576" y="3224205"/>
                </a:lnTo>
                <a:lnTo>
                  <a:pt x="28576" y="3208395"/>
                </a:lnTo>
                <a:lnTo>
                  <a:pt x="22179" y="3201998"/>
                </a:lnTo>
                <a:close/>
              </a:path>
              <a:path w="28575" h="3402329">
                <a:moveTo>
                  <a:pt x="22179" y="3259177"/>
                </a:moveTo>
                <a:lnTo>
                  <a:pt x="6396" y="3259177"/>
                </a:lnTo>
                <a:lnTo>
                  <a:pt x="1" y="3265573"/>
                </a:lnTo>
                <a:lnTo>
                  <a:pt x="1" y="3281383"/>
                </a:lnTo>
                <a:lnTo>
                  <a:pt x="6396" y="3287780"/>
                </a:lnTo>
                <a:lnTo>
                  <a:pt x="22179" y="3287780"/>
                </a:lnTo>
                <a:lnTo>
                  <a:pt x="28576" y="3281383"/>
                </a:lnTo>
                <a:lnTo>
                  <a:pt x="28576" y="3265573"/>
                </a:lnTo>
                <a:lnTo>
                  <a:pt x="22179" y="3259177"/>
                </a:lnTo>
                <a:close/>
              </a:path>
              <a:path w="28575" h="3402329">
                <a:moveTo>
                  <a:pt x="22179" y="3316355"/>
                </a:moveTo>
                <a:lnTo>
                  <a:pt x="6396" y="3316355"/>
                </a:lnTo>
                <a:lnTo>
                  <a:pt x="1" y="3322752"/>
                </a:lnTo>
                <a:lnTo>
                  <a:pt x="1" y="3338562"/>
                </a:lnTo>
                <a:lnTo>
                  <a:pt x="6396" y="3344959"/>
                </a:lnTo>
                <a:lnTo>
                  <a:pt x="22179" y="3344959"/>
                </a:lnTo>
                <a:lnTo>
                  <a:pt x="28576" y="3338562"/>
                </a:lnTo>
                <a:lnTo>
                  <a:pt x="28576" y="3322752"/>
                </a:lnTo>
                <a:lnTo>
                  <a:pt x="22179" y="3316355"/>
                </a:lnTo>
                <a:close/>
              </a:path>
              <a:path w="28575" h="3402329">
                <a:moveTo>
                  <a:pt x="22179" y="3373534"/>
                </a:moveTo>
                <a:lnTo>
                  <a:pt x="6396" y="3373534"/>
                </a:lnTo>
                <a:lnTo>
                  <a:pt x="1" y="3379931"/>
                </a:lnTo>
                <a:lnTo>
                  <a:pt x="1" y="3395741"/>
                </a:lnTo>
                <a:lnTo>
                  <a:pt x="6396" y="3402138"/>
                </a:lnTo>
                <a:lnTo>
                  <a:pt x="22179" y="3402138"/>
                </a:lnTo>
                <a:lnTo>
                  <a:pt x="28576" y="3395741"/>
                </a:lnTo>
                <a:lnTo>
                  <a:pt x="28576" y="3379931"/>
                </a:lnTo>
                <a:lnTo>
                  <a:pt x="22179" y="33735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6453878" y="3169411"/>
            <a:ext cx="1907539" cy="12115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latin typeface="Calibri"/>
                <a:cs typeface="Calibri"/>
              </a:rPr>
              <a:t>The </a:t>
            </a:r>
            <a:r>
              <a:rPr dirty="0" sz="1800" spc="-10" b="1">
                <a:latin typeface="Calibri"/>
                <a:cs typeface="Calibri"/>
              </a:rPr>
              <a:t>computational  </a:t>
            </a:r>
            <a:r>
              <a:rPr dirty="0" sz="1800" spc="-15" b="1">
                <a:latin typeface="Calibri"/>
                <a:cs typeface="Calibri"/>
              </a:rPr>
              <a:t>graphs </a:t>
            </a:r>
            <a:r>
              <a:rPr dirty="0" sz="1800" spc="-10" b="1">
                <a:latin typeface="Calibri"/>
                <a:cs typeface="Calibri"/>
              </a:rPr>
              <a:t>for </a:t>
            </a:r>
            <a:r>
              <a:rPr dirty="0" sz="1800" spc="-5" b="1">
                <a:latin typeface="Calibri"/>
                <a:cs typeface="Calibri"/>
              </a:rPr>
              <a:t>node </a:t>
            </a:r>
            <a:r>
              <a:rPr dirty="0" sz="1800" spc="-5">
                <a:latin typeface="Cambria Math"/>
                <a:cs typeface="Cambria Math"/>
              </a:rPr>
              <a:t>𝒗</a:t>
            </a:r>
            <a:r>
              <a:rPr dirty="0" baseline="-17094" sz="1950" spc="-7">
                <a:latin typeface="Cambria Math"/>
                <a:cs typeface="Cambria Math"/>
              </a:rPr>
              <a:t>𝟏 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are 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always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same</a:t>
            </a:r>
            <a:endParaRPr sz="1800">
              <a:latin typeface="Calibri"/>
              <a:cs typeface="Calibri"/>
            </a:endParaRPr>
          </a:p>
          <a:p>
            <a:pPr algn="ctr" marR="39370">
              <a:lnSpc>
                <a:spcPct val="100000"/>
              </a:lnSpc>
              <a:spcBef>
                <a:spcPts val="1255"/>
              </a:spcBef>
            </a:pPr>
            <a:r>
              <a:rPr dirty="0" sz="1350" spc="300">
                <a:latin typeface="Cambria Math"/>
                <a:cs typeface="Cambria Math"/>
              </a:rPr>
              <a:t>!</a:t>
            </a:r>
            <a:r>
              <a:rPr dirty="0" baseline="-13888" sz="1500" spc="450">
                <a:latin typeface="Cambria Math"/>
                <a:cs typeface="Cambria Math"/>
              </a:rPr>
              <a:t>!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29"/>
              </a:lnSpc>
              <a:spcBef>
                <a:spcPts val="100"/>
              </a:spcBef>
            </a:pPr>
            <a:r>
              <a:rPr dirty="0" spc="-25"/>
              <a:t>Why </a:t>
            </a:r>
            <a:r>
              <a:rPr dirty="0" spc="-5"/>
              <a:t>do </a:t>
            </a:r>
            <a:r>
              <a:rPr dirty="0" spc="-15"/>
              <a:t>we </a:t>
            </a:r>
            <a:r>
              <a:rPr dirty="0" spc="-5"/>
              <a:t>need </a:t>
            </a:r>
            <a:r>
              <a:rPr dirty="0" spc="-20"/>
              <a:t>feature</a:t>
            </a:r>
            <a:r>
              <a:rPr dirty="0" spc="-25"/>
              <a:t> </a:t>
            </a:r>
            <a:r>
              <a:rPr dirty="0" spc="-10"/>
              <a:t>augmentation?</a:t>
            </a:r>
          </a:p>
          <a:p>
            <a:pPr marL="332740" indent="-320040">
              <a:lnSpc>
                <a:spcPts val="38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000000"/>
                </a:solidFill>
              </a:rPr>
              <a:t>(2) </a:t>
            </a:r>
            <a:r>
              <a:rPr dirty="0" spc="-5">
                <a:solidFill>
                  <a:srgbClr val="000000"/>
                </a:solidFill>
              </a:rPr>
              <a:t>Certain </a:t>
            </a:r>
            <a:r>
              <a:rPr dirty="0" spc="-10">
                <a:solidFill>
                  <a:srgbClr val="000000"/>
                </a:solidFill>
              </a:rPr>
              <a:t>structures </a:t>
            </a:r>
            <a:r>
              <a:rPr dirty="0" spc="-15">
                <a:solidFill>
                  <a:srgbClr val="000000"/>
                </a:solidFill>
              </a:rPr>
              <a:t>are hard to </a:t>
            </a:r>
            <a:r>
              <a:rPr dirty="0" spc="-5">
                <a:solidFill>
                  <a:srgbClr val="000000"/>
                </a:solidFill>
              </a:rPr>
              <a:t>learn </a:t>
            </a:r>
            <a:r>
              <a:rPr dirty="0" spc="-15">
                <a:solidFill>
                  <a:srgbClr val="000000"/>
                </a:solidFill>
              </a:rPr>
              <a:t>by</a:t>
            </a:r>
            <a:r>
              <a:rPr dirty="0" spc="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GNN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871" y="2200293"/>
            <a:ext cx="8192770" cy="112077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Solution: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cycle count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as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augmented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2800" spc="6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libri"/>
                <a:cs typeface="Calibri"/>
              </a:rPr>
              <a:t>features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32766" y="5221695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32766" y="6310967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06662" y="5760042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66854" y="5489872"/>
            <a:ext cx="0" cy="821690"/>
          </a:xfrm>
          <a:custGeom>
            <a:avLst/>
            <a:gdLst/>
            <a:ahLst/>
            <a:cxnLst/>
            <a:rect l="l" t="t" r="r" b="b"/>
            <a:pathLst>
              <a:path w="0" h="821689">
                <a:moveTo>
                  <a:pt x="0" y="0"/>
                </a:moveTo>
                <a:lnTo>
                  <a:pt x="1" y="82109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00943" y="5355784"/>
            <a:ext cx="845185" cy="443865"/>
          </a:xfrm>
          <a:custGeom>
            <a:avLst/>
            <a:gdLst/>
            <a:ahLst/>
            <a:cxnLst/>
            <a:rect l="l" t="t" r="r" b="b"/>
            <a:pathLst>
              <a:path w="845185" h="443864">
                <a:moveTo>
                  <a:pt x="0" y="0"/>
                </a:moveTo>
                <a:lnTo>
                  <a:pt x="844992" y="4435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00943" y="5988946"/>
            <a:ext cx="845185" cy="456565"/>
          </a:xfrm>
          <a:custGeom>
            <a:avLst/>
            <a:gdLst/>
            <a:ahLst/>
            <a:cxnLst/>
            <a:rect l="l" t="t" r="r" b="b"/>
            <a:pathLst>
              <a:path w="845185" h="456564">
                <a:moveTo>
                  <a:pt x="0" y="456110"/>
                </a:moveTo>
                <a:lnTo>
                  <a:pt x="84499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13764" y="5227557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13764" y="6310967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44014" y="5230529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789583" y="5194300"/>
            <a:ext cx="218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-75">
                <a:latin typeface="Cambria Math"/>
                <a:cs typeface="Cambria Math"/>
              </a:rPr>
              <a:t>#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047853" y="5495734"/>
            <a:ext cx="0" cy="815340"/>
          </a:xfrm>
          <a:custGeom>
            <a:avLst/>
            <a:gdLst/>
            <a:ahLst/>
            <a:cxnLst/>
            <a:rect l="l" t="t" r="r" b="b"/>
            <a:pathLst>
              <a:path w="0" h="815339">
                <a:moveTo>
                  <a:pt x="0" y="0"/>
                </a:moveTo>
                <a:lnTo>
                  <a:pt x="1" y="8152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78102" y="5498705"/>
            <a:ext cx="0" cy="812800"/>
          </a:xfrm>
          <a:custGeom>
            <a:avLst/>
            <a:gdLst/>
            <a:ahLst/>
            <a:cxnLst/>
            <a:rect l="l" t="t" r="r" b="b"/>
            <a:pathLst>
              <a:path w="0" h="812800">
                <a:moveTo>
                  <a:pt x="0" y="812263"/>
                </a:moveTo>
                <a:lnTo>
                  <a:pt x="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744014" y="6310967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12190" y="5361645"/>
            <a:ext cx="901700" cy="3175"/>
          </a:xfrm>
          <a:custGeom>
            <a:avLst/>
            <a:gdLst/>
            <a:ahLst/>
            <a:cxnLst/>
            <a:rect l="l" t="t" r="r" b="b"/>
            <a:pathLst>
              <a:path w="901700" h="3175">
                <a:moveTo>
                  <a:pt x="901574" y="0"/>
                </a:moveTo>
                <a:lnTo>
                  <a:pt x="0" y="297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12190" y="6445056"/>
            <a:ext cx="901700" cy="0"/>
          </a:xfrm>
          <a:custGeom>
            <a:avLst/>
            <a:gdLst/>
            <a:ahLst/>
            <a:cxnLst/>
            <a:rect l="l" t="t" r="r" b="b"/>
            <a:pathLst>
              <a:path w="901700" h="0">
                <a:moveTo>
                  <a:pt x="901574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43419" y="4539836"/>
            <a:ext cx="85725" cy="229870"/>
          </a:xfrm>
          <a:custGeom>
            <a:avLst/>
            <a:gdLst/>
            <a:ahLst/>
            <a:cxnLst/>
            <a:rect l="l" t="t" r="r" b="b"/>
            <a:pathLst>
              <a:path w="85725" h="229870">
                <a:moveTo>
                  <a:pt x="50753" y="57150"/>
                </a:moveTo>
                <a:lnTo>
                  <a:pt x="34970" y="57150"/>
                </a:lnTo>
                <a:lnTo>
                  <a:pt x="28575" y="63546"/>
                </a:lnTo>
                <a:lnTo>
                  <a:pt x="28573" y="222902"/>
                </a:lnTo>
                <a:lnTo>
                  <a:pt x="34970" y="229299"/>
                </a:lnTo>
                <a:lnTo>
                  <a:pt x="50751" y="229299"/>
                </a:lnTo>
                <a:lnTo>
                  <a:pt x="57148" y="222902"/>
                </a:lnTo>
                <a:lnTo>
                  <a:pt x="57150" y="63546"/>
                </a:lnTo>
                <a:lnTo>
                  <a:pt x="50753" y="57150"/>
                </a:lnTo>
                <a:close/>
              </a:path>
              <a:path w="85725" h="229870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6"/>
                </a:lnTo>
                <a:lnTo>
                  <a:pt x="34970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229870">
                <a:moveTo>
                  <a:pt x="71437" y="57150"/>
                </a:moveTo>
                <a:lnTo>
                  <a:pt x="50753" y="57150"/>
                </a:lnTo>
                <a:lnTo>
                  <a:pt x="57150" y="63546"/>
                </a:lnTo>
                <a:lnTo>
                  <a:pt x="57149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37001" y="3918203"/>
            <a:ext cx="6394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Calibri"/>
                <a:cs typeface="Calibri"/>
              </a:rPr>
              <a:t>We</a:t>
            </a:r>
            <a:r>
              <a:rPr dirty="0" sz="1400" spc="-9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001" y="4134611"/>
            <a:ext cx="7708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Calibri"/>
                <a:cs typeface="Calibri"/>
              </a:rPr>
              <a:t>from</a:t>
            </a:r>
            <a:r>
              <a:rPr dirty="0" sz="1400" spc="-105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cycle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001" y="4351020"/>
            <a:ext cx="9772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Calibri"/>
                <a:cs typeface="Calibri"/>
              </a:rPr>
              <a:t>with length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93822" y="3706948"/>
            <a:ext cx="3178810" cy="174752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259"/>
              </a:spcBef>
            </a:pPr>
            <a:r>
              <a:rPr dirty="0" sz="1800" spc="-10" b="1">
                <a:latin typeface="Calibri"/>
                <a:cs typeface="Calibri"/>
              </a:rPr>
              <a:t>Augmented </a:t>
            </a:r>
            <a:r>
              <a:rPr dirty="0" sz="1800" spc="-5" b="1">
                <a:latin typeface="Calibri"/>
                <a:cs typeface="Calibri"/>
              </a:rPr>
              <a:t>node </a:t>
            </a:r>
            <a:r>
              <a:rPr dirty="0" sz="1800" spc="-15" b="1">
                <a:latin typeface="Calibri"/>
                <a:cs typeface="Calibri"/>
              </a:rPr>
              <a:t>feature </a:t>
            </a:r>
            <a:r>
              <a:rPr dirty="0" sz="1800" spc="-10" b="1">
                <a:latin typeface="Calibri"/>
                <a:cs typeface="Calibri"/>
              </a:rPr>
              <a:t>for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5">
                <a:latin typeface="Cambria Math"/>
                <a:cs typeface="Cambria Math"/>
              </a:rPr>
              <a:t>𝒗</a:t>
            </a:r>
            <a:r>
              <a:rPr dirty="0" baseline="-17094" sz="1950" spc="-7">
                <a:latin typeface="Cambria Math"/>
                <a:cs typeface="Cambria Math"/>
              </a:rPr>
              <a:t>𝟏</a:t>
            </a:r>
            <a:endParaRPr baseline="-17094" sz="1950">
              <a:latin typeface="Cambria Math"/>
              <a:cs typeface="Cambria Math"/>
            </a:endParaRPr>
          </a:p>
          <a:p>
            <a:pPr algn="ctr" marR="133985">
              <a:lnSpc>
                <a:spcPct val="100000"/>
              </a:lnSpc>
              <a:spcBef>
                <a:spcPts val="245"/>
              </a:spcBef>
            </a:pPr>
            <a:r>
              <a:rPr dirty="0" sz="2800" b="1">
                <a:latin typeface="Calibri"/>
                <a:cs typeface="Calibri"/>
              </a:rPr>
              <a:t>[0, 0, 0, 1, 0,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0]</a:t>
            </a:r>
            <a:endParaRPr sz="2800">
              <a:latin typeface="Calibri"/>
              <a:cs typeface="Calibri"/>
            </a:endParaRPr>
          </a:p>
          <a:p>
            <a:pPr algn="ctr" marR="45720">
              <a:lnSpc>
                <a:spcPct val="100000"/>
              </a:lnSpc>
              <a:spcBef>
                <a:spcPts val="2675"/>
              </a:spcBef>
            </a:pPr>
            <a:r>
              <a:rPr dirty="0" sz="1800" spc="5">
                <a:latin typeface="Cambria Math"/>
                <a:cs typeface="Cambria Math"/>
              </a:rPr>
              <a:t>𝑣</a:t>
            </a:r>
            <a:r>
              <a:rPr dirty="0" baseline="-17094" sz="1950" spc="7">
                <a:latin typeface="Cambria Math"/>
                <a:cs typeface="Cambria Math"/>
              </a:rPr>
              <a:t>$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1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algn="ctr" marR="784860">
              <a:lnSpc>
                <a:spcPct val="100000"/>
              </a:lnSpc>
              <a:spcBef>
                <a:spcPts val="869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-75">
                <a:latin typeface="Cambria Math"/>
                <a:cs typeface="Cambria Math"/>
              </a:rPr>
              <a:t>#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225104" y="4530511"/>
            <a:ext cx="85725" cy="229870"/>
          </a:xfrm>
          <a:custGeom>
            <a:avLst/>
            <a:gdLst/>
            <a:ahLst/>
            <a:cxnLst/>
            <a:rect l="l" t="t" r="r" b="b"/>
            <a:pathLst>
              <a:path w="85725" h="229870">
                <a:moveTo>
                  <a:pt x="28575" y="85724"/>
                </a:moveTo>
                <a:lnTo>
                  <a:pt x="28576" y="222902"/>
                </a:lnTo>
                <a:lnTo>
                  <a:pt x="34970" y="229298"/>
                </a:lnTo>
                <a:lnTo>
                  <a:pt x="50753" y="229298"/>
                </a:lnTo>
                <a:lnTo>
                  <a:pt x="57150" y="222902"/>
                </a:lnTo>
                <a:lnTo>
                  <a:pt x="57150" y="85724"/>
                </a:lnTo>
                <a:lnTo>
                  <a:pt x="28575" y="85724"/>
                </a:lnTo>
                <a:close/>
              </a:path>
              <a:path w="85725" h="229870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50" y="85724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  <a:path w="85725" h="229870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5" y="85724"/>
                </a:lnTo>
                <a:lnTo>
                  <a:pt x="57150" y="85724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229870">
                <a:moveTo>
                  <a:pt x="42862" y="0"/>
                </a:moveTo>
                <a:lnTo>
                  <a:pt x="0" y="85723"/>
                </a:lnTo>
                <a:lnTo>
                  <a:pt x="28575" y="85724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955537" y="3703029"/>
            <a:ext cx="3191510" cy="139700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89230">
              <a:lnSpc>
                <a:spcPct val="100000"/>
              </a:lnSpc>
              <a:spcBef>
                <a:spcPts val="290"/>
              </a:spcBef>
            </a:pPr>
            <a:r>
              <a:rPr dirty="0" sz="1800" spc="-10" b="1">
                <a:latin typeface="Calibri"/>
                <a:cs typeface="Calibri"/>
              </a:rPr>
              <a:t>Augmented </a:t>
            </a:r>
            <a:r>
              <a:rPr dirty="0" sz="1800" spc="-5" b="1">
                <a:latin typeface="Calibri"/>
                <a:cs typeface="Calibri"/>
              </a:rPr>
              <a:t>node </a:t>
            </a:r>
            <a:r>
              <a:rPr dirty="0" sz="1800" spc="-15" b="1">
                <a:latin typeface="Calibri"/>
                <a:cs typeface="Calibri"/>
              </a:rPr>
              <a:t>feature </a:t>
            </a:r>
            <a:r>
              <a:rPr dirty="0" sz="1800" spc="-10" b="1">
                <a:latin typeface="Calibri"/>
                <a:cs typeface="Calibri"/>
              </a:rPr>
              <a:t>for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5">
                <a:latin typeface="Cambria Math"/>
                <a:cs typeface="Cambria Math"/>
              </a:rPr>
              <a:t>𝒗</a:t>
            </a:r>
            <a:r>
              <a:rPr dirty="0" baseline="-17094" sz="1950" spc="-7">
                <a:latin typeface="Cambria Math"/>
                <a:cs typeface="Cambria Math"/>
              </a:rPr>
              <a:t>𝟏</a:t>
            </a:r>
            <a:endParaRPr baseline="-17094" sz="1950">
              <a:latin typeface="Cambria Math"/>
              <a:cs typeface="Cambria Math"/>
            </a:endParaRPr>
          </a:p>
          <a:p>
            <a:pPr marL="687070">
              <a:lnSpc>
                <a:spcPct val="100000"/>
              </a:lnSpc>
              <a:spcBef>
                <a:spcPts val="295"/>
              </a:spcBef>
            </a:pPr>
            <a:r>
              <a:rPr dirty="0" sz="2800" b="1">
                <a:latin typeface="Calibri"/>
                <a:cs typeface="Calibri"/>
              </a:rPr>
              <a:t>[0, 0, 0, 0, 1,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0]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30"/>
              </a:spcBef>
            </a:pPr>
            <a:r>
              <a:rPr dirty="0" sz="1800" spc="5">
                <a:latin typeface="Cambria Math"/>
                <a:cs typeface="Cambria Math"/>
              </a:rPr>
              <a:t>𝑣</a:t>
            </a:r>
            <a:r>
              <a:rPr dirty="0" baseline="-17094" sz="1950" spc="7">
                <a:latin typeface="Cambria Math"/>
                <a:cs typeface="Cambria Math"/>
              </a:rPr>
              <a:t>$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1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29"/>
              </a:lnSpc>
              <a:spcBef>
                <a:spcPts val="100"/>
              </a:spcBef>
            </a:pPr>
            <a:r>
              <a:rPr dirty="0" spc="-25"/>
              <a:t>Why </a:t>
            </a:r>
            <a:r>
              <a:rPr dirty="0" spc="-5"/>
              <a:t>do </a:t>
            </a:r>
            <a:r>
              <a:rPr dirty="0" spc="-15"/>
              <a:t>we </a:t>
            </a:r>
            <a:r>
              <a:rPr dirty="0" spc="-5"/>
              <a:t>need </a:t>
            </a:r>
            <a:r>
              <a:rPr dirty="0" spc="-20"/>
              <a:t>feature</a:t>
            </a:r>
            <a:r>
              <a:rPr dirty="0" spc="-25"/>
              <a:t> </a:t>
            </a:r>
            <a:r>
              <a:rPr dirty="0" spc="-10"/>
              <a:t>augmentation?</a:t>
            </a:r>
          </a:p>
          <a:p>
            <a:pPr marL="332740" indent="-320040">
              <a:lnSpc>
                <a:spcPts val="38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000000"/>
                </a:solidFill>
              </a:rPr>
              <a:t>(2) </a:t>
            </a:r>
            <a:r>
              <a:rPr dirty="0" spc="-5">
                <a:solidFill>
                  <a:srgbClr val="000000"/>
                </a:solidFill>
              </a:rPr>
              <a:t>Certain </a:t>
            </a:r>
            <a:r>
              <a:rPr dirty="0" spc="-10">
                <a:solidFill>
                  <a:srgbClr val="000000"/>
                </a:solidFill>
              </a:rPr>
              <a:t>structures </a:t>
            </a:r>
            <a:r>
              <a:rPr dirty="0" spc="-15">
                <a:solidFill>
                  <a:srgbClr val="000000"/>
                </a:solidFill>
              </a:rPr>
              <a:t>are hard to </a:t>
            </a:r>
            <a:r>
              <a:rPr dirty="0" spc="-5">
                <a:solidFill>
                  <a:srgbClr val="000000"/>
                </a:solidFill>
              </a:rPr>
              <a:t>learn </a:t>
            </a:r>
            <a:r>
              <a:rPr dirty="0" spc="-15">
                <a:solidFill>
                  <a:srgbClr val="000000"/>
                </a:solidFill>
              </a:rPr>
              <a:t>by</a:t>
            </a:r>
            <a:r>
              <a:rPr dirty="0" spc="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GNN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527871" y="2200293"/>
            <a:ext cx="7552690" cy="363347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Other commonly used </a:t>
            </a:r>
            <a:r>
              <a:rPr dirty="0" sz="3200" spc="-10">
                <a:latin typeface="Calibri"/>
                <a:cs typeface="Calibri"/>
              </a:rPr>
              <a:t>augmented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features: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Clustering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coefficient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5" b="1">
                <a:latin typeface="Calibri"/>
                <a:cs typeface="Calibri"/>
              </a:rPr>
              <a:t>PageRank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Centrality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ts val="3329"/>
              </a:lnSpc>
              <a:spcBef>
                <a:spcPts val="62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b="1"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  <a:p>
            <a:pPr marL="332740" marR="1431290" indent="-320040">
              <a:lnSpc>
                <a:spcPts val="3910"/>
              </a:lnSpc>
              <a:spcBef>
                <a:spcPts val="3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solidFill>
                  <a:srgbClr val="E66C7D"/>
                </a:solidFill>
                <a:latin typeface="Calibri"/>
                <a:cs typeface="Calibri"/>
              </a:rPr>
              <a:t>Any </a:t>
            </a:r>
            <a:r>
              <a:rPr dirty="0" sz="3200" spc="-20" b="1">
                <a:solidFill>
                  <a:srgbClr val="E66C7D"/>
                </a:solidFill>
                <a:latin typeface="Calibri"/>
                <a:cs typeface="Calibri"/>
              </a:rPr>
              <a:t>feature </a:t>
            </a:r>
            <a:r>
              <a:rPr dirty="0" sz="3200" spc="-15" b="1">
                <a:solidFill>
                  <a:srgbClr val="E66C7D"/>
                </a:solidFill>
                <a:latin typeface="Calibri"/>
                <a:cs typeface="Calibri"/>
              </a:rPr>
              <a:t>we </a:t>
            </a:r>
            <a:r>
              <a:rPr dirty="0" sz="3200" spc="-25" b="1">
                <a:solidFill>
                  <a:srgbClr val="E66C7D"/>
                </a:solidFill>
                <a:latin typeface="Calibri"/>
                <a:cs typeface="Calibri"/>
              </a:rPr>
              <a:t>have </a:t>
            </a: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introduced </a:t>
            </a:r>
            <a:r>
              <a:rPr dirty="0" sz="3200" b="1">
                <a:solidFill>
                  <a:srgbClr val="E66C7D"/>
                </a:solidFill>
                <a:latin typeface="Calibri"/>
                <a:cs typeface="Calibri"/>
              </a:rPr>
              <a:t>in  </a:t>
            </a: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Lecture </a:t>
            </a:r>
            <a:r>
              <a:rPr dirty="0" sz="3200" b="1">
                <a:solidFill>
                  <a:srgbClr val="E66C7D"/>
                </a:solidFill>
                <a:latin typeface="Calibri"/>
                <a:cs typeface="Calibri"/>
              </a:rPr>
              <a:t>2 </a:t>
            </a: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can </a:t>
            </a:r>
            <a:r>
              <a:rPr dirty="0" sz="3200" spc="-5" b="1">
                <a:solidFill>
                  <a:srgbClr val="E66C7D"/>
                </a:solidFill>
                <a:latin typeface="Calibri"/>
                <a:cs typeface="Calibri"/>
              </a:rPr>
              <a:t>be</a:t>
            </a:r>
            <a:r>
              <a:rPr dirty="0" sz="3200" spc="-55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E66C7D"/>
                </a:solidFill>
                <a:latin typeface="Calibri"/>
                <a:cs typeface="Calibri"/>
              </a:rPr>
              <a:t>used!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3550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29793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E66C7D"/>
                </a:solidFill>
              </a:rPr>
              <a:t>Motivation: </a:t>
            </a:r>
            <a:r>
              <a:rPr dirty="0" spc="-5" b="0">
                <a:solidFill>
                  <a:srgbClr val="E66C7D"/>
                </a:solidFill>
                <a:latin typeface="Calibri"/>
                <a:cs typeface="Calibri"/>
              </a:rPr>
              <a:t>Augment </a:t>
            </a:r>
            <a:r>
              <a:rPr dirty="0" spc="-15" b="0">
                <a:solidFill>
                  <a:srgbClr val="E66C7D"/>
                </a:solidFill>
                <a:latin typeface="Calibri"/>
                <a:cs typeface="Calibri"/>
              </a:rPr>
              <a:t>sparse</a:t>
            </a:r>
            <a:r>
              <a:rPr dirty="0" spc="0" b="0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E66C7D"/>
                </a:solidFill>
                <a:latin typeface="Calibri"/>
                <a:cs typeface="Calibri"/>
              </a:rPr>
              <a:t>graphs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60B5CC"/>
                </a:solidFill>
              </a:rPr>
              <a:t>(1) </a:t>
            </a:r>
            <a:r>
              <a:rPr dirty="0" spc="-5">
                <a:solidFill>
                  <a:srgbClr val="60B5CC"/>
                </a:solidFill>
              </a:rPr>
              <a:t>Add virtual</a:t>
            </a:r>
            <a:r>
              <a:rPr dirty="0" spc="-45">
                <a:solidFill>
                  <a:srgbClr val="60B5CC"/>
                </a:solidFill>
              </a:rPr>
              <a:t> </a:t>
            </a:r>
            <a:r>
              <a:rPr dirty="0" spc="-15">
                <a:solidFill>
                  <a:srgbClr val="60B5CC"/>
                </a:solidFill>
              </a:rPr>
              <a:t>edges</a:t>
            </a:r>
          </a:p>
        </p:txBody>
      </p:sp>
      <p:sp>
        <p:nvSpPr>
          <p:cNvPr id="4" name="object 4"/>
          <p:cNvSpPr/>
          <p:nvPr/>
        </p:nvSpPr>
        <p:spPr>
          <a:xfrm>
            <a:off x="7123599" y="4835613"/>
            <a:ext cx="1252220" cy="203835"/>
          </a:xfrm>
          <a:custGeom>
            <a:avLst/>
            <a:gdLst/>
            <a:ahLst/>
            <a:cxnLst/>
            <a:rect l="l" t="t" r="r" b="b"/>
            <a:pathLst>
              <a:path w="1252220" h="203835">
                <a:moveTo>
                  <a:pt x="0" y="0"/>
                </a:moveTo>
                <a:lnTo>
                  <a:pt x="1251953" y="203569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23599" y="5039182"/>
            <a:ext cx="1238885" cy="184785"/>
          </a:xfrm>
          <a:custGeom>
            <a:avLst/>
            <a:gdLst/>
            <a:ahLst/>
            <a:cxnLst/>
            <a:rect l="l" t="t" r="r" b="b"/>
            <a:pathLst>
              <a:path w="1238884" h="184785">
                <a:moveTo>
                  <a:pt x="0" y="184485"/>
                </a:moveTo>
                <a:lnTo>
                  <a:pt x="1238571" y="0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23599" y="5429358"/>
            <a:ext cx="1238885" cy="572770"/>
          </a:xfrm>
          <a:custGeom>
            <a:avLst/>
            <a:gdLst/>
            <a:ahLst/>
            <a:cxnLst/>
            <a:rect l="l" t="t" r="r" b="b"/>
            <a:pathLst>
              <a:path w="1238884" h="572770">
                <a:moveTo>
                  <a:pt x="0" y="572539"/>
                </a:moveTo>
                <a:lnTo>
                  <a:pt x="1238571" y="0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23599" y="5039182"/>
            <a:ext cx="1252220" cy="1348740"/>
          </a:xfrm>
          <a:custGeom>
            <a:avLst/>
            <a:gdLst/>
            <a:ahLst/>
            <a:cxnLst/>
            <a:rect l="l" t="t" r="r" b="b"/>
            <a:pathLst>
              <a:path w="1252220" h="1348739">
                <a:moveTo>
                  <a:pt x="0" y="1348649"/>
                </a:moveTo>
                <a:lnTo>
                  <a:pt x="1251953" y="0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123599" y="5607481"/>
            <a:ext cx="1252220" cy="203835"/>
          </a:xfrm>
          <a:custGeom>
            <a:avLst/>
            <a:gdLst/>
            <a:ahLst/>
            <a:cxnLst/>
            <a:rect l="l" t="t" r="r" b="b"/>
            <a:pathLst>
              <a:path w="1252220" h="203835">
                <a:moveTo>
                  <a:pt x="0" y="0"/>
                </a:moveTo>
                <a:lnTo>
                  <a:pt x="1251953" y="203570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23599" y="5225788"/>
            <a:ext cx="1252220" cy="591820"/>
          </a:xfrm>
          <a:custGeom>
            <a:avLst/>
            <a:gdLst/>
            <a:ahLst/>
            <a:cxnLst/>
            <a:rect l="l" t="t" r="r" b="b"/>
            <a:pathLst>
              <a:path w="1252220" h="591820">
                <a:moveTo>
                  <a:pt x="0" y="0"/>
                </a:moveTo>
                <a:lnTo>
                  <a:pt x="1251953" y="591624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23599" y="5997656"/>
            <a:ext cx="1238885" cy="203835"/>
          </a:xfrm>
          <a:custGeom>
            <a:avLst/>
            <a:gdLst/>
            <a:ahLst/>
            <a:cxnLst/>
            <a:rect l="l" t="t" r="r" b="b"/>
            <a:pathLst>
              <a:path w="1238884" h="203835">
                <a:moveTo>
                  <a:pt x="0" y="0"/>
                </a:moveTo>
                <a:lnTo>
                  <a:pt x="1238571" y="203569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123599" y="6201226"/>
            <a:ext cx="1238885" cy="184785"/>
          </a:xfrm>
          <a:custGeom>
            <a:avLst/>
            <a:gdLst/>
            <a:ahLst/>
            <a:cxnLst/>
            <a:rect l="l" t="t" r="r" b="b"/>
            <a:pathLst>
              <a:path w="1238884" h="184785">
                <a:moveTo>
                  <a:pt x="0" y="184485"/>
                </a:moveTo>
                <a:lnTo>
                  <a:pt x="1238571" y="0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23599" y="4835613"/>
            <a:ext cx="1252220" cy="591820"/>
          </a:xfrm>
          <a:custGeom>
            <a:avLst/>
            <a:gdLst/>
            <a:ahLst/>
            <a:cxnLst/>
            <a:rect l="l" t="t" r="r" b="b"/>
            <a:pathLst>
              <a:path w="1252220" h="591820">
                <a:moveTo>
                  <a:pt x="0" y="0"/>
                </a:moveTo>
                <a:lnTo>
                  <a:pt x="1251953" y="591624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260196" y="4937397"/>
            <a:ext cx="237498" cy="2459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289884" y="4950120"/>
            <a:ext cx="178435" cy="186690"/>
          </a:xfrm>
          <a:custGeom>
            <a:avLst/>
            <a:gdLst/>
            <a:ahLst/>
            <a:cxnLst/>
            <a:rect l="l" t="t" r="r" b="b"/>
            <a:pathLst>
              <a:path w="178434" h="186689">
                <a:moveTo>
                  <a:pt x="89061" y="0"/>
                </a:moveTo>
                <a:lnTo>
                  <a:pt x="54394" y="7332"/>
                </a:lnTo>
                <a:lnTo>
                  <a:pt x="26085" y="27328"/>
                </a:lnTo>
                <a:lnTo>
                  <a:pt x="6998" y="56985"/>
                </a:lnTo>
                <a:lnTo>
                  <a:pt x="0" y="93303"/>
                </a:lnTo>
                <a:lnTo>
                  <a:pt x="6998" y="129620"/>
                </a:lnTo>
                <a:lnTo>
                  <a:pt x="26085" y="159278"/>
                </a:lnTo>
                <a:lnTo>
                  <a:pt x="54394" y="179273"/>
                </a:lnTo>
                <a:lnTo>
                  <a:pt x="89061" y="186606"/>
                </a:lnTo>
                <a:lnTo>
                  <a:pt x="123727" y="179273"/>
                </a:lnTo>
                <a:lnTo>
                  <a:pt x="152037" y="159278"/>
                </a:lnTo>
                <a:lnTo>
                  <a:pt x="171123" y="129620"/>
                </a:lnTo>
                <a:lnTo>
                  <a:pt x="178122" y="93303"/>
                </a:lnTo>
                <a:lnTo>
                  <a:pt x="171123" y="56985"/>
                </a:lnTo>
                <a:lnTo>
                  <a:pt x="152037" y="27328"/>
                </a:lnTo>
                <a:lnTo>
                  <a:pt x="123727" y="7332"/>
                </a:lnTo>
                <a:lnTo>
                  <a:pt x="8906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289884" y="4950120"/>
            <a:ext cx="178435" cy="186690"/>
          </a:xfrm>
          <a:custGeom>
            <a:avLst/>
            <a:gdLst/>
            <a:ahLst/>
            <a:cxnLst/>
            <a:rect l="l" t="t" r="r" b="b"/>
            <a:pathLst>
              <a:path w="178434" h="186689">
                <a:moveTo>
                  <a:pt x="0" y="93302"/>
                </a:moveTo>
                <a:lnTo>
                  <a:pt x="6998" y="56985"/>
                </a:lnTo>
                <a:lnTo>
                  <a:pt x="26085" y="27327"/>
                </a:lnTo>
                <a:lnTo>
                  <a:pt x="54394" y="7332"/>
                </a:lnTo>
                <a:lnTo>
                  <a:pt x="89061" y="0"/>
                </a:lnTo>
                <a:lnTo>
                  <a:pt x="123728" y="7332"/>
                </a:lnTo>
                <a:lnTo>
                  <a:pt x="152037" y="27327"/>
                </a:lnTo>
                <a:lnTo>
                  <a:pt x="171124" y="56985"/>
                </a:lnTo>
                <a:lnTo>
                  <a:pt x="178123" y="93302"/>
                </a:lnTo>
                <a:lnTo>
                  <a:pt x="171124" y="129620"/>
                </a:lnTo>
                <a:lnTo>
                  <a:pt x="152037" y="159277"/>
                </a:lnTo>
                <a:lnTo>
                  <a:pt x="123728" y="179273"/>
                </a:lnTo>
                <a:lnTo>
                  <a:pt x="89061" y="186605"/>
                </a:lnTo>
                <a:lnTo>
                  <a:pt x="54394" y="179273"/>
                </a:lnTo>
                <a:lnTo>
                  <a:pt x="26085" y="159277"/>
                </a:lnTo>
                <a:lnTo>
                  <a:pt x="6998" y="129620"/>
                </a:lnTo>
                <a:lnTo>
                  <a:pt x="0" y="93302"/>
                </a:lnTo>
                <a:close/>
              </a:path>
            </a:pathLst>
          </a:custGeom>
          <a:ln w="4241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260196" y="5327573"/>
            <a:ext cx="237498" cy="2374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289884" y="5340296"/>
            <a:ext cx="178435" cy="178435"/>
          </a:xfrm>
          <a:custGeom>
            <a:avLst/>
            <a:gdLst/>
            <a:ahLst/>
            <a:cxnLst/>
            <a:rect l="l" t="t" r="r" b="b"/>
            <a:pathLst>
              <a:path w="178434" h="178435">
                <a:moveTo>
                  <a:pt x="89061" y="0"/>
                </a:moveTo>
                <a:lnTo>
                  <a:pt x="54394" y="6998"/>
                </a:lnTo>
                <a:lnTo>
                  <a:pt x="26085" y="26085"/>
                </a:lnTo>
                <a:lnTo>
                  <a:pt x="6998" y="54394"/>
                </a:lnTo>
                <a:lnTo>
                  <a:pt x="0" y="89061"/>
                </a:lnTo>
                <a:lnTo>
                  <a:pt x="6998" y="123728"/>
                </a:lnTo>
                <a:lnTo>
                  <a:pt x="26085" y="152038"/>
                </a:lnTo>
                <a:lnTo>
                  <a:pt x="54394" y="171124"/>
                </a:lnTo>
                <a:lnTo>
                  <a:pt x="89061" y="178123"/>
                </a:lnTo>
                <a:lnTo>
                  <a:pt x="123727" y="171124"/>
                </a:lnTo>
                <a:lnTo>
                  <a:pt x="152037" y="152038"/>
                </a:lnTo>
                <a:lnTo>
                  <a:pt x="171123" y="123728"/>
                </a:lnTo>
                <a:lnTo>
                  <a:pt x="178122" y="89061"/>
                </a:lnTo>
                <a:lnTo>
                  <a:pt x="171123" y="54394"/>
                </a:lnTo>
                <a:lnTo>
                  <a:pt x="152037" y="26085"/>
                </a:lnTo>
                <a:lnTo>
                  <a:pt x="123727" y="6998"/>
                </a:lnTo>
                <a:lnTo>
                  <a:pt x="8906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289884" y="5340296"/>
            <a:ext cx="178435" cy="178435"/>
          </a:xfrm>
          <a:custGeom>
            <a:avLst/>
            <a:gdLst/>
            <a:ahLst/>
            <a:cxnLst/>
            <a:rect l="l" t="t" r="r" b="b"/>
            <a:pathLst>
              <a:path w="178434" h="178435">
                <a:moveTo>
                  <a:pt x="0" y="89061"/>
                </a:moveTo>
                <a:lnTo>
                  <a:pt x="6998" y="54394"/>
                </a:lnTo>
                <a:lnTo>
                  <a:pt x="26085" y="26085"/>
                </a:lnTo>
                <a:lnTo>
                  <a:pt x="54394" y="6998"/>
                </a:lnTo>
                <a:lnTo>
                  <a:pt x="89061" y="0"/>
                </a:lnTo>
                <a:lnTo>
                  <a:pt x="123728" y="6998"/>
                </a:lnTo>
                <a:lnTo>
                  <a:pt x="152037" y="26085"/>
                </a:lnTo>
                <a:lnTo>
                  <a:pt x="171124" y="54394"/>
                </a:lnTo>
                <a:lnTo>
                  <a:pt x="178123" y="89061"/>
                </a:lnTo>
                <a:lnTo>
                  <a:pt x="171124" y="123728"/>
                </a:lnTo>
                <a:lnTo>
                  <a:pt x="152037" y="152037"/>
                </a:lnTo>
                <a:lnTo>
                  <a:pt x="123728" y="171124"/>
                </a:lnTo>
                <a:lnTo>
                  <a:pt x="89061" y="178123"/>
                </a:lnTo>
                <a:lnTo>
                  <a:pt x="54394" y="171124"/>
                </a:lnTo>
                <a:lnTo>
                  <a:pt x="26085" y="152037"/>
                </a:lnTo>
                <a:lnTo>
                  <a:pt x="6998" y="123728"/>
                </a:lnTo>
                <a:lnTo>
                  <a:pt x="0" y="89061"/>
                </a:lnTo>
                <a:close/>
              </a:path>
            </a:pathLst>
          </a:custGeom>
          <a:ln w="4241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260196" y="5717748"/>
            <a:ext cx="237498" cy="237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289884" y="5730471"/>
            <a:ext cx="178435" cy="178435"/>
          </a:xfrm>
          <a:custGeom>
            <a:avLst/>
            <a:gdLst/>
            <a:ahLst/>
            <a:cxnLst/>
            <a:rect l="l" t="t" r="r" b="b"/>
            <a:pathLst>
              <a:path w="178434" h="178435">
                <a:moveTo>
                  <a:pt x="89061" y="0"/>
                </a:moveTo>
                <a:lnTo>
                  <a:pt x="54394" y="6998"/>
                </a:lnTo>
                <a:lnTo>
                  <a:pt x="26085" y="26085"/>
                </a:lnTo>
                <a:lnTo>
                  <a:pt x="6998" y="54394"/>
                </a:lnTo>
                <a:lnTo>
                  <a:pt x="0" y="89061"/>
                </a:lnTo>
                <a:lnTo>
                  <a:pt x="6998" y="123728"/>
                </a:lnTo>
                <a:lnTo>
                  <a:pt x="26085" y="152037"/>
                </a:lnTo>
                <a:lnTo>
                  <a:pt x="54394" y="171124"/>
                </a:lnTo>
                <a:lnTo>
                  <a:pt x="89061" y="178123"/>
                </a:lnTo>
                <a:lnTo>
                  <a:pt x="123727" y="171124"/>
                </a:lnTo>
                <a:lnTo>
                  <a:pt x="152037" y="152037"/>
                </a:lnTo>
                <a:lnTo>
                  <a:pt x="171123" y="123728"/>
                </a:lnTo>
                <a:lnTo>
                  <a:pt x="178122" y="89061"/>
                </a:lnTo>
                <a:lnTo>
                  <a:pt x="171123" y="54394"/>
                </a:lnTo>
                <a:lnTo>
                  <a:pt x="152037" y="26085"/>
                </a:lnTo>
                <a:lnTo>
                  <a:pt x="123727" y="6998"/>
                </a:lnTo>
                <a:lnTo>
                  <a:pt x="8906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289884" y="5730471"/>
            <a:ext cx="178435" cy="178435"/>
          </a:xfrm>
          <a:custGeom>
            <a:avLst/>
            <a:gdLst/>
            <a:ahLst/>
            <a:cxnLst/>
            <a:rect l="l" t="t" r="r" b="b"/>
            <a:pathLst>
              <a:path w="178434" h="178435">
                <a:moveTo>
                  <a:pt x="0" y="89061"/>
                </a:moveTo>
                <a:lnTo>
                  <a:pt x="6998" y="54394"/>
                </a:lnTo>
                <a:lnTo>
                  <a:pt x="26085" y="26085"/>
                </a:lnTo>
                <a:lnTo>
                  <a:pt x="54394" y="6998"/>
                </a:lnTo>
                <a:lnTo>
                  <a:pt x="89061" y="0"/>
                </a:lnTo>
                <a:lnTo>
                  <a:pt x="123728" y="6998"/>
                </a:lnTo>
                <a:lnTo>
                  <a:pt x="152037" y="26085"/>
                </a:lnTo>
                <a:lnTo>
                  <a:pt x="171124" y="54394"/>
                </a:lnTo>
                <a:lnTo>
                  <a:pt x="178123" y="89061"/>
                </a:lnTo>
                <a:lnTo>
                  <a:pt x="171124" y="123728"/>
                </a:lnTo>
                <a:lnTo>
                  <a:pt x="152037" y="152037"/>
                </a:lnTo>
                <a:lnTo>
                  <a:pt x="123728" y="171124"/>
                </a:lnTo>
                <a:lnTo>
                  <a:pt x="89061" y="178123"/>
                </a:lnTo>
                <a:lnTo>
                  <a:pt x="54394" y="171124"/>
                </a:lnTo>
                <a:lnTo>
                  <a:pt x="26085" y="152037"/>
                </a:lnTo>
                <a:lnTo>
                  <a:pt x="6998" y="123728"/>
                </a:lnTo>
                <a:lnTo>
                  <a:pt x="0" y="89061"/>
                </a:lnTo>
                <a:close/>
              </a:path>
            </a:pathLst>
          </a:custGeom>
          <a:ln w="4241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260196" y="6099441"/>
            <a:ext cx="237498" cy="2459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289884" y="6112164"/>
            <a:ext cx="178435" cy="186690"/>
          </a:xfrm>
          <a:custGeom>
            <a:avLst/>
            <a:gdLst/>
            <a:ahLst/>
            <a:cxnLst/>
            <a:rect l="l" t="t" r="r" b="b"/>
            <a:pathLst>
              <a:path w="178434" h="186689">
                <a:moveTo>
                  <a:pt x="89061" y="0"/>
                </a:moveTo>
                <a:lnTo>
                  <a:pt x="54394" y="7332"/>
                </a:lnTo>
                <a:lnTo>
                  <a:pt x="26085" y="27327"/>
                </a:lnTo>
                <a:lnTo>
                  <a:pt x="6998" y="56985"/>
                </a:lnTo>
                <a:lnTo>
                  <a:pt x="0" y="93302"/>
                </a:lnTo>
                <a:lnTo>
                  <a:pt x="6998" y="129620"/>
                </a:lnTo>
                <a:lnTo>
                  <a:pt x="26085" y="159277"/>
                </a:lnTo>
                <a:lnTo>
                  <a:pt x="54394" y="179273"/>
                </a:lnTo>
                <a:lnTo>
                  <a:pt x="89061" y="186605"/>
                </a:lnTo>
                <a:lnTo>
                  <a:pt x="123727" y="179273"/>
                </a:lnTo>
                <a:lnTo>
                  <a:pt x="152037" y="159277"/>
                </a:lnTo>
                <a:lnTo>
                  <a:pt x="171123" y="129620"/>
                </a:lnTo>
                <a:lnTo>
                  <a:pt x="178122" y="93302"/>
                </a:lnTo>
                <a:lnTo>
                  <a:pt x="171123" y="56985"/>
                </a:lnTo>
                <a:lnTo>
                  <a:pt x="152037" y="27327"/>
                </a:lnTo>
                <a:lnTo>
                  <a:pt x="123727" y="7332"/>
                </a:lnTo>
                <a:lnTo>
                  <a:pt x="8906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289884" y="6112164"/>
            <a:ext cx="178435" cy="186690"/>
          </a:xfrm>
          <a:custGeom>
            <a:avLst/>
            <a:gdLst/>
            <a:ahLst/>
            <a:cxnLst/>
            <a:rect l="l" t="t" r="r" b="b"/>
            <a:pathLst>
              <a:path w="178434" h="186689">
                <a:moveTo>
                  <a:pt x="0" y="93302"/>
                </a:moveTo>
                <a:lnTo>
                  <a:pt x="6998" y="56985"/>
                </a:lnTo>
                <a:lnTo>
                  <a:pt x="26085" y="27327"/>
                </a:lnTo>
                <a:lnTo>
                  <a:pt x="54394" y="7332"/>
                </a:lnTo>
                <a:lnTo>
                  <a:pt x="89061" y="0"/>
                </a:lnTo>
                <a:lnTo>
                  <a:pt x="123728" y="7332"/>
                </a:lnTo>
                <a:lnTo>
                  <a:pt x="152037" y="27327"/>
                </a:lnTo>
                <a:lnTo>
                  <a:pt x="171124" y="56985"/>
                </a:lnTo>
                <a:lnTo>
                  <a:pt x="178123" y="93302"/>
                </a:lnTo>
                <a:lnTo>
                  <a:pt x="171124" y="129620"/>
                </a:lnTo>
                <a:lnTo>
                  <a:pt x="152037" y="159277"/>
                </a:lnTo>
                <a:lnTo>
                  <a:pt x="123728" y="179273"/>
                </a:lnTo>
                <a:lnTo>
                  <a:pt x="89061" y="186605"/>
                </a:lnTo>
                <a:lnTo>
                  <a:pt x="54394" y="179273"/>
                </a:lnTo>
                <a:lnTo>
                  <a:pt x="26085" y="159277"/>
                </a:lnTo>
                <a:lnTo>
                  <a:pt x="6998" y="129620"/>
                </a:lnTo>
                <a:lnTo>
                  <a:pt x="0" y="93302"/>
                </a:lnTo>
                <a:close/>
              </a:path>
            </a:pathLst>
          </a:custGeom>
          <a:ln w="4241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004849" y="4733828"/>
            <a:ext cx="245980" cy="2459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53957" y="4682936"/>
            <a:ext cx="347764" cy="3901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34537" y="4746551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90" h="186689">
                <a:moveTo>
                  <a:pt x="93303" y="0"/>
                </a:moveTo>
                <a:lnTo>
                  <a:pt x="56985" y="7332"/>
                </a:lnTo>
                <a:lnTo>
                  <a:pt x="27327" y="27328"/>
                </a:lnTo>
                <a:lnTo>
                  <a:pt x="7332" y="56985"/>
                </a:lnTo>
                <a:lnTo>
                  <a:pt x="0" y="93303"/>
                </a:lnTo>
                <a:lnTo>
                  <a:pt x="7332" y="129620"/>
                </a:lnTo>
                <a:lnTo>
                  <a:pt x="27327" y="159278"/>
                </a:lnTo>
                <a:lnTo>
                  <a:pt x="56985" y="179273"/>
                </a:lnTo>
                <a:lnTo>
                  <a:pt x="93303" y="186606"/>
                </a:lnTo>
                <a:lnTo>
                  <a:pt x="129620" y="179273"/>
                </a:lnTo>
                <a:lnTo>
                  <a:pt x="159277" y="159278"/>
                </a:lnTo>
                <a:lnTo>
                  <a:pt x="179272" y="129620"/>
                </a:lnTo>
                <a:lnTo>
                  <a:pt x="186604" y="93303"/>
                </a:lnTo>
                <a:lnTo>
                  <a:pt x="179272" y="56985"/>
                </a:lnTo>
                <a:lnTo>
                  <a:pt x="159277" y="27328"/>
                </a:lnTo>
                <a:lnTo>
                  <a:pt x="129620" y="7332"/>
                </a:lnTo>
                <a:lnTo>
                  <a:pt x="933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34537" y="4746551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90" h="186689">
                <a:moveTo>
                  <a:pt x="0" y="93302"/>
                </a:moveTo>
                <a:lnTo>
                  <a:pt x="7332" y="56985"/>
                </a:lnTo>
                <a:lnTo>
                  <a:pt x="27327" y="27327"/>
                </a:lnTo>
                <a:lnTo>
                  <a:pt x="56985" y="7332"/>
                </a:lnTo>
                <a:lnTo>
                  <a:pt x="93302" y="0"/>
                </a:lnTo>
                <a:lnTo>
                  <a:pt x="129620" y="7332"/>
                </a:lnTo>
                <a:lnTo>
                  <a:pt x="159277" y="27327"/>
                </a:lnTo>
                <a:lnTo>
                  <a:pt x="179273" y="56985"/>
                </a:lnTo>
                <a:lnTo>
                  <a:pt x="186605" y="93302"/>
                </a:lnTo>
                <a:lnTo>
                  <a:pt x="179273" y="129620"/>
                </a:lnTo>
                <a:lnTo>
                  <a:pt x="159277" y="159277"/>
                </a:lnTo>
                <a:lnTo>
                  <a:pt x="129620" y="179273"/>
                </a:lnTo>
                <a:lnTo>
                  <a:pt x="93302" y="186605"/>
                </a:lnTo>
                <a:lnTo>
                  <a:pt x="56985" y="179273"/>
                </a:lnTo>
                <a:lnTo>
                  <a:pt x="27327" y="159277"/>
                </a:lnTo>
                <a:lnTo>
                  <a:pt x="7332" y="129620"/>
                </a:lnTo>
                <a:lnTo>
                  <a:pt x="0" y="93302"/>
                </a:lnTo>
                <a:close/>
              </a:path>
            </a:pathLst>
          </a:custGeom>
          <a:ln w="424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061056" y="4721128"/>
            <a:ext cx="126364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orbel"/>
                <a:cs typeface="Corbel"/>
              </a:rPr>
              <a:t>A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004849" y="5124003"/>
            <a:ext cx="245980" cy="2374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953957" y="5073111"/>
            <a:ext cx="339282" cy="38169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034537" y="5136727"/>
            <a:ext cx="186690" cy="178435"/>
          </a:xfrm>
          <a:custGeom>
            <a:avLst/>
            <a:gdLst/>
            <a:ahLst/>
            <a:cxnLst/>
            <a:rect l="l" t="t" r="r" b="b"/>
            <a:pathLst>
              <a:path w="186690" h="178435">
                <a:moveTo>
                  <a:pt x="93303" y="0"/>
                </a:moveTo>
                <a:lnTo>
                  <a:pt x="56985" y="6998"/>
                </a:lnTo>
                <a:lnTo>
                  <a:pt x="27327" y="26085"/>
                </a:lnTo>
                <a:lnTo>
                  <a:pt x="7332" y="54394"/>
                </a:lnTo>
                <a:lnTo>
                  <a:pt x="0" y="89061"/>
                </a:lnTo>
                <a:lnTo>
                  <a:pt x="7332" y="123727"/>
                </a:lnTo>
                <a:lnTo>
                  <a:pt x="27327" y="152037"/>
                </a:lnTo>
                <a:lnTo>
                  <a:pt x="56985" y="171123"/>
                </a:lnTo>
                <a:lnTo>
                  <a:pt x="93303" y="178122"/>
                </a:lnTo>
                <a:lnTo>
                  <a:pt x="129620" y="171123"/>
                </a:lnTo>
                <a:lnTo>
                  <a:pt x="159277" y="152037"/>
                </a:lnTo>
                <a:lnTo>
                  <a:pt x="179272" y="123727"/>
                </a:lnTo>
                <a:lnTo>
                  <a:pt x="186604" y="89061"/>
                </a:lnTo>
                <a:lnTo>
                  <a:pt x="179272" y="54394"/>
                </a:lnTo>
                <a:lnTo>
                  <a:pt x="159277" y="26085"/>
                </a:lnTo>
                <a:lnTo>
                  <a:pt x="129620" y="6998"/>
                </a:lnTo>
                <a:lnTo>
                  <a:pt x="933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034537" y="5136727"/>
            <a:ext cx="186690" cy="178435"/>
          </a:xfrm>
          <a:custGeom>
            <a:avLst/>
            <a:gdLst/>
            <a:ahLst/>
            <a:cxnLst/>
            <a:rect l="l" t="t" r="r" b="b"/>
            <a:pathLst>
              <a:path w="186690" h="178435">
                <a:moveTo>
                  <a:pt x="0" y="89061"/>
                </a:moveTo>
                <a:lnTo>
                  <a:pt x="7332" y="54394"/>
                </a:lnTo>
                <a:lnTo>
                  <a:pt x="27327" y="26085"/>
                </a:lnTo>
                <a:lnTo>
                  <a:pt x="56985" y="6998"/>
                </a:lnTo>
                <a:lnTo>
                  <a:pt x="93302" y="0"/>
                </a:lnTo>
                <a:lnTo>
                  <a:pt x="129620" y="6998"/>
                </a:lnTo>
                <a:lnTo>
                  <a:pt x="159277" y="26085"/>
                </a:lnTo>
                <a:lnTo>
                  <a:pt x="179273" y="54394"/>
                </a:lnTo>
                <a:lnTo>
                  <a:pt x="186605" y="89061"/>
                </a:lnTo>
                <a:lnTo>
                  <a:pt x="179273" y="123728"/>
                </a:lnTo>
                <a:lnTo>
                  <a:pt x="159277" y="152037"/>
                </a:lnTo>
                <a:lnTo>
                  <a:pt x="129620" y="171124"/>
                </a:lnTo>
                <a:lnTo>
                  <a:pt x="93302" y="178123"/>
                </a:lnTo>
                <a:lnTo>
                  <a:pt x="56985" y="171124"/>
                </a:lnTo>
                <a:lnTo>
                  <a:pt x="27327" y="152037"/>
                </a:lnTo>
                <a:lnTo>
                  <a:pt x="7332" y="123728"/>
                </a:lnTo>
                <a:lnTo>
                  <a:pt x="0" y="89061"/>
                </a:lnTo>
                <a:close/>
              </a:path>
            </a:pathLst>
          </a:custGeom>
          <a:ln w="424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063706" y="5111303"/>
            <a:ext cx="12065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orbel"/>
                <a:cs typeface="Corbel"/>
              </a:rPr>
              <a:t>B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004849" y="5514178"/>
            <a:ext cx="245980" cy="23749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53957" y="5454804"/>
            <a:ext cx="339282" cy="3901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034537" y="5526901"/>
            <a:ext cx="186690" cy="178435"/>
          </a:xfrm>
          <a:custGeom>
            <a:avLst/>
            <a:gdLst/>
            <a:ahLst/>
            <a:cxnLst/>
            <a:rect l="l" t="t" r="r" b="b"/>
            <a:pathLst>
              <a:path w="186690" h="178435">
                <a:moveTo>
                  <a:pt x="93303" y="0"/>
                </a:moveTo>
                <a:lnTo>
                  <a:pt x="56985" y="6998"/>
                </a:lnTo>
                <a:lnTo>
                  <a:pt x="27327" y="26085"/>
                </a:lnTo>
                <a:lnTo>
                  <a:pt x="7332" y="54395"/>
                </a:lnTo>
                <a:lnTo>
                  <a:pt x="0" y="89062"/>
                </a:lnTo>
                <a:lnTo>
                  <a:pt x="7332" y="123729"/>
                </a:lnTo>
                <a:lnTo>
                  <a:pt x="27327" y="152038"/>
                </a:lnTo>
                <a:lnTo>
                  <a:pt x="56985" y="171124"/>
                </a:lnTo>
                <a:lnTo>
                  <a:pt x="93303" y="178123"/>
                </a:lnTo>
                <a:lnTo>
                  <a:pt x="129620" y="171124"/>
                </a:lnTo>
                <a:lnTo>
                  <a:pt x="159277" y="152038"/>
                </a:lnTo>
                <a:lnTo>
                  <a:pt x="179272" y="123729"/>
                </a:lnTo>
                <a:lnTo>
                  <a:pt x="186604" y="89062"/>
                </a:lnTo>
                <a:lnTo>
                  <a:pt x="179272" y="54395"/>
                </a:lnTo>
                <a:lnTo>
                  <a:pt x="159277" y="26085"/>
                </a:lnTo>
                <a:lnTo>
                  <a:pt x="129620" y="6998"/>
                </a:lnTo>
                <a:lnTo>
                  <a:pt x="933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034537" y="5526901"/>
            <a:ext cx="186690" cy="178435"/>
          </a:xfrm>
          <a:custGeom>
            <a:avLst/>
            <a:gdLst/>
            <a:ahLst/>
            <a:cxnLst/>
            <a:rect l="l" t="t" r="r" b="b"/>
            <a:pathLst>
              <a:path w="186690" h="178435">
                <a:moveTo>
                  <a:pt x="0" y="89061"/>
                </a:moveTo>
                <a:lnTo>
                  <a:pt x="7332" y="54394"/>
                </a:lnTo>
                <a:lnTo>
                  <a:pt x="27327" y="26085"/>
                </a:lnTo>
                <a:lnTo>
                  <a:pt x="56985" y="6998"/>
                </a:lnTo>
                <a:lnTo>
                  <a:pt x="93302" y="0"/>
                </a:lnTo>
                <a:lnTo>
                  <a:pt x="129620" y="6998"/>
                </a:lnTo>
                <a:lnTo>
                  <a:pt x="159277" y="26085"/>
                </a:lnTo>
                <a:lnTo>
                  <a:pt x="179273" y="54394"/>
                </a:lnTo>
                <a:lnTo>
                  <a:pt x="186605" y="89061"/>
                </a:lnTo>
                <a:lnTo>
                  <a:pt x="179273" y="123728"/>
                </a:lnTo>
                <a:lnTo>
                  <a:pt x="159277" y="152037"/>
                </a:lnTo>
                <a:lnTo>
                  <a:pt x="129620" y="171124"/>
                </a:lnTo>
                <a:lnTo>
                  <a:pt x="93302" y="178123"/>
                </a:lnTo>
                <a:lnTo>
                  <a:pt x="56985" y="171124"/>
                </a:lnTo>
                <a:lnTo>
                  <a:pt x="27327" y="152037"/>
                </a:lnTo>
                <a:lnTo>
                  <a:pt x="7332" y="123728"/>
                </a:lnTo>
                <a:lnTo>
                  <a:pt x="0" y="89061"/>
                </a:lnTo>
                <a:close/>
              </a:path>
            </a:pathLst>
          </a:custGeom>
          <a:ln w="424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066887" y="5492996"/>
            <a:ext cx="1149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orbel"/>
                <a:cs typeface="Corbel"/>
              </a:rPr>
              <a:t>C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004849" y="5895871"/>
            <a:ext cx="245980" cy="2459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945476" y="5844979"/>
            <a:ext cx="356246" cy="39017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034537" y="5908595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90" h="186689">
                <a:moveTo>
                  <a:pt x="93303" y="0"/>
                </a:moveTo>
                <a:lnTo>
                  <a:pt x="56985" y="7332"/>
                </a:lnTo>
                <a:lnTo>
                  <a:pt x="27327" y="27327"/>
                </a:lnTo>
                <a:lnTo>
                  <a:pt x="7332" y="56985"/>
                </a:lnTo>
                <a:lnTo>
                  <a:pt x="0" y="93302"/>
                </a:lnTo>
                <a:lnTo>
                  <a:pt x="7332" y="129620"/>
                </a:lnTo>
                <a:lnTo>
                  <a:pt x="27327" y="159277"/>
                </a:lnTo>
                <a:lnTo>
                  <a:pt x="56985" y="179273"/>
                </a:lnTo>
                <a:lnTo>
                  <a:pt x="93303" y="186605"/>
                </a:lnTo>
                <a:lnTo>
                  <a:pt x="129620" y="179273"/>
                </a:lnTo>
                <a:lnTo>
                  <a:pt x="159277" y="159277"/>
                </a:lnTo>
                <a:lnTo>
                  <a:pt x="179272" y="129620"/>
                </a:lnTo>
                <a:lnTo>
                  <a:pt x="186604" y="93302"/>
                </a:lnTo>
                <a:lnTo>
                  <a:pt x="179272" y="56985"/>
                </a:lnTo>
                <a:lnTo>
                  <a:pt x="159277" y="27327"/>
                </a:lnTo>
                <a:lnTo>
                  <a:pt x="129620" y="7332"/>
                </a:lnTo>
                <a:lnTo>
                  <a:pt x="933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034537" y="5908595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90" h="186689">
                <a:moveTo>
                  <a:pt x="0" y="93302"/>
                </a:moveTo>
                <a:lnTo>
                  <a:pt x="7332" y="56985"/>
                </a:lnTo>
                <a:lnTo>
                  <a:pt x="27327" y="27327"/>
                </a:lnTo>
                <a:lnTo>
                  <a:pt x="56985" y="7332"/>
                </a:lnTo>
                <a:lnTo>
                  <a:pt x="93302" y="0"/>
                </a:lnTo>
                <a:lnTo>
                  <a:pt x="129620" y="7332"/>
                </a:lnTo>
                <a:lnTo>
                  <a:pt x="159277" y="27327"/>
                </a:lnTo>
                <a:lnTo>
                  <a:pt x="179273" y="56985"/>
                </a:lnTo>
                <a:lnTo>
                  <a:pt x="186605" y="93302"/>
                </a:lnTo>
                <a:lnTo>
                  <a:pt x="179273" y="129620"/>
                </a:lnTo>
                <a:lnTo>
                  <a:pt x="159277" y="159277"/>
                </a:lnTo>
                <a:lnTo>
                  <a:pt x="129620" y="179273"/>
                </a:lnTo>
                <a:lnTo>
                  <a:pt x="93302" y="186605"/>
                </a:lnTo>
                <a:lnTo>
                  <a:pt x="56985" y="179273"/>
                </a:lnTo>
                <a:lnTo>
                  <a:pt x="27327" y="159277"/>
                </a:lnTo>
                <a:lnTo>
                  <a:pt x="7332" y="129620"/>
                </a:lnTo>
                <a:lnTo>
                  <a:pt x="0" y="93302"/>
                </a:lnTo>
                <a:close/>
              </a:path>
            </a:pathLst>
          </a:custGeom>
          <a:ln w="424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7058935" y="5883171"/>
            <a:ext cx="1308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orbel"/>
                <a:cs typeface="Corbel"/>
              </a:rPr>
              <a:t>D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004849" y="6286047"/>
            <a:ext cx="245980" cy="24598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953957" y="6235154"/>
            <a:ext cx="339282" cy="39017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034537" y="6298770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90" h="186689">
                <a:moveTo>
                  <a:pt x="93303" y="0"/>
                </a:moveTo>
                <a:lnTo>
                  <a:pt x="56985" y="7332"/>
                </a:lnTo>
                <a:lnTo>
                  <a:pt x="27327" y="27327"/>
                </a:lnTo>
                <a:lnTo>
                  <a:pt x="7332" y="56985"/>
                </a:lnTo>
                <a:lnTo>
                  <a:pt x="0" y="93302"/>
                </a:lnTo>
                <a:lnTo>
                  <a:pt x="7332" y="129620"/>
                </a:lnTo>
                <a:lnTo>
                  <a:pt x="27327" y="159277"/>
                </a:lnTo>
                <a:lnTo>
                  <a:pt x="56985" y="179273"/>
                </a:lnTo>
                <a:lnTo>
                  <a:pt x="93303" y="186605"/>
                </a:lnTo>
                <a:lnTo>
                  <a:pt x="129620" y="179273"/>
                </a:lnTo>
                <a:lnTo>
                  <a:pt x="159277" y="159277"/>
                </a:lnTo>
                <a:lnTo>
                  <a:pt x="179272" y="129620"/>
                </a:lnTo>
                <a:lnTo>
                  <a:pt x="186604" y="93302"/>
                </a:lnTo>
                <a:lnTo>
                  <a:pt x="179272" y="56985"/>
                </a:lnTo>
                <a:lnTo>
                  <a:pt x="159277" y="27327"/>
                </a:lnTo>
                <a:lnTo>
                  <a:pt x="129620" y="7332"/>
                </a:lnTo>
                <a:lnTo>
                  <a:pt x="933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034537" y="6298770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90" h="186689">
                <a:moveTo>
                  <a:pt x="0" y="93302"/>
                </a:moveTo>
                <a:lnTo>
                  <a:pt x="7332" y="56985"/>
                </a:lnTo>
                <a:lnTo>
                  <a:pt x="27327" y="27327"/>
                </a:lnTo>
                <a:lnTo>
                  <a:pt x="56985" y="7332"/>
                </a:lnTo>
                <a:lnTo>
                  <a:pt x="93302" y="0"/>
                </a:lnTo>
                <a:lnTo>
                  <a:pt x="129620" y="7332"/>
                </a:lnTo>
                <a:lnTo>
                  <a:pt x="159277" y="27327"/>
                </a:lnTo>
                <a:lnTo>
                  <a:pt x="179273" y="56985"/>
                </a:lnTo>
                <a:lnTo>
                  <a:pt x="186605" y="93302"/>
                </a:lnTo>
                <a:lnTo>
                  <a:pt x="179273" y="129620"/>
                </a:lnTo>
                <a:lnTo>
                  <a:pt x="159277" y="159277"/>
                </a:lnTo>
                <a:lnTo>
                  <a:pt x="129620" y="179273"/>
                </a:lnTo>
                <a:lnTo>
                  <a:pt x="93302" y="186605"/>
                </a:lnTo>
                <a:lnTo>
                  <a:pt x="56985" y="179273"/>
                </a:lnTo>
                <a:lnTo>
                  <a:pt x="27327" y="159277"/>
                </a:lnTo>
                <a:lnTo>
                  <a:pt x="7332" y="129620"/>
                </a:lnTo>
                <a:lnTo>
                  <a:pt x="0" y="93302"/>
                </a:lnTo>
                <a:close/>
              </a:path>
            </a:pathLst>
          </a:custGeom>
          <a:ln w="424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7067948" y="6273347"/>
            <a:ext cx="1123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orbel"/>
                <a:cs typeface="Corbel"/>
              </a:rPr>
              <a:t>E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7"/>
              </a:rPr>
              <a:t>http://cs224w.stanford.edu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50" name="object 50"/>
          <p:cNvSpPr txBox="1"/>
          <p:nvPr/>
        </p:nvSpPr>
        <p:spPr>
          <a:xfrm>
            <a:off x="956563" y="2414523"/>
            <a:ext cx="7729220" cy="21463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314325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Common </a:t>
            </a:r>
            <a:r>
              <a:rPr dirty="0" sz="2800" spc="-10" b="1">
                <a:latin typeface="Calibri"/>
                <a:cs typeface="Calibri"/>
              </a:rPr>
              <a:t>approach: </a:t>
            </a:r>
            <a:r>
              <a:rPr dirty="0" sz="2800" spc="-5">
                <a:latin typeface="Calibri"/>
                <a:cs typeface="Calibri"/>
              </a:rPr>
              <a:t>Connect 2-hop </a:t>
            </a:r>
            <a:r>
              <a:rPr dirty="0" sz="2800" spc="-10">
                <a:latin typeface="Calibri"/>
                <a:cs typeface="Calibri"/>
              </a:rPr>
              <a:t>neighbors </a:t>
            </a:r>
            <a:r>
              <a:rPr dirty="0" sz="2800" spc="-5">
                <a:latin typeface="Calibri"/>
                <a:cs typeface="Calibri"/>
              </a:rPr>
              <a:t>via  virtual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edges</a:t>
            </a:r>
            <a:endParaRPr sz="2800">
              <a:latin typeface="Calibri"/>
              <a:cs typeface="Calibri"/>
            </a:endParaRPr>
          </a:p>
          <a:p>
            <a:pPr marL="287020" marR="507365" indent="-274320">
              <a:lnSpc>
                <a:spcPts val="3290"/>
              </a:lnSpc>
              <a:spcBef>
                <a:spcPts val="80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Intuition: </a:t>
            </a:r>
            <a:r>
              <a:rPr dirty="0" sz="2800" spc="-15">
                <a:latin typeface="Calibri"/>
                <a:cs typeface="Calibri"/>
              </a:rPr>
              <a:t>Instead </a:t>
            </a:r>
            <a:r>
              <a:rPr dirty="0" sz="2800" spc="-5">
                <a:latin typeface="Calibri"/>
                <a:cs typeface="Calibri"/>
              </a:rPr>
              <a:t>of using adj. </a:t>
            </a:r>
            <a:r>
              <a:rPr dirty="0" sz="2800" spc="-10">
                <a:latin typeface="Calibri"/>
                <a:cs typeface="Calibri"/>
              </a:rPr>
              <a:t>matrix </a:t>
            </a:r>
            <a:r>
              <a:rPr dirty="0" sz="2800">
                <a:latin typeface="Cambria Math"/>
                <a:cs typeface="Cambria Math"/>
              </a:rPr>
              <a:t>𝐴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GNN  </a:t>
            </a:r>
            <a:r>
              <a:rPr dirty="0" sz="2800" spc="-10">
                <a:latin typeface="Calibri"/>
                <a:cs typeface="Calibri"/>
              </a:rPr>
              <a:t>computation,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>
                <a:solidFill>
                  <a:srgbClr val="60B5CC"/>
                </a:solidFill>
                <a:latin typeface="Cambria Math"/>
                <a:cs typeface="Cambria Math"/>
              </a:rPr>
              <a:t>𝐴 +</a:t>
            </a:r>
            <a:r>
              <a:rPr dirty="0" sz="2800" spc="-45">
                <a:solidFill>
                  <a:srgbClr val="60B5CC"/>
                </a:solidFill>
                <a:latin typeface="Cambria Math"/>
                <a:cs typeface="Cambria Math"/>
              </a:rPr>
              <a:t> </a:t>
            </a:r>
            <a:r>
              <a:rPr dirty="0" sz="2800" spc="-90">
                <a:solidFill>
                  <a:srgbClr val="60B5CC"/>
                </a:solidFill>
                <a:latin typeface="Cambria Math"/>
                <a:cs typeface="Cambria Math"/>
              </a:rPr>
              <a:t>𝐴</a:t>
            </a:r>
            <a:r>
              <a:rPr dirty="0" baseline="29166" sz="3000" spc="-135">
                <a:solidFill>
                  <a:srgbClr val="60B5CC"/>
                </a:solidFill>
                <a:latin typeface="Cambria Math"/>
                <a:cs typeface="Cambria Math"/>
              </a:rPr>
              <a:t>Q</a:t>
            </a:r>
            <a:endParaRPr baseline="29166" sz="3000">
              <a:latin typeface="Cambria Math"/>
              <a:cs typeface="Cambria Math"/>
            </a:endParaRPr>
          </a:p>
          <a:p>
            <a:pPr algn="r" marR="5080">
              <a:lnSpc>
                <a:spcPct val="100000"/>
              </a:lnSpc>
              <a:spcBef>
                <a:spcPts val="370"/>
              </a:spcBef>
              <a:tabLst>
                <a:tab pos="1269365" algn="l"/>
              </a:tabLst>
            </a:pPr>
            <a:r>
              <a:rPr dirty="0" sz="1800" b="1">
                <a:latin typeface="Corbel"/>
                <a:cs typeface="Corbel"/>
              </a:rPr>
              <a:t>A</a:t>
            </a:r>
            <a:r>
              <a:rPr dirty="0" sz="1800" spc="-10" b="1">
                <a:latin typeface="Corbel"/>
                <a:cs typeface="Corbel"/>
              </a:rPr>
              <a:t>u</a:t>
            </a:r>
            <a:r>
              <a:rPr dirty="0" sz="1800" b="1">
                <a:latin typeface="Corbel"/>
                <a:cs typeface="Corbel"/>
              </a:rPr>
              <a:t>tho</a:t>
            </a:r>
            <a:r>
              <a:rPr dirty="0" sz="1800" spc="-10" b="1">
                <a:latin typeface="Corbel"/>
                <a:cs typeface="Corbel"/>
              </a:rPr>
              <a:t>r</a:t>
            </a:r>
            <a:r>
              <a:rPr dirty="0" sz="1800" b="1">
                <a:latin typeface="Corbel"/>
                <a:cs typeface="Corbel"/>
              </a:rPr>
              <a:t>s	</a:t>
            </a:r>
            <a:r>
              <a:rPr dirty="0" sz="1800" spc="-10" b="1">
                <a:latin typeface="Corbel"/>
                <a:cs typeface="Corbel"/>
              </a:rPr>
              <a:t>P</a:t>
            </a:r>
            <a:r>
              <a:rPr dirty="0" sz="1800" spc="-5" b="1">
                <a:latin typeface="Corbel"/>
                <a:cs typeface="Corbel"/>
              </a:rPr>
              <a:t>ap</a:t>
            </a:r>
            <a:r>
              <a:rPr dirty="0" sz="1800" b="1">
                <a:latin typeface="Corbel"/>
                <a:cs typeface="Corbel"/>
              </a:rPr>
              <a:t>e</a:t>
            </a:r>
            <a:r>
              <a:rPr dirty="0" sz="1800" spc="-5" b="1">
                <a:latin typeface="Corbel"/>
                <a:cs typeface="Corbel"/>
              </a:rPr>
              <a:t>r</a:t>
            </a:r>
            <a:r>
              <a:rPr dirty="0" sz="1800" b="1">
                <a:latin typeface="Corbel"/>
                <a:cs typeface="Corbel"/>
              </a:rPr>
              <a:t>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18079" y="4651417"/>
            <a:ext cx="5882640" cy="179578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Use </a:t>
            </a:r>
            <a:r>
              <a:rPr dirty="0" sz="2800" spc="-10" b="1">
                <a:latin typeface="Calibri"/>
                <a:cs typeface="Calibri"/>
              </a:rPr>
              <a:t>cases: </a:t>
            </a:r>
            <a:r>
              <a:rPr dirty="0" sz="2800" spc="-10">
                <a:latin typeface="Calibri"/>
                <a:cs typeface="Calibri"/>
              </a:rPr>
              <a:t>Bipartite </a:t>
            </a:r>
            <a:r>
              <a:rPr dirty="0" sz="2800" spc="-15"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Author-to-papers </a:t>
            </a:r>
            <a:r>
              <a:rPr dirty="0" sz="2400" spc="-5">
                <a:latin typeface="Calibri"/>
                <a:cs typeface="Calibri"/>
              </a:rPr>
              <a:t>(they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authored)</a:t>
            </a:r>
            <a:endParaRPr sz="24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50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2-hop virtual edges </a:t>
            </a:r>
            <a:r>
              <a:rPr dirty="0" sz="2400" spc="-25">
                <a:latin typeface="Calibri"/>
                <a:cs typeface="Calibri"/>
              </a:rPr>
              <a:t>make </a:t>
            </a:r>
            <a:r>
              <a:rPr dirty="0" sz="2400">
                <a:latin typeface="Calibri"/>
                <a:cs typeface="Calibri"/>
              </a:rPr>
              <a:t>an </a:t>
            </a:r>
            <a:r>
              <a:rPr dirty="0" sz="2400" spc="-10">
                <a:latin typeface="Calibri"/>
                <a:cs typeface="Calibri"/>
              </a:rPr>
              <a:t>author-author  collaboration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3550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5701" y="1354836"/>
            <a:ext cx="629793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E66C7D"/>
                </a:solidFill>
              </a:rPr>
              <a:t>Motivation: </a:t>
            </a:r>
            <a:r>
              <a:rPr dirty="0" spc="-5" b="0">
                <a:solidFill>
                  <a:srgbClr val="E66C7D"/>
                </a:solidFill>
                <a:latin typeface="Calibri"/>
                <a:cs typeface="Calibri"/>
              </a:rPr>
              <a:t>Augment </a:t>
            </a:r>
            <a:r>
              <a:rPr dirty="0" spc="-15" b="0">
                <a:solidFill>
                  <a:srgbClr val="E66C7D"/>
                </a:solidFill>
                <a:latin typeface="Calibri"/>
                <a:cs typeface="Calibri"/>
              </a:rPr>
              <a:t>sparse</a:t>
            </a:r>
            <a:r>
              <a:rPr dirty="0" spc="0" b="0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E66C7D"/>
                </a:solidFill>
                <a:latin typeface="Calibri"/>
                <a:cs typeface="Calibri"/>
              </a:rPr>
              <a:t>graphs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/>
              <a:t>(2) </a:t>
            </a:r>
            <a:r>
              <a:rPr dirty="0" spc="-5"/>
              <a:t>Add virtual</a:t>
            </a:r>
            <a:r>
              <a:rPr dirty="0" spc="-45"/>
              <a:t> </a:t>
            </a:r>
            <a:r>
              <a:rPr dirty="0" spc="-5"/>
              <a:t>nodes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4155" y="2420619"/>
            <a:ext cx="5916295" cy="3792854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86995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The virtual node will </a:t>
            </a:r>
            <a:r>
              <a:rPr dirty="0" sz="2800" spc="-10">
                <a:latin typeface="Calibri"/>
                <a:cs typeface="Calibri"/>
              </a:rPr>
              <a:t>connect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all the  nodes in 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  <a:p>
            <a:pPr lvl="1" marL="552450" marR="47625" indent="-228600">
              <a:lnSpc>
                <a:spcPct val="100000"/>
              </a:lnSpc>
              <a:spcBef>
                <a:spcPts val="53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Suppose in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>
                <a:latin typeface="Calibri"/>
                <a:cs typeface="Calibri"/>
              </a:rPr>
              <a:t>sparse graph, </a:t>
            </a:r>
            <a:r>
              <a:rPr dirty="0" sz="2400" spc="-15">
                <a:latin typeface="Calibri"/>
                <a:cs typeface="Calibri"/>
              </a:rPr>
              <a:t>two </a:t>
            </a:r>
            <a:r>
              <a:rPr dirty="0" sz="2400" spc="-5">
                <a:latin typeface="Calibri"/>
                <a:cs typeface="Calibri"/>
              </a:rPr>
              <a:t>nodes </a:t>
            </a:r>
            <a:r>
              <a:rPr dirty="0" sz="2400" spc="-20">
                <a:latin typeface="Calibri"/>
                <a:cs typeface="Calibri"/>
              </a:rPr>
              <a:t>have  </a:t>
            </a:r>
            <a:r>
              <a:rPr dirty="0" sz="2400" spc="-10">
                <a:latin typeface="Calibri"/>
                <a:cs typeface="Calibri"/>
              </a:rPr>
              <a:t>shortest path distance </a:t>
            </a:r>
            <a:r>
              <a:rPr dirty="0" sz="2400" spc="-5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10</a:t>
            </a:r>
            <a:endParaRPr sz="24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50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After </a:t>
            </a:r>
            <a:r>
              <a:rPr dirty="0" sz="2400" spc="-5">
                <a:latin typeface="Calibri"/>
                <a:cs typeface="Calibri"/>
              </a:rPr>
              <a:t>adding the virtual node,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nodes  will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have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distance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lvl="2" marL="771525" indent="-182880">
              <a:lnSpc>
                <a:spcPct val="100000"/>
              </a:lnSpc>
              <a:spcBef>
                <a:spcPts val="515"/>
              </a:spcBef>
              <a:buClr>
                <a:srgbClr val="6BB76D"/>
              </a:buClr>
              <a:buFont typeface="Malgun Gothic"/>
              <a:buChar char="▪"/>
              <a:tabLst>
                <a:tab pos="771525" algn="l"/>
              </a:tabLst>
            </a:pPr>
            <a:r>
              <a:rPr dirty="0" sz="2000" spc="-5" b="1">
                <a:latin typeface="Calibri"/>
                <a:cs typeface="Calibri"/>
              </a:rPr>
              <a:t>Node </a:t>
            </a:r>
            <a:r>
              <a:rPr dirty="0" sz="2000" b="1">
                <a:latin typeface="Calibri"/>
                <a:cs typeface="Calibri"/>
              </a:rPr>
              <a:t>A – </a:t>
            </a:r>
            <a:r>
              <a:rPr dirty="0" sz="2000" spc="-5" b="1">
                <a:latin typeface="Calibri"/>
                <a:cs typeface="Calibri"/>
              </a:rPr>
              <a:t>Virtual </a:t>
            </a:r>
            <a:r>
              <a:rPr dirty="0" sz="2000" b="1">
                <a:latin typeface="Calibri"/>
                <a:cs typeface="Calibri"/>
              </a:rPr>
              <a:t>node – </a:t>
            </a:r>
            <a:r>
              <a:rPr dirty="0" sz="2000" spc="-5" b="1">
                <a:latin typeface="Calibri"/>
                <a:cs typeface="Calibri"/>
              </a:rPr>
              <a:t>Node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  <a:p>
            <a:pPr marL="287020" marR="386715" indent="-274320">
              <a:lnSpc>
                <a:spcPct val="101400"/>
              </a:lnSpc>
              <a:spcBef>
                <a:spcPts val="54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Benefits: </a:t>
            </a:r>
            <a:r>
              <a:rPr dirty="0" sz="2800" spc="-15">
                <a:latin typeface="Calibri"/>
                <a:cs typeface="Calibri"/>
              </a:rPr>
              <a:t>Greatly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improves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message 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passing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sparse</a:t>
            </a:r>
            <a:r>
              <a:rPr dirty="0" sz="28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50761" y="3967294"/>
            <a:ext cx="1881233" cy="1903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93078" y="3035395"/>
            <a:ext cx="1323827" cy="20315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13321" y="3296484"/>
            <a:ext cx="197485" cy="2103755"/>
          </a:xfrm>
          <a:custGeom>
            <a:avLst/>
            <a:gdLst/>
            <a:ahLst/>
            <a:cxnLst/>
            <a:rect l="l" t="t" r="r" b="b"/>
            <a:pathLst>
              <a:path w="197484" h="2103754">
                <a:moveTo>
                  <a:pt x="177746" y="0"/>
                </a:moveTo>
                <a:lnTo>
                  <a:pt x="171613" y="5201"/>
                </a:lnTo>
                <a:lnTo>
                  <a:pt x="170464" y="19208"/>
                </a:lnTo>
                <a:lnTo>
                  <a:pt x="175666" y="25340"/>
                </a:lnTo>
                <a:lnTo>
                  <a:pt x="189646" y="26488"/>
                </a:lnTo>
                <a:lnTo>
                  <a:pt x="195779" y="21286"/>
                </a:lnTo>
                <a:lnTo>
                  <a:pt x="196928" y="7279"/>
                </a:lnTo>
                <a:lnTo>
                  <a:pt x="191726" y="1148"/>
                </a:lnTo>
                <a:lnTo>
                  <a:pt x="177746" y="0"/>
                </a:lnTo>
                <a:close/>
              </a:path>
              <a:path w="197484" h="2103754">
                <a:moveTo>
                  <a:pt x="173588" y="50655"/>
                </a:moveTo>
                <a:lnTo>
                  <a:pt x="167455" y="55857"/>
                </a:lnTo>
                <a:lnTo>
                  <a:pt x="166306" y="69863"/>
                </a:lnTo>
                <a:lnTo>
                  <a:pt x="171508" y="75995"/>
                </a:lnTo>
                <a:lnTo>
                  <a:pt x="185489" y="77143"/>
                </a:lnTo>
                <a:lnTo>
                  <a:pt x="191621" y="71941"/>
                </a:lnTo>
                <a:lnTo>
                  <a:pt x="192770" y="57934"/>
                </a:lnTo>
                <a:lnTo>
                  <a:pt x="187568" y="51803"/>
                </a:lnTo>
                <a:lnTo>
                  <a:pt x="173588" y="50655"/>
                </a:lnTo>
                <a:close/>
              </a:path>
              <a:path w="197484" h="2103754">
                <a:moveTo>
                  <a:pt x="169430" y="101310"/>
                </a:moveTo>
                <a:lnTo>
                  <a:pt x="163299" y="106512"/>
                </a:lnTo>
                <a:lnTo>
                  <a:pt x="162148" y="120517"/>
                </a:lnTo>
                <a:lnTo>
                  <a:pt x="167350" y="126650"/>
                </a:lnTo>
                <a:lnTo>
                  <a:pt x="181331" y="127798"/>
                </a:lnTo>
                <a:lnTo>
                  <a:pt x="187463" y="122596"/>
                </a:lnTo>
                <a:lnTo>
                  <a:pt x="188614" y="108590"/>
                </a:lnTo>
                <a:lnTo>
                  <a:pt x="183412" y="102458"/>
                </a:lnTo>
                <a:lnTo>
                  <a:pt x="169430" y="101310"/>
                </a:lnTo>
                <a:close/>
              </a:path>
              <a:path w="197484" h="2103754">
                <a:moveTo>
                  <a:pt x="165272" y="151965"/>
                </a:moveTo>
                <a:lnTo>
                  <a:pt x="159141" y="157167"/>
                </a:lnTo>
                <a:lnTo>
                  <a:pt x="157990" y="171173"/>
                </a:lnTo>
                <a:lnTo>
                  <a:pt x="163192" y="177305"/>
                </a:lnTo>
                <a:lnTo>
                  <a:pt x="177173" y="178454"/>
                </a:lnTo>
                <a:lnTo>
                  <a:pt x="183305" y="173252"/>
                </a:lnTo>
                <a:lnTo>
                  <a:pt x="184456" y="159245"/>
                </a:lnTo>
                <a:lnTo>
                  <a:pt x="179254" y="153113"/>
                </a:lnTo>
                <a:lnTo>
                  <a:pt x="165272" y="151965"/>
                </a:lnTo>
                <a:close/>
              </a:path>
              <a:path w="197484" h="2103754">
                <a:moveTo>
                  <a:pt x="161116" y="202620"/>
                </a:moveTo>
                <a:lnTo>
                  <a:pt x="154983" y="207822"/>
                </a:lnTo>
                <a:lnTo>
                  <a:pt x="153833" y="221828"/>
                </a:lnTo>
                <a:lnTo>
                  <a:pt x="159034" y="227961"/>
                </a:lnTo>
                <a:lnTo>
                  <a:pt x="173015" y="229108"/>
                </a:lnTo>
                <a:lnTo>
                  <a:pt x="179148" y="223907"/>
                </a:lnTo>
                <a:lnTo>
                  <a:pt x="180298" y="209900"/>
                </a:lnTo>
                <a:lnTo>
                  <a:pt x="175096" y="203768"/>
                </a:lnTo>
                <a:lnTo>
                  <a:pt x="161116" y="202620"/>
                </a:lnTo>
                <a:close/>
              </a:path>
              <a:path w="197484" h="2103754">
                <a:moveTo>
                  <a:pt x="156958" y="253276"/>
                </a:moveTo>
                <a:lnTo>
                  <a:pt x="150825" y="258476"/>
                </a:lnTo>
                <a:lnTo>
                  <a:pt x="149675" y="272483"/>
                </a:lnTo>
                <a:lnTo>
                  <a:pt x="154877" y="278615"/>
                </a:lnTo>
                <a:lnTo>
                  <a:pt x="168857" y="279763"/>
                </a:lnTo>
                <a:lnTo>
                  <a:pt x="174990" y="274561"/>
                </a:lnTo>
                <a:lnTo>
                  <a:pt x="176140" y="260555"/>
                </a:lnTo>
                <a:lnTo>
                  <a:pt x="170938" y="254422"/>
                </a:lnTo>
                <a:lnTo>
                  <a:pt x="156958" y="253276"/>
                </a:lnTo>
                <a:close/>
              </a:path>
              <a:path w="197484" h="2103754">
                <a:moveTo>
                  <a:pt x="152800" y="303931"/>
                </a:moveTo>
                <a:lnTo>
                  <a:pt x="146668" y="309131"/>
                </a:lnTo>
                <a:lnTo>
                  <a:pt x="145517" y="323138"/>
                </a:lnTo>
                <a:lnTo>
                  <a:pt x="150719" y="329270"/>
                </a:lnTo>
                <a:lnTo>
                  <a:pt x="164701" y="330418"/>
                </a:lnTo>
                <a:lnTo>
                  <a:pt x="170832" y="325216"/>
                </a:lnTo>
                <a:lnTo>
                  <a:pt x="171982" y="311210"/>
                </a:lnTo>
                <a:lnTo>
                  <a:pt x="166781" y="305078"/>
                </a:lnTo>
                <a:lnTo>
                  <a:pt x="152800" y="303931"/>
                </a:lnTo>
                <a:close/>
              </a:path>
              <a:path w="197484" h="2103754">
                <a:moveTo>
                  <a:pt x="148642" y="354585"/>
                </a:moveTo>
                <a:lnTo>
                  <a:pt x="142510" y="359787"/>
                </a:lnTo>
                <a:lnTo>
                  <a:pt x="141359" y="373794"/>
                </a:lnTo>
                <a:lnTo>
                  <a:pt x="146561" y="379925"/>
                </a:lnTo>
                <a:lnTo>
                  <a:pt x="160543" y="381073"/>
                </a:lnTo>
                <a:lnTo>
                  <a:pt x="166674" y="375871"/>
                </a:lnTo>
                <a:lnTo>
                  <a:pt x="167825" y="361866"/>
                </a:lnTo>
                <a:lnTo>
                  <a:pt x="162623" y="355733"/>
                </a:lnTo>
                <a:lnTo>
                  <a:pt x="148642" y="354585"/>
                </a:lnTo>
                <a:close/>
              </a:path>
              <a:path w="197484" h="2103754">
                <a:moveTo>
                  <a:pt x="144484" y="405240"/>
                </a:moveTo>
                <a:lnTo>
                  <a:pt x="138352" y="410442"/>
                </a:lnTo>
                <a:lnTo>
                  <a:pt x="137203" y="424449"/>
                </a:lnTo>
                <a:lnTo>
                  <a:pt x="142403" y="430580"/>
                </a:lnTo>
                <a:lnTo>
                  <a:pt x="156385" y="431728"/>
                </a:lnTo>
                <a:lnTo>
                  <a:pt x="162516" y="426526"/>
                </a:lnTo>
                <a:lnTo>
                  <a:pt x="163667" y="412521"/>
                </a:lnTo>
                <a:lnTo>
                  <a:pt x="158465" y="406388"/>
                </a:lnTo>
                <a:lnTo>
                  <a:pt x="144484" y="405240"/>
                </a:lnTo>
                <a:close/>
              </a:path>
              <a:path w="197484" h="2103754">
                <a:moveTo>
                  <a:pt x="140327" y="455895"/>
                </a:moveTo>
                <a:lnTo>
                  <a:pt x="134194" y="461097"/>
                </a:lnTo>
                <a:lnTo>
                  <a:pt x="133045" y="475104"/>
                </a:lnTo>
                <a:lnTo>
                  <a:pt x="138247" y="481236"/>
                </a:lnTo>
                <a:lnTo>
                  <a:pt x="152227" y="482384"/>
                </a:lnTo>
                <a:lnTo>
                  <a:pt x="158360" y="477182"/>
                </a:lnTo>
                <a:lnTo>
                  <a:pt x="159509" y="463175"/>
                </a:lnTo>
                <a:lnTo>
                  <a:pt x="154307" y="457043"/>
                </a:lnTo>
                <a:lnTo>
                  <a:pt x="140327" y="455895"/>
                </a:lnTo>
                <a:close/>
              </a:path>
              <a:path w="197484" h="2103754">
                <a:moveTo>
                  <a:pt x="136169" y="506550"/>
                </a:moveTo>
                <a:lnTo>
                  <a:pt x="130036" y="511752"/>
                </a:lnTo>
                <a:lnTo>
                  <a:pt x="128887" y="525758"/>
                </a:lnTo>
                <a:lnTo>
                  <a:pt x="134089" y="531891"/>
                </a:lnTo>
                <a:lnTo>
                  <a:pt x="148069" y="533039"/>
                </a:lnTo>
                <a:lnTo>
                  <a:pt x="154202" y="527837"/>
                </a:lnTo>
                <a:lnTo>
                  <a:pt x="155351" y="513830"/>
                </a:lnTo>
                <a:lnTo>
                  <a:pt x="150150" y="507699"/>
                </a:lnTo>
                <a:lnTo>
                  <a:pt x="136169" y="506550"/>
                </a:lnTo>
                <a:close/>
              </a:path>
              <a:path w="197484" h="2103754">
                <a:moveTo>
                  <a:pt x="132011" y="557206"/>
                </a:moveTo>
                <a:lnTo>
                  <a:pt x="125879" y="562408"/>
                </a:lnTo>
                <a:lnTo>
                  <a:pt x="124729" y="576413"/>
                </a:lnTo>
                <a:lnTo>
                  <a:pt x="129931" y="582546"/>
                </a:lnTo>
                <a:lnTo>
                  <a:pt x="143912" y="583694"/>
                </a:lnTo>
                <a:lnTo>
                  <a:pt x="150044" y="578492"/>
                </a:lnTo>
                <a:lnTo>
                  <a:pt x="151194" y="564485"/>
                </a:lnTo>
                <a:lnTo>
                  <a:pt x="145992" y="558354"/>
                </a:lnTo>
                <a:lnTo>
                  <a:pt x="132011" y="557206"/>
                </a:lnTo>
                <a:close/>
              </a:path>
              <a:path w="197484" h="2103754">
                <a:moveTo>
                  <a:pt x="127853" y="607861"/>
                </a:moveTo>
                <a:lnTo>
                  <a:pt x="121721" y="613063"/>
                </a:lnTo>
                <a:lnTo>
                  <a:pt x="120571" y="627068"/>
                </a:lnTo>
                <a:lnTo>
                  <a:pt x="125773" y="633201"/>
                </a:lnTo>
                <a:lnTo>
                  <a:pt x="139754" y="634348"/>
                </a:lnTo>
                <a:lnTo>
                  <a:pt x="145886" y="629147"/>
                </a:lnTo>
                <a:lnTo>
                  <a:pt x="147036" y="615141"/>
                </a:lnTo>
                <a:lnTo>
                  <a:pt x="141834" y="609009"/>
                </a:lnTo>
                <a:lnTo>
                  <a:pt x="127853" y="607861"/>
                </a:lnTo>
                <a:close/>
              </a:path>
              <a:path w="197484" h="2103754">
                <a:moveTo>
                  <a:pt x="123695" y="658516"/>
                </a:moveTo>
                <a:lnTo>
                  <a:pt x="117563" y="663717"/>
                </a:lnTo>
                <a:lnTo>
                  <a:pt x="116414" y="677724"/>
                </a:lnTo>
                <a:lnTo>
                  <a:pt x="121615" y="683855"/>
                </a:lnTo>
                <a:lnTo>
                  <a:pt x="135596" y="685003"/>
                </a:lnTo>
                <a:lnTo>
                  <a:pt x="141729" y="679801"/>
                </a:lnTo>
                <a:lnTo>
                  <a:pt x="142878" y="665796"/>
                </a:lnTo>
                <a:lnTo>
                  <a:pt x="137676" y="659663"/>
                </a:lnTo>
                <a:lnTo>
                  <a:pt x="123695" y="658516"/>
                </a:lnTo>
                <a:close/>
              </a:path>
              <a:path w="197484" h="2103754">
                <a:moveTo>
                  <a:pt x="119538" y="709171"/>
                </a:moveTo>
                <a:lnTo>
                  <a:pt x="113405" y="714372"/>
                </a:lnTo>
                <a:lnTo>
                  <a:pt x="112256" y="728379"/>
                </a:lnTo>
                <a:lnTo>
                  <a:pt x="117458" y="734510"/>
                </a:lnTo>
                <a:lnTo>
                  <a:pt x="131438" y="735658"/>
                </a:lnTo>
                <a:lnTo>
                  <a:pt x="137571" y="730457"/>
                </a:lnTo>
                <a:lnTo>
                  <a:pt x="138720" y="716451"/>
                </a:lnTo>
                <a:lnTo>
                  <a:pt x="133518" y="710318"/>
                </a:lnTo>
                <a:lnTo>
                  <a:pt x="119538" y="709171"/>
                </a:lnTo>
                <a:close/>
              </a:path>
              <a:path w="197484" h="2103754">
                <a:moveTo>
                  <a:pt x="115380" y="759825"/>
                </a:moveTo>
                <a:lnTo>
                  <a:pt x="109247" y="765027"/>
                </a:lnTo>
                <a:lnTo>
                  <a:pt x="108098" y="779034"/>
                </a:lnTo>
                <a:lnTo>
                  <a:pt x="113300" y="785166"/>
                </a:lnTo>
                <a:lnTo>
                  <a:pt x="127280" y="786314"/>
                </a:lnTo>
                <a:lnTo>
                  <a:pt x="133413" y="781112"/>
                </a:lnTo>
                <a:lnTo>
                  <a:pt x="134562" y="767106"/>
                </a:lnTo>
                <a:lnTo>
                  <a:pt x="129362" y="760973"/>
                </a:lnTo>
                <a:lnTo>
                  <a:pt x="115380" y="759825"/>
                </a:lnTo>
                <a:close/>
              </a:path>
              <a:path w="197484" h="2103754">
                <a:moveTo>
                  <a:pt x="111222" y="810480"/>
                </a:moveTo>
                <a:lnTo>
                  <a:pt x="105091" y="815682"/>
                </a:lnTo>
                <a:lnTo>
                  <a:pt x="103940" y="829689"/>
                </a:lnTo>
                <a:lnTo>
                  <a:pt x="109142" y="835821"/>
                </a:lnTo>
                <a:lnTo>
                  <a:pt x="123123" y="836969"/>
                </a:lnTo>
                <a:lnTo>
                  <a:pt x="129255" y="831767"/>
                </a:lnTo>
                <a:lnTo>
                  <a:pt x="130406" y="817761"/>
                </a:lnTo>
                <a:lnTo>
                  <a:pt x="125204" y="811629"/>
                </a:lnTo>
                <a:lnTo>
                  <a:pt x="111222" y="810480"/>
                </a:lnTo>
                <a:close/>
              </a:path>
              <a:path w="197484" h="2103754">
                <a:moveTo>
                  <a:pt x="107064" y="861136"/>
                </a:moveTo>
                <a:lnTo>
                  <a:pt x="100933" y="866338"/>
                </a:lnTo>
                <a:lnTo>
                  <a:pt x="99782" y="880344"/>
                </a:lnTo>
                <a:lnTo>
                  <a:pt x="104984" y="886476"/>
                </a:lnTo>
                <a:lnTo>
                  <a:pt x="118965" y="887624"/>
                </a:lnTo>
                <a:lnTo>
                  <a:pt x="125097" y="882422"/>
                </a:lnTo>
                <a:lnTo>
                  <a:pt x="126248" y="868415"/>
                </a:lnTo>
                <a:lnTo>
                  <a:pt x="121046" y="862284"/>
                </a:lnTo>
                <a:lnTo>
                  <a:pt x="107064" y="861136"/>
                </a:lnTo>
                <a:close/>
              </a:path>
              <a:path w="197484" h="2103754">
                <a:moveTo>
                  <a:pt x="102908" y="911791"/>
                </a:moveTo>
                <a:lnTo>
                  <a:pt x="96775" y="916993"/>
                </a:lnTo>
                <a:lnTo>
                  <a:pt x="95625" y="930998"/>
                </a:lnTo>
                <a:lnTo>
                  <a:pt x="100826" y="937131"/>
                </a:lnTo>
                <a:lnTo>
                  <a:pt x="114807" y="938279"/>
                </a:lnTo>
                <a:lnTo>
                  <a:pt x="120940" y="933077"/>
                </a:lnTo>
                <a:lnTo>
                  <a:pt x="122090" y="919071"/>
                </a:lnTo>
                <a:lnTo>
                  <a:pt x="116888" y="912939"/>
                </a:lnTo>
                <a:lnTo>
                  <a:pt x="102908" y="911791"/>
                </a:lnTo>
                <a:close/>
              </a:path>
              <a:path w="197484" h="2103754">
                <a:moveTo>
                  <a:pt x="98750" y="962446"/>
                </a:moveTo>
                <a:lnTo>
                  <a:pt x="92617" y="967648"/>
                </a:lnTo>
                <a:lnTo>
                  <a:pt x="91467" y="981654"/>
                </a:lnTo>
                <a:lnTo>
                  <a:pt x="96669" y="987786"/>
                </a:lnTo>
                <a:lnTo>
                  <a:pt x="110650" y="988935"/>
                </a:lnTo>
                <a:lnTo>
                  <a:pt x="116782" y="983733"/>
                </a:lnTo>
                <a:lnTo>
                  <a:pt x="117932" y="969726"/>
                </a:lnTo>
                <a:lnTo>
                  <a:pt x="112730" y="963594"/>
                </a:lnTo>
                <a:lnTo>
                  <a:pt x="98750" y="962446"/>
                </a:lnTo>
                <a:close/>
              </a:path>
              <a:path w="197484" h="2103754">
                <a:moveTo>
                  <a:pt x="94592" y="1013101"/>
                </a:moveTo>
                <a:lnTo>
                  <a:pt x="88460" y="1018303"/>
                </a:lnTo>
                <a:lnTo>
                  <a:pt x="87309" y="1032309"/>
                </a:lnTo>
                <a:lnTo>
                  <a:pt x="92511" y="1038442"/>
                </a:lnTo>
                <a:lnTo>
                  <a:pt x="106493" y="1039588"/>
                </a:lnTo>
                <a:lnTo>
                  <a:pt x="112624" y="1034388"/>
                </a:lnTo>
                <a:lnTo>
                  <a:pt x="113774" y="1020381"/>
                </a:lnTo>
                <a:lnTo>
                  <a:pt x="108573" y="1014249"/>
                </a:lnTo>
                <a:lnTo>
                  <a:pt x="94592" y="1013101"/>
                </a:lnTo>
                <a:close/>
              </a:path>
              <a:path w="197484" h="2103754">
                <a:moveTo>
                  <a:pt x="90431" y="1063758"/>
                </a:moveTo>
                <a:lnTo>
                  <a:pt x="84300" y="1068960"/>
                </a:lnTo>
                <a:lnTo>
                  <a:pt x="83153" y="1082967"/>
                </a:lnTo>
                <a:lnTo>
                  <a:pt x="88356" y="1089098"/>
                </a:lnTo>
                <a:lnTo>
                  <a:pt x="102337" y="1090242"/>
                </a:lnTo>
                <a:lnTo>
                  <a:pt x="108468" y="1085041"/>
                </a:lnTo>
                <a:lnTo>
                  <a:pt x="109616" y="1071034"/>
                </a:lnTo>
                <a:lnTo>
                  <a:pt x="104413" y="1064902"/>
                </a:lnTo>
                <a:lnTo>
                  <a:pt x="90431" y="1063758"/>
                </a:lnTo>
                <a:close/>
              </a:path>
              <a:path w="197484" h="2103754">
                <a:moveTo>
                  <a:pt x="86273" y="1114412"/>
                </a:moveTo>
                <a:lnTo>
                  <a:pt x="80143" y="1119615"/>
                </a:lnTo>
                <a:lnTo>
                  <a:pt x="78995" y="1133622"/>
                </a:lnTo>
                <a:lnTo>
                  <a:pt x="84198" y="1139753"/>
                </a:lnTo>
                <a:lnTo>
                  <a:pt x="98179" y="1140898"/>
                </a:lnTo>
                <a:lnTo>
                  <a:pt x="104311" y="1135696"/>
                </a:lnTo>
                <a:lnTo>
                  <a:pt x="105458" y="1121689"/>
                </a:lnTo>
                <a:lnTo>
                  <a:pt x="100255" y="1115557"/>
                </a:lnTo>
                <a:lnTo>
                  <a:pt x="86273" y="1114412"/>
                </a:lnTo>
                <a:close/>
              </a:path>
              <a:path w="197484" h="2103754">
                <a:moveTo>
                  <a:pt x="82116" y="1165067"/>
                </a:moveTo>
                <a:lnTo>
                  <a:pt x="75985" y="1170270"/>
                </a:lnTo>
                <a:lnTo>
                  <a:pt x="74838" y="1184277"/>
                </a:lnTo>
                <a:lnTo>
                  <a:pt x="80040" y="1190409"/>
                </a:lnTo>
                <a:lnTo>
                  <a:pt x="94021" y="1191553"/>
                </a:lnTo>
                <a:lnTo>
                  <a:pt x="100153" y="1186350"/>
                </a:lnTo>
                <a:lnTo>
                  <a:pt x="101300" y="1172344"/>
                </a:lnTo>
                <a:lnTo>
                  <a:pt x="96097" y="1166213"/>
                </a:lnTo>
                <a:lnTo>
                  <a:pt x="82116" y="1165067"/>
                </a:lnTo>
                <a:close/>
              </a:path>
              <a:path w="197484" h="2103754">
                <a:moveTo>
                  <a:pt x="77958" y="1215722"/>
                </a:moveTo>
                <a:lnTo>
                  <a:pt x="71827" y="1220925"/>
                </a:lnTo>
                <a:lnTo>
                  <a:pt x="70680" y="1234932"/>
                </a:lnTo>
                <a:lnTo>
                  <a:pt x="75883" y="1241064"/>
                </a:lnTo>
                <a:lnTo>
                  <a:pt x="89863" y="1242208"/>
                </a:lnTo>
                <a:lnTo>
                  <a:pt x="95995" y="1237005"/>
                </a:lnTo>
                <a:lnTo>
                  <a:pt x="97142" y="1222999"/>
                </a:lnTo>
                <a:lnTo>
                  <a:pt x="91940" y="1216868"/>
                </a:lnTo>
                <a:lnTo>
                  <a:pt x="77958" y="1215722"/>
                </a:lnTo>
                <a:close/>
              </a:path>
              <a:path w="197484" h="2103754">
                <a:moveTo>
                  <a:pt x="73800" y="1266377"/>
                </a:moveTo>
                <a:lnTo>
                  <a:pt x="67669" y="1271581"/>
                </a:lnTo>
                <a:lnTo>
                  <a:pt x="66522" y="1285587"/>
                </a:lnTo>
                <a:lnTo>
                  <a:pt x="71725" y="1291718"/>
                </a:lnTo>
                <a:lnTo>
                  <a:pt x="85707" y="1292863"/>
                </a:lnTo>
                <a:lnTo>
                  <a:pt x="91837" y="1287660"/>
                </a:lnTo>
                <a:lnTo>
                  <a:pt x="92985" y="1273653"/>
                </a:lnTo>
                <a:lnTo>
                  <a:pt x="87782" y="1267523"/>
                </a:lnTo>
                <a:lnTo>
                  <a:pt x="73800" y="1266377"/>
                </a:lnTo>
                <a:close/>
              </a:path>
              <a:path w="197484" h="2103754">
                <a:moveTo>
                  <a:pt x="69642" y="1317033"/>
                </a:moveTo>
                <a:lnTo>
                  <a:pt x="63512" y="1322236"/>
                </a:lnTo>
                <a:lnTo>
                  <a:pt x="62364" y="1336243"/>
                </a:lnTo>
                <a:lnTo>
                  <a:pt x="67567" y="1342373"/>
                </a:lnTo>
                <a:lnTo>
                  <a:pt x="81549" y="1343519"/>
                </a:lnTo>
                <a:lnTo>
                  <a:pt x="87680" y="1338315"/>
                </a:lnTo>
                <a:lnTo>
                  <a:pt x="88827" y="1324309"/>
                </a:lnTo>
                <a:lnTo>
                  <a:pt x="83624" y="1318178"/>
                </a:lnTo>
                <a:lnTo>
                  <a:pt x="69642" y="1317033"/>
                </a:lnTo>
                <a:close/>
              </a:path>
              <a:path w="197484" h="2103754">
                <a:moveTo>
                  <a:pt x="65485" y="1367688"/>
                </a:moveTo>
                <a:lnTo>
                  <a:pt x="59354" y="1372891"/>
                </a:lnTo>
                <a:lnTo>
                  <a:pt x="58207" y="1386898"/>
                </a:lnTo>
                <a:lnTo>
                  <a:pt x="63409" y="1393028"/>
                </a:lnTo>
                <a:lnTo>
                  <a:pt x="77391" y="1394174"/>
                </a:lnTo>
                <a:lnTo>
                  <a:pt x="83522" y="1388971"/>
                </a:lnTo>
                <a:lnTo>
                  <a:pt x="84669" y="1374964"/>
                </a:lnTo>
                <a:lnTo>
                  <a:pt x="79466" y="1368833"/>
                </a:lnTo>
                <a:lnTo>
                  <a:pt x="65485" y="1367688"/>
                </a:lnTo>
                <a:close/>
              </a:path>
              <a:path w="197484" h="2103754">
                <a:moveTo>
                  <a:pt x="61328" y="1418343"/>
                </a:moveTo>
                <a:lnTo>
                  <a:pt x="55196" y="1423546"/>
                </a:lnTo>
                <a:lnTo>
                  <a:pt x="54049" y="1437552"/>
                </a:lnTo>
                <a:lnTo>
                  <a:pt x="59251" y="1443683"/>
                </a:lnTo>
                <a:lnTo>
                  <a:pt x="73233" y="1444829"/>
                </a:lnTo>
                <a:lnTo>
                  <a:pt x="79364" y="1439626"/>
                </a:lnTo>
                <a:lnTo>
                  <a:pt x="80511" y="1425619"/>
                </a:lnTo>
                <a:lnTo>
                  <a:pt x="75308" y="1419487"/>
                </a:lnTo>
                <a:lnTo>
                  <a:pt x="61328" y="1418343"/>
                </a:lnTo>
                <a:close/>
              </a:path>
              <a:path w="197484" h="2103754">
                <a:moveTo>
                  <a:pt x="57170" y="1468998"/>
                </a:moveTo>
                <a:lnTo>
                  <a:pt x="51038" y="1474200"/>
                </a:lnTo>
                <a:lnTo>
                  <a:pt x="49891" y="1488207"/>
                </a:lnTo>
                <a:lnTo>
                  <a:pt x="55095" y="1494339"/>
                </a:lnTo>
                <a:lnTo>
                  <a:pt x="69076" y="1495483"/>
                </a:lnTo>
                <a:lnTo>
                  <a:pt x="75206" y="1490281"/>
                </a:lnTo>
                <a:lnTo>
                  <a:pt x="76353" y="1476274"/>
                </a:lnTo>
                <a:lnTo>
                  <a:pt x="71151" y="1470143"/>
                </a:lnTo>
                <a:lnTo>
                  <a:pt x="57170" y="1468998"/>
                </a:lnTo>
                <a:close/>
              </a:path>
              <a:path w="197484" h="2103754">
                <a:moveTo>
                  <a:pt x="53012" y="1519652"/>
                </a:moveTo>
                <a:lnTo>
                  <a:pt x="46880" y="1524855"/>
                </a:lnTo>
                <a:lnTo>
                  <a:pt x="45733" y="1538862"/>
                </a:lnTo>
                <a:lnTo>
                  <a:pt x="50937" y="1544994"/>
                </a:lnTo>
                <a:lnTo>
                  <a:pt x="64918" y="1546138"/>
                </a:lnTo>
                <a:lnTo>
                  <a:pt x="71048" y="1540936"/>
                </a:lnTo>
                <a:lnTo>
                  <a:pt x="72196" y="1526929"/>
                </a:lnTo>
                <a:lnTo>
                  <a:pt x="66993" y="1520798"/>
                </a:lnTo>
                <a:lnTo>
                  <a:pt x="53012" y="1519652"/>
                </a:lnTo>
                <a:close/>
              </a:path>
              <a:path w="197484" h="2103754">
                <a:moveTo>
                  <a:pt x="48854" y="1570308"/>
                </a:moveTo>
                <a:lnTo>
                  <a:pt x="42724" y="1575511"/>
                </a:lnTo>
                <a:lnTo>
                  <a:pt x="41575" y="1589518"/>
                </a:lnTo>
                <a:lnTo>
                  <a:pt x="46779" y="1595649"/>
                </a:lnTo>
                <a:lnTo>
                  <a:pt x="60760" y="1596793"/>
                </a:lnTo>
                <a:lnTo>
                  <a:pt x="66892" y="1591590"/>
                </a:lnTo>
                <a:lnTo>
                  <a:pt x="68038" y="1577585"/>
                </a:lnTo>
                <a:lnTo>
                  <a:pt x="62835" y="1571453"/>
                </a:lnTo>
                <a:lnTo>
                  <a:pt x="48854" y="1570308"/>
                </a:lnTo>
                <a:close/>
              </a:path>
              <a:path w="197484" h="2103754">
                <a:moveTo>
                  <a:pt x="44696" y="1620963"/>
                </a:moveTo>
                <a:lnTo>
                  <a:pt x="38566" y="1626166"/>
                </a:lnTo>
                <a:lnTo>
                  <a:pt x="37419" y="1640173"/>
                </a:lnTo>
                <a:lnTo>
                  <a:pt x="42621" y="1646303"/>
                </a:lnTo>
                <a:lnTo>
                  <a:pt x="56602" y="1647449"/>
                </a:lnTo>
                <a:lnTo>
                  <a:pt x="62734" y="1642245"/>
                </a:lnTo>
                <a:lnTo>
                  <a:pt x="63880" y="1628239"/>
                </a:lnTo>
                <a:lnTo>
                  <a:pt x="58677" y="1622108"/>
                </a:lnTo>
                <a:lnTo>
                  <a:pt x="44696" y="1620963"/>
                </a:lnTo>
                <a:close/>
              </a:path>
              <a:path w="197484" h="2103754">
                <a:moveTo>
                  <a:pt x="40539" y="1671618"/>
                </a:moveTo>
                <a:lnTo>
                  <a:pt x="34408" y="1676821"/>
                </a:lnTo>
                <a:lnTo>
                  <a:pt x="33261" y="1690828"/>
                </a:lnTo>
                <a:lnTo>
                  <a:pt x="38464" y="1696958"/>
                </a:lnTo>
                <a:lnTo>
                  <a:pt x="52444" y="1698104"/>
                </a:lnTo>
                <a:lnTo>
                  <a:pt x="58576" y="1692901"/>
                </a:lnTo>
                <a:lnTo>
                  <a:pt x="59723" y="1678894"/>
                </a:lnTo>
                <a:lnTo>
                  <a:pt x="54521" y="1672763"/>
                </a:lnTo>
                <a:lnTo>
                  <a:pt x="40539" y="1671618"/>
                </a:lnTo>
                <a:close/>
              </a:path>
              <a:path w="197484" h="2103754">
                <a:moveTo>
                  <a:pt x="36381" y="1722273"/>
                </a:moveTo>
                <a:lnTo>
                  <a:pt x="30250" y="1727476"/>
                </a:lnTo>
                <a:lnTo>
                  <a:pt x="29103" y="1741482"/>
                </a:lnTo>
                <a:lnTo>
                  <a:pt x="34306" y="1747613"/>
                </a:lnTo>
                <a:lnTo>
                  <a:pt x="48287" y="1748759"/>
                </a:lnTo>
                <a:lnTo>
                  <a:pt x="54418" y="1743556"/>
                </a:lnTo>
                <a:lnTo>
                  <a:pt x="55566" y="1729549"/>
                </a:lnTo>
                <a:lnTo>
                  <a:pt x="50363" y="1723417"/>
                </a:lnTo>
                <a:lnTo>
                  <a:pt x="36381" y="1722273"/>
                </a:lnTo>
                <a:close/>
              </a:path>
              <a:path w="197484" h="2103754">
                <a:moveTo>
                  <a:pt x="32223" y="1772928"/>
                </a:moveTo>
                <a:lnTo>
                  <a:pt x="26092" y="1778130"/>
                </a:lnTo>
                <a:lnTo>
                  <a:pt x="24945" y="1792137"/>
                </a:lnTo>
                <a:lnTo>
                  <a:pt x="30148" y="1798269"/>
                </a:lnTo>
                <a:lnTo>
                  <a:pt x="44129" y="1799413"/>
                </a:lnTo>
                <a:lnTo>
                  <a:pt x="50260" y="1794211"/>
                </a:lnTo>
                <a:lnTo>
                  <a:pt x="51408" y="1780204"/>
                </a:lnTo>
                <a:lnTo>
                  <a:pt x="46205" y="1774073"/>
                </a:lnTo>
                <a:lnTo>
                  <a:pt x="32223" y="1772928"/>
                </a:lnTo>
                <a:close/>
              </a:path>
              <a:path w="197484" h="2103754">
                <a:moveTo>
                  <a:pt x="28065" y="1823582"/>
                </a:moveTo>
                <a:lnTo>
                  <a:pt x="21935" y="1828786"/>
                </a:lnTo>
                <a:lnTo>
                  <a:pt x="20787" y="1842792"/>
                </a:lnTo>
                <a:lnTo>
                  <a:pt x="25990" y="1848924"/>
                </a:lnTo>
                <a:lnTo>
                  <a:pt x="39971" y="1850068"/>
                </a:lnTo>
                <a:lnTo>
                  <a:pt x="46103" y="1844865"/>
                </a:lnTo>
                <a:lnTo>
                  <a:pt x="47250" y="1830859"/>
                </a:lnTo>
                <a:lnTo>
                  <a:pt x="42047" y="1824728"/>
                </a:lnTo>
                <a:lnTo>
                  <a:pt x="28065" y="1823582"/>
                </a:lnTo>
                <a:close/>
              </a:path>
              <a:path w="197484" h="2103754">
                <a:moveTo>
                  <a:pt x="23909" y="1874238"/>
                </a:moveTo>
                <a:lnTo>
                  <a:pt x="17777" y="1879441"/>
                </a:lnTo>
                <a:lnTo>
                  <a:pt x="16630" y="1893448"/>
                </a:lnTo>
                <a:lnTo>
                  <a:pt x="21832" y="1899578"/>
                </a:lnTo>
                <a:lnTo>
                  <a:pt x="35813" y="1900723"/>
                </a:lnTo>
                <a:lnTo>
                  <a:pt x="41945" y="1895520"/>
                </a:lnTo>
                <a:lnTo>
                  <a:pt x="43092" y="1881513"/>
                </a:lnTo>
                <a:lnTo>
                  <a:pt x="37889" y="1875383"/>
                </a:lnTo>
                <a:lnTo>
                  <a:pt x="23909" y="1874238"/>
                </a:lnTo>
                <a:close/>
              </a:path>
              <a:path w="197484" h="2103754">
                <a:moveTo>
                  <a:pt x="19751" y="1924893"/>
                </a:moveTo>
                <a:lnTo>
                  <a:pt x="13619" y="1930096"/>
                </a:lnTo>
                <a:lnTo>
                  <a:pt x="12472" y="1944103"/>
                </a:lnTo>
                <a:lnTo>
                  <a:pt x="17675" y="1950233"/>
                </a:lnTo>
                <a:lnTo>
                  <a:pt x="31656" y="1951379"/>
                </a:lnTo>
                <a:lnTo>
                  <a:pt x="37787" y="1946175"/>
                </a:lnTo>
                <a:lnTo>
                  <a:pt x="38934" y="1932169"/>
                </a:lnTo>
                <a:lnTo>
                  <a:pt x="33732" y="1926038"/>
                </a:lnTo>
                <a:lnTo>
                  <a:pt x="19751" y="1924893"/>
                </a:lnTo>
                <a:close/>
              </a:path>
              <a:path w="197484" h="2103754">
                <a:moveTo>
                  <a:pt x="15593" y="1975548"/>
                </a:moveTo>
                <a:lnTo>
                  <a:pt x="9461" y="1980751"/>
                </a:lnTo>
                <a:lnTo>
                  <a:pt x="8314" y="1994757"/>
                </a:lnTo>
                <a:lnTo>
                  <a:pt x="13517" y="2000888"/>
                </a:lnTo>
                <a:lnTo>
                  <a:pt x="27499" y="2002034"/>
                </a:lnTo>
                <a:lnTo>
                  <a:pt x="33629" y="1996831"/>
                </a:lnTo>
                <a:lnTo>
                  <a:pt x="34777" y="1982824"/>
                </a:lnTo>
                <a:lnTo>
                  <a:pt x="29574" y="1976692"/>
                </a:lnTo>
                <a:lnTo>
                  <a:pt x="15593" y="1975548"/>
                </a:lnTo>
                <a:close/>
              </a:path>
              <a:path w="197484" h="2103754">
                <a:moveTo>
                  <a:pt x="11435" y="2026203"/>
                </a:moveTo>
                <a:lnTo>
                  <a:pt x="5304" y="2031405"/>
                </a:lnTo>
                <a:lnTo>
                  <a:pt x="4156" y="2045412"/>
                </a:lnTo>
                <a:lnTo>
                  <a:pt x="9359" y="2051544"/>
                </a:lnTo>
                <a:lnTo>
                  <a:pt x="23341" y="2052689"/>
                </a:lnTo>
                <a:lnTo>
                  <a:pt x="29472" y="2047486"/>
                </a:lnTo>
                <a:lnTo>
                  <a:pt x="30619" y="2033479"/>
                </a:lnTo>
                <a:lnTo>
                  <a:pt x="25416" y="2027347"/>
                </a:lnTo>
                <a:lnTo>
                  <a:pt x="11435" y="2026203"/>
                </a:lnTo>
                <a:close/>
              </a:path>
              <a:path w="197484" h="2103754">
                <a:moveTo>
                  <a:pt x="7277" y="2076858"/>
                </a:moveTo>
                <a:lnTo>
                  <a:pt x="1146" y="2082060"/>
                </a:lnTo>
                <a:lnTo>
                  <a:pt x="0" y="2096067"/>
                </a:lnTo>
                <a:lnTo>
                  <a:pt x="5201" y="2102199"/>
                </a:lnTo>
                <a:lnTo>
                  <a:pt x="19183" y="2103343"/>
                </a:lnTo>
                <a:lnTo>
                  <a:pt x="25314" y="2098141"/>
                </a:lnTo>
                <a:lnTo>
                  <a:pt x="26461" y="2084134"/>
                </a:lnTo>
                <a:lnTo>
                  <a:pt x="21258" y="2078003"/>
                </a:lnTo>
                <a:lnTo>
                  <a:pt x="7277" y="2076858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430973" y="3255083"/>
            <a:ext cx="883919" cy="1929764"/>
          </a:xfrm>
          <a:custGeom>
            <a:avLst/>
            <a:gdLst/>
            <a:ahLst/>
            <a:cxnLst/>
            <a:rect l="l" t="t" r="r" b="b"/>
            <a:pathLst>
              <a:path w="883920" h="1929764">
                <a:moveTo>
                  <a:pt x="867869" y="0"/>
                </a:moveTo>
                <a:lnTo>
                  <a:pt x="860352" y="2853"/>
                </a:lnTo>
                <a:lnTo>
                  <a:pt x="854589" y="15670"/>
                </a:lnTo>
                <a:lnTo>
                  <a:pt x="857443" y="23188"/>
                </a:lnTo>
                <a:lnTo>
                  <a:pt x="870237" y="28942"/>
                </a:lnTo>
                <a:lnTo>
                  <a:pt x="877755" y="26088"/>
                </a:lnTo>
                <a:lnTo>
                  <a:pt x="883518" y="13270"/>
                </a:lnTo>
                <a:lnTo>
                  <a:pt x="880663" y="5753"/>
                </a:lnTo>
                <a:lnTo>
                  <a:pt x="867869" y="0"/>
                </a:lnTo>
                <a:close/>
              </a:path>
              <a:path w="883920" h="1929764">
                <a:moveTo>
                  <a:pt x="847026" y="46355"/>
                </a:moveTo>
                <a:lnTo>
                  <a:pt x="839509" y="49208"/>
                </a:lnTo>
                <a:lnTo>
                  <a:pt x="833744" y="62025"/>
                </a:lnTo>
                <a:lnTo>
                  <a:pt x="836599" y="69543"/>
                </a:lnTo>
                <a:lnTo>
                  <a:pt x="849393" y="75297"/>
                </a:lnTo>
                <a:lnTo>
                  <a:pt x="856910" y="72442"/>
                </a:lnTo>
                <a:lnTo>
                  <a:pt x="862674" y="59625"/>
                </a:lnTo>
                <a:lnTo>
                  <a:pt x="859820" y="52108"/>
                </a:lnTo>
                <a:lnTo>
                  <a:pt x="847026" y="46355"/>
                </a:lnTo>
                <a:close/>
              </a:path>
              <a:path w="883920" h="1929764">
                <a:moveTo>
                  <a:pt x="826184" y="92708"/>
                </a:moveTo>
                <a:lnTo>
                  <a:pt x="818666" y="95562"/>
                </a:lnTo>
                <a:lnTo>
                  <a:pt x="812901" y="108379"/>
                </a:lnTo>
                <a:lnTo>
                  <a:pt x="815755" y="115897"/>
                </a:lnTo>
                <a:lnTo>
                  <a:pt x="828549" y="121652"/>
                </a:lnTo>
                <a:lnTo>
                  <a:pt x="836066" y="118798"/>
                </a:lnTo>
                <a:lnTo>
                  <a:pt x="841830" y="105981"/>
                </a:lnTo>
                <a:lnTo>
                  <a:pt x="838977" y="98463"/>
                </a:lnTo>
                <a:lnTo>
                  <a:pt x="826184" y="92708"/>
                </a:lnTo>
                <a:close/>
              </a:path>
              <a:path w="883920" h="1929764">
                <a:moveTo>
                  <a:pt x="805338" y="139063"/>
                </a:moveTo>
                <a:lnTo>
                  <a:pt x="797821" y="141918"/>
                </a:lnTo>
                <a:lnTo>
                  <a:pt x="792058" y="154736"/>
                </a:lnTo>
                <a:lnTo>
                  <a:pt x="794912" y="162253"/>
                </a:lnTo>
                <a:lnTo>
                  <a:pt x="807707" y="168005"/>
                </a:lnTo>
                <a:lnTo>
                  <a:pt x="815224" y="165152"/>
                </a:lnTo>
                <a:lnTo>
                  <a:pt x="820987" y="152333"/>
                </a:lnTo>
                <a:lnTo>
                  <a:pt x="818132" y="144816"/>
                </a:lnTo>
                <a:lnTo>
                  <a:pt x="805338" y="139063"/>
                </a:lnTo>
                <a:close/>
              </a:path>
              <a:path w="883920" h="1929764">
                <a:moveTo>
                  <a:pt x="784492" y="185418"/>
                </a:moveTo>
                <a:lnTo>
                  <a:pt x="776975" y="188274"/>
                </a:lnTo>
                <a:lnTo>
                  <a:pt x="771215" y="201093"/>
                </a:lnTo>
                <a:lnTo>
                  <a:pt x="774070" y="208610"/>
                </a:lnTo>
                <a:lnTo>
                  <a:pt x="786865" y="214360"/>
                </a:lnTo>
                <a:lnTo>
                  <a:pt x="794382" y="211505"/>
                </a:lnTo>
                <a:lnTo>
                  <a:pt x="800143" y="198686"/>
                </a:lnTo>
                <a:lnTo>
                  <a:pt x="797288" y="191169"/>
                </a:lnTo>
                <a:lnTo>
                  <a:pt x="784492" y="185418"/>
                </a:lnTo>
                <a:close/>
              </a:path>
              <a:path w="883920" h="1929764">
                <a:moveTo>
                  <a:pt x="763649" y="231773"/>
                </a:moveTo>
                <a:lnTo>
                  <a:pt x="756132" y="234629"/>
                </a:lnTo>
                <a:lnTo>
                  <a:pt x="750371" y="247448"/>
                </a:lnTo>
                <a:lnTo>
                  <a:pt x="753226" y="254965"/>
                </a:lnTo>
                <a:lnTo>
                  <a:pt x="766022" y="260715"/>
                </a:lnTo>
                <a:lnTo>
                  <a:pt x="773539" y="257859"/>
                </a:lnTo>
                <a:lnTo>
                  <a:pt x="779299" y="245041"/>
                </a:lnTo>
                <a:lnTo>
                  <a:pt x="776444" y="237524"/>
                </a:lnTo>
                <a:lnTo>
                  <a:pt x="763649" y="231773"/>
                </a:lnTo>
                <a:close/>
              </a:path>
              <a:path w="883920" h="1929764">
                <a:moveTo>
                  <a:pt x="742809" y="278128"/>
                </a:moveTo>
                <a:lnTo>
                  <a:pt x="735291" y="280982"/>
                </a:lnTo>
                <a:lnTo>
                  <a:pt x="729527" y="293799"/>
                </a:lnTo>
                <a:lnTo>
                  <a:pt x="732381" y="301316"/>
                </a:lnTo>
                <a:lnTo>
                  <a:pt x="745175" y="307070"/>
                </a:lnTo>
                <a:lnTo>
                  <a:pt x="752692" y="304217"/>
                </a:lnTo>
                <a:lnTo>
                  <a:pt x="758456" y="291400"/>
                </a:lnTo>
                <a:lnTo>
                  <a:pt x="755603" y="283881"/>
                </a:lnTo>
                <a:lnTo>
                  <a:pt x="742809" y="278128"/>
                </a:lnTo>
                <a:close/>
              </a:path>
              <a:path w="883920" h="1929764">
                <a:moveTo>
                  <a:pt x="721969" y="324482"/>
                </a:moveTo>
                <a:lnTo>
                  <a:pt x="714451" y="327334"/>
                </a:lnTo>
                <a:lnTo>
                  <a:pt x="708682" y="340149"/>
                </a:lnTo>
                <a:lnTo>
                  <a:pt x="711535" y="347668"/>
                </a:lnTo>
                <a:lnTo>
                  <a:pt x="724326" y="353425"/>
                </a:lnTo>
                <a:lnTo>
                  <a:pt x="731845" y="350574"/>
                </a:lnTo>
                <a:lnTo>
                  <a:pt x="737613" y="337759"/>
                </a:lnTo>
                <a:lnTo>
                  <a:pt x="734762" y="330240"/>
                </a:lnTo>
                <a:lnTo>
                  <a:pt x="721969" y="324482"/>
                </a:lnTo>
                <a:close/>
              </a:path>
              <a:path w="883920" h="1929764">
                <a:moveTo>
                  <a:pt x="701126" y="370837"/>
                </a:moveTo>
                <a:lnTo>
                  <a:pt x="693607" y="373688"/>
                </a:lnTo>
                <a:lnTo>
                  <a:pt x="687839" y="386504"/>
                </a:lnTo>
                <a:lnTo>
                  <a:pt x="690690" y="394022"/>
                </a:lnTo>
                <a:lnTo>
                  <a:pt x="703483" y="399780"/>
                </a:lnTo>
                <a:lnTo>
                  <a:pt x="711001" y="396929"/>
                </a:lnTo>
                <a:lnTo>
                  <a:pt x="716770" y="384114"/>
                </a:lnTo>
                <a:lnTo>
                  <a:pt x="713919" y="376595"/>
                </a:lnTo>
                <a:lnTo>
                  <a:pt x="701126" y="370837"/>
                </a:lnTo>
                <a:close/>
              </a:path>
              <a:path w="883920" h="1929764">
                <a:moveTo>
                  <a:pt x="680283" y="417192"/>
                </a:moveTo>
                <a:lnTo>
                  <a:pt x="672763" y="420043"/>
                </a:lnTo>
                <a:lnTo>
                  <a:pt x="666996" y="432859"/>
                </a:lnTo>
                <a:lnTo>
                  <a:pt x="669847" y="440377"/>
                </a:lnTo>
                <a:lnTo>
                  <a:pt x="682640" y="446135"/>
                </a:lnTo>
                <a:lnTo>
                  <a:pt x="690158" y="443283"/>
                </a:lnTo>
                <a:lnTo>
                  <a:pt x="695925" y="430469"/>
                </a:lnTo>
                <a:lnTo>
                  <a:pt x="693074" y="422949"/>
                </a:lnTo>
                <a:lnTo>
                  <a:pt x="680283" y="417192"/>
                </a:lnTo>
                <a:close/>
              </a:path>
              <a:path w="883920" h="1929764">
                <a:moveTo>
                  <a:pt x="659438" y="463547"/>
                </a:moveTo>
                <a:lnTo>
                  <a:pt x="651920" y="466398"/>
                </a:lnTo>
                <a:lnTo>
                  <a:pt x="646153" y="479214"/>
                </a:lnTo>
                <a:lnTo>
                  <a:pt x="649004" y="486732"/>
                </a:lnTo>
                <a:lnTo>
                  <a:pt x="661795" y="492489"/>
                </a:lnTo>
                <a:lnTo>
                  <a:pt x="669315" y="489638"/>
                </a:lnTo>
                <a:lnTo>
                  <a:pt x="675082" y="476822"/>
                </a:lnTo>
                <a:lnTo>
                  <a:pt x="672231" y="469304"/>
                </a:lnTo>
                <a:lnTo>
                  <a:pt x="659438" y="463547"/>
                </a:lnTo>
                <a:close/>
              </a:path>
              <a:path w="883920" h="1929764">
                <a:moveTo>
                  <a:pt x="638595" y="509902"/>
                </a:moveTo>
                <a:lnTo>
                  <a:pt x="631076" y="512753"/>
                </a:lnTo>
                <a:lnTo>
                  <a:pt x="625308" y="525569"/>
                </a:lnTo>
                <a:lnTo>
                  <a:pt x="628161" y="533087"/>
                </a:lnTo>
                <a:lnTo>
                  <a:pt x="640952" y="538844"/>
                </a:lnTo>
                <a:lnTo>
                  <a:pt x="648470" y="535993"/>
                </a:lnTo>
                <a:lnTo>
                  <a:pt x="654239" y="523177"/>
                </a:lnTo>
                <a:lnTo>
                  <a:pt x="651388" y="515659"/>
                </a:lnTo>
                <a:lnTo>
                  <a:pt x="638595" y="509902"/>
                </a:lnTo>
                <a:close/>
              </a:path>
              <a:path w="883920" h="1929764">
                <a:moveTo>
                  <a:pt x="617744" y="556257"/>
                </a:moveTo>
                <a:lnTo>
                  <a:pt x="610227" y="559112"/>
                </a:lnTo>
                <a:lnTo>
                  <a:pt x="604466" y="571930"/>
                </a:lnTo>
                <a:lnTo>
                  <a:pt x="607321" y="579447"/>
                </a:lnTo>
                <a:lnTo>
                  <a:pt x="620116" y="585199"/>
                </a:lnTo>
                <a:lnTo>
                  <a:pt x="627633" y="582343"/>
                </a:lnTo>
                <a:lnTo>
                  <a:pt x="633394" y="569525"/>
                </a:lnTo>
                <a:lnTo>
                  <a:pt x="630539" y="562008"/>
                </a:lnTo>
                <a:lnTo>
                  <a:pt x="617744" y="556257"/>
                </a:lnTo>
                <a:close/>
              </a:path>
              <a:path w="883920" h="1929764">
                <a:moveTo>
                  <a:pt x="596892" y="602612"/>
                </a:moveTo>
                <a:lnTo>
                  <a:pt x="589377" y="605472"/>
                </a:lnTo>
                <a:lnTo>
                  <a:pt x="583623" y="618294"/>
                </a:lnTo>
                <a:lnTo>
                  <a:pt x="586482" y="625809"/>
                </a:lnTo>
                <a:lnTo>
                  <a:pt x="599281" y="631553"/>
                </a:lnTo>
                <a:lnTo>
                  <a:pt x="606797" y="628693"/>
                </a:lnTo>
                <a:lnTo>
                  <a:pt x="612550" y="615872"/>
                </a:lnTo>
                <a:lnTo>
                  <a:pt x="609691" y="608356"/>
                </a:lnTo>
                <a:lnTo>
                  <a:pt x="596892" y="602612"/>
                </a:lnTo>
                <a:close/>
              </a:path>
              <a:path w="883920" h="1929764">
                <a:moveTo>
                  <a:pt x="576049" y="648967"/>
                </a:moveTo>
                <a:lnTo>
                  <a:pt x="568533" y="651827"/>
                </a:lnTo>
                <a:lnTo>
                  <a:pt x="562780" y="664648"/>
                </a:lnTo>
                <a:lnTo>
                  <a:pt x="565638" y="672164"/>
                </a:lnTo>
                <a:lnTo>
                  <a:pt x="578436" y="677908"/>
                </a:lnTo>
                <a:lnTo>
                  <a:pt x="585952" y="675048"/>
                </a:lnTo>
                <a:lnTo>
                  <a:pt x="591706" y="662227"/>
                </a:lnTo>
                <a:lnTo>
                  <a:pt x="588848" y="654711"/>
                </a:lnTo>
                <a:lnTo>
                  <a:pt x="576049" y="648967"/>
                </a:lnTo>
                <a:close/>
              </a:path>
              <a:path w="883920" h="1929764">
                <a:moveTo>
                  <a:pt x="555205" y="695322"/>
                </a:moveTo>
                <a:lnTo>
                  <a:pt x="547690" y="698182"/>
                </a:lnTo>
                <a:lnTo>
                  <a:pt x="541935" y="711003"/>
                </a:lnTo>
                <a:lnTo>
                  <a:pt x="544795" y="718519"/>
                </a:lnTo>
                <a:lnTo>
                  <a:pt x="557593" y="724263"/>
                </a:lnTo>
                <a:lnTo>
                  <a:pt x="565109" y="721403"/>
                </a:lnTo>
                <a:lnTo>
                  <a:pt x="570863" y="708581"/>
                </a:lnTo>
                <a:lnTo>
                  <a:pt x="568003" y="701066"/>
                </a:lnTo>
                <a:lnTo>
                  <a:pt x="555205" y="695322"/>
                </a:lnTo>
                <a:close/>
              </a:path>
              <a:path w="883920" h="1929764">
                <a:moveTo>
                  <a:pt x="534362" y="741677"/>
                </a:moveTo>
                <a:lnTo>
                  <a:pt x="526846" y="744536"/>
                </a:lnTo>
                <a:lnTo>
                  <a:pt x="521092" y="757358"/>
                </a:lnTo>
                <a:lnTo>
                  <a:pt x="523952" y="764874"/>
                </a:lnTo>
                <a:lnTo>
                  <a:pt x="536750" y="770616"/>
                </a:lnTo>
                <a:lnTo>
                  <a:pt x="544266" y="767758"/>
                </a:lnTo>
                <a:lnTo>
                  <a:pt x="550020" y="754936"/>
                </a:lnTo>
                <a:lnTo>
                  <a:pt x="547160" y="747421"/>
                </a:lnTo>
                <a:lnTo>
                  <a:pt x="534362" y="741677"/>
                </a:lnTo>
                <a:close/>
              </a:path>
              <a:path w="883920" h="1929764">
                <a:moveTo>
                  <a:pt x="513518" y="788032"/>
                </a:moveTo>
                <a:lnTo>
                  <a:pt x="506003" y="790891"/>
                </a:lnTo>
                <a:lnTo>
                  <a:pt x="500249" y="803713"/>
                </a:lnTo>
                <a:lnTo>
                  <a:pt x="503107" y="811229"/>
                </a:lnTo>
                <a:lnTo>
                  <a:pt x="515907" y="816971"/>
                </a:lnTo>
                <a:lnTo>
                  <a:pt x="523422" y="814113"/>
                </a:lnTo>
                <a:lnTo>
                  <a:pt x="529175" y="801291"/>
                </a:lnTo>
                <a:lnTo>
                  <a:pt x="526317" y="793775"/>
                </a:lnTo>
                <a:lnTo>
                  <a:pt x="513518" y="788032"/>
                </a:lnTo>
                <a:close/>
              </a:path>
              <a:path w="883920" h="1929764">
                <a:moveTo>
                  <a:pt x="492674" y="834387"/>
                </a:moveTo>
                <a:lnTo>
                  <a:pt x="485159" y="837246"/>
                </a:lnTo>
                <a:lnTo>
                  <a:pt x="479405" y="850068"/>
                </a:lnTo>
                <a:lnTo>
                  <a:pt x="482264" y="857584"/>
                </a:lnTo>
                <a:lnTo>
                  <a:pt x="495062" y="863326"/>
                </a:lnTo>
                <a:lnTo>
                  <a:pt x="502578" y="860468"/>
                </a:lnTo>
                <a:lnTo>
                  <a:pt x="508332" y="847646"/>
                </a:lnTo>
                <a:lnTo>
                  <a:pt x="505473" y="840130"/>
                </a:lnTo>
                <a:lnTo>
                  <a:pt x="492674" y="834387"/>
                </a:lnTo>
                <a:close/>
              </a:path>
              <a:path w="883920" h="1929764">
                <a:moveTo>
                  <a:pt x="471831" y="880741"/>
                </a:moveTo>
                <a:lnTo>
                  <a:pt x="464315" y="883601"/>
                </a:lnTo>
                <a:lnTo>
                  <a:pt x="458561" y="896423"/>
                </a:lnTo>
                <a:lnTo>
                  <a:pt x="461421" y="903937"/>
                </a:lnTo>
                <a:lnTo>
                  <a:pt x="474219" y="909681"/>
                </a:lnTo>
                <a:lnTo>
                  <a:pt x="481735" y="906823"/>
                </a:lnTo>
                <a:lnTo>
                  <a:pt x="487489" y="894001"/>
                </a:lnTo>
                <a:lnTo>
                  <a:pt x="484629" y="886485"/>
                </a:lnTo>
                <a:lnTo>
                  <a:pt x="471831" y="880741"/>
                </a:lnTo>
                <a:close/>
              </a:path>
              <a:path w="883920" h="1929764">
                <a:moveTo>
                  <a:pt x="450988" y="927096"/>
                </a:moveTo>
                <a:lnTo>
                  <a:pt x="443472" y="929956"/>
                </a:lnTo>
                <a:lnTo>
                  <a:pt x="437718" y="942776"/>
                </a:lnTo>
                <a:lnTo>
                  <a:pt x="440578" y="950292"/>
                </a:lnTo>
                <a:lnTo>
                  <a:pt x="453376" y="956036"/>
                </a:lnTo>
                <a:lnTo>
                  <a:pt x="460891" y="953176"/>
                </a:lnTo>
                <a:lnTo>
                  <a:pt x="466646" y="940356"/>
                </a:lnTo>
                <a:lnTo>
                  <a:pt x="463786" y="932840"/>
                </a:lnTo>
                <a:lnTo>
                  <a:pt x="450988" y="927096"/>
                </a:lnTo>
                <a:close/>
              </a:path>
              <a:path w="883920" h="1929764">
                <a:moveTo>
                  <a:pt x="430143" y="973451"/>
                </a:moveTo>
                <a:lnTo>
                  <a:pt x="422629" y="976311"/>
                </a:lnTo>
                <a:lnTo>
                  <a:pt x="416874" y="989131"/>
                </a:lnTo>
                <a:lnTo>
                  <a:pt x="419733" y="996647"/>
                </a:lnTo>
                <a:lnTo>
                  <a:pt x="432532" y="1002391"/>
                </a:lnTo>
                <a:lnTo>
                  <a:pt x="440048" y="999531"/>
                </a:lnTo>
                <a:lnTo>
                  <a:pt x="445801" y="986711"/>
                </a:lnTo>
                <a:lnTo>
                  <a:pt x="442942" y="979195"/>
                </a:lnTo>
                <a:lnTo>
                  <a:pt x="430143" y="973451"/>
                </a:lnTo>
                <a:close/>
              </a:path>
              <a:path w="883920" h="1929764">
                <a:moveTo>
                  <a:pt x="409300" y="1019806"/>
                </a:moveTo>
                <a:lnTo>
                  <a:pt x="401784" y="1022666"/>
                </a:lnTo>
                <a:lnTo>
                  <a:pt x="396031" y="1035486"/>
                </a:lnTo>
                <a:lnTo>
                  <a:pt x="398890" y="1043002"/>
                </a:lnTo>
                <a:lnTo>
                  <a:pt x="411688" y="1048746"/>
                </a:lnTo>
                <a:lnTo>
                  <a:pt x="419204" y="1045886"/>
                </a:lnTo>
                <a:lnTo>
                  <a:pt x="424958" y="1033064"/>
                </a:lnTo>
                <a:lnTo>
                  <a:pt x="422099" y="1025550"/>
                </a:lnTo>
                <a:lnTo>
                  <a:pt x="409300" y="1019806"/>
                </a:lnTo>
                <a:close/>
              </a:path>
              <a:path w="883920" h="1929764">
                <a:moveTo>
                  <a:pt x="388471" y="1066159"/>
                </a:moveTo>
                <a:lnTo>
                  <a:pt x="380953" y="1069011"/>
                </a:lnTo>
                <a:lnTo>
                  <a:pt x="375185" y="1081826"/>
                </a:lnTo>
                <a:lnTo>
                  <a:pt x="378038" y="1089346"/>
                </a:lnTo>
                <a:lnTo>
                  <a:pt x="390831" y="1095101"/>
                </a:lnTo>
                <a:lnTo>
                  <a:pt x="398349" y="1092250"/>
                </a:lnTo>
                <a:lnTo>
                  <a:pt x="404116" y="1079435"/>
                </a:lnTo>
                <a:lnTo>
                  <a:pt x="401264" y="1071916"/>
                </a:lnTo>
                <a:lnTo>
                  <a:pt x="388471" y="1066159"/>
                </a:lnTo>
                <a:close/>
              </a:path>
              <a:path w="883920" h="1929764">
                <a:moveTo>
                  <a:pt x="367628" y="1112514"/>
                </a:moveTo>
                <a:lnTo>
                  <a:pt x="360109" y="1115366"/>
                </a:lnTo>
                <a:lnTo>
                  <a:pt x="354342" y="1128181"/>
                </a:lnTo>
                <a:lnTo>
                  <a:pt x="357195" y="1135700"/>
                </a:lnTo>
                <a:lnTo>
                  <a:pt x="369986" y="1141456"/>
                </a:lnTo>
                <a:lnTo>
                  <a:pt x="377506" y="1138605"/>
                </a:lnTo>
                <a:lnTo>
                  <a:pt x="383273" y="1125788"/>
                </a:lnTo>
                <a:lnTo>
                  <a:pt x="380420" y="1118270"/>
                </a:lnTo>
                <a:lnTo>
                  <a:pt x="367628" y="1112514"/>
                </a:lnTo>
                <a:close/>
              </a:path>
              <a:path w="883920" h="1929764">
                <a:moveTo>
                  <a:pt x="346784" y="1158868"/>
                </a:moveTo>
                <a:lnTo>
                  <a:pt x="339266" y="1161721"/>
                </a:lnTo>
                <a:lnTo>
                  <a:pt x="333499" y="1174536"/>
                </a:lnTo>
                <a:lnTo>
                  <a:pt x="336350" y="1182055"/>
                </a:lnTo>
                <a:lnTo>
                  <a:pt x="349143" y="1187811"/>
                </a:lnTo>
                <a:lnTo>
                  <a:pt x="356661" y="1184959"/>
                </a:lnTo>
                <a:lnTo>
                  <a:pt x="362428" y="1172143"/>
                </a:lnTo>
                <a:lnTo>
                  <a:pt x="359577" y="1164625"/>
                </a:lnTo>
                <a:lnTo>
                  <a:pt x="346784" y="1158868"/>
                </a:lnTo>
                <a:close/>
              </a:path>
              <a:path w="883920" h="1929764">
                <a:moveTo>
                  <a:pt x="325956" y="1205222"/>
                </a:moveTo>
                <a:lnTo>
                  <a:pt x="318435" y="1208065"/>
                </a:lnTo>
                <a:lnTo>
                  <a:pt x="312654" y="1220875"/>
                </a:lnTo>
                <a:lnTo>
                  <a:pt x="315497" y="1228397"/>
                </a:lnTo>
                <a:lnTo>
                  <a:pt x="328283" y="1234168"/>
                </a:lnTo>
                <a:lnTo>
                  <a:pt x="335805" y="1231324"/>
                </a:lnTo>
                <a:lnTo>
                  <a:pt x="341586" y="1218515"/>
                </a:lnTo>
                <a:lnTo>
                  <a:pt x="338743" y="1210993"/>
                </a:lnTo>
                <a:lnTo>
                  <a:pt x="325956" y="1205222"/>
                </a:lnTo>
                <a:close/>
              </a:path>
              <a:path w="883920" h="1929764">
                <a:moveTo>
                  <a:pt x="305113" y="1251577"/>
                </a:moveTo>
                <a:lnTo>
                  <a:pt x="297591" y="1254420"/>
                </a:lnTo>
                <a:lnTo>
                  <a:pt x="291810" y="1267230"/>
                </a:lnTo>
                <a:lnTo>
                  <a:pt x="294653" y="1274751"/>
                </a:lnTo>
                <a:lnTo>
                  <a:pt x="307440" y="1280521"/>
                </a:lnTo>
                <a:lnTo>
                  <a:pt x="314961" y="1277679"/>
                </a:lnTo>
                <a:lnTo>
                  <a:pt x="320743" y="1264870"/>
                </a:lnTo>
                <a:lnTo>
                  <a:pt x="317900" y="1257348"/>
                </a:lnTo>
                <a:lnTo>
                  <a:pt x="305113" y="1251577"/>
                </a:lnTo>
                <a:close/>
              </a:path>
              <a:path w="883920" h="1929764">
                <a:moveTo>
                  <a:pt x="284270" y="1297932"/>
                </a:moveTo>
                <a:lnTo>
                  <a:pt x="276748" y="1300775"/>
                </a:lnTo>
                <a:lnTo>
                  <a:pt x="270967" y="1313585"/>
                </a:lnTo>
                <a:lnTo>
                  <a:pt x="273810" y="1321106"/>
                </a:lnTo>
                <a:lnTo>
                  <a:pt x="286597" y="1326876"/>
                </a:lnTo>
                <a:lnTo>
                  <a:pt x="294118" y="1324033"/>
                </a:lnTo>
                <a:lnTo>
                  <a:pt x="299899" y="1311224"/>
                </a:lnTo>
                <a:lnTo>
                  <a:pt x="297055" y="1303703"/>
                </a:lnTo>
                <a:lnTo>
                  <a:pt x="284270" y="1297932"/>
                </a:lnTo>
                <a:close/>
              </a:path>
              <a:path w="883920" h="1929764">
                <a:moveTo>
                  <a:pt x="263425" y="1344287"/>
                </a:moveTo>
                <a:lnTo>
                  <a:pt x="255904" y="1347130"/>
                </a:lnTo>
                <a:lnTo>
                  <a:pt x="250123" y="1359938"/>
                </a:lnTo>
                <a:lnTo>
                  <a:pt x="252967" y="1367461"/>
                </a:lnTo>
                <a:lnTo>
                  <a:pt x="265752" y="1373231"/>
                </a:lnTo>
                <a:lnTo>
                  <a:pt x="273274" y="1370388"/>
                </a:lnTo>
                <a:lnTo>
                  <a:pt x="279055" y="1357579"/>
                </a:lnTo>
                <a:lnTo>
                  <a:pt x="276212" y="1350058"/>
                </a:lnTo>
                <a:lnTo>
                  <a:pt x="263425" y="1344287"/>
                </a:lnTo>
                <a:close/>
              </a:path>
              <a:path w="883920" h="1929764">
                <a:moveTo>
                  <a:pt x="242582" y="1390641"/>
                </a:moveTo>
                <a:lnTo>
                  <a:pt x="235061" y="1393484"/>
                </a:lnTo>
                <a:lnTo>
                  <a:pt x="229279" y="1406293"/>
                </a:lnTo>
                <a:lnTo>
                  <a:pt x="232122" y="1413816"/>
                </a:lnTo>
                <a:lnTo>
                  <a:pt x="244909" y="1419586"/>
                </a:lnTo>
                <a:lnTo>
                  <a:pt x="252431" y="1416743"/>
                </a:lnTo>
                <a:lnTo>
                  <a:pt x="258212" y="1403934"/>
                </a:lnTo>
                <a:lnTo>
                  <a:pt x="255369" y="1396413"/>
                </a:lnTo>
                <a:lnTo>
                  <a:pt x="242582" y="1390641"/>
                </a:lnTo>
                <a:close/>
              </a:path>
              <a:path w="883920" h="1929764">
                <a:moveTo>
                  <a:pt x="221739" y="1436996"/>
                </a:moveTo>
                <a:lnTo>
                  <a:pt x="214217" y="1439839"/>
                </a:lnTo>
                <a:lnTo>
                  <a:pt x="208436" y="1452648"/>
                </a:lnTo>
                <a:lnTo>
                  <a:pt x="211279" y="1460171"/>
                </a:lnTo>
                <a:lnTo>
                  <a:pt x="224066" y="1465941"/>
                </a:lnTo>
                <a:lnTo>
                  <a:pt x="231587" y="1463098"/>
                </a:lnTo>
                <a:lnTo>
                  <a:pt x="237369" y="1450289"/>
                </a:lnTo>
                <a:lnTo>
                  <a:pt x="234525" y="1442766"/>
                </a:lnTo>
                <a:lnTo>
                  <a:pt x="221739" y="1436996"/>
                </a:lnTo>
                <a:close/>
              </a:path>
              <a:path w="883920" h="1929764">
                <a:moveTo>
                  <a:pt x="200896" y="1483351"/>
                </a:moveTo>
                <a:lnTo>
                  <a:pt x="193374" y="1486194"/>
                </a:lnTo>
                <a:lnTo>
                  <a:pt x="187592" y="1499003"/>
                </a:lnTo>
                <a:lnTo>
                  <a:pt x="190436" y="1506524"/>
                </a:lnTo>
                <a:lnTo>
                  <a:pt x="203221" y="1512295"/>
                </a:lnTo>
                <a:lnTo>
                  <a:pt x="210743" y="1509453"/>
                </a:lnTo>
                <a:lnTo>
                  <a:pt x="216524" y="1496644"/>
                </a:lnTo>
                <a:lnTo>
                  <a:pt x="213681" y="1489121"/>
                </a:lnTo>
                <a:lnTo>
                  <a:pt x="200896" y="1483351"/>
                </a:lnTo>
                <a:close/>
              </a:path>
              <a:path w="883920" h="1929764">
                <a:moveTo>
                  <a:pt x="180051" y="1529706"/>
                </a:moveTo>
                <a:lnTo>
                  <a:pt x="172530" y="1532549"/>
                </a:lnTo>
                <a:lnTo>
                  <a:pt x="166749" y="1545358"/>
                </a:lnTo>
                <a:lnTo>
                  <a:pt x="169591" y="1552879"/>
                </a:lnTo>
                <a:lnTo>
                  <a:pt x="182378" y="1558650"/>
                </a:lnTo>
                <a:lnTo>
                  <a:pt x="189900" y="1555807"/>
                </a:lnTo>
                <a:lnTo>
                  <a:pt x="195681" y="1542997"/>
                </a:lnTo>
                <a:lnTo>
                  <a:pt x="192838" y="1535476"/>
                </a:lnTo>
                <a:lnTo>
                  <a:pt x="180051" y="1529706"/>
                </a:lnTo>
                <a:close/>
              </a:path>
              <a:path w="883920" h="1929764">
                <a:moveTo>
                  <a:pt x="159208" y="1576061"/>
                </a:moveTo>
                <a:lnTo>
                  <a:pt x="151687" y="1578904"/>
                </a:lnTo>
                <a:lnTo>
                  <a:pt x="145905" y="1591712"/>
                </a:lnTo>
                <a:lnTo>
                  <a:pt x="148748" y="1599234"/>
                </a:lnTo>
                <a:lnTo>
                  <a:pt x="161535" y="1605005"/>
                </a:lnTo>
                <a:lnTo>
                  <a:pt x="169056" y="1602162"/>
                </a:lnTo>
                <a:lnTo>
                  <a:pt x="174838" y="1589352"/>
                </a:lnTo>
                <a:lnTo>
                  <a:pt x="171994" y="1581831"/>
                </a:lnTo>
                <a:lnTo>
                  <a:pt x="159208" y="1576061"/>
                </a:lnTo>
                <a:close/>
              </a:path>
              <a:path w="883920" h="1929764">
                <a:moveTo>
                  <a:pt x="138365" y="1622414"/>
                </a:moveTo>
                <a:lnTo>
                  <a:pt x="130843" y="1625258"/>
                </a:lnTo>
                <a:lnTo>
                  <a:pt x="125061" y="1638067"/>
                </a:lnTo>
                <a:lnTo>
                  <a:pt x="127905" y="1645589"/>
                </a:lnTo>
                <a:lnTo>
                  <a:pt x="140691" y="1651360"/>
                </a:lnTo>
                <a:lnTo>
                  <a:pt x="148212" y="1648517"/>
                </a:lnTo>
                <a:lnTo>
                  <a:pt x="153995" y="1635707"/>
                </a:lnTo>
                <a:lnTo>
                  <a:pt x="151151" y="1628186"/>
                </a:lnTo>
                <a:lnTo>
                  <a:pt x="138365" y="1622414"/>
                </a:lnTo>
                <a:close/>
              </a:path>
              <a:path w="883920" h="1929764">
                <a:moveTo>
                  <a:pt x="117521" y="1668769"/>
                </a:moveTo>
                <a:lnTo>
                  <a:pt x="109999" y="1671613"/>
                </a:lnTo>
                <a:lnTo>
                  <a:pt x="104218" y="1684422"/>
                </a:lnTo>
                <a:lnTo>
                  <a:pt x="107062" y="1691944"/>
                </a:lnTo>
                <a:lnTo>
                  <a:pt x="119847" y="1697715"/>
                </a:lnTo>
                <a:lnTo>
                  <a:pt x="127369" y="1694872"/>
                </a:lnTo>
                <a:lnTo>
                  <a:pt x="133150" y="1682062"/>
                </a:lnTo>
                <a:lnTo>
                  <a:pt x="130307" y="1674540"/>
                </a:lnTo>
                <a:lnTo>
                  <a:pt x="117521" y="1668769"/>
                </a:lnTo>
                <a:close/>
              </a:path>
              <a:path w="883920" h="1929764">
                <a:moveTo>
                  <a:pt x="96677" y="1715124"/>
                </a:moveTo>
                <a:lnTo>
                  <a:pt x="89156" y="1717968"/>
                </a:lnTo>
                <a:lnTo>
                  <a:pt x="83375" y="1730777"/>
                </a:lnTo>
                <a:lnTo>
                  <a:pt x="86217" y="1738298"/>
                </a:lnTo>
                <a:lnTo>
                  <a:pt x="99004" y="1744069"/>
                </a:lnTo>
                <a:lnTo>
                  <a:pt x="106526" y="1741227"/>
                </a:lnTo>
                <a:lnTo>
                  <a:pt x="112307" y="1728417"/>
                </a:lnTo>
                <a:lnTo>
                  <a:pt x="109463" y="1720895"/>
                </a:lnTo>
                <a:lnTo>
                  <a:pt x="96677" y="1715124"/>
                </a:lnTo>
                <a:close/>
              </a:path>
              <a:path w="883920" h="1929764">
                <a:moveTo>
                  <a:pt x="75834" y="1761479"/>
                </a:moveTo>
                <a:lnTo>
                  <a:pt x="68313" y="1764323"/>
                </a:lnTo>
                <a:lnTo>
                  <a:pt x="62530" y="1777132"/>
                </a:lnTo>
                <a:lnTo>
                  <a:pt x="65374" y="1784653"/>
                </a:lnTo>
                <a:lnTo>
                  <a:pt x="78160" y="1790424"/>
                </a:lnTo>
                <a:lnTo>
                  <a:pt x="85681" y="1787580"/>
                </a:lnTo>
                <a:lnTo>
                  <a:pt x="91464" y="1774771"/>
                </a:lnTo>
                <a:lnTo>
                  <a:pt x="88620" y="1767250"/>
                </a:lnTo>
                <a:lnTo>
                  <a:pt x="75834" y="1761479"/>
                </a:lnTo>
                <a:close/>
              </a:path>
              <a:path w="883920" h="1929764">
                <a:moveTo>
                  <a:pt x="54991" y="1807834"/>
                </a:moveTo>
                <a:lnTo>
                  <a:pt x="47468" y="1810678"/>
                </a:lnTo>
                <a:lnTo>
                  <a:pt x="41687" y="1823486"/>
                </a:lnTo>
                <a:lnTo>
                  <a:pt x="44531" y="1831008"/>
                </a:lnTo>
                <a:lnTo>
                  <a:pt x="57317" y="1836779"/>
                </a:lnTo>
                <a:lnTo>
                  <a:pt x="64838" y="1833935"/>
                </a:lnTo>
                <a:lnTo>
                  <a:pt x="70619" y="1821126"/>
                </a:lnTo>
                <a:lnTo>
                  <a:pt x="67777" y="1813605"/>
                </a:lnTo>
                <a:lnTo>
                  <a:pt x="54991" y="1807834"/>
                </a:lnTo>
                <a:close/>
              </a:path>
              <a:path w="883920" h="1929764">
                <a:moveTo>
                  <a:pt x="34147" y="1854188"/>
                </a:moveTo>
                <a:lnTo>
                  <a:pt x="26625" y="1857032"/>
                </a:lnTo>
                <a:lnTo>
                  <a:pt x="20844" y="1869841"/>
                </a:lnTo>
                <a:lnTo>
                  <a:pt x="23688" y="1877363"/>
                </a:lnTo>
                <a:lnTo>
                  <a:pt x="36473" y="1883134"/>
                </a:lnTo>
                <a:lnTo>
                  <a:pt x="43995" y="1880290"/>
                </a:lnTo>
                <a:lnTo>
                  <a:pt x="49776" y="1867481"/>
                </a:lnTo>
                <a:lnTo>
                  <a:pt x="46932" y="1859960"/>
                </a:lnTo>
                <a:lnTo>
                  <a:pt x="34147" y="1854188"/>
                </a:lnTo>
                <a:close/>
              </a:path>
              <a:path w="883920" h="1929764">
                <a:moveTo>
                  <a:pt x="13303" y="1900543"/>
                </a:moveTo>
                <a:lnTo>
                  <a:pt x="5782" y="1903387"/>
                </a:lnTo>
                <a:lnTo>
                  <a:pt x="0" y="1916196"/>
                </a:lnTo>
                <a:lnTo>
                  <a:pt x="2843" y="1923718"/>
                </a:lnTo>
                <a:lnTo>
                  <a:pt x="15629" y="1929489"/>
                </a:lnTo>
                <a:lnTo>
                  <a:pt x="23152" y="1926645"/>
                </a:lnTo>
                <a:lnTo>
                  <a:pt x="28933" y="1913836"/>
                </a:lnTo>
                <a:lnTo>
                  <a:pt x="26089" y="1906314"/>
                </a:lnTo>
                <a:lnTo>
                  <a:pt x="13303" y="1900543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055940" y="2830067"/>
            <a:ext cx="115824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0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virtual  node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4340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219900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Previously: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5286755"/>
            <a:ext cx="6790055" cy="94297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332740" marR="5080" indent="-320040">
              <a:lnSpc>
                <a:spcPts val="3379"/>
              </a:lnSpc>
              <a:spcBef>
                <a:spcPts val="59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New idea: </a:t>
            </a:r>
            <a:r>
              <a:rPr dirty="0" sz="3200" spc="-5">
                <a:latin typeface="Calibri"/>
                <a:cs typeface="Calibri"/>
              </a:rPr>
              <a:t>(Randomly) sample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35">
                <a:latin typeface="Calibri"/>
                <a:cs typeface="Calibri"/>
              </a:rPr>
              <a:t>node’s  </a:t>
            </a:r>
            <a:r>
              <a:rPr dirty="0" sz="3200" spc="-5">
                <a:latin typeface="Calibri"/>
                <a:cs typeface="Calibri"/>
              </a:rPr>
              <a:t>neighborhood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 spc="-10">
                <a:latin typeface="Calibri"/>
                <a:cs typeface="Calibri"/>
              </a:rPr>
              <a:t>message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passing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23947" y="3844873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 h="0">
                <a:moveTo>
                  <a:pt x="0" y="0"/>
                </a:moveTo>
                <a:lnTo>
                  <a:pt x="45713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31827" y="3793458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4"/>
                </a:lnTo>
                <a:lnTo>
                  <a:pt x="102830" y="102830"/>
                </a:lnTo>
                <a:lnTo>
                  <a:pt x="1028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69660" y="3522397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634890"/>
                </a:moveTo>
                <a:lnTo>
                  <a:pt x="698762" y="634890"/>
                </a:lnTo>
                <a:lnTo>
                  <a:pt x="698762" y="0"/>
                </a:lnTo>
                <a:lnTo>
                  <a:pt x="0" y="0"/>
                </a:lnTo>
                <a:lnTo>
                  <a:pt x="0" y="63489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69660" y="3522397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0"/>
                </a:moveTo>
                <a:lnTo>
                  <a:pt x="698763" y="0"/>
                </a:lnTo>
                <a:lnTo>
                  <a:pt x="698763" y="634890"/>
                </a:lnTo>
                <a:lnTo>
                  <a:pt x="0" y="63489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89140" y="4076325"/>
            <a:ext cx="560705" cy="360045"/>
          </a:xfrm>
          <a:custGeom>
            <a:avLst/>
            <a:gdLst/>
            <a:ahLst/>
            <a:cxnLst/>
            <a:rect l="l" t="t" r="r" b="b"/>
            <a:pathLst>
              <a:path w="560705" h="360045">
                <a:moveTo>
                  <a:pt x="0" y="350678"/>
                </a:moveTo>
                <a:lnTo>
                  <a:pt x="554859" y="0"/>
                </a:lnTo>
                <a:lnTo>
                  <a:pt x="560581" y="9054"/>
                </a:lnTo>
                <a:lnTo>
                  <a:pt x="5722" y="359733"/>
                </a:lnTo>
                <a:lnTo>
                  <a:pt x="0" y="35067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45722" y="3796304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4"/>
                </a:lnTo>
                <a:lnTo>
                  <a:pt x="102830" y="102830"/>
                </a:lnTo>
                <a:lnTo>
                  <a:pt x="10283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29159" y="4015825"/>
            <a:ext cx="690245" cy="581025"/>
          </a:xfrm>
          <a:custGeom>
            <a:avLst/>
            <a:gdLst/>
            <a:ahLst/>
            <a:cxnLst/>
            <a:rect l="l" t="t" r="r" b="b"/>
            <a:pathLst>
              <a:path w="690245" h="581025">
                <a:moveTo>
                  <a:pt x="0" y="0"/>
                </a:moveTo>
                <a:lnTo>
                  <a:pt x="8192" y="6900"/>
                </a:lnTo>
                <a:lnTo>
                  <a:pt x="689746" y="581017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58705" y="3956477"/>
            <a:ext cx="112395" cy="106045"/>
          </a:xfrm>
          <a:custGeom>
            <a:avLst/>
            <a:gdLst/>
            <a:ahLst/>
            <a:cxnLst/>
            <a:rect l="l" t="t" r="r" b="b"/>
            <a:pathLst>
              <a:path w="112395" h="106045">
                <a:moveTo>
                  <a:pt x="0" y="0"/>
                </a:moveTo>
                <a:lnTo>
                  <a:pt x="45520" y="105571"/>
                </a:lnTo>
                <a:lnTo>
                  <a:pt x="111770" y="2692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31036" y="3052359"/>
            <a:ext cx="768985" cy="606425"/>
          </a:xfrm>
          <a:custGeom>
            <a:avLst/>
            <a:gdLst/>
            <a:ahLst/>
            <a:cxnLst/>
            <a:rect l="l" t="t" r="r" b="b"/>
            <a:pathLst>
              <a:path w="768985" h="606425">
                <a:moveTo>
                  <a:pt x="0" y="606064"/>
                </a:moveTo>
                <a:lnTo>
                  <a:pt x="8410" y="599431"/>
                </a:lnTo>
                <a:lnTo>
                  <a:pt x="768465" y="0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58705" y="3611421"/>
            <a:ext cx="113030" cy="104139"/>
          </a:xfrm>
          <a:custGeom>
            <a:avLst/>
            <a:gdLst/>
            <a:ahLst/>
            <a:cxnLst/>
            <a:rect l="l" t="t" r="r" b="b"/>
            <a:pathLst>
              <a:path w="113029" h="104139">
                <a:moveTo>
                  <a:pt x="48901" y="0"/>
                </a:moveTo>
                <a:lnTo>
                  <a:pt x="0" y="104047"/>
                </a:lnTo>
                <a:lnTo>
                  <a:pt x="112580" y="80740"/>
                </a:lnTo>
                <a:lnTo>
                  <a:pt x="4890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483238" y="2679801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238434" y="0"/>
                </a:moveTo>
                <a:lnTo>
                  <a:pt x="0" y="68369"/>
                </a:lnTo>
                <a:lnTo>
                  <a:pt x="74999" y="329921"/>
                </a:lnTo>
                <a:lnTo>
                  <a:pt x="313433" y="261552"/>
                </a:lnTo>
                <a:lnTo>
                  <a:pt x="23843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483238" y="2679800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0" y="68369"/>
                </a:moveTo>
                <a:lnTo>
                  <a:pt x="238434" y="0"/>
                </a:lnTo>
                <a:lnTo>
                  <a:pt x="313433" y="261551"/>
                </a:lnTo>
                <a:lnTo>
                  <a:pt x="74998" y="329921"/>
                </a:lnTo>
                <a:lnTo>
                  <a:pt x="0" y="68369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28034" y="2525864"/>
            <a:ext cx="599440" cy="231775"/>
          </a:xfrm>
          <a:custGeom>
            <a:avLst/>
            <a:gdLst/>
            <a:ahLst/>
            <a:cxnLst/>
            <a:rect l="l" t="t" r="r" b="b"/>
            <a:pathLst>
              <a:path w="599440" h="231775">
                <a:moveTo>
                  <a:pt x="0" y="231763"/>
                </a:moveTo>
                <a:lnTo>
                  <a:pt x="4995" y="229831"/>
                </a:lnTo>
                <a:lnTo>
                  <a:pt x="599425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773085" y="2725723"/>
            <a:ext cx="71755" cy="60325"/>
          </a:xfrm>
          <a:custGeom>
            <a:avLst/>
            <a:gdLst/>
            <a:ahLst/>
            <a:cxnLst/>
            <a:rect l="l" t="t" r="r" b="b"/>
            <a:pathLst>
              <a:path w="71754" h="60325">
                <a:moveTo>
                  <a:pt x="48356" y="0"/>
                </a:moveTo>
                <a:lnTo>
                  <a:pt x="0" y="53149"/>
                </a:lnTo>
                <a:lnTo>
                  <a:pt x="71534" y="59944"/>
                </a:lnTo>
                <a:lnTo>
                  <a:pt x="4835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459956" y="2884117"/>
            <a:ext cx="62865" cy="20320"/>
          </a:xfrm>
          <a:custGeom>
            <a:avLst/>
            <a:gdLst/>
            <a:ahLst/>
            <a:cxnLst/>
            <a:rect l="l" t="t" r="r" b="b"/>
            <a:pathLst>
              <a:path w="62865" h="20319">
                <a:moveTo>
                  <a:pt x="62264" y="0"/>
                </a:moveTo>
                <a:lnTo>
                  <a:pt x="10193" y="16811"/>
                </a:lnTo>
                <a:lnTo>
                  <a:pt x="0" y="2010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372293" y="2852002"/>
            <a:ext cx="113664" cy="98425"/>
          </a:xfrm>
          <a:custGeom>
            <a:avLst/>
            <a:gdLst/>
            <a:ahLst/>
            <a:cxnLst/>
            <a:rect l="l" t="t" r="r" b="b"/>
            <a:pathLst>
              <a:path w="113664" h="98425">
                <a:moveTo>
                  <a:pt x="82059" y="0"/>
                </a:moveTo>
                <a:lnTo>
                  <a:pt x="0" y="80521"/>
                </a:lnTo>
                <a:lnTo>
                  <a:pt x="113653" y="97857"/>
                </a:lnTo>
                <a:lnTo>
                  <a:pt x="820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506890" y="3645977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247891" y="0"/>
                </a:moveTo>
                <a:lnTo>
                  <a:pt x="0" y="8657"/>
                </a:lnTo>
                <a:lnTo>
                  <a:pt x="9495" y="280584"/>
                </a:lnTo>
                <a:lnTo>
                  <a:pt x="257387" y="271927"/>
                </a:lnTo>
                <a:lnTo>
                  <a:pt x="24789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06890" y="3645977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0" y="8656"/>
                </a:moveTo>
                <a:lnTo>
                  <a:pt x="247891" y="0"/>
                </a:lnTo>
                <a:lnTo>
                  <a:pt x="257387" y="271926"/>
                </a:lnTo>
                <a:lnTo>
                  <a:pt x="9495" y="280583"/>
                </a:lnTo>
                <a:lnTo>
                  <a:pt x="0" y="8656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446549" y="3795974"/>
            <a:ext cx="65405" cy="4445"/>
          </a:xfrm>
          <a:custGeom>
            <a:avLst/>
            <a:gdLst/>
            <a:ahLst/>
            <a:cxnLst/>
            <a:rect l="l" t="t" r="r" b="b"/>
            <a:pathLst>
              <a:path w="65404" h="4445">
                <a:moveTo>
                  <a:pt x="65277" y="0"/>
                </a:moveTo>
                <a:lnTo>
                  <a:pt x="10686" y="3715"/>
                </a:lnTo>
                <a:lnTo>
                  <a:pt x="0" y="444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354643" y="3748393"/>
            <a:ext cx="106680" cy="102870"/>
          </a:xfrm>
          <a:custGeom>
            <a:avLst/>
            <a:gdLst/>
            <a:ahLst/>
            <a:cxnLst/>
            <a:rect l="l" t="t" r="r" b="b"/>
            <a:pathLst>
              <a:path w="106679" h="102870">
                <a:moveTo>
                  <a:pt x="99101" y="0"/>
                </a:moveTo>
                <a:lnTo>
                  <a:pt x="0" y="58279"/>
                </a:lnTo>
                <a:lnTo>
                  <a:pt x="106084" y="102593"/>
                </a:lnTo>
                <a:lnTo>
                  <a:pt x="99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422355" y="4535225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0" y="264577"/>
                </a:lnTo>
                <a:lnTo>
                  <a:pt x="241192" y="322469"/>
                </a:lnTo>
                <a:lnTo>
                  <a:pt x="304697" y="57892"/>
                </a:lnTo>
                <a:lnTo>
                  <a:pt x="6350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422355" y="4535225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304697" y="57892"/>
                </a:lnTo>
                <a:lnTo>
                  <a:pt x="241192" y="322469"/>
                </a:lnTo>
                <a:lnTo>
                  <a:pt x="0" y="264577"/>
                </a:lnTo>
                <a:lnTo>
                  <a:pt x="63505" y="0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754783" y="4747470"/>
            <a:ext cx="521334" cy="125730"/>
          </a:xfrm>
          <a:custGeom>
            <a:avLst/>
            <a:gdLst/>
            <a:ahLst/>
            <a:cxnLst/>
            <a:rect l="l" t="t" r="r" b="b"/>
            <a:pathLst>
              <a:path w="521334" h="125729">
                <a:moveTo>
                  <a:pt x="0" y="0"/>
                </a:moveTo>
                <a:lnTo>
                  <a:pt x="5207" y="1251"/>
                </a:lnTo>
                <a:lnTo>
                  <a:pt x="520988" y="125259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697503" y="4717478"/>
            <a:ext cx="70485" cy="62865"/>
          </a:xfrm>
          <a:custGeom>
            <a:avLst/>
            <a:gdLst/>
            <a:ahLst/>
            <a:cxnLst/>
            <a:rect l="l" t="t" r="r" b="b"/>
            <a:pathLst>
              <a:path w="70484" h="62864">
                <a:moveTo>
                  <a:pt x="69999" y="0"/>
                </a:moveTo>
                <a:lnTo>
                  <a:pt x="0" y="16220"/>
                </a:lnTo>
                <a:lnTo>
                  <a:pt x="54975" y="62489"/>
                </a:lnTo>
                <a:lnTo>
                  <a:pt x="6999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388761" y="4659584"/>
            <a:ext cx="64135" cy="13335"/>
          </a:xfrm>
          <a:custGeom>
            <a:avLst/>
            <a:gdLst/>
            <a:ahLst/>
            <a:cxnLst/>
            <a:rect l="l" t="t" r="r" b="b"/>
            <a:pathLst>
              <a:path w="64135" h="13335">
                <a:moveTo>
                  <a:pt x="64091" y="13160"/>
                </a:moveTo>
                <a:lnTo>
                  <a:pt x="10492" y="2154"/>
                </a:lnTo>
                <a:lnTo>
                  <a:pt x="0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298525" y="4611375"/>
            <a:ext cx="111125" cy="100965"/>
          </a:xfrm>
          <a:custGeom>
            <a:avLst/>
            <a:gdLst/>
            <a:ahLst/>
            <a:cxnLst/>
            <a:rect l="l" t="t" r="r" b="b"/>
            <a:pathLst>
              <a:path w="111125" h="100964">
                <a:moveTo>
                  <a:pt x="111070" y="0"/>
                </a:moveTo>
                <a:lnTo>
                  <a:pt x="0" y="29681"/>
                </a:lnTo>
                <a:lnTo>
                  <a:pt x="90385" y="100728"/>
                </a:lnTo>
                <a:lnTo>
                  <a:pt x="111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821185" y="3913201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0"/>
                </a:moveTo>
                <a:lnTo>
                  <a:pt x="4375" y="3088"/>
                </a:lnTo>
                <a:lnTo>
                  <a:pt x="465926" y="32884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773053" y="3879230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0" y="0"/>
                </a:moveTo>
                <a:lnTo>
                  <a:pt x="33978" y="63313"/>
                </a:lnTo>
                <a:lnTo>
                  <a:pt x="71038" y="10806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844573" y="3831595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0"/>
                </a:moveTo>
                <a:lnTo>
                  <a:pt x="5130" y="1534"/>
                </a:lnTo>
                <a:lnTo>
                  <a:pt x="546369" y="16342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788130" y="3802344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70782" y="0"/>
                </a:moveTo>
                <a:lnTo>
                  <a:pt x="0" y="12368"/>
                </a:lnTo>
                <a:lnTo>
                  <a:pt x="52364" y="61573"/>
                </a:lnTo>
                <a:lnTo>
                  <a:pt x="70782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823247" y="3358568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328846"/>
                </a:moveTo>
                <a:lnTo>
                  <a:pt x="4375" y="325758"/>
                </a:lnTo>
                <a:lnTo>
                  <a:pt x="465926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775114" y="3658072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33977" y="0"/>
                </a:moveTo>
                <a:lnTo>
                  <a:pt x="0" y="63313"/>
                </a:lnTo>
                <a:lnTo>
                  <a:pt x="71037" y="52508"/>
                </a:lnTo>
                <a:lnTo>
                  <a:pt x="3397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846635" y="3605593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163426"/>
                </a:moveTo>
                <a:lnTo>
                  <a:pt x="5130" y="161891"/>
                </a:lnTo>
                <a:lnTo>
                  <a:pt x="546369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790193" y="3736699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52363" y="0"/>
                </a:moveTo>
                <a:lnTo>
                  <a:pt x="0" y="49203"/>
                </a:lnTo>
                <a:lnTo>
                  <a:pt x="70782" y="61572"/>
                </a:lnTo>
                <a:lnTo>
                  <a:pt x="523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10495" y="3596168"/>
            <a:ext cx="548005" cy="823594"/>
          </a:xfrm>
          <a:custGeom>
            <a:avLst/>
            <a:gdLst/>
            <a:ahLst/>
            <a:cxnLst/>
            <a:rect l="l" t="t" r="r" b="b"/>
            <a:pathLst>
              <a:path w="548005" h="823595">
                <a:moveTo>
                  <a:pt x="0" y="817674"/>
                </a:moveTo>
                <a:lnTo>
                  <a:pt x="538911" y="0"/>
                </a:lnTo>
                <a:lnTo>
                  <a:pt x="547854" y="5894"/>
                </a:lnTo>
                <a:lnTo>
                  <a:pt x="8943" y="823568"/>
                </a:lnTo>
                <a:lnTo>
                  <a:pt x="0" y="817674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557784" y="3518525"/>
            <a:ext cx="1208405" cy="109220"/>
          </a:xfrm>
          <a:custGeom>
            <a:avLst/>
            <a:gdLst/>
            <a:ahLst/>
            <a:cxnLst/>
            <a:rect l="l" t="t" r="r" b="b"/>
            <a:pathLst>
              <a:path w="1208405" h="109220">
                <a:moveTo>
                  <a:pt x="869" y="0"/>
                </a:moveTo>
                <a:lnTo>
                  <a:pt x="1208045" y="98282"/>
                </a:lnTo>
                <a:lnTo>
                  <a:pt x="1207176" y="108958"/>
                </a:lnTo>
                <a:lnTo>
                  <a:pt x="0" y="10676"/>
                </a:lnTo>
                <a:lnTo>
                  <a:pt x="86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452285" y="3004422"/>
            <a:ext cx="268605" cy="620395"/>
          </a:xfrm>
          <a:custGeom>
            <a:avLst/>
            <a:gdLst/>
            <a:ahLst/>
            <a:cxnLst/>
            <a:rect l="l" t="t" r="r" b="b"/>
            <a:pathLst>
              <a:path w="268605" h="620395">
                <a:moveTo>
                  <a:pt x="9876" y="0"/>
                </a:moveTo>
                <a:lnTo>
                  <a:pt x="268416" y="616049"/>
                </a:lnTo>
                <a:lnTo>
                  <a:pt x="258540" y="620194"/>
                </a:lnTo>
                <a:lnTo>
                  <a:pt x="0" y="4145"/>
                </a:lnTo>
                <a:lnTo>
                  <a:pt x="987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628608" y="4766331"/>
            <a:ext cx="86042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" b="1">
                <a:latin typeface="Arial"/>
                <a:cs typeface="Arial"/>
              </a:rPr>
              <a:t>INPUT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spc="-5" b="1">
                <a:latin typeface="Arial"/>
                <a:cs typeface="Arial"/>
              </a:rPr>
              <a:t>GRAPH</a:t>
            </a:r>
            <a:endParaRPr sz="9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513937" y="3024603"/>
            <a:ext cx="1270" cy="274955"/>
          </a:xfrm>
          <a:custGeom>
            <a:avLst/>
            <a:gdLst/>
            <a:ahLst/>
            <a:cxnLst/>
            <a:rect l="l" t="t" r="r" b="b"/>
            <a:pathLst>
              <a:path w="1269" h="274954">
                <a:moveTo>
                  <a:pt x="0" y="0"/>
                </a:moveTo>
                <a:lnTo>
                  <a:pt x="914" y="269532"/>
                </a:lnTo>
                <a:lnTo>
                  <a:pt x="932" y="274888"/>
                </a:lnTo>
              </a:path>
            </a:pathLst>
          </a:custGeom>
          <a:ln w="107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482718" y="3294028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69" h="64770">
                <a:moveTo>
                  <a:pt x="64268" y="0"/>
                </a:moveTo>
                <a:lnTo>
                  <a:pt x="0" y="217"/>
                </a:lnTo>
                <a:lnTo>
                  <a:pt x="32351" y="64377"/>
                </a:lnTo>
                <a:lnTo>
                  <a:pt x="64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071611" y="2838265"/>
            <a:ext cx="8566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5">
                <a:latin typeface="Arial"/>
                <a:cs typeface="Arial"/>
              </a:rPr>
              <a:t>TARGET</a:t>
            </a:r>
            <a:r>
              <a:rPr dirty="0" sz="950" spc="-20">
                <a:latin typeface="Arial"/>
                <a:cs typeface="Arial"/>
              </a:rPr>
              <a:t> NODE</a:t>
            </a:r>
            <a:endParaRPr sz="9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540607" y="2989562"/>
            <a:ext cx="883919" cy="520065"/>
          </a:xfrm>
          <a:custGeom>
            <a:avLst/>
            <a:gdLst/>
            <a:ahLst/>
            <a:cxnLst/>
            <a:rect l="l" t="t" r="r" b="b"/>
            <a:pathLst>
              <a:path w="883919" h="520064">
                <a:moveTo>
                  <a:pt x="883776" y="9260"/>
                </a:moveTo>
                <a:lnTo>
                  <a:pt x="5383" y="519880"/>
                </a:lnTo>
                <a:lnTo>
                  <a:pt x="0" y="510619"/>
                </a:lnTo>
                <a:lnTo>
                  <a:pt x="878392" y="0"/>
                </a:lnTo>
                <a:lnTo>
                  <a:pt x="883776" y="926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318055" y="2852612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18754" y="3569535"/>
            <a:ext cx="327025" cy="704850"/>
          </a:xfrm>
          <a:custGeom>
            <a:avLst/>
            <a:gdLst/>
            <a:ahLst/>
            <a:cxnLst/>
            <a:rect l="l" t="t" r="r" b="b"/>
            <a:pathLst>
              <a:path w="327025" h="704850">
                <a:moveTo>
                  <a:pt x="326584" y="4415"/>
                </a:moveTo>
                <a:lnTo>
                  <a:pt x="9759" y="704679"/>
                </a:lnTo>
                <a:lnTo>
                  <a:pt x="0" y="700264"/>
                </a:lnTo>
                <a:lnTo>
                  <a:pt x="316825" y="0"/>
                </a:lnTo>
                <a:lnTo>
                  <a:pt x="326584" y="44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173336" y="4112922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3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232283" y="409365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098369" y="433183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153470" y="431859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762004" y="3669369"/>
            <a:ext cx="171450" cy="341630"/>
          </a:xfrm>
          <a:custGeom>
            <a:avLst/>
            <a:gdLst/>
            <a:ahLst/>
            <a:cxnLst/>
            <a:rect l="l" t="t" r="r" b="b"/>
            <a:pathLst>
              <a:path w="171450" h="341629">
                <a:moveTo>
                  <a:pt x="9657" y="0"/>
                </a:moveTo>
                <a:lnTo>
                  <a:pt x="171247" y="336816"/>
                </a:lnTo>
                <a:lnTo>
                  <a:pt x="161590" y="341449"/>
                </a:lnTo>
                <a:lnTo>
                  <a:pt x="0" y="4633"/>
                </a:lnTo>
                <a:lnTo>
                  <a:pt x="965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810910" y="3917612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860428" y="3900844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617658" y="3500713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3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667622" y="3483096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058406" y="375497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3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3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113672" y="372945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146130" y="284196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4"/>
                </a:lnTo>
                <a:lnTo>
                  <a:pt x="8042" y="68323"/>
                </a:lnTo>
                <a:lnTo>
                  <a:pt x="0" y="109546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2" y="187008"/>
                </a:lnTo>
                <a:lnTo>
                  <a:pt x="211643" y="150769"/>
                </a:lnTo>
                <a:lnTo>
                  <a:pt x="219686" y="109546"/>
                </a:lnTo>
                <a:lnTo>
                  <a:pt x="211643" y="68323"/>
                </a:lnTo>
                <a:lnTo>
                  <a:pt x="187512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2378411" y="2829695"/>
            <a:ext cx="393954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836035" algn="l"/>
              </a:tabLst>
            </a:pPr>
            <a:r>
              <a:rPr dirty="0" sz="1150" spc="10" b="1">
                <a:latin typeface="Courier New"/>
                <a:cs typeface="Courier New"/>
              </a:rPr>
              <a:t>B</a:t>
            </a:r>
            <a:r>
              <a:rPr dirty="0" sz="1150" spc="10" b="1">
                <a:latin typeface="Courier New"/>
                <a:cs typeface="Courier New"/>
              </a:rPr>
              <a:t>	</a:t>
            </a:r>
            <a:r>
              <a:rPr dirty="0" baseline="4830" sz="1725" spc="15" b="1">
                <a:latin typeface="Courier New"/>
                <a:cs typeface="Courier New"/>
              </a:rPr>
              <a:t>B</a:t>
            </a:r>
            <a:endParaRPr baseline="4830" sz="1725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114327" y="3702497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4" y="0"/>
                </a:moveTo>
                <a:lnTo>
                  <a:pt x="68510" y="8021"/>
                </a:lnTo>
                <a:lnTo>
                  <a:pt x="32173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3" y="187008"/>
                </a:lnTo>
                <a:lnTo>
                  <a:pt x="68510" y="211072"/>
                </a:lnTo>
                <a:lnTo>
                  <a:pt x="109844" y="219094"/>
                </a:lnTo>
                <a:lnTo>
                  <a:pt x="151178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4"/>
                </a:lnTo>
                <a:lnTo>
                  <a:pt x="151178" y="8021"/>
                </a:lnTo>
                <a:lnTo>
                  <a:pt x="109844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5325141" y="3686614"/>
            <a:ext cx="94996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86130" algn="l"/>
              </a:tabLst>
            </a:pPr>
            <a:r>
              <a:rPr dirty="0" sz="1150" spc="0" u="heavy">
                <a:latin typeface="Times New Roman"/>
                <a:cs typeface="Times New Roman"/>
              </a:rPr>
              <a:t> </a:t>
            </a:r>
            <a:r>
              <a:rPr dirty="0" sz="1150" spc="0" u="heavy">
                <a:latin typeface="Times New Roman"/>
                <a:cs typeface="Times New Roman"/>
              </a:rPr>
              <a:t>	</a:t>
            </a:r>
            <a:r>
              <a:rPr dirty="0" sz="1150" spc="0">
                <a:latin typeface="Times New Roman"/>
                <a:cs typeface="Times New Roman"/>
              </a:rPr>
              <a:t> </a:t>
            </a:r>
            <a:r>
              <a:rPr dirty="0" sz="1150" spc="-100">
                <a:latin typeface="Times New Roman"/>
                <a:cs typeface="Times New Roman"/>
              </a:rPr>
              <a:t> </a:t>
            </a: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058236" y="450284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116718" y="4489975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420293" y="341407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9" y="211073"/>
                </a:lnTo>
                <a:lnTo>
                  <a:pt x="109843" y="219095"/>
                </a:lnTo>
                <a:lnTo>
                  <a:pt x="151177" y="211073"/>
                </a:lnTo>
                <a:lnTo>
                  <a:pt x="187513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467935" y="3386693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844858" y="2859479"/>
            <a:ext cx="635635" cy="59055"/>
          </a:xfrm>
          <a:custGeom>
            <a:avLst/>
            <a:gdLst/>
            <a:ahLst/>
            <a:cxnLst/>
            <a:rect l="l" t="t" r="r" b="b"/>
            <a:pathLst>
              <a:path w="635634" h="59055">
                <a:moveTo>
                  <a:pt x="0" y="0"/>
                </a:moveTo>
                <a:lnTo>
                  <a:pt x="5332" y="493"/>
                </a:lnTo>
                <a:lnTo>
                  <a:pt x="635165" y="58733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786195" y="2827973"/>
            <a:ext cx="67310" cy="64135"/>
          </a:xfrm>
          <a:custGeom>
            <a:avLst/>
            <a:gdLst/>
            <a:ahLst/>
            <a:cxnLst/>
            <a:rect l="l" t="t" r="r" b="b"/>
            <a:pathLst>
              <a:path w="67309" h="64135">
                <a:moveTo>
                  <a:pt x="66954" y="0"/>
                </a:moveTo>
                <a:lnTo>
                  <a:pt x="0" y="26080"/>
                </a:lnTo>
                <a:lnTo>
                  <a:pt x="61036" y="63996"/>
                </a:lnTo>
                <a:lnTo>
                  <a:pt x="6695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201510" y="476103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7252135" y="4736338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320503" y="245702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956563" y="1832355"/>
            <a:ext cx="6529070" cy="806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287020" marR="5080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All the nodes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5">
                <a:latin typeface="Calibri"/>
                <a:cs typeface="Calibri"/>
              </a:rPr>
              <a:t>used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10">
                <a:latin typeface="Calibri"/>
                <a:cs typeface="Calibri"/>
              </a:rPr>
              <a:t>message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passing</a:t>
            </a:r>
            <a:endParaRPr sz="28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40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325735" y="280644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3" y="0"/>
                </a:moveTo>
                <a:lnTo>
                  <a:pt x="68509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7369962" y="278684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178012" y="412687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3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7230712" y="4115072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290106" y="350503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4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4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276580" y="385725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4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4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7327116" y="3836574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216987" y="3234983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7273559" y="3106052"/>
            <a:ext cx="190500" cy="58293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  <a:p>
            <a:pPr marL="87630">
              <a:lnSpc>
                <a:spcPct val="100000"/>
              </a:lnSpc>
              <a:spcBef>
                <a:spcPts val="81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4" name="object 8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5" name="object 8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6" name="object 8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83" name="object 83"/>
          <p:cNvSpPr txBox="1"/>
          <p:nvPr/>
        </p:nvSpPr>
        <p:spPr>
          <a:xfrm>
            <a:off x="3952650" y="20827"/>
            <a:ext cx="5111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Hamilton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Inductive Representation Learning on Large Graphs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Corbel"/>
                <a:cs typeface="Corbel"/>
              </a:rPr>
              <a:t>2017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253983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80884" cy="151828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000000"/>
                </a:solidFill>
              </a:rPr>
              <a:t>For example, we </a:t>
            </a:r>
            <a:r>
              <a:rPr dirty="0" spc="-10">
                <a:solidFill>
                  <a:srgbClr val="000000"/>
                </a:solidFill>
              </a:rPr>
              <a:t>can </a:t>
            </a:r>
            <a:r>
              <a:rPr dirty="0" spc="-15">
                <a:solidFill>
                  <a:srgbClr val="000000"/>
                </a:solidFill>
              </a:rPr>
              <a:t>randomly </a:t>
            </a:r>
            <a:r>
              <a:rPr dirty="0" spc="-5">
                <a:solidFill>
                  <a:srgbClr val="000000"/>
                </a:solidFill>
              </a:rPr>
              <a:t>choose </a:t>
            </a:r>
            <a:r>
              <a:rPr dirty="0">
                <a:solidFill>
                  <a:srgbClr val="000000"/>
                </a:solidFill>
              </a:rPr>
              <a:t>2  </a:t>
            </a:r>
            <a:r>
              <a:rPr dirty="0" spc="-10">
                <a:solidFill>
                  <a:srgbClr val="000000"/>
                </a:solidFill>
              </a:rPr>
              <a:t>neighbors </a:t>
            </a:r>
            <a:r>
              <a:rPr dirty="0" spc="-15">
                <a:solidFill>
                  <a:srgbClr val="000000"/>
                </a:solidFill>
              </a:rPr>
              <a:t>to </a:t>
            </a:r>
            <a:r>
              <a:rPr dirty="0" spc="-5">
                <a:solidFill>
                  <a:srgbClr val="000000"/>
                </a:solidFill>
              </a:rPr>
              <a:t>pass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messages</a:t>
            </a: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Only nodes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𝐵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𝐷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will pass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message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2800" spc="2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𝐴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6345" y="5239543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 h="0">
                <a:moveTo>
                  <a:pt x="0" y="0"/>
                </a:moveTo>
                <a:lnTo>
                  <a:pt x="45715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84227" y="5188127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5"/>
                </a:lnTo>
                <a:lnTo>
                  <a:pt x="102830" y="102830"/>
                </a:lnTo>
                <a:lnTo>
                  <a:pt x="1028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22060" y="4917067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634890"/>
                </a:moveTo>
                <a:lnTo>
                  <a:pt x="698762" y="634890"/>
                </a:lnTo>
                <a:lnTo>
                  <a:pt x="698762" y="0"/>
                </a:lnTo>
                <a:lnTo>
                  <a:pt x="0" y="0"/>
                </a:lnTo>
                <a:lnTo>
                  <a:pt x="0" y="63489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22060" y="4917066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0"/>
                </a:moveTo>
                <a:lnTo>
                  <a:pt x="698763" y="0"/>
                </a:lnTo>
                <a:lnTo>
                  <a:pt x="698763" y="634890"/>
                </a:lnTo>
                <a:lnTo>
                  <a:pt x="0" y="63489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41540" y="5470995"/>
            <a:ext cx="560705" cy="360045"/>
          </a:xfrm>
          <a:custGeom>
            <a:avLst/>
            <a:gdLst/>
            <a:ahLst/>
            <a:cxnLst/>
            <a:rect l="l" t="t" r="r" b="b"/>
            <a:pathLst>
              <a:path w="560705" h="360045">
                <a:moveTo>
                  <a:pt x="0" y="350678"/>
                </a:moveTo>
                <a:lnTo>
                  <a:pt x="554859" y="0"/>
                </a:lnTo>
                <a:lnTo>
                  <a:pt x="560581" y="9054"/>
                </a:lnTo>
                <a:lnTo>
                  <a:pt x="5722" y="359733"/>
                </a:lnTo>
                <a:lnTo>
                  <a:pt x="0" y="35067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98122" y="5190973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5"/>
                </a:lnTo>
                <a:lnTo>
                  <a:pt x="102830" y="102830"/>
                </a:lnTo>
                <a:lnTo>
                  <a:pt x="10283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81559" y="5410495"/>
            <a:ext cx="690245" cy="581025"/>
          </a:xfrm>
          <a:custGeom>
            <a:avLst/>
            <a:gdLst/>
            <a:ahLst/>
            <a:cxnLst/>
            <a:rect l="l" t="t" r="r" b="b"/>
            <a:pathLst>
              <a:path w="690245" h="581025">
                <a:moveTo>
                  <a:pt x="0" y="0"/>
                </a:moveTo>
                <a:lnTo>
                  <a:pt x="8192" y="6900"/>
                </a:lnTo>
                <a:lnTo>
                  <a:pt x="689746" y="581017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11105" y="5351147"/>
            <a:ext cx="112395" cy="106045"/>
          </a:xfrm>
          <a:custGeom>
            <a:avLst/>
            <a:gdLst/>
            <a:ahLst/>
            <a:cxnLst/>
            <a:rect l="l" t="t" r="r" b="b"/>
            <a:pathLst>
              <a:path w="112395" h="106045">
                <a:moveTo>
                  <a:pt x="0" y="0"/>
                </a:moveTo>
                <a:lnTo>
                  <a:pt x="45520" y="105571"/>
                </a:lnTo>
                <a:lnTo>
                  <a:pt x="111770" y="2692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83436" y="4447030"/>
            <a:ext cx="768985" cy="606425"/>
          </a:xfrm>
          <a:custGeom>
            <a:avLst/>
            <a:gdLst/>
            <a:ahLst/>
            <a:cxnLst/>
            <a:rect l="l" t="t" r="r" b="b"/>
            <a:pathLst>
              <a:path w="768985" h="606425">
                <a:moveTo>
                  <a:pt x="0" y="606064"/>
                </a:moveTo>
                <a:lnTo>
                  <a:pt x="8410" y="599431"/>
                </a:lnTo>
                <a:lnTo>
                  <a:pt x="768465" y="0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11105" y="5006090"/>
            <a:ext cx="113030" cy="104139"/>
          </a:xfrm>
          <a:custGeom>
            <a:avLst/>
            <a:gdLst/>
            <a:ahLst/>
            <a:cxnLst/>
            <a:rect l="l" t="t" r="r" b="b"/>
            <a:pathLst>
              <a:path w="113029" h="104139">
                <a:moveTo>
                  <a:pt x="48901" y="0"/>
                </a:moveTo>
                <a:lnTo>
                  <a:pt x="0" y="104048"/>
                </a:lnTo>
                <a:lnTo>
                  <a:pt x="112580" y="80741"/>
                </a:lnTo>
                <a:lnTo>
                  <a:pt x="4890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35638" y="4074471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238434" y="0"/>
                </a:moveTo>
                <a:lnTo>
                  <a:pt x="0" y="68370"/>
                </a:lnTo>
                <a:lnTo>
                  <a:pt x="74999" y="329921"/>
                </a:lnTo>
                <a:lnTo>
                  <a:pt x="313433" y="261552"/>
                </a:lnTo>
                <a:lnTo>
                  <a:pt x="23843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35638" y="4074471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0" y="68369"/>
                </a:moveTo>
                <a:lnTo>
                  <a:pt x="238434" y="0"/>
                </a:lnTo>
                <a:lnTo>
                  <a:pt x="313433" y="261551"/>
                </a:lnTo>
                <a:lnTo>
                  <a:pt x="74998" y="329921"/>
                </a:lnTo>
                <a:lnTo>
                  <a:pt x="0" y="68369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80434" y="3920533"/>
            <a:ext cx="599440" cy="231775"/>
          </a:xfrm>
          <a:custGeom>
            <a:avLst/>
            <a:gdLst/>
            <a:ahLst/>
            <a:cxnLst/>
            <a:rect l="l" t="t" r="r" b="b"/>
            <a:pathLst>
              <a:path w="599440" h="231775">
                <a:moveTo>
                  <a:pt x="0" y="231763"/>
                </a:moveTo>
                <a:lnTo>
                  <a:pt x="4995" y="229831"/>
                </a:lnTo>
                <a:lnTo>
                  <a:pt x="599425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25485" y="4120393"/>
            <a:ext cx="71755" cy="60325"/>
          </a:xfrm>
          <a:custGeom>
            <a:avLst/>
            <a:gdLst/>
            <a:ahLst/>
            <a:cxnLst/>
            <a:rect l="l" t="t" r="r" b="b"/>
            <a:pathLst>
              <a:path w="71754" h="60325">
                <a:moveTo>
                  <a:pt x="48356" y="0"/>
                </a:moveTo>
                <a:lnTo>
                  <a:pt x="0" y="53149"/>
                </a:lnTo>
                <a:lnTo>
                  <a:pt x="71534" y="59945"/>
                </a:lnTo>
                <a:lnTo>
                  <a:pt x="4835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12356" y="4278788"/>
            <a:ext cx="62865" cy="20320"/>
          </a:xfrm>
          <a:custGeom>
            <a:avLst/>
            <a:gdLst/>
            <a:ahLst/>
            <a:cxnLst/>
            <a:rect l="l" t="t" r="r" b="b"/>
            <a:pathLst>
              <a:path w="62865" h="20320">
                <a:moveTo>
                  <a:pt x="62264" y="0"/>
                </a:moveTo>
                <a:lnTo>
                  <a:pt x="10193" y="16811"/>
                </a:lnTo>
                <a:lnTo>
                  <a:pt x="0" y="2010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524693" y="4246671"/>
            <a:ext cx="113664" cy="98425"/>
          </a:xfrm>
          <a:custGeom>
            <a:avLst/>
            <a:gdLst/>
            <a:ahLst/>
            <a:cxnLst/>
            <a:rect l="l" t="t" r="r" b="b"/>
            <a:pathLst>
              <a:path w="113665" h="98425">
                <a:moveTo>
                  <a:pt x="82059" y="0"/>
                </a:moveTo>
                <a:lnTo>
                  <a:pt x="0" y="80523"/>
                </a:lnTo>
                <a:lnTo>
                  <a:pt x="113653" y="97857"/>
                </a:lnTo>
                <a:lnTo>
                  <a:pt x="820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59290" y="5040647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247891" y="0"/>
                </a:moveTo>
                <a:lnTo>
                  <a:pt x="0" y="8656"/>
                </a:lnTo>
                <a:lnTo>
                  <a:pt x="9495" y="280583"/>
                </a:lnTo>
                <a:lnTo>
                  <a:pt x="257387" y="271926"/>
                </a:lnTo>
                <a:lnTo>
                  <a:pt x="24789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59290" y="5040647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0" y="8656"/>
                </a:moveTo>
                <a:lnTo>
                  <a:pt x="247891" y="0"/>
                </a:lnTo>
                <a:lnTo>
                  <a:pt x="257387" y="271926"/>
                </a:lnTo>
                <a:lnTo>
                  <a:pt x="9495" y="280583"/>
                </a:lnTo>
                <a:lnTo>
                  <a:pt x="0" y="8656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98949" y="5190644"/>
            <a:ext cx="65405" cy="4445"/>
          </a:xfrm>
          <a:custGeom>
            <a:avLst/>
            <a:gdLst/>
            <a:ahLst/>
            <a:cxnLst/>
            <a:rect l="l" t="t" r="r" b="b"/>
            <a:pathLst>
              <a:path w="65404" h="4445">
                <a:moveTo>
                  <a:pt x="65277" y="0"/>
                </a:moveTo>
                <a:lnTo>
                  <a:pt x="10686" y="3715"/>
                </a:lnTo>
                <a:lnTo>
                  <a:pt x="0" y="444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507043" y="5143063"/>
            <a:ext cx="106680" cy="102870"/>
          </a:xfrm>
          <a:custGeom>
            <a:avLst/>
            <a:gdLst/>
            <a:ahLst/>
            <a:cxnLst/>
            <a:rect l="l" t="t" r="r" b="b"/>
            <a:pathLst>
              <a:path w="106679" h="102870">
                <a:moveTo>
                  <a:pt x="99101" y="0"/>
                </a:moveTo>
                <a:lnTo>
                  <a:pt x="0" y="58279"/>
                </a:lnTo>
                <a:lnTo>
                  <a:pt x="106084" y="102593"/>
                </a:lnTo>
                <a:lnTo>
                  <a:pt x="99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74756" y="5929896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0" y="264577"/>
                </a:lnTo>
                <a:lnTo>
                  <a:pt x="241192" y="322469"/>
                </a:lnTo>
                <a:lnTo>
                  <a:pt x="304697" y="57892"/>
                </a:lnTo>
                <a:lnTo>
                  <a:pt x="6350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74755" y="5929896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304697" y="57892"/>
                </a:lnTo>
                <a:lnTo>
                  <a:pt x="241192" y="322469"/>
                </a:lnTo>
                <a:lnTo>
                  <a:pt x="0" y="264577"/>
                </a:lnTo>
                <a:lnTo>
                  <a:pt x="63505" y="0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07183" y="6142140"/>
            <a:ext cx="521334" cy="125730"/>
          </a:xfrm>
          <a:custGeom>
            <a:avLst/>
            <a:gdLst/>
            <a:ahLst/>
            <a:cxnLst/>
            <a:rect l="l" t="t" r="r" b="b"/>
            <a:pathLst>
              <a:path w="521334" h="125729">
                <a:moveTo>
                  <a:pt x="0" y="0"/>
                </a:moveTo>
                <a:lnTo>
                  <a:pt x="5207" y="1251"/>
                </a:lnTo>
                <a:lnTo>
                  <a:pt x="520988" y="125259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49903" y="6112149"/>
            <a:ext cx="70485" cy="62865"/>
          </a:xfrm>
          <a:custGeom>
            <a:avLst/>
            <a:gdLst/>
            <a:ahLst/>
            <a:cxnLst/>
            <a:rect l="l" t="t" r="r" b="b"/>
            <a:pathLst>
              <a:path w="70484" h="62864">
                <a:moveTo>
                  <a:pt x="69999" y="0"/>
                </a:moveTo>
                <a:lnTo>
                  <a:pt x="0" y="16220"/>
                </a:lnTo>
                <a:lnTo>
                  <a:pt x="54975" y="62488"/>
                </a:lnTo>
                <a:lnTo>
                  <a:pt x="6999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41161" y="6054255"/>
            <a:ext cx="64135" cy="13335"/>
          </a:xfrm>
          <a:custGeom>
            <a:avLst/>
            <a:gdLst/>
            <a:ahLst/>
            <a:cxnLst/>
            <a:rect l="l" t="t" r="r" b="b"/>
            <a:pathLst>
              <a:path w="64134" h="13335">
                <a:moveTo>
                  <a:pt x="64091" y="13160"/>
                </a:moveTo>
                <a:lnTo>
                  <a:pt x="10492" y="2154"/>
                </a:lnTo>
                <a:lnTo>
                  <a:pt x="0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450925" y="6006045"/>
            <a:ext cx="111125" cy="100965"/>
          </a:xfrm>
          <a:custGeom>
            <a:avLst/>
            <a:gdLst/>
            <a:ahLst/>
            <a:cxnLst/>
            <a:rect l="l" t="t" r="r" b="b"/>
            <a:pathLst>
              <a:path w="111125" h="100964">
                <a:moveTo>
                  <a:pt x="111070" y="0"/>
                </a:moveTo>
                <a:lnTo>
                  <a:pt x="0" y="29680"/>
                </a:lnTo>
                <a:lnTo>
                  <a:pt x="90385" y="100728"/>
                </a:lnTo>
                <a:lnTo>
                  <a:pt x="111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973585" y="5307872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0"/>
                </a:moveTo>
                <a:lnTo>
                  <a:pt x="4375" y="3088"/>
                </a:lnTo>
                <a:lnTo>
                  <a:pt x="465926" y="32884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925453" y="5273900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0" y="0"/>
                </a:moveTo>
                <a:lnTo>
                  <a:pt x="33978" y="63313"/>
                </a:lnTo>
                <a:lnTo>
                  <a:pt x="71038" y="1080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996973" y="5226266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0"/>
                </a:moveTo>
                <a:lnTo>
                  <a:pt x="5130" y="1534"/>
                </a:lnTo>
                <a:lnTo>
                  <a:pt x="546369" y="16342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40530" y="5197015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70782" y="0"/>
                </a:moveTo>
                <a:lnTo>
                  <a:pt x="0" y="12368"/>
                </a:lnTo>
                <a:lnTo>
                  <a:pt x="52364" y="61572"/>
                </a:lnTo>
                <a:lnTo>
                  <a:pt x="70782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975647" y="4753238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328846"/>
                </a:moveTo>
                <a:lnTo>
                  <a:pt x="4375" y="325758"/>
                </a:lnTo>
                <a:lnTo>
                  <a:pt x="465926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927514" y="5052743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33977" y="0"/>
                </a:moveTo>
                <a:lnTo>
                  <a:pt x="0" y="63313"/>
                </a:lnTo>
                <a:lnTo>
                  <a:pt x="71037" y="52506"/>
                </a:lnTo>
                <a:lnTo>
                  <a:pt x="3397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99035" y="5000264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163426"/>
                </a:moveTo>
                <a:lnTo>
                  <a:pt x="5130" y="161891"/>
                </a:lnTo>
                <a:lnTo>
                  <a:pt x="546369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942593" y="5131368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52363" y="0"/>
                </a:moveTo>
                <a:lnTo>
                  <a:pt x="0" y="49204"/>
                </a:lnTo>
                <a:lnTo>
                  <a:pt x="70782" y="61573"/>
                </a:lnTo>
                <a:lnTo>
                  <a:pt x="523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62895" y="4990837"/>
            <a:ext cx="548005" cy="823594"/>
          </a:xfrm>
          <a:custGeom>
            <a:avLst/>
            <a:gdLst/>
            <a:ahLst/>
            <a:cxnLst/>
            <a:rect l="l" t="t" r="r" b="b"/>
            <a:pathLst>
              <a:path w="548005" h="823595">
                <a:moveTo>
                  <a:pt x="0" y="817674"/>
                </a:moveTo>
                <a:lnTo>
                  <a:pt x="538911" y="0"/>
                </a:lnTo>
                <a:lnTo>
                  <a:pt x="547854" y="5894"/>
                </a:lnTo>
                <a:lnTo>
                  <a:pt x="8943" y="823568"/>
                </a:lnTo>
                <a:lnTo>
                  <a:pt x="0" y="817674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10184" y="4913196"/>
            <a:ext cx="1208405" cy="109220"/>
          </a:xfrm>
          <a:custGeom>
            <a:avLst/>
            <a:gdLst/>
            <a:ahLst/>
            <a:cxnLst/>
            <a:rect l="l" t="t" r="r" b="b"/>
            <a:pathLst>
              <a:path w="1208405" h="109220">
                <a:moveTo>
                  <a:pt x="869" y="0"/>
                </a:moveTo>
                <a:lnTo>
                  <a:pt x="1208045" y="98282"/>
                </a:lnTo>
                <a:lnTo>
                  <a:pt x="1207176" y="108958"/>
                </a:lnTo>
                <a:lnTo>
                  <a:pt x="0" y="10676"/>
                </a:lnTo>
                <a:lnTo>
                  <a:pt x="86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04685" y="4399092"/>
            <a:ext cx="268605" cy="620395"/>
          </a:xfrm>
          <a:custGeom>
            <a:avLst/>
            <a:gdLst/>
            <a:ahLst/>
            <a:cxnLst/>
            <a:rect l="l" t="t" r="r" b="b"/>
            <a:pathLst>
              <a:path w="268605" h="620395">
                <a:moveTo>
                  <a:pt x="9876" y="0"/>
                </a:moveTo>
                <a:lnTo>
                  <a:pt x="268416" y="616049"/>
                </a:lnTo>
                <a:lnTo>
                  <a:pt x="258540" y="620194"/>
                </a:lnTo>
                <a:lnTo>
                  <a:pt x="0" y="4145"/>
                </a:lnTo>
                <a:lnTo>
                  <a:pt x="987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781008" y="6161001"/>
            <a:ext cx="86042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" b="1">
                <a:latin typeface="Arial"/>
                <a:cs typeface="Arial"/>
              </a:rPr>
              <a:t>INPUT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spc="-5" b="1">
                <a:latin typeface="Arial"/>
                <a:cs typeface="Arial"/>
              </a:rPr>
              <a:t>GRAPH</a:t>
            </a:r>
            <a:endParaRPr sz="9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666337" y="4419274"/>
            <a:ext cx="1270" cy="274955"/>
          </a:xfrm>
          <a:custGeom>
            <a:avLst/>
            <a:gdLst/>
            <a:ahLst/>
            <a:cxnLst/>
            <a:rect l="l" t="t" r="r" b="b"/>
            <a:pathLst>
              <a:path w="1269" h="274954">
                <a:moveTo>
                  <a:pt x="0" y="0"/>
                </a:moveTo>
                <a:lnTo>
                  <a:pt x="914" y="269532"/>
                </a:lnTo>
                <a:lnTo>
                  <a:pt x="932" y="274888"/>
                </a:lnTo>
              </a:path>
            </a:pathLst>
          </a:custGeom>
          <a:ln w="107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635118" y="4688697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69" h="64770">
                <a:moveTo>
                  <a:pt x="64268" y="0"/>
                </a:moveTo>
                <a:lnTo>
                  <a:pt x="0" y="218"/>
                </a:lnTo>
                <a:lnTo>
                  <a:pt x="32351" y="64377"/>
                </a:lnTo>
                <a:lnTo>
                  <a:pt x="64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224011" y="4232935"/>
            <a:ext cx="8566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5">
                <a:latin typeface="Arial"/>
                <a:cs typeface="Arial"/>
              </a:rPr>
              <a:t>TARGET</a:t>
            </a:r>
            <a:r>
              <a:rPr dirty="0" sz="950" spc="-20">
                <a:latin typeface="Arial"/>
                <a:cs typeface="Arial"/>
              </a:rPr>
              <a:t> NODE</a:t>
            </a:r>
            <a:endParaRPr sz="9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693007" y="4384232"/>
            <a:ext cx="883919" cy="520065"/>
          </a:xfrm>
          <a:custGeom>
            <a:avLst/>
            <a:gdLst/>
            <a:ahLst/>
            <a:cxnLst/>
            <a:rect l="l" t="t" r="r" b="b"/>
            <a:pathLst>
              <a:path w="883919" h="520064">
                <a:moveTo>
                  <a:pt x="883776" y="9260"/>
                </a:moveTo>
                <a:lnTo>
                  <a:pt x="5383" y="519880"/>
                </a:lnTo>
                <a:lnTo>
                  <a:pt x="0" y="510619"/>
                </a:lnTo>
                <a:lnTo>
                  <a:pt x="878392" y="0"/>
                </a:lnTo>
                <a:lnTo>
                  <a:pt x="883776" y="926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470455" y="424728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530811" y="4224366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371154" y="4964204"/>
            <a:ext cx="327025" cy="704850"/>
          </a:xfrm>
          <a:custGeom>
            <a:avLst/>
            <a:gdLst/>
            <a:ahLst/>
            <a:cxnLst/>
            <a:rect l="l" t="t" r="r" b="b"/>
            <a:pathLst>
              <a:path w="327025" h="704850">
                <a:moveTo>
                  <a:pt x="326584" y="4415"/>
                </a:moveTo>
                <a:lnTo>
                  <a:pt x="9759" y="704679"/>
                </a:lnTo>
                <a:lnTo>
                  <a:pt x="0" y="700264"/>
                </a:lnTo>
                <a:lnTo>
                  <a:pt x="316825" y="0"/>
                </a:lnTo>
                <a:lnTo>
                  <a:pt x="326584" y="44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325736" y="550759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384683" y="548832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250769" y="572650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305870" y="571326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914404" y="5064038"/>
            <a:ext cx="171450" cy="341630"/>
          </a:xfrm>
          <a:custGeom>
            <a:avLst/>
            <a:gdLst/>
            <a:ahLst/>
            <a:cxnLst/>
            <a:rect l="l" t="t" r="r" b="b"/>
            <a:pathLst>
              <a:path w="171450" h="341629">
                <a:moveTo>
                  <a:pt x="9657" y="0"/>
                </a:moveTo>
                <a:lnTo>
                  <a:pt x="171247" y="336816"/>
                </a:lnTo>
                <a:lnTo>
                  <a:pt x="161590" y="341449"/>
                </a:lnTo>
                <a:lnTo>
                  <a:pt x="0" y="4633"/>
                </a:lnTo>
                <a:lnTo>
                  <a:pt x="965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963310" y="5312282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012828" y="5295513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770058" y="4895383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820022" y="4877766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210806" y="514963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3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3" y="187008"/>
                </a:lnTo>
                <a:lnTo>
                  <a:pt x="68509" y="211073"/>
                </a:lnTo>
                <a:lnTo>
                  <a:pt x="109843" y="219095"/>
                </a:lnTo>
                <a:lnTo>
                  <a:pt x="151177" y="211073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266072" y="512412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298530" y="423663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4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8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2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354810" y="4213654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266727" y="5097167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4" y="0"/>
                </a:moveTo>
                <a:lnTo>
                  <a:pt x="68510" y="8021"/>
                </a:lnTo>
                <a:lnTo>
                  <a:pt x="32173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3" y="187009"/>
                </a:lnTo>
                <a:lnTo>
                  <a:pt x="68510" y="211073"/>
                </a:lnTo>
                <a:lnTo>
                  <a:pt x="109844" y="219094"/>
                </a:lnTo>
                <a:lnTo>
                  <a:pt x="151178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8" y="8021"/>
                </a:lnTo>
                <a:lnTo>
                  <a:pt x="109844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5477541" y="5081283"/>
            <a:ext cx="94996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86130" algn="l"/>
              </a:tabLst>
            </a:pPr>
            <a:r>
              <a:rPr dirty="0" sz="1150" spc="0" u="heavy">
                <a:latin typeface="Times New Roman"/>
                <a:cs typeface="Times New Roman"/>
              </a:rPr>
              <a:t> </a:t>
            </a:r>
            <a:r>
              <a:rPr dirty="0" sz="1150" spc="0" u="heavy">
                <a:latin typeface="Times New Roman"/>
                <a:cs typeface="Times New Roman"/>
              </a:rPr>
              <a:t>	</a:t>
            </a:r>
            <a:r>
              <a:rPr dirty="0" sz="1150" spc="0">
                <a:latin typeface="Times New Roman"/>
                <a:cs typeface="Times New Roman"/>
              </a:rPr>
              <a:t> </a:t>
            </a:r>
            <a:r>
              <a:rPr dirty="0" sz="1150" spc="-100">
                <a:latin typeface="Times New Roman"/>
                <a:cs typeface="Times New Roman"/>
              </a:rPr>
              <a:t> </a:t>
            </a: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210636" y="589751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2" y="187008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269118" y="5884645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572693" y="480874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9" y="211073"/>
                </a:lnTo>
                <a:lnTo>
                  <a:pt x="109843" y="219095"/>
                </a:lnTo>
                <a:lnTo>
                  <a:pt x="151177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620335" y="4781362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997258" y="4254148"/>
            <a:ext cx="635635" cy="59055"/>
          </a:xfrm>
          <a:custGeom>
            <a:avLst/>
            <a:gdLst/>
            <a:ahLst/>
            <a:cxnLst/>
            <a:rect l="l" t="t" r="r" b="b"/>
            <a:pathLst>
              <a:path w="635634" h="59054">
                <a:moveTo>
                  <a:pt x="0" y="0"/>
                </a:moveTo>
                <a:lnTo>
                  <a:pt x="5332" y="493"/>
                </a:lnTo>
                <a:lnTo>
                  <a:pt x="635165" y="58733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938595" y="4222644"/>
            <a:ext cx="67310" cy="64135"/>
          </a:xfrm>
          <a:custGeom>
            <a:avLst/>
            <a:gdLst/>
            <a:ahLst/>
            <a:cxnLst/>
            <a:rect l="l" t="t" r="r" b="b"/>
            <a:pathLst>
              <a:path w="67309" h="64135">
                <a:moveTo>
                  <a:pt x="66954" y="0"/>
                </a:moveTo>
                <a:lnTo>
                  <a:pt x="0" y="26079"/>
                </a:lnTo>
                <a:lnTo>
                  <a:pt x="61036" y="63995"/>
                </a:lnTo>
                <a:lnTo>
                  <a:pt x="6695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353910" y="615570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7404535" y="613100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472903" y="385169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7522362" y="382804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478135" y="420111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3" y="0"/>
                </a:moveTo>
                <a:lnTo>
                  <a:pt x="68509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7522362" y="418152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330412" y="552154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3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7383112" y="5509743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442506" y="489970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428980" y="525192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7479516" y="5231245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369387" y="462965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2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7425959" y="4500722"/>
            <a:ext cx="190500" cy="58293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  <a:p>
            <a:pPr marL="87630">
              <a:lnSpc>
                <a:spcPct val="100000"/>
              </a:lnSpc>
              <a:spcBef>
                <a:spcPts val="81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2127444" y="4846435"/>
            <a:ext cx="249554" cy="256540"/>
          </a:xfrm>
          <a:custGeom>
            <a:avLst/>
            <a:gdLst/>
            <a:ahLst/>
            <a:cxnLst/>
            <a:rect l="l" t="t" r="r" b="b"/>
            <a:pathLst>
              <a:path w="249555" h="256539">
                <a:moveTo>
                  <a:pt x="61657" y="0"/>
                </a:moveTo>
                <a:lnTo>
                  <a:pt x="0" y="58459"/>
                </a:lnTo>
                <a:lnTo>
                  <a:pt x="66146" y="128223"/>
                </a:lnTo>
                <a:lnTo>
                  <a:pt x="0" y="197986"/>
                </a:lnTo>
                <a:lnTo>
                  <a:pt x="61657" y="256446"/>
                </a:lnTo>
                <a:lnTo>
                  <a:pt x="124688" y="189966"/>
                </a:lnTo>
                <a:lnTo>
                  <a:pt x="241772" y="189966"/>
                </a:lnTo>
                <a:lnTo>
                  <a:pt x="183230" y="128223"/>
                </a:lnTo>
                <a:lnTo>
                  <a:pt x="241772" y="66479"/>
                </a:lnTo>
                <a:lnTo>
                  <a:pt x="124688" y="66479"/>
                </a:lnTo>
                <a:lnTo>
                  <a:pt x="61657" y="0"/>
                </a:lnTo>
                <a:close/>
              </a:path>
              <a:path w="249555" h="256539">
                <a:moveTo>
                  <a:pt x="241772" y="189966"/>
                </a:moveTo>
                <a:lnTo>
                  <a:pt x="124688" y="189966"/>
                </a:lnTo>
                <a:lnTo>
                  <a:pt x="187719" y="256446"/>
                </a:lnTo>
                <a:lnTo>
                  <a:pt x="249377" y="197986"/>
                </a:lnTo>
                <a:lnTo>
                  <a:pt x="241772" y="189966"/>
                </a:lnTo>
                <a:close/>
              </a:path>
              <a:path w="249555" h="256539">
                <a:moveTo>
                  <a:pt x="187719" y="0"/>
                </a:moveTo>
                <a:lnTo>
                  <a:pt x="124688" y="66479"/>
                </a:lnTo>
                <a:lnTo>
                  <a:pt x="241772" y="66479"/>
                </a:lnTo>
                <a:lnTo>
                  <a:pt x="249377" y="58459"/>
                </a:lnTo>
                <a:lnTo>
                  <a:pt x="18771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881000" y="5123013"/>
            <a:ext cx="249554" cy="256540"/>
          </a:xfrm>
          <a:custGeom>
            <a:avLst/>
            <a:gdLst/>
            <a:ahLst/>
            <a:cxnLst/>
            <a:rect l="l" t="t" r="r" b="b"/>
            <a:pathLst>
              <a:path w="249554" h="256539">
                <a:moveTo>
                  <a:pt x="61655" y="0"/>
                </a:moveTo>
                <a:lnTo>
                  <a:pt x="0" y="58459"/>
                </a:lnTo>
                <a:lnTo>
                  <a:pt x="66146" y="128223"/>
                </a:lnTo>
                <a:lnTo>
                  <a:pt x="0" y="197986"/>
                </a:lnTo>
                <a:lnTo>
                  <a:pt x="61655" y="256446"/>
                </a:lnTo>
                <a:lnTo>
                  <a:pt x="124688" y="189966"/>
                </a:lnTo>
                <a:lnTo>
                  <a:pt x="241772" y="189966"/>
                </a:lnTo>
                <a:lnTo>
                  <a:pt x="183230" y="128223"/>
                </a:lnTo>
                <a:lnTo>
                  <a:pt x="241772" y="66479"/>
                </a:lnTo>
                <a:lnTo>
                  <a:pt x="124688" y="66479"/>
                </a:lnTo>
                <a:lnTo>
                  <a:pt x="61655" y="0"/>
                </a:lnTo>
                <a:close/>
              </a:path>
              <a:path w="249554" h="256539">
                <a:moveTo>
                  <a:pt x="241772" y="189966"/>
                </a:moveTo>
                <a:lnTo>
                  <a:pt x="124688" y="189966"/>
                </a:lnTo>
                <a:lnTo>
                  <a:pt x="187719" y="256446"/>
                </a:lnTo>
                <a:lnTo>
                  <a:pt x="249377" y="197986"/>
                </a:lnTo>
                <a:lnTo>
                  <a:pt x="241772" y="189966"/>
                </a:lnTo>
                <a:close/>
              </a:path>
              <a:path w="249554" h="256539">
                <a:moveTo>
                  <a:pt x="187719" y="0"/>
                </a:moveTo>
                <a:lnTo>
                  <a:pt x="124688" y="66479"/>
                </a:lnTo>
                <a:lnTo>
                  <a:pt x="241772" y="66479"/>
                </a:lnTo>
                <a:lnTo>
                  <a:pt x="249377" y="58459"/>
                </a:lnTo>
                <a:lnTo>
                  <a:pt x="18771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452886" y="5118592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529217" y="5197749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30" h="27939">
                <a:moveTo>
                  <a:pt x="21449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7"/>
                </a:lnTo>
                <a:lnTo>
                  <a:pt x="6186" y="27633"/>
                </a:lnTo>
                <a:lnTo>
                  <a:pt x="21449" y="27633"/>
                </a:lnTo>
                <a:lnTo>
                  <a:pt x="27635" y="21447"/>
                </a:lnTo>
                <a:lnTo>
                  <a:pt x="27635" y="6186"/>
                </a:lnTo>
                <a:lnTo>
                  <a:pt x="21449" y="0"/>
                </a:lnTo>
                <a:close/>
              </a:path>
              <a:path w="113030" h="27939">
                <a:moveTo>
                  <a:pt x="106438" y="0"/>
                </a:moveTo>
                <a:lnTo>
                  <a:pt x="91177" y="0"/>
                </a:lnTo>
                <a:lnTo>
                  <a:pt x="84990" y="6186"/>
                </a:lnTo>
                <a:lnTo>
                  <a:pt x="84990" y="21447"/>
                </a:lnTo>
                <a:lnTo>
                  <a:pt x="91177" y="27633"/>
                </a:lnTo>
                <a:lnTo>
                  <a:pt x="106438" y="27633"/>
                </a:lnTo>
                <a:lnTo>
                  <a:pt x="112624" y="21447"/>
                </a:lnTo>
                <a:lnTo>
                  <a:pt x="112624" y="6186"/>
                </a:lnTo>
                <a:lnTo>
                  <a:pt x="106438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529218" y="5197749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614208" y="5197749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513636" y="5309083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4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452886" y="5118592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986845" y="4485003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063177" y="4564160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30" h="27939">
                <a:moveTo>
                  <a:pt x="21447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7"/>
                </a:lnTo>
                <a:lnTo>
                  <a:pt x="6186" y="27633"/>
                </a:lnTo>
                <a:lnTo>
                  <a:pt x="21447" y="27633"/>
                </a:lnTo>
                <a:lnTo>
                  <a:pt x="27633" y="21447"/>
                </a:lnTo>
                <a:lnTo>
                  <a:pt x="27633" y="6186"/>
                </a:lnTo>
                <a:lnTo>
                  <a:pt x="21447" y="0"/>
                </a:lnTo>
                <a:close/>
              </a:path>
              <a:path w="113030" h="27939">
                <a:moveTo>
                  <a:pt x="106437" y="0"/>
                </a:moveTo>
                <a:lnTo>
                  <a:pt x="91175" y="0"/>
                </a:lnTo>
                <a:lnTo>
                  <a:pt x="84989" y="6186"/>
                </a:lnTo>
                <a:lnTo>
                  <a:pt x="84989" y="21447"/>
                </a:lnTo>
                <a:lnTo>
                  <a:pt x="91175" y="27633"/>
                </a:lnTo>
                <a:lnTo>
                  <a:pt x="106437" y="27633"/>
                </a:lnTo>
                <a:lnTo>
                  <a:pt x="112623" y="21447"/>
                </a:lnTo>
                <a:lnTo>
                  <a:pt x="112623" y="6186"/>
                </a:lnTo>
                <a:lnTo>
                  <a:pt x="106437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063176" y="4564160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148167" y="4564160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047595" y="4675494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4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986845" y="4485003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351928" y="4539726"/>
            <a:ext cx="2517775" cy="1403985"/>
          </a:xfrm>
          <a:custGeom>
            <a:avLst/>
            <a:gdLst/>
            <a:ahLst/>
            <a:cxnLst/>
            <a:rect l="l" t="t" r="r" b="b"/>
            <a:pathLst>
              <a:path w="2517775" h="1403985">
                <a:moveTo>
                  <a:pt x="2517289" y="0"/>
                </a:moveTo>
                <a:lnTo>
                  <a:pt x="1930998" y="26893"/>
                </a:lnTo>
                <a:lnTo>
                  <a:pt x="285078" y="602428"/>
                </a:lnTo>
                <a:lnTo>
                  <a:pt x="48409" y="634701"/>
                </a:lnTo>
                <a:lnTo>
                  <a:pt x="0" y="731520"/>
                </a:lnTo>
                <a:lnTo>
                  <a:pt x="1629784" y="1118795"/>
                </a:lnTo>
                <a:lnTo>
                  <a:pt x="2415091" y="1403873"/>
                </a:lnTo>
                <a:lnTo>
                  <a:pt x="25172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9" name="object 9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00" name="object 10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253983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141334" cy="151828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000000"/>
                </a:solidFill>
              </a:rPr>
              <a:t>Next </a:t>
            </a:r>
            <a:r>
              <a:rPr dirty="0" spc="-5">
                <a:solidFill>
                  <a:srgbClr val="000000"/>
                </a:solidFill>
              </a:rPr>
              <a:t>time when </a:t>
            </a:r>
            <a:r>
              <a:rPr dirty="0" spc="-15">
                <a:solidFill>
                  <a:srgbClr val="000000"/>
                </a:solidFill>
              </a:rPr>
              <a:t>we compute </a:t>
            </a:r>
            <a:r>
              <a:rPr dirty="0" spc="-5">
                <a:solidFill>
                  <a:srgbClr val="000000"/>
                </a:solidFill>
              </a:rPr>
              <a:t>the embeddings,  </a:t>
            </a:r>
            <a:r>
              <a:rPr dirty="0" spc="-15">
                <a:solidFill>
                  <a:srgbClr val="000000"/>
                </a:solidFill>
              </a:rPr>
              <a:t>we </a:t>
            </a:r>
            <a:r>
              <a:rPr dirty="0" spc="-10">
                <a:solidFill>
                  <a:srgbClr val="000000"/>
                </a:solidFill>
              </a:rPr>
              <a:t>can </a:t>
            </a:r>
            <a:r>
              <a:rPr dirty="0" spc="-5">
                <a:solidFill>
                  <a:srgbClr val="000000"/>
                </a:solidFill>
              </a:rPr>
              <a:t>sample </a:t>
            </a:r>
            <a:r>
              <a:rPr dirty="0" spc="-20">
                <a:solidFill>
                  <a:srgbClr val="000000"/>
                </a:solidFill>
              </a:rPr>
              <a:t>different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neighbors</a:t>
            </a: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Only nodes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𝐶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𝐷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will pass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message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2800" spc="2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𝐴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6345" y="5239543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 h="0">
                <a:moveTo>
                  <a:pt x="0" y="0"/>
                </a:moveTo>
                <a:lnTo>
                  <a:pt x="45715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84227" y="5188127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5"/>
                </a:lnTo>
                <a:lnTo>
                  <a:pt x="102830" y="102830"/>
                </a:lnTo>
                <a:lnTo>
                  <a:pt x="1028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22060" y="4917067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634890"/>
                </a:moveTo>
                <a:lnTo>
                  <a:pt x="698762" y="634890"/>
                </a:lnTo>
                <a:lnTo>
                  <a:pt x="698762" y="0"/>
                </a:lnTo>
                <a:lnTo>
                  <a:pt x="0" y="0"/>
                </a:lnTo>
                <a:lnTo>
                  <a:pt x="0" y="63489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22060" y="4917066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0"/>
                </a:moveTo>
                <a:lnTo>
                  <a:pt x="698763" y="0"/>
                </a:lnTo>
                <a:lnTo>
                  <a:pt x="698763" y="634890"/>
                </a:lnTo>
                <a:lnTo>
                  <a:pt x="0" y="63489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41540" y="5470995"/>
            <a:ext cx="560705" cy="360045"/>
          </a:xfrm>
          <a:custGeom>
            <a:avLst/>
            <a:gdLst/>
            <a:ahLst/>
            <a:cxnLst/>
            <a:rect l="l" t="t" r="r" b="b"/>
            <a:pathLst>
              <a:path w="560705" h="360045">
                <a:moveTo>
                  <a:pt x="0" y="350678"/>
                </a:moveTo>
                <a:lnTo>
                  <a:pt x="554859" y="0"/>
                </a:lnTo>
                <a:lnTo>
                  <a:pt x="560581" y="9054"/>
                </a:lnTo>
                <a:lnTo>
                  <a:pt x="5722" y="359733"/>
                </a:lnTo>
                <a:lnTo>
                  <a:pt x="0" y="35067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98122" y="5190973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5"/>
                </a:lnTo>
                <a:lnTo>
                  <a:pt x="102830" y="102830"/>
                </a:lnTo>
                <a:lnTo>
                  <a:pt x="10283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81559" y="5410495"/>
            <a:ext cx="690245" cy="581025"/>
          </a:xfrm>
          <a:custGeom>
            <a:avLst/>
            <a:gdLst/>
            <a:ahLst/>
            <a:cxnLst/>
            <a:rect l="l" t="t" r="r" b="b"/>
            <a:pathLst>
              <a:path w="690245" h="581025">
                <a:moveTo>
                  <a:pt x="0" y="0"/>
                </a:moveTo>
                <a:lnTo>
                  <a:pt x="8192" y="6900"/>
                </a:lnTo>
                <a:lnTo>
                  <a:pt x="689746" y="581017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11105" y="5351147"/>
            <a:ext cx="112395" cy="106045"/>
          </a:xfrm>
          <a:custGeom>
            <a:avLst/>
            <a:gdLst/>
            <a:ahLst/>
            <a:cxnLst/>
            <a:rect l="l" t="t" r="r" b="b"/>
            <a:pathLst>
              <a:path w="112395" h="106045">
                <a:moveTo>
                  <a:pt x="0" y="0"/>
                </a:moveTo>
                <a:lnTo>
                  <a:pt x="45520" y="105571"/>
                </a:lnTo>
                <a:lnTo>
                  <a:pt x="111770" y="2692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83436" y="4447030"/>
            <a:ext cx="768985" cy="606425"/>
          </a:xfrm>
          <a:custGeom>
            <a:avLst/>
            <a:gdLst/>
            <a:ahLst/>
            <a:cxnLst/>
            <a:rect l="l" t="t" r="r" b="b"/>
            <a:pathLst>
              <a:path w="768985" h="606425">
                <a:moveTo>
                  <a:pt x="0" y="606064"/>
                </a:moveTo>
                <a:lnTo>
                  <a:pt x="8410" y="599431"/>
                </a:lnTo>
                <a:lnTo>
                  <a:pt x="768465" y="0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11105" y="5006090"/>
            <a:ext cx="113030" cy="104139"/>
          </a:xfrm>
          <a:custGeom>
            <a:avLst/>
            <a:gdLst/>
            <a:ahLst/>
            <a:cxnLst/>
            <a:rect l="l" t="t" r="r" b="b"/>
            <a:pathLst>
              <a:path w="113029" h="104139">
                <a:moveTo>
                  <a:pt x="48901" y="0"/>
                </a:moveTo>
                <a:lnTo>
                  <a:pt x="0" y="104048"/>
                </a:lnTo>
                <a:lnTo>
                  <a:pt x="112580" y="80741"/>
                </a:lnTo>
                <a:lnTo>
                  <a:pt x="4890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35638" y="4074471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238434" y="0"/>
                </a:moveTo>
                <a:lnTo>
                  <a:pt x="0" y="68370"/>
                </a:lnTo>
                <a:lnTo>
                  <a:pt x="74999" y="329921"/>
                </a:lnTo>
                <a:lnTo>
                  <a:pt x="313433" y="261552"/>
                </a:lnTo>
                <a:lnTo>
                  <a:pt x="23843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35638" y="4074471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0" y="68369"/>
                </a:moveTo>
                <a:lnTo>
                  <a:pt x="238434" y="0"/>
                </a:lnTo>
                <a:lnTo>
                  <a:pt x="313433" y="261551"/>
                </a:lnTo>
                <a:lnTo>
                  <a:pt x="74998" y="329921"/>
                </a:lnTo>
                <a:lnTo>
                  <a:pt x="0" y="68369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80434" y="3920533"/>
            <a:ext cx="599440" cy="231775"/>
          </a:xfrm>
          <a:custGeom>
            <a:avLst/>
            <a:gdLst/>
            <a:ahLst/>
            <a:cxnLst/>
            <a:rect l="l" t="t" r="r" b="b"/>
            <a:pathLst>
              <a:path w="599440" h="231775">
                <a:moveTo>
                  <a:pt x="0" y="231763"/>
                </a:moveTo>
                <a:lnTo>
                  <a:pt x="4995" y="229831"/>
                </a:lnTo>
                <a:lnTo>
                  <a:pt x="599425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25485" y="4120393"/>
            <a:ext cx="71755" cy="60325"/>
          </a:xfrm>
          <a:custGeom>
            <a:avLst/>
            <a:gdLst/>
            <a:ahLst/>
            <a:cxnLst/>
            <a:rect l="l" t="t" r="r" b="b"/>
            <a:pathLst>
              <a:path w="71754" h="60325">
                <a:moveTo>
                  <a:pt x="48356" y="0"/>
                </a:moveTo>
                <a:lnTo>
                  <a:pt x="0" y="53149"/>
                </a:lnTo>
                <a:lnTo>
                  <a:pt x="71534" y="59945"/>
                </a:lnTo>
                <a:lnTo>
                  <a:pt x="4835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12356" y="4278788"/>
            <a:ext cx="62865" cy="20320"/>
          </a:xfrm>
          <a:custGeom>
            <a:avLst/>
            <a:gdLst/>
            <a:ahLst/>
            <a:cxnLst/>
            <a:rect l="l" t="t" r="r" b="b"/>
            <a:pathLst>
              <a:path w="62865" h="20320">
                <a:moveTo>
                  <a:pt x="62264" y="0"/>
                </a:moveTo>
                <a:lnTo>
                  <a:pt x="10193" y="16811"/>
                </a:lnTo>
                <a:lnTo>
                  <a:pt x="0" y="2010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524693" y="4246671"/>
            <a:ext cx="113664" cy="98425"/>
          </a:xfrm>
          <a:custGeom>
            <a:avLst/>
            <a:gdLst/>
            <a:ahLst/>
            <a:cxnLst/>
            <a:rect l="l" t="t" r="r" b="b"/>
            <a:pathLst>
              <a:path w="113665" h="98425">
                <a:moveTo>
                  <a:pt x="82059" y="0"/>
                </a:moveTo>
                <a:lnTo>
                  <a:pt x="0" y="80523"/>
                </a:lnTo>
                <a:lnTo>
                  <a:pt x="113653" y="97857"/>
                </a:lnTo>
                <a:lnTo>
                  <a:pt x="820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59290" y="5040647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247891" y="0"/>
                </a:moveTo>
                <a:lnTo>
                  <a:pt x="0" y="8656"/>
                </a:lnTo>
                <a:lnTo>
                  <a:pt x="9495" y="280583"/>
                </a:lnTo>
                <a:lnTo>
                  <a:pt x="257387" y="271926"/>
                </a:lnTo>
                <a:lnTo>
                  <a:pt x="24789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59290" y="5040647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0" y="8656"/>
                </a:moveTo>
                <a:lnTo>
                  <a:pt x="247891" y="0"/>
                </a:lnTo>
                <a:lnTo>
                  <a:pt x="257387" y="271926"/>
                </a:lnTo>
                <a:lnTo>
                  <a:pt x="9495" y="280583"/>
                </a:lnTo>
                <a:lnTo>
                  <a:pt x="0" y="8656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98949" y="5190644"/>
            <a:ext cx="65405" cy="4445"/>
          </a:xfrm>
          <a:custGeom>
            <a:avLst/>
            <a:gdLst/>
            <a:ahLst/>
            <a:cxnLst/>
            <a:rect l="l" t="t" r="r" b="b"/>
            <a:pathLst>
              <a:path w="65404" h="4445">
                <a:moveTo>
                  <a:pt x="65277" y="0"/>
                </a:moveTo>
                <a:lnTo>
                  <a:pt x="10686" y="3715"/>
                </a:lnTo>
                <a:lnTo>
                  <a:pt x="0" y="444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507043" y="5143063"/>
            <a:ext cx="106680" cy="102870"/>
          </a:xfrm>
          <a:custGeom>
            <a:avLst/>
            <a:gdLst/>
            <a:ahLst/>
            <a:cxnLst/>
            <a:rect l="l" t="t" r="r" b="b"/>
            <a:pathLst>
              <a:path w="106679" h="102870">
                <a:moveTo>
                  <a:pt x="99101" y="0"/>
                </a:moveTo>
                <a:lnTo>
                  <a:pt x="0" y="58279"/>
                </a:lnTo>
                <a:lnTo>
                  <a:pt x="106084" y="102593"/>
                </a:lnTo>
                <a:lnTo>
                  <a:pt x="99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74756" y="5929896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0" y="264577"/>
                </a:lnTo>
                <a:lnTo>
                  <a:pt x="241192" y="322469"/>
                </a:lnTo>
                <a:lnTo>
                  <a:pt x="304697" y="57892"/>
                </a:lnTo>
                <a:lnTo>
                  <a:pt x="6350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74755" y="5929896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304697" y="57892"/>
                </a:lnTo>
                <a:lnTo>
                  <a:pt x="241192" y="322469"/>
                </a:lnTo>
                <a:lnTo>
                  <a:pt x="0" y="264577"/>
                </a:lnTo>
                <a:lnTo>
                  <a:pt x="63505" y="0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07183" y="6142140"/>
            <a:ext cx="521334" cy="125730"/>
          </a:xfrm>
          <a:custGeom>
            <a:avLst/>
            <a:gdLst/>
            <a:ahLst/>
            <a:cxnLst/>
            <a:rect l="l" t="t" r="r" b="b"/>
            <a:pathLst>
              <a:path w="521334" h="125729">
                <a:moveTo>
                  <a:pt x="0" y="0"/>
                </a:moveTo>
                <a:lnTo>
                  <a:pt x="5207" y="1251"/>
                </a:lnTo>
                <a:lnTo>
                  <a:pt x="520988" y="125259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49903" y="6112149"/>
            <a:ext cx="70485" cy="62865"/>
          </a:xfrm>
          <a:custGeom>
            <a:avLst/>
            <a:gdLst/>
            <a:ahLst/>
            <a:cxnLst/>
            <a:rect l="l" t="t" r="r" b="b"/>
            <a:pathLst>
              <a:path w="70484" h="62864">
                <a:moveTo>
                  <a:pt x="69999" y="0"/>
                </a:moveTo>
                <a:lnTo>
                  <a:pt x="0" y="16220"/>
                </a:lnTo>
                <a:lnTo>
                  <a:pt x="54975" y="62488"/>
                </a:lnTo>
                <a:lnTo>
                  <a:pt x="6999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41161" y="6054255"/>
            <a:ext cx="64135" cy="13335"/>
          </a:xfrm>
          <a:custGeom>
            <a:avLst/>
            <a:gdLst/>
            <a:ahLst/>
            <a:cxnLst/>
            <a:rect l="l" t="t" r="r" b="b"/>
            <a:pathLst>
              <a:path w="64134" h="13335">
                <a:moveTo>
                  <a:pt x="64091" y="13160"/>
                </a:moveTo>
                <a:lnTo>
                  <a:pt x="10492" y="2154"/>
                </a:lnTo>
                <a:lnTo>
                  <a:pt x="0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450925" y="6006045"/>
            <a:ext cx="111125" cy="100965"/>
          </a:xfrm>
          <a:custGeom>
            <a:avLst/>
            <a:gdLst/>
            <a:ahLst/>
            <a:cxnLst/>
            <a:rect l="l" t="t" r="r" b="b"/>
            <a:pathLst>
              <a:path w="111125" h="100964">
                <a:moveTo>
                  <a:pt x="111070" y="0"/>
                </a:moveTo>
                <a:lnTo>
                  <a:pt x="0" y="29680"/>
                </a:lnTo>
                <a:lnTo>
                  <a:pt x="90385" y="100728"/>
                </a:lnTo>
                <a:lnTo>
                  <a:pt x="111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973585" y="5307872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0"/>
                </a:moveTo>
                <a:lnTo>
                  <a:pt x="4375" y="3088"/>
                </a:lnTo>
                <a:lnTo>
                  <a:pt x="465926" y="32884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925453" y="5273900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0" y="0"/>
                </a:moveTo>
                <a:lnTo>
                  <a:pt x="33978" y="63313"/>
                </a:lnTo>
                <a:lnTo>
                  <a:pt x="71038" y="1080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996973" y="5226266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0"/>
                </a:moveTo>
                <a:lnTo>
                  <a:pt x="5130" y="1534"/>
                </a:lnTo>
                <a:lnTo>
                  <a:pt x="546369" y="16342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40530" y="5197015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70782" y="0"/>
                </a:moveTo>
                <a:lnTo>
                  <a:pt x="0" y="12368"/>
                </a:lnTo>
                <a:lnTo>
                  <a:pt x="52364" y="61572"/>
                </a:lnTo>
                <a:lnTo>
                  <a:pt x="70782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975647" y="4753238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328846"/>
                </a:moveTo>
                <a:lnTo>
                  <a:pt x="4375" y="325758"/>
                </a:lnTo>
                <a:lnTo>
                  <a:pt x="465926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927514" y="5052743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33977" y="0"/>
                </a:moveTo>
                <a:lnTo>
                  <a:pt x="0" y="63313"/>
                </a:lnTo>
                <a:lnTo>
                  <a:pt x="71037" y="52506"/>
                </a:lnTo>
                <a:lnTo>
                  <a:pt x="3397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99035" y="5000264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163426"/>
                </a:moveTo>
                <a:lnTo>
                  <a:pt x="5130" y="161891"/>
                </a:lnTo>
                <a:lnTo>
                  <a:pt x="546369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942593" y="5131368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52363" y="0"/>
                </a:moveTo>
                <a:lnTo>
                  <a:pt x="0" y="49204"/>
                </a:lnTo>
                <a:lnTo>
                  <a:pt x="70782" y="61573"/>
                </a:lnTo>
                <a:lnTo>
                  <a:pt x="523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62895" y="4990837"/>
            <a:ext cx="548005" cy="823594"/>
          </a:xfrm>
          <a:custGeom>
            <a:avLst/>
            <a:gdLst/>
            <a:ahLst/>
            <a:cxnLst/>
            <a:rect l="l" t="t" r="r" b="b"/>
            <a:pathLst>
              <a:path w="548005" h="823595">
                <a:moveTo>
                  <a:pt x="0" y="817674"/>
                </a:moveTo>
                <a:lnTo>
                  <a:pt x="538911" y="0"/>
                </a:lnTo>
                <a:lnTo>
                  <a:pt x="547854" y="5894"/>
                </a:lnTo>
                <a:lnTo>
                  <a:pt x="8943" y="823568"/>
                </a:lnTo>
                <a:lnTo>
                  <a:pt x="0" y="817674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10184" y="4913196"/>
            <a:ext cx="1208405" cy="109220"/>
          </a:xfrm>
          <a:custGeom>
            <a:avLst/>
            <a:gdLst/>
            <a:ahLst/>
            <a:cxnLst/>
            <a:rect l="l" t="t" r="r" b="b"/>
            <a:pathLst>
              <a:path w="1208405" h="109220">
                <a:moveTo>
                  <a:pt x="869" y="0"/>
                </a:moveTo>
                <a:lnTo>
                  <a:pt x="1208045" y="98282"/>
                </a:lnTo>
                <a:lnTo>
                  <a:pt x="1207176" y="108958"/>
                </a:lnTo>
                <a:lnTo>
                  <a:pt x="0" y="10676"/>
                </a:lnTo>
                <a:lnTo>
                  <a:pt x="86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04685" y="4399092"/>
            <a:ext cx="268605" cy="620395"/>
          </a:xfrm>
          <a:custGeom>
            <a:avLst/>
            <a:gdLst/>
            <a:ahLst/>
            <a:cxnLst/>
            <a:rect l="l" t="t" r="r" b="b"/>
            <a:pathLst>
              <a:path w="268605" h="620395">
                <a:moveTo>
                  <a:pt x="9876" y="0"/>
                </a:moveTo>
                <a:lnTo>
                  <a:pt x="268416" y="616049"/>
                </a:lnTo>
                <a:lnTo>
                  <a:pt x="258540" y="620194"/>
                </a:lnTo>
                <a:lnTo>
                  <a:pt x="0" y="4145"/>
                </a:lnTo>
                <a:lnTo>
                  <a:pt x="987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781008" y="6161001"/>
            <a:ext cx="86042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" b="1">
                <a:latin typeface="Arial"/>
                <a:cs typeface="Arial"/>
              </a:rPr>
              <a:t>INPUT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spc="-5" b="1">
                <a:latin typeface="Arial"/>
                <a:cs typeface="Arial"/>
              </a:rPr>
              <a:t>GRAPH</a:t>
            </a:r>
            <a:endParaRPr sz="9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666337" y="4419274"/>
            <a:ext cx="1270" cy="274955"/>
          </a:xfrm>
          <a:custGeom>
            <a:avLst/>
            <a:gdLst/>
            <a:ahLst/>
            <a:cxnLst/>
            <a:rect l="l" t="t" r="r" b="b"/>
            <a:pathLst>
              <a:path w="1269" h="274954">
                <a:moveTo>
                  <a:pt x="0" y="0"/>
                </a:moveTo>
                <a:lnTo>
                  <a:pt x="914" y="269532"/>
                </a:lnTo>
                <a:lnTo>
                  <a:pt x="932" y="274888"/>
                </a:lnTo>
              </a:path>
            </a:pathLst>
          </a:custGeom>
          <a:ln w="107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635118" y="4688697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69" h="64770">
                <a:moveTo>
                  <a:pt x="64268" y="0"/>
                </a:moveTo>
                <a:lnTo>
                  <a:pt x="0" y="218"/>
                </a:lnTo>
                <a:lnTo>
                  <a:pt x="32351" y="64377"/>
                </a:lnTo>
                <a:lnTo>
                  <a:pt x="64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224011" y="4232935"/>
            <a:ext cx="8566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5">
                <a:latin typeface="Arial"/>
                <a:cs typeface="Arial"/>
              </a:rPr>
              <a:t>TARGET</a:t>
            </a:r>
            <a:r>
              <a:rPr dirty="0" sz="950" spc="-20">
                <a:latin typeface="Arial"/>
                <a:cs typeface="Arial"/>
              </a:rPr>
              <a:t> NODE</a:t>
            </a:r>
            <a:endParaRPr sz="9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693007" y="4384232"/>
            <a:ext cx="883919" cy="520065"/>
          </a:xfrm>
          <a:custGeom>
            <a:avLst/>
            <a:gdLst/>
            <a:ahLst/>
            <a:cxnLst/>
            <a:rect l="l" t="t" r="r" b="b"/>
            <a:pathLst>
              <a:path w="883919" h="520064">
                <a:moveTo>
                  <a:pt x="883776" y="9260"/>
                </a:moveTo>
                <a:lnTo>
                  <a:pt x="5383" y="519880"/>
                </a:lnTo>
                <a:lnTo>
                  <a:pt x="0" y="510619"/>
                </a:lnTo>
                <a:lnTo>
                  <a:pt x="878392" y="0"/>
                </a:lnTo>
                <a:lnTo>
                  <a:pt x="883776" y="926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470455" y="424728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530811" y="4224366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371154" y="4964204"/>
            <a:ext cx="327025" cy="704850"/>
          </a:xfrm>
          <a:custGeom>
            <a:avLst/>
            <a:gdLst/>
            <a:ahLst/>
            <a:cxnLst/>
            <a:rect l="l" t="t" r="r" b="b"/>
            <a:pathLst>
              <a:path w="327025" h="704850">
                <a:moveTo>
                  <a:pt x="326584" y="4415"/>
                </a:moveTo>
                <a:lnTo>
                  <a:pt x="9759" y="704679"/>
                </a:lnTo>
                <a:lnTo>
                  <a:pt x="0" y="700264"/>
                </a:lnTo>
                <a:lnTo>
                  <a:pt x="316825" y="0"/>
                </a:lnTo>
                <a:lnTo>
                  <a:pt x="326584" y="44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325736" y="550759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384683" y="548832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250769" y="572650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305870" y="571326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914404" y="5064038"/>
            <a:ext cx="171450" cy="341630"/>
          </a:xfrm>
          <a:custGeom>
            <a:avLst/>
            <a:gdLst/>
            <a:ahLst/>
            <a:cxnLst/>
            <a:rect l="l" t="t" r="r" b="b"/>
            <a:pathLst>
              <a:path w="171450" h="341629">
                <a:moveTo>
                  <a:pt x="9657" y="0"/>
                </a:moveTo>
                <a:lnTo>
                  <a:pt x="171247" y="336816"/>
                </a:lnTo>
                <a:lnTo>
                  <a:pt x="161590" y="341449"/>
                </a:lnTo>
                <a:lnTo>
                  <a:pt x="0" y="4633"/>
                </a:lnTo>
                <a:lnTo>
                  <a:pt x="965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963310" y="5312282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012828" y="5295513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770058" y="4895383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820022" y="4877766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210806" y="514963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3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3" y="187008"/>
                </a:lnTo>
                <a:lnTo>
                  <a:pt x="68509" y="211073"/>
                </a:lnTo>
                <a:lnTo>
                  <a:pt x="109843" y="219095"/>
                </a:lnTo>
                <a:lnTo>
                  <a:pt x="151177" y="211073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266072" y="512412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298530" y="423663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4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8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2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354810" y="4213654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266727" y="5097167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4" y="0"/>
                </a:moveTo>
                <a:lnTo>
                  <a:pt x="68510" y="8021"/>
                </a:lnTo>
                <a:lnTo>
                  <a:pt x="32173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3" y="187009"/>
                </a:lnTo>
                <a:lnTo>
                  <a:pt x="68510" y="211073"/>
                </a:lnTo>
                <a:lnTo>
                  <a:pt x="109844" y="219094"/>
                </a:lnTo>
                <a:lnTo>
                  <a:pt x="151178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8" y="8021"/>
                </a:lnTo>
                <a:lnTo>
                  <a:pt x="109844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5477541" y="5081283"/>
            <a:ext cx="94996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86130" algn="l"/>
              </a:tabLst>
            </a:pPr>
            <a:r>
              <a:rPr dirty="0" sz="1150" spc="0" u="heavy">
                <a:latin typeface="Times New Roman"/>
                <a:cs typeface="Times New Roman"/>
              </a:rPr>
              <a:t> </a:t>
            </a:r>
            <a:r>
              <a:rPr dirty="0" sz="1150" spc="0" u="heavy">
                <a:latin typeface="Times New Roman"/>
                <a:cs typeface="Times New Roman"/>
              </a:rPr>
              <a:t>	</a:t>
            </a:r>
            <a:r>
              <a:rPr dirty="0" sz="1150" spc="0">
                <a:latin typeface="Times New Roman"/>
                <a:cs typeface="Times New Roman"/>
              </a:rPr>
              <a:t> </a:t>
            </a:r>
            <a:r>
              <a:rPr dirty="0" sz="1150" spc="-100">
                <a:latin typeface="Times New Roman"/>
                <a:cs typeface="Times New Roman"/>
              </a:rPr>
              <a:t> </a:t>
            </a: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210636" y="589751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2" y="187008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269118" y="5884645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572693" y="480874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9" y="211073"/>
                </a:lnTo>
                <a:lnTo>
                  <a:pt x="109843" y="219095"/>
                </a:lnTo>
                <a:lnTo>
                  <a:pt x="151177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620335" y="4781362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997258" y="4254148"/>
            <a:ext cx="635635" cy="59055"/>
          </a:xfrm>
          <a:custGeom>
            <a:avLst/>
            <a:gdLst/>
            <a:ahLst/>
            <a:cxnLst/>
            <a:rect l="l" t="t" r="r" b="b"/>
            <a:pathLst>
              <a:path w="635634" h="59054">
                <a:moveTo>
                  <a:pt x="0" y="0"/>
                </a:moveTo>
                <a:lnTo>
                  <a:pt x="5332" y="493"/>
                </a:lnTo>
                <a:lnTo>
                  <a:pt x="635165" y="58733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938595" y="4222644"/>
            <a:ext cx="67310" cy="64135"/>
          </a:xfrm>
          <a:custGeom>
            <a:avLst/>
            <a:gdLst/>
            <a:ahLst/>
            <a:cxnLst/>
            <a:rect l="l" t="t" r="r" b="b"/>
            <a:pathLst>
              <a:path w="67309" h="64135">
                <a:moveTo>
                  <a:pt x="66954" y="0"/>
                </a:moveTo>
                <a:lnTo>
                  <a:pt x="0" y="26079"/>
                </a:lnTo>
                <a:lnTo>
                  <a:pt x="61036" y="63995"/>
                </a:lnTo>
                <a:lnTo>
                  <a:pt x="6695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353910" y="615570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7404535" y="613100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472903" y="385169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7522362" y="382804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478135" y="420111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3" y="0"/>
                </a:moveTo>
                <a:lnTo>
                  <a:pt x="68509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7522362" y="418152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330412" y="552154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3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7383112" y="5509743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442506" y="489970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428980" y="525192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7479516" y="5231245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369387" y="462965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2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7425959" y="4500722"/>
            <a:ext cx="190500" cy="58293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  <a:p>
            <a:pPr marL="87630">
              <a:lnSpc>
                <a:spcPct val="100000"/>
              </a:lnSpc>
              <a:spcBef>
                <a:spcPts val="81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2042778" y="4480436"/>
            <a:ext cx="249554" cy="256540"/>
          </a:xfrm>
          <a:custGeom>
            <a:avLst/>
            <a:gdLst/>
            <a:ahLst/>
            <a:cxnLst/>
            <a:rect l="l" t="t" r="r" b="b"/>
            <a:pathLst>
              <a:path w="249555" h="256539">
                <a:moveTo>
                  <a:pt x="61655" y="0"/>
                </a:moveTo>
                <a:lnTo>
                  <a:pt x="0" y="58459"/>
                </a:lnTo>
                <a:lnTo>
                  <a:pt x="66146" y="128223"/>
                </a:lnTo>
                <a:lnTo>
                  <a:pt x="0" y="197986"/>
                </a:lnTo>
                <a:lnTo>
                  <a:pt x="61655" y="256446"/>
                </a:lnTo>
                <a:lnTo>
                  <a:pt x="124688" y="189966"/>
                </a:lnTo>
                <a:lnTo>
                  <a:pt x="241772" y="189966"/>
                </a:lnTo>
                <a:lnTo>
                  <a:pt x="183230" y="128223"/>
                </a:lnTo>
                <a:lnTo>
                  <a:pt x="241772" y="66479"/>
                </a:lnTo>
                <a:lnTo>
                  <a:pt x="124688" y="66479"/>
                </a:lnTo>
                <a:lnTo>
                  <a:pt x="61655" y="0"/>
                </a:lnTo>
                <a:close/>
              </a:path>
              <a:path w="249555" h="256539">
                <a:moveTo>
                  <a:pt x="241772" y="189966"/>
                </a:moveTo>
                <a:lnTo>
                  <a:pt x="124688" y="189966"/>
                </a:lnTo>
                <a:lnTo>
                  <a:pt x="187719" y="256446"/>
                </a:lnTo>
                <a:lnTo>
                  <a:pt x="249377" y="197986"/>
                </a:lnTo>
                <a:lnTo>
                  <a:pt x="241772" y="189966"/>
                </a:lnTo>
                <a:close/>
              </a:path>
              <a:path w="249555" h="256539">
                <a:moveTo>
                  <a:pt x="187719" y="0"/>
                </a:moveTo>
                <a:lnTo>
                  <a:pt x="124688" y="66479"/>
                </a:lnTo>
                <a:lnTo>
                  <a:pt x="241772" y="66479"/>
                </a:lnTo>
                <a:lnTo>
                  <a:pt x="249377" y="58459"/>
                </a:lnTo>
                <a:lnTo>
                  <a:pt x="18771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765117" y="4601643"/>
            <a:ext cx="249554" cy="256540"/>
          </a:xfrm>
          <a:custGeom>
            <a:avLst/>
            <a:gdLst/>
            <a:ahLst/>
            <a:cxnLst/>
            <a:rect l="l" t="t" r="r" b="b"/>
            <a:pathLst>
              <a:path w="249554" h="256539">
                <a:moveTo>
                  <a:pt x="61657" y="0"/>
                </a:moveTo>
                <a:lnTo>
                  <a:pt x="0" y="58459"/>
                </a:lnTo>
                <a:lnTo>
                  <a:pt x="66146" y="128223"/>
                </a:lnTo>
                <a:lnTo>
                  <a:pt x="0" y="197986"/>
                </a:lnTo>
                <a:lnTo>
                  <a:pt x="61657" y="256446"/>
                </a:lnTo>
                <a:lnTo>
                  <a:pt x="124688" y="189966"/>
                </a:lnTo>
                <a:lnTo>
                  <a:pt x="241772" y="189966"/>
                </a:lnTo>
                <a:lnTo>
                  <a:pt x="183230" y="128223"/>
                </a:lnTo>
                <a:lnTo>
                  <a:pt x="241772" y="66479"/>
                </a:lnTo>
                <a:lnTo>
                  <a:pt x="124688" y="66479"/>
                </a:lnTo>
                <a:lnTo>
                  <a:pt x="61657" y="0"/>
                </a:lnTo>
                <a:close/>
              </a:path>
              <a:path w="249554" h="256539">
                <a:moveTo>
                  <a:pt x="241772" y="189966"/>
                </a:moveTo>
                <a:lnTo>
                  <a:pt x="124688" y="189966"/>
                </a:lnTo>
                <a:lnTo>
                  <a:pt x="187721" y="256446"/>
                </a:lnTo>
                <a:lnTo>
                  <a:pt x="249377" y="197986"/>
                </a:lnTo>
                <a:lnTo>
                  <a:pt x="241772" y="189966"/>
                </a:lnTo>
                <a:close/>
              </a:path>
              <a:path w="249554" h="256539">
                <a:moveTo>
                  <a:pt x="187721" y="0"/>
                </a:moveTo>
                <a:lnTo>
                  <a:pt x="124688" y="66479"/>
                </a:lnTo>
                <a:lnTo>
                  <a:pt x="241772" y="66479"/>
                </a:lnTo>
                <a:lnTo>
                  <a:pt x="249377" y="58459"/>
                </a:lnTo>
                <a:lnTo>
                  <a:pt x="18772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452886" y="5118592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529217" y="5197749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30" h="27939">
                <a:moveTo>
                  <a:pt x="21449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7"/>
                </a:lnTo>
                <a:lnTo>
                  <a:pt x="6186" y="27633"/>
                </a:lnTo>
                <a:lnTo>
                  <a:pt x="21449" y="27633"/>
                </a:lnTo>
                <a:lnTo>
                  <a:pt x="27635" y="21447"/>
                </a:lnTo>
                <a:lnTo>
                  <a:pt x="27635" y="6186"/>
                </a:lnTo>
                <a:lnTo>
                  <a:pt x="21449" y="0"/>
                </a:lnTo>
                <a:close/>
              </a:path>
              <a:path w="113030" h="27939">
                <a:moveTo>
                  <a:pt x="106438" y="0"/>
                </a:moveTo>
                <a:lnTo>
                  <a:pt x="91177" y="0"/>
                </a:lnTo>
                <a:lnTo>
                  <a:pt x="84990" y="6186"/>
                </a:lnTo>
                <a:lnTo>
                  <a:pt x="84990" y="21447"/>
                </a:lnTo>
                <a:lnTo>
                  <a:pt x="91177" y="27633"/>
                </a:lnTo>
                <a:lnTo>
                  <a:pt x="106438" y="27633"/>
                </a:lnTo>
                <a:lnTo>
                  <a:pt x="112624" y="21447"/>
                </a:lnTo>
                <a:lnTo>
                  <a:pt x="112624" y="6186"/>
                </a:lnTo>
                <a:lnTo>
                  <a:pt x="106438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529218" y="5197749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614208" y="5197749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513636" y="5309083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4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452886" y="5118592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986845" y="4829638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063177" y="4908794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30" h="27939">
                <a:moveTo>
                  <a:pt x="21447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7"/>
                </a:lnTo>
                <a:lnTo>
                  <a:pt x="6186" y="27633"/>
                </a:lnTo>
                <a:lnTo>
                  <a:pt x="21447" y="27633"/>
                </a:lnTo>
                <a:lnTo>
                  <a:pt x="27633" y="21447"/>
                </a:lnTo>
                <a:lnTo>
                  <a:pt x="27633" y="6186"/>
                </a:lnTo>
                <a:lnTo>
                  <a:pt x="21447" y="0"/>
                </a:lnTo>
                <a:close/>
              </a:path>
              <a:path w="113030" h="27939">
                <a:moveTo>
                  <a:pt x="106437" y="0"/>
                </a:moveTo>
                <a:lnTo>
                  <a:pt x="91175" y="0"/>
                </a:lnTo>
                <a:lnTo>
                  <a:pt x="84989" y="6186"/>
                </a:lnTo>
                <a:lnTo>
                  <a:pt x="84989" y="21447"/>
                </a:lnTo>
                <a:lnTo>
                  <a:pt x="91175" y="27633"/>
                </a:lnTo>
                <a:lnTo>
                  <a:pt x="106437" y="27633"/>
                </a:lnTo>
                <a:lnTo>
                  <a:pt x="112623" y="21447"/>
                </a:lnTo>
                <a:lnTo>
                  <a:pt x="112623" y="6186"/>
                </a:lnTo>
                <a:lnTo>
                  <a:pt x="106437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063176" y="4908794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148167" y="4908794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047595" y="5020129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4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986845" y="4829638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373444" y="3711388"/>
            <a:ext cx="2463800" cy="1414780"/>
          </a:xfrm>
          <a:custGeom>
            <a:avLst/>
            <a:gdLst/>
            <a:ahLst/>
            <a:cxnLst/>
            <a:rect l="l" t="t" r="r" b="b"/>
            <a:pathLst>
              <a:path w="2463800" h="1414779">
                <a:moveTo>
                  <a:pt x="2393575" y="0"/>
                </a:moveTo>
                <a:lnTo>
                  <a:pt x="865990" y="392653"/>
                </a:lnTo>
                <a:lnTo>
                  <a:pt x="102196" y="1194098"/>
                </a:lnTo>
                <a:lnTo>
                  <a:pt x="0" y="1414630"/>
                </a:lnTo>
                <a:lnTo>
                  <a:pt x="274319" y="1376978"/>
                </a:lnTo>
                <a:lnTo>
                  <a:pt x="1409250" y="871369"/>
                </a:lnTo>
                <a:lnTo>
                  <a:pt x="2463501" y="731519"/>
                </a:lnTo>
                <a:lnTo>
                  <a:pt x="23935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6211002" y="3320387"/>
            <a:ext cx="952500" cy="731520"/>
          </a:xfrm>
          <a:custGeom>
            <a:avLst/>
            <a:gdLst/>
            <a:ahLst/>
            <a:cxnLst/>
            <a:rect l="l" t="t" r="r" b="b"/>
            <a:pathLst>
              <a:path w="952500" h="731520">
                <a:moveTo>
                  <a:pt x="952052" y="0"/>
                </a:moveTo>
                <a:lnTo>
                  <a:pt x="10758" y="306591"/>
                </a:lnTo>
                <a:lnTo>
                  <a:pt x="0" y="726141"/>
                </a:lnTo>
                <a:lnTo>
                  <a:pt x="726142" y="731520"/>
                </a:lnTo>
                <a:lnTo>
                  <a:pt x="9520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191827" y="3300069"/>
            <a:ext cx="991869" cy="771525"/>
          </a:xfrm>
          <a:custGeom>
            <a:avLst/>
            <a:gdLst/>
            <a:ahLst/>
            <a:cxnLst/>
            <a:rect l="l" t="t" r="r" b="b"/>
            <a:pathLst>
              <a:path w="991870" h="771525">
                <a:moveTo>
                  <a:pt x="972093" y="0"/>
                </a:moveTo>
                <a:lnTo>
                  <a:pt x="16361" y="311294"/>
                </a:lnTo>
                <a:lnTo>
                  <a:pt x="11095" y="318355"/>
                </a:lnTo>
                <a:lnTo>
                  <a:pt x="0" y="751080"/>
                </a:lnTo>
                <a:lnTo>
                  <a:pt x="1929" y="756029"/>
                </a:lnTo>
                <a:lnTo>
                  <a:pt x="9038" y="763379"/>
                </a:lnTo>
                <a:lnTo>
                  <a:pt x="13921" y="765469"/>
                </a:lnTo>
                <a:lnTo>
                  <a:pt x="753583" y="770949"/>
                </a:lnTo>
                <a:lnTo>
                  <a:pt x="761037" y="765492"/>
                </a:lnTo>
                <a:lnTo>
                  <a:pt x="766437" y="748007"/>
                </a:lnTo>
                <a:lnTo>
                  <a:pt x="742511" y="748007"/>
                </a:lnTo>
                <a:lnTo>
                  <a:pt x="23083" y="742676"/>
                </a:lnTo>
                <a:lnTo>
                  <a:pt x="33672" y="329698"/>
                </a:lnTo>
                <a:lnTo>
                  <a:pt x="965417" y="26216"/>
                </a:lnTo>
                <a:lnTo>
                  <a:pt x="989342" y="26216"/>
                </a:lnTo>
                <a:lnTo>
                  <a:pt x="991528" y="19138"/>
                </a:lnTo>
                <a:lnTo>
                  <a:pt x="989664" y="11737"/>
                </a:lnTo>
                <a:lnTo>
                  <a:pt x="979523" y="1751"/>
                </a:lnTo>
                <a:lnTo>
                  <a:pt x="972093" y="0"/>
                </a:lnTo>
                <a:close/>
              </a:path>
              <a:path w="991870" h="771525">
                <a:moveTo>
                  <a:pt x="989342" y="26216"/>
                </a:moveTo>
                <a:lnTo>
                  <a:pt x="965417" y="26216"/>
                </a:lnTo>
                <a:lnTo>
                  <a:pt x="742511" y="748007"/>
                </a:lnTo>
                <a:lnTo>
                  <a:pt x="766437" y="748007"/>
                </a:lnTo>
                <a:lnTo>
                  <a:pt x="989342" y="26216"/>
                </a:lnTo>
                <a:close/>
              </a:path>
              <a:path w="991870" h="771525">
                <a:moveTo>
                  <a:pt x="953799" y="38014"/>
                </a:moveTo>
                <a:lnTo>
                  <a:pt x="41151" y="335276"/>
                </a:lnTo>
                <a:lnTo>
                  <a:pt x="30899" y="735115"/>
                </a:lnTo>
                <a:lnTo>
                  <a:pt x="736903" y="740345"/>
                </a:lnTo>
                <a:lnTo>
                  <a:pt x="739269" y="732683"/>
                </a:lnTo>
                <a:lnTo>
                  <a:pt x="731293" y="732683"/>
                </a:lnTo>
                <a:lnTo>
                  <a:pt x="38715" y="727552"/>
                </a:lnTo>
                <a:lnTo>
                  <a:pt x="48632" y="340854"/>
                </a:lnTo>
                <a:lnTo>
                  <a:pt x="942179" y="49813"/>
                </a:lnTo>
                <a:lnTo>
                  <a:pt x="950155" y="49813"/>
                </a:lnTo>
                <a:lnTo>
                  <a:pt x="953799" y="38014"/>
                </a:lnTo>
                <a:close/>
              </a:path>
              <a:path w="991870" h="771525">
                <a:moveTo>
                  <a:pt x="950155" y="49813"/>
                </a:moveTo>
                <a:lnTo>
                  <a:pt x="942179" y="49813"/>
                </a:lnTo>
                <a:lnTo>
                  <a:pt x="731293" y="732683"/>
                </a:lnTo>
                <a:lnTo>
                  <a:pt x="739269" y="732683"/>
                </a:lnTo>
                <a:lnTo>
                  <a:pt x="950155" y="498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01" name="object 10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02" name="object 10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525511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8195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expectation, we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can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get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embeddings similar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case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where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all the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neighbors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dirty="0" spc="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332227"/>
            <a:ext cx="6610984" cy="10439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Benefits: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greatly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reduce computational</a:t>
            </a:r>
            <a:r>
              <a:rPr dirty="0" sz="2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cost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And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5">
                <a:latin typeface="Calibri"/>
                <a:cs typeface="Calibri"/>
              </a:rPr>
              <a:t>practice </a:t>
            </a:r>
            <a:r>
              <a:rPr dirty="0" sz="2800" spc="-5">
                <a:latin typeface="Calibri"/>
                <a:cs typeface="Calibri"/>
              </a:rPr>
              <a:t>it </a:t>
            </a:r>
            <a:r>
              <a:rPr dirty="0" sz="2800" spc="-15">
                <a:latin typeface="Calibri"/>
                <a:cs typeface="Calibri"/>
              </a:rPr>
              <a:t>works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great!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6345" y="5451490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 h="0">
                <a:moveTo>
                  <a:pt x="0" y="0"/>
                </a:moveTo>
                <a:lnTo>
                  <a:pt x="45715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84227" y="5400075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4"/>
                </a:lnTo>
                <a:lnTo>
                  <a:pt x="102830" y="102829"/>
                </a:lnTo>
                <a:lnTo>
                  <a:pt x="1028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22060" y="5129014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634890"/>
                </a:moveTo>
                <a:lnTo>
                  <a:pt x="698762" y="634890"/>
                </a:lnTo>
                <a:lnTo>
                  <a:pt x="698762" y="0"/>
                </a:lnTo>
                <a:lnTo>
                  <a:pt x="0" y="0"/>
                </a:lnTo>
                <a:lnTo>
                  <a:pt x="0" y="63489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22060" y="5129014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0"/>
                </a:moveTo>
                <a:lnTo>
                  <a:pt x="698763" y="0"/>
                </a:lnTo>
                <a:lnTo>
                  <a:pt x="698763" y="634890"/>
                </a:lnTo>
                <a:lnTo>
                  <a:pt x="0" y="63489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41540" y="5682942"/>
            <a:ext cx="560705" cy="360045"/>
          </a:xfrm>
          <a:custGeom>
            <a:avLst/>
            <a:gdLst/>
            <a:ahLst/>
            <a:cxnLst/>
            <a:rect l="l" t="t" r="r" b="b"/>
            <a:pathLst>
              <a:path w="560705" h="360045">
                <a:moveTo>
                  <a:pt x="0" y="350678"/>
                </a:moveTo>
                <a:lnTo>
                  <a:pt x="554859" y="0"/>
                </a:lnTo>
                <a:lnTo>
                  <a:pt x="560581" y="9054"/>
                </a:lnTo>
                <a:lnTo>
                  <a:pt x="5722" y="359733"/>
                </a:lnTo>
                <a:lnTo>
                  <a:pt x="0" y="35067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398122" y="5402921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4"/>
                </a:lnTo>
                <a:lnTo>
                  <a:pt x="102830" y="102829"/>
                </a:lnTo>
                <a:lnTo>
                  <a:pt x="10283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81559" y="5622441"/>
            <a:ext cx="690245" cy="581025"/>
          </a:xfrm>
          <a:custGeom>
            <a:avLst/>
            <a:gdLst/>
            <a:ahLst/>
            <a:cxnLst/>
            <a:rect l="l" t="t" r="r" b="b"/>
            <a:pathLst>
              <a:path w="690245" h="581025">
                <a:moveTo>
                  <a:pt x="0" y="0"/>
                </a:moveTo>
                <a:lnTo>
                  <a:pt x="8192" y="6900"/>
                </a:lnTo>
                <a:lnTo>
                  <a:pt x="689746" y="581017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11105" y="5563094"/>
            <a:ext cx="112395" cy="106045"/>
          </a:xfrm>
          <a:custGeom>
            <a:avLst/>
            <a:gdLst/>
            <a:ahLst/>
            <a:cxnLst/>
            <a:rect l="l" t="t" r="r" b="b"/>
            <a:pathLst>
              <a:path w="112395" h="106045">
                <a:moveTo>
                  <a:pt x="0" y="0"/>
                </a:moveTo>
                <a:lnTo>
                  <a:pt x="45520" y="105572"/>
                </a:lnTo>
                <a:lnTo>
                  <a:pt x="111770" y="26926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83436" y="4658976"/>
            <a:ext cx="768985" cy="606425"/>
          </a:xfrm>
          <a:custGeom>
            <a:avLst/>
            <a:gdLst/>
            <a:ahLst/>
            <a:cxnLst/>
            <a:rect l="l" t="t" r="r" b="b"/>
            <a:pathLst>
              <a:path w="768985" h="606425">
                <a:moveTo>
                  <a:pt x="0" y="606064"/>
                </a:moveTo>
                <a:lnTo>
                  <a:pt x="8410" y="599431"/>
                </a:lnTo>
                <a:lnTo>
                  <a:pt x="768465" y="0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11105" y="5218037"/>
            <a:ext cx="113030" cy="104139"/>
          </a:xfrm>
          <a:custGeom>
            <a:avLst/>
            <a:gdLst/>
            <a:ahLst/>
            <a:cxnLst/>
            <a:rect l="l" t="t" r="r" b="b"/>
            <a:pathLst>
              <a:path w="113029" h="104139">
                <a:moveTo>
                  <a:pt x="48901" y="0"/>
                </a:moveTo>
                <a:lnTo>
                  <a:pt x="0" y="104048"/>
                </a:lnTo>
                <a:lnTo>
                  <a:pt x="112580" y="80741"/>
                </a:lnTo>
                <a:lnTo>
                  <a:pt x="4890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35638" y="4286417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238434" y="0"/>
                </a:moveTo>
                <a:lnTo>
                  <a:pt x="0" y="68370"/>
                </a:lnTo>
                <a:lnTo>
                  <a:pt x="74999" y="329921"/>
                </a:lnTo>
                <a:lnTo>
                  <a:pt x="313433" y="261552"/>
                </a:lnTo>
                <a:lnTo>
                  <a:pt x="23843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35638" y="4286418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0" y="68369"/>
                </a:moveTo>
                <a:lnTo>
                  <a:pt x="238434" y="0"/>
                </a:lnTo>
                <a:lnTo>
                  <a:pt x="313433" y="261551"/>
                </a:lnTo>
                <a:lnTo>
                  <a:pt x="74998" y="329921"/>
                </a:lnTo>
                <a:lnTo>
                  <a:pt x="0" y="68369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80434" y="4132480"/>
            <a:ext cx="599440" cy="231775"/>
          </a:xfrm>
          <a:custGeom>
            <a:avLst/>
            <a:gdLst/>
            <a:ahLst/>
            <a:cxnLst/>
            <a:rect l="l" t="t" r="r" b="b"/>
            <a:pathLst>
              <a:path w="599440" h="231775">
                <a:moveTo>
                  <a:pt x="0" y="231763"/>
                </a:moveTo>
                <a:lnTo>
                  <a:pt x="4995" y="229831"/>
                </a:lnTo>
                <a:lnTo>
                  <a:pt x="599425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25485" y="4332340"/>
            <a:ext cx="71755" cy="60325"/>
          </a:xfrm>
          <a:custGeom>
            <a:avLst/>
            <a:gdLst/>
            <a:ahLst/>
            <a:cxnLst/>
            <a:rect l="l" t="t" r="r" b="b"/>
            <a:pathLst>
              <a:path w="71754" h="60325">
                <a:moveTo>
                  <a:pt x="48356" y="0"/>
                </a:moveTo>
                <a:lnTo>
                  <a:pt x="0" y="53148"/>
                </a:lnTo>
                <a:lnTo>
                  <a:pt x="71534" y="59944"/>
                </a:lnTo>
                <a:lnTo>
                  <a:pt x="4835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612356" y="4490735"/>
            <a:ext cx="62865" cy="20320"/>
          </a:xfrm>
          <a:custGeom>
            <a:avLst/>
            <a:gdLst/>
            <a:ahLst/>
            <a:cxnLst/>
            <a:rect l="l" t="t" r="r" b="b"/>
            <a:pathLst>
              <a:path w="62865" h="20320">
                <a:moveTo>
                  <a:pt x="62264" y="0"/>
                </a:moveTo>
                <a:lnTo>
                  <a:pt x="10193" y="16811"/>
                </a:lnTo>
                <a:lnTo>
                  <a:pt x="0" y="2010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524693" y="4458619"/>
            <a:ext cx="113664" cy="98425"/>
          </a:xfrm>
          <a:custGeom>
            <a:avLst/>
            <a:gdLst/>
            <a:ahLst/>
            <a:cxnLst/>
            <a:rect l="l" t="t" r="r" b="b"/>
            <a:pathLst>
              <a:path w="113665" h="98425">
                <a:moveTo>
                  <a:pt x="82059" y="0"/>
                </a:moveTo>
                <a:lnTo>
                  <a:pt x="0" y="80521"/>
                </a:lnTo>
                <a:lnTo>
                  <a:pt x="113653" y="97856"/>
                </a:lnTo>
                <a:lnTo>
                  <a:pt x="820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59290" y="5252594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247891" y="0"/>
                </a:moveTo>
                <a:lnTo>
                  <a:pt x="0" y="8657"/>
                </a:lnTo>
                <a:lnTo>
                  <a:pt x="9495" y="280583"/>
                </a:lnTo>
                <a:lnTo>
                  <a:pt x="257387" y="271927"/>
                </a:lnTo>
                <a:lnTo>
                  <a:pt x="24789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59290" y="5252595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0" y="8656"/>
                </a:moveTo>
                <a:lnTo>
                  <a:pt x="247891" y="0"/>
                </a:lnTo>
                <a:lnTo>
                  <a:pt x="257387" y="271926"/>
                </a:lnTo>
                <a:lnTo>
                  <a:pt x="9495" y="280583"/>
                </a:lnTo>
                <a:lnTo>
                  <a:pt x="0" y="8656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598949" y="5402591"/>
            <a:ext cx="65405" cy="4445"/>
          </a:xfrm>
          <a:custGeom>
            <a:avLst/>
            <a:gdLst/>
            <a:ahLst/>
            <a:cxnLst/>
            <a:rect l="l" t="t" r="r" b="b"/>
            <a:pathLst>
              <a:path w="65404" h="4445">
                <a:moveTo>
                  <a:pt x="65277" y="0"/>
                </a:moveTo>
                <a:lnTo>
                  <a:pt x="10686" y="3715"/>
                </a:lnTo>
                <a:lnTo>
                  <a:pt x="0" y="444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07043" y="5355009"/>
            <a:ext cx="106680" cy="102870"/>
          </a:xfrm>
          <a:custGeom>
            <a:avLst/>
            <a:gdLst/>
            <a:ahLst/>
            <a:cxnLst/>
            <a:rect l="l" t="t" r="r" b="b"/>
            <a:pathLst>
              <a:path w="106679" h="102870">
                <a:moveTo>
                  <a:pt x="99101" y="0"/>
                </a:moveTo>
                <a:lnTo>
                  <a:pt x="0" y="58279"/>
                </a:lnTo>
                <a:lnTo>
                  <a:pt x="106084" y="102594"/>
                </a:lnTo>
                <a:lnTo>
                  <a:pt x="99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74756" y="6141843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0" y="264577"/>
                </a:lnTo>
                <a:lnTo>
                  <a:pt x="241192" y="322469"/>
                </a:lnTo>
                <a:lnTo>
                  <a:pt x="304697" y="57892"/>
                </a:lnTo>
                <a:lnTo>
                  <a:pt x="6350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574755" y="6141843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304697" y="57892"/>
                </a:lnTo>
                <a:lnTo>
                  <a:pt x="241192" y="322469"/>
                </a:lnTo>
                <a:lnTo>
                  <a:pt x="0" y="264577"/>
                </a:lnTo>
                <a:lnTo>
                  <a:pt x="63505" y="0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907183" y="6354087"/>
            <a:ext cx="521334" cy="125730"/>
          </a:xfrm>
          <a:custGeom>
            <a:avLst/>
            <a:gdLst/>
            <a:ahLst/>
            <a:cxnLst/>
            <a:rect l="l" t="t" r="r" b="b"/>
            <a:pathLst>
              <a:path w="521334" h="125729">
                <a:moveTo>
                  <a:pt x="0" y="0"/>
                </a:moveTo>
                <a:lnTo>
                  <a:pt x="5207" y="1251"/>
                </a:lnTo>
                <a:lnTo>
                  <a:pt x="520988" y="125259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849903" y="6324095"/>
            <a:ext cx="70485" cy="62865"/>
          </a:xfrm>
          <a:custGeom>
            <a:avLst/>
            <a:gdLst/>
            <a:ahLst/>
            <a:cxnLst/>
            <a:rect l="l" t="t" r="r" b="b"/>
            <a:pathLst>
              <a:path w="70484" h="62864">
                <a:moveTo>
                  <a:pt x="69999" y="0"/>
                </a:moveTo>
                <a:lnTo>
                  <a:pt x="0" y="16220"/>
                </a:lnTo>
                <a:lnTo>
                  <a:pt x="54975" y="62488"/>
                </a:lnTo>
                <a:lnTo>
                  <a:pt x="6999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541161" y="6266202"/>
            <a:ext cx="64135" cy="13335"/>
          </a:xfrm>
          <a:custGeom>
            <a:avLst/>
            <a:gdLst/>
            <a:ahLst/>
            <a:cxnLst/>
            <a:rect l="l" t="t" r="r" b="b"/>
            <a:pathLst>
              <a:path w="64134" h="13335">
                <a:moveTo>
                  <a:pt x="64091" y="13160"/>
                </a:moveTo>
                <a:lnTo>
                  <a:pt x="10492" y="2154"/>
                </a:lnTo>
                <a:lnTo>
                  <a:pt x="0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450925" y="6217992"/>
            <a:ext cx="111125" cy="100965"/>
          </a:xfrm>
          <a:custGeom>
            <a:avLst/>
            <a:gdLst/>
            <a:ahLst/>
            <a:cxnLst/>
            <a:rect l="l" t="t" r="r" b="b"/>
            <a:pathLst>
              <a:path w="111125" h="100964">
                <a:moveTo>
                  <a:pt x="111070" y="0"/>
                </a:moveTo>
                <a:lnTo>
                  <a:pt x="0" y="29680"/>
                </a:lnTo>
                <a:lnTo>
                  <a:pt x="90385" y="100728"/>
                </a:lnTo>
                <a:lnTo>
                  <a:pt x="111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973585" y="5519818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0"/>
                </a:moveTo>
                <a:lnTo>
                  <a:pt x="4375" y="3088"/>
                </a:lnTo>
                <a:lnTo>
                  <a:pt x="465926" y="32884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925453" y="5485847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0" y="0"/>
                </a:moveTo>
                <a:lnTo>
                  <a:pt x="33978" y="63313"/>
                </a:lnTo>
                <a:lnTo>
                  <a:pt x="71038" y="1080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96973" y="5438213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0"/>
                </a:moveTo>
                <a:lnTo>
                  <a:pt x="5130" y="1534"/>
                </a:lnTo>
                <a:lnTo>
                  <a:pt x="546369" y="16342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940530" y="5408961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70782" y="0"/>
                </a:moveTo>
                <a:lnTo>
                  <a:pt x="0" y="12368"/>
                </a:lnTo>
                <a:lnTo>
                  <a:pt x="52364" y="61572"/>
                </a:lnTo>
                <a:lnTo>
                  <a:pt x="70782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975647" y="4965185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328846"/>
                </a:moveTo>
                <a:lnTo>
                  <a:pt x="4375" y="325758"/>
                </a:lnTo>
                <a:lnTo>
                  <a:pt x="465926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27514" y="5264689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33977" y="0"/>
                </a:moveTo>
                <a:lnTo>
                  <a:pt x="0" y="63313"/>
                </a:lnTo>
                <a:lnTo>
                  <a:pt x="71037" y="52508"/>
                </a:lnTo>
                <a:lnTo>
                  <a:pt x="3397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999035" y="5212210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163426"/>
                </a:moveTo>
                <a:lnTo>
                  <a:pt x="5130" y="161891"/>
                </a:lnTo>
                <a:lnTo>
                  <a:pt x="546369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942593" y="5343316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52363" y="0"/>
                </a:moveTo>
                <a:lnTo>
                  <a:pt x="0" y="49203"/>
                </a:lnTo>
                <a:lnTo>
                  <a:pt x="70782" y="61572"/>
                </a:lnTo>
                <a:lnTo>
                  <a:pt x="523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62895" y="5202784"/>
            <a:ext cx="548005" cy="823594"/>
          </a:xfrm>
          <a:custGeom>
            <a:avLst/>
            <a:gdLst/>
            <a:ahLst/>
            <a:cxnLst/>
            <a:rect l="l" t="t" r="r" b="b"/>
            <a:pathLst>
              <a:path w="548005" h="823595">
                <a:moveTo>
                  <a:pt x="0" y="817674"/>
                </a:moveTo>
                <a:lnTo>
                  <a:pt x="538911" y="0"/>
                </a:lnTo>
                <a:lnTo>
                  <a:pt x="547854" y="5894"/>
                </a:lnTo>
                <a:lnTo>
                  <a:pt x="8943" y="823568"/>
                </a:lnTo>
                <a:lnTo>
                  <a:pt x="0" y="817674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10184" y="5125142"/>
            <a:ext cx="1208405" cy="109220"/>
          </a:xfrm>
          <a:custGeom>
            <a:avLst/>
            <a:gdLst/>
            <a:ahLst/>
            <a:cxnLst/>
            <a:rect l="l" t="t" r="r" b="b"/>
            <a:pathLst>
              <a:path w="1208405" h="109220">
                <a:moveTo>
                  <a:pt x="869" y="0"/>
                </a:moveTo>
                <a:lnTo>
                  <a:pt x="1208045" y="98282"/>
                </a:lnTo>
                <a:lnTo>
                  <a:pt x="1207176" y="108958"/>
                </a:lnTo>
                <a:lnTo>
                  <a:pt x="0" y="10676"/>
                </a:lnTo>
                <a:lnTo>
                  <a:pt x="86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604685" y="4611038"/>
            <a:ext cx="268605" cy="620395"/>
          </a:xfrm>
          <a:custGeom>
            <a:avLst/>
            <a:gdLst/>
            <a:ahLst/>
            <a:cxnLst/>
            <a:rect l="l" t="t" r="r" b="b"/>
            <a:pathLst>
              <a:path w="268605" h="620395">
                <a:moveTo>
                  <a:pt x="9876" y="0"/>
                </a:moveTo>
                <a:lnTo>
                  <a:pt x="268416" y="616049"/>
                </a:lnTo>
                <a:lnTo>
                  <a:pt x="258540" y="620194"/>
                </a:lnTo>
                <a:lnTo>
                  <a:pt x="0" y="4145"/>
                </a:lnTo>
                <a:lnTo>
                  <a:pt x="987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781008" y="6372947"/>
            <a:ext cx="86042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" b="1">
                <a:latin typeface="Arial"/>
                <a:cs typeface="Arial"/>
              </a:rPr>
              <a:t>INPUT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spc="-5" b="1">
                <a:latin typeface="Arial"/>
                <a:cs typeface="Arial"/>
              </a:rPr>
              <a:t>GRAPH</a:t>
            </a:r>
            <a:endParaRPr sz="9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666337" y="4631221"/>
            <a:ext cx="1270" cy="274955"/>
          </a:xfrm>
          <a:custGeom>
            <a:avLst/>
            <a:gdLst/>
            <a:ahLst/>
            <a:cxnLst/>
            <a:rect l="l" t="t" r="r" b="b"/>
            <a:pathLst>
              <a:path w="1269" h="274954">
                <a:moveTo>
                  <a:pt x="0" y="0"/>
                </a:moveTo>
                <a:lnTo>
                  <a:pt x="914" y="269532"/>
                </a:lnTo>
                <a:lnTo>
                  <a:pt x="932" y="274888"/>
                </a:lnTo>
              </a:path>
            </a:pathLst>
          </a:custGeom>
          <a:ln w="107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635118" y="4900645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69" h="64770">
                <a:moveTo>
                  <a:pt x="64268" y="0"/>
                </a:moveTo>
                <a:lnTo>
                  <a:pt x="0" y="217"/>
                </a:lnTo>
                <a:lnTo>
                  <a:pt x="32351" y="64376"/>
                </a:lnTo>
                <a:lnTo>
                  <a:pt x="64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224011" y="4444882"/>
            <a:ext cx="8566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5">
                <a:latin typeface="Arial"/>
                <a:cs typeface="Arial"/>
              </a:rPr>
              <a:t>TARGET</a:t>
            </a:r>
            <a:r>
              <a:rPr dirty="0" sz="950" spc="-20">
                <a:latin typeface="Arial"/>
                <a:cs typeface="Arial"/>
              </a:rPr>
              <a:t> NODE</a:t>
            </a:r>
            <a:endParaRPr sz="9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693007" y="4596179"/>
            <a:ext cx="883919" cy="520065"/>
          </a:xfrm>
          <a:custGeom>
            <a:avLst/>
            <a:gdLst/>
            <a:ahLst/>
            <a:cxnLst/>
            <a:rect l="l" t="t" r="r" b="b"/>
            <a:pathLst>
              <a:path w="883919" h="520064">
                <a:moveTo>
                  <a:pt x="883776" y="9260"/>
                </a:moveTo>
                <a:lnTo>
                  <a:pt x="5383" y="519880"/>
                </a:lnTo>
                <a:lnTo>
                  <a:pt x="0" y="510619"/>
                </a:lnTo>
                <a:lnTo>
                  <a:pt x="878392" y="0"/>
                </a:lnTo>
                <a:lnTo>
                  <a:pt x="883776" y="926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470455" y="445922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2530811" y="4436312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371154" y="5176151"/>
            <a:ext cx="327025" cy="704850"/>
          </a:xfrm>
          <a:custGeom>
            <a:avLst/>
            <a:gdLst/>
            <a:ahLst/>
            <a:cxnLst/>
            <a:rect l="l" t="t" r="r" b="b"/>
            <a:pathLst>
              <a:path w="327025" h="704850">
                <a:moveTo>
                  <a:pt x="326584" y="4415"/>
                </a:moveTo>
                <a:lnTo>
                  <a:pt x="9759" y="704679"/>
                </a:lnTo>
                <a:lnTo>
                  <a:pt x="0" y="700264"/>
                </a:lnTo>
                <a:lnTo>
                  <a:pt x="316825" y="0"/>
                </a:lnTo>
                <a:lnTo>
                  <a:pt x="326584" y="44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325736" y="571953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7" y="211073"/>
                </a:lnTo>
                <a:lnTo>
                  <a:pt x="187514" y="187008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384683" y="5700267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250769" y="5938456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2305870" y="5925208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914404" y="5275984"/>
            <a:ext cx="171450" cy="341630"/>
          </a:xfrm>
          <a:custGeom>
            <a:avLst/>
            <a:gdLst/>
            <a:ahLst/>
            <a:cxnLst/>
            <a:rect l="l" t="t" r="r" b="b"/>
            <a:pathLst>
              <a:path w="171450" h="341629">
                <a:moveTo>
                  <a:pt x="9657" y="0"/>
                </a:moveTo>
                <a:lnTo>
                  <a:pt x="171247" y="336816"/>
                </a:lnTo>
                <a:lnTo>
                  <a:pt x="161590" y="341449"/>
                </a:lnTo>
                <a:lnTo>
                  <a:pt x="0" y="4633"/>
                </a:lnTo>
                <a:lnTo>
                  <a:pt x="965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963310" y="552423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2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3012828" y="550746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770058" y="510733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4"/>
                </a:lnTo>
                <a:lnTo>
                  <a:pt x="8043" y="68323"/>
                </a:lnTo>
                <a:lnTo>
                  <a:pt x="0" y="109546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9" y="211072"/>
                </a:lnTo>
                <a:lnTo>
                  <a:pt x="109843" y="219093"/>
                </a:lnTo>
                <a:lnTo>
                  <a:pt x="151177" y="211072"/>
                </a:lnTo>
                <a:lnTo>
                  <a:pt x="187513" y="187008"/>
                </a:lnTo>
                <a:lnTo>
                  <a:pt x="211642" y="150769"/>
                </a:lnTo>
                <a:lnTo>
                  <a:pt x="219685" y="109546"/>
                </a:lnTo>
                <a:lnTo>
                  <a:pt x="211642" y="68323"/>
                </a:lnTo>
                <a:lnTo>
                  <a:pt x="187513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2820022" y="5089712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210806" y="5361586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3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3" y="187009"/>
                </a:lnTo>
                <a:lnTo>
                  <a:pt x="68509" y="211073"/>
                </a:lnTo>
                <a:lnTo>
                  <a:pt x="109843" y="219095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4266072" y="5336077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298530" y="444858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6354810" y="442560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266727" y="530911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4" y="0"/>
                </a:moveTo>
                <a:lnTo>
                  <a:pt x="68510" y="8021"/>
                </a:lnTo>
                <a:lnTo>
                  <a:pt x="32173" y="32084"/>
                </a:lnTo>
                <a:lnTo>
                  <a:pt x="8043" y="68323"/>
                </a:lnTo>
                <a:lnTo>
                  <a:pt x="0" y="109546"/>
                </a:lnTo>
                <a:lnTo>
                  <a:pt x="8043" y="150769"/>
                </a:lnTo>
                <a:lnTo>
                  <a:pt x="32173" y="187008"/>
                </a:lnTo>
                <a:lnTo>
                  <a:pt x="68510" y="211072"/>
                </a:lnTo>
                <a:lnTo>
                  <a:pt x="109844" y="219093"/>
                </a:lnTo>
                <a:lnTo>
                  <a:pt x="151178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6"/>
                </a:lnTo>
                <a:lnTo>
                  <a:pt x="211643" y="68323"/>
                </a:lnTo>
                <a:lnTo>
                  <a:pt x="187514" y="32084"/>
                </a:lnTo>
                <a:lnTo>
                  <a:pt x="151178" y="8021"/>
                </a:lnTo>
                <a:lnTo>
                  <a:pt x="109844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5477541" y="5293231"/>
            <a:ext cx="94996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86130" algn="l"/>
              </a:tabLst>
            </a:pPr>
            <a:r>
              <a:rPr dirty="0" sz="1150" spc="0" u="heavy">
                <a:latin typeface="Times New Roman"/>
                <a:cs typeface="Times New Roman"/>
              </a:rPr>
              <a:t> </a:t>
            </a:r>
            <a:r>
              <a:rPr dirty="0" sz="1150" spc="0" u="heavy">
                <a:latin typeface="Times New Roman"/>
                <a:cs typeface="Times New Roman"/>
              </a:rPr>
              <a:t>	</a:t>
            </a:r>
            <a:r>
              <a:rPr dirty="0" sz="1150" spc="0">
                <a:latin typeface="Times New Roman"/>
                <a:cs typeface="Times New Roman"/>
              </a:rPr>
              <a:t> </a:t>
            </a:r>
            <a:r>
              <a:rPr dirty="0" sz="1150" spc="-100">
                <a:latin typeface="Times New Roman"/>
                <a:cs typeface="Times New Roman"/>
              </a:rPr>
              <a:t> </a:t>
            </a: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210636" y="610945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2" y="187008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6269118" y="609659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572693" y="502068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4"/>
                </a:lnTo>
                <a:lnTo>
                  <a:pt x="8043" y="68323"/>
                </a:lnTo>
                <a:lnTo>
                  <a:pt x="0" y="109546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6"/>
                </a:lnTo>
                <a:lnTo>
                  <a:pt x="211643" y="68323"/>
                </a:lnTo>
                <a:lnTo>
                  <a:pt x="187513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1620335" y="499330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6997258" y="4466096"/>
            <a:ext cx="635635" cy="59055"/>
          </a:xfrm>
          <a:custGeom>
            <a:avLst/>
            <a:gdLst/>
            <a:ahLst/>
            <a:cxnLst/>
            <a:rect l="l" t="t" r="r" b="b"/>
            <a:pathLst>
              <a:path w="635634" h="59054">
                <a:moveTo>
                  <a:pt x="0" y="0"/>
                </a:moveTo>
                <a:lnTo>
                  <a:pt x="5332" y="493"/>
                </a:lnTo>
                <a:lnTo>
                  <a:pt x="635165" y="58733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938595" y="4434590"/>
            <a:ext cx="67310" cy="64135"/>
          </a:xfrm>
          <a:custGeom>
            <a:avLst/>
            <a:gdLst/>
            <a:ahLst/>
            <a:cxnLst/>
            <a:rect l="l" t="t" r="r" b="b"/>
            <a:pathLst>
              <a:path w="67309" h="64135">
                <a:moveTo>
                  <a:pt x="66954" y="0"/>
                </a:moveTo>
                <a:lnTo>
                  <a:pt x="0" y="26080"/>
                </a:lnTo>
                <a:lnTo>
                  <a:pt x="61036" y="63995"/>
                </a:lnTo>
                <a:lnTo>
                  <a:pt x="6695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353910" y="636765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09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3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7404535" y="6342955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472903" y="406363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7522362" y="4039987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478135" y="4413066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3" y="0"/>
                </a:moveTo>
                <a:lnTo>
                  <a:pt x="68509" y="8021"/>
                </a:lnTo>
                <a:lnTo>
                  <a:pt x="32171" y="32084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7522362" y="4393466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7330412" y="573349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3" y="187008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7383112" y="572169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7442506" y="511165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428980" y="5463873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4"/>
                </a:lnTo>
                <a:lnTo>
                  <a:pt x="8042" y="68323"/>
                </a:lnTo>
                <a:lnTo>
                  <a:pt x="0" y="109546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6"/>
                </a:lnTo>
                <a:lnTo>
                  <a:pt x="211643" y="68323"/>
                </a:lnTo>
                <a:lnTo>
                  <a:pt x="187514" y="32084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7479516" y="544319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7369387" y="484160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8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7425959" y="4712668"/>
            <a:ext cx="190500" cy="58293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  <a:p>
            <a:pPr marL="87630">
              <a:lnSpc>
                <a:spcPct val="100000"/>
              </a:lnSpc>
              <a:spcBef>
                <a:spcPts val="81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1424114" y="5355864"/>
            <a:ext cx="249554" cy="256540"/>
          </a:xfrm>
          <a:custGeom>
            <a:avLst/>
            <a:gdLst/>
            <a:ahLst/>
            <a:cxnLst/>
            <a:rect l="l" t="t" r="r" b="b"/>
            <a:pathLst>
              <a:path w="249555" h="256539">
                <a:moveTo>
                  <a:pt x="61655" y="0"/>
                </a:moveTo>
                <a:lnTo>
                  <a:pt x="0" y="58458"/>
                </a:lnTo>
                <a:lnTo>
                  <a:pt x="66146" y="128223"/>
                </a:lnTo>
                <a:lnTo>
                  <a:pt x="0" y="197986"/>
                </a:lnTo>
                <a:lnTo>
                  <a:pt x="61655" y="256445"/>
                </a:lnTo>
                <a:lnTo>
                  <a:pt x="124688" y="189966"/>
                </a:lnTo>
                <a:lnTo>
                  <a:pt x="241772" y="189966"/>
                </a:lnTo>
                <a:lnTo>
                  <a:pt x="183230" y="128223"/>
                </a:lnTo>
                <a:lnTo>
                  <a:pt x="241773" y="66478"/>
                </a:lnTo>
                <a:lnTo>
                  <a:pt x="124688" y="66478"/>
                </a:lnTo>
                <a:lnTo>
                  <a:pt x="61655" y="0"/>
                </a:lnTo>
                <a:close/>
              </a:path>
              <a:path w="249555" h="256539">
                <a:moveTo>
                  <a:pt x="241772" y="189966"/>
                </a:moveTo>
                <a:lnTo>
                  <a:pt x="124688" y="189966"/>
                </a:lnTo>
                <a:lnTo>
                  <a:pt x="187719" y="256445"/>
                </a:lnTo>
                <a:lnTo>
                  <a:pt x="249377" y="197986"/>
                </a:lnTo>
                <a:lnTo>
                  <a:pt x="241772" y="189966"/>
                </a:lnTo>
                <a:close/>
              </a:path>
              <a:path w="249555" h="256539">
                <a:moveTo>
                  <a:pt x="187719" y="0"/>
                </a:moveTo>
                <a:lnTo>
                  <a:pt x="124688" y="66478"/>
                </a:lnTo>
                <a:lnTo>
                  <a:pt x="241773" y="66478"/>
                </a:lnTo>
                <a:lnTo>
                  <a:pt x="249377" y="58458"/>
                </a:lnTo>
                <a:lnTo>
                  <a:pt x="18771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813095" y="5852799"/>
            <a:ext cx="249554" cy="256540"/>
          </a:xfrm>
          <a:custGeom>
            <a:avLst/>
            <a:gdLst/>
            <a:ahLst/>
            <a:cxnLst/>
            <a:rect l="l" t="t" r="r" b="b"/>
            <a:pathLst>
              <a:path w="249554" h="256539">
                <a:moveTo>
                  <a:pt x="61657" y="0"/>
                </a:moveTo>
                <a:lnTo>
                  <a:pt x="0" y="58459"/>
                </a:lnTo>
                <a:lnTo>
                  <a:pt x="66146" y="128222"/>
                </a:lnTo>
                <a:lnTo>
                  <a:pt x="0" y="197986"/>
                </a:lnTo>
                <a:lnTo>
                  <a:pt x="61657" y="256445"/>
                </a:lnTo>
                <a:lnTo>
                  <a:pt x="124688" y="189966"/>
                </a:lnTo>
                <a:lnTo>
                  <a:pt x="241772" y="189966"/>
                </a:lnTo>
                <a:lnTo>
                  <a:pt x="183230" y="128222"/>
                </a:lnTo>
                <a:lnTo>
                  <a:pt x="241772" y="66479"/>
                </a:lnTo>
                <a:lnTo>
                  <a:pt x="124688" y="66479"/>
                </a:lnTo>
                <a:lnTo>
                  <a:pt x="61657" y="0"/>
                </a:lnTo>
                <a:close/>
              </a:path>
              <a:path w="249554" h="256539">
                <a:moveTo>
                  <a:pt x="241772" y="189966"/>
                </a:moveTo>
                <a:lnTo>
                  <a:pt x="124688" y="189966"/>
                </a:lnTo>
                <a:lnTo>
                  <a:pt x="187721" y="256445"/>
                </a:lnTo>
                <a:lnTo>
                  <a:pt x="249377" y="197986"/>
                </a:lnTo>
                <a:lnTo>
                  <a:pt x="241772" y="189966"/>
                </a:lnTo>
                <a:close/>
              </a:path>
              <a:path w="249554" h="256539">
                <a:moveTo>
                  <a:pt x="187721" y="0"/>
                </a:moveTo>
                <a:lnTo>
                  <a:pt x="124688" y="66479"/>
                </a:lnTo>
                <a:lnTo>
                  <a:pt x="241772" y="66479"/>
                </a:lnTo>
                <a:lnTo>
                  <a:pt x="249377" y="58459"/>
                </a:lnTo>
                <a:lnTo>
                  <a:pt x="18772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034823" y="4669656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111155" y="4748813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30" h="27939">
                <a:moveTo>
                  <a:pt x="21447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7"/>
                </a:lnTo>
                <a:lnTo>
                  <a:pt x="6186" y="27633"/>
                </a:lnTo>
                <a:lnTo>
                  <a:pt x="21447" y="27633"/>
                </a:lnTo>
                <a:lnTo>
                  <a:pt x="27633" y="21447"/>
                </a:lnTo>
                <a:lnTo>
                  <a:pt x="27633" y="6186"/>
                </a:lnTo>
                <a:lnTo>
                  <a:pt x="21447" y="0"/>
                </a:lnTo>
                <a:close/>
              </a:path>
              <a:path w="113030" h="27939">
                <a:moveTo>
                  <a:pt x="106437" y="0"/>
                </a:moveTo>
                <a:lnTo>
                  <a:pt x="91175" y="0"/>
                </a:lnTo>
                <a:lnTo>
                  <a:pt x="84989" y="6186"/>
                </a:lnTo>
                <a:lnTo>
                  <a:pt x="84989" y="21447"/>
                </a:lnTo>
                <a:lnTo>
                  <a:pt x="91175" y="27633"/>
                </a:lnTo>
                <a:lnTo>
                  <a:pt x="106437" y="27633"/>
                </a:lnTo>
                <a:lnTo>
                  <a:pt x="112623" y="21447"/>
                </a:lnTo>
                <a:lnTo>
                  <a:pt x="112623" y="6186"/>
                </a:lnTo>
                <a:lnTo>
                  <a:pt x="106437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111155" y="4748813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196145" y="4748813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095573" y="4860147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4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034823" y="4669656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986845" y="5041586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063177" y="5120741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30" h="27939">
                <a:moveTo>
                  <a:pt x="21447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9"/>
                </a:lnTo>
                <a:lnTo>
                  <a:pt x="6186" y="27635"/>
                </a:lnTo>
                <a:lnTo>
                  <a:pt x="21447" y="27635"/>
                </a:lnTo>
                <a:lnTo>
                  <a:pt x="27633" y="21449"/>
                </a:lnTo>
                <a:lnTo>
                  <a:pt x="27633" y="6186"/>
                </a:lnTo>
                <a:lnTo>
                  <a:pt x="21447" y="0"/>
                </a:lnTo>
                <a:close/>
              </a:path>
              <a:path w="113030" h="27939">
                <a:moveTo>
                  <a:pt x="106437" y="0"/>
                </a:moveTo>
                <a:lnTo>
                  <a:pt x="91175" y="0"/>
                </a:lnTo>
                <a:lnTo>
                  <a:pt x="84989" y="6186"/>
                </a:lnTo>
                <a:lnTo>
                  <a:pt x="84989" y="21449"/>
                </a:lnTo>
                <a:lnTo>
                  <a:pt x="91175" y="27635"/>
                </a:lnTo>
                <a:lnTo>
                  <a:pt x="106437" y="27635"/>
                </a:lnTo>
                <a:lnTo>
                  <a:pt x="112623" y="21449"/>
                </a:lnTo>
                <a:lnTo>
                  <a:pt x="112623" y="6186"/>
                </a:lnTo>
                <a:lnTo>
                  <a:pt x="106437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063176" y="5120742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148167" y="5120742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047595" y="5232077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4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1986845" y="5041586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805140" y="5293587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4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4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881472" y="5372742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29" h="27939">
                <a:moveTo>
                  <a:pt x="21447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9"/>
                </a:lnTo>
                <a:lnTo>
                  <a:pt x="6186" y="27635"/>
                </a:lnTo>
                <a:lnTo>
                  <a:pt x="21447" y="27635"/>
                </a:lnTo>
                <a:lnTo>
                  <a:pt x="27633" y="21449"/>
                </a:lnTo>
                <a:lnTo>
                  <a:pt x="27633" y="6186"/>
                </a:lnTo>
                <a:lnTo>
                  <a:pt x="21447" y="0"/>
                </a:lnTo>
                <a:close/>
              </a:path>
              <a:path w="113029" h="27939">
                <a:moveTo>
                  <a:pt x="106438" y="0"/>
                </a:moveTo>
                <a:lnTo>
                  <a:pt x="91175" y="0"/>
                </a:lnTo>
                <a:lnTo>
                  <a:pt x="84989" y="6186"/>
                </a:lnTo>
                <a:lnTo>
                  <a:pt x="84989" y="21449"/>
                </a:lnTo>
                <a:lnTo>
                  <a:pt x="91175" y="27635"/>
                </a:lnTo>
                <a:lnTo>
                  <a:pt x="106438" y="27635"/>
                </a:lnTo>
                <a:lnTo>
                  <a:pt x="112624" y="21449"/>
                </a:lnTo>
                <a:lnTo>
                  <a:pt x="112624" y="6186"/>
                </a:lnTo>
                <a:lnTo>
                  <a:pt x="106438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881472" y="5372743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966462" y="5372743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865891" y="5484078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5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805140" y="5293587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805140" y="4730668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5881472" y="4809825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29" h="27939">
                <a:moveTo>
                  <a:pt x="21447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7"/>
                </a:lnTo>
                <a:lnTo>
                  <a:pt x="6186" y="27633"/>
                </a:lnTo>
                <a:lnTo>
                  <a:pt x="21447" y="27633"/>
                </a:lnTo>
                <a:lnTo>
                  <a:pt x="27633" y="21447"/>
                </a:lnTo>
                <a:lnTo>
                  <a:pt x="27633" y="6186"/>
                </a:lnTo>
                <a:lnTo>
                  <a:pt x="21447" y="0"/>
                </a:lnTo>
                <a:close/>
              </a:path>
              <a:path w="113029" h="27939">
                <a:moveTo>
                  <a:pt x="106438" y="0"/>
                </a:moveTo>
                <a:lnTo>
                  <a:pt x="91175" y="0"/>
                </a:lnTo>
                <a:lnTo>
                  <a:pt x="84989" y="6186"/>
                </a:lnTo>
                <a:lnTo>
                  <a:pt x="84989" y="21447"/>
                </a:lnTo>
                <a:lnTo>
                  <a:pt x="91175" y="27633"/>
                </a:lnTo>
                <a:lnTo>
                  <a:pt x="106438" y="27633"/>
                </a:lnTo>
                <a:lnTo>
                  <a:pt x="112624" y="21447"/>
                </a:lnTo>
                <a:lnTo>
                  <a:pt x="112624" y="6186"/>
                </a:lnTo>
                <a:lnTo>
                  <a:pt x="106438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881472" y="4809825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966462" y="4809825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865891" y="4921159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5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805140" y="4730668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 txBox="1"/>
          <p:nvPr/>
        </p:nvSpPr>
        <p:spPr>
          <a:xfrm>
            <a:off x="2880158" y="36067"/>
            <a:ext cx="61810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Ying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Graph Convolutional Neural Networks for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Web-Scale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Recommender Systems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KDD</a:t>
            </a:r>
            <a:r>
              <a:rPr dirty="0" sz="1200" spc="-1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2018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12" name="object 1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13" name="object 113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70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576072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8211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C00000"/>
                </a:solidFill>
              </a:rPr>
              <a:t>Recap: </a:t>
            </a:r>
            <a:r>
              <a:rPr dirty="0">
                <a:solidFill>
                  <a:srgbClr val="000000"/>
                </a:solidFill>
              </a:rPr>
              <a:t>A </a:t>
            </a:r>
            <a:r>
              <a:rPr dirty="0" spc="-20">
                <a:solidFill>
                  <a:srgbClr val="000000"/>
                </a:solidFill>
              </a:rPr>
              <a:t>general </a:t>
            </a:r>
            <a:r>
              <a:rPr dirty="0" spc="-10">
                <a:solidFill>
                  <a:srgbClr val="000000"/>
                </a:solidFill>
              </a:rPr>
              <a:t>perspective </a:t>
            </a:r>
            <a:r>
              <a:rPr dirty="0" spc="-20">
                <a:solidFill>
                  <a:srgbClr val="000000"/>
                </a:solidFill>
              </a:rPr>
              <a:t>for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GNNs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71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825921"/>
            <a:ext cx="6673215" cy="469646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b="1">
                <a:latin typeface="Calibri"/>
                <a:cs typeface="Calibri"/>
              </a:rPr>
              <a:t>GNN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Layer</a:t>
            </a:r>
            <a:r>
              <a:rPr dirty="0" sz="2800" spc="-15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400" spc="-25">
                <a:latin typeface="Calibri"/>
                <a:cs typeface="Calibri"/>
              </a:rPr>
              <a:t>Transformation </a:t>
            </a:r>
            <a:r>
              <a:rPr dirty="0" sz="2400">
                <a:latin typeface="Calibri"/>
                <a:cs typeface="Calibri"/>
              </a:rPr>
              <a:t>+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Aggregation</a:t>
            </a:r>
            <a:endParaRPr sz="24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620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Classic GNN </a:t>
            </a:r>
            <a:r>
              <a:rPr dirty="0" sz="2400" spc="-20">
                <a:latin typeface="Calibri"/>
                <a:cs typeface="Calibri"/>
              </a:rPr>
              <a:t>layers: </a:t>
            </a:r>
            <a:r>
              <a:rPr dirty="0" sz="2400" spc="-5">
                <a:latin typeface="Calibri"/>
                <a:cs typeface="Calibri"/>
              </a:rPr>
              <a:t>GCN, </a:t>
            </a:r>
            <a:r>
              <a:rPr dirty="0" sz="2400" spc="-10">
                <a:latin typeface="Calibri"/>
                <a:cs typeface="Calibri"/>
              </a:rPr>
              <a:t>GraphSAGE,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65">
                <a:latin typeface="Calibri"/>
                <a:cs typeface="Calibri"/>
              </a:rPr>
              <a:t>GAT</a:t>
            </a:r>
            <a:endParaRPr sz="24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20" b="1">
                <a:latin typeface="Calibri"/>
                <a:cs typeface="Calibri"/>
              </a:rPr>
              <a:t>Layer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connectivity</a:t>
            </a:r>
            <a:r>
              <a:rPr dirty="0" sz="2800" spc="-5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Deciding number of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620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Skip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connections</a:t>
            </a:r>
            <a:endParaRPr sz="24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5" b="1">
                <a:latin typeface="Calibri"/>
                <a:cs typeface="Calibri"/>
              </a:rPr>
              <a:t>Graph</a:t>
            </a:r>
            <a:r>
              <a:rPr dirty="0" sz="2800" spc="-3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Manipulation:</a:t>
            </a:r>
            <a:endParaRPr sz="28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400" spc="-15">
                <a:latin typeface="Calibri"/>
                <a:cs typeface="Calibri"/>
              </a:rPr>
              <a:t>Feature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525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Structure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manipulation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Next: </a:t>
            </a:r>
            <a:r>
              <a:rPr dirty="0" sz="3200" spc="-5">
                <a:latin typeface="Calibri"/>
                <a:cs typeface="Calibri"/>
              </a:rPr>
              <a:t>GNN </a:t>
            </a:r>
            <a:r>
              <a:rPr dirty="0" sz="3200" spc="-10">
                <a:latin typeface="Calibri"/>
                <a:cs typeface="Calibri"/>
              </a:rPr>
              <a:t>objectives, </a:t>
            </a:r>
            <a:r>
              <a:rPr dirty="0" sz="3200" spc="-5">
                <a:latin typeface="Calibri"/>
                <a:cs typeface="Calibri"/>
              </a:rPr>
              <a:t>GNN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practice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2026-10-20T23:49:52Z</dcterms:created>
  <dcterms:modified xsi:type="dcterms:W3CDTF">2026-10-20T23:49:52Z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2021-02-23T00:00:00Z</vt:filetime>
  </property>
  <property fmtid="{D5CDD505-2E9C-101B-9397-08002B2CF9AE}" pid="3" name="LastSaved">
    <vt:filetime>2026-10-20T00:00:00Z</vt:filetime>
  </property>
</Properties>
</file>