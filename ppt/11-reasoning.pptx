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</a:rPr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</a:rPr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</a:rPr>
              <a:t>http://cs224w.stanford.edu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</a:rPr>
              <a:t>http://cs224w.stanford.edu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</a:rPr>
              <a:t>http://cs224w.stanford.edu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8108" y="1348740"/>
            <a:ext cx="8217534" cy="995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6563" y="1826259"/>
            <a:ext cx="7730490" cy="2606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4227" y="6699893"/>
            <a:ext cx="40068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673615" y="6699893"/>
            <a:ext cx="43434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</a:rPr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hyperlink" Target="http://cs224w.stanford.edu/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hyperlink" Target="http://cs224w.stanford.edu/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jpg"/><Relationship Id="rId4" Type="http://schemas.openxmlformats.org/officeDocument/2006/relationships/hyperlink" Target="http://cs224w.stanford.edu/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hyperlink" Target="http://cs224w.stanford.edu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hyperlink" Target="http://cs224w.stanford.edu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hyperlink" Target="http://cs224w.stanford.edu/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Relationship Id="rId4" Type="http://schemas.openxmlformats.org/officeDocument/2006/relationships/hyperlink" Target="http://cs224w.stanford.edu/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Relationship Id="rId4" Type="http://schemas.openxmlformats.org/officeDocument/2006/relationships/hyperlink" Target="http://cs224w.stanford.edu/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hyperlink" Target="http://cs224w.stanford.edu/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hyperlink" Target="http://cs224w.stanford.edu/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hyperlink" Target="http://cs224w.stanford.edu/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hyperlink" Target="http://cs224w.stanford.edu/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3" Type="http://schemas.openxmlformats.org/officeDocument/2006/relationships/hyperlink" Target="http://cs224w.stanford.edu/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hyperlink" Target="http://cs224w.stanford.edu/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hyperlink" Target="http://cs22/" TargetMode="External"/><Relationship Id="rId4" Type="http://schemas.openxmlformats.org/officeDocument/2006/relationships/image" Target="../media/image24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hyperlink" Target="http://cs224w.stanford.edu/" TargetMode="External"/><Relationship Id="rId5" Type="http://schemas.openxmlformats.org/officeDocument/2006/relationships/image" Target="../media/image27.jpg"/><Relationship Id="rId6" Type="http://schemas.openxmlformats.org/officeDocument/2006/relationships/image" Target="../media/image28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hyperlink" Target="http://cs224w.stanford.edu/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hyperlink" Target="http://cs224w.stanford.edu/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hyperlink" Target="http://cs224w.stanford.edu/" TargetMode="Externa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hyperlink" Target="http://cs224w.stanford.edu/" TargetMode="Externa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hyperlink" Target="http://cs224w.stanford.edu/" TargetMode="Externa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hyperlink" Target="http://cs224w.stanford.edu/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hyperlink" Target="http://cs224w.stanford.edu/" TargetMode="Externa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jpg"/><Relationship Id="rId4" Type="http://schemas.openxmlformats.org/officeDocument/2006/relationships/hyperlink" Target="http://cs224w.stanford.edu/" TargetMode="Externa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hyperlink" Target="http://cs224w.stanford.edu/" TargetMode="Externa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hyperlink" Target="http://cs224w.stanford.edu/" TargetMode="Externa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hyperlink" Target="http://cs224w.stanford.edu/" TargetMode="Externa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hyperlink" Target="http://cs224w.stanford.edu/" TargetMode="Externa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hyperlink" Target="http://cs224w.stanford.edu/" TargetMode="Externa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jpg"/><Relationship Id="rId3" Type="http://schemas.openxmlformats.org/officeDocument/2006/relationships/image" Target="../media/image44.png"/><Relationship Id="rId4" Type="http://schemas.openxmlformats.org/officeDocument/2006/relationships/hyperlink" Target="http://cs224w.stanford.edu/" TargetMode="Externa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hyperlink" Target="http://cs224w.stanford.edu/" TargetMode="Externa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hyperlink" Target="http://cs224w.stanford.edu/" TargetMode="External"/><Relationship Id="rId5" Type="http://schemas.openxmlformats.org/officeDocument/2006/relationships/image" Target="../media/image48.jpg"/><Relationship Id="rId6" Type="http://schemas.openxmlformats.org/officeDocument/2006/relationships/image" Target="../media/image49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0.png"/><Relationship Id="rId3" Type="http://schemas.openxmlformats.org/officeDocument/2006/relationships/hyperlink" Target="http://cs224w.stanford.edu/" TargetMode="Externa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hyperlink" Target="http://cs224w.stanford.edu/" TargetMode="Externa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hyperlink" Target="http://cs224w.stanford.edu/" TargetMode="Externa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hyperlink" Target="http://cs224w.stanford.edu/" TargetMode="Externa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hyperlink" Target="http://cs224w.stanford.edu/" TargetMode="Externa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hyperlink" Target="http://cs224w.stanford.edu/" TargetMode="Externa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hyperlink" Target="http://cs224w.stanford.edu/" TargetMode="Externa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hyperlink" Target="http://cs224w.stanford.edu/" TargetMode="Externa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hyperlink" Target="http://cs224w.stanford.edu/" TargetMode="Externa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hyperlink" Target="http://cs224w.stanford.edu/" TargetMode="Externa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hyperlink" Target="http://cs224w.stanford.edu/" TargetMode="Externa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hyperlink" Target="http://cs224w.stanford.edu/" TargetMode="Externa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hyperlink" Target="http://cs224w.stanford.edu/" TargetMode="Externa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hyperlink" Target="http://cs224w.stanford.edu/" TargetMode="Externa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8.png"/><Relationship Id="rId3" Type="http://schemas.openxmlformats.org/officeDocument/2006/relationships/hyperlink" Target="http://cs224w.stanford.edu/" TargetMode="Externa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hyperlink" Target="http://cs224w.stanford.edu/" TargetMode="Externa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hyperlink" Target="http://cs224w.stanford.edu/" TargetMode="Externa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hyperlink" Target="http://cs224w.stanford.edu/" TargetMode="Externa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hyperlink" Target="http://cs224w.stanford.edu/" TargetMode="Externa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hyperlink" Target="http://cs224w.stanford.edu/" TargetMode="Externa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hyperlink" Target="http://cs224w.stanford.edu/" TargetMode="Externa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3" Type="http://schemas.openxmlformats.org/officeDocument/2006/relationships/hyperlink" Target="http://cs224w.stanford.edu/" TargetMode="Externa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hyperlink" Target="http://cs224w.stanford.edu/" TargetMode="Externa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hyperlink" Target="http://cs224w.stanford.edu/" TargetMode="Externa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hyperlink" Target="http://cs224w.stanford.edu/" TargetMode="Externa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openxmlformats.org/officeDocument/2006/relationships/hyperlink" Target="http://cs224w.stanford.edu/" TargetMode="Externa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3" Type="http://schemas.openxmlformats.org/officeDocument/2006/relationships/hyperlink" Target="http://cs224w.stanford.edu/" TargetMode="Externa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1.png"/><Relationship Id="rId3" Type="http://schemas.openxmlformats.org/officeDocument/2006/relationships/hyperlink" Target="http://cs224w.stanford.edu/" TargetMode="Externa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3" Type="http://schemas.openxmlformats.org/officeDocument/2006/relationships/hyperlink" Target="http://cs224w.stanford.edu/" TargetMode="Externa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openxmlformats.org/officeDocument/2006/relationships/hyperlink" Target="http://cs224w.stanford.edu/" TargetMode="Externa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3" Type="http://schemas.openxmlformats.org/officeDocument/2006/relationships/hyperlink" Target="http://cs224w.stanford.edu/" TargetMode="Externa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hyperlink" Target="http://cs224w.stanford.edu/" TargetMode="Externa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hyperlink" Target="http://cs224w.stanford.edu/" TargetMode="Externa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3" Type="http://schemas.openxmlformats.org/officeDocument/2006/relationships/hyperlink" Target="http://cs224w.stanford.edu/" TargetMode="Externa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8.png"/><Relationship Id="rId3" Type="http://schemas.openxmlformats.org/officeDocument/2006/relationships/hyperlink" Target="http://cs224w.stanford.edu/" TargetMode="Externa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9.png"/><Relationship Id="rId3" Type="http://schemas.openxmlformats.org/officeDocument/2006/relationships/hyperlink" Target="http://cs224w.stanford.edu/" TargetMode="Externa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0.png"/><Relationship Id="rId3" Type="http://schemas.openxmlformats.org/officeDocument/2006/relationships/hyperlink" Target="http://cs224w.stanford.edu/" TargetMode="External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hyperlink" Target="http://cs224w.stanford.edu/" TargetMode="External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2.png"/><Relationship Id="rId3" Type="http://schemas.openxmlformats.org/officeDocument/2006/relationships/hyperlink" Target="http://cs224w.stanford.edu/" TargetMode="Externa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3.png"/><Relationship Id="rId3" Type="http://schemas.openxmlformats.org/officeDocument/2006/relationships/hyperlink" Target="http://cs224w.stanford.edu/" TargetMode="Externa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4.png"/><Relationship Id="rId3" Type="http://schemas.openxmlformats.org/officeDocument/2006/relationships/hyperlink" Target="http://cs224w.stanford.edu/" TargetMode="External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3" Type="http://schemas.openxmlformats.org/officeDocument/2006/relationships/hyperlink" Target="http://cs224w.stanford.edu/" TargetMode="External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6.png"/><Relationship Id="rId3" Type="http://schemas.openxmlformats.org/officeDocument/2006/relationships/hyperlink" Target="http://cs224w.stanford.edu/" TargetMode="External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3" Type="http://schemas.openxmlformats.org/officeDocument/2006/relationships/image" Target="../media/image98.jpg"/><Relationship Id="rId4" Type="http://schemas.openxmlformats.org/officeDocument/2006/relationships/hyperlink" Target="http://cs224w.stanford.edu/" TargetMode="External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9.png"/><Relationship Id="rId3" Type="http://schemas.openxmlformats.org/officeDocument/2006/relationships/image" Target="../media/image100.jpg"/><Relationship Id="rId4" Type="http://schemas.openxmlformats.org/officeDocument/2006/relationships/hyperlink" Target="http://cs224w.stanford.edu/" TargetMode="External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jpg"/><Relationship Id="rId3" Type="http://schemas.openxmlformats.org/officeDocument/2006/relationships/image" Target="../media/image102.png"/><Relationship Id="rId4" Type="http://schemas.openxmlformats.org/officeDocument/2006/relationships/hyperlink" Target="http://cs224w.stanford.edu/" TargetMode="External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.jpg"/><Relationship Id="rId3" Type="http://schemas.openxmlformats.org/officeDocument/2006/relationships/image" Target="../media/image104.png"/><Relationship Id="rId4" Type="http://schemas.openxmlformats.org/officeDocument/2006/relationships/hyperlink" Target="http://cs224w.stanford.edu/" TargetMode="External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5.png"/><Relationship Id="rId3" Type="http://schemas.openxmlformats.org/officeDocument/2006/relationships/image" Target="../media/image106.jpg"/><Relationship Id="rId4" Type="http://schemas.openxmlformats.org/officeDocument/2006/relationships/hyperlink" Target="http://cs224w.stanford.edu/" TargetMode="External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Relationship Id="rId3" Type="http://schemas.openxmlformats.org/officeDocument/2006/relationships/image" Target="../media/image108.jpg"/><Relationship Id="rId4" Type="http://schemas.openxmlformats.org/officeDocument/2006/relationships/hyperlink" Target="http://cs224w.stanford.edu/" TargetMode="External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9.png"/><Relationship Id="rId3" Type="http://schemas.openxmlformats.org/officeDocument/2006/relationships/image" Target="../media/image110.jpg"/><Relationship Id="rId4" Type="http://schemas.openxmlformats.org/officeDocument/2006/relationships/hyperlink" Target="http://cs224w.stanford.edu/" TargetMode="External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png"/><Relationship Id="rId3" Type="http://schemas.openxmlformats.org/officeDocument/2006/relationships/hyperlink" Target="http://cs224w.stanford.edu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8576" y="2971800"/>
            <a:ext cx="6428232" cy="20421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64159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2166" y="1348740"/>
            <a:ext cx="831469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 i="0">
                <a:latin typeface="Calibri"/>
                <a:cs typeface="Calibri"/>
              </a:rPr>
              <a:t>Given </a:t>
            </a:r>
            <a:r>
              <a:rPr dirty="0" sz="3200" spc="-5" b="1" i="0">
                <a:latin typeface="Calibri"/>
                <a:cs typeface="Calibri"/>
              </a:rPr>
              <a:t>an enormous </a:t>
            </a:r>
            <a:r>
              <a:rPr dirty="0" sz="3200" spc="-45" b="1" i="0">
                <a:latin typeface="Calibri"/>
                <a:cs typeface="Calibri"/>
              </a:rPr>
              <a:t>KG, </a:t>
            </a:r>
            <a:r>
              <a:rPr dirty="0" sz="3200" spc="-15" b="1" i="0">
                <a:latin typeface="Calibri"/>
                <a:cs typeface="Calibri"/>
              </a:rPr>
              <a:t>can we complete </a:t>
            </a:r>
            <a:r>
              <a:rPr dirty="0" sz="3200" spc="-5" b="1" i="0">
                <a:latin typeface="Calibri"/>
                <a:cs typeface="Calibri"/>
              </a:rPr>
              <a:t>the</a:t>
            </a:r>
            <a:r>
              <a:rPr dirty="0" sz="3200" spc="60" b="1" i="0">
                <a:latin typeface="Calibri"/>
                <a:cs typeface="Calibri"/>
              </a:rPr>
              <a:t> </a:t>
            </a:r>
            <a:r>
              <a:rPr dirty="0" sz="3200" spc="-50" b="1" i="0">
                <a:latin typeface="Calibri"/>
                <a:cs typeface="Calibri"/>
              </a:rPr>
              <a:t>KG?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41895" y="3832979"/>
            <a:ext cx="352425" cy="347980"/>
          </a:xfrm>
          <a:custGeom>
            <a:avLst/>
            <a:gdLst/>
            <a:ahLst/>
            <a:cxnLst/>
            <a:rect l="l" t="t" r="r" b="b"/>
            <a:pathLst>
              <a:path w="352425" h="347979">
                <a:moveTo>
                  <a:pt x="37800" y="236520"/>
                </a:moveTo>
                <a:lnTo>
                  <a:pt x="0" y="347396"/>
                </a:lnTo>
                <a:lnTo>
                  <a:pt x="111380" y="311110"/>
                </a:lnTo>
                <a:lnTo>
                  <a:pt x="103913" y="303541"/>
                </a:lnTo>
                <a:lnTo>
                  <a:pt x="62039" y="303541"/>
                </a:lnTo>
                <a:lnTo>
                  <a:pt x="55477" y="302217"/>
                </a:lnTo>
                <a:lnTo>
                  <a:pt x="49726" y="298342"/>
                </a:lnTo>
                <a:lnTo>
                  <a:pt x="45930" y="292539"/>
                </a:lnTo>
                <a:lnTo>
                  <a:pt x="44696" y="285960"/>
                </a:lnTo>
                <a:lnTo>
                  <a:pt x="46019" y="279397"/>
                </a:lnTo>
                <a:lnTo>
                  <a:pt x="49895" y="273647"/>
                </a:lnTo>
                <a:lnTo>
                  <a:pt x="62327" y="261384"/>
                </a:lnTo>
                <a:lnTo>
                  <a:pt x="37800" y="236520"/>
                </a:lnTo>
                <a:close/>
              </a:path>
              <a:path w="352425" h="347979">
                <a:moveTo>
                  <a:pt x="62327" y="261384"/>
                </a:moveTo>
                <a:lnTo>
                  <a:pt x="49895" y="273647"/>
                </a:lnTo>
                <a:lnTo>
                  <a:pt x="46019" y="279397"/>
                </a:lnTo>
                <a:lnTo>
                  <a:pt x="44696" y="285960"/>
                </a:lnTo>
                <a:lnTo>
                  <a:pt x="45930" y="292539"/>
                </a:lnTo>
                <a:lnTo>
                  <a:pt x="49726" y="298342"/>
                </a:lnTo>
                <a:lnTo>
                  <a:pt x="55477" y="302217"/>
                </a:lnTo>
                <a:lnTo>
                  <a:pt x="62039" y="303541"/>
                </a:lnTo>
                <a:lnTo>
                  <a:pt x="68619" y="302307"/>
                </a:lnTo>
                <a:lnTo>
                  <a:pt x="74422" y="298511"/>
                </a:lnTo>
                <a:lnTo>
                  <a:pt x="86853" y="286247"/>
                </a:lnTo>
                <a:lnTo>
                  <a:pt x="62327" y="261384"/>
                </a:lnTo>
                <a:close/>
              </a:path>
              <a:path w="352425" h="347979">
                <a:moveTo>
                  <a:pt x="86853" y="286247"/>
                </a:moveTo>
                <a:lnTo>
                  <a:pt x="74422" y="298511"/>
                </a:lnTo>
                <a:lnTo>
                  <a:pt x="68619" y="302307"/>
                </a:lnTo>
                <a:lnTo>
                  <a:pt x="62039" y="303541"/>
                </a:lnTo>
                <a:lnTo>
                  <a:pt x="103913" y="303541"/>
                </a:lnTo>
                <a:lnTo>
                  <a:pt x="86853" y="286247"/>
                </a:lnTo>
                <a:close/>
              </a:path>
              <a:path w="352425" h="347979">
                <a:moveTo>
                  <a:pt x="334583" y="0"/>
                </a:moveTo>
                <a:lnTo>
                  <a:pt x="328004" y="1233"/>
                </a:lnTo>
                <a:lnTo>
                  <a:pt x="322201" y="5029"/>
                </a:lnTo>
                <a:lnTo>
                  <a:pt x="62327" y="261384"/>
                </a:lnTo>
                <a:lnTo>
                  <a:pt x="86853" y="286247"/>
                </a:lnTo>
                <a:lnTo>
                  <a:pt x="346727" y="29893"/>
                </a:lnTo>
                <a:lnTo>
                  <a:pt x="350603" y="24143"/>
                </a:lnTo>
                <a:lnTo>
                  <a:pt x="351926" y="17580"/>
                </a:lnTo>
                <a:lnTo>
                  <a:pt x="350693" y="11001"/>
                </a:lnTo>
                <a:lnTo>
                  <a:pt x="346896" y="5198"/>
                </a:lnTo>
                <a:lnTo>
                  <a:pt x="341146" y="1323"/>
                </a:lnTo>
                <a:lnTo>
                  <a:pt x="334583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516776" y="3175507"/>
            <a:ext cx="1553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D60093"/>
                </a:solidFill>
                <a:latin typeface="Calibri"/>
                <a:cs typeface="Calibri"/>
              </a:rPr>
              <a:t>missing</a:t>
            </a:r>
            <a:r>
              <a:rPr dirty="0" sz="1800" spc="-4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D60093"/>
                </a:solidFill>
                <a:latin typeface="Calibri"/>
                <a:cs typeface="Calibri"/>
              </a:rPr>
              <a:t>relation: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15124" y="3443732"/>
            <a:ext cx="5568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D60093"/>
                </a:solidFill>
                <a:latin typeface="Calibri"/>
                <a:cs typeface="Calibri"/>
              </a:rPr>
              <a:t>g</a:t>
            </a:r>
            <a:r>
              <a:rPr dirty="0" sz="1800">
                <a:solidFill>
                  <a:srgbClr val="D60093"/>
                </a:solidFill>
                <a:latin typeface="Calibri"/>
                <a:cs typeface="Calibri"/>
              </a:rPr>
              <a:t>en</a:t>
            </a:r>
            <a:r>
              <a:rPr dirty="0" sz="1800" spc="-30">
                <a:solidFill>
                  <a:srgbClr val="D60093"/>
                </a:solidFill>
                <a:latin typeface="Calibri"/>
                <a:cs typeface="Calibri"/>
              </a:rPr>
              <a:t>r</a:t>
            </a:r>
            <a:r>
              <a:rPr dirty="0" sz="1800">
                <a:solidFill>
                  <a:srgbClr val="D60093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54915" y="4336229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136791" y="0"/>
                </a:moveTo>
                <a:lnTo>
                  <a:pt x="93554" y="6976"/>
                </a:lnTo>
                <a:lnTo>
                  <a:pt x="56004" y="26404"/>
                </a:lnTo>
                <a:lnTo>
                  <a:pt x="26392" y="56027"/>
                </a:lnTo>
                <a:lnTo>
                  <a:pt x="6973" y="93594"/>
                </a:lnTo>
                <a:lnTo>
                  <a:pt x="0" y="136848"/>
                </a:lnTo>
                <a:lnTo>
                  <a:pt x="6973" y="180103"/>
                </a:lnTo>
                <a:lnTo>
                  <a:pt x="26392" y="217670"/>
                </a:lnTo>
                <a:lnTo>
                  <a:pt x="56004" y="247294"/>
                </a:lnTo>
                <a:lnTo>
                  <a:pt x="93554" y="266721"/>
                </a:lnTo>
                <a:lnTo>
                  <a:pt x="136791" y="273697"/>
                </a:lnTo>
                <a:lnTo>
                  <a:pt x="180028" y="266721"/>
                </a:lnTo>
                <a:lnTo>
                  <a:pt x="217578" y="247294"/>
                </a:lnTo>
                <a:lnTo>
                  <a:pt x="247189" y="217670"/>
                </a:lnTo>
                <a:lnTo>
                  <a:pt x="266608" y="180103"/>
                </a:lnTo>
                <a:lnTo>
                  <a:pt x="273582" y="136848"/>
                </a:lnTo>
                <a:lnTo>
                  <a:pt x="266608" y="93594"/>
                </a:lnTo>
                <a:lnTo>
                  <a:pt x="247189" y="56027"/>
                </a:lnTo>
                <a:lnTo>
                  <a:pt x="217578" y="26404"/>
                </a:lnTo>
                <a:lnTo>
                  <a:pt x="180028" y="6976"/>
                </a:lnTo>
                <a:lnTo>
                  <a:pt x="13679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954915" y="4336229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0" y="136849"/>
                </a:moveTo>
                <a:lnTo>
                  <a:pt x="6973" y="93594"/>
                </a:lnTo>
                <a:lnTo>
                  <a:pt x="26392" y="56027"/>
                </a:lnTo>
                <a:lnTo>
                  <a:pt x="56004" y="26403"/>
                </a:lnTo>
                <a:lnTo>
                  <a:pt x="93554" y="6976"/>
                </a:lnTo>
                <a:lnTo>
                  <a:pt x="136791" y="0"/>
                </a:lnTo>
                <a:lnTo>
                  <a:pt x="180027" y="6976"/>
                </a:lnTo>
                <a:lnTo>
                  <a:pt x="217577" y="26403"/>
                </a:lnTo>
                <a:lnTo>
                  <a:pt x="247189" y="56027"/>
                </a:lnTo>
                <a:lnTo>
                  <a:pt x="266608" y="93594"/>
                </a:lnTo>
                <a:lnTo>
                  <a:pt x="273582" y="136849"/>
                </a:lnTo>
                <a:lnTo>
                  <a:pt x="266608" y="180103"/>
                </a:lnTo>
                <a:lnTo>
                  <a:pt x="247189" y="217670"/>
                </a:lnTo>
                <a:lnTo>
                  <a:pt x="217577" y="247294"/>
                </a:lnTo>
                <a:lnTo>
                  <a:pt x="180027" y="266721"/>
                </a:lnTo>
                <a:lnTo>
                  <a:pt x="136791" y="273698"/>
                </a:lnTo>
                <a:lnTo>
                  <a:pt x="93554" y="266721"/>
                </a:lnTo>
                <a:lnTo>
                  <a:pt x="56004" y="247294"/>
                </a:lnTo>
                <a:lnTo>
                  <a:pt x="26392" y="217670"/>
                </a:lnTo>
                <a:lnTo>
                  <a:pt x="6973" y="180103"/>
                </a:lnTo>
                <a:lnTo>
                  <a:pt x="0" y="136849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36409" y="3093162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4" h="274320">
                <a:moveTo>
                  <a:pt x="136791" y="0"/>
                </a:moveTo>
                <a:lnTo>
                  <a:pt x="93555" y="6976"/>
                </a:lnTo>
                <a:lnTo>
                  <a:pt x="56004" y="26404"/>
                </a:lnTo>
                <a:lnTo>
                  <a:pt x="26393" y="56027"/>
                </a:lnTo>
                <a:lnTo>
                  <a:pt x="6973" y="93594"/>
                </a:lnTo>
                <a:lnTo>
                  <a:pt x="0" y="136848"/>
                </a:lnTo>
                <a:lnTo>
                  <a:pt x="6973" y="180104"/>
                </a:lnTo>
                <a:lnTo>
                  <a:pt x="26393" y="217670"/>
                </a:lnTo>
                <a:lnTo>
                  <a:pt x="56004" y="247294"/>
                </a:lnTo>
                <a:lnTo>
                  <a:pt x="93555" y="266722"/>
                </a:lnTo>
                <a:lnTo>
                  <a:pt x="136791" y="273698"/>
                </a:lnTo>
                <a:lnTo>
                  <a:pt x="180028" y="266722"/>
                </a:lnTo>
                <a:lnTo>
                  <a:pt x="217578" y="247294"/>
                </a:lnTo>
                <a:lnTo>
                  <a:pt x="247189" y="217670"/>
                </a:lnTo>
                <a:lnTo>
                  <a:pt x="266608" y="180104"/>
                </a:lnTo>
                <a:lnTo>
                  <a:pt x="273582" y="136848"/>
                </a:lnTo>
                <a:lnTo>
                  <a:pt x="266608" y="93594"/>
                </a:lnTo>
                <a:lnTo>
                  <a:pt x="247189" y="56027"/>
                </a:lnTo>
                <a:lnTo>
                  <a:pt x="217578" y="26404"/>
                </a:lnTo>
                <a:lnTo>
                  <a:pt x="180028" y="6976"/>
                </a:lnTo>
                <a:lnTo>
                  <a:pt x="136791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536409" y="3093162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4" h="274320">
                <a:moveTo>
                  <a:pt x="0" y="136849"/>
                </a:moveTo>
                <a:lnTo>
                  <a:pt x="6973" y="93594"/>
                </a:lnTo>
                <a:lnTo>
                  <a:pt x="26392" y="56027"/>
                </a:lnTo>
                <a:lnTo>
                  <a:pt x="56004" y="26403"/>
                </a:lnTo>
                <a:lnTo>
                  <a:pt x="93554" y="6976"/>
                </a:lnTo>
                <a:lnTo>
                  <a:pt x="136791" y="0"/>
                </a:lnTo>
                <a:lnTo>
                  <a:pt x="180027" y="6976"/>
                </a:lnTo>
                <a:lnTo>
                  <a:pt x="217577" y="26403"/>
                </a:lnTo>
                <a:lnTo>
                  <a:pt x="247189" y="56027"/>
                </a:lnTo>
                <a:lnTo>
                  <a:pt x="266608" y="93594"/>
                </a:lnTo>
                <a:lnTo>
                  <a:pt x="273582" y="136849"/>
                </a:lnTo>
                <a:lnTo>
                  <a:pt x="266608" y="180103"/>
                </a:lnTo>
                <a:lnTo>
                  <a:pt x="247189" y="217670"/>
                </a:lnTo>
                <a:lnTo>
                  <a:pt x="217577" y="247294"/>
                </a:lnTo>
                <a:lnTo>
                  <a:pt x="180027" y="266721"/>
                </a:lnTo>
                <a:lnTo>
                  <a:pt x="136791" y="273698"/>
                </a:lnTo>
                <a:lnTo>
                  <a:pt x="93554" y="266721"/>
                </a:lnTo>
                <a:lnTo>
                  <a:pt x="56004" y="247294"/>
                </a:lnTo>
                <a:lnTo>
                  <a:pt x="26392" y="217670"/>
                </a:lnTo>
                <a:lnTo>
                  <a:pt x="6973" y="180103"/>
                </a:lnTo>
                <a:lnTo>
                  <a:pt x="0" y="136849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833365" y="5410264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4" h="274320">
                <a:moveTo>
                  <a:pt x="136790" y="0"/>
                </a:moveTo>
                <a:lnTo>
                  <a:pt x="93554" y="6976"/>
                </a:lnTo>
                <a:lnTo>
                  <a:pt x="56003" y="26404"/>
                </a:lnTo>
                <a:lnTo>
                  <a:pt x="26392" y="56027"/>
                </a:lnTo>
                <a:lnTo>
                  <a:pt x="6973" y="93594"/>
                </a:lnTo>
                <a:lnTo>
                  <a:pt x="0" y="136848"/>
                </a:lnTo>
                <a:lnTo>
                  <a:pt x="6973" y="180103"/>
                </a:lnTo>
                <a:lnTo>
                  <a:pt x="26392" y="217670"/>
                </a:lnTo>
                <a:lnTo>
                  <a:pt x="56003" y="247294"/>
                </a:lnTo>
                <a:lnTo>
                  <a:pt x="93554" y="266721"/>
                </a:lnTo>
                <a:lnTo>
                  <a:pt x="136790" y="273698"/>
                </a:lnTo>
                <a:lnTo>
                  <a:pt x="180027" y="266721"/>
                </a:lnTo>
                <a:lnTo>
                  <a:pt x="217578" y="247294"/>
                </a:lnTo>
                <a:lnTo>
                  <a:pt x="247189" y="217670"/>
                </a:lnTo>
                <a:lnTo>
                  <a:pt x="266608" y="180103"/>
                </a:lnTo>
                <a:lnTo>
                  <a:pt x="273582" y="136848"/>
                </a:lnTo>
                <a:lnTo>
                  <a:pt x="266608" y="93594"/>
                </a:lnTo>
                <a:lnTo>
                  <a:pt x="247189" y="56027"/>
                </a:lnTo>
                <a:lnTo>
                  <a:pt x="217578" y="26404"/>
                </a:lnTo>
                <a:lnTo>
                  <a:pt x="180027" y="6976"/>
                </a:lnTo>
                <a:lnTo>
                  <a:pt x="13679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833365" y="5410264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4" h="274320">
                <a:moveTo>
                  <a:pt x="0" y="136849"/>
                </a:moveTo>
                <a:lnTo>
                  <a:pt x="6973" y="93594"/>
                </a:lnTo>
                <a:lnTo>
                  <a:pt x="26392" y="56027"/>
                </a:lnTo>
                <a:lnTo>
                  <a:pt x="56004" y="26403"/>
                </a:lnTo>
                <a:lnTo>
                  <a:pt x="93554" y="6976"/>
                </a:lnTo>
                <a:lnTo>
                  <a:pt x="136791" y="0"/>
                </a:lnTo>
                <a:lnTo>
                  <a:pt x="180027" y="6976"/>
                </a:lnTo>
                <a:lnTo>
                  <a:pt x="217577" y="26403"/>
                </a:lnTo>
                <a:lnTo>
                  <a:pt x="247189" y="56027"/>
                </a:lnTo>
                <a:lnTo>
                  <a:pt x="266608" y="93594"/>
                </a:lnTo>
                <a:lnTo>
                  <a:pt x="273582" y="136849"/>
                </a:lnTo>
                <a:lnTo>
                  <a:pt x="266608" y="180103"/>
                </a:lnTo>
                <a:lnTo>
                  <a:pt x="247189" y="217670"/>
                </a:lnTo>
                <a:lnTo>
                  <a:pt x="217577" y="247294"/>
                </a:lnTo>
                <a:lnTo>
                  <a:pt x="180027" y="266721"/>
                </a:lnTo>
                <a:lnTo>
                  <a:pt x="136791" y="273698"/>
                </a:lnTo>
                <a:lnTo>
                  <a:pt x="93554" y="266721"/>
                </a:lnTo>
                <a:lnTo>
                  <a:pt x="56004" y="247294"/>
                </a:lnTo>
                <a:lnTo>
                  <a:pt x="26392" y="217670"/>
                </a:lnTo>
                <a:lnTo>
                  <a:pt x="6973" y="180103"/>
                </a:lnTo>
                <a:lnTo>
                  <a:pt x="0" y="136849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066709" y="5410264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136790" y="0"/>
                </a:moveTo>
                <a:lnTo>
                  <a:pt x="93554" y="6976"/>
                </a:lnTo>
                <a:lnTo>
                  <a:pt x="56003" y="26404"/>
                </a:lnTo>
                <a:lnTo>
                  <a:pt x="26392" y="56027"/>
                </a:lnTo>
                <a:lnTo>
                  <a:pt x="6973" y="93594"/>
                </a:lnTo>
                <a:lnTo>
                  <a:pt x="0" y="136848"/>
                </a:lnTo>
                <a:lnTo>
                  <a:pt x="6973" y="180103"/>
                </a:lnTo>
                <a:lnTo>
                  <a:pt x="26392" y="217670"/>
                </a:lnTo>
                <a:lnTo>
                  <a:pt x="56003" y="247294"/>
                </a:lnTo>
                <a:lnTo>
                  <a:pt x="93554" y="266721"/>
                </a:lnTo>
                <a:lnTo>
                  <a:pt x="136790" y="273698"/>
                </a:lnTo>
                <a:lnTo>
                  <a:pt x="180027" y="266721"/>
                </a:lnTo>
                <a:lnTo>
                  <a:pt x="217578" y="247294"/>
                </a:lnTo>
                <a:lnTo>
                  <a:pt x="247189" y="217670"/>
                </a:lnTo>
                <a:lnTo>
                  <a:pt x="266608" y="180103"/>
                </a:lnTo>
                <a:lnTo>
                  <a:pt x="273582" y="136848"/>
                </a:lnTo>
                <a:lnTo>
                  <a:pt x="266608" y="93594"/>
                </a:lnTo>
                <a:lnTo>
                  <a:pt x="247189" y="56027"/>
                </a:lnTo>
                <a:lnTo>
                  <a:pt x="217578" y="26404"/>
                </a:lnTo>
                <a:lnTo>
                  <a:pt x="180027" y="6976"/>
                </a:lnTo>
                <a:lnTo>
                  <a:pt x="13679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066709" y="5410264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0" y="136849"/>
                </a:moveTo>
                <a:lnTo>
                  <a:pt x="6973" y="93594"/>
                </a:lnTo>
                <a:lnTo>
                  <a:pt x="26392" y="56027"/>
                </a:lnTo>
                <a:lnTo>
                  <a:pt x="56004" y="26403"/>
                </a:lnTo>
                <a:lnTo>
                  <a:pt x="93554" y="6976"/>
                </a:lnTo>
                <a:lnTo>
                  <a:pt x="136791" y="0"/>
                </a:lnTo>
                <a:lnTo>
                  <a:pt x="180027" y="6976"/>
                </a:lnTo>
                <a:lnTo>
                  <a:pt x="217577" y="26403"/>
                </a:lnTo>
                <a:lnTo>
                  <a:pt x="247189" y="56027"/>
                </a:lnTo>
                <a:lnTo>
                  <a:pt x="266608" y="93594"/>
                </a:lnTo>
                <a:lnTo>
                  <a:pt x="273582" y="136849"/>
                </a:lnTo>
                <a:lnTo>
                  <a:pt x="266608" y="180103"/>
                </a:lnTo>
                <a:lnTo>
                  <a:pt x="247189" y="217670"/>
                </a:lnTo>
                <a:lnTo>
                  <a:pt x="217577" y="247294"/>
                </a:lnTo>
                <a:lnTo>
                  <a:pt x="180027" y="266721"/>
                </a:lnTo>
                <a:lnTo>
                  <a:pt x="136791" y="273698"/>
                </a:lnTo>
                <a:lnTo>
                  <a:pt x="93554" y="266721"/>
                </a:lnTo>
                <a:lnTo>
                  <a:pt x="56004" y="247294"/>
                </a:lnTo>
                <a:lnTo>
                  <a:pt x="26392" y="217670"/>
                </a:lnTo>
                <a:lnTo>
                  <a:pt x="6973" y="180103"/>
                </a:lnTo>
                <a:lnTo>
                  <a:pt x="0" y="136849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909574" y="6354212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4" h="274320">
                <a:moveTo>
                  <a:pt x="136790" y="0"/>
                </a:moveTo>
                <a:lnTo>
                  <a:pt x="93554" y="6976"/>
                </a:lnTo>
                <a:lnTo>
                  <a:pt x="56003" y="26403"/>
                </a:lnTo>
                <a:lnTo>
                  <a:pt x="26392" y="56027"/>
                </a:lnTo>
                <a:lnTo>
                  <a:pt x="6973" y="93594"/>
                </a:lnTo>
                <a:lnTo>
                  <a:pt x="0" y="136848"/>
                </a:lnTo>
                <a:lnTo>
                  <a:pt x="6973" y="180103"/>
                </a:lnTo>
                <a:lnTo>
                  <a:pt x="26392" y="217670"/>
                </a:lnTo>
                <a:lnTo>
                  <a:pt x="56003" y="247294"/>
                </a:lnTo>
                <a:lnTo>
                  <a:pt x="93554" y="266721"/>
                </a:lnTo>
                <a:lnTo>
                  <a:pt x="136790" y="273697"/>
                </a:lnTo>
                <a:lnTo>
                  <a:pt x="180027" y="266721"/>
                </a:lnTo>
                <a:lnTo>
                  <a:pt x="217578" y="247294"/>
                </a:lnTo>
                <a:lnTo>
                  <a:pt x="247189" y="217670"/>
                </a:lnTo>
                <a:lnTo>
                  <a:pt x="266608" y="180103"/>
                </a:lnTo>
                <a:lnTo>
                  <a:pt x="273582" y="136848"/>
                </a:lnTo>
                <a:lnTo>
                  <a:pt x="266608" y="93594"/>
                </a:lnTo>
                <a:lnTo>
                  <a:pt x="247189" y="56027"/>
                </a:lnTo>
                <a:lnTo>
                  <a:pt x="217578" y="26403"/>
                </a:lnTo>
                <a:lnTo>
                  <a:pt x="180027" y="6976"/>
                </a:lnTo>
                <a:lnTo>
                  <a:pt x="13679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09574" y="6354212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4" h="274320">
                <a:moveTo>
                  <a:pt x="0" y="136849"/>
                </a:moveTo>
                <a:lnTo>
                  <a:pt x="6973" y="93594"/>
                </a:lnTo>
                <a:lnTo>
                  <a:pt x="26392" y="56027"/>
                </a:lnTo>
                <a:lnTo>
                  <a:pt x="56004" y="26403"/>
                </a:lnTo>
                <a:lnTo>
                  <a:pt x="93554" y="6976"/>
                </a:lnTo>
                <a:lnTo>
                  <a:pt x="136791" y="0"/>
                </a:lnTo>
                <a:lnTo>
                  <a:pt x="180027" y="6976"/>
                </a:lnTo>
                <a:lnTo>
                  <a:pt x="217577" y="26403"/>
                </a:lnTo>
                <a:lnTo>
                  <a:pt x="247189" y="56027"/>
                </a:lnTo>
                <a:lnTo>
                  <a:pt x="266608" y="93594"/>
                </a:lnTo>
                <a:lnTo>
                  <a:pt x="273582" y="136849"/>
                </a:lnTo>
                <a:lnTo>
                  <a:pt x="266608" y="180103"/>
                </a:lnTo>
                <a:lnTo>
                  <a:pt x="247189" y="217670"/>
                </a:lnTo>
                <a:lnTo>
                  <a:pt x="217577" y="247294"/>
                </a:lnTo>
                <a:lnTo>
                  <a:pt x="180027" y="266721"/>
                </a:lnTo>
                <a:lnTo>
                  <a:pt x="136791" y="273698"/>
                </a:lnTo>
                <a:lnTo>
                  <a:pt x="93554" y="266721"/>
                </a:lnTo>
                <a:lnTo>
                  <a:pt x="56004" y="247294"/>
                </a:lnTo>
                <a:lnTo>
                  <a:pt x="26392" y="217670"/>
                </a:lnTo>
                <a:lnTo>
                  <a:pt x="6973" y="180103"/>
                </a:lnTo>
                <a:lnTo>
                  <a:pt x="0" y="136849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20950" y="4870644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136791" y="0"/>
                </a:moveTo>
                <a:lnTo>
                  <a:pt x="93554" y="6976"/>
                </a:lnTo>
                <a:lnTo>
                  <a:pt x="56004" y="26404"/>
                </a:lnTo>
                <a:lnTo>
                  <a:pt x="26392" y="56027"/>
                </a:lnTo>
                <a:lnTo>
                  <a:pt x="6973" y="93594"/>
                </a:lnTo>
                <a:lnTo>
                  <a:pt x="0" y="136848"/>
                </a:lnTo>
                <a:lnTo>
                  <a:pt x="6973" y="180104"/>
                </a:lnTo>
                <a:lnTo>
                  <a:pt x="26392" y="217670"/>
                </a:lnTo>
                <a:lnTo>
                  <a:pt x="56004" y="247294"/>
                </a:lnTo>
                <a:lnTo>
                  <a:pt x="93554" y="266722"/>
                </a:lnTo>
                <a:lnTo>
                  <a:pt x="136791" y="273698"/>
                </a:lnTo>
                <a:lnTo>
                  <a:pt x="180028" y="266722"/>
                </a:lnTo>
                <a:lnTo>
                  <a:pt x="217578" y="247294"/>
                </a:lnTo>
                <a:lnTo>
                  <a:pt x="247189" y="217670"/>
                </a:lnTo>
                <a:lnTo>
                  <a:pt x="266608" y="180104"/>
                </a:lnTo>
                <a:lnTo>
                  <a:pt x="273582" y="136848"/>
                </a:lnTo>
                <a:lnTo>
                  <a:pt x="266608" y="93594"/>
                </a:lnTo>
                <a:lnTo>
                  <a:pt x="247189" y="56027"/>
                </a:lnTo>
                <a:lnTo>
                  <a:pt x="217578" y="26404"/>
                </a:lnTo>
                <a:lnTo>
                  <a:pt x="180028" y="6976"/>
                </a:lnTo>
                <a:lnTo>
                  <a:pt x="136791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220950" y="4870644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0" y="136849"/>
                </a:moveTo>
                <a:lnTo>
                  <a:pt x="6973" y="93594"/>
                </a:lnTo>
                <a:lnTo>
                  <a:pt x="26392" y="56027"/>
                </a:lnTo>
                <a:lnTo>
                  <a:pt x="56004" y="26403"/>
                </a:lnTo>
                <a:lnTo>
                  <a:pt x="93554" y="6976"/>
                </a:lnTo>
                <a:lnTo>
                  <a:pt x="136791" y="0"/>
                </a:lnTo>
                <a:lnTo>
                  <a:pt x="180027" y="6976"/>
                </a:lnTo>
                <a:lnTo>
                  <a:pt x="217577" y="26403"/>
                </a:lnTo>
                <a:lnTo>
                  <a:pt x="247189" y="56027"/>
                </a:lnTo>
                <a:lnTo>
                  <a:pt x="266608" y="93594"/>
                </a:lnTo>
                <a:lnTo>
                  <a:pt x="273582" y="136849"/>
                </a:lnTo>
                <a:lnTo>
                  <a:pt x="266608" y="180103"/>
                </a:lnTo>
                <a:lnTo>
                  <a:pt x="247189" y="217670"/>
                </a:lnTo>
                <a:lnTo>
                  <a:pt x="217577" y="247294"/>
                </a:lnTo>
                <a:lnTo>
                  <a:pt x="180027" y="266721"/>
                </a:lnTo>
                <a:lnTo>
                  <a:pt x="136791" y="273698"/>
                </a:lnTo>
                <a:lnTo>
                  <a:pt x="93554" y="266721"/>
                </a:lnTo>
                <a:lnTo>
                  <a:pt x="56004" y="247294"/>
                </a:lnTo>
                <a:lnTo>
                  <a:pt x="26392" y="217670"/>
                </a:lnTo>
                <a:lnTo>
                  <a:pt x="6973" y="180103"/>
                </a:lnTo>
                <a:lnTo>
                  <a:pt x="0" y="136849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398212" y="6204923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136791" y="0"/>
                </a:moveTo>
                <a:lnTo>
                  <a:pt x="93554" y="6976"/>
                </a:lnTo>
                <a:lnTo>
                  <a:pt x="56004" y="26403"/>
                </a:lnTo>
                <a:lnTo>
                  <a:pt x="26392" y="56027"/>
                </a:lnTo>
                <a:lnTo>
                  <a:pt x="6973" y="93594"/>
                </a:lnTo>
                <a:lnTo>
                  <a:pt x="0" y="136848"/>
                </a:lnTo>
                <a:lnTo>
                  <a:pt x="6973" y="180103"/>
                </a:lnTo>
                <a:lnTo>
                  <a:pt x="26392" y="217670"/>
                </a:lnTo>
                <a:lnTo>
                  <a:pt x="56004" y="247294"/>
                </a:lnTo>
                <a:lnTo>
                  <a:pt x="93554" y="266721"/>
                </a:lnTo>
                <a:lnTo>
                  <a:pt x="136791" y="273697"/>
                </a:lnTo>
                <a:lnTo>
                  <a:pt x="180028" y="266721"/>
                </a:lnTo>
                <a:lnTo>
                  <a:pt x="217578" y="247294"/>
                </a:lnTo>
                <a:lnTo>
                  <a:pt x="247189" y="217670"/>
                </a:lnTo>
                <a:lnTo>
                  <a:pt x="266608" y="180103"/>
                </a:lnTo>
                <a:lnTo>
                  <a:pt x="273582" y="136848"/>
                </a:lnTo>
                <a:lnTo>
                  <a:pt x="266608" y="93594"/>
                </a:lnTo>
                <a:lnTo>
                  <a:pt x="247189" y="56027"/>
                </a:lnTo>
                <a:lnTo>
                  <a:pt x="217578" y="26403"/>
                </a:lnTo>
                <a:lnTo>
                  <a:pt x="180028" y="6976"/>
                </a:lnTo>
                <a:lnTo>
                  <a:pt x="136791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98212" y="6204923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0" y="136849"/>
                </a:moveTo>
                <a:lnTo>
                  <a:pt x="6973" y="93594"/>
                </a:lnTo>
                <a:lnTo>
                  <a:pt x="26392" y="56027"/>
                </a:lnTo>
                <a:lnTo>
                  <a:pt x="56004" y="26403"/>
                </a:lnTo>
                <a:lnTo>
                  <a:pt x="93554" y="6976"/>
                </a:lnTo>
                <a:lnTo>
                  <a:pt x="136791" y="0"/>
                </a:lnTo>
                <a:lnTo>
                  <a:pt x="180027" y="6976"/>
                </a:lnTo>
                <a:lnTo>
                  <a:pt x="217577" y="26403"/>
                </a:lnTo>
                <a:lnTo>
                  <a:pt x="247189" y="56027"/>
                </a:lnTo>
                <a:lnTo>
                  <a:pt x="266608" y="93594"/>
                </a:lnTo>
                <a:lnTo>
                  <a:pt x="273582" y="136849"/>
                </a:lnTo>
                <a:lnTo>
                  <a:pt x="266608" y="180103"/>
                </a:lnTo>
                <a:lnTo>
                  <a:pt x="247189" y="217670"/>
                </a:lnTo>
                <a:lnTo>
                  <a:pt x="217577" y="247294"/>
                </a:lnTo>
                <a:lnTo>
                  <a:pt x="180027" y="266721"/>
                </a:lnTo>
                <a:lnTo>
                  <a:pt x="136791" y="273698"/>
                </a:lnTo>
                <a:lnTo>
                  <a:pt x="93554" y="266721"/>
                </a:lnTo>
                <a:lnTo>
                  <a:pt x="56004" y="247294"/>
                </a:lnTo>
                <a:lnTo>
                  <a:pt x="26392" y="217670"/>
                </a:lnTo>
                <a:lnTo>
                  <a:pt x="6973" y="180103"/>
                </a:lnTo>
                <a:lnTo>
                  <a:pt x="0" y="136849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438609" y="6204923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136791" y="0"/>
                </a:moveTo>
                <a:lnTo>
                  <a:pt x="93554" y="6976"/>
                </a:lnTo>
                <a:lnTo>
                  <a:pt x="56004" y="26403"/>
                </a:lnTo>
                <a:lnTo>
                  <a:pt x="26392" y="56027"/>
                </a:lnTo>
                <a:lnTo>
                  <a:pt x="6973" y="93594"/>
                </a:lnTo>
                <a:lnTo>
                  <a:pt x="0" y="136848"/>
                </a:lnTo>
                <a:lnTo>
                  <a:pt x="6973" y="180103"/>
                </a:lnTo>
                <a:lnTo>
                  <a:pt x="26392" y="217670"/>
                </a:lnTo>
                <a:lnTo>
                  <a:pt x="56004" y="247294"/>
                </a:lnTo>
                <a:lnTo>
                  <a:pt x="93554" y="266721"/>
                </a:lnTo>
                <a:lnTo>
                  <a:pt x="136791" y="273697"/>
                </a:lnTo>
                <a:lnTo>
                  <a:pt x="180028" y="266721"/>
                </a:lnTo>
                <a:lnTo>
                  <a:pt x="217578" y="247294"/>
                </a:lnTo>
                <a:lnTo>
                  <a:pt x="247189" y="217670"/>
                </a:lnTo>
                <a:lnTo>
                  <a:pt x="266608" y="180103"/>
                </a:lnTo>
                <a:lnTo>
                  <a:pt x="273582" y="136848"/>
                </a:lnTo>
                <a:lnTo>
                  <a:pt x="266608" y="93594"/>
                </a:lnTo>
                <a:lnTo>
                  <a:pt x="247189" y="56027"/>
                </a:lnTo>
                <a:lnTo>
                  <a:pt x="217578" y="26403"/>
                </a:lnTo>
                <a:lnTo>
                  <a:pt x="180028" y="6976"/>
                </a:lnTo>
                <a:lnTo>
                  <a:pt x="13679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438609" y="6204923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0" y="136849"/>
                </a:moveTo>
                <a:lnTo>
                  <a:pt x="6973" y="93594"/>
                </a:lnTo>
                <a:lnTo>
                  <a:pt x="26392" y="56027"/>
                </a:lnTo>
                <a:lnTo>
                  <a:pt x="56004" y="26403"/>
                </a:lnTo>
                <a:lnTo>
                  <a:pt x="93554" y="6976"/>
                </a:lnTo>
                <a:lnTo>
                  <a:pt x="136791" y="0"/>
                </a:lnTo>
                <a:lnTo>
                  <a:pt x="180027" y="6976"/>
                </a:lnTo>
                <a:lnTo>
                  <a:pt x="217577" y="26403"/>
                </a:lnTo>
                <a:lnTo>
                  <a:pt x="247189" y="56027"/>
                </a:lnTo>
                <a:lnTo>
                  <a:pt x="266608" y="93594"/>
                </a:lnTo>
                <a:lnTo>
                  <a:pt x="273582" y="136849"/>
                </a:lnTo>
                <a:lnTo>
                  <a:pt x="266608" y="180103"/>
                </a:lnTo>
                <a:lnTo>
                  <a:pt x="247189" y="217670"/>
                </a:lnTo>
                <a:lnTo>
                  <a:pt x="217577" y="247294"/>
                </a:lnTo>
                <a:lnTo>
                  <a:pt x="180027" y="266721"/>
                </a:lnTo>
                <a:lnTo>
                  <a:pt x="136791" y="273698"/>
                </a:lnTo>
                <a:lnTo>
                  <a:pt x="93554" y="266721"/>
                </a:lnTo>
                <a:lnTo>
                  <a:pt x="56004" y="247294"/>
                </a:lnTo>
                <a:lnTo>
                  <a:pt x="26392" y="217670"/>
                </a:lnTo>
                <a:lnTo>
                  <a:pt x="6973" y="180103"/>
                </a:lnTo>
                <a:lnTo>
                  <a:pt x="0" y="136849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535004" y="3445394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136790" y="0"/>
                </a:moveTo>
                <a:lnTo>
                  <a:pt x="93554" y="6976"/>
                </a:lnTo>
                <a:lnTo>
                  <a:pt x="56003" y="26404"/>
                </a:lnTo>
                <a:lnTo>
                  <a:pt x="26392" y="56027"/>
                </a:lnTo>
                <a:lnTo>
                  <a:pt x="6973" y="93594"/>
                </a:lnTo>
                <a:lnTo>
                  <a:pt x="0" y="136848"/>
                </a:lnTo>
                <a:lnTo>
                  <a:pt x="6973" y="180104"/>
                </a:lnTo>
                <a:lnTo>
                  <a:pt x="26392" y="217670"/>
                </a:lnTo>
                <a:lnTo>
                  <a:pt x="56003" y="247294"/>
                </a:lnTo>
                <a:lnTo>
                  <a:pt x="93554" y="266722"/>
                </a:lnTo>
                <a:lnTo>
                  <a:pt x="136790" y="273698"/>
                </a:lnTo>
                <a:lnTo>
                  <a:pt x="180026" y="266722"/>
                </a:lnTo>
                <a:lnTo>
                  <a:pt x="217577" y="247294"/>
                </a:lnTo>
                <a:lnTo>
                  <a:pt x="247188" y="217670"/>
                </a:lnTo>
                <a:lnTo>
                  <a:pt x="266607" y="180104"/>
                </a:lnTo>
                <a:lnTo>
                  <a:pt x="273580" y="136848"/>
                </a:lnTo>
                <a:lnTo>
                  <a:pt x="266607" y="93594"/>
                </a:lnTo>
                <a:lnTo>
                  <a:pt x="247188" y="56027"/>
                </a:lnTo>
                <a:lnTo>
                  <a:pt x="217577" y="26404"/>
                </a:lnTo>
                <a:lnTo>
                  <a:pt x="180026" y="6976"/>
                </a:lnTo>
                <a:lnTo>
                  <a:pt x="13679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535004" y="3445394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0" y="136849"/>
                </a:moveTo>
                <a:lnTo>
                  <a:pt x="6973" y="93594"/>
                </a:lnTo>
                <a:lnTo>
                  <a:pt x="26392" y="56027"/>
                </a:lnTo>
                <a:lnTo>
                  <a:pt x="56004" y="26403"/>
                </a:lnTo>
                <a:lnTo>
                  <a:pt x="93554" y="6976"/>
                </a:lnTo>
                <a:lnTo>
                  <a:pt x="136791" y="0"/>
                </a:lnTo>
                <a:lnTo>
                  <a:pt x="180027" y="6976"/>
                </a:lnTo>
                <a:lnTo>
                  <a:pt x="217577" y="26403"/>
                </a:lnTo>
                <a:lnTo>
                  <a:pt x="247189" y="56027"/>
                </a:lnTo>
                <a:lnTo>
                  <a:pt x="266608" y="93594"/>
                </a:lnTo>
                <a:lnTo>
                  <a:pt x="273582" y="136849"/>
                </a:lnTo>
                <a:lnTo>
                  <a:pt x="266608" y="180103"/>
                </a:lnTo>
                <a:lnTo>
                  <a:pt x="247189" y="217670"/>
                </a:lnTo>
                <a:lnTo>
                  <a:pt x="217577" y="247294"/>
                </a:lnTo>
                <a:lnTo>
                  <a:pt x="180027" y="266721"/>
                </a:lnTo>
                <a:lnTo>
                  <a:pt x="136791" y="273698"/>
                </a:lnTo>
                <a:lnTo>
                  <a:pt x="93554" y="266721"/>
                </a:lnTo>
                <a:lnTo>
                  <a:pt x="56004" y="247294"/>
                </a:lnTo>
                <a:lnTo>
                  <a:pt x="26392" y="217670"/>
                </a:lnTo>
                <a:lnTo>
                  <a:pt x="6973" y="180103"/>
                </a:lnTo>
                <a:lnTo>
                  <a:pt x="0" y="136849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090179" y="3310483"/>
            <a:ext cx="502920" cy="1026160"/>
          </a:xfrm>
          <a:custGeom>
            <a:avLst/>
            <a:gdLst/>
            <a:ahLst/>
            <a:cxnLst/>
            <a:rect l="l" t="t" r="r" b="b"/>
            <a:pathLst>
              <a:path w="502920" h="1026160">
                <a:moveTo>
                  <a:pt x="0" y="929914"/>
                </a:moveTo>
                <a:lnTo>
                  <a:pt x="1527" y="1025745"/>
                </a:lnTo>
                <a:lnTo>
                  <a:pt x="63574" y="977645"/>
                </a:lnTo>
                <a:lnTo>
                  <a:pt x="33380" y="977645"/>
                </a:lnTo>
                <a:lnTo>
                  <a:pt x="19154" y="970814"/>
                </a:lnTo>
                <a:lnTo>
                  <a:pt x="16156" y="962278"/>
                </a:lnTo>
                <a:lnTo>
                  <a:pt x="25758" y="942284"/>
                </a:lnTo>
                <a:lnTo>
                  <a:pt x="0" y="929914"/>
                </a:lnTo>
                <a:close/>
              </a:path>
              <a:path w="502920" h="1026160">
                <a:moveTo>
                  <a:pt x="25758" y="942284"/>
                </a:moveTo>
                <a:lnTo>
                  <a:pt x="16156" y="962278"/>
                </a:lnTo>
                <a:lnTo>
                  <a:pt x="19154" y="970814"/>
                </a:lnTo>
                <a:lnTo>
                  <a:pt x="33380" y="977645"/>
                </a:lnTo>
                <a:lnTo>
                  <a:pt x="41915" y="974648"/>
                </a:lnTo>
                <a:lnTo>
                  <a:pt x="51516" y="954654"/>
                </a:lnTo>
                <a:lnTo>
                  <a:pt x="25758" y="942284"/>
                </a:lnTo>
                <a:close/>
              </a:path>
              <a:path w="502920" h="1026160">
                <a:moveTo>
                  <a:pt x="51516" y="954654"/>
                </a:moveTo>
                <a:lnTo>
                  <a:pt x="41915" y="974648"/>
                </a:lnTo>
                <a:lnTo>
                  <a:pt x="33380" y="977645"/>
                </a:lnTo>
                <a:lnTo>
                  <a:pt x="63574" y="977645"/>
                </a:lnTo>
                <a:lnTo>
                  <a:pt x="77275" y="967024"/>
                </a:lnTo>
                <a:lnTo>
                  <a:pt x="51516" y="954654"/>
                </a:lnTo>
                <a:close/>
              </a:path>
              <a:path w="502920" h="1026160">
                <a:moveTo>
                  <a:pt x="485367" y="0"/>
                </a:moveTo>
                <a:lnTo>
                  <a:pt x="476831" y="2997"/>
                </a:lnTo>
                <a:lnTo>
                  <a:pt x="25758" y="942284"/>
                </a:lnTo>
                <a:lnTo>
                  <a:pt x="51516" y="954654"/>
                </a:lnTo>
                <a:lnTo>
                  <a:pt x="502591" y="15366"/>
                </a:lnTo>
                <a:lnTo>
                  <a:pt x="499593" y="6831"/>
                </a:lnTo>
                <a:lnTo>
                  <a:pt x="485367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672127" y="5627679"/>
            <a:ext cx="450850" cy="617855"/>
          </a:xfrm>
          <a:custGeom>
            <a:avLst/>
            <a:gdLst/>
            <a:ahLst/>
            <a:cxnLst/>
            <a:rect l="l" t="t" r="r" b="b"/>
            <a:pathLst>
              <a:path w="450850" h="617854">
                <a:moveTo>
                  <a:pt x="15495" y="522743"/>
                </a:moveTo>
                <a:lnTo>
                  <a:pt x="0" y="617326"/>
                </a:lnTo>
                <a:lnTo>
                  <a:pt x="79858" y="575637"/>
                </a:lnTo>
                <a:lnTo>
                  <a:pt x="39880" y="575637"/>
                </a:lnTo>
                <a:lnTo>
                  <a:pt x="27091" y="566390"/>
                </a:lnTo>
                <a:lnTo>
                  <a:pt x="25656" y="557459"/>
                </a:lnTo>
                <a:lnTo>
                  <a:pt x="38651" y="539487"/>
                </a:lnTo>
                <a:lnTo>
                  <a:pt x="15495" y="522743"/>
                </a:lnTo>
                <a:close/>
              </a:path>
              <a:path w="450850" h="617854">
                <a:moveTo>
                  <a:pt x="38651" y="539487"/>
                </a:moveTo>
                <a:lnTo>
                  <a:pt x="25656" y="557459"/>
                </a:lnTo>
                <a:lnTo>
                  <a:pt x="27091" y="566390"/>
                </a:lnTo>
                <a:lnTo>
                  <a:pt x="39880" y="575637"/>
                </a:lnTo>
                <a:lnTo>
                  <a:pt x="48812" y="574202"/>
                </a:lnTo>
                <a:lnTo>
                  <a:pt x="61807" y="556230"/>
                </a:lnTo>
                <a:lnTo>
                  <a:pt x="38651" y="539487"/>
                </a:lnTo>
                <a:close/>
              </a:path>
              <a:path w="450850" h="617854">
                <a:moveTo>
                  <a:pt x="61807" y="556230"/>
                </a:moveTo>
                <a:lnTo>
                  <a:pt x="48812" y="574202"/>
                </a:lnTo>
                <a:lnTo>
                  <a:pt x="39880" y="575637"/>
                </a:lnTo>
                <a:lnTo>
                  <a:pt x="79858" y="575637"/>
                </a:lnTo>
                <a:lnTo>
                  <a:pt x="84963" y="572973"/>
                </a:lnTo>
                <a:lnTo>
                  <a:pt x="61807" y="556230"/>
                </a:lnTo>
                <a:close/>
              </a:path>
              <a:path w="450850" h="617854">
                <a:moveTo>
                  <a:pt x="436624" y="0"/>
                </a:moveTo>
                <a:lnTo>
                  <a:pt x="427692" y="1435"/>
                </a:lnTo>
                <a:lnTo>
                  <a:pt x="38651" y="539487"/>
                </a:lnTo>
                <a:lnTo>
                  <a:pt x="61807" y="556230"/>
                </a:lnTo>
                <a:lnTo>
                  <a:pt x="450848" y="18178"/>
                </a:lnTo>
                <a:lnTo>
                  <a:pt x="449413" y="9246"/>
                </a:lnTo>
                <a:lnTo>
                  <a:pt x="436624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586975" y="5770513"/>
            <a:ext cx="641985" cy="307975"/>
          </a:xfrm>
          <a:custGeom>
            <a:avLst/>
            <a:gdLst/>
            <a:ahLst/>
            <a:cxnLst/>
            <a:rect l="l" t="t" r="r" b="b"/>
            <a:pathLst>
              <a:path w="641985" h="307975">
                <a:moveTo>
                  <a:pt x="0" y="0"/>
                </a:moveTo>
                <a:lnTo>
                  <a:pt x="641522" y="0"/>
                </a:lnTo>
                <a:lnTo>
                  <a:pt x="641522" y="307777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665715" y="5804915"/>
            <a:ext cx="4781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genre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026208" y="3659037"/>
            <a:ext cx="641985" cy="307975"/>
          </a:xfrm>
          <a:custGeom>
            <a:avLst/>
            <a:gdLst/>
            <a:ahLst/>
            <a:cxnLst/>
            <a:rect l="l" t="t" r="r" b="b"/>
            <a:pathLst>
              <a:path w="641984" h="307975">
                <a:moveTo>
                  <a:pt x="0" y="0"/>
                </a:moveTo>
                <a:lnTo>
                  <a:pt x="641521" y="0"/>
                </a:lnTo>
                <a:lnTo>
                  <a:pt x="641521" y="307776"/>
                </a:lnTo>
                <a:lnTo>
                  <a:pt x="0" y="3077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104948" y="3692652"/>
            <a:ext cx="4781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genre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228497" y="4473078"/>
            <a:ext cx="1621155" cy="1090930"/>
          </a:xfrm>
          <a:custGeom>
            <a:avLst/>
            <a:gdLst/>
            <a:ahLst/>
            <a:cxnLst/>
            <a:rect l="l" t="t" r="r" b="b"/>
            <a:pathLst>
              <a:path w="1621154" h="1090929">
                <a:moveTo>
                  <a:pt x="79189" y="35805"/>
                </a:moveTo>
                <a:lnTo>
                  <a:pt x="63297" y="59552"/>
                </a:lnTo>
                <a:lnTo>
                  <a:pt x="1603479" y="1090297"/>
                </a:lnTo>
                <a:lnTo>
                  <a:pt x="1612352" y="1088539"/>
                </a:lnTo>
                <a:lnTo>
                  <a:pt x="1621129" y="1075424"/>
                </a:lnTo>
                <a:lnTo>
                  <a:pt x="1619371" y="1066549"/>
                </a:lnTo>
                <a:lnTo>
                  <a:pt x="79189" y="35805"/>
                </a:lnTo>
                <a:close/>
              </a:path>
              <a:path w="1621154" h="1090929">
                <a:moveTo>
                  <a:pt x="0" y="0"/>
                </a:moveTo>
                <a:lnTo>
                  <a:pt x="47404" y="83300"/>
                </a:lnTo>
                <a:lnTo>
                  <a:pt x="63297" y="59552"/>
                </a:lnTo>
                <a:lnTo>
                  <a:pt x="44861" y="47214"/>
                </a:lnTo>
                <a:lnTo>
                  <a:pt x="43103" y="38341"/>
                </a:lnTo>
                <a:lnTo>
                  <a:pt x="51880" y="25226"/>
                </a:lnTo>
                <a:lnTo>
                  <a:pt x="60754" y="23468"/>
                </a:lnTo>
                <a:lnTo>
                  <a:pt x="87445" y="23468"/>
                </a:lnTo>
                <a:lnTo>
                  <a:pt x="95082" y="12057"/>
                </a:lnTo>
                <a:lnTo>
                  <a:pt x="0" y="0"/>
                </a:lnTo>
                <a:close/>
              </a:path>
              <a:path w="1621154" h="1090929">
                <a:moveTo>
                  <a:pt x="60754" y="23468"/>
                </a:moveTo>
                <a:lnTo>
                  <a:pt x="51880" y="25226"/>
                </a:lnTo>
                <a:lnTo>
                  <a:pt x="43103" y="38341"/>
                </a:lnTo>
                <a:lnTo>
                  <a:pt x="44861" y="47214"/>
                </a:lnTo>
                <a:lnTo>
                  <a:pt x="63297" y="59552"/>
                </a:lnTo>
                <a:lnTo>
                  <a:pt x="79189" y="35805"/>
                </a:lnTo>
                <a:lnTo>
                  <a:pt x="60754" y="23468"/>
                </a:lnTo>
                <a:close/>
              </a:path>
              <a:path w="1621154" h="1090929">
                <a:moveTo>
                  <a:pt x="87445" y="23468"/>
                </a:moveTo>
                <a:lnTo>
                  <a:pt x="60754" y="23468"/>
                </a:lnTo>
                <a:lnTo>
                  <a:pt x="79189" y="35805"/>
                </a:lnTo>
                <a:lnTo>
                  <a:pt x="87445" y="23468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634116" y="4824017"/>
            <a:ext cx="641985" cy="307975"/>
          </a:xfrm>
          <a:custGeom>
            <a:avLst/>
            <a:gdLst/>
            <a:ahLst/>
            <a:cxnLst/>
            <a:rect l="l" t="t" r="r" b="b"/>
            <a:pathLst>
              <a:path w="641984" h="307975">
                <a:moveTo>
                  <a:pt x="0" y="0"/>
                </a:moveTo>
                <a:lnTo>
                  <a:pt x="641521" y="0"/>
                </a:lnTo>
                <a:lnTo>
                  <a:pt x="641521" y="307776"/>
                </a:lnTo>
                <a:lnTo>
                  <a:pt x="0" y="3077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634116" y="4856988"/>
            <a:ext cx="6419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genre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478403" y="4462287"/>
            <a:ext cx="1477010" cy="561340"/>
          </a:xfrm>
          <a:custGeom>
            <a:avLst/>
            <a:gdLst/>
            <a:ahLst/>
            <a:cxnLst/>
            <a:rect l="l" t="t" r="r" b="b"/>
            <a:pathLst>
              <a:path w="1477010" h="561339">
                <a:moveTo>
                  <a:pt x="1391098" y="26833"/>
                </a:moveTo>
                <a:lnTo>
                  <a:pt x="3808" y="534501"/>
                </a:lnTo>
                <a:lnTo>
                  <a:pt x="0" y="542706"/>
                </a:lnTo>
                <a:lnTo>
                  <a:pt x="5424" y="557527"/>
                </a:lnTo>
                <a:lnTo>
                  <a:pt x="13629" y="561336"/>
                </a:lnTo>
                <a:lnTo>
                  <a:pt x="1400918" y="53668"/>
                </a:lnTo>
                <a:lnTo>
                  <a:pt x="1391098" y="26833"/>
                </a:lnTo>
                <a:close/>
              </a:path>
              <a:path w="1477010" h="561339">
                <a:moveTo>
                  <a:pt x="1468567" y="19211"/>
                </a:moveTo>
                <a:lnTo>
                  <a:pt x="1411928" y="19211"/>
                </a:lnTo>
                <a:lnTo>
                  <a:pt x="1420134" y="23020"/>
                </a:lnTo>
                <a:lnTo>
                  <a:pt x="1425557" y="37840"/>
                </a:lnTo>
                <a:lnTo>
                  <a:pt x="1421748" y="46046"/>
                </a:lnTo>
                <a:lnTo>
                  <a:pt x="1400918" y="53668"/>
                </a:lnTo>
                <a:lnTo>
                  <a:pt x="1410738" y="80504"/>
                </a:lnTo>
                <a:lnTo>
                  <a:pt x="1468567" y="19211"/>
                </a:lnTo>
                <a:close/>
              </a:path>
              <a:path w="1477010" h="561339">
                <a:moveTo>
                  <a:pt x="1411928" y="19211"/>
                </a:moveTo>
                <a:lnTo>
                  <a:pt x="1391098" y="26833"/>
                </a:lnTo>
                <a:lnTo>
                  <a:pt x="1400918" y="53668"/>
                </a:lnTo>
                <a:lnTo>
                  <a:pt x="1421748" y="46046"/>
                </a:lnTo>
                <a:lnTo>
                  <a:pt x="1425557" y="37840"/>
                </a:lnTo>
                <a:lnTo>
                  <a:pt x="1420134" y="23020"/>
                </a:lnTo>
                <a:lnTo>
                  <a:pt x="1411928" y="19211"/>
                </a:lnTo>
                <a:close/>
              </a:path>
              <a:path w="1477010" h="561339">
                <a:moveTo>
                  <a:pt x="1381278" y="0"/>
                </a:moveTo>
                <a:lnTo>
                  <a:pt x="1391098" y="26833"/>
                </a:lnTo>
                <a:lnTo>
                  <a:pt x="1411928" y="19211"/>
                </a:lnTo>
                <a:lnTo>
                  <a:pt x="1468567" y="19211"/>
                </a:lnTo>
                <a:lnTo>
                  <a:pt x="1476512" y="10791"/>
                </a:lnTo>
                <a:lnTo>
                  <a:pt x="1381278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635092" y="4699694"/>
            <a:ext cx="641985" cy="3079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508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55"/>
              </a:spcBef>
            </a:pPr>
            <a:r>
              <a:rPr dirty="0" sz="1400" spc="-5">
                <a:latin typeface="Arial"/>
                <a:cs typeface="Arial"/>
              </a:rPr>
              <a:t>genre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760548" y="3679011"/>
            <a:ext cx="516890" cy="1248410"/>
          </a:xfrm>
          <a:custGeom>
            <a:avLst/>
            <a:gdLst/>
            <a:ahLst/>
            <a:cxnLst/>
            <a:rect l="l" t="t" r="r" b="b"/>
            <a:pathLst>
              <a:path w="516889" h="1248410">
                <a:moveTo>
                  <a:pt x="53065" y="74293"/>
                </a:moveTo>
                <a:lnTo>
                  <a:pt x="26532" y="84902"/>
                </a:lnTo>
                <a:lnTo>
                  <a:pt x="490129" y="1244347"/>
                </a:lnTo>
                <a:lnTo>
                  <a:pt x="498444" y="1247912"/>
                </a:lnTo>
                <a:lnTo>
                  <a:pt x="513097" y="1242052"/>
                </a:lnTo>
                <a:lnTo>
                  <a:pt x="516662" y="1233737"/>
                </a:lnTo>
                <a:lnTo>
                  <a:pt x="53065" y="74293"/>
                </a:lnTo>
                <a:close/>
              </a:path>
              <a:path w="516889" h="1248410">
                <a:moveTo>
                  <a:pt x="7971" y="0"/>
                </a:moveTo>
                <a:lnTo>
                  <a:pt x="0" y="95511"/>
                </a:lnTo>
                <a:lnTo>
                  <a:pt x="26532" y="84902"/>
                </a:lnTo>
                <a:lnTo>
                  <a:pt x="18298" y="64308"/>
                </a:lnTo>
                <a:lnTo>
                  <a:pt x="21863" y="55994"/>
                </a:lnTo>
                <a:lnTo>
                  <a:pt x="36516" y="50135"/>
                </a:lnTo>
                <a:lnTo>
                  <a:pt x="64359" y="50135"/>
                </a:lnTo>
                <a:lnTo>
                  <a:pt x="7971" y="0"/>
                </a:lnTo>
                <a:close/>
              </a:path>
              <a:path w="516889" h="1248410">
                <a:moveTo>
                  <a:pt x="36516" y="50135"/>
                </a:moveTo>
                <a:lnTo>
                  <a:pt x="21863" y="55994"/>
                </a:lnTo>
                <a:lnTo>
                  <a:pt x="18298" y="64308"/>
                </a:lnTo>
                <a:lnTo>
                  <a:pt x="26532" y="84902"/>
                </a:lnTo>
                <a:lnTo>
                  <a:pt x="53065" y="74293"/>
                </a:lnTo>
                <a:lnTo>
                  <a:pt x="44830" y="53699"/>
                </a:lnTo>
                <a:lnTo>
                  <a:pt x="36516" y="50135"/>
                </a:lnTo>
                <a:close/>
              </a:path>
              <a:path w="516889" h="1248410">
                <a:moveTo>
                  <a:pt x="64359" y="50135"/>
                </a:moveTo>
                <a:lnTo>
                  <a:pt x="36516" y="50135"/>
                </a:lnTo>
                <a:lnTo>
                  <a:pt x="44830" y="53699"/>
                </a:lnTo>
                <a:lnTo>
                  <a:pt x="53065" y="74293"/>
                </a:lnTo>
                <a:lnTo>
                  <a:pt x="79597" y="63684"/>
                </a:lnTo>
                <a:lnTo>
                  <a:pt x="64359" y="50135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741652" y="4140979"/>
            <a:ext cx="641985" cy="307975"/>
          </a:xfrm>
          <a:custGeom>
            <a:avLst/>
            <a:gdLst/>
            <a:ahLst/>
            <a:cxnLst/>
            <a:rect l="l" t="t" r="r" b="b"/>
            <a:pathLst>
              <a:path w="641985" h="307975">
                <a:moveTo>
                  <a:pt x="0" y="0"/>
                </a:moveTo>
                <a:lnTo>
                  <a:pt x="641521" y="0"/>
                </a:lnTo>
                <a:lnTo>
                  <a:pt x="641521" y="307776"/>
                </a:lnTo>
                <a:lnTo>
                  <a:pt x="0" y="3077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3820392" y="4174235"/>
            <a:ext cx="4781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genre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535004" y="5087989"/>
            <a:ext cx="742315" cy="1116965"/>
          </a:xfrm>
          <a:custGeom>
            <a:avLst/>
            <a:gdLst/>
            <a:ahLst/>
            <a:cxnLst/>
            <a:rect l="l" t="t" r="r" b="b"/>
            <a:pathLst>
              <a:path w="742314" h="1116964">
                <a:moveTo>
                  <a:pt x="11421" y="1021773"/>
                </a:moveTo>
                <a:lnTo>
                  <a:pt x="0" y="1116934"/>
                </a:lnTo>
                <a:lnTo>
                  <a:pt x="75027" y="1073572"/>
                </a:lnTo>
                <a:lnTo>
                  <a:pt x="38054" y="1073572"/>
                </a:lnTo>
                <a:lnTo>
                  <a:pt x="24880" y="1064882"/>
                </a:lnTo>
                <a:lnTo>
                  <a:pt x="23063" y="1056020"/>
                </a:lnTo>
                <a:lnTo>
                  <a:pt x="35274" y="1037507"/>
                </a:lnTo>
                <a:lnTo>
                  <a:pt x="11421" y="1021773"/>
                </a:lnTo>
                <a:close/>
              </a:path>
              <a:path w="742314" h="1116964">
                <a:moveTo>
                  <a:pt x="35274" y="1037507"/>
                </a:moveTo>
                <a:lnTo>
                  <a:pt x="23063" y="1056020"/>
                </a:lnTo>
                <a:lnTo>
                  <a:pt x="24880" y="1064882"/>
                </a:lnTo>
                <a:lnTo>
                  <a:pt x="38054" y="1073572"/>
                </a:lnTo>
                <a:lnTo>
                  <a:pt x="46916" y="1071754"/>
                </a:lnTo>
                <a:lnTo>
                  <a:pt x="59127" y="1053241"/>
                </a:lnTo>
                <a:lnTo>
                  <a:pt x="35274" y="1037507"/>
                </a:lnTo>
                <a:close/>
              </a:path>
              <a:path w="742314" h="1116964">
                <a:moveTo>
                  <a:pt x="59127" y="1053241"/>
                </a:moveTo>
                <a:lnTo>
                  <a:pt x="46916" y="1071754"/>
                </a:lnTo>
                <a:lnTo>
                  <a:pt x="38054" y="1073572"/>
                </a:lnTo>
                <a:lnTo>
                  <a:pt x="75027" y="1073572"/>
                </a:lnTo>
                <a:lnTo>
                  <a:pt x="82980" y="1068975"/>
                </a:lnTo>
                <a:lnTo>
                  <a:pt x="59127" y="1053241"/>
                </a:lnTo>
                <a:close/>
              </a:path>
              <a:path w="742314" h="1116964">
                <a:moveTo>
                  <a:pt x="727290" y="0"/>
                </a:moveTo>
                <a:lnTo>
                  <a:pt x="718430" y="1817"/>
                </a:lnTo>
                <a:lnTo>
                  <a:pt x="35274" y="1037507"/>
                </a:lnTo>
                <a:lnTo>
                  <a:pt x="59127" y="1053241"/>
                </a:lnTo>
                <a:lnTo>
                  <a:pt x="742283" y="17551"/>
                </a:lnTo>
                <a:lnTo>
                  <a:pt x="740464" y="8689"/>
                </a:lnTo>
                <a:lnTo>
                  <a:pt x="72729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438729" y="5549419"/>
            <a:ext cx="911225" cy="307975"/>
          </a:xfrm>
          <a:custGeom>
            <a:avLst/>
            <a:gdLst/>
            <a:ahLst/>
            <a:cxnLst/>
            <a:rect l="l" t="t" r="r" b="b"/>
            <a:pathLst>
              <a:path w="911225" h="307975">
                <a:moveTo>
                  <a:pt x="0" y="0"/>
                </a:moveTo>
                <a:lnTo>
                  <a:pt x="910827" y="0"/>
                </a:lnTo>
                <a:lnTo>
                  <a:pt x="910827" y="307777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517469" y="5582411"/>
            <a:ext cx="7454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Inf</a:t>
            </a:r>
            <a:r>
              <a:rPr dirty="0" sz="1400">
                <a:latin typeface="Arial"/>
                <a:cs typeface="Arial"/>
              </a:rPr>
              <a:t>l</a:t>
            </a:r>
            <a:r>
              <a:rPr dirty="0" sz="1400" spc="-5">
                <a:latin typeface="Arial"/>
                <a:cs typeface="Arial"/>
              </a:rPr>
              <a:t>uen</a:t>
            </a:r>
            <a:r>
              <a:rPr dirty="0" sz="1400">
                <a:latin typeface="Arial"/>
                <a:cs typeface="Arial"/>
              </a:rPr>
              <a:t>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438600" y="5088393"/>
            <a:ext cx="1628139" cy="477520"/>
          </a:xfrm>
          <a:custGeom>
            <a:avLst/>
            <a:gdLst/>
            <a:ahLst/>
            <a:cxnLst/>
            <a:rect l="l" t="t" r="r" b="b"/>
            <a:pathLst>
              <a:path w="1628139" h="477520">
                <a:moveTo>
                  <a:pt x="1541661" y="449790"/>
                </a:moveTo>
                <a:lnTo>
                  <a:pt x="1534092" y="477346"/>
                </a:lnTo>
                <a:lnTo>
                  <a:pt x="1628109" y="458720"/>
                </a:lnTo>
                <a:lnTo>
                  <a:pt x="1624708" y="455665"/>
                </a:lnTo>
                <a:lnTo>
                  <a:pt x="1563049" y="455665"/>
                </a:lnTo>
                <a:lnTo>
                  <a:pt x="1541661" y="449790"/>
                </a:lnTo>
                <a:close/>
              </a:path>
              <a:path w="1628139" h="477520">
                <a:moveTo>
                  <a:pt x="1549230" y="422237"/>
                </a:moveTo>
                <a:lnTo>
                  <a:pt x="1541661" y="449790"/>
                </a:lnTo>
                <a:lnTo>
                  <a:pt x="1563049" y="455665"/>
                </a:lnTo>
                <a:lnTo>
                  <a:pt x="1570911" y="451192"/>
                </a:lnTo>
                <a:lnTo>
                  <a:pt x="1575092" y="435974"/>
                </a:lnTo>
                <a:lnTo>
                  <a:pt x="1570617" y="428111"/>
                </a:lnTo>
                <a:lnTo>
                  <a:pt x="1549230" y="422237"/>
                </a:lnTo>
                <a:close/>
              </a:path>
              <a:path w="1628139" h="477520">
                <a:moveTo>
                  <a:pt x="1556799" y="394682"/>
                </a:moveTo>
                <a:lnTo>
                  <a:pt x="1549230" y="422237"/>
                </a:lnTo>
                <a:lnTo>
                  <a:pt x="1570617" y="428111"/>
                </a:lnTo>
                <a:lnTo>
                  <a:pt x="1575092" y="435974"/>
                </a:lnTo>
                <a:lnTo>
                  <a:pt x="1570911" y="451192"/>
                </a:lnTo>
                <a:lnTo>
                  <a:pt x="1563049" y="455665"/>
                </a:lnTo>
                <a:lnTo>
                  <a:pt x="1624708" y="455665"/>
                </a:lnTo>
                <a:lnTo>
                  <a:pt x="1556799" y="394682"/>
                </a:lnTo>
                <a:close/>
              </a:path>
              <a:path w="1628139" h="477520">
                <a:moveTo>
                  <a:pt x="12042" y="0"/>
                </a:moveTo>
                <a:lnTo>
                  <a:pt x="4179" y="4474"/>
                </a:lnTo>
                <a:lnTo>
                  <a:pt x="0" y="19692"/>
                </a:lnTo>
                <a:lnTo>
                  <a:pt x="4474" y="27555"/>
                </a:lnTo>
                <a:lnTo>
                  <a:pt x="1541661" y="449790"/>
                </a:lnTo>
                <a:lnTo>
                  <a:pt x="1549230" y="422237"/>
                </a:lnTo>
                <a:lnTo>
                  <a:pt x="1204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4783280" y="5182510"/>
            <a:ext cx="911225" cy="3079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635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65"/>
              </a:spcBef>
            </a:pPr>
            <a:r>
              <a:rPr dirty="0" sz="1400" spc="-5">
                <a:latin typeface="Arial"/>
                <a:cs typeface="Arial"/>
              </a:rPr>
              <a:t>Influence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284259" y="5627913"/>
            <a:ext cx="665480" cy="766445"/>
          </a:xfrm>
          <a:custGeom>
            <a:avLst/>
            <a:gdLst/>
            <a:ahLst/>
            <a:cxnLst/>
            <a:rect l="l" t="t" r="r" b="b"/>
            <a:pathLst>
              <a:path w="665479" h="766445">
                <a:moveTo>
                  <a:pt x="598479" y="710908"/>
                </a:moveTo>
                <a:lnTo>
                  <a:pt x="576872" y="729608"/>
                </a:lnTo>
                <a:lnTo>
                  <a:pt x="665379" y="766381"/>
                </a:lnTo>
                <a:lnTo>
                  <a:pt x="655675" y="728330"/>
                </a:lnTo>
                <a:lnTo>
                  <a:pt x="622015" y="728330"/>
                </a:lnTo>
                <a:lnTo>
                  <a:pt x="612993" y="727679"/>
                </a:lnTo>
                <a:lnTo>
                  <a:pt x="598479" y="710908"/>
                </a:lnTo>
                <a:close/>
              </a:path>
              <a:path w="665479" h="766445">
                <a:moveTo>
                  <a:pt x="620086" y="692210"/>
                </a:moveTo>
                <a:lnTo>
                  <a:pt x="598479" y="710908"/>
                </a:lnTo>
                <a:lnTo>
                  <a:pt x="612993" y="727679"/>
                </a:lnTo>
                <a:lnTo>
                  <a:pt x="622015" y="728330"/>
                </a:lnTo>
                <a:lnTo>
                  <a:pt x="633949" y="718003"/>
                </a:lnTo>
                <a:lnTo>
                  <a:pt x="634599" y="708980"/>
                </a:lnTo>
                <a:lnTo>
                  <a:pt x="620086" y="692210"/>
                </a:lnTo>
                <a:close/>
              </a:path>
              <a:path w="665479" h="766445">
                <a:moveTo>
                  <a:pt x="641694" y="673510"/>
                </a:moveTo>
                <a:lnTo>
                  <a:pt x="620086" y="692210"/>
                </a:lnTo>
                <a:lnTo>
                  <a:pt x="634599" y="708980"/>
                </a:lnTo>
                <a:lnTo>
                  <a:pt x="633949" y="718003"/>
                </a:lnTo>
                <a:lnTo>
                  <a:pt x="622015" y="728330"/>
                </a:lnTo>
                <a:lnTo>
                  <a:pt x="655675" y="728330"/>
                </a:lnTo>
                <a:lnTo>
                  <a:pt x="641694" y="673510"/>
                </a:lnTo>
                <a:close/>
              </a:path>
              <a:path w="665479" h="766445">
                <a:moveTo>
                  <a:pt x="12584" y="0"/>
                </a:moveTo>
                <a:lnTo>
                  <a:pt x="651" y="10327"/>
                </a:lnTo>
                <a:lnTo>
                  <a:pt x="0" y="19350"/>
                </a:lnTo>
                <a:lnTo>
                  <a:pt x="598479" y="710908"/>
                </a:lnTo>
                <a:lnTo>
                  <a:pt x="620086" y="692210"/>
                </a:lnTo>
                <a:lnTo>
                  <a:pt x="21607" y="651"/>
                </a:lnTo>
                <a:lnTo>
                  <a:pt x="12584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326004" y="5504252"/>
            <a:ext cx="1507490" cy="85725"/>
          </a:xfrm>
          <a:custGeom>
            <a:avLst/>
            <a:gdLst/>
            <a:ahLst/>
            <a:cxnLst/>
            <a:rect l="l" t="t" r="r" b="b"/>
            <a:pathLst>
              <a:path w="1507490" h="85725">
                <a:moveTo>
                  <a:pt x="1421635" y="57149"/>
                </a:moveTo>
                <a:lnTo>
                  <a:pt x="1421635" y="85724"/>
                </a:lnTo>
                <a:lnTo>
                  <a:pt x="1478785" y="57149"/>
                </a:lnTo>
                <a:lnTo>
                  <a:pt x="1421635" y="57149"/>
                </a:lnTo>
                <a:close/>
              </a:path>
              <a:path w="1507490" h="85725">
                <a:moveTo>
                  <a:pt x="1421635" y="28574"/>
                </a:moveTo>
                <a:lnTo>
                  <a:pt x="1421635" y="57149"/>
                </a:lnTo>
                <a:lnTo>
                  <a:pt x="1443814" y="57148"/>
                </a:lnTo>
                <a:lnTo>
                  <a:pt x="1450210" y="50753"/>
                </a:lnTo>
                <a:lnTo>
                  <a:pt x="1450209" y="34970"/>
                </a:lnTo>
                <a:lnTo>
                  <a:pt x="1443813" y="28574"/>
                </a:lnTo>
                <a:lnTo>
                  <a:pt x="1421635" y="28574"/>
                </a:lnTo>
                <a:close/>
              </a:path>
              <a:path w="1507490" h="85725">
                <a:moveTo>
                  <a:pt x="1421635" y="0"/>
                </a:moveTo>
                <a:lnTo>
                  <a:pt x="1421635" y="28574"/>
                </a:lnTo>
                <a:lnTo>
                  <a:pt x="1435922" y="28574"/>
                </a:lnTo>
                <a:lnTo>
                  <a:pt x="1443813" y="28574"/>
                </a:lnTo>
                <a:lnTo>
                  <a:pt x="1450209" y="34970"/>
                </a:lnTo>
                <a:lnTo>
                  <a:pt x="1450210" y="50753"/>
                </a:lnTo>
                <a:lnTo>
                  <a:pt x="1443813" y="57149"/>
                </a:lnTo>
                <a:lnTo>
                  <a:pt x="1478787" y="57148"/>
                </a:lnTo>
                <a:lnTo>
                  <a:pt x="1507360" y="42862"/>
                </a:lnTo>
                <a:lnTo>
                  <a:pt x="1421635" y="0"/>
                </a:lnTo>
                <a:close/>
              </a:path>
              <a:path w="1507490" h="85725">
                <a:moveTo>
                  <a:pt x="14287" y="28573"/>
                </a:moveTo>
                <a:lnTo>
                  <a:pt x="6394" y="28574"/>
                </a:lnTo>
                <a:lnTo>
                  <a:pt x="0" y="34970"/>
                </a:lnTo>
                <a:lnTo>
                  <a:pt x="1" y="50753"/>
                </a:lnTo>
                <a:lnTo>
                  <a:pt x="6395" y="57148"/>
                </a:lnTo>
                <a:lnTo>
                  <a:pt x="1421635" y="57149"/>
                </a:lnTo>
                <a:lnTo>
                  <a:pt x="1421635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552135" y="5393225"/>
            <a:ext cx="911225" cy="307975"/>
          </a:xfrm>
          <a:custGeom>
            <a:avLst/>
            <a:gdLst/>
            <a:ahLst/>
            <a:cxnLst/>
            <a:rect l="l" t="t" r="r" b="b"/>
            <a:pathLst>
              <a:path w="911225" h="307975">
                <a:moveTo>
                  <a:pt x="0" y="0"/>
                </a:moveTo>
                <a:lnTo>
                  <a:pt x="910827" y="0"/>
                </a:lnTo>
                <a:lnTo>
                  <a:pt x="910827" y="307776"/>
                </a:lnTo>
                <a:lnTo>
                  <a:pt x="0" y="3077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6630875" y="5426964"/>
            <a:ext cx="7454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Inf</a:t>
            </a:r>
            <a:r>
              <a:rPr dirty="0" sz="1400">
                <a:latin typeface="Arial"/>
                <a:cs typeface="Arial"/>
              </a:rPr>
              <a:t>l</a:t>
            </a:r>
            <a:r>
              <a:rPr dirty="0" sz="1400" spc="-5">
                <a:latin typeface="Arial"/>
                <a:cs typeface="Arial"/>
              </a:rPr>
              <a:t>uen</a:t>
            </a:r>
            <a:r>
              <a:rPr dirty="0" sz="1400">
                <a:latin typeface="Arial"/>
                <a:cs typeface="Arial"/>
              </a:rPr>
              <a:t>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328188" y="5865197"/>
            <a:ext cx="911225" cy="307975"/>
          </a:xfrm>
          <a:custGeom>
            <a:avLst/>
            <a:gdLst/>
            <a:ahLst/>
            <a:cxnLst/>
            <a:rect l="l" t="t" r="r" b="b"/>
            <a:pathLst>
              <a:path w="911225" h="307975">
                <a:moveTo>
                  <a:pt x="0" y="0"/>
                </a:moveTo>
                <a:lnTo>
                  <a:pt x="910826" y="0"/>
                </a:lnTo>
                <a:lnTo>
                  <a:pt x="910826" y="307777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6406929" y="5899403"/>
            <a:ext cx="7454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Inf</a:t>
            </a:r>
            <a:r>
              <a:rPr dirty="0" sz="1400">
                <a:latin typeface="Arial"/>
                <a:cs typeface="Arial"/>
              </a:rPr>
              <a:t>l</a:t>
            </a:r>
            <a:r>
              <a:rPr dirty="0" sz="1400" spc="-5">
                <a:latin typeface="Arial"/>
                <a:cs typeface="Arial"/>
              </a:rPr>
              <a:t>uen</a:t>
            </a:r>
            <a:r>
              <a:rPr dirty="0" sz="1400">
                <a:latin typeface="Arial"/>
                <a:cs typeface="Arial"/>
              </a:rPr>
              <a:t>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769927" y="3326779"/>
            <a:ext cx="1216660" cy="2099945"/>
          </a:xfrm>
          <a:custGeom>
            <a:avLst/>
            <a:gdLst/>
            <a:ahLst/>
            <a:cxnLst/>
            <a:rect l="l" t="t" r="r" b="b"/>
            <a:pathLst>
              <a:path w="1216659" h="2099945">
                <a:moveTo>
                  <a:pt x="55170" y="67149"/>
                </a:moveTo>
                <a:lnTo>
                  <a:pt x="30410" y="81412"/>
                </a:lnTo>
                <a:lnTo>
                  <a:pt x="1191788" y="2097455"/>
                </a:lnTo>
                <a:lnTo>
                  <a:pt x="1200523" y="2099805"/>
                </a:lnTo>
                <a:lnTo>
                  <a:pt x="1214198" y="2091927"/>
                </a:lnTo>
                <a:lnTo>
                  <a:pt x="1216548" y="2083191"/>
                </a:lnTo>
                <a:lnTo>
                  <a:pt x="55170" y="67149"/>
                </a:lnTo>
                <a:close/>
              </a:path>
              <a:path w="1216659" h="2099945">
                <a:moveTo>
                  <a:pt x="0" y="0"/>
                </a:moveTo>
                <a:lnTo>
                  <a:pt x="5650" y="95676"/>
                </a:lnTo>
                <a:lnTo>
                  <a:pt x="30410" y="81412"/>
                </a:lnTo>
                <a:lnTo>
                  <a:pt x="19342" y="62198"/>
                </a:lnTo>
                <a:lnTo>
                  <a:pt x="21691" y="53461"/>
                </a:lnTo>
                <a:lnTo>
                  <a:pt x="35366" y="45585"/>
                </a:lnTo>
                <a:lnTo>
                  <a:pt x="68898" y="45585"/>
                </a:lnTo>
                <a:lnTo>
                  <a:pt x="0" y="0"/>
                </a:lnTo>
                <a:close/>
              </a:path>
              <a:path w="1216659" h="2099945">
                <a:moveTo>
                  <a:pt x="35366" y="45585"/>
                </a:moveTo>
                <a:lnTo>
                  <a:pt x="21691" y="53461"/>
                </a:lnTo>
                <a:lnTo>
                  <a:pt x="19342" y="62198"/>
                </a:lnTo>
                <a:lnTo>
                  <a:pt x="30410" y="81412"/>
                </a:lnTo>
                <a:lnTo>
                  <a:pt x="55170" y="67149"/>
                </a:lnTo>
                <a:lnTo>
                  <a:pt x="44102" y="47934"/>
                </a:lnTo>
                <a:lnTo>
                  <a:pt x="35366" y="45585"/>
                </a:lnTo>
                <a:close/>
              </a:path>
              <a:path w="1216659" h="2099945">
                <a:moveTo>
                  <a:pt x="68898" y="45585"/>
                </a:moveTo>
                <a:lnTo>
                  <a:pt x="35366" y="45585"/>
                </a:lnTo>
                <a:lnTo>
                  <a:pt x="44102" y="47934"/>
                </a:lnTo>
                <a:lnTo>
                  <a:pt x="55170" y="67149"/>
                </a:lnTo>
                <a:lnTo>
                  <a:pt x="79931" y="52885"/>
                </a:lnTo>
                <a:lnTo>
                  <a:pt x="68898" y="45585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6990933" y="4271733"/>
            <a:ext cx="911225" cy="3079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635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65"/>
              </a:spcBef>
            </a:pPr>
            <a:r>
              <a:rPr dirty="0" sz="1400" spc="-5">
                <a:latin typeface="Arial"/>
                <a:cs typeface="Arial"/>
              </a:rPr>
              <a:t>Influence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60620" y="1825921"/>
            <a:ext cx="7870190" cy="133477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given </a:t>
            </a:r>
            <a:r>
              <a:rPr dirty="0" sz="2800" spc="-5">
                <a:latin typeface="Calibri"/>
                <a:cs typeface="Calibri"/>
              </a:rPr>
              <a:t>(</a:t>
            </a:r>
            <a:r>
              <a:rPr dirty="0" sz="2800" spc="-5" b="1">
                <a:solidFill>
                  <a:srgbClr val="3792AA"/>
                </a:solidFill>
                <a:latin typeface="Calibri"/>
                <a:cs typeface="Calibri"/>
              </a:rPr>
              <a:t>head</a:t>
            </a:r>
            <a:r>
              <a:rPr dirty="0" sz="2800" spc="-5">
                <a:latin typeface="Calibri"/>
                <a:cs typeface="Calibri"/>
              </a:rPr>
              <a:t>, </a:t>
            </a:r>
            <a:r>
              <a:rPr dirty="0" sz="2800" spc="-10" b="1">
                <a:solidFill>
                  <a:srgbClr val="B48200"/>
                </a:solidFill>
                <a:latin typeface="Calibri"/>
                <a:cs typeface="Calibri"/>
              </a:rPr>
              <a:t>relation</a:t>
            </a:r>
            <a:r>
              <a:rPr dirty="0" sz="2800" spc="-10">
                <a:latin typeface="Calibri"/>
                <a:cs typeface="Calibri"/>
              </a:rPr>
              <a:t>),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predict </a:t>
            </a:r>
            <a:r>
              <a:rPr dirty="0" sz="2800" spc="-5">
                <a:latin typeface="Calibri"/>
                <a:cs typeface="Calibri"/>
              </a:rPr>
              <a:t>missing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90" b="1">
                <a:solidFill>
                  <a:srgbClr val="2F6231"/>
                </a:solidFill>
                <a:latin typeface="Calibri"/>
                <a:cs typeface="Calibri"/>
              </a:rPr>
              <a:t>tails</a:t>
            </a:r>
            <a:r>
              <a:rPr dirty="0" sz="2800" spc="-9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0">
                <a:latin typeface="Calibri"/>
                <a:cs typeface="Calibri"/>
              </a:rPr>
              <a:t>(Note </a:t>
            </a:r>
            <a:r>
              <a:rPr dirty="0" sz="2400" spc="-5">
                <a:latin typeface="Calibri"/>
                <a:cs typeface="Calibri"/>
              </a:rPr>
              <a:t>this is </a:t>
            </a:r>
            <a:r>
              <a:rPr dirty="0" sz="2400" spc="-10">
                <a:latin typeface="Calibri"/>
                <a:cs typeface="Calibri"/>
              </a:rPr>
              <a:t>slightly </a:t>
            </a:r>
            <a:r>
              <a:rPr dirty="0" sz="2400" spc="-20">
                <a:latin typeface="Calibri"/>
                <a:cs typeface="Calibri"/>
              </a:rPr>
              <a:t>different </a:t>
            </a:r>
            <a:r>
              <a:rPr dirty="0" sz="2400" spc="-15">
                <a:latin typeface="Calibri"/>
                <a:cs typeface="Calibri"/>
              </a:rPr>
              <a:t>from </a:t>
            </a:r>
            <a:r>
              <a:rPr dirty="0" sz="2400" spc="-5">
                <a:latin typeface="Calibri"/>
                <a:cs typeface="Calibri"/>
              </a:rPr>
              <a:t>link </a:t>
            </a:r>
            <a:r>
              <a:rPr dirty="0" sz="2400" spc="-10">
                <a:latin typeface="Calibri"/>
                <a:cs typeface="Calibri"/>
              </a:rPr>
              <a:t>prediction</a:t>
            </a:r>
            <a:r>
              <a:rPr dirty="0" sz="2400" spc="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task)</a:t>
            </a:r>
            <a:endParaRPr sz="2400">
              <a:latin typeface="Calibri"/>
              <a:cs typeface="Calibri"/>
            </a:endParaRPr>
          </a:p>
          <a:p>
            <a:pPr algn="r" marR="776605">
              <a:lnSpc>
                <a:spcPct val="100000"/>
              </a:lnSpc>
              <a:spcBef>
                <a:spcPts val="994"/>
              </a:spcBef>
            </a:pP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J.R.R</a:t>
            </a:r>
            <a:r>
              <a:rPr dirty="0" sz="1400" spc="-114">
                <a:solidFill>
                  <a:srgbClr val="3792AA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92AA"/>
                </a:solidFill>
                <a:latin typeface="Arial"/>
                <a:cs typeface="Arial"/>
              </a:rPr>
              <a:t>Tolkien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723266" y="5692140"/>
            <a:ext cx="8750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C.S.</a:t>
            </a:r>
            <a:r>
              <a:rPr dirty="0" sz="1400" spc="-75">
                <a:solidFill>
                  <a:srgbClr val="3792AA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Lewis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135928" y="5149596"/>
            <a:ext cx="1013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J.K.</a:t>
            </a:r>
            <a:r>
              <a:rPr dirty="0" sz="1400" spc="-65">
                <a:solidFill>
                  <a:srgbClr val="3792AA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Rowling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260135" y="6390132"/>
            <a:ext cx="128778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Lloyd</a:t>
            </a:r>
            <a:r>
              <a:rPr dirty="0" sz="1400" spc="-150">
                <a:solidFill>
                  <a:srgbClr val="3792AA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Alexander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002211" y="4863084"/>
            <a:ext cx="10915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Stephen</a:t>
            </a:r>
            <a:r>
              <a:rPr dirty="0" sz="1400" spc="-85">
                <a:solidFill>
                  <a:srgbClr val="3792AA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King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079474" y="6505956"/>
            <a:ext cx="7467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Alan</a:t>
            </a:r>
            <a:r>
              <a:rPr dirty="0" sz="1400" spc="-85">
                <a:solidFill>
                  <a:srgbClr val="3792AA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Poe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310461" y="3247644"/>
            <a:ext cx="12293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00B050"/>
                </a:solidFill>
                <a:latin typeface="Arial"/>
                <a:cs typeface="Arial"/>
              </a:rPr>
              <a:t>Science</a:t>
            </a:r>
            <a:r>
              <a:rPr dirty="0" sz="1400" spc="-65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00B050"/>
                </a:solidFill>
                <a:latin typeface="Arial"/>
                <a:cs typeface="Arial"/>
              </a:rPr>
              <a:t>Fiction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810902" y="4597908"/>
            <a:ext cx="6559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00B050"/>
                </a:solidFill>
                <a:latin typeface="Arial"/>
                <a:cs typeface="Arial"/>
              </a:rPr>
              <a:t>F</a:t>
            </a:r>
            <a:r>
              <a:rPr dirty="0" sz="1400" spc="-5">
                <a:solidFill>
                  <a:srgbClr val="00B050"/>
                </a:solidFill>
                <a:latin typeface="Arial"/>
                <a:cs typeface="Arial"/>
              </a:rPr>
              <a:t>anta</a:t>
            </a:r>
            <a:r>
              <a:rPr dirty="0" sz="1400">
                <a:solidFill>
                  <a:srgbClr val="00B050"/>
                </a:solidFill>
                <a:latin typeface="Arial"/>
                <a:cs typeface="Arial"/>
              </a:rPr>
              <a:t>sy</a:t>
            </a:r>
            <a:endParaRPr sz="14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037485" y="6463284"/>
            <a:ext cx="1043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60">
                <a:solidFill>
                  <a:srgbClr val="00B050"/>
                </a:solidFill>
                <a:latin typeface="Arial"/>
                <a:cs typeface="Arial"/>
              </a:rPr>
              <a:t>T</a:t>
            </a:r>
            <a:r>
              <a:rPr dirty="0" sz="1400" spc="-5">
                <a:solidFill>
                  <a:srgbClr val="00B050"/>
                </a:solidFill>
                <a:latin typeface="Arial"/>
                <a:cs typeface="Arial"/>
              </a:rPr>
              <a:t>rag</a:t>
            </a:r>
            <a:r>
              <a:rPr dirty="0" sz="1400">
                <a:solidFill>
                  <a:srgbClr val="00B050"/>
                </a:solidFill>
                <a:latin typeface="Arial"/>
                <a:cs typeface="Arial"/>
              </a:rPr>
              <a:t>ic</a:t>
            </a:r>
            <a:r>
              <a:rPr dirty="0" sz="1400" spc="-5">
                <a:solidFill>
                  <a:srgbClr val="00B050"/>
                </a:solidFill>
                <a:latin typeface="Arial"/>
                <a:cs typeface="Arial"/>
              </a:rPr>
              <a:t>omed</a:t>
            </a:r>
            <a:r>
              <a:rPr dirty="0" sz="1400">
                <a:solidFill>
                  <a:srgbClr val="00B050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3808586" y="3582244"/>
            <a:ext cx="2314575" cy="1884680"/>
          </a:xfrm>
          <a:custGeom>
            <a:avLst/>
            <a:gdLst/>
            <a:ahLst/>
            <a:cxnLst/>
            <a:rect l="l" t="t" r="r" b="b"/>
            <a:pathLst>
              <a:path w="2314575" h="1884679">
                <a:moveTo>
                  <a:pt x="2256730" y="1815990"/>
                </a:moveTo>
                <a:lnTo>
                  <a:pt x="2247732" y="1816919"/>
                </a:lnTo>
                <a:lnTo>
                  <a:pt x="2237776" y="1829165"/>
                </a:lnTo>
                <a:lnTo>
                  <a:pt x="2238706" y="1838163"/>
                </a:lnTo>
                <a:lnTo>
                  <a:pt x="2295300" y="1884166"/>
                </a:lnTo>
                <a:lnTo>
                  <a:pt x="2304298" y="1883237"/>
                </a:lnTo>
                <a:lnTo>
                  <a:pt x="2314252" y="1870991"/>
                </a:lnTo>
                <a:lnTo>
                  <a:pt x="2313324" y="1861992"/>
                </a:lnTo>
                <a:lnTo>
                  <a:pt x="2256730" y="1815990"/>
                </a:lnTo>
                <a:close/>
              </a:path>
              <a:path w="2314575" h="1884679">
                <a:moveTo>
                  <a:pt x="2168036" y="1743894"/>
                </a:moveTo>
                <a:lnTo>
                  <a:pt x="2159038" y="1744823"/>
                </a:lnTo>
                <a:lnTo>
                  <a:pt x="2149082" y="1757069"/>
                </a:lnTo>
                <a:lnTo>
                  <a:pt x="2150012" y="1766068"/>
                </a:lnTo>
                <a:lnTo>
                  <a:pt x="2206605" y="1812070"/>
                </a:lnTo>
                <a:lnTo>
                  <a:pt x="2215603" y="1811141"/>
                </a:lnTo>
                <a:lnTo>
                  <a:pt x="2225558" y="1798895"/>
                </a:lnTo>
                <a:lnTo>
                  <a:pt x="2224629" y="1789897"/>
                </a:lnTo>
                <a:lnTo>
                  <a:pt x="2168036" y="1743894"/>
                </a:lnTo>
                <a:close/>
              </a:path>
              <a:path w="2314575" h="1884679">
                <a:moveTo>
                  <a:pt x="2079341" y="1671798"/>
                </a:moveTo>
                <a:lnTo>
                  <a:pt x="2070343" y="1672727"/>
                </a:lnTo>
                <a:lnTo>
                  <a:pt x="2060388" y="1684973"/>
                </a:lnTo>
                <a:lnTo>
                  <a:pt x="2061317" y="1693971"/>
                </a:lnTo>
                <a:lnTo>
                  <a:pt x="2117911" y="1739974"/>
                </a:lnTo>
                <a:lnTo>
                  <a:pt x="2126909" y="1739045"/>
                </a:lnTo>
                <a:lnTo>
                  <a:pt x="2136863" y="1726799"/>
                </a:lnTo>
                <a:lnTo>
                  <a:pt x="2135935" y="1717800"/>
                </a:lnTo>
                <a:lnTo>
                  <a:pt x="2079341" y="1671798"/>
                </a:lnTo>
                <a:close/>
              </a:path>
              <a:path w="2314575" h="1884679">
                <a:moveTo>
                  <a:pt x="1990647" y="1599703"/>
                </a:moveTo>
                <a:lnTo>
                  <a:pt x="1981649" y="1600631"/>
                </a:lnTo>
                <a:lnTo>
                  <a:pt x="1971695" y="1612878"/>
                </a:lnTo>
                <a:lnTo>
                  <a:pt x="1972623" y="1621876"/>
                </a:lnTo>
                <a:lnTo>
                  <a:pt x="2029217" y="1667878"/>
                </a:lnTo>
                <a:lnTo>
                  <a:pt x="2038215" y="1666949"/>
                </a:lnTo>
                <a:lnTo>
                  <a:pt x="2048169" y="1654703"/>
                </a:lnTo>
                <a:lnTo>
                  <a:pt x="2047241" y="1645705"/>
                </a:lnTo>
                <a:lnTo>
                  <a:pt x="1990647" y="1599703"/>
                </a:lnTo>
                <a:close/>
              </a:path>
              <a:path w="2314575" h="1884679">
                <a:moveTo>
                  <a:pt x="1901953" y="1527606"/>
                </a:moveTo>
                <a:lnTo>
                  <a:pt x="1892955" y="1528536"/>
                </a:lnTo>
                <a:lnTo>
                  <a:pt x="1883001" y="1540781"/>
                </a:lnTo>
                <a:lnTo>
                  <a:pt x="1883929" y="1549780"/>
                </a:lnTo>
                <a:lnTo>
                  <a:pt x="1940523" y="1595782"/>
                </a:lnTo>
                <a:lnTo>
                  <a:pt x="1949521" y="1594853"/>
                </a:lnTo>
                <a:lnTo>
                  <a:pt x="1959475" y="1582607"/>
                </a:lnTo>
                <a:lnTo>
                  <a:pt x="1958547" y="1573608"/>
                </a:lnTo>
                <a:lnTo>
                  <a:pt x="1901953" y="1527606"/>
                </a:lnTo>
                <a:close/>
              </a:path>
              <a:path w="2314575" h="1884679">
                <a:moveTo>
                  <a:pt x="1813259" y="1455511"/>
                </a:moveTo>
                <a:lnTo>
                  <a:pt x="1804261" y="1456439"/>
                </a:lnTo>
                <a:lnTo>
                  <a:pt x="1794306" y="1468686"/>
                </a:lnTo>
                <a:lnTo>
                  <a:pt x="1795235" y="1477684"/>
                </a:lnTo>
                <a:lnTo>
                  <a:pt x="1851828" y="1523687"/>
                </a:lnTo>
                <a:lnTo>
                  <a:pt x="1860826" y="1522757"/>
                </a:lnTo>
                <a:lnTo>
                  <a:pt x="1870781" y="1510511"/>
                </a:lnTo>
                <a:lnTo>
                  <a:pt x="1869852" y="1501513"/>
                </a:lnTo>
                <a:lnTo>
                  <a:pt x="1813259" y="1455511"/>
                </a:lnTo>
                <a:close/>
              </a:path>
              <a:path w="2314575" h="1884679">
                <a:moveTo>
                  <a:pt x="1724564" y="1383414"/>
                </a:moveTo>
                <a:lnTo>
                  <a:pt x="1715566" y="1384344"/>
                </a:lnTo>
                <a:lnTo>
                  <a:pt x="1705612" y="1396589"/>
                </a:lnTo>
                <a:lnTo>
                  <a:pt x="1706540" y="1405589"/>
                </a:lnTo>
                <a:lnTo>
                  <a:pt x="1763134" y="1451590"/>
                </a:lnTo>
                <a:lnTo>
                  <a:pt x="1772132" y="1450662"/>
                </a:lnTo>
                <a:lnTo>
                  <a:pt x="1782086" y="1438415"/>
                </a:lnTo>
                <a:lnTo>
                  <a:pt x="1781158" y="1429418"/>
                </a:lnTo>
                <a:lnTo>
                  <a:pt x="1724564" y="1383414"/>
                </a:lnTo>
                <a:close/>
              </a:path>
              <a:path w="2314575" h="1884679">
                <a:moveTo>
                  <a:pt x="1635870" y="1311319"/>
                </a:moveTo>
                <a:lnTo>
                  <a:pt x="1626872" y="1312247"/>
                </a:lnTo>
                <a:lnTo>
                  <a:pt x="1616918" y="1324494"/>
                </a:lnTo>
                <a:lnTo>
                  <a:pt x="1617846" y="1333492"/>
                </a:lnTo>
                <a:lnTo>
                  <a:pt x="1674440" y="1379495"/>
                </a:lnTo>
                <a:lnTo>
                  <a:pt x="1683438" y="1378565"/>
                </a:lnTo>
                <a:lnTo>
                  <a:pt x="1693392" y="1366320"/>
                </a:lnTo>
                <a:lnTo>
                  <a:pt x="1692464" y="1357321"/>
                </a:lnTo>
                <a:lnTo>
                  <a:pt x="1635870" y="1311319"/>
                </a:lnTo>
                <a:close/>
              </a:path>
              <a:path w="2314575" h="1884679">
                <a:moveTo>
                  <a:pt x="1547176" y="1239224"/>
                </a:moveTo>
                <a:lnTo>
                  <a:pt x="1538178" y="1240152"/>
                </a:lnTo>
                <a:lnTo>
                  <a:pt x="1528224" y="1252399"/>
                </a:lnTo>
                <a:lnTo>
                  <a:pt x="1529152" y="1261397"/>
                </a:lnTo>
                <a:lnTo>
                  <a:pt x="1585746" y="1307398"/>
                </a:lnTo>
                <a:lnTo>
                  <a:pt x="1594744" y="1306470"/>
                </a:lnTo>
                <a:lnTo>
                  <a:pt x="1604698" y="1294223"/>
                </a:lnTo>
                <a:lnTo>
                  <a:pt x="1603769" y="1285226"/>
                </a:lnTo>
                <a:lnTo>
                  <a:pt x="1547176" y="1239224"/>
                </a:lnTo>
                <a:close/>
              </a:path>
              <a:path w="2314575" h="1884679">
                <a:moveTo>
                  <a:pt x="1458481" y="1167127"/>
                </a:moveTo>
                <a:lnTo>
                  <a:pt x="1449484" y="1168057"/>
                </a:lnTo>
                <a:lnTo>
                  <a:pt x="1439529" y="1180302"/>
                </a:lnTo>
                <a:lnTo>
                  <a:pt x="1440458" y="1189301"/>
                </a:lnTo>
                <a:lnTo>
                  <a:pt x="1497051" y="1235303"/>
                </a:lnTo>
                <a:lnTo>
                  <a:pt x="1506049" y="1234373"/>
                </a:lnTo>
                <a:lnTo>
                  <a:pt x="1516004" y="1222128"/>
                </a:lnTo>
                <a:lnTo>
                  <a:pt x="1515075" y="1213129"/>
                </a:lnTo>
                <a:lnTo>
                  <a:pt x="1458481" y="1167127"/>
                </a:lnTo>
                <a:close/>
              </a:path>
              <a:path w="2314575" h="1884679">
                <a:moveTo>
                  <a:pt x="1369787" y="1095032"/>
                </a:moveTo>
                <a:lnTo>
                  <a:pt x="1360789" y="1095960"/>
                </a:lnTo>
                <a:lnTo>
                  <a:pt x="1350835" y="1108207"/>
                </a:lnTo>
                <a:lnTo>
                  <a:pt x="1351763" y="1117205"/>
                </a:lnTo>
                <a:lnTo>
                  <a:pt x="1408357" y="1163206"/>
                </a:lnTo>
                <a:lnTo>
                  <a:pt x="1417355" y="1162278"/>
                </a:lnTo>
                <a:lnTo>
                  <a:pt x="1427309" y="1150031"/>
                </a:lnTo>
                <a:lnTo>
                  <a:pt x="1426381" y="1141034"/>
                </a:lnTo>
                <a:lnTo>
                  <a:pt x="1369787" y="1095032"/>
                </a:lnTo>
                <a:close/>
              </a:path>
              <a:path w="2314575" h="1884679">
                <a:moveTo>
                  <a:pt x="1281093" y="1022935"/>
                </a:moveTo>
                <a:lnTo>
                  <a:pt x="1272095" y="1023865"/>
                </a:lnTo>
                <a:lnTo>
                  <a:pt x="1262141" y="1036110"/>
                </a:lnTo>
                <a:lnTo>
                  <a:pt x="1263069" y="1045109"/>
                </a:lnTo>
                <a:lnTo>
                  <a:pt x="1319663" y="1091111"/>
                </a:lnTo>
                <a:lnTo>
                  <a:pt x="1328661" y="1090183"/>
                </a:lnTo>
                <a:lnTo>
                  <a:pt x="1338615" y="1077936"/>
                </a:lnTo>
                <a:lnTo>
                  <a:pt x="1337687" y="1068938"/>
                </a:lnTo>
                <a:lnTo>
                  <a:pt x="1281093" y="1022935"/>
                </a:lnTo>
                <a:close/>
              </a:path>
              <a:path w="2314575" h="1884679">
                <a:moveTo>
                  <a:pt x="1192399" y="950840"/>
                </a:moveTo>
                <a:lnTo>
                  <a:pt x="1183401" y="951768"/>
                </a:lnTo>
                <a:lnTo>
                  <a:pt x="1173446" y="964015"/>
                </a:lnTo>
                <a:lnTo>
                  <a:pt x="1174375" y="973013"/>
                </a:lnTo>
                <a:lnTo>
                  <a:pt x="1230969" y="1019016"/>
                </a:lnTo>
                <a:lnTo>
                  <a:pt x="1239967" y="1018086"/>
                </a:lnTo>
                <a:lnTo>
                  <a:pt x="1249921" y="1005841"/>
                </a:lnTo>
                <a:lnTo>
                  <a:pt x="1248992" y="996842"/>
                </a:lnTo>
                <a:lnTo>
                  <a:pt x="1192399" y="950840"/>
                </a:lnTo>
                <a:close/>
              </a:path>
              <a:path w="2314575" h="1884679">
                <a:moveTo>
                  <a:pt x="1103704" y="878743"/>
                </a:moveTo>
                <a:lnTo>
                  <a:pt x="1094706" y="879673"/>
                </a:lnTo>
                <a:lnTo>
                  <a:pt x="1084752" y="891919"/>
                </a:lnTo>
                <a:lnTo>
                  <a:pt x="1085681" y="900917"/>
                </a:lnTo>
                <a:lnTo>
                  <a:pt x="1142274" y="946919"/>
                </a:lnTo>
                <a:lnTo>
                  <a:pt x="1151272" y="945991"/>
                </a:lnTo>
                <a:lnTo>
                  <a:pt x="1161227" y="933744"/>
                </a:lnTo>
                <a:lnTo>
                  <a:pt x="1160298" y="924746"/>
                </a:lnTo>
                <a:lnTo>
                  <a:pt x="1103704" y="878743"/>
                </a:lnTo>
                <a:close/>
              </a:path>
              <a:path w="2314575" h="1884679">
                <a:moveTo>
                  <a:pt x="1015010" y="806648"/>
                </a:moveTo>
                <a:lnTo>
                  <a:pt x="1006012" y="807576"/>
                </a:lnTo>
                <a:lnTo>
                  <a:pt x="996058" y="819823"/>
                </a:lnTo>
                <a:lnTo>
                  <a:pt x="996986" y="828822"/>
                </a:lnTo>
                <a:lnTo>
                  <a:pt x="1053580" y="874824"/>
                </a:lnTo>
                <a:lnTo>
                  <a:pt x="1062578" y="873894"/>
                </a:lnTo>
                <a:lnTo>
                  <a:pt x="1072532" y="861649"/>
                </a:lnTo>
                <a:lnTo>
                  <a:pt x="1071604" y="852650"/>
                </a:lnTo>
                <a:lnTo>
                  <a:pt x="1015010" y="806648"/>
                </a:lnTo>
                <a:close/>
              </a:path>
              <a:path w="2314575" h="1884679">
                <a:moveTo>
                  <a:pt x="926316" y="734552"/>
                </a:moveTo>
                <a:lnTo>
                  <a:pt x="917318" y="735481"/>
                </a:lnTo>
                <a:lnTo>
                  <a:pt x="907364" y="747727"/>
                </a:lnTo>
                <a:lnTo>
                  <a:pt x="908292" y="756725"/>
                </a:lnTo>
                <a:lnTo>
                  <a:pt x="964886" y="802727"/>
                </a:lnTo>
                <a:lnTo>
                  <a:pt x="973884" y="801799"/>
                </a:lnTo>
                <a:lnTo>
                  <a:pt x="983838" y="789552"/>
                </a:lnTo>
                <a:lnTo>
                  <a:pt x="982910" y="780554"/>
                </a:lnTo>
                <a:lnTo>
                  <a:pt x="926316" y="734552"/>
                </a:lnTo>
                <a:close/>
              </a:path>
              <a:path w="2314575" h="1884679">
                <a:moveTo>
                  <a:pt x="837622" y="662456"/>
                </a:moveTo>
                <a:lnTo>
                  <a:pt x="828624" y="663385"/>
                </a:lnTo>
                <a:lnTo>
                  <a:pt x="818669" y="675631"/>
                </a:lnTo>
                <a:lnTo>
                  <a:pt x="819598" y="684630"/>
                </a:lnTo>
                <a:lnTo>
                  <a:pt x="876192" y="730632"/>
                </a:lnTo>
                <a:lnTo>
                  <a:pt x="885190" y="729702"/>
                </a:lnTo>
                <a:lnTo>
                  <a:pt x="895144" y="717457"/>
                </a:lnTo>
                <a:lnTo>
                  <a:pt x="894215" y="708458"/>
                </a:lnTo>
                <a:lnTo>
                  <a:pt x="837622" y="662456"/>
                </a:lnTo>
                <a:close/>
              </a:path>
              <a:path w="2314575" h="1884679">
                <a:moveTo>
                  <a:pt x="748927" y="590360"/>
                </a:moveTo>
                <a:lnTo>
                  <a:pt x="739929" y="591289"/>
                </a:lnTo>
                <a:lnTo>
                  <a:pt x="729975" y="603535"/>
                </a:lnTo>
                <a:lnTo>
                  <a:pt x="730904" y="612533"/>
                </a:lnTo>
                <a:lnTo>
                  <a:pt x="787497" y="658535"/>
                </a:lnTo>
                <a:lnTo>
                  <a:pt x="796495" y="657607"/>
                </a:lnTo>
                <a:lnTo>
                  <a:pt x="806450" y="645360"/>
                </a:lnTo>
                <a:lnTo>
                  <a:pt x="805521" y="636362"/>
                </a:lnTo>
                <a:lnTo>
                  <a:pt x="748927" y="590360"/>
                </a:lnTo>
                <a:close/>
              </a:path>
              <a:path w="2314575" h="1884679">
                <a:moveTo>
                  <a:pt x="660233" y="518264"/>
                </a:moveTo>
                <a:lnTo>
                  <a:pt x="651235" y="519193"/>
                </a:lnTo>
                <a:lnTo>
                  <a:pt x="641281" y="531439"/>
                </a:lnTo>
                <a:lnTo>
                  <a:pt x="642209" y="540438"/>
                </a:lnTo>
                <a:lnTo>
                  <a:pt x="698803" y="586440"/>
                </a:lnTo>
                <a:lnTo>
                  <a:pt x="707801" y="585510"/>
                </a:lnTo>
                <a:lnTo>
                  <a:pt x="717755" y="573265"/>
                </a:lnTo>
                <a:lnTo>
                  <a:pt x="716827" y="564266"/>
                </a:lnTo>
                <a:lnTo>
                  <a:pt x="660233" y="518264"/>
                </a:lnTo>
                <a:close/>
              </a:path>
              <a:path w="2314575" h="1884679">
                <a:moveTo>
                  <a:pt x="571539" y="446168"/>
                </a:moveTo>
                <a:lnTo>
                  <a:pt x="562541" y="447097"/>
                </a:lnTo>
                <a:lnTo>
                  <a:pt x="552587" y="459343"/>
                </a:lnTo>
                <a:lnTo>
                  <a:pt x="553515" y="468341"/>
                </a:lnTo>
                <a:lnTo>
                  <a:pt x="610109" y="514343"/>
                </a:lnTo>
                <a:lnTo>
                  <a:pt x="619107" y="513415"/>
                </a:lnTo>
                <a:lnTo>
                  <a:pt x="629061" y="501168"/>
                </a:lnTo>
                <a:lnTo>
                  <a:pt x="628133" y="492170"/>
                </a:lnTo>
                <a:lnTo>
                  <a:pt x="571539" y="446168"/>
                </a:lnTo>
                <a:close/>
              </a:path>
              <a:path w="2314575" h="1884679">
                <a:moveTo>
                  <a:pt x="482845" y="374072"/>
                </a:moveTo>
                <a:lnTo>
                  <a:pt x="473847" y="375001"/>
                </a:lnTo>
                <a:lnTo>
                  <a:pt x="463892" y="387247"/>
                </a:lnTo>
                <a:lnTo>
                  <a:pt x="464821" y="396246"/>
                </a:lnTo>
                <a:lnTo>
                  <a:pt x="521415" y="442248"/>
                </a:lnTo>
                <a:lnTo>
                  <a:pt x="530412" y="441319"/>
                </a:lnTo>
                <a:lnTo>
                  <a:pt x="540367" y="429073"/>
                </a:lnTo>
                <a:lnTo>
                  <a:pt x="539438" y="420075"/>
                </a:lnTo>
                <a:lnTo>
                  <a:pt x="482845" y="374072"/>
                </a:lnTo>
                <a:close/>
              </a:path>
              <a:path w="2314575" h="1884679">
                <a:moveTo>
                  <a:pt x="394150" y="301976"/>
                </a:moveTo>
                <a:lnTo>
                  <a:pt x="385152" y="302905"/>
                </a:lnTo>
                <a:lnTo>
                  <a:pt x="375198" y="315151"/>
                </a:lnTo>
                <a:lnTo>
                  <a:pt x="376127" y="324149"/>
                </a:lnTo>
                <a:lnTo>
                  <a:pt x="432720" y="370152"/>
                </a:lnTo>
                <a:lnTo>
                  <a:pt x="441718" y="369223"/>
                </a:lnTo>
                <a:lnTo>
                  <a:pt x="451672" y="356977"/>
                </a:lnTo>
                <a:lnTo>
                  <a:pt x="450744" y="347978"/>
                </a:lnTo>
                <a:lnTo>
                  <a:pt x="394150" y="301976"/>
                </a:lnTo>
                <a:close/>
              </a:path>
              <a:path w="2314575" h="1884679">
                <a:moveTo>
                  <a:pt x="305456" y="229880"/>
                </a:moveTo>
                <a:lnTo>
                  <a:pt x="296458" y="230809"/>
                </a:lnTo>
                <a:lnTo>
                  <a:pt x="286504" y="243056"/>
                </a:lnTo>
                <a:lnTo>
                  <a:pt x="287432" y="252054"/>
                </a:lnTo>
                <a:lnTo>
                  <a:pt x="344026" y="298056"/>
                </a:lnTo>
                <a:lnTo>
                  <a:pt x="353024" y="297127"/>
                </a:lnTo>
                <a:lnTo>
                  <a:pt x="362978" y="284881"/>
                </a:lnTo>
                <a:lnTo>
                  <a:pt x="362050" y="275883"/>
                </a:lnTo>
                <a:lnTo>
                  <a:pt x="305456" y="229880"/>
                </a:lnTo>
                <a:close/>
              </a:path>
              <a:path w="2314575" h="1884679">
                <a:moveTo>
                  <a:pt x="216762" y="157784"/>
                </a:moveTo>
                <a:lnTo>
                  <a:pt x="207764" y="158714"/>
                </a:lnTo>
                <a:lnTo>
                  <a:pt x="197810" y="170959"/>
                </a:lnTo>
                <a:lnTo>
                  <a:pt x="198738" y="179958"/>
                </a:lnTo>
                <a:lnTo>
                  <a:pt x="255332" y="225960"/>
                </a:lnTo>
                <a:lnTo>
                  <a:pt x="264330" y="225031"/>
                </a:lnTo>
                <a:lnTo>
                  <a:pt x="274284" y="212785"/>
                </a:lnTo>
                <a:lnTo>
                  <a:pt x="273356" y="203786"/>
                </a:lnTo>
                <a:lnTo>
                  <a:pt x="216762" y="157784"/>
                </a:lnTo>
                <a:close/>
              </a:path>
              <a:path w="2314575" h="1884679">
                <a:moveTo>
                  <a:pt x="128068" y="85689"/>
                </a:moveTo>
                <a:lnTo>
                  <a:pt x="119070" y="86617"/>
                </a:lnTo>
                <a:lnTo>
                  <a:pt x="109115" y="98864"/>
                </a:lnTo>
                <a:lnTo>
                  <a:pt x="110044" y="107862"/>
                </a:lnTo>
                <a:lnTo>
                  <a:pt x="166637" y="153864"/>
                </a:lnTo>
                <a:lnTo>
                  <a:pt x="175635" y="152935"/>
                </a:lnTo>
                <a:lnTo>
                  <a:pt x="185590" y="140689"/>
                </a:lnTo>
                <a:lnTo>
                  <a:pt x="184661" y="131691"/>
                </a:lnTo>
                <a:lnTo>
                  <a:pt x="128068" y="85689"/>
                </a:lnTo>
                <a:close/>
              </a:path>
              <a:path w="2314575" h="1884679">
                <a:moveTo>
                  <a:pt x="0" y="0"/>
                </a:moveTo>
                <a:lnTo>
                  <a:pt x="39484" y="87331"/>
                </a:lnTo>
                <a:lnTo>
                  <a:pt x="57508" y="65158"/>
                </a:lnTo>
                <a:lnTo>
                  <a:pt x="40300" y="51170"/>
                </a:lnTo>
                <a:lnTo>
                  <a:pt x="39372" y="42172"/>
                </a:lnTo>
                <a:lnTo>
                  <a:pt x="49326" y="29926"/>
                </a:lnTo>
                <a:lnTo>
                  <a:pt x="58324" y="28997"/>
                </a:lnTo>
                <a:lnTo>
                  <a:pt x="86901" y="28997"/>
                </a:lnTo>
                <a:lnTo>
                  <a:pt x="93555" y="20811"/>
                </a:lnTo>
                <a:lnTo>
                  <a:pt x="0" y="0"/>
                </a:lnTo>
                <a:close/>
              </a:path>
              <a:path w="2314575" h="1884679">
                <a:moveTo>
                  <a:pt x="75532" y="42984"/>
                </a:moveTo>
                <a:lnTo>
                  <a:pt x="57508" y="65158"/>
                </a:lnTo>
                <a:lnTo>
                  <a:pt x="77943" y="81768"/>
                </a:lnTo>
                <a:lnTo>
                  <a:pt x="86941" y="80840"/>
                </a:lnTo>
                <a:lnTo>
                  <a:pt x="96895" y="68593"/>
                </a:lnTo>
                <a:lnTo>
                  <a:pt x="95967" y="59594"/>
                </a:lnTo>
                <a:lnTo>
                  <a:pt x="75532" y="42984"/>
                </a:lnTo>
                <a:close/>
              </a:path>
              <a:path w="2314575" h="1884679">
                <a:moveTo>
                  <a:pt x="58324" y="28997"/>
                </a:moveTo>
                <a:lnTo>
                  <a:pt x="49326" y="29926"/>
                </a:lnTo>
                <a:lnTo>
                  <a:pt x="39372" y="42172"/>
                </a:lnTo>
                <a:lnTo>
                  <a:pt x="40300" y="51170"/>
                </a:lnTo>
                <a:lnTo>
                  <a:pt x="57508" y="65158"/>
                </a:lnTo>
                <a:lnTo>
                  <a:pt x="75532" y="42984"/>
                </a:lnTo>
                <a:lnTo>
                  <a:pt x="58324" y="28997"/>
                </a:lnTo>
                <a:close/>
              </a:path>
              <a:path w="2314575" h="1884679">
                <a:moveTo>
                  <a:pt x="86901" y="28997"/>
                </a:moveTo>
                <a:lnTo>
                  <a:pt x="58324" y="28997"/>
                </a:lnTo>
                <a:lnTo>
                  <a:pt x="75532" y="42984"/>
                </a:lnTo>
                <a:lnTo>
                  <a:pt x="86901" y="28997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268801" y="3657091"/>
            <a:ext cx="268033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 b="1">
                <a:latin typeface="Arial"/>
                <a:cs typeface="Arial"/>
              </a:rPr>
              <a:t>Example task</a:t>
            </a:r>
            <a:r>
              <a:rPr dirty="0" sz="1800" spc="-5">
                <a:latin typeface="Arial"/>
                <a:cs typeface="Arial"/>
              </a:rPr>
              <a:t>: predict the  </a:t>
            </a:r>
            <a:r>
              <a:rPr dirty="0" sz="1800">
                <a:latin typeface="Arial"/>
                <a:cs typeface="Arial"/>
              </a:rPr>
              <a:t>tail </a:t>
            </a:r>
            <a:r>
              <a:rPr dirty="0" sz="1800" spc="-5">
                <a:latin typeface="Arial"/>
                <a:cs typeface="Arial"/>
              </a:rPr>
              <a:t>“</a:t>
            </a:r>
            <a:r>
              <a:rPr dirty="0" sz="1800" spc="-5">
                <a:solidFill>
                  <a:srgbClr val="00B050"/>
                </a:solidFill>
                <a:latin typeface="Arial"/>
                <a:cs typeface="Arial"/>
              </a:rPr>
              <a:t>Science Fiction</a:t>
            </a:r>
            <a:r>
              <a:rPr dirty="0" sz="1800" spc="-5">
                <a:latin typeface="Arial"/>
                <a:cs typeface="Arial"/>
              </a:rPr>
              <a:t>” for  (“</a:t>
            </a:r>
            <a:r>
              <a:rPr dirty="0" sz="1800" spc="-5">
                <a:solidFill>
                  <a:srgbClr val="0070C0"/>
                </a:solidFill>
                <a:latin typeface="Arial"/>
                <a:cs typeface="Arial"/>
              </a:rPr>
              <a:t>J.K. Rowling</a:t>
            </a:r>
            <a:r>
              <a:rPr dirty="0" sz="1800" spc="-5">
                <a:latin typeface="Arial"/>
                <a:cs typeface="Arial"/>
              </a:rPr>
              <a:t>”,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“genre”)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64" name="object 6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65" name="object 65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650735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52365"/>
            <a:ext cx="7452359" cy="1120775"/>
          </a:xfrm>
          <a:prstGeom prst="rect"/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 i="0">
                <a:latin typeface="Calibri"/>
                <a:cs typeface="Calibri"/>
              </a:rPr>
              <a:t>Goal</a:t>
            </a:r>
            <a:r>
              <a:rPr dirty="0" sz="3200" spc="-5" i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How </a:t>
            </a:r>
            <a:r>
              <a:rPr dirty="0" sz="2800" spc="-15">
                <a:latin typeface="Calibri"/>
                <a:cs typeface="Calibri"/>
              </a:rPr>
              <a:t>to perform </a:t>
            </a:r>
            <a:r>
              <a:rPr dirty="0" sz="2800" spc="-5">
                <a:latin typeface="Calibri"/>
                <a:cs typeface="Calibri"/>
              </a:rPr>
              <a:t>multi-hop </a:t>
            </a:r>
            <a:r>
              <a:rPr dirty="0" sz="2800" spc="-10">
                <a:latin typeface="Calibri"/>
                <a:cs typeface="Calibri"/>
              </a:rPr>
              <a:t>reasoning </a:t>
            </a:r>
            <a:r>
              <a:rPr dirty="0" sz="2800" spc="-15">
                <a:latin typeface="Calibri"/>
                <a:cs typeface="Calibri"/>
              </a:rPr>
              <a:t>over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 spc="-125">
                <a:latin typeface="Calibri"/>
                <a:cs typeface="Calibri"/>
              </a:rPr>
              <a:t>KGs?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736741"/>
            <a:ext cx="6050280" cy="251968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Reasoning </a:t>
            </a:r>
            <a:r>
              <a:rPr dirty="0" sz="3200" spc="-15">
                <a:latin typeface="Calibri"/>
                <a:cs typeface="Calibri"/>
              </a:rPr>
              <a:t>over Knowledge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Answering </a:t>
            </a:r>
            <a:r>
              <a:rPr dirty="0" sz="2800" spc="-5">
                <a:latin typeface="Calibri"/>
                <a:cs typeface="Calibri"/>
              </a:rPr>
              <a:t>multi-hop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queries</a:t>
            </a:r>
            <a:endParaRPr sz="28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64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25">
                <a:latin typeface="Calibri"/>
                <a:cs typeface="Calibri"/>
              </a:rPr>
              <a:t>Path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Queries</a:t>
            </a:r>
            <a:endParaRPr sz="24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62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Conjunctive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Queries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3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Query2box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27888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66898" y="1234107"/>
            <a:ext cx="8076117" cy="54059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4"/>
              </a:rPr>
              <a:t>http://cs224w.stanford.edu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01370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z="3200" spc="-5" b="1" i="0">
                <a:latin typeface="Calibri"/>
                <a:cs typeface="Calibri"/>
              </a:rPr>
              <a:t>Can </a:t>
            </a:r>
            <a:r>
              <a:rPr dirty="0" sz="3200" spc="-15" b="1" i="0">
                <a:latin typeface="Calibri"/>
                <a:cs typeface="Calibri"/>
              </a:rPr>
              <a:t>we </a:t>
            </a:r>
            <a:r>
              <a:rPr dirty="0" sz="3200" spc="-5" b="1" i="0">
                <a:latin typeface="Calibri"/>
                <a:cs typeface="Calibri"/>
              </a:rPr>
              <a:t>do multi-hop reasoning, i.e., </a:t>
            </a:r>
            <a:r>
              <a:rPr dirty="0" sz="3200" spc="-10" b="1" i="0">
                <a:solidFill>
                  <a:srgbClr val="0000FF"/>
                </a:solidFill>
                <a:latin typeface="Calibri"/>
                <a:cs typeface="Calibri"/>
              </a:rPr>
              <a:t>answer  </a:t>
            </a:r>
            <a:r>
              <a:rPr dirty="0" sz="3200" spc="-15" b="1" i="0">
                <a:solidFill>
                  <a:srgbClr val="0000FF"/>
                </a:solidFill>
                <a:latin typeface="Calibri"/>
                <a:cs typeface="Calibri"/>
              </a:rPr>
              <a:t>complex </a:t>
            </a:r>
            <a:r>
              <a:rPr dirty="0" sz="3200" spc="-5" b="1" i="0">
                <a:solidFill>
                  <a:srgbClr val="0000FF"/>
                </a:solidFill>
                <a:latin typeface="Calibri"/>
                <a:cs typeface="Calibri"/>
              </a:rPr>
              <a:t>queries </a:t>
            </a:r>
            <a:r>
              <a:rPr dirty="0" sz="3200" b="1" i="0">
                <a:latin typeface="Calibri"/>
                <a:cs typeface="Calibri"/>
              </a:rPr>
              <a:t>on </a:t>
            </a:r>
            <a:r>
              <a:rPr dirty="0" sz="3200" spc="-5" b="1" i="0">
                <a:latin typeface="Calibri"/>
                <a:cs typeface="Calibri"/>
              </a:rPr>
              <a:t>an </a:t>
            </a:r>
            <a:r>
              <a:rPr dirty="0" sz="3200" spc="-10" b="1" i="0">
                <a:solidFill>
                  <a:srgbClr val="FF0000"/>
                </a:solidFill>
                <a:latin typeface="Calibri"/>
                <a:cs typeface="Calibri"/>
              </a:rPr>
              <a:t>incomplete, massive</a:t>
            </a:r>
            <a:r>
              <a:rPr dirty="0" sz="3200" spc="10" b="1" i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200" spc="-45" b="1" i="0">
                <a:solidFill>
                  <a:srgbClr val="FF0000"/>
                </a:solidFill>
                <a:latin typeface="Calibri"/>
                <a:cs typeface="Calibri"/>
              </a:rPr>
              <a:t>KG?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103" y="2361467"/>
          <a:ext cx="8858250" cy="2573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1884"/>
                <a:gridCol w="6597316"/>
              </a:tblGrid>
              <a:tr h="317500"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Query</a:t>
                      </a:r>
                      <a:r>
                        <a:rPr dirty="0" sz="1800" spc="15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Types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Examples: </a:t>
                      </a:r>
                      <a:r>
                        <a:rPr dirty="0" sz="1800" spc="-5" b="1">
                          <a:solidFill>
                            <a:srgbClr val="00B050"/>
                          </a:solidFill>
                          <a:latin typeface="Corbel"/>
                          <a:cs typeface="Corbel"/>
                        </a:rPr>
                        <a:t>Natural Language Question,</a:t>
                      </a:r>
                      <a:r>
                        <a:rPr dirty="0" sz="1800" spc="-140" b="1">
                          <a:solidFill>
                            <a:srgbClr val="00B05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9A3130"/>
                          </a:solidFill>
                          <a:latin typeface="Corbel"/>
                          <a:cs typeface="Corbel"/>
                        </a:rPr>
                        <a:t>Query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dirty="0" sz="1800" spc="-5" b="1">
                          <a:latin typeface="Corbel"/>
                          <a:cs typeface="Corbel"/>
                        </a:rPr>
                        <a:t>One-hop</a:t>
                      </a:r>
                      <a:r>
                        <a:rPr dirty="0" sz="1800" spc="-125" b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800" spc="-5" b="1">
                          <a:latin typeface="Corbel"/>
                          <a:cs typeface="Corbel"/>
                        </a:rPr>
                        <a:t>Queries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4414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marL="81280" marR="2221865">
                        <a:lnSpc>
                          <a:spcPts val="2090"/>
                        </a:lnSpc>
                        <a:spcBef>
                          <a:spcPts val="180"/>
                        </a:spcBef>
                      </a:pPr>
                      <a:r>
                        <a:rPr dirty="0" sz="1800">
                          <a:solidFill>
                            <a:srgbClr val="479249"/>
                          </a:solidFill>
                          <a:latin typeface="Corbel"/>
                          <a:cs typeface="Corbel"/>
                        </a:rPr>
                        <a:t>What </a:t>
                      </a:r>
                      <a:r>
                        <a:rPr dirty="0" sz="1800" spc="-5">
                          <a:solidFill>
                            <a:srgbClr val="479249"/>
                          </a:solidFill>
                          <a:latin typeface="Corbel"/>
                          <a:cs typeface="Corbel"/>
                        </a:rPr>
                        <a:t>adverse event is caused by Fulvestrant?  </a:t>
                      </a:r>
                      <a:r>
                        <a:rPr dirty="0" sz="1800" spc="-5">
                          <a:solidFill>
                            <a:srgbClr val="9A3130"/>
                          </a:solidFill>
                          <a:latin typeface="Corbel"/>
                          <a:cs typeface="Corbel"/>
                        </a:rPr>
                        <a:t>(e:Fulvestrant,</a:t>
                      </a:r>
                      <a:r>
                        <a:rPr dirty="0" sz="1800" spc="-20">
                          <a:solidFill>
                            <a:srgbClr val="9A313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800" spc="-5">
                          <a:solidFill>
                            <a:srgbClr val="9A3130"/>
                          </a:solidFill>
                          <a:latin typeface="Corbel"/>
                          <a:cs typeface="Corbel"/>
                        </a:rPr>
                        <a:t>(r:Causes))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1280">
                        <a:lnSpc>
                          <a:spcPct val="100000"/>
                        </a:lnSpc>
                      </a:pPr>
                      <a:r>
                        <a:rPr dirty="0" sz="1800" spc="-5" b="1">
                          <a:latin typeface="Corbel"/>
                          <a:cs typeface="Corbel"/>
                        </a:rPr>
                        <a:t>Path</a:t>
                      </a:r>
                      <a:r>
                        <a:rPr dirty="0" sz="1800" spc="-140" b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800" spc="-5" b="1">
                          <a:latin typeface="Corbel"/>
                          <a:cs typeface="Corbel"/>
                        </a:rPr>
                        <a:t>Queries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6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  <a:tc>
                  <a:txBody>
                    <a:bodyPr/>
                    <a:lstStyle/>
                    <a:p>
                      <a:pPr marL="81280" marR="829944">
                        <a:lnSpc>
                          <a:spcPts val="2090"/>
                        </a:lnSpc>
                        <a:spcBef>
                          <a:spcPts val="320"/>
                        </a:spcBef>
                      </a:pPr>
                      <a:r>
                        <a:rPr dirty="0" sz="1800">
                          <a:solidFill>
                            <a:srgbClr val="479249"/>
                          </a:solidFill>
                          <a:latin typeface="Corbel"/>
                          <a:cs typeface="Corbel"/>
                        </a:rPr>
                        <a:t>What </a:t>
                      </a:r>
                      <a:r>
                        <a:rPr dirty="0" sz="1800" spc="-5">
                          <a:solidFill>
                            <a:srgbClr val="479249"/>
                          </a:solidFill>
                          <a:latin typeface="Corbel"/>
                          <a:cs typeface="Corbel"/>
                        </a:rPr>
                        <a:t>protein is associated with the adverse event caused by  Fulvestrant?</a:t>
                      </a:r>
                      <a:endParaRPr sz="1800">
                        <a:latin typeface="Corbel"/>
                        <a:cs typeface="Corbel"/>
                      </a:endParaRPr>
                    </a:p>
                    <a:p>
                      <a:pPr marL="81280">
                        <a:lnSpc>
                          <a:spcPts val="2150"/>
                        </a:lnSpc>
                      </a:pPr>
                      <a:r>
                        <a:rPr dirty="0" sz="1800" spc="-5">
                          <a:solidFill>
                            <a:srgbClr val="9A3130"/>
                          </a:solidFill>
                          <a:latin typeface="Corbel"/>
                          <a:cs typeface="Corbel"/>
                        </a:rPr>
                        <a:t>(e:Fulvestrant, (r:Causes, r:Assoc))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406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800" spc="-5" b="1">
                          <a:latin typeface="Corbel"/>
                          <a:cs typeface="Corbel"/>
                        </a:rPr>
                        <a:t>Conjunctive</a:t>
                      </a:r>
                      <a:r>
                        <a:rPr dirty="0" sz="1800" spc="-120" b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800" spc="-5" b="1">
                          <a:latin typeface="Corbel"/>
                          <a:cs typeface="Corbel"/>
                        </a:rPr>
                        <a:t>Queries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12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marL="81280" marR="410845">
                        <a:lnSpc>
                          <a:spcPts val="2090"/>
                        </a:lnSpc>
                        <a:spcBef>
                          <a:spcPts val="320"/>
                        </a:spcBef>
                      </a:pPr>
                      <a:r>
                        <a:rPr dirty="0" sz="1800">
                          <a:solidFill>
                            <a:srgbClr val="479249"/>
                          </a:solidFill>
                          <a:latin typeface="Corbel"/>
                          <a:cs typeface="Corbel"/>
                        </a:rPr>
                        <a:t>What </a:t>
                      </a:r>
                      <a:r>
                        <a:rPr dirty="0" sz="1800" spc="-5">
                          <a:solidFill>
                            <a:srgbClr val="479249"/>
                          </a:solidFill>
                          <a:latin typeface="Corbel"/>
                          <a:cs typeface="Corbel"/>
                        </a:rPr>
                        <a:t>is the drug that treats breast cancer </a:t>
                      </a:r>
                      <a:r>
                        <a:rPr dirty="0" sz="1800">
                          <a:solidFill>
                            <a:srgbClr val="479249"/>
                          </a:solidFill>
                          <a:latin typeface="Corbel"/>
                          <a:cs typeface="Corbel"/>
                        </a:rPr>
                        <a:t>and </a:t>
                      </a:r>
                      <a:r>
                        <a:rPr dirty="0" sz="1800" spc="-5">
                          <a:solidFill>
                            <a:srgbClr val="479249"/>
                          </a:solidFill>
                          <a:latin typeface="Corbel"/>
                          <a:cs typeface="Corbel"/>
                        </a:rPr>
                        <a:t>caused headache?  </a:t>
                      </a:r>
                      <a:r>
                        <a:rPr dirty="0" sz="1800" spc="-10">
                          <a:solidFill>
                            <a:srgbClr val="9A3130"/>
                          </a:solidFill>
                          <a:latin typeface="Corbel"/>
                          <a:cs typeface="Corbel"/>
                        </a:rPr>
                        <a:t>((e:BreastCancer, </a:t>
                      </a:r>
                      <a:r>
                        <a:rPr dirty="0" sz="1800" spc="-20">
                          <a:solidFill>
                            <a:srgbClr val="9A3130"/>
                          </a:solidFill>
                          <a:latin typeface="Corbel"/>
                          <a:cs typeface="Corbel"/>
                        </a:rPr>
                        <a:t>(r:TreatedBy)), </a:t>
                      </a:r>
                      <a:r>
                        <a:rPr dirty="0" sz="1800" spc="-10">
                          <a:solidFill>
                            <a:srgbClr val="9A3130"/>
                          </a:solidFill>
                          <a:latin typeface="Corbel"/>
                          <a:cs typeface="Corbel"/>
                        </a:rPr>
                        <a:t>(e:Migraine,</a:t>
                      </a:r>
                      <a:r>
                        <a:rPr dirty="0" sz="1800" spc="50">
                          <a:solidFill>
                            <a:srgbClr val="9A3130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800" spc="-5">
                          <a:solidFill>
                            <a:srgbClr val="9A3130"/>
                          </a:solidFill>
                          <a:latin typeface="Corbel"/>
                          <a:cs typeface="Corbel"/>
                        </a:rPr>
                        <a:t>(r:CausedBy))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406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461405" y="5034788"/>
            <a:ext cx="6159500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>
                <a:latin typeface="Arial"/>
                <a:cs typeface="Arial"/>
              </a:rPr>
              <a:t>In this lecture, </a:t>
            </a:r>
            <a:r>
              <a:rPr dirty="0" sz="1800">
                <a:latin typeface="Arial"/>
                <a:cs typeface="Arial"/>
              </a:rPr>
              <a:t>we </a:t>
            </a:r>
            <a:r>
              <a:rPr dirty="0" sz="1800" spc="-5">
                <a:latin typeface="Arial"/>
                <a:cs typeface="Arial"/>
              </a:rPr>
              <a:t>only focus on answering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queries </a:t>
            </a:r>
            <a:r>
              <a:rPr dirty="0" sz="1800" spc="-5">
                <a:latin typeface="Arial"/>
                <a:cs typeface="Arial"/>
              </a:rPr>
              <a:t>on </a:t>
            </a:r>
            <a:r>
              <a:rPr dirty="0" sz="1800">
                <a:latin typeface="Arial"/>
                <a:cs typeface="Arial"/>
              </a:rPr>
              <a:t>a </a:t>
            </a:r>
            <a:r>
              <a:rPr dirty="0" sz="1800" spc="-5">
                <a:latin typeface="Arial"/>
                <a:cs typeface="Arial"/>
              </a:rPr>
              <a:t>KG!  The notation </a:t>
            </a:r>
            <a:r>
              <a:rPr dirty="0" sz="1800">
                <a:latin typeface="Arial"/>
                <a:cs typeface="Arial"/>
              </a:rPr>
              <a:t>will </a:t>
            </a:r>
            <a:r>
              <a:rPr dirty="0" sz="1800" spc="-5">
                <a:latin typeface="Arial"/>
                <a:cs typeface="Arial"/>
              </a:rPr>
              <a:t>be detailed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next.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63611" y="5696955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3"/>
                </a:lnTo>
                <a:lnTo>
                  <a:pt x="79845" y="252653"/>
                </a:lnTo>
                <a:lnTo>
                  <a:pt x="130732" y="262987"/>
                </a:lnTo>
                <a:lnTo>
                  <a:pt x="181620" y="252653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5" y="131493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20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63611" y="5696955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51044" y="5696953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3"/>
                </a:lnTo>
                <a:lnTo>
                  <a:pt x="79845" y="252653"/>
                </a:lnTo>
                <a:lnTo>
                  <a:pt x="130732" y="262987"/>
                </a:lnTo>
                <a:lnTo>
                  <a:pt x="181619" y="252653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51044" y="5696953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25077" y="5790349"/>
            <a:ext cx="226060" cy="76200"/>
          </a:xfrm>
          <a:custGeom>
            <a:avLst/>
            <a:gdLst/>
            <a:ahLst/>
            <a:cxnLst/>
            <a:rect l="l" t="t" r="r" b="b"/>
            <a:pathLst>
              <a:path w="226059" h="76200">
                <a:moveTo>
                  <a:pt x="187866" y="19049"/>
                </a:moveTo>
                <a:lnTo>
                  <a:pt x="168816" y="19049"/>
                </a:lnTo>
                <a:lnTo>
                  <a:pt x="168817" y="57149"/>
                </a:lnTo>
                <a:lnTo>
                  <a:pt x="149766" y="57150"/>
                </a:lnTo>
                <a:lnTo>
                  <a:pt x="149767" y="76199"/>
                </a:lnTo>
                <a:lnTo>
                  <a:pt x="225966" y="38099"/>
                </a:lnTo>
                <a:lnTo>
                  <a:pt x="187866" y="19049"/>
                </a:lnTo>
                <a:close/>
              </a:path>
              <a:path w="226059" h="76200">
                <a:moveTo>
                  <a:pt x="149766" y="19050"/>
                </a:moveTo>
                <a:lnTo>
                  <a:pt x="0" y="19051"/>
                </a:lnTo>
                <a:lnTo>
                  <a:pt x="0" y="57151"/>
                </a:lnTo>
                <a:lnTo>
                  <a:pt x="149766" y="57150"/>
                </a:lnTo>
                <a:lnTo>
                  <a:pt x="149766" y="19050"/>
                </a:lnTo>
                <a:close/>
              </a:path>
              <a:path w="226059" h="76200">
                <a:moveTo>
                  <a:pt x="168816" y="19049"/>
                </a:moveTo>
                <a:lnTo>
                  <a:pt x="149766" y="19050"/>
                </a:lnTo>
                <a:lnTo>
                  <a:pt x="149766" y="57150"/>
                </a:lnTo>
                <a:lnTo>
                  <a:pt x="168817" y="57149"/>
                </a:lnTo>
                <a:lnTo>
                  <a:pt x="168816" y="19049"/>
                </a:lnTo>
                <a:close/>
              </a:path>
              <a:path w="226059" h="76200">
                <a:moveTo>
                  <a:pt x="149766" y="0"/>
                </a:moveTo>
                <a:lnTo>
                  <a:pt x="149766" y="19050"/>
                </a:lnTo>
                <a:lnTo>
                  <a:pt x="187866" y="19049"/>
                </a:lnTo>
                <a:lnTo>
                  <a:pt x="1497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59243" y="5713931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3"/>
                </a:lnTo>
                <a:lnTo>
                  <a:pt x="79845" y="252653"/>
                </a:lnTo>
                <a:lnTo>
                  <a:pt x="130732" y="262987"/>
                </a:lnTo>
                <a:lnTo>
                  <a:pt x="181619" y="252653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59243" y="5713931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146677" y="5713929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3"/>
                </a:lnTo>
                <a:lnTo>
                  <a:pt x="79845" y="252653"/>
                </a:lnTo>
                <a:lnTo>
                  <a:pt x="130732" y="262987"/>
                </a:lnTo>
                <a:lnTo>
                  <a:pt x="181619" y="252653"/>
                </a:lnTo>
                <a:lnTo>
                  <a:pt x="223174" y="224473"/>
                </a:lnTo>
                <a:lnTo>
                  <a:pt x="251191" y="182676"/>
                </a:lnTo>
                <a:lnTo>
                  <a:pt x="261465" y="131493"/>
                </a:lnTo>
                <a:lnTo>
                  <a:pt x="251191" y="80310"/>
                </a:lnTo>
                <a:lnTo>
                  <a:pt x="223174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146675" y="5713929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20711" y="5807322"/>
            <a:ext cx="226060" cy="76200"/>
          </a:xfrm>
          <a:custGeom>
            <a:avLst/>
            <a:gdLst/>
            <a:ahLst/>
            <a:cxnLst/>
            <a:rect l="l" t="t" r="r" b="b"/>
            <a:pathLst>
              <a:path w="226060" h="76200">
                <a:moveTo>
                  <a:pt x="187865" y="19049"/>
                </a:moveTo>
                <a:lnTo>
                  <a:pt x="168814" y="19049"/>
                </a:lnTo>
                <a:lnTo>
                  <a:pt x="168814" y="57149"/>
                </a:lnTo>
                <a:lnTo>
                  <a:pt x="149765" y="57149"/>
                </a:lnTo>
                <a:lnTo>
                  <a:pt x="149766" y="76200"/>
                </a:lnTo>
                <a:lnTo>
                  <a:pt x="225964" y="38098"/>
                </a:lnTo>
                <a:lnTo>
                  <a:pt x="187865" y="19049"/>
                </a:lnTo>
                <a:close/>
              </a:path>
              <a:path w="226060" h="76200">
                <a:moveTo>
                  <a:pt x="149765" y="19049"/>
                </a:moveTo>
                <a:lnTo>
                  <a:pt x="0" y="19052"/>
                </a:lnTo>
                <a:lnTo>
                  <a:pt x="0" y="57152"/>
                </a:lnTo>
                <a:lnTo>
                  <a:pt x="149765" y="57149"/>
                </a:lnTo>
                <a:lnTo>
                  <a:pt x="149765" y="19049"/>
                </a:lnTo>
                <a:close/>
              </a:path>
              <a:path w="226060" h="76200">
                <a:moveTo>
                  <a:pt x="168814" y="19049"/>
                </a:moveTo>
                <a:lnTo>
                  <a:pt x="149765" y="19049"/>
                </a:lnTo>
                <a:lnTo>
                  <a:pt x="149765" y="57149"/>
                </a:lnTo>
                <a:lnTo>
                  <a:pt x="168814" y="57149"/>
                </a:lnTo>
                <a:lnTo>
                  <a:pt x="168814" y="19049"/>
                </a:lnTo>
                <a:close/>
              </a:path>
              <a:path w="226060" h="76200">
                <a:moveTo>
                  <a:pt x="149764" y="0"/>
                </a:moveTo>
                <a:lnTo>
                  <a:pt x="149765" y="19049"/>
                </a:lnTo>
                <a:lnTo>
                  <a:pt x="187865" y="19049"/>
                </a:lnTo>
                <a:lnTo>
                  <a:pt x="1497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146674" y="5713927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3"/>
                </a:lnTo>
                <a:lnTo>
                  <a:pt x="79845" y="252653"/>
                </a:lnTo>
                <a:lnTo>
                  <a:pt x="130732" y="262987"/>
                </a:lnTo>
                <a:lnTo>
                  <a:pt x="181619" y="252653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C9C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146674" y="5713927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634104" y="5713925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79846" y="10333"/>
                </a:lnTo>
                <a:lnTo>
                  <a:pt x="38291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1" y="224473"/>
                </a:lnTo>
                <a:lnTo>
                  <a:pt x="79846" y="252653"/>
                </a:lnTo>
                <a:lnTo>
                  <a:pt x="130733" y="262987"/>
                </a:lnTo>
                <a:lnTo>
                  <a:pt x="181620" y="252653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20" y="10333"/>
                </a:lnTo>
                <a:lnTo>
                  <a:pt x="130733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634104" y="5713925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408140" y="5807321"/>
            <a:ext cx="226060" cy="76200"/>
          </a:xfrm>
          <a:custGeom>
            <a:avLst/>
            <a:gdLst/>
            <a:ahLst/>
            <a:cxnLst/>
            <a:rect l="l" t="t" r="r" b="b"/>
            <a:pathLst>
              <a:path w="226060" h="76200">
                <a:moveTo>
                  <a:pt x="187865" y="19049"/>
                </a:moveTo>
                <a:lnTo>
                  <a:pt x="168814" y="19049"/>
                </a:lnTo>
                <a:lnTo>
                  <a:pt x="168814" y="57149"/>
                </a:lnTo>
                <a:lnTo>
                  <a:pt x="149765" y="57149"/>
                </a:lnTo>
                <a:lnTo>
                  <a:pt x="149766" y="76200"/>
                </a:lnTo>
                <a:lnTo>
                  <a:pt x="225964" y="38099"/>
                </a:lnTo>
                <a:lnTo>
                  <a:pt x="187865" y="19049"/>
                </a:lnTo>
                <a:close/>
              </a:path>
              <a:path w="226060" h="76200">
                <a:moveTo>
                  <a:pt x="149765" y="19049"/>
                </a:moveTo>
                <a:lnTo>
                  <a:pt x="0" y="19051"/>
                </a:lnTo>
                <a:lnTo>
                  <a:pt x="0" y="57151"/>
                </a:lnTo>
                <a:lnTo>
                  <a:pt x="149765" y="57149"/>
                </a:lnTo>
                <a:lnTo>
                  <a:pt x="149765" y="19049"/>
                </a:lnTo>
                <a:close/>
              </a:path>
              <a:path w="226060" h="76200">
                <a:moveTo>
                  <a:pt x="168814" y="19049"/>
                </a:moveTo>
                <a:lnTo>
                  <a:pt x="149765" y="19049"/>
                </a:lnTo>
                <a:lnTo>
                  <a:pt x="149765" y="57149"/>
                </a:lnTo>
                <a:lnTo>
                  <a:pt x="168814" y="57149"/>
                </a:lnTo>
                <a:lnTo>
                  <a:pt x="168814" y="19049"/>
                </a:lnTo>
                <a:close/>
              </a:path>
              <a:path w="226060" h="76200">
                <a:moveTo>
                  <a:pt x="149764" y="0"/>
                </a:moveTo>
                <a:lnTo>
                  <a:pt x="149765" y="19049"/>
                </a:lnTo>
                <a:lnTo>
                  <a:pt x="187865" y="19049"/>
                </a:lnTo>
                <a:lnTo>
                  <a:pt x="1497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751835" y="5495457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79846" y="10333"/>
                </a:lnTo>
                <a:lnTo>
                  <a:pt x="38291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1" y="224473"/>
                </a:lnTo>
                <a:lnTo>
                  <a:pt x="79846" y="252653"/>
                </a:lnTo>
                <a:lnTo>
                  <a:pt x="130733" y="262986"/>
                </a:lnTo>
                <a:lnTo>
                  <a:pt x="181620" y="252653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20" y="10333"/>
                </a:lnTo>
                <a:lnTo>
                  <a:pt x="130733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751835" y="5495457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39268" y="5670555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79846" y="10333"/>
                </a:lnTo>
                <a:lnTo>
                  <a:pt x="38291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1" y="224473"/>
                </a:lnTo>
                <a:lnTo>
                  <a:pt x="79846" y="252653"/>
                </a:lnTo>
                <a:lnTo>
                  <a:pt x="130733" y="262987"/>
                </a:lnTo>
                <a:lnTo>
                  <a:pt x="181620" y="252653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20" y="10333"/>
                </a:lnTo>
                <a:lnTo>
                  <a:pt x="130733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39269" y="5670555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007650" y="5608759"/>
            <a:ext cx="270510" cy="114300"/>
          </a:xfrm>
          <a:custGeom>
            <a:avLst/>
            <a:gdLst/>
            <a:ahLst/>
            <a:cxnLst/>
            <a:rect l="l" t="t" r="r" b="b"/>
            <a:pathLst>
              <a:path w="270509" h="114300">
                <a:moveTo>
                  <a:pt x="191488" y="95889"/>
                </a:moveTo>
                <a:lnTo>
                  <a:pt x="185835" y="114081"/>
                </a:lnTo>
                <a:lnTo>
                  <a:pt x="262385" y="101542"/>
                </a:lnTo>
                <a:lnTo>
                  <a:pt x="209680" y="101542"/>
                </a:lnTo>
                <a:lnTo>
                  <a:pt x="191488" y="95889"/>
                </a:lnTo>
                <a:close/>
              </a:path>
              <a:path w="270509" h="114300">
                <a:moveTo>
                  <a:pt x="202794" y="59505"/>
                </a:moveTo>
                <a:lnTo>
                  <a:pt x="191488" y="95889"/>
                </a:lnTo>
                <a:lnTo>
                  <a:pt x="209680" y="101542"/>
                </a:lnTo>
                <a:lnTo>
                  <a:pt x="220986" y="65158"/>
                </a:lnTo>
                <a:lnTo>
                  <a:pt x="202794" y="59505"/>
                </a:lnTo>
                <a:close/>
              </a:path>
              <a:path w="270509" h="114300">
                <a:moveTo>
                  <a:pt x="208447" y="41313"/>
                </a:moveTo>
                <a:lnTo>
                  <a:pt x="202794" y="59505"/>
                </a:lnTo>
                <a:lnTo>
                  <a:pt x="220986" y="65158"/>
                </a:lnTo>
                <a:lnTo>
                  <a:pt x="209680" y="101542"/>
                </a:lnTo>
                <a:lnTo>
                  <a:pt x="262385" y="101542"/>
                </a:lnTo>
                <a:lnTo>
                  <a:pt x="269909" y="100309"/>
                </a:lnTo>
                <a:lnTo>
                  <a:pt x="208447" y="41313"/>
                </a:lnTo>
                <a:close/>
              </a:path>
              <a:path w="270509" h="114300">
                <a:moveTo>
                  <a:pt x="11306" y="0"/>
                </a:moveTo>
                <a:lnTo>
                  <a:pt x="0" y="36383"/>
                </a:lnTo>
                <a:lnTo>
                  <a:pt x="191488" y="95889"/>
                </a:lnTo>
                <a:lnTo>
                  <a:pt x="202794" y="59505"/>
                </a:lnTo>
                <a:lnTo>
                  <a:pt x="113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751835" y="5856930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79846" y="10333"/>
                </a:lnTo>
                <a:lnTo>
                  <a:pt x="38291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1" y="224473"/>
                </a:lnTo>
                <a:lnTo>
                  <a:pt x="79846" y="252653"/>
                </a:lnTo>
                <a:lnTo>
                  <a:pt x="130733" y="262987"/>
                </a:lnTo>
                <a:lnTo>
                  <a:pt x="181620" y="252653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20" y="10333"/>
                </a:lnTo>
                <a:lnTo>
                  <a:pt x="130733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751835" y="5856930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006956" y="5884498"/>
            <a:ext cx="271145" cy="121920"/>
          </a:xfrm>
          <a:custGeom>
            <a:avLst/>
            <a:gdLst/>
            <a:ahLst/>
            <a:cxnLst/>
            <a:rect l="l" t="t" r="r" b="b"/>
            <a:pathLst>
              <a:path w="271145" h="121920">
                <a:moveTo>
                  <a:pt x="192410" y="17961"/>
                </a:moveTo>
                <a:lnTo>
                  <a:pt x="0" y="85964"/>
                </a:lnTo>
                <a:lnTo>
                  <a:pt x="12696" y="121886"/>
                </a:lnTo>
                <a:lnTo>
                  <a:pt x="205106" y="53883"/>
                </a:lnTo>
                <a:lnTo>
                  <a:pt x="192410" y="17961"/>
                </a:lnTo>
                <a:close/>
              </a:path>
              <a:path w="271145" h="121920">
                <a:moveTo>
                  <a:pt x="269559" y="11613"/>
                </a:moveTo>
                <a:lnTo>
                  <a:pt x="210371" y="11613"/>
                </a:lnTo>
                <a:lnTo>
                  <a:pt x="223067" y="47535"/>
                </a:lnTo>
                <a:lnTo>
                  <a:pt x="205106" y="53883"/>
                </a:lnTo>
                <a:lnTo>
                  <a:pt x="211454" y="71844"/>
                </a:lnTo>
                <a:lnTo>
                  <a:pt x="269559" y="11613"/>
                </a:lnTo>
                <a:close/>
              </a:path>
              <a:path w="271145" h="121920">
                <a:moveTo>
                  <a:pt x="210371" y="11613"/>
                </a:moveTo>
                <a:lnTo>
                  <a:pt x="192410" y="17961"/>
                </a:lnTo>
                <a:lnTo>
                  <a:pt x="205106" y="53883"/>
                </a:lnTo>
                <a:lnTo>
                  <a:pt x="223067" y="47535"/>
                </a:lnTo>
                <a:lnTo>
                  <a:pt x="210371" y="11613"/>
                </a:lnTo>
                <a:close/>
              </a:path>
              <a:path w="271145" h="121920">
                <a:moveTo>
                  <a:pt x="186062" y="0"/>
                </a:moveTo>
                <a:lnTo>
                  <a:pt x="192410" y="17961"/>
                </a:lnTo>
                <a:lnTo>
                  <a:pt x="210371" y="11613"/>
                </a:lnTo>
                <a:lnTo>
                  <a:pt x="269559" y="11613"/>
                </a:lnTo>
                <a:lnTo>
                  <a:pt x="270603" y="10530"/>
                </a:lnTo>
                <a:lnTo>
                  <a:pt x="1860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35940" y="6165596"/>
            <a:ext cx="17786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One-hop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Queries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52493" y="6159500"/>
            <a:ext cx="1359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Path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Queries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317663" y="6183884"/>
            <a:ext cx="2083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Conjunctive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Queries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71169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35025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 b="1" i="0">
                <a:latin typeface="Calibri"/>
                <a:cs typeface="Calibri"/>
              </a:rPr>
              <a:t>We </a:t>
            </a:r>
            <a:r>
              <a:rPr dirty="0" sz="3200" spc="-10" b="1" i="0">
                <a:latin typeface="Calibri"/>
                <a:cs typeface="Calibri"/>
              </a:rPr>
              <a:t>can </a:t>
            </a:r>
            <a:r>
              <a:rPr dirty="0" sz="3200" spc="-20" b="1" i="0">
                <a:latin typeface="Calibri"/>
                <a:cs typeface="Calibri"/>
              </a:rPr>
              <a:t>formulate </a:t>
            </a:r>
            <a:r>
              <a:rPr dirty="0" sz="3200" spc="-10" b="1" i="0">
                <a:latin typeface="Calibri"/>
                <a:cs typeface="Calibri"/>
              </a:rPr>
              <a:t>knowledge </a:t>
            </a:r>
            <a:r>
              <a:rPr dirty="0" sz="3200" spc="-20" b="1" i="0">
                <a:latin typeface="Calibri"/>
                <a:cs typeface="Calibri"/>
              </a:rPr>
              <a:t>graph </a:t>
            </a:r>
            <a:r>
              <a:rPr dirty="0" sz="3200" spc="-10" b="1" i="0">
                <a:latin typeface="Calibri"/>
                <a:cs typeface="Calibri"/>
              </a:rPr>
              <a:t>completion  problems </a:t>
            </a:r>
            <a:r>
              <a:rPr dirty="0" sz="3200" spc="-5" b="1" i="0">
                <a:latin typeface="Calibri"/>
                <a:cs typeface="Calibri"/>
              </a:rPr>
              <a:t>as </a:t>
            </a:r>
            <a:r>
              <a:rPr dirty="0" sz="3200" spc="-10" b="1" i="0">
                <a:latin typeface="Calibri"/>
                <a:cs typeface="Calibri"/>
              </a:rPr>
              <a:t>answering </a:t>
            </a:r>
            <a:r>
              <a:rPr dirty="0" sz="3200" spc="-5" b="1" i="0">
                <a:latin typeface="Calibri"/>
                <a:cs typeface="Calibri"/>
              </a:rPr>
              <a:t>one-hop</a:t>
            </a:r>
            <a:r>
              <a:rPr dirty="0" sz="3200" spc="10" b="1" i="0">
                <a:latin typeface="Calibri"/>
                <a:cs typeface="Calibri"/>
              </a:rPr>
              <a:t> </a:t>
            </a:r>
            <a:r>
              <a:rPr dirty="0" sz="3200" spc="-5" b="1" i="0">
                <a:latin typeface="Calibri"/>
                <a:cs typeface="Calibri"/>
              </a:rPr>
              <a:t>queries.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808732"/>
            <a:ext cx="70770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5" b="1">
                <a:solidFill>
                  <a:srgbClr val="0000FF"/>
                </a:solidFill>
                <a:latin typeface="Calibri"/>
                <a:cs typeface="Calibri"/>
              </a:rPr>
              <a:t>KG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completion</a:t>
            </a:r>
            <a:r>
              <a:rPr dirty="0" sz="3200" spc="-10" b="1">
                <a:latin typeface="Calibri"/>
                <a:cs typeface="Calibri"/>
              </a:rPr>
              <a:t>: </a:t>
            </a:r>
            <a:r>
              <a:rPr dirty="0" sz="3200">
                <a:latin typeface="Calibri"/>
                <a:cs typeface="Calibri"/>
              </a:rPr>
              <a:t>Is link </a:t>
            </a:r>
            <a:r>
              <a:rPr dirty="0" sz="3200" spc="10">
                <a:latin typeface="Cambria Math"/>
                <a:cs typeface="Cambria Math"/>
              </a:rPr>
              <a:t>(</a:t>
            </a:r>
            <a:r>
              <a:rPr dirty="0" sz="3200" spc="10">
                <a:solidFill>
                  <a:srgbClr val="0000FF"/>
                </a:solidFill>
                <a:latin typeface="Cambria Math"/>
                <a:cs typeface="Cambria Math"/>
              </a:rPr>
              <a:t>ℎ</a:t>
            </a:r>
            <a:r>
              <a:rPr dirty="0" sz="3200" spc="10">
                <a:latin typeface="Cambria Math"/>
                <a:cs typeface="Cambria Math"/>
              </a:rPr>
              <a:t>, </a:t>
            </a:r>
            <a:r>
              <a:rPr dirty="0" sz="3200" spc="25">
                <a:solidFill>
                  <a:srgbClr val="B48200"/>
                </a:solidFill>
                <a:latin typeface="Cambria Math"/>
                <a:cs typeface="Cambria Math"/>
              </a:rPr>
              <a:t>𝑟</a:t>
            </a:r>
            <a:r>
              <a:rPr dirty="0" sz="3200" spc="25">
                <a:latin typeface="Cambria Math"/>
                <a:cs typeface="Cambria Math"/>
              </a:rPr>
              <a:t>, </a:t>
            </a:r>
            <a:r>
              <a:rPr dirty="0" sz="3200" spc="30">
                <a:solidFill>
                  <a:srgbClr val="479249"/>
                </a:solidFill>
                <a:latin typeface="Cambria Math"/>
                <a:cs typeface="Cambria Math"/>
              </a:rPr>
              <a:t>𝑡</a:t>
            </a:r>
            <a:r>
              <a:rPr dirty="0" sz="3200" spc="30">
                <a:latin typeface="Cambria Math"/>
                <a:cs typeface="Cambria Math"/>
              </a:rPr>
              <a:t>) </a:t>
            </a:r>
            <a:r>
              <a:rPr dirty="0" sz="3200">
                <a:latin typeface="Calibri"/>
                <a:cs typeface="Calibri"/>
              </a:rPr>
              <a:t>in the</a:t>
            </a:r>
            <a:r>
              <a:rPr dirty="0" sz="3200" spc="-340">
                <a:latin typeface="Calibri"/>
                <a:cs typeface="Calibri"/>
              </a:rPr>
              <a:t> </a:t>
            </a:r>
            <a:r>
              <a:rPr dirty="0" sz="3200" spc="-45">
                <a:latin typeface="Calibri"/>
                <a:cs typeface="Calibri"/>
              </a:rPr>
              <a:t>KG?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4669173"/>
            <a:ext cx="8270240" cy="155067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One-hop query</a:t>
            </a:r>
            <a:r>
              <a:rPr dirty="0" sz="3200" spc="-5" b="1">
                <a:latin typeface="Calibri"/>
                <a:cs typeface="Calibri"/>
              </a:rPr>
              <a:t>: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>
                <a:solidFill>
                  <a:srgbClr val="479249"/>
                </a:solidFill>
                <a:latin typeface="Cambria Math"/>
                <a:cs typeface="Cambria Math"/>
              </a:rPr>
              <a:t>𝑡 </a:t>
            </a:r>
            <a:r>
              <a:rPr dirty="0" sz="3200">
                <a:latin typeface="Calibri"/>
                <a:cs typeface="Calibri"/>
              </a:rPr>
              <a:t>an </a:t>
            </a:r>
            <a:r>
              <a:rPr dirty="0" sz="3200" spc="-10">
                <a:latin typeface="Calibri"/>
                <a:cs typeface="Calibri"/>
              </a:rPr>
              <a:t>answer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query </a:t>
            </a:r>
            <a:r>
              <a:rPr dirty="0" sz="3200" spc="10">
                <a:latin typeface="Cambria Math"/>
                <a:cs typeface="Cambria Math"/>
              </a:rPr>
              <a:t>(</a:t>
            </a:r>
            <a:r>
              <a:rPr dirty="0" sz="3200" spc="10">
                <a:solidFill>
                  <a:srgbClr val="0000FF"/>
                </a:solidFill>
                <a:latin typeface="Cambria Math"/>
                <a:cs typeface="Cambria Math"/>
              </a:rPr>
              <a:t>ℎ</a:t>
            </a:r>
            <a:r>
              <a:rPr dirty="0" sz="3200" spc="10">
                <a:latin typeface="Cambria Math"/>
                <a:cs typeface="Cambria Math"/>
              </a:rPr>
              <a:t>,</a:t>
            </a:r>
            <a:r>
              <a:rPr dirty="0" sz="3200" spc="-50">
                <a:latin typeface="Cambria Math"/>
                <a:cs typeface="Cambria Math"/>
              </a:rPr>
              <a:t> </a:t>
            </a:r>
            <a:r>
              <a:rPr dirty="0" sz="3200" spc="5">
                <a:latin typeface="Cambria Math"/>
                <a:cs typeface="Cambria Math"/>
              </a:rPr>
              <a:t>(</a:t>
            </a:r>
            <a:r>
              <a:rPr dirty="0" sz="3200" spc="5">
                <a:solidFill>
                  <a:srgbClr val="B48200"/>
                </a:solidFill>
                <a:latin typeface="Cambria Math"/>
                <a:cs typeface="Cambria Math"/>
              </a:rPr>
              <a:t>𝑟</a:t>
            </a:r>
            <a:r>
              <a:rPr dirty="0" sz="3200" spc="5">
                <a:latin typeface="Cambria Math"/>
                <a:cs typeface="Cambria Math"/>
              </a:rPr>
              <a:t>)</a:t>
            </a:r>
            <a:r>
              <a:rPr dirty="0" sz="3200" spc="5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lvl="1" marL="625475" marR="340360" indent="-274320">
              <a:lnSpc>
                <a:spcPct val="100699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 b="1">
                <a:latin typeface="Calibri"/>
                <a:cs typeface="Calibri"/>
              </a:rPr>
              <a:t>For example: </a:t>
            </a:r>
            <a:r>
              <a:rPr dirty="0" sz="2800" spc="-10">
                <a:latin typeface="Calibri"/>
                <a:cs typeface="Calibri"/>
              </a:rPr>
              <a:t>What </a:t>
            </a:r>
            <a:r>
              <a:rPr dirty="0" sz="2800" spc="-5">
                <a:latin typeface="Calibri"/>
                <a:cs typeface="Calibri"/>
              </a:rPr>
              <a:t>side </a:t>
            </a:r>
            <a:r>
              <a:rPr dirty="0" sz="2800" spc="-25">
                <a:latin typeface="Calibri"/>
                <a:cs typeface="Calibri"/>
              </a:rPr>
              <a:t>effects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10">
                <a:latin typeface="Calibri"/>
                <a:cs typeface="Calibri"/>
              </a:rPr>
              <a:t>caused </a:t>
            </a:r>
            <a:r>
              <a:rPr dirty="0" sz="2800" spc="-5">
                <a:latin typeface="Calibri"/>
                <a:cs typeface="Calibri"/>
              </a:rPr>
              <a:t>by </a:t>
            </a:r>
            <a:r>
              <a:rPr dirty="0" sz="2800" spc="-114">
                <a:latin typeface="Calibri"/>
                <a:cs typeface="Calibri"/>
              </a:rPr>
              <a:t>drug </a:t>
            </a:r>
            <a:r>
              <a:rPr dirty="0" sz="2800" spc="-114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479249"/>
                </a:solidFill>
                <a:latin typeface="Calibri"/>
                <a:cs typeface="Calibri"/>
              </a:rPr>
              <a:t>Fulvestrant</a:t>
            </a:r>
            <a:r>
              <a:rPr dirty="0" sz="2800" spc="-15"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63567" y="3505200"/>
            <a:ext cx="485140" cy="1216660"/>
          </a:xfrm>
          <a:custGeom>
            <a:avLst/>
            <a:gdLst/>
            <a:ahLst/>
            <a:cxnLst/>
            <a:rect l="l" t="t" r="r" b="b"/>
            <a:pathLst>
              <a:path w="485139" h="1216660">
                <a:moveTo>
                  <a:pt x="0" y="242315"/>
                </a:moveTo>
                <a:lnTo>
                  <a:pt x="242316" y="0"/>
                </a:lnTo>
                <a:lnTo>
                  <a:pt x="484632" y="242315"/>
                </a:lnTo>
                <a:lnTo>
                  <a:pt x="363474" y="242315"/>
                </a:lnTo>
                <a:lnTo>
                  <a:pt x="363474" y="973836"/>
                </a:lnTo>
                <a:lnTo>
                  <a:pt x="484632" y="973836"/>
                </a:lnTo>
                <a:lnTo>
                  <a:pt x="242316" y="1216152"/>
                </a:lnTo>
                <a:lnTo>
                  <a:pt x="0" y="973836"/>
                </a:lnTo>
                <a:lnTo>
                  <a:pt x="121158" y="973836"/>
                </a:lnTo>
                <a:lnTo>
                  <a:pt x="121158" y="242315"/>
                </a:lnTo>
                <a:lnTo>
                  <a:pt x="0" y="24231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136392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1382" y="1349755"/>
            <a:ext cx="8659495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20" i="0">
                <a:latin typeface="Calibri"/>
                <a:cs typeface="Calibri"/>
              </a:rPr>
              <a:t>Generalize </a:t>
            </a:r>
            <a:r>
              <a:rPr dirty="0" sz="3000" spc="-5" i="0">
                <a:latin typeface="Calibri"/>
                <a:cs typeface="Calibri"/>
              </a:rPr>
              <a:t>one-hop queries </a:t>
            </a:r>
            <a:r>
              <a:rPr dirty="0" sz="3000" spc="-20" i="0">
                <a:latin typeface="Calibri"/>
                <a:cs typeface="Calibri"/>
              </a:rPr>
              <a:t>to </a:t>
            </a:r>
            <a:r>
              <a:rPr dirty="0" sz="3000" spc="-10" i="0">
                <a:latin typeface="Calibri"/>
                <a:cs typeface="Calibri"/>
              </a:rPr>
              <a:t>path </a:t>
            </a:r>
            <a:r>
              <a:rPr dirty="0" sz="3000" spc="-5" i="0">
                <a:latin typeface="Calibri"/>
                <a:cs typeface="Calibri"/>
              </a:rPr>
              <a:t>queries </a:t>
            </a:r>
            <a:r>
              <a:rPr dirty="0" sz="3000" spc="-10" i="0">
                <a:latin typeface="Calibri"/>
                <a:cs typeface="Calibri"/>
              </a:rPr>
              <a:t>by </a:t>
            </a:r>
            <a:r>
              <a:rPr dirty="0" sz="3000" spc="-5" b="1" i="0">
                <a:solidFill>
                  <a:srgbClr val="60B5CC"/>
                </a:solidFill>
                <a:latin typeface="Calibri"/>
                <a:cs typeface="Calibri"/>
              </a:rPr>
              <a:t>adding  </a:t>
            </a:r>
            <a:r>
              <a:rPr dirty="0" sz="3000" spc="-15" b="1" i="0">
                <a:solidFill>
                  <a:srgbClr val="60B5CC"/>
                </a:solidFill>
                <a:latin typeface="Calibri"/>
                <a:cs typeface="Calibri"/>
              </a:rPr>
              <a:t>more relations </a:t>
            </a:r>
            <a:r>
              <a:rPr dirty="0" sz="3000" spc="-5" b="1" i="0">
                <a:solidFill>
                  <a:srgbClr val="60B5CC"/>
                </a:solidFill>
                <a:latin typeface="Calibri"/>
                <a:cs typeface="Calibri"/>
              </a:rPr>
              <a:t>on the</a:t>
            </a:r>
            <a:r>
              <a:rPr dirty="0" sz="3000" spc="0" b="1" i="0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000" spc="-10" b="1" i="0">
                <a:solidFill>
                  <a:srgbClr val="60B5CC"/>
                </a:solidFill>
                <a:latin typeface="Calibri"/>
                <a:cs typeface="Calibri"/>
              </a:rPr>
              <a:t>path</a:t>
            </a:r>
            <a:r>
              <a:rPr dirty="0" sz="3000" spc="-10" i="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i="0">
                <a:latin typeface="Calibri"/>
                <a:cs typeface="Calibri"/>
              </a:rPr>
              <a:t>An </a:t>
            </a:r>
            <a:r>
              <a:rPr dirty="0" sz="3000" spc="0" i="0">
                <a:latin typeface="Cambria Math"/>
                <a:cs typeface="Cambria Math"/>
              </a:rPr>
              <a:t>𝑛</a:t>
            </a:r>
            <a:r>
              <a:rPr dirty="0" sz="3000" spc="0" i="0">
                <a:latin typeface="Calibri"/>
                <a:cs typeface="Calibri"/>
              </a:rPr>
              <a:t>-hop </a:t>
            </a:r>
            <a:r>
              <a:rPr dirty="0" sz="3000" spc="-10" i="0">
                <a:latin typeface="Calibri"/>
                <a:cs typeface="Calibri"/>
              </a:rPr>
              <a:t>path </a:t>
            </a:r>
            <a:r>
              <a:rPr dirty="0" sz="3000" spc="-5" i="0">
                <a:latin typeface="Calibri"/>
                <a:cs typeface="Calibri"/>
              </a:rPr>
              <a:t>query </a:t>
            </a:r>
            <a:r>
              <a:rPr dirty="0" sz="3000" i="0">
                <a:latin typeface="Cambria Math"/>
                <a:cs typeface="Cambria Math"/>
              </a:rPr>
              <a:t>𝑞 </a:t>
            </a:r>
            <a:r>
              <a:rPr dirty="0" sz="3000" spc="-15" i="0">
                <a:latin typeface="Calibri"/>
                <a:cs typeface="Calibri"/>
              </a:rPr>
              <a:t>can </a:t>
            </a:r>
            <a:r>
              <a:rPr dirty="0" sz="3000" spc="-5" i="0">
                <a:latin typeface="Calibri"/>
                <a:cs typeface="Calibri"/>
              </a:rPr>
              <a:t>be </a:t>
            </a:r>
            <a:r>
              <a:rPr dirty="0" sz="3000" spc="-20" i="0">
                <a:latin typeface="Calibri"/>
                <a:cs typeface="Calibri"/>
              </a:rPr>
              <a:t>represented</a:t>
            </a:r>
            <a:r>
              <a:rPr dirty="0" sz="3000" spc="50" i="0">
                <a:latin typeface="Calibri"/>
                <a:cs typeface="Calibri"/>
              </a:rPr>
              <a:t> </a:t>
            </a:r>
            <a:r>
              <a:rPr dirty="0" sz="3000" spc="-10" i="0">
                <a:latin typeface="Calibri"/>
                <a:cs typeface="Calibri"/>
              </a:rPr>
              <a:t>by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48394" y="2828709"/>
            <a:ext cx="1506855" cy="353060"/>
          </a:xfrm>
          <a:custGeom>
            <a:avLst/>
            <a:gdLst/>
            <a:ahLst/>
            <a:cxnLst/>
            <a:rect l="l" t="t" r="r" b="b"/>
            <a:pathLst>
              <a:path w="1506854" h="353060">
                <a:moveTo>
                  <a:pt x="1394273" y="0"/>
                </a:moveTo>
                <a:lnTo>
                  <a:pt x="1389250" y="14324"/>
                </a:lnTo>
                <a:lnTo>
                  <a:pt x="1409679" y="23190"/>
                </a:lnTo>
                <a:lnTo>
                  <a:pt x="1427248" y="35463"/>
                </a:lnTo>
                <a:lnTo>
                  <a:pt x="1453804" y="70228"/>
                </a:lnTo>
                <a:lnTo>
                  <a:pt x="1469432" y="117132"/>
                </a:lnTo>
                <a:lnTo>
                  <a:pt x="1474641" y="174687"/>
                </a:lnTo>
                <a:lnTo>
                  <a:pt x="1473333" y="205813"/>
                </a:lnTo>
                <a:lnTo>
                  <a:pt x="1462868" y="259483"/>
                </a:lnTo>
                <a:lnTo>
                  <a:pt x="1441869" y="301399"/>
                </a:lnTo>
                <a:lnTo>
                  <a:pt x="1409918" y="329677"/>
                </a:lnTo>
                <a:lnTo>
                  <a:pt x="1389809" y="338584"/>
                </a:lnTo>
                <a:lnTo>
                  <a:pt x="1394273" y="352908"/>
                </a:lnTo>
                <a:lnTo>
                  <a:pt x="1442410" y="330328"/>
                </a:lnTo>
                <a:lnTo>
                  <a:pt x="1477803" y="291237"/>
                </a:lnTo>
                <a:lnTo>
                  <a:pt x="1499569" y="238892"/>
                </a:lnTo>
                <a:lnTo>
                  <a:pt x="1506825" y="176547"/>
                </a:lnTo>
                <a:lnTo>
                  <a:pt x="1505006" y="144194"/>
                </a:lnTo>
                <a:lnTo>
                  <a:pt x="1490448" y="86849"/>
                </a:lnTo>
                <a:lnTo>
                  <a:pt x="1461578" y="40166"/>
                </a:lnTo>
                <a:lnTo>
                  <a:pt x="1419859" y="9238"/>
                </a:lnTo>
                <a:lnTo>
                  <a:pt x="1394273" y="0"/>
                </a:lnTo>
                <a:close/>
              </a:path>
              <a:path w="1506854" h="353060">
                <a:moveTo>
                  <a:pt x="112551" y="0"/>
                </a:moveTo>
                <a:lnTo>
                  <a:pt x="64530" y="22626"/>
                </a:lnTo>
                <a:lnTo>
                  <a:pt x="29113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4" y="266315"/>
                </a:lnTo>
                <a:lnTo>
                  <a:pt x="45124" y="312847"/>
                </a:lnTo>
                <a:lnTo>
                  <a:pt x="86889" y="343682"/>
                </a:lnTo>
                <a:lnTo>
                  <a:pt x="112551" y="352908"/>
                </a:lnTo>
                <a:lnTo>
                  <a:pt x="117015" y="338584"/>
                </a:lnTo>
                <a:lnTo>
                  <a:pt x="96906" y="329677"/>
                </a:lnTo>
                <a:lnTo>
                  <a:pt x="79552" y="317282"/>
                </a:lnTo>
                <a:lnTo>
                  <a:pt x="53112" y="282028"/>
                </a:lnTo>
                <a:lnTo>
                  <a:pt x="37415" y="234078"/>
                </a:lnTo>
                <a:lnTo>
                  <a:pt x="32183" y="174687"/>
                </a:lnTo>
                <a:lnTo>
                  <a:pt x="33491" y="144578"/>
                </a:lnTo>
                <a:lnTo>
                  <a:pt x="43956" y="92349"/>
                </a:lnTo>
                <a:lnTo>
                  <a:pt x="64989" y="51142"/>
                </a:lnTo>
                <a:lnTo>
                  <a:pt x="97220" y="23190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326950" y="3626484"/>
            <a:ext cx="117475" cy="0"/>
          </a:xfrm>
          <a:custGeom>
            <a:avLst/>
            <a:gdLst/>
            <a:ahLst/>
            <a:cxnLst/>
            <a:rect l="l" t="t" r="r" b="b"/>
            <a:pathLst>
              <a:path w="117475" h="0">
                <a:moveTo>
                  <a:pt x="0" y="0"/>
                </a:moveTo>
                <a:lnTo>
                  <a:pt x="11720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433827" y="3308350"/>
            <a:ext cx="0" cy="308610"/>
          </a:xfrm>
          <a:custGeom>
            <a:avLst/>
            <a:gdLst/>
            <a:ahLst/>
            <a:cxnLst/>
            <a:rect l="l" t="t" r="r" b="b"/>
            <a:pathLst>
              <a:path w="0" h="308610">
                <a:moveTo>
                  <a:pt x="0" y="0"/>
                </a:moveTo>
                <a:lnTo>
                  <a:pt x="0" y="308609"/>
                </a:lnTo>
              </a:path>
            </a:pathLst>
          </a:custGeom>
          <a:ln w="206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326950" y="3298825"/>
            <a:ext cx="117475" cy="0"/>
          </a:xfrm>
          <a:custGeom>
            <a:avLst/>
            <a:gdLst/>
            <a:ahLst/>
            <a:cxnLst/>
            <a:rect l="l" t="t" r="r" b="b"/>
            <a:pathLst>
              <a:path w="117475" h="0">
                <a:moveTo>
                  <a:pt x="0" y="0"/>
                </a:moveTo>
                <a:lnTo>
                  <a:pt x="11720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381924" y="3308250"/>
            <a:ext cx="0" cy="308610"/>
          </a:xfrm>
          <a:custGeom>
            <a:avLst/>
            <a:gdLst/>
            <a:ahLst/>
            <a:cxnLst/>
            <a:rect l="l" t="t" r="r" b="b"/>
            <a:pathLst>
              <a:path w="0" h="308610">
                <a:moveTo>
                  <a:pt x="0" y="0"/>
                </a:moveTo>
                <a:lnTo>
                  <a:pt x="0" y="308260"/>
                </a:lnTo>
              </a:path>
            </a:pathLst>
          </a:custGeom>
          <a:ln w="206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977382" y="3626484"/>
            <a:ext cx="117475" cy="0"/>
          </a:xfrm>
          <a:custGeom>
            <a:avLst/>
            <a:gdLst/>
            <a:ahLst/>
            <a:cxnLst/>
            <a:rect l="l" t="t" r="r" b="b"/>
            <a:pathLst>
              <a:path w="117475" h="0">
                <a:moveTo>
                  <a:pt x="0" y="0"/>
                </a:moveTo>
                <a:lnTo>
                  <a:pt x="11720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987707" y="3308350"/>
            <a:ext cx="0" cy="308610"/>
          </a:xfrm>
          <a:custGeom>
            <a:avLst/>
            <a:gdLst/>
            <a:ahLst/>
            <a:cxnLst/>
            <a:rect l="l" t="t" r="r" b="b"/>
            <a:pathLst>
              <a:path w="0" h="308610">
                <a:moveTo>
                  <a:pt x="0" y="0"/>
                </a:moveTo>
                <a:lnTo>
                  <a:pt x="0" y="308609"/>
                </a:lnTo>
              </a:path>
            </a:pathLst>
          </a:custGeom>
          <a:ln w="206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977382" y="3298825"/>
            <a:ext cx="117475" cy="0"/>
          </a:xfrm>
          <a:custGeom>
            <a:avLst/>
            <a:gdLst/>
            <a:ahLst/>
            <a:cxnLst/>
            <a:rect l="l" t="t" r="r" b="b"/>
            <a:pathLst>
              <a:path w="117475" h="0">
                <a:moveTo>
                  <a:pt x="0" y="0"/>
                </a:moveTo>
                <a:lnTo>
                  <a:pt x="11720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043331" y="3308250"/>
            <a:ext cx="0" cy="308610"/>
          </a:xfrm>
          <a:custGeom>
            <a:avLst/>
            <a:gdLst/>
            <a:ahLst/>
            <a:cxnLst/>
            <a:rect l="l" t="t" r="r" b="b"/>
            <a:pathLst>
              <a:path w="0" h="308610">
                <a:moveTo>
                  <a:pt x="0" y="0"/>
                </a:moveTo>
                <a:lnTo>
                  <a:pt x="0" y="308260"/>
                </a:lnTo>
              </a:path>
            </a:pathLst>
          </a:custGeom>
          <a:ln w="206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41382" y="2721355"/>
            <a:ext cx="846518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79700">
              <a:lnSpc>
                <a:spcPct val="100000"/>
              </a:lnSpc>
              <a:spcBef>
                <a:spcPts val="100"/>
              </a:spcBef>
              <a:tabLst>
                <a:tab pos="4231005" algn="l"/>
                <a:tab pos="5647055" algn="l"/>
              </a:tabLst>
            </a:pPr>
            <a:r>
              <a:rPr dirty="0" sz="3000">
                <a:latin typeface="Cambria Math"/>
                <a:cs typeface="Cambria Math"/>
              </a:rPr>
              <a:t>𝑞</a:t>
            </a:r>
            <a:r>
              <a:rPr dirty="0" sz="3000" spc="254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=</a:t>
            </a:r>
            <a:r>
              <a:rPr dirty="0" sz="3000" spc="160">
                <a:latin typeface="Cambria Math"/>
                <a:cs typeface="Cambria Math"/>
              </a:rPr>
              <a:t> </a:t>
            </a:r>
            <a:r>
              <a:rPr dirty="0" sz="3000" spc="165">
                <a:latin typeface="Cambria Math"/>
                <a:cs typeface="Cambria Math"/>
              </a:rPr>
              <a:t>(</a:t>
            </a:r>
            <a:r>
              <a:rPr dirty="0" sz="3000" spc="165">
                <a:solidFill>
                  <a:srgbClr val="0000FF"/>
                </a:solidFill>
                <a:latin typeface="Cambria Math"/>
                <a:cs typeface="Cambria Math"/>
              </a:rPr>
              <a:t>𝑣</a:t>
            </a:r>
            <a:r>
              <a:rPr dirty="0" baseline="-15151" sz="3300" spc="247">
                <a:solidFill>
                  <a:srgbClr val="0000FF"/>
                </a:solidFill>
                <a:latin typeface="Cambria Math"/>
                <a:cs typeface="Cambria Math"/>
              </a:rPr>
              <a:t>!</a:t>
            </a:r>
            <a:r>
              <a:rPr dirty="0" sz="3000" spc="165">
                <a:latin typeface="Cambria Math"/>
                <a:cs typeface="Cambria Math"/>
              </a:rPr>
              <a:t>,	</a:t>
            </a:r>
            <a:r>
              <a:rPr dirty="0" sz="3000" spc="25">
                <a:latin typeface="Cambria Math"/>
                <a:cs typeface="Cambria Math"/>
              </a:rPr>
              <a:t>𝑟</a:t>
            </a:r>
            <a:r>
              <a:rPr dirty="0" baseline="-15151" sz="3300" spc="37">
                <a:latin typeface="Cambria Math"/>
                <a:cs typeface="Cambria Math"/>
              </a:rPr>
              <a:t>"</a:t>
            </a:r>
            <a:r>
              <a:rPr dirty="0" sz="3000" spc="25">
                <a:latin typeface="Cambria Math"/>
                <a:cs typeface="Cambria Math"/>
              </a:rPr>
              <a:t>, </a:t>
            </a:r>
            <a:r>
              <a:rPr dirty="0" sz="3000">
                <a:latin typeface="Cambria Math"/>
                <a:cs typeface="Cambria Math"/>
              </a:rPr>
              <a:t>…</a:t>
            </a:r>
            <a:r>
              <a:rPr dirty="0" sz="3000" spc="-35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,</a:t>
            </a:r>
            <a:r>
              <a:rPr dirty="0" sz="3000" spc="-165">
                <a:latin typeface="Cambria Math"/>
                <a:cs typeface="Cambria Math"/>
              </a:rPr>
              <a:t> </a:t>
            </a:r>
            <a:r>
              <a:rPr dirty="0" sz="3000" spc="-220">
                <a:latin typeface="Cambria Math"/>
                <a:cs typeface="Cambria Math"/>
              </a:rPr>
              <a:t>𝑟</a:t>
            </a:r>
            <a:r>
              <a:rPr dirty="0" baseline="-15151" sz="3300" spc="-330">
                <a:latin typeface="Cambria Math"/>
                <a:cs typeface="Cambria Math"/>
              </a:rPr>
              <a:t>#	</a:t>
            </a:r>
            <a:r>
              <a:rPr dirty="0" sz="3000">
                <a:latin typeface="Cambria Math"/>
                <a:cs typeface="Cambria Math"/>
              </a:rPr>
              <a:t>)</a:t>
            </a:r>
            <a:endParaRPr sz="3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tabLst>
                <a:tab pos="7760970" algn="l"/>
                <a:tab pos="8145145" algn="l"/>
              </a:tabLst>
            </a:pPr>
            <a:r>
              <a:rPr dirty="0" sz="3000" spc="280">
                <a:solidFill>
                  <a:srgbClr val="0000FF"/>
                </a:solidFill>
                <a:latin typeface="Cambria Math"/>
                <a:cs typeface="Cambria Math"/>
              </a:rPr>
              <a:t>𝑣</a:t>
            </a:r>
            <a:r>
              <a:rPr dirty="0" baseline="-15151" sz="3300" spc="419">
                <a:solidFill>
                  <a:srgbClr val="0000FF"/>
                </a:solidFill>
                <a:latin typeface="Cambria Math"/>
                <a:cs typeface="Cambria Math"/>
              </a:rPr>
              <a:t>! </a:t>
            </a:r>
            <a:r>
              <a:rPr dirty="0" sz="3000" spc="-5">
                <a:latin typeface="Calibri"/>
                <a:cs typeface="Calibri"/>
              </a:rPr>
              <a:t>is </a:t>
            </a:r>
            <a:r>
              <a:rPr dirty="0" sz="3000">
                <a:latin typeface="Calibri"/>
                <a:cs typeface="Calibri"/>
              </a:rPr>
              <a:t>an “anchor” </a:t>
            </a:r>
            <a:r>
              <a:rPr dirty="0" sz="3000" spc="-40">
                <a:latin typeface="Calibri"/>
                <a:cs typeface="Calibri"/>
              </a:rPr>
              <a:t>entity, </a:t>
            </a:r>
            <a:r>
              <a:rPr dirty="0" sz="3000" spc="-15">
                <a:latin typeface="Calibri"/>
                <a:cs typeface="Calibri"/>
              </a:rPr>
              <a:t>answers are</a:t>
            </a:r>
            <a:r>
              <a:rPr dirty="0" sz="3000" spc="-9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denoted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by	</a:t>
            </a:r>
            <a:r>
              <a:rPr dirty="0" sz="3000">
                <a:latin typeface="Cambria Math"/>
                <a:cs typeface="Cambria Math"/>
              </a:rPr>
              <a:t>𝑞	</a:t>
            </a:r>
            <a:r>
              <a:rPr dirty="0" baseline="-15151" sz="3300" spc="352">
                <a:latin typeface="Cambria Math"/>
                <a:cs typeface="Cambria Math"/>
              </a:rPr>
              <a:t>$</a:t>
            </a:r>
            <a:r>
              <a:rPr dirty="0" sz="3000" spc="235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000" b="1">
                <a:latin typeface="Calibri"/>
                <a:cs typeface="Calibri"/>
              </a:rPr>
              <a:t>Query </a:t>
            </a:r>
            <a:r>
              <a:rPr dirty="0" sz="3000" spc="-5" b="1">
                <a:latin typeface="Calibri"/>
                <a:cs typeface="Calibri"/>
              </a:rPr>
              <a:t>Plan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 spc="35">
                <a:latin typeface="Cambria Math"/>
                <a:cs typeface="Cambria Math"/>
              </a:rPr>
              <a:t>𝑞</a:t>
            </a:r>
            <a:r>
              <a:rPr dirty="0" sz="3000" spc="35">
                <a:latin typeface="Calibri"/>
                <a:cs typeface="Calibri"/>
              </a:rPr>
              <a:t>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1382" y="5921755"/>
            <a:ext cx="589978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2F92"/>
                </a:solidFill>
                <a:latin typeface="Calibri"/>
                <a:cs typeface="Calibri"/>
              </a:rPr>
              <a:t>Query </a:t>
            </a:r>
            <a:r>
              <a:rPr dirty="0" sz="3000" spc="-5" b="1">
                <a:solidFill>
                  <a:srgbClr val="FF2F92"/>
                </a:solidFill>
                <a:latin typeface="Calibri"/>
                <a:cs typeface="Calibri"/>
              </a:rPr>
              <a:t>plan of </a:t>
            </a:r>
            <a:r>
              <a:rPr dirty="0" sz="3000" spc="-10" b="1">
                <a:solidFill>
                  <a:srgbClr val="FF2F92"/>
                </a:solidFill>
                <a:latin typeface="Calibri"/>
                <a:cs typeface="Calibri"/>
              </a:rPr>
              <a:t>path </a:t>
            </a:r>
            <a:r>
              <a:rPr dirty="0" sz="3000" spc="-5" b="1">
                <a:solidFill>
                  <a:srgbClr val="FF2F92"/>
                </a:solidFill>
                <a:latin typeface="Calibri"/>
                <a:cs typeface="Calibri"/>
              </a:rPr>
              <a:t>queries is </a:t>
            </a:r>
            <a:r>
              <a:rPr dirty="0" sz="3000" b="1">
                <a:solidFill>
                  <a:srgbClr val="FF2F92"/>
                </a:solidFill>
                <a:latin typeface="Calibri"/>
                <a:cs typeface="Calibri"/>
              </a:rPr>
              <a:t>a</a:t>
            </a:r>
            <a:r>
              <a:rPr dirty="0" sz="3000" spc="-65" b="1">
                <a:solidFill>
                  <a:srgbClr val="FF2F92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FF2F92"/>
                </a:solidFill>
                <a:latin typeface="Calibri"/>
                <a:cs typeface="Calibri"/>
              </a:rPr>
              <a:t>chain.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8614" y="5435776"/>
            <a:ext cx="1424305" cy="114300"/>
          </a:xfrm>
          <a:custGeom>
            <a:avLst/>
            <a:gdLst/>
            <a:ahLst/>
            <a:cxnLst/>
            <a:rect l="l" t="t" r="r" b="b"/>
            <a:pathLst>
              <a:path w="1424304" h="114300">
                <a:moveTo>
                  <a:pt x="1309378" y="0"/>
                </a:moveTo>
                <a:lnTo>
                  <a:pt x="1309378" y="114299"/>
                </a:lnTo>
                <a:lnTo>
                  <a:pt x="1385578" y="76199"/>
                </a:lnTo>
                <a:lnTo>
                  <a:pt x="1328428" y="76199"/>
                </a:lnTo>
                <a:lnTo>
                  <a:pt x="1328428" y="38099"/>
                </a:lnTo>
                <a:lnTo>
                  <a:pt x="1385578" y="38099"/>
                </a:lnTo>
                <a:lnTo>
                  <a:pt x="1309378" y="0"/>
                </a:lnTo>
                <a:close/>
              </a:path>
              <a:path w="1424304" h="114300">
                <a:moveTo>
                  <a:pt x="130937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1309378" y="76199"/>
                </a:lnTo>
                <a:lnTo>
                  <a:pt x="1309378" y="38099"/>
                </a:lnTo>
                <a:close/>
              </a:path>
              <a:path w="1424304" h="114300">
                <a:moveTo>
                  <a:pt x="1385578" y="38099"/>
                </a:moveTo>
                <a:lnTo>
                  <a:pt x="1328428" y="38099"/>
                </a:lnTo>
                <a:lnTo>
                  <a:pt x="1328428" y="76199"/>
                </a:lnTo>
                <a:lnTo>
                  <a:pt x="1385578" y="76199"/>
                </a:lnTo>
                <a:lnTo>
                  <a:pt x="1423678" y="57149"/>
                </a:lnTo>
                <a:lnTo>
                  <a:pt x="1385578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515003" y="5435776"/>
            <a:ext cx="1532255" cy="114300"/>
          </a:xfrm>
          <a:custGeom>
            <a:avLst/>
            <a:gdLst/>
            <a:ahLst/>
            <a:cxnLst/>
            <a:rect l="l" t="t" r="r" b="b"/>
            <a:pathLst>
              <a:path w="1532254" h="114300">
                <a:moveTo>
                  <a:pt x="1417510" y="0"/>
                </a:moveTo>
                <a:lnTo>
                  <a:pt x="1417510" y="114299"/>
                </a:lnTo>
                <a:lnTo>
                  <a:pt x="1493710" y="76199"/>
                </a:lnTo>
                <a:lnTo>
                  <a:pt x="1436560" y="76199"/>
                </a:lnTo>
                <a:lnTo>
                  <a:pt x="1436560" y="38099"/>
                </a:lnTo>
                <a:lnTo>
                  <a:pt x="1493710" y="38099"/>
                </a:lnTo>
                <a:lnTo>
                  <a:pt x="1417510" y="0"/>
                </a:lnTo>
                <a:close/>
              </a:path>
              <a:path w="1532254" h="114300">
                <a:moveTo>
                  <a:pt x="141751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1417510" y="76199"/>
                </a:lnTo>
                <a:lnTo>
                  <a:pt x="1417510" y="38099"/>
                </a:lnTo>
                <a:close/>
              </a:path>
              <a:path w="1532254" h="114300">
                <a:moveTo>
                  <a:pt x="1493710" y="38099"/>
                </a:moveTo>
                <a:lnTo>
                  <a:pt x="1436560" y="38099"/>
                </a:lnTo>
                <a:lnTo>
                  <a:pt x="1436560" y="76199"/>
                </a:lnTo>
                <a:lnTo>
                  <a:pt x="1493710" y="76199"/>
                </a:lnTo>
                <a:lnTo>
                  <a:pt x="1531810" y="57149"/>
                </a:lnTo>
                <a:lnTo>
                  <a:pt x="1493710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45904" y="538451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645904" y="538451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424759" y="5385120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424759" y="5385120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92293" y="538451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292293" y="538451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444766" y="5547867"/>
            <a:ext cx="24892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95">
                <a:latin typeface="Cambria Math"/>
                <a:cs typeface="Cambria Math"/>
              </a:rPr>
              <a:t>𝑉</a:t>
            </a:r>
            <a:r>
              <a:rPr dirty="0" baseline="-15625" sz="2400">
                <a:latin typeface="Cambria Math"/>
                <a:cs typeface="Cambria Math"/>
              </a:rPr>
              <a:t>?</a:t>
            </a:r>
            <a:endParaRPr baseline="-15625"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04669" y="5544820"/>
            <a:ext cx="28892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30">
                <a:solidFill>
                  <a:srgbClr val="0000FF"/>
                </a:solidFill>
                <a:latin typeface="Cambria Math"/>
                <a:cs typeface="Cambria Math"/>
              </a:rPr>
              <a:t>𝑣</a:t>
            </a:r>
            <a:r>
              <a:rPr dirty="0" baseline="-15625" sz="2400" spc="547">
                <a:solidFill>
                  <a:srgbClr val="0000FF"/>
                </a:solidFill>
                <a:latin typeface="Cambria Math"/>
                <a:cs typeface="Cambria Math"/>
              </a:rPr>
              <a:t>"</a:t>
            </a:r>
            <a:endParaRPr baseline="-15625"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23369" y="5066284"/>
            <a:ext cx="23939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90">
                <a:latin typeface="Cambria Math"/>
                <a:cs typeface="Cambria Math"/>
              </a:rPr>
              <a:t>𝑟</a:t>
            </a:r>
            <a:r>
              <a:rPr dirty="0" baseline="-15625" sz="2400" spc="-97">
                <a:latin typeface="Cambria Math"/>
                <a:cs typeface="Cambria Math"/>
              </a:rPr>
              <a:t>#</a:t>
            </a:r>
            <a:endParaRPr baseline="-15625"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04775" y="5066284"/>
            <a:ext cx="24574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40">
                <a:latin typeface="Cambria Math"/>
                <a:cs typeface="Cambria Math"/>
              </a:rPr>
              <a:t>𝑟</a:t>
            </a:r>
            <a:r>
              <a:rPr dirty="0" baseline="-15625" sz="2400" spc="165">
                <a:latin typeface="Cambria Math"/>
                <a:cs typeface="Cambria Math"/>
              </a:rPr>
              <a:t>$</a:t>
            </a:r>
            <a:endParaRPr baseline="-15625"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61514" y="5436020"/>
            <a:ext cx="1563370" cy="114300"/>
          </a:xfrm>
          <a:custGeom>
            <a:avLst/>
            <a:gdLst/>
            <a:ahLst/>
            <a:cxnLst/>
            <a:rect l="l" t="t" r="r" b="b"/>
            <a:pathLst>
              <a:path w="1563370" h="114300">
                <a:moveTo>
                  <a:pt x="1448884" y="76198"/>
                </a:moveTo>
                <a:lnTo>
                  <a:pt x="1448765" y="114298"/>
                </a:lnTo>
                <a:lnTo>
                  <a:pt x="1525445" y="76258"/>
                </a:lnTo>
                <a:lnTo>
                  <a:pt x="1467933" y="76258"/>
                </a:lnTo>
                <a:lnTo>
                  <a:pt x="1448884" y="76198"/>
                </a:lnTo>
                <a:close/>
              </a:path>
              <a:path w="1563370" h="114300">
                <a:moveTo>
                  <a:pt x="1449003" y="38100"/>
                </a:moveTo>
                <a:lnTo>
                  <a:pt x="1448884" y="76198"/>
                </a:lnTo>
                <a:lnTo>
                  <a:pt x="1467933" y="76258"/>
                </a:lnTo>
                <a:lnTo>
                  <a:pt x="1468052" y="38159"/>
                </a:lnTo>
                <a:lnTo>
                  <a:pt x="1449003" y="38100"/>
                </a:lnTo>
                <a:close/>
              </a:path>
              <a:path w="1563370" h="114300">
                <a:moveTo>
                  <a:pt x="1449123" y="0"/>
                </a:moveTo>
                <a:lnTo>
                  <a:pt x="1449003" y="38100"/>
                </a:lnTo>
                <a:lnTo>
                  <a:pt x="1468052" y="38159"/>
                </a:lnTo>
                <a:lnTo>
                  <a:pt x="1467933" y="76258"/>
                </a:lnTo>
                <a:lnTo>
                  <a:pt x="1525445" y="76258"/>
                </a:lnTo>
                <a:lnTo>
                  <a:pt x="1563244" y="57506"/>
                </a:lnTo>
                <a:lnTo>
                  <a:pt x="1449123" y="0"/>
                </a:lnTo>
                <a:close/>
              </a:path>
              <a:path w="1563370" h="114300">
                <a:moveTo>
                  <a:pt x="119" y="33561"/>
                </a:moveTo>
                <a:lnTo>
                  <a:pt x="0" y="71659"/>
                </a:lnTo>
                <a:lnTo>
                  <a:pt x="1448884" y="76198"/>
                </a:lnTo>
                <a:lnTo>
                  <a:pt x="1449003" y="38100"/>
                </a:lnTo>
                <a:lnTo>
                  <a:pt x="119" y="335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578190" y="5060188"/>
            <a:ext cx="2444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365">
                <a:latin typeface="Cambria Math"/>
                <a:cs typeface="Cambria Math"/>
              </a:rPr>
              <a:t>𝑟</a:t>
            </a:r>
            <a:r>
              <a:rPr dirty="0" baseline="-15625" sz="2400" spc="-577">
                <a:latin typeface="Cambria Math"/>
                <a:cs typeface="Cambria Math"/>
              </a:rPr>
              <a:t>%</a:t>
            </a:r>
            <a:endParaRPr baseline="-15625" sz="24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638863" y="538022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1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1" y="208296"/>
                </a:lnTo>
                <a:lnTo>
                  <a:pt x="111354" y="216816"/>
                </a:lnTo>
                <a:lnTo>
                  <a:pt x="154699" y="208296"/>
                </a:lnTo>
                <a:lnTo>
                  <a:pt x="190095" y="185064"/>
                </a:lnTo>
                <a:lnTo>
                  <a:pt x="213960" y="150605"/>
                </a:lnTo>
                <a:lnTo>
                  <a:pt x="222711" y="108408"/>
                </a:lnTo>
                <a:lnTo>
                  <a:pt x="213960" y="66210"/>
                </a:lnTo>
                <a:lnTo>
                  <a:pt x="190095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638864" y="538022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210298" y="5174488"/>
            <a:ext cx="27749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Corbel"/>
                <a:cs typeface="Corbel"/>
              </a:rPr>
              <a:t>…</a:t>
            </a:r>
            <a:endParaRPr sz="2500">
              <a:latin typeface="Corbel"/>
              <a:cs typeface="Corbe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136392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261225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z="3200" spc="-5" i="0">
                <a:latin typeface="Calibri"/>
                <a:cs typeface="Calibri"/>
              </a:rPr>
              <a:t>“</a:t>
            </a:r>
            <a:r>
              <a:rPr dirty="0" sz="3200" spc="-5"/>
              <a:t>What proteins </a:t>
            </a:r>
            <a:r>
              <a:rPr dirty="0" sz="3200"/>
              <a:t>are </a:t>
            </a:r>
            <a:r>
              <a:rPr dirty="0" sz="3200" spc="-5" b="1">
                <a:solidFill>
                  <a:srgbClr val="479249"/>
                </a:solidFill>
                <a:latin typeface="Calibri"/>
                <a:cs typeface="Calibri"/>
              </a:rPr>
              <a:t>associated </a:t>
            </a:r>
            <a:r>
              <a:rPr dirty="0" sz="3200" spc="-5"/>
              <a:t>with adverse  </a:t>
            </a:r>
            <a:r>
              <a:rPr dirty="0" sz="3200" spc="-15" i="1"/>
              <a:t>events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caused </a:t>
            </a:r>
            <a:r>
              <a:rPr dirty="0" sz="3200" spc="-10"/>
              <a:t>by</a:t>
            </a:r>
            <a:r>
              <a:rPr dirty="0" sz="3200"/>
              <a:t> </a:t>
            </a:r>
            <a:r>
              <a:rPr dirty="0" sz="3200" spc="-10" b="1">
                <a:solidFill>
                  <a:srgbClr val="0070C0"/>
                </a:solidFill>
                <a:latin typeface="Calibri"/>
                <a:cs typeface="Calibri"/>
              </a:rPr>
              <a:t>Fulvestrant</a:t>
            </a:r>
            <a:r>
              <a:rPr dirty="0" sz="3200" spc="-10"/>
              <a:t>?</a:t>
            </a:r>
            <a:r>
              <a:rPr dirty="0" sz="3200" spc="-10" i="0">
                <a:latin typeface="Calibri"/>
                <a:cs typeface="Calibri"/>
              </a:rPr>
              <a:t>”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285" i="0">
                <a:latin typeface="Cambria Math"/>
                <a:cs typeface="Cambria Math"/>
              </a:rPr>
              <a:t>𝑣</a:t>
            </a:r>
            <a:r>
              <a:rPr dirty="0" baseline="-15700" sz="3450" spc="427" i="0">
                <a:latin typeface="Cambria Math"/>
                <a:cs typeface="Cambria Math"/>
              </a:rPr>
              <a:t>! </a:t>
            </a:r>
            <a:r>
              <a:rPr dirty="0" sz="3200" i="0">
                <a:latin typeface="Calibri"/>
                <a:cs typeface="Calibri"/>
              </a:rPr>
              <a:t>is</a:t>
            </a:r>
            <a:r>
              <a:rPr dirty="0" sz="3200" spc="-175" i="0">
                <a:latin typeface="Calibri"/>
                <a:cs typeface="Calibri"/>
              </a:rPr>
              <a:t> </a:t>
            </a:r>
            <a:r>
              <a:rPr dirty="0" sz="3200" spc="-20" b="1" i="0">
                <a:solidFill>
                  <a:srgbClr val="0070C0"/>
                </a:solidFill>
                <a:latin typeface="Calibri"/>
                <a:cs typeface="Calibri"/>
              </a:rPr>
              <a:t>e:Fulvestrant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86567" y="2924072"/>
            <a:ext cx="1083310" cy="376555"/>
          </a:xfrm>
          <a:custGeom>
            <a:avLst/>
            <a:gdLst/>
            <a:ahLst/>
            <a:cxnLst/>
            <a:rect l="l" t="t" r="r" b="b"/>
            <a:pathLst>
              <a:path w="1083310" h="376554">
                <a:moveTo>
                  <a:pt x="963080" y="0"/>
                </a:moveTo>
                <a:lnTo>
                  <a:pt x="957722" y="15279"/>
                </a:lnTo>
                <a:lnTo>
                  <a:pt x="979513" y="24736"/>
                </a:lnTo>
                <a:lnTo>
                  <a:pt x="998253" y="37826"/>
                </a:lnTo>
                <a:lnTo>
                  <a:pt x="1026580" y="74909"/>
                </a:lnTo>
                <a:lnTo>
                  <a:pt x="1043249" y="124940"/>
                </a:lnTo>
                <a:lnTo>
                  <a:pt x="1048805" y="186331"/>
                </a:lnTo>
                <a:lnTo>
                  <a:pt x="1047410" y="219533"/>
                </a:lnTo>
                <a:lnTo>
                  <a:pt x="1036248" y="276782"/>
                </a:lnTo>
                <a:lnTo>
                  <a:pt x="1013849" y="321493"/>
                </a:lnTo>
                <a:lnTo>
                  <a:pt x="979767" y="351655"/>
                </a:lnTo>
                <a:lnTo>
                  <a:pt x="958317" y="361156"/>
                </a:lnTo>
                <a:lnTo>
                  <a:pt x="963080" y="376435"/>
                </a:lnTo>
                <a:lnTo>
                  <a:pt x="1014425" y="352350"/>
                </a:lnTo>
                <a:lnTo>
                  <a:pt x="1052178" y="310653"/>
                </a:lnTo>
                <a:lnTo>
                  <a:pt x="1075395" y="254818"/>
                </a:lnTo>
                <a:lnTo>
                  <a:pt x="1083134" y="188316"/>
                </a:lnTo>
                <a:lnTo>
                  <a:pt x="1081193" y="153807"/>
                </a:lnTo>
                <a:lnTo>
                  <a:pt x="1065666" y="92638"/>
                </a:lnTo>
                <a:lnTo>
                  <a:pt x="1034871" y="42843"/>
                </a:lnTo>
                <a:lnTo>
                  <a:pt x="990371" y="9853"/>
                </a:lnTo>
                <a:lnTo>
                  <a:pt x="963080" y="0"/>
                </a:lnTo>
                <a:close/>
              </a:path>
              <a:path w="1083310" h="376554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7" y="361156"/>
                </a:lnTo>
                <a:lnTo>
                  <a:pt x="103367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2808732"/>
            <a:ext cx="7313295" cy="1010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1015" indent="-488315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501015" algn="l"/>
                <a:tab pos="501650" algn="l"/>
                <a:tab pos="1579245" algn="l"/>
              </a:tabLst>
            </a:pPr>
            <a:r>
              <a:rPr dirty="0" sz="3200" spc="25">
                <a:latin typeface="Cambria Math"/>
                <a:cs typeface="Cambria Math"/>
              </a:rPr>
              <a:t>𝑟</a:t>
            </a:r>
            <a:r>
              <a:rPr dirty="0" baseline="-15700" sz="3450" spc="37">
                <a:latin typeface="Cambria Math"/>
                <a:cs typeface="Cambria Math"/>
              </a:rPr>
              <a:t>"</a:t>
            </a:r>
            <a:r>
              <a:rPr dirty="0" sz="3200" spc="25">
                <a:latin typeface="Cambria Math"/>
                <a:cs typeface="Cambria Math"/>
              </a:rPr>
              <a:t>,</a:t>
            </a:r>
            <a:r>
              <a:rPr dirty="0" sz="3200" spc="-110">
                <a:latin typeface="Cambria Math"/>
                <a:cs typeface="Cambria Math"/>
              </a:rPr>
              <a:t> </a:t>
            </a:r>
            <a:r>
              <a:rPr dirty="0" sz="3200" spc="-225">
                <a:latin typeface="Cambria Math"/>
                <a:cs typeface="Cambria Math"/>
              </a:rPr>
              <a:t>𝑟</a:t>
            </a:r>
            <a:r>
              <a:rPr dirty="0" baseline="-15700" sz="3450" spc="-337">
                <a:latin typeface="Cambria Math"/>
                <a:cs typeface="Cambria Math"/>
              </a:rPr>
              <a:t>#	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5">
                <a:latin typeface="Calibri"/>
                <a:cs typeface="Calibri"/>
              </a:rPr>
              <a:t>(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r:Causes</a:t>
            </a:r>
            <a:r>
              <a:rPr dirty="0" sz="3200" spc="-5">
                <a:latin typeface="Calibri"/>
                <a:cs typeface="Calibri"/>
              </a:rPr>
              <a:t>,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479249"/>
                </a:solidFill>
                <a:latin typeface="Calibri"/>
                <a:cs typeface="Calibri"/>
              </a:rPr>
              <a:t>r:Assoc</a:t>
            </a:r>
            <a:r>
              <a:rPr dirty="0" sz="3200" spc="-5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Query: </a:t>
            </a:r>
            <a:r>
              <a:rPr dirty="0" sz="3200" spc="-15">
                <a:latin typeface="Calibri"/>
                <a:cs typeface="Calibri"/>
              </a:rPr>
              <a:t>(</a:t>
            </a:r>
            <a:r>
              <a:rPr dirty="0" sz="3200" spc="-15" b="1">
                <a:solidFill>
                  <a:srgbClr val="0070C0"/>
                </a:solidFill>
                <a:latin typeface="Calibri"/>
                <a:cs typeface="Calibri"/>
              </a:rPr>
              <a:t>e:Fulvestrant</a:t>
            </a:r>
            <a:r>
              <a:rPr dirty="0" sz="3200" spc="-15">
                <a:latin typeface="Calibri"/>
                <a:cs typeface="Calibri"/>
              </a:rPr>
              <a:t>, </a:t>
            </a:r>
            <a:r>
              <a:rPr dirty="0" sz="3200" spc="-5">
                <a:latin typeface="Calibri"/>
                <a:cs typeface="Calibri"/>
              </a:rPr>
              <a:t>(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r:Causes</a:t>
            </a:r>
            <a:r>
              <a:rPr dirty="0" sz="3200" spc="-5">
                <a:latin typeface="Calibri"/>
                <a:cs typeface="Calibri"/>
              </a:rPr>
              <a:t>,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479249"/>
                </a:solidFill>
                <a:latin typeface="Calibri"/>
                <a:cs typeface="Calibri"/>
              </a:rPr>
              <a:t>r:Assoc</a:t>
            </a:r>
            <a:r>
              <a:rPr dirty="0" sz="3200" spc="-5">
                <a:latin typeface="Calibri"/>
                <a:cs typeface="Calibri"/>
              </a:rPr>
              <a:t>))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7723" y="4245355"/>
            <a:ext cx="800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au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4933" y="4260596"/>
            <a:ext cx="648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548235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548235"/>
                </a:solidFill>
                <a:latin typeface="Arial"/>
                <a:cs typeface="Arial"/>
              </a:rPr>
              <a:t>ss</a:t>
            </a:r>
            <a:r>
              <a:rPr dirty="0" sz="1800" spc="-5">
                <a:solidFill>
                  <a:srgbClr val="548235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548235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74481" y="4654803"/>
            <a:ext cx="20066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Cambria Math"/>
                <a:cs typeface="Cambria Math"/>
              </a:rPr>
              <a:t>𝑉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40138" y="4540892"/>
            <a:ext cx="1424305" cy="114300"/>
          </a:xfrm>
          <a:custGeom>
            <a:avLst/>
            <a:gdLst/>
            <a:ahLst/>
            <a:cxnLst/>
            <a:rect l="l" t="t" r="r" b="b"/>
            <a:pathLst>
              <a:path w="1424305" h="114300">
                <a:moveTo>
                  <a:pt x="1309377" y="76199"/>
                </a:moveTo>
                <a:lnTo>
                  <a:pt x="1309377" y="114299"/>
                </a:lnTo>
                <a:lnTo>
                  <a:pt x="1385577" y="76199"/>
                </a:lnTo>
                <a:lnTo>
                  <a:pt x="1309377" y="76199"/>
                </a:lnTo>
                <a:close/>
              </a:path>
              <a:path w="1424305" h="114300">
                <a:moveTo>
                  <a:pt x="1309377" y="38099"/>
                </a:moveTo>
                <a:lnTo>
                  <a:pt x="1309377" y="76199"/>
                </a:lnTo>
                <a:lnTo>
                  <a:pt x="1328428" y="76199"/>
                </a:lnTo>
                <a:lnTo>
                  <a:pt x="1328428" y="38099"/>
                </a:lnTo>
                <a:lnTo>
                  <a:pt x="1309377" y="38099"/>
                </a:lnTo>
                <a:close/>
              </a:path>
              <a:path w="1424305" h="114300">
                <a:moveTo>
                  <a:pt x="1309377" y="0"/>
                </a:moveTo>
                <a:lnTo>
                  <a:pt x="1309377" y="38099"/>
                </a:lnTo>
                <a:lnTo>
                  <a:pt x="1328428" y="38099"/>
                </a:lnTo>
                <a:lnTo>
                  <a:pt x="1328428" y="76199"/>
                </a:lnTo>
                <a:lnTo>
                  <a:pt x="1385580" y="76198"/>
                </a:lnTo>
                <a:lnTo>
                  <a:pt x="1423677" y="57149"/>
                </a:lnTo>
                <a:lnTo>
                  <a:pt x="1309377" y="0"/>
                </a:lnTo>
                <a:close/>
              </a:path>
              <a:path w="1424305" h="114300">
                <a:moveTo>
                  <a:pt x="0" y="38098"/>
                </a:moveTo>
                <a:lnTo>
                  <a:pt x="0" y="76198"/>
                </a:lnTo>
                <a:lnTo>
                  <a:pt x="1309377" y="76199"/>
                </a:lnTo>
                <a:lnTo>
                  <a:pt x="1309377" y="38099"/>
                </a:lnTo>
                <a:lnTo>
                  <a:pt x="0" y="3809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86517" y="4541448"/>
            <a:ext cx="1532255" cy="114300"/>
          </a:xfrm>
          <a:custGeom>
            <a:avLst/>
            <a:gdLst/>
            <a:ahLst/>
            <a:cxnLst/>
            <a:rect l="l" t="t" r="r" b="b"/>
            <a:pathLst>
              <a:path w="1532254" h="114300">
                <a:moveTo>
                  <a:pt x="1417511" y="76200"/>
                </a:moveTo>
                <a:lnTo>
                  <a:pt x="1417496" y="114300"/>
                </a:lnTo>
                <a:lnTo>
                  <a:pt x="1493755" y="76207"/>
                </a:lnTo>
                <a:lnTo>
                  <a:pt x="1417511" y="76200"/>
                </a:lnTo>
                <a:close/>
              </a:path>
              <a:path w="1532254" h="114300">
                <a:moveTo>
                  <a:pt x="1417526" y="38100"/>
                </a:moveTo>
                <a:lnTo>
                  <a:pt x="1417511" y="76200"/>
                </a:lnTo>
                <a:lnTo>
                  <a:pt x="1436560" y="76207"/>
                </a:lnTo>
                <a:lnTo>
                  <a:pt x="1436575" y="38107"/>
                </a:lnTo>
                <a:lnTo>
                  <a:pt x="1417526" y="38100"/>
                </a:lnTo>
                <a:close/>
              </a:path>
              <a:path w="1532254" h="114300">
                <a:moveTo>
                  <a:pt x="1417540" y="0"/>
                </a:moveTo>
                <a:lnTo>
                  <a:pt x="1417526" y="38100"/>
                </a:lnTo>
                <a:lnTo>
                  <a:pt x="1436575" y="38107"/>
                </a:lnTo>
                <a:lnTo>
                  <a:pt x="1436560" y="76207"/>
                </a:lnTo>
                <a:lnTo>
                  <a:pt x="1493770" y="76200"/>
                </a:lnTo>
                <a:lnTo>
                  <a:pt x="1531819" y="57194"/>
                </a:lnTo>
                <a:lnTo>
                  <a:pt x="1417540" y="0"/>
                </a:lnTo>
                <a:close/>
              </a:path>
              <a:path w="1532254" h="114300">
                <a:moveTo>
                  <a:pt x="15" y="37542"/>
                </a:moveTo>
                <a:lnTo>
                  <a:pt x="0" y="75642"/>
                </a:lnTo>
                <a:lnTo>
                  <a:pt x="1417511" y="76200"/>
                </a:lnTo>
                <a:lnTo>
                  <a:pt x="1417526" y="38100"/>
                </a:lnTo>
                <a:lnTo>
                  <a:pt x="15" y="37542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17428" y="448963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5" y="216815"/>
                </a:lnTo>
                <a:lnTo>
                  <a:pt x="154699" y="208296"/>
                </a:lnTo>
                <a:lnTo>
                  <a:pt x="190095" y="185063"/>
                </a:lnTo>
                <a:lnTo>
                  <a:pt x="213959" y="150604"/>
                </a:lnTo>
                <a:lnTo>
                  <a:pt x="222710" y="108407"/>
                </a:lnTo>
                <a:lnTo>
                  <a:pt x="213959" y="66210"/>
                </a:lnTo>
                <a:lnTo>
                  <a:pt x="190095" y="31751"/>
                </a:lnTo>
                <a:lnTo>
                  <a:pt x="154699" y="8519"/>
                </a:lnTo>
                <a:lnTo>
                  <a:pt x="111355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17428" y="448963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18337" y="44902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618337" y="44902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63815" y="448963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63815" y="448963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638343" y="4651755"/>
            <a:ext cx="24892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95">
                <a:latin typeface="Cambria Math"/>
                <a:cs typeface="Cambria Math"/>
              </a:rPr>
              <a:t>𝑉</a:t>
            </a:r>
            <a:r>
              <a:rPr dirty="0" baseline="-15625" sz="2400">
                <a:latin typeface="Cambria Math"/>
                <a:cs typeface="Cambria Math"/>
              </a:rPr>
              <a:t>?</a:t>
            </a:r>
            <a:endParaRPr baseline="-15625"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7853" y="4770628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90634" y="4116053"/>
            <a:ext cx="3686470" cy="24676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4"/>
              </a:rPr>
              <a:t>http://cs224w.stanford.edu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136392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296924"/>
            <a:ext cx="7313295" cy="183642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6515">
              <a:lnSpc>
                <a:spcPts val="3500"/>
              </a:lnSpc>
              <a:spcBef>
                <a:spcPts val="500"/>
              </a:spcBef>
            </a:pPr>
            <a:r>
              <a:rPr dirty="0" sz="3200" spc="-5">
                <a:latin typeface="Calibri"/>
                <a:cs typeface="Calibri"/>
              </a:rPr>
              <a:t>“</a:t>
            </a:r>
            <a:r>
              <a:rPr dirty="0" sz="3200" spc="-5" i="1">
                <a:latin typeface="Calibri"/>
                <a:cs typeface="Calibri"/>
              </a:rPr>
              <a:t>What proteins </a:t>
            </a:r>
            <a:r>
              <a:rPr dirty="0" sz="3200" i="1">
                <a:latin typeface="Calibri"/>
                <a:cs typeface="Calibri"/>
              </a:rPr>
              <a:t>are </a:t>
            </a:r>
            <a:r>
              <a:rPr dirty="0" sz="3200" spc="-5" b="1" i="1">
                <a:solidFill>
                  <a:srgbClr val="479249"/>
                </a:solidFill>
                <a:latin typeface="Calibri"/>
                <a:cs typeface="Calibri"/>
              </a:rPr>
              <a:t>associated </a:t>
            </a:r>
            <a:r>
              <a:rPr dirty="0" sz="3200" spc="-5" i="1">
                <a:latin typeface="Calibri"/>
                <a:cs typeface="Calibri"/>
              </a:rPr>
              <a:t>with adverse  </a:t>
            </a:r>
            <a:r>
              <a:rPr dirty="0" sz="3200" spc="-15" i="1">
                <a:latin typeface="Calibri"/>
                <a:cs typeface="Calibri"/>
              </a:rPr>
              <a:t>events </a:t>
            </a:r>
            <a:r>
              <a:rPr dirty="0" sz="3200" spc="-10" b="1" i="1">
                <a:solidFill>
                  <a:srgbClr val="C00000"/>
                </a:solidFill>
                <a:latin typeface="Calibri"/>
                <a:cs typeface="Calibri"/>
              </a:rPr>
              <a:t>caused </a:t>
            </a:r>
            <a:r>
              <a:rPr dirty="0" sz="3200" spc="-10" i="1">
                <a:latin typeface="Calibri"/>
                <a:cs typeface="Calibri"/>
              </a:rPr>
              <a:t>by</a:t>
            </a:r>
            <a:r>
              <a:rPr dirty="0" sz="3200" i="1">
                <a:latin typeface="Calibri"/>
                <a:cs typeface="Calibri"/>
              </a:rPr>
              <a:t> </a:t>
            </a:r>
            <a:r>
              <a:rPr dirty="0" sz="3200" spc="-10" b="1" i="1">
                <a:solidFill>
                  <a:srgbClr val="0070C0"/>
                </a:solidFill>
                <a:latin typeface="Calibri"/>
                <a:cs typeface="Calibri"/>
              </a:rPr>
              <a:t>Fulvestrant</a:t>
            </a:r>
            <a:r>
              <a:rPr dirty="0" sz="3200" spc="-10" i="1">
                <a:latin typeface="Calibri"/>
                <a:cs typeface="Calibri"/>
              </a:rPr>
              <a:t>?</a:t>
            </a:r>
            <a:r>
              <a:rPr dirty="0" sz="3200" spc="-10">
                <a:latin typeface="Calibri"/>
                <a:cs typeface="Calibri"/>
              </a:rPr>
              <a:t>”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18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Query: </a:t>
            </a:r>
            <a:r>
              <a:rPr dirty="0" sz="3200" spc="-15">
                <a:latin typeface="Calibri"/>
                <a:cs typeface="Calibri"/>
              </a:rPr>
              <a:t>(</a:t>
            </a:r>
            <a:r>
              <a:rPr dirty="0" sz="3200" spc="-15" b="1">
                <a:solidFill>
                  <a:srgbClr val="0070C0"/>
                </a:solidFill>
                <a:latin typeface="Calibri"/>
                <a:cs typeface="Calibri"/>
              </a:rPr>
              <a:t>e:Fulvestrant</a:t>
            </a:r>
            <a:r>
              <a:rPr dirty="0" sz="3200" spc="-15">
                <a:latin typeface="Calibri"/>
                <a:cs typeface="Calibri"/>
              </a:rPr>
              <a:t>, </a:t>
            </a:r>
            <a:r>
              <a:rPr dirty="0" sz="3200" spc="-5">
                <a:latin typeface="Calibri"/>
                <a:cs typeface="Calibri"/>
              </a:rPr>
              <a:t>(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r:Causes</a:t>
            </a:r>
            <a:r>
              <a:rPr dirty="0" sz="3200" spc="-5">
                <a:latin typeface="Calibri"/>
                <a:cs typeface="Calibri"/>
              </a:rPr>
              <a:t>,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479249"/>
                </a:solidFill>
                <a:latin typeface="Calibri"/>
                <a:cs typeface="Calibri"/>
              </a:rPr>
              <a:t>r:Assoc</a:t>
            </a:r>
            <a:r>
              <a:rPr dirty="0" sz="3200" spc="-5">
                <a:latin typeface="Calibri"/>
                <a:cs typeface="Calibri"/>
              </a:rPr>
              <a:t>))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670"/>
              </a:lnSpc>
            </a:pPr>
            <a:r>
              <a:rPr dirty="0" sz="3200" spc="-10" b="1">
                <a:latin typeface="Calibri"/>
                <a:cs typeface="Calibri"/>
              </a:rPr>
              <a:t>Given </a:t>
            </a:r>
            <a:r>
              <a:rPr dirty="0" sz="3200" b="1">
                <a:latin typeface="Calibri"/>
                <a:cs typeface="Calibri"/>
              </a:rPr>
              <a:t>a </a:t>
            </a:r>
            <a:r>
              <a:rPr dirty="0" sz="3200" spc="-45" b="1">
                <a:latin typeface="Calibri"/>
                <a:cs typeface="Calibri"/>
              </a:rPr>
              <a:t>KG,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how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answer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path</a:t>
            </a:r>
            <a:r>
              <a:rPr dirty="0" sz="3200" spc="1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query</a:t>
            </a:r>
            <a:r>
              <a:rPr dirty="0" sz="3200" spc="-5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8125" y="3428998"/>
            <a:ext cx="4891610" cy="32743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4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3152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5800" y="1275588"/>
            <a:ext cx="8597900" cy="1973580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 i="0">
                <a:latin typeface="Calibri"/>
                <a:cs typeface="Calibri"/>
              </a:rPr>
              <a:t>Answer </a:t>
            </a:r>
            <a:r>
              <a:rPr dirty="0" sz="3200" spc="-15" b="1" i="0">
                <a:latin typeface="Calibri"/>
                <a:cs typeface="Calibri"/>
              </a:rPr>
              <a:t>path </a:t>
            </a:r>
            <a:r>
              <a:rPr dirty="0" sz="3200" spc="-5" b="1" i="0">
                <a:latin typeface="Calibri"/>
                <a:cs typeface="Calibri"/>
              </a:rPr>
              <a:t>queries </a:t>
            </a:r>
            <a:r>
              <a:rPr dirty="0" sz="3200" spc="-15" b="1" i="0">
                <a:latin typeface="Calibri"/>
                <a:cs typeface="Calibri"/>
              </a:rPr>
              <a:t>by </a:t>
            </a:r>
            <a:r>
              <a:rPr dirty="0" sz="3200" spc="-25" b="1" i="0">
                <a:latin typeface="Calibri"/>
                <a:cs typeface="Calibri"/>
              </a:rPr>
              <a:t>traversing </a:t>
            </a:r>
            <a:r>
              <a:rPr dirty="0" sz="3200" spc="-5" b="1" i="0">
                <a:latin typeface="Calibri"/>
                <a:cs typeface="Calibri"/>
              </a:rPr>
              <a:t>the </a:t>
            </a:r>
            <a:r>
              <a:rPr dirty="0" sz="3200" spc="-45" b="1" i="0">
                <a:latin typeface="Calibri"/>
                <a:cs typeface="Calibri"/>
              </a:rPr>
              <a:t>KG: </a:t>
            </a:r>
            <a:r>
              <a:rPr dirty="0" sz="3200" spc="-5" i="0">
                <a:latin typeface="Calibri"/>
                <a:cs typeface="Calibri"/>
              </a:rPr>
              <a:t>“</a:t>
            </a:r>
            <a:r>
              <a:rPr dirty="0" sz="3200" spc="-5"/>
              <a:t>What  </a:t>
            </a:r>
            <a:r>
              <a:rPr dirty="0" sz="3200" spc="-10" i="1"/>
              <a:t>proteins </a:t>
            </a:r>
            <a:r>
              <a:rPr dirty="0" sz="3200" i="1"/>
              <a:t>are </a:t>
            </a:r>
            <a:r>
              <a:rPr dirty="0" sz="3200" spc="-5" b="1">
                <a:solidFill>
                  <a:srgbClr val="479249"/>
                </a:solidFill>
                <a:latin typeface="Calibri"/>
                <a:cs typeface="Calibri"/>
              </a:rPr>
              <a:t>associated </a:t>
            </a:r>
            <a:r>
              <a:rPr dirty="0" sz="3200" spc="-5"/>
              <a:t>with adverse </a:t>
            </a:r>
            <a:r>
              <a:rPr dirty="0" sz="3200" spc="-10"/>
              <a:t>events </a:t>
            </a:r>
            <a:r>
              <a:rPr dirty="0" sz="3200" spc="-10">
                <a:solidFill>
                  <a:srgbClr val="C00000"/>
                </a:solidFill>
              </a:rPr>
              <a:t>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caused </a:t>
            </a:r>
            <a:r>
              <a:rPr dirty="0" sz="3200" spc="-10"/>
              <a:t>by</a:t>
            </a:r>
            <a:r>
              <a:rPr dirty="0" sz="3200" spc="-45"/>
              <a:t> </a:t>
            </a:r>
            <a:r>
              <a:rPr dirty="0" sz="3200" spc="-10" b="1">
                <a:solidFill>
                  <a:srgbClr val="0070C0"/>
                </a:solidFill>
                <a:latin typeface="Calibri"/>
                <a:cs typeface="Calibri"/>
              </a:rPr>
              <a:t>Fulvestrant</a:t>
            </a:r>
            <a:r>
              <a:rPr dirty="0" sz="3200" spc="-10"/>
              <a:t>?</a:t>
            </a:r>
            <a:r>
              <a:rPr dirty="0" sz="3200" spc="-10" i="0">
                <a:latin typeface="Calibri"/>
                <a:cs typeface="Calibri"/>
              </a:rPr>
              <a:t>”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 i="0">
                <a:latin typeface="Calibri"/>
                <a:cs typeface="Calibri"/>
              </a:rPr>
              <a:t>Query: </a:t>
            </a:r>
            <a:r>
              <a:rPr dirty="0" sz="3200" spc="-15" i="0">
                <a:latin typeface="Calibri"/>
                <a:cs typeface="Calibri"/>
              </a:rPr>
              <a:t>(</a:t>
            </a:r>
            <a:r>
              <a:rPr dirty="0" sz="3200" spc="-15" b="1" i="0">
                <a:solidFill>
                  <a:srgbClr val="0070C0"/>
                </a:solidFill>
                <a:latin typeface="Calibri"/>
                <a:cs typeface="Calibri"/>
              </a:rPr>
              <a:t>e:Fulvestrant</a:t>
            </a:r>
            <a:r>
              <a:rPr dirty="0" sz="3200" spc="-15" i="0">
                <a:latin typeface="Calibri"/>
                <a:cs typeface="Calibri"/>
              </a:rPr>
              <a:t>, </a:t>
            </a:r>
            <a:r>
              <a:rPr dirty="0" sz="3200" spc="-5" i="0">
                <a:latin typeface="Calibri"/>
                <a:cs typeface="Calibri"/>
              </a:rPr>
              <a:t>(</a:t>
            </a:r>
            <a:r>
              <a:rPr dirty="0" sz="3200" spc="-5" b="1" i="0">
                <a:solidFill>
                  <a:srgbClr val="C00000"/>
                </a:solidFill>
                <a:latin typeface="Calibri"/>
                <a:cs typeface="Calibri"/>
              </a:rPr>
              <a:t>r:Causes</a:t>
            </a:r>
            <a:r>
              <a:rPr dirty="0" sz="3200" spc="-5" i="0">
                <a:latin typeface="Calibri"/>
                <a:cs typeface="Calibri"/>
              </a:rPr>
              <a:t>,</a:t>
            </a:r>
            <a:r>
              <a:rPr dirty="0" sz="3200" spc="50" i="0">
                <a:latin typeface="Calibri"/>
                <a:cs typeface="Calibri"/>
              </a:rPr>
              <a:t> </a:t>
            </a:r>
            <a:r>
              <a:rPr dirty="0" sz="3200" spc="-5" b="1" i="0">
                <a:solidFill>
                  <a:srgbClr val="479249"/>
                </a:solidFill>
                <a:latin typeface="Calibri"/>
                <a:cs typeface="Calibri"/>
              </a:rPr>
              <a:t>r:Assoc</a:t>
            </a:r>
            <a:r>
              <a:rPr dirty="0" sz="3200" spc="-5" i="0">
                <a:latin typeface="Calibri"/>
                <a:cs typeface="Calibri"/>
              </a:rPr>
              <a:t>))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5102" y="4615179"/>
            <a:ext cx="2234565" cy="1391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17295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algn="just" marL="12700" marR="977900">
              <a:lnSpc>
                <a:spcPct val="99400"/>
              </a:lnSpc>
              <a:spcBef>
                <a:spcPts val="1035"/>
              </a:spcBef>
            </a:pPr>
            <a:r>
              <a:rPr dirty="0" sz="1600" spc="-5">
                <a:solidFill>
                  <a:srgbClr val="479249"/>
                </a:solidFill>
                <a:latin typeface="Arial"/>
                <a:cs typeface="Arial"/>
              </a:rPr>
              <a:t>Start from the  </a:t>
            </a:r>
            <a:r>
              <a:rPr dirty="0" sz="1600" spc="-5" b="1">
                <a:solidFill>
                  <a:srgbClr val="479249"/>
                </a:solidFill>
                <a:latin typeface="Arial"/>
                <a:cs typeface="Arial"/>
              </a:rPr>
              <a:t>anchor node  </a:t>
            </a:r>
            <a:r>
              <a:rPr dirty="0" sz="1600" spc="-5">
                <a:solidFill>
                  <a:srgbClr val="479249"/>
                </a:solidFill>
                <a:latin typeface="Arial"/>
                <a:cs typeface="Arial"/>
              </a:rPr>
              <a:t>(Fulvestrant).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92188" y="46535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92188" y="46535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3152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5800" y="1275588"/>
            <a:ext cx="8597900" cy="1973580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 i="0">
                <a:latin typeface="Calibri"/>
                <a:cs typeface="Calibri"/>
              </a:rPr>
              <a:t>Answer </a:t>
            </a:r>
            <a:r>
              <a:rPr dirty="0" sz="3200" spc="-15" b="1" i="0">
                <a:latin typeface="Calibri"/>
                <a:cs typeface="Calibri"/>
              </a:rPr>
              <a:t>path </a:t>
            </a:r>
            <a:r>
              <a:rPr dirty="0" sz="3200" spc="-5" b="1" i="0">
                <a:latin typeface="Calibri"/>
                <a:cs typeface="Calibri"/>
              </a:rPr>
              <a:t>queries </a:t>
            </a:r>
            <a:r>
              <a:rPr dirty="0" sz="3200" spc="-15" b="1" i="0">
                <a:latin typeface="Calibri"/>
                <a:cs typeface="Calibri"/>
              </a:rPr>
              <a:t>by </a:t>
            </a:r>
            <a:r>
              <a:rPr dirty="0" sz="3200" spc="-25" b="1" i="0">
                <a:latin typeface="Calibri"/>
                <a:cs typeface="Calibri"/>
              </a:rPr>
              <a:t>traversing </a:t>
            </a:r>
            <a:r>
              <a:rPr dirty="0" sz="3200" spc="-5" b="1" i="0">
                <a:latin typeface="Calibri"/>
                <a:cs typeface="Calibri"/>
              </a:rPr>
              <a:t>the </a:t>
            </a:r>
            <a:r>
              <a:rPr dirty="0" sz="3200" spc="-45" b="1" i="0">
                <a:latin typeface="Calibri"/>
                <a:cs typeface="Calibri"/>
              </a:rPr>
              <a:t>KG: </a:t>
            </a:r>
            <a:r>
              <a:rPr dirty="0" sz="3200" spc="-5" i="0">
                <a:latin typeface="Calibri"/>
                <a:cs typeface="Calibri"/>
              </a:rPr>
              <a:t>“</a:t>
            </a:r>
            <a:r>
              <a:rPr dirty="0" sz="3200" spc="-5"/>
              <a:t>What  </a:t>
            </a:r>
            <a:r>
              <a:rPr dirty="0" sz="3200" spc="-10" i="1"/>
              <a:t>proteins </a:t>
            </a:r>
            <a:r>
              <a:rPr dirty="0" sz="3200" i="1"/>
              <a:t>are </a:t>
            </a:r>
            <a:r>
              <a:rPr dirty="0" sz="3200" spc="-5" b="1">
                <a:solidFill>
                  <a:srgbClr val="479249"/>
                </a:solidFill>
                <a:latin typeface="Calibri"/>
                <a:cs typeface="Calibri"/>
              </a:rPr>
              <a:t>associated </a:t>
            </a:r>
            <a:r>
              <a:rPr dirty="0" sz="3200" spc="-5"/>
              <a:t>with adverse </a:t>
            </a:r>
            <a:r>
              <a:rPr dirty="0" sz="3200" spc="-10"/>
              <a:t>events </a:t>
            </a:r>
            <a:r>
              <a:rPr dirty="0" sz="3200" spc="-10">
                <a:solidFill>
                  <a:srgbClr val="C00000"/>
                </a:solidFill>
              </a:rPr>
              <a:t>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caused </a:t>
            </a:r>
            <a:r>
              <a:rPr dirty="0" sz="3200" spc="-10"/>
              <a:t>by</a:t>
            </a:r>
            <a:r>
              <a:rPr dirty="0" sz="3200" spc="-45"/>
              <a:t> </a:t>
            </a:r>
            <a:r>
              <a:rPr dirty="0" sz="3200" spc="-10" b="1">
                <a:solidFill>
                  <a:srgbClr val="0070C0"/>
                </a:solidFill>
                <a:latin typeface="Calibri"/>
                <a:cs typeface="Calibri"/>
              </a:rPr>
              <a:t>Fulvestrant</a:t>
            </a:r>
            <a:r>
              <a:rPr dirty="0" sz="3200" spc="-10"/>
              <a:t>?</a:t>
            </a:r>
            <a:r>
              <a:rPr dirty="0" sz="3200" spc="-10" i="0">
                <a:latin typeface="Calibri"/>
                <a:cs typeface="Calibri"/>
              </a:rPr>
              <a:t>”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 i="0">
                <a:latin typeface="Calibri"/>
                <a:cs typeface="Calibri"/>
              </a:rPr>
              <a:t>Query: </a:t>
            </a:r>
            <a:r>
              <a:rPr dirty="0" sz="3200" spc="-15" i="0">
                <a:latin typeface="Calibri"/>
                <a:cs typeface="Calibri"/>
              </a:rPr>
              <a:t>(</a:t>
            </a:r>
            <a:r>
              <a:rPr dirty="0" sz="3200" spc="-15" b="1" i="0">
                <a:solidFill>
                  <a:srgbClr val="0070C0"/>
                </a:solidFill>
                <a:latin typeface="Calibri"/>
                <a:cs typeface="Calibri"/>
              </a:rPr>
              <a:t>e:Fulvestrant</a:t>
            </a:r>
            <a:r>
              <a:rPr dirty="0" sz="3200" spc="-15" i="0">
                <a:latin typeface="Calibri"/>
                <a:cs typeface="Calibri"/>
              </a:rPr>
              <a:t>, </a:t>
            </a:r>
            <a:r>
              <a:rPr dirty="0" sz="3200" spc="-5" i="0">
                <a:latin typeface="Calibri"/>
                <a:cs typeface="Calibri"/>
              </a:rPr>
              <a:t>(</a:t>
            </a:r>
            <a:r>
              <a:rPr dirty="0" sz="3200" spc="-5" b="1" i="0">
                <a:solidFill>
                  <a:srgbClr val="C00000"/>
                </a:solidFill>
                <a:latin typeface="Calibri"/>
                <a:cs typeface="Calibri"/>
              </a:rPr>
              <a:t>r:Causes</a:t>
            </a:r>
            <a:r>
              <a:rPr dirty="0" sz="3200" spc="-5" i="0">
                <a:latin typeface="Calibri"/>
                <a:cs typeface="Calibri"/>
              </a:rPr>
              <a:t>,</a:t>
            </a:r>
            <a:r>
              <a:rPr dirty="0" sz="3200" spc="50" i="0">
                <a:latin typeface="Calibri"/>
                <a:cs typeface="Calibri"/>
              </a:rPr>
              <a:t> </a:t>
            </a:r>
            <a:r>
              <a:rPr dirty="0" sz="3200" spc="-5" b="1" i="0">
                <a:solidFill>
                  <a:srgbClr val="479249"/>
                </a:solidFill>
                <a:latin typeface="Calibri"/>
                <a:cs typeface="Calibri"/>
              </a:rPr>
              <a:t>r:Assoc</a:t>
            </a:r>
            <a:r>
              <a:rPr dirty="0" sz="3200" spc="-5" i="0">
                <a:latin typeface="Calibri"/>
                <a:cs typeface="Calibri"/>
              </a:rPr>
              <a:t>))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524" y="5587491"/>
            <a:ext cx="4041140" cy="991869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Start from the anchor node “Fulvestrant” and  traverse the KG by the relation “Causes”, we  reach entities {“Brain Bleeding”, “Short of  Breath”, “Kidney Infection”,</a:t>
            </a:r>
            <a:r>
              <a:rPr dirty="0" sz="1600" spc="2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“Headache”}.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85858" y="3614286"/>
            <a:ext cx="1003935" cy="1172845"/>
          </a:xfrm>
          <a:custGeom>
            <a:avLst/>
            <a:gdLst/>
            <a:ahLst/>
            <a:cxnLst/>
            <a:rect l="l" t="t" r="r" b="b"/>
            <a:pathLst>
              <a:path w="1003935" h="1172845">
                <a:moveTo>
                  <a:pt x="826711" y="149577"/>
                </a:moveTo>
                <a:lnTo>
                  <a:pt x="0" y="1122993"/>
                </a:lnTo>
                <a:lnTo>
                  <a:pt x="58079" y="1172320"/>
                </a:lnTo>
                <a:lnTo>
                  <a:pt x="884791" y="198903"/>
                </a:lnTo>
                <a:lnTo>
                  <a:pt x="826711" y="149577"/>
                </a:lnTo>
                <a:close/>
              </a:path>
              <a:path w="1003935" h="1172845">
                <a:moveTo>
                  <a:pt x="974179" y="120536"/>
                </a:moveTo>
                <a:lnTo>
                  <a:pt x="851374" y="120536"/>
                </a:lnTo>
                <a:lnTo>
                  <a:pt x="909454" y="169863"/>
                </a:lnTo>
                <a:lnTo>
                  <a:pt x="884791" y="198903"/>
                </a:lnTo>
                <a:lnTo>
                  <a:pt x="942872" y="248231"/>
                </a:lnTo>
                <a:lnTo>
                  <a:pt x="974179" y="120536"/>
                </a:lnTo>
                <a:close/>
              </a:path>
              <a:path w="1003935" h="1172845">
                <a:moveTo>
                  <a:pt x="851374" y="120536"/>
                </a:moveTo>
                <a:lnTo>
                  <a:pt x="826711" y="149577"/>
                </a:lnTo>
                <a:lnTo>
                  <a:pt x="884791" y="198903"/>
                </a:lnTo>
                <a:lnTo>
                  <a:pt x="909454" y="169863"/>
                </a:lnTo>
                <a:lnTo>
                  <a:pt x="851374" y="120536"/>
                </a:lnTo>
                <a:close/>
              </a:path>
              <a:path w="1003935" h="1172845">
                <a:moveTo>
                  <a:pt x="1003731" y="0"/>
                </a:moveTo>
                <a:lnTo>
                  <a:pt x="768630" y="100249"/>
                </a:lnTo>
                <a:lnTo>
                  <a:pt x="826711" y="149577"/>
                </a:lnTo>
                <a:lnTo>
                  <a:pt x="851374" y="120536"/>
                </a:lnTo>
                <a:lnTo>
                  <a:pt x="974179" y="120536"/>
                </a:lnTo>
                <a:lnTo>
                  <a:pt x="100373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92188" y="46535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92188" y="46535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85804" y="5736844"/>
            <a:ext cx="794385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4572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Kidney  </a:t>
            </a:r>
            <a:r>
              <a:rPr dirty="0" sz="1600" spc="0">
                <a:latin typeface="Arial"/>
                <a:cs typeface="Arial"/>
              </a:rPr>
              <a:t>I</a:t>
            </a:r>
            <a:r>
              <a:rPr dirty="0" sz="1600" spc="-5">
                <a:latin typeface="Arial"/>
                <a:cs typeface="Arial"/>
              </a:rPr>
              <a:t>n</a:t>
            </a:r>
            <a:r>
              <a:rPr dirty="0" sz="1600" spc="0">
                <a:latin typeface="Arial"/>
                <a:cs typeface="Arial"/>
              </a:rPr>
              <a:t>f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10">
                <a:latin typeface="Arial"/>
                <a:cs typeface="Arial"/>
              </a:rPr>
              <a:t>i</a:t>
            </a:r>
            <a:r>
              <a:rPr dirty="0" sz="1600" spc="-5">
                <a:latin typeface="Arial"/>
                <a:cs typeface="Arial"/>
              </a:rPr>
              <a:t>o</a:t>
            </a:r>
            <a:r>
              <a:rPr dirty="0" sz="160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96793" y="4246474"/>
            <a:ext cx="972819" cy="549275"/>
          </a:xfrm>
          <a:custGeom>
            <a:avLst/>
            <a:gdLst/>
            <a:ahLst/>
            <a:cxnLst/>
            <a:rect l="l" t="t" r="r" b="b"/>
            <a:pathLst>
              <a:path w="972820" h="549275">
                <a:moveTo>
                  <a:pt x="753280" y="75109"/>
                </a:moveTo>
                <a:lnTo>
                  <a:pt x="0" y="481945"/>
                </a:lnTo>
                <a:lnTo>
                  <a:pt x="36210" y="548991"/>
                </a:lnTo>
                <a:lnTo>
                  <a:pt x="789491" y="142156"/>
                </a:lnTo>
                <a:lnTo>
                  <a:pt x="753280" y="75109"/>
                </a:lnTo>
                <a:close/>
              </a:path>
              <a:path w="972820" h="549275">
                <a:moveTo>
                  <a:pt x="932518" y="57003"/>
                </a:moveTo>
                <a:lnTo>
                  <a:pt x="786804" y="57003"/>
                </a:lnTo>
                <a:lnTo>
                  <a:pt x="823014" y="124051"/>
                </a:lnTo>
                <a:lnTo>
                  <a:pt x="789491" y="142156"/>
                </a:lnTo>
                <a:lnTo>
                  <a:pt x="825701" y="209202"/>
                </a:lnTo>
                <a:lnTo>
                  <a:pt x="932518" y="57003"/>
                </a:lnTo>
                <a:close/>
              </a:path>
              <a:path w="972820" h="549275">
                <a:moveTo>
                  <a:pt x="786804" y="57003"/>
                </a:moveTo>
                <a:lnTo>
                  <a:pt x="753280" y="75109"/>
                </a:lnTo>
                <a:lnTo>
                  <a:pt x="789491" y="142156"/>
                </a:lnTo>
                <a:lnTo>
                  <a:pt x="823014" y="124051"/>
                </a:lnTo>
                <a:lnTo>
                  <a:pt x="786804" y="57003"/>
                </a:lnTo>
                <a:close/>
              </a:path>
              <a:path w="972820" h="549275">
                <a:moveTo>
                  <a:pt x="972525" y="0"/>
                </a:moveTo>
                <a:lnTo>
                  <a:pt x="717069" y="8063"/>
                </a:lnTo>
                <a:lnTo>
                  <a:pt x="753280" y="75109"/>
                </a:lnTo>
                <a:lnTo>
                  <a:pt x="786804" y="57003"/>
                </a:lnTo>
                <a:lnTo>
                  <a:pt x="932518" y="57003"/>
                </a:lnTo>
                <a:lnTo>
                  <a:pt x="97252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12583" y="4601643"/>
            <a:ext cx="989965" cy="228600"/>
          </a:xfrm>
          <a:custGeom>
            <a:avLst/>
            <a:gdLst/>
            <a:ahLst/>
            <a:cxnLst/>
            <a:rect l="l" t="t" r="r" b="b"/>
            <a:pathLst>
              <a:path w="989964" h="228600">
                <a:moveTo>
                  <a:pt x="927279" y="73743"/>
                </a:moveTo>
                <a:lnTo>
                  <a:pt x="796886" y="73743"/>
                </a:lnTo>
                <a:lnTo>
                  <a:pt x="801518" y="149802"/>
                </a:lnTo>
                <a:lnTo>
                  <a:pt x="763488" y="152118"/>
                </a:lnTo>
                <a:lnTo>
                  <a:pt x="768120" y="228178"/>
                </a:lnTo>
                <a:lnTo>
                  <a:pt x="989350" y="100194"/>
                </a:lnTo>
                <a:lnTo>
                  <a:pt x="927279" y="73743"/>
                </a:lnTo>
                <a:close/>
              </a:path>
              <a:path w="989964" h="228600">
                <a:moveTo>
                  <a:pt x="758856" y="76059"/>
                </a:moveTo>
                <a:lnTo>
                  <a:pt x="0" y="122271"/>
                </a:lnTo>
                <a:lnTo>
                  <a:pt x="4631" y="198330"/>
                </a:lnTo>
                <a:lnTo>
                  <a:pt x="763488" y="152118"/>
                </a:lnTo>
                <a:lnTo>
                  <a:pt x="758856" y="76059"/>
                </a:lnTo>
                <a:close/>
              </a:path>
              <a:path w="989964" h="228600">
                <a:moveTo>
                  <a:pt x="796886" y="73743"/>
                </a:moveTo>
                <a:lnTo>
                  <a:pt x="758856" y="76059"/>
                </a:lnTo>
                <a:lnTo>
                  <a:pt x="763488" y="152118"/>
                </a:lnTo>
                <a:lnTo>
                  <a:pt x="801518" y="149802"/>
                </a:lnTo>
                <a:lnTo>
                  <a:pt x="796886" y="73743"/>
                </a:lnTo>
                <a:close/>
              </a:path>
              <a:path w="989964" h="228600">
                <a:moveTo>
                  <a:pt x="754225" y="0"/>
                </a:moveTo>
                <a:lnTo>
                  <a:pt x="758856" y="76059"/>
                </a:lnTo>
                <a:lnTo>
                  <a:pt x="796886" y="73743"/>
                </a:lnTo>
                <a:lnTo>
                  <a:pt x="927279" y="73743"/>
                </a:lnTo>
                <a:lnTo>
                  <a:pt x="75422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91510" y="4731867"/>
            <a:ext cx="1010919" cy="798195"/>
          </a:xfrm>
          <a:custGeom>
            <a:avLst/>
            <a:gdLst/>
            <a:ahLst/>
            <a:cxnLst/>
            <a:rect l="l" t="t" r="r" b="b"/>
            <a:pathLst>
              <a:path w="1010920" h="798195">
                <a:moveTo>
                  <a:pt x="806576" y="687376"/>
                </a:moveTo>
                <a:lnTo>
                  <a:pt x="759799" y="747529"/>
                </a:lnTo>
                <a:lnTo>
                  <a:pt x="1010423" y="797631"/>
                </a:lnTo>
                <a:lnTo>
                  <a:pt x="968869" y="710765"/>
                </a:lnTo>
                <a:lnTo>
                  <a:pt x="836653" y="710765"/>
                </a:lnTo>
                <a:lnTo>
                  <a:pt x="806576" y="687376"/>
                </a:lnTo>
                <a:close/>
              </a:path>
              <a:path w="1010920" h="798195">
                <a:moveTo>
                  <a:pt x="853353" y="627223"/>
                </a:moveTo>
                <a:lnTo>
                  <a:pt x="806576" y="687376"/>
                </a:lnTo>
                <a:lnTo>
                  <a:pt x="836653" y="710765"/>
                </a:lnTo>
                <a:lnTo>
                  <a:pt x="883429" y="650612"/>
                </a:lnTo>
                <a:lnTo>
                  <a:pt x="853353" y="627223"/>
                </a:lnTo>
                <a:close/>
              </a:path>
              <a:path w="1010920" h="798195">
                <a:moveTo>
                  <a:pt x="900130" y="567071"/>
                </a:moveTo>
                <a:lnTo>
                  <a:pt x="853353" y="627223"/>
                </a:lnTo>
                <a:lnTo>
                  <a:pt x="883429" y="650612"/>
                </a:lnTo>
                <a:lnTo>
                  <a:pt x="836653" y="710765"/>
                </a:lnTo>
                <a:lnTo>
                  <a:pt x="968869" y="710765"/>
                </a:lnTo>
                <a:lnTo>
                  <a:pt x="900130" y="567071"/>
                </a:lnTo>
                <a:close/>
              </a:path>
              <a:path w="1010920" h="798195">
                <a:moveTo>
                  <a:pt x="46776" y="0"/>
                </a:moveTo>
                <a:lnTo>
                  <a:pt x="0" y="60152"/>
                </a:lnTo>
                <a:lnTo>
                  <a:pt x="806576" y="687376"/>
                </a:lnTo>
                <a:lnTo>
                  <a:pt x="853353" y="627223"/>
                </a:lnTo>
                <a:lnTo>
                  <a:pt x="4677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669318" y="5497747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69318" y="5497747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669318" y="467008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669318" y="467008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669318" y="4138066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669318" y="4138066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656975" y="358253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656975" y="358253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409845" y="3566667"/>
            <a:ext cx="3631565" cy="1735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99970" marR="5080" indent="324485">
              <a:lnSpc>
                <a:spcPct val="11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Headache  Brain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Bleeding</a:t>
            </a:r>
            <a:endParaRPr sz="1600">
              <a:latin typeface="Arial"/>
              <a:cs typeface="Arial"/>
            </a:endParaRPr>
          </a:p>
          <a:p>
            <a:pPr marL="628650">
              <a:lnSpc>
                <a:spcPct val="100000"/>
              </a:lnSpc>
              <a:spcBef>
                <a:spcPts val="325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Causes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860"/>
              </a:lnSpc>
              <a:spcBef>
                <a:spcPts val="154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  <a:p>
            <a:pPr marL="2058670" marR="937894" indent="-85725">
              <a:lnSpc>
                <a:spcPct val="77500"/>
              </a:lnSpc>
              <a:spcBef>
                <a:spcPts val="370"/>
              </a:spcBef>
            </a:pPr>
            <a:r>
              <a:rPr dirty="0" sz="1600" spc="-5">
                <a:latin typeface="Arial"/>
                <a:cs typeface="Arial"/>
              </a:rPr>
              <a:t>Short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  Breath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3152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5800" y="1275588"/>
            <a:ext cx="8597900" cy="1973580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 i="0">
                <a:latin typeface="Calibri"/>
                <a:cs typeface="Calibri"/>
              </a:rPr>
              <a:t>Answer </a:t>
            </a:r>
            <a:r>
              <a:rPr dirty="0" sz="3200" spc="-15" b="1" i="0">
                <a:latin typeface="Calibri"/>
                <a:cs typeface="Calibri"/>
              </a:rPr>
              <a:t>path </a:t>
            </a:r>
            <a:r>
              <a:rPr dirty="0" sz="3200" spc="-5" b="1" i="0">
                <a:latin typeface="Calibri"/>
                <a:cs typeface="Calibri"/>
              </a:rPr>
              <a:t>queries </a:t>
            </a:r>
            <a:r>
              <a:rPr dirty="0" sz="3200" spc="-15" b="1" i="0">
                <a:latin typeface="Calibri"/>
                <a:cs typeface="Calibri"/>
              </a:rPr>
              <a:t>by </a:t>
            </a:r>
            <a:r>
              <a:rPr dirty="0" sz="3200" spc="-25" b="1" i="0">
                <a:latin typeface="Calibri"/>
                <a:cs typeface="Calibri"/>
              </a:rPr>
              <a:t>traversing </a:t>
            </a:r>
            <a:r>
              <a:rPr dirty="0" sz="3200" spc="-5" b="1" i="0">
                <a:latin typeface="Calibri"/>
                <a:cs typeface="Calibri"/>
              </a:rPr>
              <a:t>the </a:t>
            </a:r>
            <a:r>
              <a:rPr dirty="0" sz="3200" spc="-45" b="1" i="0">
                <a:latin typeface="Calibri"/>
                <a:cs typeface="Calibri"/>
              </a:rPr>
              <a:t>KG: </a:t>
            </a:r>
            <a:r>
              <a:rPr dirty="0" sz="3200" spc="-5" i="0">
                <a:latin typeface="Calibri"/>
                <a:cs typeface="Calibri"/>
              </a:rPr>
              <a:t>“</a:t>
            </a:r>
            <a:r>
              <a:rPr dirty="0" sz="3200" spc="-5"/>
              <a:t>What  </a:t>
            </a:r>
            <a:r>
              <a:rPr dirty="0" sz="3200" spc="-10" i="1"/>
              <a:t>proteins </a:t>
            </a:r>
            <a:r>
              <a:rPr dirty="0" sz="3200" i="1"/>
              <a:t>are </a:t>
            </a:r>
            <a:r>
              <a:rPr dirty="0" sz="3200" spc="-5" b="1">
                <a:solidFill>
                  <a:srgbClr val="479249"/>
                </a:solidFill>
                <a:latin typeface="Calibri"/>
                <a:cs typeface="Calibri"/>
              </a:rPr>
              <a:t>associated </a:t>
            </a:r>
            <a:r>
              <a:rPr dirty="0" sz="3200" spc="-5"/>
              <a:t>with adverse </a:t>
            </a:r>
            <a:r>
              <a:rPr dirty="0" sz="3200" spc="-10"/>
              <a:t>events </a:t>
            </a:r>
            <a:r>
              <a:rPr dirty="0" sz="3200" spc="-10">
                <a:solidFill>
                  <a:srgbClr val="C00000"/>
                </a:solidFill>
              </a:rPr>
              <a:t>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caused </a:t>
            </a:r>
            <a:r>
              <a:rPr dirty="0" sz="3200" spc="-10"/>
              <a:t>by</a:t>
            </a:r>
            <a:r>
              <a:rPr dirty="0" sz="3200" spc="-45"/>
              <a:t> </a:t>
            </a:r>
            <a:r>
              <a:rPr dirty="0" sz="3200" spc="-10" b="1">
                <a:solidFill>
                  <a:srgbClr val="0070C0"/>
                </a:solidFill>
                <a:latin typeface="Calibri"/>
                <a:cs typeface="Calibri"/>
              </a:rPr>
              <a:t>Fulvestrant</a:t>
            </a:r>
            <a:r>
              <a:rPr dirty="0" sz="3200" spc="-10"/>
              <a:t>?</a:t>
            </a:r>
            <a:r>
              <a:rPr dirty="0" sz="3200" spc="-10" i="0">
                <a:latin typeface="Calibri"/>
                <a:cs typeface="Calibri"/>
              </a:rPr>
              <a:t>”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 i="0">
                <a:latin typeface="Calibri"/>
                <a:cs typeface="Calibri"/>
              </a:rPr>
              <a:t>Query: </a:t>
            </a:r>
            <a:r>
              <a:rPr dirty="0" sz="3200" spc="-15" i="0">
                <a:latin typeface="Calibri"/>
                <a:cs typeface="Calibri"/>
              </a:rPr>
              <a:t>(</a:t>
            </a:r>
            <a:r>
              <a:rPr dirty="0" sz="3200" spc="-15" b="1" i="0">
                <a:solidFill>
                  <a:srgbClr val="0070C0"/>
                </a:solidFill>
                <a:latin typeface="Calibri"/>
                <a:cs typeface="Calibri"/>
              </a:rPr>
              <a:t>e:Fulvestrant</a:t>
            </a:r>
            <a:r>
              <a:rPr dirty="0" sz="3200" spc="-15" i="0">
                <a:latin typeface="Calibri"/>
                <a:cs typeface="Calibri"/>
              </a:rPr>
              <a:t>, </a:t>
            </a:r>
            <a:r>
              <a:rPr dirty="0" sz="3200" spc="-5" i="0">
                <a:latin typeface="Calibri"/>
                <a:cs typeface="Calibri"/>
              </a:rPr>
              <a:t>(</a:t>
            </a:r>
            <a:r>
              <a:rPr dirty="0" sz="3200" spc="-5" b="1" i="0">
                <a:solidFill>
                  <a:srgbClr val="C00000"/>
                </a:solidFill>
                <a:latin typeface="Calibri"/>
                <a:cs typeface="Calibri"/>
              </a:rPr>
              <a:t>r:Causes</a:t>
            </a:r>
            <a:r>
              <a:rPr dirty="0" sz="3200" spc="-5" i="0">
                <a:latin typeface="Calibri"/>
                <a:cs typeface="Calibri"/>
              </a:rPr>
              <a:t>,</a:t>
            </a:r>
            <a:r>
              <a:rPr dirty="0" sz="3200" spc="50" i="0">
                <a:latin typeface="Calibri"/>
                <a:cs typeface="Calibri"/>
              </a:rPr>
              <a:t> </a:t>
            </a:r>
            <a:r>
              <a:rPr dirty="0" sz="3200" spc="-5" b="1" i="0">
                <a:solidFill>
                  <a:srgbClr val="479249"/>
                </a:solidFill>
                <a:latin typeface="Calibri"/>
                <a:cs typeface="Calibri"/>
              </a:rPr>
              <a:t>r:Assoc</a:t>
            </a:r>
            <a:r>
              <a:rPr dirty="0" sz="3200" spc="-5" i="0">
                <a:latin typeface="Calibri"/>
                <a:cs typeface="Calibri"/>
              </a:rPr>
              <a:t>))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5713" y="4903723"/>
            <a:ext cx="648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548235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548235"/>
                </a:solidFill>
                <a:latin typeface="Arial"/>
                <a:cs typeface="Arial"/>
              </a:rPr>
              <a:t>ss</a:t>
            </a:r>
            <a:r>
              <a:rPr dirty="0" sz="1800" spc="-5">
                <a:solidFill>
                  <a:srgbClr val="548235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548235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1978" y="4502403"/>
            <a:ext cx="6223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B</a:t>
            </a:r>
            <a:r>
              <a:rPr dirty="0" sz="1600">
                <a:latin typeface="Arial"/>
                <a:cs typeface="Arial"/>
              </a:rPr>
              <a:t>I</a:t>
            </a:r>
            <a:r>
              <a:rPr dirty="0" sz="1600" spc="-5">
                <a:latin typeface="Arial"/>
                <a:cs typeface="Arial"/>
              </a:rPr>
              <a:t>RC2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82622" y="4276869"/>
            <a:ext cx="1765300" cy="539115"/>
          </a:xfrm>
          <a:custGeom>
            <a:avLst/>
            <a:gdLst/>
            <a:ahLst/>
            <a:cxnLst/>
            <a:rect l="l" t="t" r="r" b="b"/>
            <a:pathLst>
              <a:path w="1765300" h="539114">
                <a:moveTo>
                  <a:pt x="1534363" y="73841"/>
                </a:moveTo>
                <a:lnTo>
                  <a:pt x="0" y="464701"/>
                </a:lnTo>
                <a:lnTo>
                  <a:pt x="18811" y="538543"/>
                </a:lnTo>
                <a:lnTo>
                  <a:pt x="1553173" y="147682"/>
                </a:lnTo>
                <a:lnTo>
                  <a:pt x="1534363" y="73841"/>
                </a:lnTo>
                <a:close/>
              </a:path>
              <a:path w="1765300" h="539114">
                <a:moveTo>
                  <a:pt x="1753611" y="64435"/>
                </a:moveTo>
                <a:lnTo>
                  <a:pt x="1571284" y="64435"/>
                </a:lnTo>
                <a:lnTo>
                  <a:pt x="1590094" y="138277"/>
                </a:lnTo>
                <a:lnTo>
                  <a:pt x="1553173" y="147682"/>
                </a:lnTo>
                <a:lnTo>
                  <a:pt x="1571984" y="221524"/>
                </a:lnTo>
                <a:lnTo>
                  <a:pt x="1753611" y="64435"/>
                </a:lnTo>
                <a:close/>
              </a:path>
              <a:path w="1765300" h="539114">
                <a:moveTo>
                  <a:pt x="1571284" y="64435"/>
                </a:moveTo>
                <a:lnTo>
                  <a:pt x="1534363" y="73841"/>
                </a:lnTo>
                <a:lnTo>
                  <a:pt x="1553173" y="147682"/>
                </a:lnTo>
                <a:lnTo>
                  <a:pt x="1590094" y="138277"/>
                </a:lnTo>
                <a:lnTo>
                  <a:pt x="1571284" y="64435"/>
                </a:lnTo>
                <a:close/>
              </a:path>
              <a:path w="1765300" h="539114">
                <a:moveTo>
                  <a:pt x="1515553" y="0"/>
                </a:moveTo>
                <a:lnTo>
                  <a:pt x="1534363" y="73841"/>
                </a:lnTo>
                <a:lnTo>
                  <a:pt x="1571284" y="64435"/>
                </a:lnTo>
                <a:lnTo>
                  <a:pt x="1753611" y="64435"/>
                </a:lnTo>
                <a:lnTo>
                  <a:pt x="1765294" y="54330"/>
                </a:lnTo>
                <a:lnTo>
                  <a:pt x="1515553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91957" y="5494770"/>
            <a:ext cx="1786255" cy="228600"/>
          </a:xfrm>
          <a:custGeom>
            <a:avLst/>
            <a:gdLst/>
            <a:ahLst/>
            <a:cxnLst/>
            <a:rect l="l" t="t" r="r" b="b"/>
            <a:pathLst>
              <a:path w="1786254" h="228600">
                <a:moveTo>
                  <a:pt x="1557851" y="0"/>
                </a:moveTo>
                <a:lnTo>
                  <a:pt x="1557709" y="76199"/>
                </a:lnTo>
                <a:lnTo>
                  <a:pt x="1595808" y="76271"/>
                </a:lnTo>
                <a:lnTo>
                  <a:pt x="1595666" y="152470"/>
                </a:lnTo>
                <a:lnTo>
                  <a:pt x="1557566" y="152470"/>
                </a:lnTo>
                <a:lnTo>
                  <a:pt x="1557423" y="228599"/>
                </a:lnTo>
                <a:lnTo>
                  <a:pt x="1710395" y="152470"/>
                </a:lnTo>
                <a:lnTo>
                  <a:pt x="1595666" y="152470"/>
                </a:lnTo>
                <a:lnTo>
                  <a:pt x="1710539" y="152399"/>
                </a:lnTo>
                <a:lnTo>
                  <a:pt x="1786237" y="114727"/>
                </a:lnTo>
                <a:lnTo>
                  <a:pt x="1557851" y="0"/>
                </a:lnTo>
                <a:close/>
              </a:path>
              <a:path w="1786254" h="228600">
                <a:moveTo>
                  <a:pt x="1557709" y="76199"/>
                </a:moveTo>
                <a:lnTo>
                  <a:pt x="1557566" y="152399"/>
                </a:lnTo>
                <a:lnTo>
                  <a:pt x="1595666" y="152470"/>
                </a:lnTo>
                <a:lnTo>
                  <a:pt x="1595808" y="76271"/>
                </a:lnTo>
                <a:lnTo>
                  <a:pt x="1557709" y="76199"/>
                </a:lnTo>
                <a:close/>
              </a:path>
              <a:path w="1786254" h="228600">
                <a:moveTo>
                  <a:pt x="142" y="73284"/>
                </a:moveTo>
                <a:lnTo>
                  <a:pt x="0" y="149484"/>
                </a:lnTo>
                <a:lnTo>
                  <a:pt x="1557566" y="152399"/>
                </a:lnTo>
                <a:lnTo>
                  <a:pt x="1557709" y="76199"/>
                </a:lnTo>
                <a:lnTo>
                  <a:pt x="142" y="73284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616093" y="478647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16093" y="478647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45579" y="557774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645579" y="557774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615303" y="4146137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615302" y="4146137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497461" y="3853179"/>
            <a:ext cx="6883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Arial"/>
                <a:cs typeface="Arial"/>
              </a:rPr>
              <a:t>CASP8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91850" y="4139175"/>
            <a:ext cx="1724025" cy="228600"/>
          </a:xfrm>
          <a:custGeom>
            <a:avLst/>
            <a:gdLst/>
            <a:ahLst/>
            <a:cxnLst/>
            <a:rect l="l" t="t" r="r" b="b"/>
            <a:pathLst>
              <a:path w="1724025" h="228600">
                <a:moveTo>
                  <a:pt x="1495389" y="0"/>
                </a:moveTo>
                <a:lnTo>
                  <a:pt x="1495032" y="76199"/>
                </a:lnTo>
                <a:lnTo>
                  <a:pt x="1533132" y="76377"/>
                </a:lnTo>
                <a:lnTo>
                  <a:pt x="1532775" y="152577"/>
                </a:lnTo>
                <a:lnTo>
                  <a:pt x="1494674" y="152577"/>
                </a:lnTo>
                <a:lnTo>
                  <a:pt x="1494318" y="228597"/>
                </a:lnTo>
                <a:lnTo>
                  <a:pt x="1648155" y="152577"/>
                </a:lnTo>
                <a:lnTo>
                  <a:pt x="1532775" y="152577"/>
                </a:lnTo>
                <a:lnTo>
                  <a:pt x="1648516" y="152399"/>
                </a:lnTo>
                <a:lnTo>
                  <a:pt x="1723452" y="115369"/>
                </a:lnTo>
                <a:lnTo>
                  <a:pt x="1495389" y="0"/>
                </a:lnTo>
                <a:close/>
              </a:path>
              <a:path w="1724025" h="228600">
                <a:moveTo>
                  <a:pt x="1495032" y="76199"/>
                </a:moveTo>
                <a:lnTo>
                  <a:pt x="1494675" y="152399"/>
                </a:lnTo>
                <a:lnTo>
                  <a:pt x="1532775" y="152577"/>
                </a:lnTo>
                <a:lnTo>
                  <a:pt x="1533132" y="76377"/>
                </a:lnTo>
                <a:lnTo>
                  <a:pt x="1495032" y="76199"/>
                </a:lnTo>
                <a:close/>
              </a:path>
              <a:path w="1724025" h="228600">
                <a:moveTo>
                  <a:pt x="356" y="69199"/>
                </a:moveTo>
                <a:lnTo>
                  <a:pt x="0" y="145399"/>
                </a:lnTo>
                <a:lnTo>
                  <a:pt x="1494675" y="152399"/>
                </a:lnTo>
                <a:lnTo>
                  <a:pt x="1495032" y="76199"/>
                </a:lnTo>
                <a:lnTo>
                  <a:pt x="356" y="69199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231882" y="3818749"/>
            <a:ext cx="1058545" cy="2627630"/>
          </a:xfrm>
          <a:custGeom>
            <a:avLst/>
            <a:gdLst/>
            <a:ahLst/>
            <a:cxnLst/>
            <a:rect l="l" t="t" r="r" b="b"/>
            <a:pathLst>
              <a:path w="1058545" h="2627629">
                <a:moveTo>
                  <a:pt x="0" y="0"/>
                </a:moveTo>
                <a:lnTo>
                  <a:pt x="1058397" y="0"/>
                </a:lnTo>
                <a:lnTo>
                  <a:pt x="1058397" y="2627251"/>
                </a:lnTo>
                <a:lnTo>
                  <a:pt x="0" y="2627251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310622" y="5733796"/>
            <a:ext cx="939800" cy="66548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algn="ctr" marR="57150">
              <a:lnSpc>
                <a:spcPct val="100000"/>
              </a:lnSpc>
              <a:spcBef>
                <a:spcPts val="700"/>
              </a:spcBef>
            </a:pPr>
            <a:r>
              <a:rPr dirty="0" sz="1600" spc="-5">
                <a:latin typeface="Arial"/>
                <a:cs typeface="Arial"/>
              </a:rPr>
              <a:t>PIM1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1600" spc="-10" b="1">
                <a:solidFill>
                  <a:srgbClr val="69924E"/>
                </a:solidFill>
                <a:latin typeface="Arial"/>
                <a:cs typeface="Arial"/>
              </a:rPr>
              <a:t>A</a:t>
            </a:r>
            <a:r>
              <a:rPr dirty="0" sz="1600" spc="-5" b="1">
                <a:solidFill>
                  <a:srgbClr val="69924E"/>
                </a:solidFill>
                <a:latin typeface="Arial"/>
                <a:cs typeface="Arial"/>
              </a:rPr>
              <a:t>ns</a:t>
            </a:r>
            <a:r>
              <a:rPr dirty="0" sz="1600" spc="0" b="1">
                <a:solidFill>
                  <a:srgbClr val="69924E"/>
                </a:solidFill>
                <a:latin typeface="Arial"/>
                <a:cs typeface="Arial"/>
              </a:rPr>
              <a:t>w</a:t>
            </a:r>
            <a:r>
              <a:rPr dirty="0" sz="1600" spc="-5" b="1">
                <a:solidFill>
                  <a:srgbClr val="69924E"/>
                </a:solidFill>
                <a:latin typeface="Arial"/>
                <a:cs typeface="Arial"/>
              </a:rPr>
              <a:t>e</a:t>
            </a:r>
            <a:r>
              <a:rPr dirty="0" sz="1600" b="1">
                <a:solidFill>
                  <a:srgbClr val="69924E"/>
                </a:solidFill>
                <a:latin typeface="Arial"/>
                <a:cs typeface="Arial"/>
              </a:rPr>
              <a:t>r</a:t>
            </a:r>
            <a:r>
              <a:rPr dirty="0" sz="1600" spc="-5" b="1">
                <a:solidFill>
                  <a:srgbClr val="69924E"/>
                </a:solidFill>
                <a:latin typeface="Arial"/>
                <a:cs typeface="Arial"/>
              </a:rPr>
              <a:t>s</a:t>
            </a:r>
            <a:r>
              <a:rPr dirty="0" sz="1600" b="1">
                <a:solidFill>
                  <a:srgbClr val="69924E"/>
                </a:solidFill>
                <a:latin typeface="Arial"/>
                <a:cs typeface="Arial"/>
              </a:rPr>
              <a:t>!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89462" y="4740479"/>
            <a:ext cx="1727200" cy="253365"/>
          </a:xfrm>
          <a:custGeom>
            <a:avLst/>
            <a:gdLst/>
            <a:ahLst/>
            <a:cxnLst/>
            <a:rect l="l" t="t" r="r" b="b"/>
            <a:pathLst>
              <a:path w="1727200" h="253364">
                <a:moveTo>
                  <a:pt x="1495984" y="177019"/>
                </a:moveTo>
                <a:lnTo>
                  <a:pt x="1490851" y="253046"/>
                </a:lnTo>
                <a:lnTo>
                  <a:pt x="1666441" y="179585"/>
                </a:lnTo>
                <a:lnTo>
                  <a:pt x="1533998" y="179585"/>
                </a:lnTo>
                <a:lnTo>
                  <a:pt x="1495984" y="177019"/>
                </a:lnTo>
                <a:close/>
              </a:path>
              <a:path w="1727200" h="253364">
                <a:moveTo>
                  <a:pt x="1501116" y="100992"/>
                </a:moveTo>
                <a:lnTo>
                  <a:pt x="1495984" y="177019"/>
                </a:lnTo>
                <a:lnTo>
                  <a:pt x="1533998" y="179585"/>
                </a:lnTo>
                <a:lnTo>
                  <a:pt x="1539130" y="103558"/>
                </a:lnTo>
                <a:lnTo>
                  <a:pt x="1501116" y="100992"/>
                </a:lnTo>
                <a:close/>
              </a:path>
              <a:path w="1727200" h="253364">
                <a:moveTo>
                  <a:pt x="1506249" y="24965"/>
                </a:moveTo>
                <a:lnTo>
                  <a:pt x="1501116" y="100992"/>
                </a:lnTo>
                <a:lnTo>
                  <a:pt x="1539130" y="103558"/>
                </a:lnTo>
                <a:lnTo>
                  <a:pt x="1533998" y="179585"/>
                </a:lnTo>
                <a:lnTo>
                  <a:pt x="1666441" y="179585"/>
                </a:lnTo>
                <a:lnTo>
                  <a:pt x="1726632" y="154404"/>
                </a:lnTo>
                <a:lnTo>
                  <a:pt x="1506249" y="24965"/>
                </a:lnTo>
                <a:close/>
              </a:path>
              <a:path w="1727200" h="253364">
                <a:moveTo>
                  <a:pt x="5133" y="0"/>
                </a:moveTo>
                <a:lnTo>
                  <a:pt x="0" y="76027"/>
                </a:lnTo>
                <a:lnTo>
                  <a:pt x="1495984" y="177019"/>
                </a:lnTo>
                <a:lnTo>
                  <a:pt x="1501116" y="100992"/>
                </a:lnTo>
                <a:lnTo>
                  <a:pt x="5133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32801" y="5428996"/>
            <a:ext cx="4057650" cy="12357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99100"/>
              </a:lnSpc>
              <a:spcBef>
                <a:spcPts val="114"/>
              </a:spcBef>
            </a:pP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Start from the nodes {“Brain Bleeding”,  “Short of Breath”, “Kidney Infection”,  “Headache”} and traverse the KG by the  relation “Assoc”, we reach entities {“CASP8”,  “BIRC2”, “PIM1”}. These are the</a:t>
            </a:r>
            <a:r>
              <a:rPr dirty="0" sz="1600" spc="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answers.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85858" y="3614286"/>
            <a:ext cx="1003935" cy="1172845"/>
          </a:xfrm>
          <a:custGeom>
            <a:avLst/>
            <a:gdLst/>
            <a:ahLst/>
            <a:cxnLst/>
            <a:rect l="l" t="t" r="r" b="b"/>
            <a:pathLst>
              <a:path w="1003935" h="1172845">
                <a:moveTo>
                  <a:pt x="826711" y="149577"/>
                </a:moveTo>
                <a:lnTo>
                  <a:pt x="0" y="1122993"/>
                </a:lnTo>
                <a:lnTo>
                  <a:pt x="58079" y="1172320"/>
                </a:lnTo>
                <a:lnTo>
                  <a:pt x="884791" y="198903"/>
                </a:lnTo>
                <a:lnTo>
                  <a:pt x="826711" y="149577"/>
                </a:lnTo>
                <a:close/>
              </a:path>
              <a:path w="1003935" h="1172845">
                <a:moveTo>
                  <a:pt x="974179" y="120536"/>
                </a:moveTo>
                <a:lnTo>
                  <a:pt x="851374" y="120536"/>
                </a:lnTo>
                <a:lnTo>
                  <a:pt x="909454" y="169863"/>
                </a:lnTo>
                <a:lnTo>
                  <a:pt x="884791" y="198903"/>
                </a:lnTo>
                <a:lnTo>
                  <a:pt x="942872" y="248231"/>
                </a:lnTo>
                <a:lnTo>
                  <a:pt x="974179" y="120536"/>
                </a:lnTo>
                <a:close/>
              </a:path>
              <a:path w="1003935" h="1172845">
                <a:moveTo>
                  <a:pt x="851374" y="120536"/>
                </a:moveTo>
                <a:lnTo>
                  <a:pt x="826711" y="149577"/>
                </a:lnTo>
                <a:lnTo>
                  <a:pt x="884791" y="198903"/>
                </a:lnTo>
                <a:lnTo>
                  <a:pt x="909454" y="169863"/>
                </a:lnTo>
                <a:lnTo>
                  <a:pt x="851374" y="120536"/>
                </a:lnTo>
                <a:close/>
              </a:path>
              <a:path w="1003935" h="1172845">
                <a:moveTo>
                  <a:pt x="1003731" y="0"/>
                </a:moveTo>
                <a:lnTo>
                  <a:pt x="768630" y="100249"/>
                </a:lnTo>
                <a:lnTo>
                  <a:pt x="826711" y="149577"/>
                </a:lnTo>
                <a:lnTo>
                  <a:pt x="851374" y="120536"/>
                </a:lnTo>
                <a:lnTo>
                  <a:pt x="974179" y="120536"/>
                </a:lnTo>
                <a:lnTo>
                  <a:pt x="100373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492188" y="46535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492188" y="46535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409845" y="4144771"/>
            <a:ext cx="1416685" cy="739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865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au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85804" y="5736844"/>
            <a:ext cx="794385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4572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Kidney  </a:t>
            </a:r>
            <a:r>
              <a:rPr dirty="0" sz="1600" spc="0">
                <a:latin typeface="Arial"/>
                <a:cs typeface="Arial"/>
              </a:rPr>
              <a:t>I</a:t>
            </a:r>
            <a:r>
              <a:rPr dirty="0" sz="1600" spc="-5">
                <a:latin typeface="Arial"/>
                <a:cs typeface="Arial"/>
              </a:rPr>
              <a:t>n</a:t>
            </a:r>
            <a:r>
              <a:rPr dirty="0" sz="1600" spc="0">
                <a:latin typeface="Arial"/>
                <a:cs typeface="Arial"/>
              </a:rPr>
              <a:t>f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10">
                <a:latin typeface="Arial"/>
                <a:cs typeface="Arial"/>
              </a:rPr>
              <a:t>i</a:t>
            </a:r>
            <a:r>
              <a:rPr dirty="0" sz="1600" spc="-5">
                <a:latin typeface="Arial"/>
                <a:cs typeface="Arial"/>
              </a:rPr>
              <a:t>o</a:t>
            </a:r>
            <a:r>
              <a:rPr dirty="0" sz="160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696793" y="4246474"/>
            <a:ext cx="972819" cy="549275"/>
          </a:xfrm>
          <a:custGeom>
            <a:avLst/>
            <a:gdLst/>
            <a:ahLst/>
            <a:cxnLst/>
            <a:rect l="l" t="t" r="r" b="b"/>
            <a:pathLst>
              <a:path w="972820" h="549275">
                <a:moveTo>
                  <a:pt x="753280" y="75109"/>
                </a:moveTo>
                <a:lnTo>
                  <a:pt x="0" y="481945"/>
                </a:lnTo>
                <a:lnTo>
                  <a:pt x="36210" y="548991"/>
                </a:lnTo>
                <a:lnTo>
                  <a:pt x="789491" y="142156"/>
                </a:lnTo>
                <a:lnTo>
                  <a:pt x="753280" y="75109"/>
                </a:lnTo>
                <a:close/>
              </a:path>
              <a:path w="972820" h="549275">
                <a:moveTo>
                  <a:pt x="932518" y="57003"/>
                </a:moveTo>
                <a:lnTo>
                  <a:pt x="786804" y="57003"/>
                </a:lnTo>
                <a:lnTo>
                  <a:pt x="823014" y="124051"/>
                </a:lnTo>
                <a:lnTo>
                  <a:pt x="789491" y="142156"/>
                </a:lnTo>
                <a:lnTo>
                  <a:pt x="825701" y="209202"/>
                </a:lnTo>
                <a:lnTo>
                  <a:pt x="932518" y="57003"/>
                </a:lnTo>
                <a:close/>
              </a:path>
              <a:path w="972820" h="549275">
                <a:moveTo>
                  <a:pt x="786804" y="57003"/>
                </a:moveTo>
                <a:lnTo>
                  <a:pt x="753280" y="75109"/>
                </a:lnTo>
                <a:lnTo>
                  <a:pt x="789491" y="142156"/>
                </a:lnTo>
                <a:lnTo>
                  <a:pt x="823014" y="124051"/>
                </a:lnTo>
                <a:lnTo>
                  <a:pt x="786804" y="57003"/>
                </a:lnTo>
                <a:close/>
              </a:path>
              <a:path w="972820" h="549275">
                <a:moveTo>
                  <a:pt x="972525" y="0"/>
                </a:moveTo>
                <a:lnTo>
                  <a:pt x="717069" y="8063"/>
                </a:lnTo>
                <a:lnTo>
                  <a:pt x="753280" y="75109"/>
                </a:lnTo>
                <a:lnTo>
                  <a:pt x="786804" y="57003"/>
                </a:lnTo>
                <a:lnTo>
                  <a:pt x="932518" y="57003"/>
                </a:lnTo>
                <a:lnTo>
                  <a:pt x="97252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712583" y="4601643"/>
            <a:ext cx="989965" cy="228600"/>
          </a:xfrm>
          <a:custGeom>
            <a:avLst/>
            <a:gdLst/>
            <a:ahLst/>
            <a:cxnLst/>
            <a:rect l="l" t="t" r="r" b="b"/>
            <a:pathLst>
              <a:path w="989964" h="228600">
                <a:moveTo>
                  <a:pt x="927279" y="73743"/>
                </a:moveTo>
                <a:lnTo>
                  <a:pt x="796886" y="73743"/>
                </a:lnTo>
                <a:lnTo>
                  <a:pt x="801518" y="149802"/>
                </a:lnTo>
                <a:lnTo>
                  <a:pt x="763488" y="152118"/>
                </a:lnTo>
                <a:lnTo>
                  <a:pt x="768120" y="228178"/>
                </a:lnTo>
                <a:lnTo>
                  <a:pt x="989350" y="100194"/>
                </a:lnTo>
                <a:lnTo>
                  <a:pt x="927279" y="73743"/>
                </a:lnTo>
                <a:close/>
              </a:path>
              <a:path w="989964" h="228600">
                <a:moveTo>
                  <a:pt x="758856" y="76059"/>
                </a:moveTo>
                <a:lnTo>
                  <a:pt x="0" y="122271"/>
                </a:lnTo>
                <a:lnTo>
                  <a:pt x="4631" y="198330"/>
                </a:lnTo>
                <a:lnTo>
                  <a:pt x="763488" y="152118"/>
                </a:lnTo>
                <a:lnTo>
                  <a:pt x="758856" y="76059"/>
                </a:lnTo>
                <a:close/>
              </a:path>
              <a:path w="989964" h="228600">
                <a:moveTo>
                  <a:pt x="796886" y="73743"/>
                </a:moveTo>
                <a:lnTo>
                  <a:pt x="758856" y="76059"/>
                </a:lnTo>
                <a:lnTo>
                  <a:pt x="763488" y="152118"/>
                </a:lnTo>
                <a:lnTo>
                  <a:pt x="801518" y="149802"/>
                </a:lnTo>
                <a:lnTo>
                  <a:pt x="796886" y="73743"/>
                </a:lnTo>
                <a:close/>
              </a:path>
              <a:path w="989964" h="228600">
                <a:moveTo>
                  <a:pt x="754225" y="0"/>
                </a:moveTo>
                <a:lnTo>
                  <a:pt x="758856" y="76059"/>
                </a:lnTo>
                <a:lnTo>
                  <a:pt x="796886" y="73743"/>
                </a:lnTo>
                <a:lnTo>
                  <a:pt x="927279" y="73743"/>
                </a:lnTo>
                <a:lnTo>
                  <a:pt x="75422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691510" y="4731867"/>
            <a:ext cx="1010919" cy="798195"/>
          </a:xfrm>
          <a:custGeom>
            <a:avLst/>
            <a:gdLst/>
            <a:ahLst/>
            <a:cxnLst/>
            <a:rect l="l" t="t" r="r" b="b"/>
            <a:pathLst>
              <a:path w="1010920" h="798195">
                <a:moveTo>
                  <a:pt x="806576" y="687376"/>
                </a:moveTo>
                <a:lnTo>
                  <a:pt x="759799" y="747529"/>
                </a:lnTo>
                <a:lnTo>
                  <a:pt x="1010423" y="797631"/>
                </a:lnTo>
                <a:lnTo>
                  <a:pt x="968869" y="710765"/>
                </a:lnTo>
                <a:lnTo>
                  <a:pt x="836653" y="710765"/>
                </a:lnTo>
                <a:lnTo>
                  <a:pt x="806576" y="687376"/>
                </a:lnTo>
                <a:close/>
              </a:path>
              <a:path w="1010920" h="798195">
                <a:moveTo>
                  <a:pt x="853353" y="627223"/>
                </a:moveTo>
                <a:lnTo>
                  <a:pt x="806576" y="687376"/>
                </a:lnTo>
                <a:lnTo>
                  <a:pt x="836653" y="710765"/>
                </a:lnTo>
                <a:lnTo>
                  <a:pt x="883429" y="650612"/>
                </a:lnTo>
                <a:lnTo>
                  <a:pt x="853353" y="627223"/>
                </a:lnTo>
                <a:close/>
              </a:path>
              <a:path w="1010920" h="798195">
                <a:moveTo>
                  <a:pt x="900130" y="567071"/>
                </a:moveTo>
                <a:lnTo>
                  <a:pt x="853353" y="627223"/>
                </a:lnTo>
                <a:lnTo>
                  <a:pt x="883429" y="650612"/>
                </a:lnTo>
                <a:lnTo>
                  <a:pt x="836653" y="710765"/>
                </a:lnTo>
                <a:lnTo>
                  <a:pt x="968869" y="710765"/>
                </a:lnTo>
                <a:lnTo>
                  <a:pt x="900130" y="567071"/>
                </a:lnTo>
                <a:close/>
              </a:path>
              <a:path w="1010920" h="798195">
                <a:moveTo>
                  <a:pt x="46776" y="0"/>
                </a:moveTo>
                <a:lnTo>
                  <a:pt x="0" y="60152"/>
                </a:lnTo>
                <a:lnTo>
                  <a:pt x="806576" y="687376"/>
                </a:lnTo>
                <a:lnTo>
                  <a:pt x="853353" y="627223"/>
                </a:lnTo>
                <a:lnTo>
                  <a:pt x="4677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669318" y="5497747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669318" y="5497747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669318" y="467008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669318" y="467008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669318" y="4138066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669318" y="4138066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370663" y="4843779"/>
            <a:ext cx="737870" cy="45847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98425" marR="5080" indent="-85725">
              <a:lnSpc>
                <a:spcPct val="77500"/>
              </a:lnSpc>
              <a:spcBef>
                <a:spcPts val="530"/>
              </a:spcBef>
            </a:pPr>
            <a:r>
              <a:rPr dirty="0" sz="1600" spc="-5">
                <a:latin typeface="Arial"/>
                <a:cs typeface="Arial"/>
              </a:rPr>
              <a:t>Short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  Breath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656975" y="358253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656975" y="358253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697173" y="3566667"/>
            <a:ext cx="1344295" cy="561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24485">
              <a:lnSpc>
                <a:spcPct val="11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Headache  Brain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Bleeding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15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84135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7789545" cy="958215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332740" marR="5080" indent="-320040">
              <a:lnSpc>
                <a:spcPts val="3500"/>
              </a:lnSpc>
              <a:spcBef>
                <a:spcPts val="5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 i="0">
                <a:latin typeface="Calibri"/>
                <a:cs typeface="Calibri"/>
              </a:rPr>
              <a:t>Answering </a:t>
            </a:r>
            <a:r>
              <a:rPr dirty="0" sz="3200" spc="-5" b="1" i="0">
                <a:latin typeface="Calibri"/>
                <a:cs typeface="Calibri"/>
              </a:rPr>
              <a:t>queries seems </a:t>
            </a:r>
            <a:r>
              <a:rPr dirty="0" sz="3200" spc="-15" b="1" i="0">
                <a:latin typeface="Calibri"/>
                <a:cs typeface="Calibri"/>
              </a:rPr>
              <a:t>easy: Just </a:t>
            </a:r>
            <a:r>
              <a:rPr dirty="0" sz="3200" spc="-30" b="1" i="0">
                <a:latin typeface="Calibri"/>
                <a:cs typeface="Calibri"/>
              </a:rPr>
              <a:t>traverse  </a:t>
            </a:r>
            <a:r>
              <a:rPr dirty="0" sz="3200" spc="-5" b="1" i="0">
                <a:latin typeface="Calibri"/>
                <a:cs typeface="Calibri"/>
              </a:rPr>
              <a:t>the</a:t>
            </a:r>
            <a:r>
              <a:rPr dirty="0" sz="3200" spc="-80" b="1" i="0">
                <a:latin typeface="Calibri"/>
                <a:cs typeface="Calibri"/>
              </a:rPr>
              <a:t> </a:t>
            </a:r>
            <a:r>
              <a:rPr dirty="0" sz="3200" spc="-20" b="1" i="0">
                <a:latin typeface="Calibri"/>
                <a:cs typeface="Calibri"/>
              </a:rPr>
              <a:t>graph.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15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428457"/>
            <a:ext cx="7948930" cy="372554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5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But, </a:t>
            </a:r>
            <a:r>
              <a:rPr dirty="0" sz="3200" spc="-45" b="1">
                <a:latin typeface="Calibri"/>
                <a:cs typeface="Calibri"/>
              </a:rPr>
              <a:t>KGs </a:t>
            </a:r>
            <a:r>
              <a:rPr dirty="0" sz="3200" spc="-15" b="1">
                <a:latin typeface="Calibri"/>
                <a:cs typeface="Calibri"/>
              </a:rPr>
              <a:t>are </a:t>
            </a:r>
            <a:r>
              <a:rPr dirty="0" sz="3200" spc="-5" b="1">
                <a:latin typeface="Calibri"/>
                <a:cs typeface="Calibri"/>
              </a:rPr>
              <a:t>notoriously</a:t>
            </a:r>
            <a:r>
              <a:rPr dirty="0" sz="3200" spc="1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incomplete: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ts val="3000"/>
              </a:lnSpc>
              <a:spcBef>
                <a:spcPts val="7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Many relations between </a:t>
            </a:r>
            <a:r>
              <a:rPr dirty="0" sz="2800" spc="-10">
                <a:latin typeface="Calibri"/>
                <a:cs typeface="Calibri"/>
              </a:rPr>
              <a:t>entities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5">
                <a:latin typeface="Calibri"/>
                <a:cs typeface="Calibri"/>
              </a:rPr>
              <a:t>missing or </a:t>
            </a:r>
            <a:r>
              <a:rPr dirty="0" sz="2800" spc="-215">
                <a:latin typeface="Calibri"/>
                <a:cs typeface="Calibri"/>
              </a:rPr>
              <a:t>are  </a:t>
            </a:r>
            <a:r>
              <a:rPr dirty="0" sz="2800" spc="-15">
                <a:latin typeface="Calibri"/>
                <a:cs typeface="Calibri"/>
              </a:rPr>
              <a:t>incomplete</a:t>
            </a:r>
            <a:endParaRPr sz="28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31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5">
                <a:latin typeface="Calibri"/>
                <a:cs typeface="Calibri"/>
              </a:rPr>
              <a:t>For example, we </a:t>
            </a:r>
            <a:r>
              <a:rPr dirty="0" sz="2400" spc="-5">
                <a:latin typeface="Calibri"/>
                <a:cs typeface="Calibri"/>
              </a:rPr>
              <a:t>lack all the biomedical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knowledge</a:t>
            </a:r>
            <a:endParaRPr sz="2400">
              <a:latin typeface="Calibri"/>
              <a:cs typeface="Calibri"/>
            </a:endParaRPr>
          </a:p>
          <a:p>
            <a:pPr lvl="2" marL="890905" marR="104139" indent="-228600">
              <a:lnSpc>
                <a:spcPts val="259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0">
                <a:latin typeface="Calibri"/>
                <a:cs typeface="Calibri"/>
              </a:rPr>
              <a:t>Enumerating </a:t>
            </a:r>
            <a:r>
              <a:rPr dirty="0" sz="2400">
                <a:latin typeface="Calibri"/>
                <a:cs typeface="Calibri"/>
              </a:rPr>
              <a:t>all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5">
                <a:latin typeface="Calibri"/>
                <a:cs typeface="Calibri"/>
              </a:rPr>
              <a:t>facts </a:t>
            </a:r>
            <a:r>
              <a:rPr dirty="0" sz="2400" spc="-25">
                <a:latin typeface="Calibri"/>
                <a:cs typeface="Calibri"/>
              </a:rPr>
              <a:t>takes </a:t>
            </a:r>
            <a:r>
              <a:rPr dirty="0" sz="2400" spc="-5">
                <a:latin typeface="Calibri"/>
                <a:cs typeface="Calibri"/>
              </a:rPr>
              <a:t>non-trivial time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114">
                <a:latin typeface="Calibri"/>
                <a:cs typeface="Calibri"/>
              </a:rPr>
              <a:t>cost,  </a:t>
            </a:r>
            <a:r>
              <a:rPr dirty="0" sz="2400" spc="-15">
                <a:latin typeface="Calibri"/>
                <a:cs typeface="Calibri"/>
              </a:rPr>
              <a:t>we </a:t>
            </a:r>
            <a:r>
              <a:rPr dirty="0" sz="2400" spc="-5">
                <a:latin typeface="Calibri"/>
                <a:cs typeface="Calibri"/>
              </a:rPr>
              <a:t>cannot hope </a:t>
            </a:r>
            <a:r>
              <a:rPr dirty="0" sz="2400" spc="-10">
                <a:latin typeface="Calibri"/>
                <a:cs typeface="Calibri"/>
              </a:rPr>
              <a:t>that </a:t>
            </a:r>
            <a:r>
              <a:rPr dirty="0" sz="2400" spc="-35">
                <a:latin typeface="Calibri"/>
                <a:cs typeface="Calibri"/>
              </a:rPr>
              <a:t>KGs </a:t>
            </a:r>
            <a:r>
              <a:rPr dirty="0" sz="2400" spc="-5">
                <a:latin typeface="Calibri"/>
                <a:cs typeface="Calibri"/>
              </a:rPr>
              <a:t>will </a:t>
            </a:r>
            <a:r>
              <a:rPr dirty="0" sz="2400" spc="-10">
                <a:latin typeface="Calibri"/>
                <a:cs typeface="Calibri"/>
              </a:rPr>
              <a:t>ever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5">
                <a:latin typeface="Calibri"/>
                <a:cs typeface="Calibri"/>
              </a:rPr>
              <a:t>fully</a:t>
            </a:r>
            <a:r>
              <a:rPr dirty="0" sz="2400" spc="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complete</a:t>
            </a:r>
            <a:endParaRPr sz="2400">
              <a:latin typeface="Calibri"/>
              <a:cs typeface="Calibri"/>
            </a:endParaRPr>
          </a:p>
          <a:p>
            <a:pPr marL="332740" marR="66675" indent="-320040">
              <a:lnSpc>
                <a:spcPts val="3379"/>
              </a:lnSpc>
              <a:spcBef>
                <a:spcPts val="239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Due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3200" spc="-65" b="1">
                <a:solidFill>
                  <a:srgbClr val="C00000"/>
                </a:solidFill>
                <a:latin typeface="Calibri"/>
                <a:cs typeface="Calibri"/>
              </a:rPr>
              <a:t>KG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incompleteness,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one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is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not able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to 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identify all the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answer</a:t>
            </a:r>
            <a:r>
              <a:rPr dirty="0" sz="32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entities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00151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5800" y="1275588"/>
            <a:ext cx="8597900" cy="1973580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 i="0">
                <a:latin typeface="Calibri"/>
                <a:cs typeface="Calibri"/>
              </a:rPr>
              <a:t>Answer </a:t>
            </a:r>
            <a:r>
              <a:rPr dirty="0" sz="3200" spc="-15" b="1" i="0">
                <a:latin typeface="Calibri"/>
                <a:cs typeface="Calibri"/>
              </a:rPr>
              <a:t>path </a:t>
            </a:r>
            <a:r>
              <a:rPr dirty="0" sz="3200" spc="-5" b="1" i="0">
                <a:latin typeface="Calibri"/>
                <a:cs typeface="Calibri"/>
              </a:rPr>
              <a:t>queries </a:t>
            </a:r>
            <a:r>
              <a:rPr dirty="0" sz="3200" spc="-15" b="1" i="0">
                <a:latin typeface="Calibri"/>
                <a:cs typeface="Calibri"/>
              </a:rPr>
              <a:t>by </a:t>
            </a:r>
            <a:r>
              <a:rPr dirty="0" sz="3200" spc="-25" b="1" i="0">
                <a:latin typeface="Calibri"/>
                <a:cs typeface="Calibri"/>
              </a:rPr>
              <a:t>traversing </a:t>
            </a:r>
            <a:r>
              <a:rPr dirty="0" sz="3200" spc="-5" b="1" i="0">
                <a:latin typeface="Calibri"/>
                <a:cs typeface="Calibri"/>
              </a:rPr>
              <a:t>the </a:t>
            </a:r>
            <a:r>
              <a:rPr dirty="0" sz="3200" spc="-45" b="1" i="0">
                <a:latin typeface="Calibri"/>
                <a:cs typeface="Calibri"/>
              </a:rPr>
              <a:t>KG: </a:t>
            </a:r>
            <a:r>
              <a:rPr dirty="0" sz="3200" spc="-5" i="0">
                <a:latin typeface="Calibri"/>
                <a:cs typeface="Calibri"/>
              </a:rPr>
              <a:t>“</a:t>
            </a:r>
            <a:r>
              <a:rPr dirty="0" sz="3200" spc="-5"/>
              <a:t>What  </a:t>
            </a:r>
            <a:r>
              <a:rPr dirty="0" sz="3200" spc="-10" i="1"/>
              <a:t>proteins </a:t>
            </a:r>
            <a:r>
              <a:rPr dirty="0" sz="3200" i="1"/>
              <a:t>are </a:t>
            </a:r>
            <a:r>
              <a:rPr dirty="0" sz="3200" spc="-5" b="1">
                <a:solidFill>
                  <a:srgbClr val="479249"/>
                </a:solidFill>
                <a:latin typeface="Calibri"/>
                <a:cs typeface="Calibri"/>
              </a:rPr>
              <a:t>associated </a:t>
            </a:r>
            <a:r>
              <a:rPr dirty="0" sz="3200" spc="-5"/>
              <a:t>with adverse </a:t>
            </a:r>
            <a:r>
              <a:rPr dirty="0" sz="3200" spc="-10"/>
              <a:t>events </a:t>
            </a:r>
            <a:r>
              <a:rPr dirty="0" sz="3200" spc="-10">
                <a:solidFill>
                  <a:srgbClr val="C00000"/>
                </a:solidFill>
              </a:rPr>
              <a:t>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caused </a:t>
            </a:r>
            <a:r>
              <a:rPr dirty="0" sz="3200" spc="-10"/>
              <a:t>by</a:t>
            </a:r>
            <a:r>
              <a:rPr dirty="0" sz="3200" spc="-45"/>
              <a:t> </a:t>
            </a:r>
            <a:r>
              <a:rPr dirty="0" sz="3200" spc="-10" b="1">
                <a:solidFill>
                  <a:srgbClr val="0070C0"/>
                </a:solidFill>
                <a:latin typeface="Calibri"/>
                <a:cs typeface="Calibri"/>
              </a:rPr>
              <a:t>Fulvestrant</a:t>
            </a:r>
            <a:r>
              <a:rPr dirty="0" sz="3200" spc="-10"/>
              <a:t>?</a:t>
            </a:r>
            <a:r>
              <a:rPr dirty="0" sz="3200" spc="-10" i="0">
                <a:latin typeface="Calibri"/>
                <a:cs typeface="Calibri"/>
              </a:rPr>
              <a:t>”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 i="0">
                <a:latin typeface="Calibri"/>
                <a:cs typeface="Calibri"/>
              </a:rPr>
              <a:t>Query: </a:t>
            </a:r>
            <a:r>
              <a:rPr dirty="0" sz="3200" spc="-15" i="0">
                <a:latin typeface="Calibri"/>
                <a:cs typeface="Calibri"/>
              </a:rPr>
              <a:t>(</a:t>
            </a:r>
            <a:r>
              <a:rPr dirty="0" sz="3200" spc="-15" b="1" i="0">
                <a:solidFill>
                  <a:srgbClr val="0070C0"/>
                </a:solidFill>
                <a:latin typeface="Calibri"/>
                <a:cs typeface="Calibri"/>
              </a:rPr>
              <a:t>e:Fulvestrant</a:t>
            </a:r>
            <a:r>
              <a:rPr dirty="0" sz="3200" spc="-15" i="0">
                <a:latin typeface="Calibri"/>
                <a:cs typeface="Calibri"/>
              </a:rPr>
              <a:t>, </a:t>
            </a:r>
            <a:r>
              <a:rPr dirty="0" sz="3200" spc="-5" i="0">
                <a:latin typeface="Calibri"/>
                <a:cs typeface="Calibri"/>
              </a:rPr>
              <a:t>(</a:t>
            </a:r>
            <a:r>
              <a:rPr dirty="0" sz="3200" spc="-5" b="1" i="0">
                <a:solidFill>
                  <a:srgbClr val="C00000"/>
                </a:solidFill>
                <a:latin typeface="Calibri"/>
                <a:cs typeface="Calibri"/>
              </a:rPr>
              <a:t>r:Causes</a:t>
            </a:r>
            <a:r>
              <a:rPr dirty="0" sz="3200" spc="-5" i="0">
                <a:latin typeface="Calibri"/>
                <a:cs typeface="Calibri"/>
              </a:rPr>
              <a:t>,</a:t>
            </a:r>
            <a:r>
              <a:rPr dirty="0" sz="3200" spc="50" i="0">
                <a:latin typeface="Calibri"/>
                <a:cs typeface="Calibri"/>
              </a:rPr>
              <a:t> </a:t>
            </a:r>
            <a:r>
              <a:rPr dirty="0" sz="3200" spc="-5" b="1" i="0">
                <a:solidFill>
                  <a:srgbClr val="479249"/>
                </a:solidFill>
                <a:latin typeface="Calibri"/>
                <a:cs typeface="Calibri"/>
              </a:rPr>
              <a:t>r:Assoc</a:t>
            </a:r>
            <a:r>
              <a:rPr dirty="0" sz="3200" spc="-5" i="0">
                <a:latin typeface="Calibri"/>
                <a:cs typeface="Calibri"/>
              </a:rPr>
              <a:t>))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9513" y="4927091"/>
            <a:ext cx="18002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FF0000"/>
                </a:solidFill>
                <a:latin typeface="Corbel"/>
                <a:cs typeface="Corbel"/>
              </a:rPr>
              <a:t>Missing</a:t>
            </a:r>
            <a:r>
              <a:rPr dirty="0" sz="2000" spc="-135" b="1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2000" spc="-5" b="1">
                <a:solidFill>
                  <a:srgbClr val="FF0000"/>
                </a:solidFill>
                <a:latin typeface="Corbel"/>
                <a:cs typeface="Corbel"/>
              </a:rPr>
              <a:t>Answer!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5713" y="5123179"/>
            <a:ext cx="648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548235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548235"/>
                </a:solidFill>
                <a:latin typeface="Arial"/>
                <a:cs typeface="Arial"/>
              </a:rPr>
              <a:t>ss</a:t>
            </a:r>
            <a:r>
              <a:rPr dirty="0" sz="1800" spc="-5">
                <a:solidFill>
                  <a:srgbClr val="548235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548235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1978" y="4721859"/>
            <a:ext cx="6223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B</a:t>
            </a:r>
            <a:r>
              <a:rPr dirty="0" sz="1600">
                <a:latin typeface="Arial"/>
                <a:cs typeface="Arial"/>
              </a:rPr>
              <a:t>I</a:t>
            </a:r>
            <a:r>
              <a:rPr dirty="0" sz="1600" spc="-5">
                <a:latin typeface="Arial"/>
                <a:cs typeface="Arial"/>
              </a:rPr>
              <a:t>RC2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82622" y="4496074"/>
            <a:ext cx="1765300" cy="539115"/>
          </a:xfrm>
          <a:custGeom>
            <a:avLst/>
            <a:gdLst/>
            <a:ahLst/>
            <a:cxnLst/>
            <a:rect l="l" t="t" r="r" b="b"/>
            <a:pathLst>
              <a:path w="1765300" h="539114">
                <a:moveTo>
                  <a:pt x="1534363" y="73841"/>
                </a:moveTo>
                <a:lnTo>
                  <a:pt x="0" y="464703"/>
                </a:lnTo>
                <a:lnTo>
                  <a:pt x="18811" y="538544"/>
                </a:lnTo>
                <a:lnTo>
                  <a:pt x="1553174" y="147683"/>
                </a:lnTo>
                <a:lnTo>
                  <a:pt x="1534363" y="73841"/>
                </a:lnTo>
                <a:close/>
              </a:path>
              <a:path w="1765300" h="539114">
                <a:moveTo>
                  <a:pt x="1753612" y="64435"/>
                </a:moveTo>
                <a:lnTo>
                  <a:pt x="1571284" y="64435"/>
                </a:lnTo>
                <a:lnTo>
                  <a:pt x="1590094" y="138278"/>
                </a:lnTo>
                <a:lnTo>
                  <a:pt x="1553174" y="147683"/>
                </a:lnTo>
                <a:lnTo>
                  <a:pt x="1571984" y="221524"/>
                </a:lnTo>
                <a:lnTo>
                  <a:pt x="1753612" y="64435"/>
                </a:lnTo>
                <a:close/>
              </a:path>
              <a:path w="1765300" h="539114">
                <a:moveTo>
                  <a:pt x="1571284" y="64435"/>
                </a:moveTo>
                <a:lnTo>
                  <a:pt x="1534363" y="73841"/>
                </a:lnTo>
                <a:lnTo>
                  <a:pt x="1553174" y="147683"/>
                </a:lnTo>
                <a:lnTo>
                  <a:pt x="1590094" y="138278"/>
                </a:lnTo>
                <a:lnTo>
                  <a:pt x="1571284" y="64435"/>
                </a:lnTo>
                <a:close/>
              </a:path>
              <a:path w="1765300" h="539114">
                <a:moveTo>
                  <a:pt x="1515553" y="0"/>
                </a:moveTo>
                <a:lnTo>
                  <a:pt x="1534363" y="73841"/>
                </a:lnTo>
                <a:lnTo>
                  <a:pt x="1571284" y="64435"/>
                </a:lnTo>
                <a:lnTo>
                  <a:pt x="1753612" y="64435"/>
                </a:lnTo>
                <a:lnTo>
                  <a:pt x="1765294" y="54331"/>
                </a:lnTo>
                <a:lnTo>
                  <a:pt x="1515553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91957" y="5713975"/>
            <a:ext cx="1786255" cy="228600"/>
          </a:xfrm>
          <a:custGeom>
            <a:avLst/>
            <a:gdLst/>
            <a:ahLst/>
            <a:cxnLst/>
            <a:rect l="l" t="t" r="r" b="b"/>
            <a:pathLst>
              <a:path w="1786254" h="228600">
                <a:moveTo>
                  <a:pt x="1557851" y="0"/>
                </a:moveTo>
                <a:lnTo>
                  <a:pt x="1557709" y="76199"/>
                </a:lnTo>
                <a:lnTo>
                  <a:pt x="1595808" y="76271"/>
                </a:lnTo>
                <a:lnTo>
                  <a:pt x="1595666" y="152470"/>
                </a:lnTo>
                <a:lnTo>
                  <a:pt x="1557566" y="152470"/>
                </a:lnTo>
                <a:lnTo>
                  <a:pt x="1557423" y="228599"/>
                </a:lnTo>
                <a:lnTo>
                  <a:pt x="1710396" y="152470"/>
                </a:lnTo>
                <a:lnTo>
                  <a:pt x="1595666" y="152470"/>
                </a:lnTo>
                <a:lnTo>
                  <a:pt x="1710539" y="152399"/>
                </a:lnTo>
                <a:lnTo>
                  <a:pt x="1786237" y="114727"/>
                </a:lnTo>
                <a:lnTo>
                  <a:pt x="1557851" y="0"/>
                </a:lnTo>
                <a:close/>
              </a:path>
              <a:path w="1786254" h="228600">
                <a:moveTo>
                  <a:pt x="1557709" y="76199"/>
                </a:moveTo>
                <a:lnTo>
                  <a:pt x="1557566" y="152399"/>
                </a:lnTo>
                <a:lnTo>
                  <a:pt x="1595666" y="152470"/>
                </a:lnTo>
                <a:lnTo>
                  <a:pt x="1595808" y="76271"/>
                </a:lnTo>
                <a:lnTo>
                  <a:pt x="1557709" y="76199"/>
                </a:lnTo>
                <a:close/>
              </a:path>
              <a:path w="1786254" h="228600">
                <a:moveTo>
                  <a:pt x="142" y="73284"/>
                </a:moveTo>
                <a:lnTo>
                  <a:pt x="0" y="149484"/>
                </a:lnTo>
                <a:lnTo>
                  <a:pt x="1557566" y="152399"/>
                </a:lnTo>
                <a:lnTo>
                  <a:pt x="1557709" y="76199"/>
                </a:lnTo>
                <a:lnTo>
                  <a:pt x="142" y="73284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16093" y="500567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16093" y="500567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645579" y="5796950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6"/>
                </a:lnTo>
                <a:lnTo>
                  <a:pt x="111354" y="216816"/>
                </a:lnTo>
                <a:lnTo>
                  <a:pt x="154699" y="208296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645579" y="5796950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615303" y="436534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15302" y="436534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497461" y="4069588"/>
            <a:ext cx="6883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Arial"/>
                <a:cs typeface="Arial"/>
              </a:rPr>
              <a:t>CASP8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91850" y="4358380"/>
            <a:ext cx="1724025" cy="228600"/>
          </a:xfrm>
          <a:custGeom>
            <a:avLst/>
            <a:gdLst/>
            <a:ahLst/>
            <a:cxnLst/>
            <a:rect l="l" t="t" r="r" b="b"/>
            <a:pathLst>
              <a:path w="1724025" h="228600">
                <a:moveTo>
                  <a:pt x="1495389" y="0"/>
                </a:moveTo>
                <a:lnTo>
                  <a:pt x="1495032" y="76199"/>
                </a:lnTo>
                <a:lnTo>
                  <a:pt x="1533132" y="76377"/>
                </a:lnTo>
                <a:lnTo>
                  <a:pt x="1532775" y="152576"/>
                </a:lnTo>
                <a:lnTo>
                  <a:pt x="1494674" y="152576"/>
                </a:lnTo>
                <a:lnTo>
                  <a:pt x="1494318" y="228597"/>
                </a:lnTo>
                <a:lnTo>
                  <a:pt x="1648158" y="152576"/>
                </a:lnTo>
                <a:lnTo>
                  <a:pt x="1532775" y="152576"/>
                </a:lnTo>
                <a:lnTo>
                  <a:pt x="1648519" y="152398"/>
                </a:lnTo>
                <a:lnTo>
                  <a:pt x="1723452" y="115369"/>
                </a:lnTo>
                <a:lnTo>
                  <a:pt x="1495389" y="0"/>
                </a:lnTo>
                <a:close/>
              </a:path>
              <a:path w="1724025" h="228600">
                <a:moveTo>
                  <a:pt x="1495032" y="76199"/>
                </a:moveTo>
                <a:lnTo>
                  <a:pt x="1494675" y="152398"/>
                </a:lnTo>
                <a:lnTo>
                  <a:pt x="1532775" y="152576"/>
                </a:lnTo>
                <a:lnTo>
                  <a:pt x="1533132" y="76377"/>
                </a:lnTo>
                <a:lnTo>
                  <a:pt x="1495032" y="76199"/>
                </a:lnTo>
                <a:close/>
              </a:path>
              <a:path w="1724025" h="228600">
                <a:moveTo>
                  <a:pt x="356" y="69199"/>
                </a:moveTo>
                <a:lnTo>
                  <a:pt x="0" y="145398"/>
                </a:lnTo>
                <a:lnTo>
                  <a:pt x="1494675" y="152398"/>
                </a:lnTo>
                <a:lnTo>
                  <a:pt x="1495032" y="76199"/>
                </a:lnTo>
                <a:lnTo>
                  <a:pt x="356" y="69199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231882" y="4037953"/>
            <a:ext cx="1058545" cy="2627630"/>
          </a:xfrm>
          <a:custGeom>
            <a:avLst/>
            <a:gdLst/>
            <a:ahLst/>
            <a:cxnLst/>
            <a:rect l="l" t="t" r="r" b="b"/>
            <a:pathLst>
              <a:path w="1058545" h="2627629">
                <a:moveTo>
                  <a:pt x="0" y="0"/>
                </a:moveTo>
                <a:lnTo>
                  <a:pt x="1058397" y="0"/>
                </a:lnTo>
                <a:lnTo>
                  <a:pt x="1058397" y="2627251"/>
                </a:lnTo>
                <a:lnTo>
                  <a:pt x="0" y="2627251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310622" y="5947155"/>
            <a:ext cx="939800" cy="67183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ctr" marR="57150">
              <a:lnSpc>
                <a:spcPct val="100000"/>
              </a:lnSpc>
              <a:spcBef>
                <a:spcPts val="725"/>
              </a:spcBef>
            </a:pPr>
            <a:r>
              <a:rPr dirty="0" sz="1600" spc="-5">
                <a:latin typeface="Arial"/>
                <a:cs typeface="Arial"/>
              </a:rPr>
              <a:t>PIM1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z="1600" spc="-10" b="1">
                <a:solidFill>
                  <a:srgbClr val="69924E"/>
                </a:solidFill>
                <a:latin typeface="Arial"/>
                <a:cs typeface="Arial"/>
              </a:rPr>
              <a:t>A</a:t>
            </a:r>
            <a:r>
              <a:rPr dirty="0" sz="1600" spc="-5" b="1">
                <a:solidFill>
                  <a:srgbClr val="69924E"/>
                </a:solidFill>
                <a:latin typeface="Arial"/>
                <a:cs typeface="Arial"/>
              </a:rPr>
              <a:t>ns</a:t>
            </a:r>
            <a:r>
              <a:rPr dirty="0" sz="1600" spc="0" b="1">
                <a:solidFill>
                  <a:srgbClr val="69924E"/>
                </a:solidFill>
                <a:latin typeface="Arial"/>
                <a:cs typeface="Arial"/>
              </a:rPr>
              <a:t>w</a:t>
            </a:r>
            <a:r>
              <a:rPr dirty="0" sz="1600" spc="-5" b="1">
                <a:solidFill>
                  <a:srgbClr val="69924E"/>
                </a:solidFill>
                <a:latin typeface="Arial"/>
                <a:cs typeface="Arial"/>
              </a:rPr>
              <a:t>e</a:t>
            </a:r>
            <a:r>
              <a:rPr dirty="0" sz="1600" b="1">
                <a:solidFill>
                  <a:srgbClr val="69924E"/>
                </a:solidFill>
                <a:latin typeface="Arial"/>
                <a:cs typeface="Arial"/>
              </a:rPr>
              <a:t>r</a:t>
            </a:r>
            <a:r>
              <a:rPr dirty="0" sz="1600" spc="-5" b="1">
                <a:solidFill>
                  <a:srgbClr val="69924E"/>
                </a:solidFill>
                <a:latin typeface="Arial"/>
                <a:cs typeface="Arial"/>
              </a:rPr>
              <a:t>s</a:t>
            </a:r>
            <a:r>
              <a:rPr dirty="0" sz="1600" b="1">
                <a:solidFill>
                  <a:srgbClr val="69924E"/>
                </a:solidFill>
                <a:latin typeface="Arial"/>
                <a:cs typeface="Arial"/>
              </a:rPr>
              <a:t>!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889462" y="4959684"/>
            <a:ext cx="1727200" cy="253365"/>
          </a:xfrm>
          <a:custGeom>
            <a:avLst/>
            <a:gdLst/>
            <a:ahLst/>
            <a:cxnLst/>
            <a:rect l="l" t="t" r="r" b="b"/>
            <a:pathLst>
              <a:path w="1727200" h="253364">
                <a:moveTo>
                  <a:pt x="1495984" y="177019"/>
                </a:moveTo>
                <a:lnTo>
                  <a:pt x="1490851" y="253046"/>
                </a:lnTo>
                <a:lnTo>
                  <a:pt x="1666441" y="179585"/>
                </a:lnTo>
                <a:lnTo>
                  <a:pt x="1533998" y="179585"/>
                </a:lnTo>
                <a:lnTo>
                  <a:pt x="1495984" y="177019"/>
                </a:lnTo>
                <a:close/>
              </a:path>
              <a:path w="1727200" h="253364">
                <a:moveTo>
                  <a:pt x="1501116" y="100993"/>
                </a:moveTo>
                <a:lnTo>
                  <a:pt x="1495984" y="177019"/>
                </a:lnTo>
                <a:lnTo>
                  <a:pt x="1533998" y="179585"/>
                </a:lnTo>
                <a:lnTo>
                  <a:pt x="1539130" y="103559"/>
                </a:lnTo>
                <a:lnTo>
                  <a:pt x="1501116" y="100993"/>
                </a:lnTo>
                <a:close/>
              </a:path>
              <a:path w="1727200" h="253364">
                <a:moveTo>
                  <a:pt x="1506249" y="24965"/>
                </a:moveTo>
                <a:lnTo>
                  <a:pt x="1501116" y="100993"/>
                </a:lnTo>
                <a:lnTo>
                  <a:pt x="1539130" y="103559"/>
                </a:lnTo>
                <a:lnTo>
                  <a:pt x="1533998" y="179585"/>
                </a:lnTo>
                <a:lnTo>
                  <a:pt x="1666441" y="179585"/>
                </a:lnTo>
                <a:lnTo>
                  <a:pt x="1726632" y="154404"/>
                </a:lnTo>
                <a:lnTo>
                  <a:pt x="1506249" y="24965"/>
                </a:lnTo>
                <a:close/>
              </a:path>
              <a:path w="1727200" h="253364">
                <a:moveTo>
                  <a:pt x="5133" y="0"/>
                </a:moveTo>
                <a:lnTo>
                  <a:pt x="0" y="76027"/>
                </a:lnTo>
                <a:lnTo>
                  <a:pt x="1495984" y="177019"/>
                </a:lnTo>
                <a:lnTo>
                  <a:pt x="1501116" y="100993"/>
                </a:lnTo>
                <a:lnTo>
                  <a:pt x="5133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85858" y="3833492"/>
            <a:ext cx="1003935" cy="1172845"/>
          </a:xfrm>
          <a:custGeom>
            <a:avLst/>
            <a:gdLst/>
            <a:ahLst/>
            <a:cxnLst/>
            <a:rect l="l" t="t" r="r" b="b"/>
            <a:pathLst>
              <a:path w="1003935" h="1172845">
                <a:moveTo>
                  <a:pt x="826710" y="149576"/>
                </a:moveTo>
                <a:lnTo>
                  <a:pt x="0" y="1122992"/>
                </a:lnTo>
                <a:lnTo>
                  <a:pt x="58079" y="1172319"/>
                </a:lnTo>
                <a:lnTo>
                  <a:pt x="884790" y="198902"/>
                </a:lnTo>
                <a:lnTo>
                  <a:pt x="826710" y="149576"/>
                </a:lnTo>
                <a:close/>
              </a:path>
              <a:path w="1003935" h="1172845">
                <a:moveTo>
                  <a:pt x="974179" y="120535"/>
                </a:moveTo>
                <a:lnTo>
                  <a:pt x="851374" y="120535"/>
                </a:lnTo>
                <a:lnTo>
                  <a:pt x="909454" y="169862"/>
                </a:lnTo>
                <a:lnTo>
                  <a:pt x="884790" y="198902"/>
                </a:lnTo>
                <a:lnTo>
                  <a:pt x="942872" y="248230"/>
                </a:lnTo>
                <a:lnTo>
                  <a:pt x="974179" y="120535"/>
                </a:lnTo>
                <a:close/>
              </a:path>
              <a:path w="1003935" h="1172845">
                <a:moveTo>
                  <a:pt x="851374" y="120535"/>
                </a:moveTo>
                <a:lnTo>
                  <a:pt x="826710" y="149576"/>
                </a:lnTo>
                <a:lnTo>
                  <a:pt x="884790" y="198902"/>
                </a:lnTo>
                <a:lnTo>
                  <a:pt x="909454" y="169862"/>
                </a:lnTo>
                <a:lnTo>
                  <a:pt x="851374" y="120535"/>
                </a:lnTo>
                <a:close/>
              </a:path>
              <a:path w="1003935" h="1172845">
                <a:moveTo>
                  <a:pt x="1003731" y="0"/>
                </a:moveTo>
                <a:lnTo>
                  <a:pt x="768630" y="100249"/>
                </a:lnTo>
                <a:lnTo>
                  <a:pt x="826710" y="149576"/>
                </a:lnTo>
                <a:lnTo>
                  <a:pt x="851374" y="120535"/>
                </a:lnTo>
                <a:lnTo>
                  <a:pt x="974179" y="120535"/>
                </a:lnTo>
                <a:lnTo>
                  <a:pt x="100373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492188" y="4872740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492188" y="4872740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409845" y="4364228"/>
            <a:ext cx="1416685" cy="739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865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au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85804" y="5956300"/>
            <a:ext cx="794385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4572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Kidney  </a:t>
            </a:r>
            <a:r>
              <a:rPr dirty="0" sz="1600" spc="0">
                <a:latin typeface="Arial"/>
                <a:cs typeface="Arial"/>
              </a:rPr>
              <a:t>I</a:t>
            </a:r>
            <a:r>
              <a:rPr dirty="0" sz="1600" spc="-5">
                <a:latin typeface="Arial"/>
                <a:cs typeface="Arial"/>
              </a:rPr>
              <a:t>n</a:t>
            </a:r>
            <a:r>
              <a:rPr dirty="0" sz="1600" spc="0">
                <a:latin typeface="Arial"/>
                <a:cs typeface="Arial"/>
              </a:rPr>
              <a:t>f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10">
                <a:latin typeface="Arial"/>
                <a:cs typeface="Arial"/>
              </a:rPr>
              <a:t>i</a:t>
            </a:r>
            <a:r>
              <a:rPr dirty="0" sz="1600" spc="-5">
                <a:latin typeface="Arial"/>
                <a:cs typeface="Arial"/>
              </a:rPr>
              <a:t>o</a:t>
            </a:r>
            <a:r>
              <a:rPr dirty="0" sz="160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696793" y="4465679"/>
            <a:ext cx="972819" cy="549275"/>
          </a:xfrm>
          <a:custGeom>
            <a:avLst/>
            <a:gdLst/>
            <a:ahLst/>
            <a:cxnLst/>
            <a:rect l="l" t="t" r="r" b="b"/>
            <a:pathLst>
              <a:path w="972820" h="549275">
                <a:moveTo>
                  <a:pt x="753280" y="75109"/>
                </a:moveTo>
                <a:lnTo>
                  <a:pt x="0" y="481945"/>
                </a:lnTo>
                <a:lnTo>
                  <a:pt x="36210" y="548993"/>
                </a:lnTo>
                <a:lnTo>
                  <a:pt x="789491" y="142156"/>
                </a:lnTo>
                <a:lnTo>
                  <a:pt x="753280" y="75109"/>
                </a:lnTo>
                <a:close/>
              </a:path>
              <a:path w="972820" h="549275">
                <a:moveTo>
                  <a:pt x="932518" y="57003"/>
                </a:moveTo>
                <a:lnTo>
                  <a:pt x="786804" y="57003"/>
                </a:lnTo>
                <a:lnTo>
                  <a:pt x="823014" y="124051"/>
                </a:lnTo>
                <a:lnTo>
                  <a:pt x="789491" y="142156"/>
                </a:lnTo>
                <a:lnTo>
                  <a:pt x="825701" y="209202"/>
                </a:lnTo>
                <a:lnTo>
                  <a:pt x="932518" y="57003"/>
                </a:lnTo>
                <a:close/>
              </a:path>
              <a:path w="972820" h="549275">
                <a:moveTo>
                  <a:pt x="786804" y="57003"/>
                </a:moveTo>
                <a:lnTo>
                  <a:pt x="753280" y="75109"/>
                </a:lnTo>
                <a:lnTo>
                  <a:pt x="789491" y="142156"/>
                </a:lnTo>
                <a:lnTo>
                  <a:pt x="823014" y="124051"/>
                </a:lnTo>
                <a:lnTo>
                  <a:pt x="786804" y="57003"/>
                </a:lnTo>
                <a:close/>
              </a:path>
              <a:path w="972820" h="549275">
                <a:moveTo>
                  <a:pt x="972525" y="0"/>
                </a:moveTo>
                <a:lnTo>
                  <a:pt x="717069" y="8063"/>
                </a:lnTo>
                <a:lnTo>
                  <a:pt x="753280" y="75109"/>
                </a:lnTo>
                <a:lnTo>
                  <a:pt x="786804" y="57003"/>
                </a:lnTo>
                <a:lnTo>
                  <a:pt x="932518" y="57003"/>
                </a:lnTo>
                <a:lnTo>
                  <a:pt x="97252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91510" y="4951072"/>
            <a:ext cx="1010919" cy="798195"/>
          </a:xfrm>
          <a:custGeom>
            <a:avLst/>
            <a:gdLst/>
            <a:ahLst/>
            <a:cxnLst/>
            <a:rect l="l" t="t" r="r" b="b"/>
            <a:pathLst>
              <a:path w="1010920" h="798195">
                <a:moveTo>
                  <a:pt x="806576" y="687376"/>
                </a:moveTo>
                <a:lnTo>
                  <a:pt x="759799" y="747529"/>
                </a:lnTo>
                <a:lnTo>
                  <a:pt x="1010423" y="797631"/>
                </a:lnTo>
                <a:lnTo>
                  <a:pt x="968869" y="710765"/>
                </a:lnTo>
                <a:lnTo>
                  <a:pt x="836653" y="710765"/>
                </a:lnTo>
                <a:lnTo>
                  <a:pt x="806576" y="687376"/>
                </a:lnTo>
                <a:close/>
              </a:path>
              <a:path w="1010920" h="798195">
                <a:moveTo>
                  <a:pt x="853353" y="627224"/>
                </a:moveTo>
                <a:lnTo>
                  <a:pt x="806576" y="687376"/>
                </a:lnTo>
                <a:lnTo>
                  <a:pt x="836653" y="710765"/>
                </a:lnTo>
                <a:lnTo>
                  <a:pt x="883429" y="650612"/>
                </a:lnTo>
                <a:lnTo>
                  <a:pt x="853353" y="627224"/>
                </a:lnTo>
                <a:close/>
              </a:path>
              <a:path w="1010920" h="798195">
                <a:moveTo>
                  <a:pt x="900130" y="567071"/>
                </a:moveTo>
                <a:lnTo>
                  <a:pt x="853353" y="627224"/>
                </a:lnTo>
                <a:lnTo>
                  <a:pt x="883429" y="650612"/>
                </a:lnTo>
                <a:lnTo>
                  <a:pt x="836653" y="710765"/>
                </a:lnTo>
                <a:lnTo>
                  <a:pt x="968869" y="710765"/>
                </a:lnTo>
                <a:lnTo>
                  <a:pt x="900130" y="567071"/>
                </a:lnTo>
                <a:close/>
              </a:path>
              <a:path w="1010920" h="798195">
                <a:moveTo>
                  <a:pt x="46776" y="0"/>
                </a:moveTo>
                <a:lnTo>
                  <a:pt x="0" y="60153"/>
                </a:lnTo>
                <a:lnTo>
                  <a:pt x="806576" y="687376"/>
                </a:lnTo>
                <a:lnTo>
                  <a:pt x="853353" y="627224"/>
                </a:lnTo>
                <a:lnTo>
                  <a:pt x="4677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669318" y="57169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6"/>
                </a:lnTo>
                <a:lnTo>
                  <a:pt x="111354" y="216816"/>
                </a:lnTo>
                <a:lnTo>
                  <a:pt x="154699" y="208296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669318" y="57169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669318" y="4889290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669318" y="4889290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669318" y="435727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669318" y="435727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370663" y="5063235"/>
            <a:ext cx="737870" cy="45847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98425" marR="5080" indent="-85725">
              <a:lnSpc>
                <a:spcPct val="77500"/>
              </a:lnSpc>
              <a:spcBef>
                <a:spcPts val="530"/>
              </a:spcBef>
            </a:pPr>
            <a:r>
              <a:rPr dirty="0" sz="1600" spc="-5">
                <a:latin typeface="Arial"/>
                <a:cs typeface="Arial"/>
              </a:rPr>
              <a:t>Short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  Breath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656975" y="3801740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656975" y="3801740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697173" y="3786123"/>
            <a:ext cx="1344295" cy="561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24485">
              <a:lnSpc>
                <a:spcPct val="11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Headache  Brain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Bleeding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15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24230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z="3200" spc="-5" b="1" i="0">
                <a:latin typeface="Calibri"/>
                <a:cs typeface="Calibri"/>
              </a:rPr>
              <a:t>Can </a:t>
            </a:r>
            <a:r>
              <a:rPr dirty="0" sz="3200" spc="-15" b="1" i="0">
                <a:latin typeface="Calibri"/>
                <a:cs typeface="Calibri"/>
              </a:rPr>
              <a:t>we </a:t>
            </a:r>
            <a:r>
              <a:rPr dirty="0" sz="3200" spc="-20" b="1" i="0">
                <a:latin typeface="Calibri"/>
                <a:cs typeface="Calibri"/>
              </a:rPr>
              <a:t>first </a:t>
            </a:r>
            <a:r>
              <a:rPr dirty="0" sz="3200" spc="-5" b="1" i="0">
                <a:latin typeface="Calibri"/>
                <a:cs typeface="Calibri"/>
              </a:rPr>
              <a:t>do </a:t>
            </a:r>
            <a:r>
              <a:rPr dirty="0" sz="3200" spc="-65" b="1" i="0">
                <a:latin typeface="Calibri"/>
                <a:cs typeface="Calibri"/>
              </a:rPr>
              <a:t>KG </a:t>
            </a:r>
            <a:r>
              <a:rPr dirty="0" sz="3200" spc="-5" b="1" i="0">
                <a:latin typeface="Calibri"/>
                <a:cs typeface="Calibri"/>
              </a:rPr>
              <a:t>completion and then </a:t>
            </a:r>
            <a:r>
              <a:rPr dirty="0" sz="3200" spc="-30" b="1" i="0">
                <a:latin typeface="Calibri"/>
                <a:cs typeface="Calibri"/>
              </a:rPr>
              <a:t>traverse  </a:t>
            </a:r>
            <a:r>
              <a:rPr dirty="0" sz="3200" spc="-5" b="1" i="0">
                <a:latin typeface="Calibri"/>
                <a:cs typeface="Calibri"/>
              </a:rPr>
              <a:t>the </a:t>
            </a:r>
            <a:r>
              <a:rPr dirty="0" sz="3200" spc="-15" b="1" i="0">
                <a:latin typeface="Calibri"/>
                <a:cs typeface="Calibri"/>
              </a:rPr>
              <a:t>completed </a:t>
            </a:r>
            <a:r>
              <a:rPr dirty="0" sz="3200" spc="-10" b="1" i="0">
                <a:latin typeface="Calibri"/>
                <a:cs typeface="Calibri"/>
              </a:rPr>
              <a:t>(probabilistic)</a:t>
            </a:r>
            <a:r>
              <a:rPr dirty="0" sz="3200" spc="5" b="1" i="0">
                <a:latin typeface="Calibri"/>
                <a:cs typeface="Calibri"/>
              </a:rPr>
              <a:t> </a:t>
            </a:r>
            <a:r>
              <a:rPr dirty="0" sz="3200" spc="-45" b="1" i="0">
                <a:latin typeface="Calibri"/>
                <a:cs typeface="Calibri"/>
              </a:rPr>
              <a:t>KG?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4408932"/>
            <a:ext cx="5499735" cy="14916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solidFill>
                  <a:srgbClr val="0000FF"/>
                </a:solidFill>
                <a:latin typeface="Calibri"/>
                <a:cs typeface="Calibri"/>
              </a:rPr>
              <a:t>Time </a:t>
            </a: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complexity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dirty="0" sz="3200" spc="-25">
                <a:solidFill>
                  <a:srgbClr val="0000FF"/>
                </a:solidFill>
                <a:latin typeface="Calibri"/>
                <a:cs typeface="Calibri"/>
              </a:rPr>
              <a:t>traversing </a:t>
            </a:r>
            <a:r>
              <a:rPr dirty="0" sz="3200">
                <a:solidFill>
                  <a:srgbClr val="0000FF"/>
                </a:solidFill>
                <a:latin typeface="Calibri"/>
                <a:cs typeface="Calibri"/>
              </a:rPr>
              <a:t>a 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dense </a:t>
            </a:r>
            <a:r>
              <a:rPr dirty="0" sz="3200" spc="-65">
                <a:solidFill>
                  <a:srgbClr val="0000FF"/>
                </a:solidFill>
                <a:latin typeface="Calibri"/>
                <a:cs typeface="Calibri"/>
              </a:rPr>
              <a:t>KG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10">
                <a:latin typeface="Calibri"/>
                <a:cs typeface="Calibri"/>
              </a:rPr>
              <a:t>exponential </a:t>
            </a:r>
            <a:r>
              <a:rPr dirty="0" sz="3200">
                <a:latin typeface="Calibri"/>
                <a:cs typeface="Calibri"/>
              </a:rPr>
              <a:t>as a  </a:t>
            </a:r>
            <a:r>
              <a:rPr dirty="0" sz="3200" spc="-5">
                <a:latin typeface="Calibri"/>
                <a:cs typeface="Calibri"/>
              </a:rPr>
              <a:t>function </a:t>
            </a:r>
            <a:r>
              <a:rPr dirty="0" sz="3200">
                <a:latin typeface="Calibri"/>
                <a:cs typeface="Calibri"/>
              </a:rPr>
              <a:t>of the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path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90176" y="6068567"/>
            <a:ext cx="66167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1155">
                <a:latin typeface="Cambria Math"/>
                <a:cs typeface="Cambria Math"/>
              </a:rPr>
              <a:t>$</a:t>
            </a:r>
            <a:r>
              <a:rPr dirty="0" sz="2300" spc="655">
                <a:latin typeface="Cambria Math"/>
                <a:cs typeface="Cambria Math"/>
              </a:rPr>
              <a:t>!</a:t>
            </a:r>
            <a:r>
              <a:rPr dirty="0" sz="2300" spc="-690">
                <a:latin typeface="Cambria Math"/>
                <a:cs typeface="Cambria Math"/>
              </a:rPr>
              <a:t>%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8149" y="5868923"/>
            <a:ext cx="310959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27350" algn="l"/>
              </a:tabLst>
            </a:pPr>
            <a:r>
              <a:rPr dirty="0" sz="3200">
                <a:latin typeface="Calibri"/>
                <a:cs typeface="Calibri"/>
              </a:rPr>
              <a:t>l</a:t>
            </a:r>
            <a:r>
              <a:rPr dirty="0" sz="3200" spc="-10">
                <a:latin typeface="Calibri"/>
                <a:cs typeface="Calibri"/>
              </a:rPr>
              <a:t>e</a:t>
            </a:r>
            <a:r>
              <a:rPr dirty="0" sz="3200" spc="0">
                <a:latin typeface="Calibri"/>
                <a:cs typeface="Calibri"/>
              </a:rPr>
              <a:t>n</a:t>
            </a:r>
            <a:r>
              <a:rPr dirty="0" sz="3200" spc="-45">
                <a:latin typeface="Calibri"/>
                <a:cs typeface="Calibri"/>
              </a:rPr>
              <a:t>g</a:t>
            </a:r>
            <a:r>
              <a:rPr dirty="0" sz="3200">
                <a:latin typeface="Calibri"/>
                <a:cs typeface="Calibri"/>
              </a:rPr>
              <a:t>th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55">
                <a:latin typeface="Cambria Math"/>
                <a:cs typeface="Cambria Math"/>
              </a:rPr>
              <a:t>𝐿</a:t>
            </a:r>
            <a:r>
              <a:rPr dirty="0" sz="3200">
                <a:latin typeface="Calibri"/>
                <a:cs typeface="Calibri"/>
              </a:rPr>
              <a:t>:</a:t>
            </a:r>
            <a:r>
              <a:rPr dirty="0" sz="3200" spc="0">
                <a:latin typeface="Calibri"/>
                <a:cs typeface="Calibri"/>
              </a:rPr>
              <a:t> </a:t>
            </a:r>
            <a:r>
              <a:rPr dirty="0" sz="3200" spc="75">
                <a:latin typeface="Cambria Math"/>
                <a:cs typeface="Cambria Math"/>
              </a:rPr>
              <a:t>𝑂</a:t>
            </a:r>
            <a:r>
              <a:rPr dirty="0" sz="3200" spc="-5">
                <a:latin typeface="Cambria Math"/>
                <a:cs typeface="Cambria Math"/>
              </a:rPr>
              <a:t>(</a:t>
            </a:r>
            <a:r>
              <a:rPr dirty="0" sz="3200" spc="90">
                <a:latin typeface="Cambria Math"/>
                <a:cs typeface="Cambria Math"/>
              </a:rPr>
              <a:t>𝑑</a:t>
            </a:r>
            <a:r>
              <a:rPr dirty="0" baseline="28985" sz="3450" spc="-487">
                <a:latin typeface="Cambria Math"/>
                <a:cs typeface="Cambria Math"/>
              </a:rPr>
              <a:t>&amp;</a:t>
            </a:r>
            <a:r>
              <a:rPr dirty="0" baseline="28985" sz="3450">
                <a:latin typeface="Cambria Math"/>
                <a:cs typeface="Cambria Math"/>
              </a:rPr>
              <a:t>	</a:t>
            </a:r>
            <a:r>
              <a:rPr dirty="0" sz="3200">
                <a:latin typeface="Cambria Math"/>
                <a:cs typeface="Cambria Math"/>
              </a:rPr>
              <a:t>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86934" y="4468876"/>
            <a:ext cx="14605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40">
                <a:latin typeface="Cambria Math"/>
                <a:cs typeface="Cambria Math"/>
              </a:rPr>
              <a:t>𝑟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89614" y="4599940"/>
            <a:ext cx="14351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110">
                <a:latin typeface="Cambria Math"/>
                <a:cs typeface="Cambria Math"/>
              </a:rPr>
              <a:t>$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42356" y="558757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942355" y="558757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915309" y="5749035"/>
            <a:ext cx="28892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30">
                <a:latin typeface="Cambria Math"/>
                <a:cs typeface="Cambria Math"/>
              </a:rPr>
              <a:t>𝑣</a:t>
            </a:r>
            <a:r>
              <a:rPr dirty="0" baseline="-15625" sz="2400" spc="547">
                <a:latin typeface="Cambria Math"/>
                <a:cs typeface="Cambria Math"/>
              </a:rPr>
              <a:t>"</a:t>
            </a:r>
            <a:endParaRPr baseline="-15625"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17139" y="5014467"/>
            <a:ext cx="23939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90">
                <a:latin typeface="Cambria Math"/>
                <a:cs typeface="Cambria Math"/>
              </a:rPr>
              <a:t>𝑟</a:t>
            </a:r>
            <a:r>
              <a:rPr dirty="0" baseline="-15625" sz="2400" spc="-97">
                <a:latin typeface="Cambria Math"/>
                <a:cs typeface="Cambria Math"/>
              </a:rPr>
              <a:t>#</a:t>
            </a:r>
            <a:endParaRPr baseline="-15625"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32639" y="4688332"/>
            <a:ext cx="17780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Cambria Math"/>
                <a:cs typeface="Cambria Math"/>
              </a:rPr>
              <a:t>𝑣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75831" y="4819396"/>
            <a:ext cx="14351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65">
                <a:latin typeface="Cambria Math"/>
                <a:cs typeface="Cambria Math"/>
              </a:rPr>
              <a:t>#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149934" y="5174301"/>
            <a:ext cx="414655" cy="533400"/>
          </a:xfrm>
          <a:custGeom>
            <a:avLst/>
            <a:gdLst/>
            <a:ahLst/>
            <a:cxnLst/>
            <a:rect l="l" t="t" r="r" b="b"/>
            <a:pathLst>
              <a:path w="414654" h="533400">
                <a:moveTo>
                  <a:pt x="329615" y="79210"/>
                </a:moveTo>
                <a:lnTo>
                  <a:pt x="0" y="510111"/>
                </a:lnTo>
                <a:lnTo>
                  <a:pt x="30261" y="533259"/>
                </a:lnTo>
                <a:lnTo>
                  <a:pt x="359876" y="102359"/>
                </a:lnTo>
                <a:lnTo>
                  <a:pt x="329615" y="79210"/>
                </a:lnTo>
                <a:close/>
              </a:path>
              <a:path w="414654" h="533400">
                <a:moveTo>
                  <a:pt x="401910" y="64080"/>
                </a:moveTo>
                <a:lnTo>
                  <a:pt x="341189" y="64080"/>
                </a:lnTo>
                <a:lnTo>
                  <a:pt x="371450" y="87228"/>
                </a:lnTo>
                <a:lnTo>
                  <a:pt x="359876" y="102359"/>
                </a:lnTo>
                <a:lnTo>
                  <a:pt x="390138" y="125507"/>
                </a:lnTo>
                <a:lnTo>
                  <a:pt x="401910" y="64080"/>
                </a:lnTo>
                <a:close/>
              </a:path>
              <a:path w="414654" h="533400">
                <a:moveTo>
                  <a:pt x="341189" y="64080"/>
                </a:moveTo>
                <a:lnTo>
                  <a:pt x="329615" y="79210"/>
                </a:lnTo>
                <a:lnTo>
                  <a:pt x="359876" y="102359"/>
                </a:lnTo>
                <a:lnTo>
                  <a:pt x="371450" y="87228"/>
                </a:lnTo>
                <a:lnTo>
                  <a:pt x="341189" y="64080"/>
                </a:lnTo>
                <a:close/>
              </a:path>
              <a:path w="414654" h="533400">
                <a:moveTo>
                  <a:pt x="414191" y="0"/>
                </a:moveTo>
                <a:lnTo>
                  <a:pt x="299354" y="56062"/>
                </a:lnTo>
                <a:lnTo>
                  <a:pt x="329615" y="79210"/>
                </a:lnTo>
                <a:lnTo>
                  <a:pt x="341189" y="64080"/>
                </a:lnTo>
                <a:lnTo>
                  <a:pt x="401910" y="64080"/>
                </a:lnTo>
                <a:lnTo>
                  <a:pt x="4141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156481" y="5495523"/>
            <a:ext cx="405765" cy="217804"/>
          </a:xfrm>
          <a:custGeom>
            <a:avLst/>
            <a:gdLst/>
            <a:ahLst/>
            <a:cxnLst/>
            <a:rect l="l" t="t" r="r" b="b"/>
            <a:pathLst>
              <a:path w="405765" h="217804">
                <a:moveTo>
                  <a:pt x="295123" y="34496"/>
                </a:moveTo>
                <a:lnTo>
                  <a:pt x="0" y="183456"/>
                </a:lnTo>
                <a:lnTo>
                  <a:pt x="17167" y="217469"/>
                </a:lnTo>
                <a:lnTo>
                  <a:pt x="312291" y="68509"/>
                </a:lnTo>
                <a:lnTo>
                  <a:pt x="295123" y="34496"/>
                </a:lnTo>
                <a:close/>
              </a:path>
              <a:path w="405765" h="217804">
                <a:moveTo>
                  <a:pt x="386463" y="25913"/>
                </a:moveTo>
                <a:lnTo>
                  <a:pt x="312129" y="25913"/>
                </a:lnTo>
                <a:lnTo>
                  <a:pt x="329297" y="59926"/>
                </a:lnTo>
                <a:lnTo>
                  <a:pt x="312291" y="68509"/>
                </a:lnTo>
                <a:lnTo>
                  <a:pt x="329458" y="102522"/>
                </a:lnTo>
                <a:lnTo>
                  <a:pt x="386463" y="25913"/>
                </a:lnTo>
                <a:close/>
              </a:path>
              <a:path w="405765" h="217804">
                <a:moveTo>
                  <a:pt x="312129" y="25913"/>
                </a:moveTo>
                <a:lnTo>
                  <a:pt x="295123" y="34496"/>
                </a:lnTo>
                <a:lnTo>
                  <a:pt x="312291" y="68509"/>
                </a:lnTo>
                <a:lnTo>
                  <a:pt x="329297" y="59926"/>
                </a:lnTo>
                <a:lnTo>
                  <a:pt x="312129" y="25913"/>
                </a:lnTo>
                <a:close/>
              </a:path>
              <a:path w="405765" h="217804">
                <a:moveTo>
                  <a:pt x="405745" y="0"/>
                </a:moveTo>
                <a:lnTo>
                  <a:pt x="277956" y="483"/>
                </a:lnTo>
                <a:lnTo>
                  <a:pt x="295123" y="34496"/>
                </a:lnTo>
                <a:lnTo>
                  <a:pt x="312129" y="25913"/>
                </a:lnTo>
                <a:lnTo>
                  <a:pt x="386463" y="25913"/>
                </a:lnTo>
                <a:lnTo>
                  <a:pt x="4057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150372" y="5683860"/>
            <a:ext cx="469265" cy="562610"/>
          </a:xfrm>
          <a:custGeom>
            <a:avLst/>
            <a:gdLst/>
            <a:ahLst/>
            <a:cxnLst/>
            <a:rect l="l" t="t" r="r" b="b"/>
            <a:pathLst>
              <a:path w="469265" h="562610">
                <a:moveTo>
                  <a:pt x="381500" y="486477"/>
                </a:moveTo>
                <a:lnTo>
                  <a:pt x="352116" y="510730"/>
                </a:lnTo>
                <a:lnTo>
                  <a:pt x="468950" y="562504"/>
                </a:lnTo>
                <a:lnTo>
                  <a:pt x="454823" y="501169"/>
                </a:lnTo>
                <a:lnTo>
                  <a:pt x="393626" y="501169"/>
                </a:lnTo>
                <a:lnTo>
                  <a:pt x="381500" y="486477"/>
                </a:lnTo>
                <a:close/>
              </a:path>
              <a:path w="469265" h="562610">
                <a:moveTo>
                  <a:pt x="410884" y="462225"/>
                </a:moveTo>
                <a:lnTo>
                  <a:pt x="381500" y="486477"/>
                </a:lnTo>
                <a:lnTo>
                  <a:pt x="393626" y="501169"/>
                </a:lnTo>
                <a:lnTo>
                  <a:pt x="423010" y="476917"/>
                </a:lnTo>
                <a:lnTo>
                  <a:pt x="410884" y="462225"/>
                </a:lnTo>
                <a:close/>
              </a:path>
              <a:path w="469265" h="562610">
                <a:moveTo>
                  <a:pt x="440268" y="437972"/>
                </a:moveTo>
                <a:lnTo>
                  <a:pt x="410884" y="462225"/>
                </a:lnTo>
                <a:lnTo>
                  <a:pt x="423010" y="476917"/>
                </a:lnTo>
                <a:lnTo>
                  <a:pt x="393626" y="501169"/>
                </a:lnTo>
                <a:lnTo>
                  <a:pt x="454823" y="501169"/>
                </a:lnTo>
                <a:lnTo>
                  <a:pt x="440268" y="437972"/>
                </a:lnTo>
                <a:close/>
              </a:path>
              <a:path w="469265" h="562610">
                <a:moveTo>
                  <a:pt x="29385" y="0"/>
                </a:moveTo>
                <a:lnTo>
                  <a:pt x="0" y="24252"/>
                </a:lnTo>
                <a:lnTo>
                  <a:pt x="381500" y="486477"/>
                </a:lnTo>
                <a:lnTo>
                  <a:pt x="410884" y="462225"/>
                </a:lnTo>
                <a:lnTo>
                  <a:pt x="29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586708" y="621461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586708" y="621461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562227" y="5387116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562227" y="5387116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564126" y="506589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6" y="0"/>
                </a:moveTo>
                <a:lnTo>
                  <a:pt x="68011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1" y="208296"/>
                </a:lnTo>
                <a:lnTo>
                  <a:pt x="111356" y="216815"/>
                </a:lnTo>
                <a:lnTo>
                  <a:pt x="154700" y="208296"/>
                </a:lnTo>
                <a:lnTo>
                  <a:pt x="190095" y="185063"/>
                </a:lnTo>
                <a:lnTo>
                  <a:pt x="213960" y="150604"/>
                </a:lnTo>
                <a:lnTo>
                  <a:pt x="222711" y="108407"/>
                </a:lnTo>
                <a:lnTo>
                  <a:pt x="213960" y="66210"/>
                </a:lnTo>
                <a:lnTo>
                  <a:pt x="190095" y="31751"/>
                </a:lnTo>
                <a:lnTo>
                  <a:pt x="154700" y="8519"/>
                </a:lnTo>
                <a:lnTo>
                  <a:pt x="11135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564127" y="506589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521688" y="5508244"/>
            <a:ext cx="29273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0">
                <a:latin typeface="Cambria Math"/>
                <a:cs typeface="Cambria Math"/>
              </a:rPr>
              <a:t>𝑣</a:t>
            </a:r>
            <a:r>
              <a:rPr dirty="0" baseline="-15625" sz="2400" spc="165">
                <a:latin typeface="Cambria Math"/>
                <a:cs typeface="Cambria Math"/>
              </a:rPr>
              <a:t>$</a:t>
            </a:r>
            <a:endParaRPr baseline="-15625"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47377" y="6300723"/>
            <a:ext cx="17780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Cambria Math"/>
                <a:cs typeface="Cambria Math"/>
              </a:rPr>
              <a:t>𝑣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97047" y="6477508"/>
            <a:ext cx="5416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2152" sz="2400" spc="-120">
                <a:latin typeface="Cambria Math"/>
                <a:cs typeface="Cambria Math"/>
              </a:rPr>
              <a:t>&amp;</a:t>
            </a:r>
            <a:r>
              <a:rPr dirty="0" sz="1300" spc="555">
                <a:latin typeface="Cambria Math"/>
                <a:cs typeface="Cambria Math"/>
              </a:rPr>
              <a:t>!</a:t>
            </a:r>
            <a:r>
              <a:rPr dirty="0" sz="1300" spc="760">
                <a:latin typeface="Cambria Math"/>
                <a:cs typeface="Cambria Math"/>
              </a:rPr>
              <a:t>"</a:t>
            </a:r>
            <a:r>
              <a:rPr dirty="0" sz="1300" spc="10">
                <a:latin typeface="Cambria Math"/>
                <a:cs typeface="Cambria Math"/>
              </a:rPr>
              <a:t>#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527491" y="5724652"/>
            <a:ext cx="30480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Arial"/>
                <a:cs typeface="Arial"/>
              </a:rPr>
              <a:t>…</a:t>
            </a:r>
            <a:endParaRPr sz="22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789060" y="4655676"/>
            <a:ext cx="414655" cy="533400"/>
          </a:xfrm>
          <a:custGeom>
            <a:avLst/>
            <a:gdLst/>
            <a:ahLst/>
            <a:cxnLst/>
            <a:rect l="l" t="t" r="r" b="b"/>
            <a:pathLst>
              <a:path w="414654" h="533400">
                <a:moveTo>
                  <a:pt x="329616" y="79210"/>
                </a:moveTo>
                <a:lnTo>
                  <a:pt x="0" y="510110"/>
                </a:lnTo>
                <a:lnTo>
                  <a:pt x="30261" y="533259"/>
                </a:lnTo>
                <a:lnTo>
                  <a:pt x="359877" y="102358"/>
                </a:lnTo>
                <a:lnTo>
                  <a:pt x="329616" y="79210"/>
                </a:lnTo>
                <a:close/>
              </a:path>
              <a:path w="414654" h="533400">
                <a:moveTo>
                  <a:pt x="401911" y="64079"/>
                </a:moveTo>
                <a:lnTo>
                  <a:pt x="341190" y="64079"/>
                </a:lnTo>
                <a:lnTo>
                  <a:pt x="371452" y="87227"/>
                </a:lnTo>
                <a:lnTo>
                  <a:pt x="359877" y="102358"/>
                </a:lnTo>
                <a:lnTo>
                  <a:pt x="390138" y="125506"/>
                </a:lnTo>
                <a:lnTo>
                  <a:pt x="401911" y="64079"/>
                </a:lnTo>
                <a:close/>
              </a:path>
              <a:path w="414654" h="533400">
                <a:moveTo>
                  <a:pt x="341190" y="64079"/>
                </a:moveTo>
                <a:lnTo>
                  <a:pt x="329616" y="79210"/>
                </a:lnTo>
                <a:lnTo>
                  <a:pt x="359877" y="102358"/>
                </a:lnTo>
                <a:lnTo>
                  <a:pt x="371452" y="87227"/>
                </a:lnTo>
                <a:lnTo>
                  <a:pt x="341190" y="64079"/>
                </a:lnTo>
                <a:close/>
              </a:path>
              <a:path w="414654" h="533400">
                <a:moveTo>
                  <a:pt x="414192" y="0"/>
                </a:moveTo>
                <a:lnTo>
                  <a:pt x="299354" y="56061"/>
                </a:lnTo>
                <a:lnTo>
                  <a:pt x="329616" y="79210"/>
                </a:lnTo>
                <a:lnTo>
                  <a:pt x="341190" y="64079"/>
                </a:lnTo>
                <a:lnTo>
                  <a:pt x="401911" y="64079"/>
                </a:lnTo>
                <a:lnTo>
                  <a:pt x="4141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795606" y="4976897"/>
            <a:ext cx="405765" cy="217804"/>
          </a:xfrm>
          <a:custGeom>
            <a:avLst/>
            <a:gdLst/>
            <a:ahLst/>
            <a:cxnLst/>
            <a:rect l="l" t="t" r="r" b="b"/>
            <a:pathLst>
              <a:path w="405765" h="217804">
                <a:moveTo>
                  <a:pt x="295123" y="34497"/>
                </a:moveTo>
                <a:lnTo>
                  <a:pt x="0" y="183456"/>
                </a:lnTo>
                <a:lnTo>
                  <a:pt x="17167" y="217469"/>
                </a:lnTo>
                <a:lnTo>
                  <a:pt x="312290" y="68509"/>
                </a:lnTo>
                <a:lnTo>
                  <a:pt x="295123" y="34497"/>
                </a:lnTo>
                <a:close/>
              </a:path>
              <a:path w="405765" h="217804">
                <a:moveTo>
                  <a:pt x="386464" y="25913"/>
                </a:moveTo>
                <a:lnTo>
                  <a:pt x="312130" y="25913"/>
                </a:lnTo>
                <a:lnTo>
                  <a:pt x="329297" y="59926"/>
                </a:lnTo>
                <a:lnTo>
                  <a:pt x="312290" y="68509"/>
                </a:lnTo>
                <a:lnTo>
                  <a:pt x="329458" y="102523"/>
                </a:lnTo>
                <a:lnTo>
                  <a:pt x="386464" y="25913"/>
                </a:lnTo>
                <a:close/>
              </a:path>
              <a:path w="405765" h="217804">
                <a:moveTo>
                  <a:pt x="312130" y="25913"/>
                </a:moveTo>
                <a:lnTo>
                  <a:pt x="295123" y="34497"/>
                </a:lnTo>
                <a:lnTo>
                  <a:pt x="312290" y="68509"/>
                </a:lnTo>
                <a:lnTo>
                  <a:pt x="329297" y="59926"/>
                </a:lnTo>
                <a:lnTo>
                  <a:pt x="312130" y="25913"/>
                </a:lnTo>
                <a:close/>
              </a:path>
              <a:path w="405765" h="217804">
                <a:moveTo>
                  <a:pt x="405745" y="0"/>
                </a:moveTo>
                <a:lnTo>
                  <a:pt x="277956" y="483"/>
                </a:lnTo>
                <a:lnTo>
                  <a:pt x="295123" y="34497"/>
                </a:lnTo>
                <a:lnTo>
                  <a:pt x="312130" y="25913"/>
                </a:lnTo>
                <a:lnTo>
                  <a:pt x="386464" y="25913"/>
                </a:lnTo>
                <a:lnTo>
                  <a:pt x="4057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789498" y="5165234"/>
            <a:ext cx="469265" cy="562610"/>
          </a:xfrm>
          <a:custGeom>
            <a:avLst/>
            <a:gdLst/>
            <a:ahLst/>
            <a:cxnLst/>
            <a:rect l="l" t="t" r="r" b="b"/>
            <a:pathLst>
              <a:path w="469265" h="562610">
                <a:moveTo>
                  <a:pt x="381499" y="486478"/>
                </a:moveTo>
                <a:lnTo>
                  <a:pt x="352115" y="510730"/>
                </a:lnTo>
                <a:lnTo>
                  <a:pt x="468948" y="562504"/>
                </a:lnTo>
                <a:lnTo>
                  <a:pt x="454823" y="501169"/>
                </a:lnTo>
                <a:lnTo>
                  <a:pt x="393625" y="501169"/>
                </a:lnTo>
                <a:lnTo>
                  <a:pt x="381499" y="486478"/>
                </a:lnTo>
                <a:close/>
              </a:path>
              <a:path w="469265" h="562610">
                <a:moveTo>
                  <a:pt x="410884" y="462225"/>
                </a:moveTo>
                <a:lnTo>
                  <a:pt x="381499" y="486478"/>
                </a:lnTo>
                <a:lnTo>
                  <a:pt x="393625" y="501169"/>
                </a:lnTo>
                <a:lnTo>
                  <a:pt x="423010" y="476917"/>
                </a:lnTo>
                <a:lnTo>
                  <a:pt x="410884" y="462225"/>
                </a:lnTo>
                <a:close/>
              </a:path>
              <a:path w="469265" h="562610">
                <a:moveTo>
                  <a:pt x="440268" y="437972"/>
                </a:moveTo>
                <a:lnTo>
                  <a:pt x="410884" y="462225"/>
                </a:lnTo>
                <a:lnTo>
                  <a:pt x="423010" y="476917"/>
                </a:lnTo>
                <a:lnTo>
                  <a:pt x="393625" y="501169"/>
                </a:lnTo>
                <a:lnTo>
                  <a:pt x="454823" y="501169"/>
                </a:lnTo>
                <a:lnTo>
                  <a:pt x="440268" y="437972"/>
                </a:lnTo>
                <a:close/>
              </a:path>
              <a:path w="469265" h="562610">
                <a:moveTo>
                  <a:pt x="29383" y="0"/>
                </a:moveTo>
                <a:lnTo>
                  <a:pt x="0" y="24251"/>
                </a:lnTo>
                <a:lnTo>
                  <a:pt x="381499" y="486478"/>
                </a:lnTo>
                <a:lnTo>
                  <a:pt x="410884" y="462225"/>
                </a:lnTo>
                <a:lnTo>
                  <a:pt x="29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225833" y="5695986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6"/>
                </a:lnTo>
                <a:lnTo>
                  <a:pt x="111354" y="216816"/>
                </a:lnTo>
                <a:lnTo>
                  <a:pt x="154699" y="208296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225832" y="5695986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201352" y="4868490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1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1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5" y="185063"/>
                </a:lnTo>
                <a:lnTo>
                  <a:pt x="213960" y="150604"/>
                </a:lnTo>
                <a:lnTo>
                  <a:pt x="222711" y="108407"/>
                </a:lnTo>
                <a:lnTo>
                  <a:pt x="213960" y="66210"/>
                </a:lnTo>
                <a:lnTo>
                  <a:pt x="190095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201353" y="4868490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203252" y="454726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203251" y="454726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8186502" y="5880100"/>
            <a:ext cx="6915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8939" sz="3300" spc="-30">
                <a:latin typeface="Cambria Math"/>
                <a:cs typeface="Cambria Math"/>
              </a:rPr>
              <a:t>𝑣</a:t>
            </a:r>
            <a:r>
              <a:rPr dirty="0" baseline="10416" sz="2400" spc="-120">
                <a:latin typeface="Cambria Math"/>
                <a:cs typeface="Cambria Math"/>
              </a:rPr>
              <a:t>&amp;</a:t>
            </a:r>
            <a:r>
              <a:rPr dirty="0" sz="1300" spc="555">
                <a:latin typeface="Cambria Math"/>
                <a:cs typeface="Cambria Math"/>
              </a:rPr>
              <a:t>!</a:t>
            </a:r>
            <a:r>
              <a:rPr dirty="0" sz="1300" spc="760">
                <a:latin typeface="Cambria Math"/>
                <a:cs typeface="Cambria Math"/>
              </a:rPr>
              <a:t>"</a:t>
            </a:r>
            <a:r>
              <a:rPr dirty="0" sz="1300" spc="10">
                <a:latin typeface="Cambria Math"/>
                <a:cs typeface="Cambria Math"/>
              </a:rPr>
              <a:t>#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15</a:t>
            </a:fld>
          </a:p>
        </p:txBody>
      </p:sp>
      <p:sp>
        <p:nvSpPr>
          <p:cNvPr id="38" name="object 38"/>
          <p:cNvSpPr txBox="1"/>
          <p:nvPr/>
        </p:nvSpPr>
        <p:spPr>
          <a:xfrm>
            <a:off x="618108" y="2559957"/>
            <a:ext cx="8438515" cy="194373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No!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5">
                <a:latin typeface="Calibri"/>
                <a:cs typeface="Calibri"/>
              </a:rPr>
              <a:t>“completed” </a:t>
            </a:r>
            <a:r>
              <a:rPr dirty="0" sz="3200" spc="-65">
                <a:latin typeface="Calibri"/>
                <a:cs typeface="Calibri"/>
              </a:rPr>
              <a:t>KG </a:t>
            </a:r>
            <a:r>
              <a:rPr dirty="0" sz="3200">
                <a:latin typeface="Calibri"/>
                <a:cs typeface="Calibri"/>
              </a:rPr>
              <a:t>is a </a:t>
            </a:r>
            <a:r>
              <a:rPr dirty="0" sz="3200" spc="-5" b="1">
                <a:solidFill>
                  <a:srgbClr val="FF0000"/>
                </a:solidFill>
                <a:latin typeface="Calibri"/>
                <a:cs typeface="Calibri"/>
              </a:rPr>
              <a:t>dense</a:t>
            </a:r>
            <a:r>
              <a:rPr dirty="0" sz="3200" spc="6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FF0000"/>
                </a:solidFill>
                <a:latin typeface="Calibri"/>
                <a:cs typeface="Calibri"/>
              </a:rPr>
              <a:t>graph</a:t>
            </a:r>
            <a:r>
              <a:rPr dirty="0" sz="3200" spc="-20">
                <a:latin typeface="Calibri"/>
                <a:cs typeface="Calibri"/>
              </a:rPr>
              <a:t>!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ct val="101400"/>
              </a:lnSpc>
              <a:spcBef>
                <a:spcPts val="6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Most </a:t>
            </a:r>
            <a:r>
              <a:rPr dirty="0" sz="2800" spc="5">
                <a:latin typeface="Cambria Math"/>
                <a:cs typeface="Cambria Math"/>
              </a:rPr>
              <a:t>(ℎ, </a:t>
            </a:r>
            <a:r>
              <a:rPr dirty="0" sz="2800" spc="25">
                <a:latin typeface="Cambria Math"/>
                <a:cs typeface="Cambria Math"/>
              </a:rPr>
              <a:t>𝑟, </a:t>
            </a:r>
            <a:r>
              <a:rPr dirty="0" sz="2800" spc="25">
                <a:latin typeface="Cambria Math"/>
                <a:cs typeface="Cambria Math"/>
              </a:rPr>
              <a:t>𝑡) </a:t>
            </a:r>
            <a:r>
              <a:rPr dirty="0" sz="2800" spc="-5">
                <a:latin typeface="Calibri"/>
                <a:cs typeface="Calibri"/>
              </a:rPr>
              <a:t>triples </a:t>
            </a:r>
            <a:r>
              <a:rPr dirty="0" sz="2800" spc="-10">
                <a:latin typeface="Calibri"/>
                <a:cs typeface="Calibri"/>
              </a:rPr>
              <a:t>(edge </a:t>
            </a:r>
            <a:r>
              <a:rPr dirty="0" sz="2800" spc="-5">
                <a:latin typeface="Calibri"/>
                <a:cs typeface="Calibri"/>
              </a:rPr>
              <a:t>on </a:t>
            </a:r>
            <a:r>
              <a:rPr dirty="0" sz="2800" spc="-40">
                <a:latin typeface="Calibri"/>
                <a:cs typeface="Calibri"/>
              </a:rPr>
              <a:t>KG) </a:t>
            </a:r>
            <a:r>
              <a:rPr dirty="0" sz="2800" spc="-5">
                <a:latin typeface="Calibri"/>
                <a:cs typeface="Calibri"/>
              </a:rPr>
              <a:t>will </a:t>
            </a:r>
            <a:r>
              <a:rPr dirty="0" sz="2800" spc="-25">
                <a:latin typeface="Calibri"/>
                <a:cs typeface="Calibri"/>
              </a:rPr>
              <a:t>have </a:t>
            </a:r>
            <a:r>
              <a:rPr dirty="0" sz="2800" spc="-5">
                <a:latin typeface="Calibri"/>
                <a:cs typeface="Calibri"/>
              </a:rPr>
              <a:t>some </a:t>
            </a:r>
            <a:r>
              <a:rPr dirty="0" sz="2800" spc="-150">
                <a:latin typeface="Calibri"/>
                <a:cs typeface="Calibri"/>
              </a:rPr>
              <a:t>non-  </a:t>
            </a:r>
            <a:r>
              <a:rPr dirty="0" sz="2800" spc="-35">
                <a:latin typeface="Calibri"/>
                <a:cs typeface="Calibri"/>
              </a:rPr>
              <a:t>zero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probability.</a:t>
            </a:r>
            <a:endParaRPr sz="2800">
              <a:latin typeface="Calibri"/>
              <a:cs typeface="Calibri"/>
            </a:endParaRPr>
          </a:p>
          <a:p>
            <a:pPr algn="r" marR="590550">
              <a:lnSpc>
                <a:spcPct val="100000"/>
              </a:lnSpc>
              <a:spcBef>
                <a:spcPts val="425"/>
              </a:spcBef>
            </a:pPr>
            <a:r>
              <a:rPr dirty="0" sz="2200" spc="-70">
                <a:latin typeface="Cambria Math"/>
                <a:cs typeface="Cambria Math"/>
              </a:rPr>
              <a:t>𝑣</a:t>
            </a:r>
            <a:r>
              <a:rPr dirty="0" baseline="-15625" sz="2400" spc="-97">
                <a:latin typeface="Cambria Math"/>
                <a:cs typeface="Cambria Math"/>
              </a:rPr>
              <a:t>#</a:t>
            </a:r>
            <a:endParaRPr baseline="-15625" sz="24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206403" y="6126988"/>
            <a:ext cx="30480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Arial"/>
                <a:cs typeface="Arial"/>
              </a:rPr>
              <a:t>…</a:t>
            </a:r>
            <a:endParaRPr sz="2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60814" y="4990084"/>
            <a:ext cx="949960" cy="577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70"/>
              </a:lnSpc>
              <a:spcBef>
                <a:spcPts val="100"/>
              </a:spcBef>
            </a:pPr>
            <a:r>
              <a:rPr dirty="0" sz="2200" spc="40">
                <a:latin typeface="Cambria Math"/>
                <a:cs typeface="Cambria Math"/>
              </a:rPr>
              <a:t>𝑣</a:t>
            </a:r>
            <a:r>
              <a:rPr dirty="0" baseline="-15625" sz="2400" spc="60">
                <a:latin typeface="Cambria Math"/>
                <a:cs typeface="Cambria Math"/>
              </a:rPr>
              <a:t>$</a:t>
            </a:r>
            <a:endParaRPr baseline="-15625" sz="2400">
              <a:latin typeface="Cambria Math"/>
              <a:cs typeface="Cambria Math"/>
            </a:endParaRPr>
          </a:p>
          <a:p>
            <a:pPr marL="18415">
              <a:lnSpc>
                <a:spcPts val="2170"/>
              </a:lnSpc>
              <a:tabLst>
                <a:tab pos="657225" algn="l"/>
              </a:tabLst>
            </a:pPr>
            <a:r>
              <a:rPr dirty="0" sz="2200">
                <a:latin typeface="Arial"/>
                <a:cs typeface="Arial"/>
              </a:rPr>
              <a:t>…	…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5882640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142605" cy="19735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29146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 i="0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dirty="0" sz="3200" spc="-5" i="0">
                <a:solidFill>
                  <a:srgbClr val="0070C0"/>
                </a:solidFill>
                <a:latin typeface="Calibri"/>
                <a:cs typeface="Calibri"/>
              </a:rPr>
              <a:t>need </a:t>
            </a:r>
            <a:r>
              <a:rPr dirty="0" sz="3200" i="0">
                <a:solidFill>
                  <a:srgbClr val="0070C0"/>
                </a:solidFill>
                <a:latin typeface="Calibri"/>
                <a:cs typeface="Calibri"/>
              </a:rPr>
              <a:t>a </a:t>
            </a:r>
            <a:r>
              <a:rPr dirty="0" sz="3200" spc="-30" i="0">
                <a:solidFill>
                  <a:srgbClr val="0070C0"/>
                </a:solidFill>
                <a:latin typeface="Calibri"/>
                <a:cs typeface="Calibri"/>
              </a:rPr>
              <a:t>way </a:t>
            </a:r>
            <a:r>
              <a:rPr dirty="0" sz="3200" spc="-15" i="0">
                <a:solidFill>
                  <a:srgbClr val="0070C0"/>
                </a:solidFill>
                <a:latin typeface="Calibri"/>
                <a:cs typeface="Calibri"/>
              </a:rPr>
              <a:t>to </a:t>
            </a:r>
            <a:r>
              <a:rPr dirty="0" sz="3200" spc="-10" i="0">
                <a:solidFill>
                  <a:srgbClr val="0070C0"/>
                </a:solidFill>
                <a:latin typeface="Calibri"/>
                <a:cs typeface="Calibri"/>
              </a:rPr>
              <a:t>answer </a:t>
            </a:r>
            <a:r>
              <a:rPr dirty="0" sz="3200" spc="-5" i="0">
                <a:solidFill>
                  <a:srgbClr val="0070C0"/>
                </a:solidFill>
                <a:latin typeface="Calibri"/>
                <a:cs typeface="Calibri"/>
              </a:rPr>
              <a:t>path-based queries  </a:t>
            </a:r>
            <a:r>
              <a:rPr dirty="0" sz="3200" spc="-15" i="0">
                <a:solidFill>
                  <a:srgbClr val="0070C0"/>
                </a:solidFill>
                <a:latin typeface="Calibri"/>
                <a:cs typeface="Calibri"/>
              </a:rPr>
              <a:t>over </a:t>
            </a:r>
            <a:r>
              <a:rPr dirty="0" sz="3200" i="0">
                <a:solidFill>
                  <a:srgbClr val="0070C0"/>
                </a:solidFill>
                <a:latin typeface="Calibri"/>
                <a:cs typeface="Calibri"/>
              </a:rPr>
              <a:t>an </a:t>
            </a:r>
            <a:r>
              <a:rPr dirty="0" sz="3200" spc="-10" i="0">
                <a:solidFill>
                  <a:srgbClr val="0070C0"/>
                </a:solidFill>
                <a:latin typeface="Calibri"/>
                <a:cs typeface="Calibri"/>
              </a:rPr>
              <a:t>incomplete knowledge</a:t>
            </a:r>
            <a:r>
              <a:rPr dirty="0" sz="3200" spc="30" i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 spc="-15" i="0">
                <a:solidFill>
                  <a:srgbClr val="0070C0"/>
                </a:solidFill>
                <a:latin typeface="Calibri"/>
                <a:cs typeface="Calibri"/>
              </a:rPr>
              <a:t>graph.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 i="0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3200" spc="-15" i="0">
                <a:solidFill>
                  <a:srgbClr val="C00000"/>
                </a:solidFill>
                <a:latin typeface="Calibri"/>
                <a:cs typeface="Calibri"/>
              </a:rPr>
              <a:t>want </a:t>
            </a:r>
            <a:r>
              <a:rPr dirty="0" sz="3200" spc="-5" i="0">
                <a:solidFill>
                  <a:srgbClr val="C00000"/>
                </a:solidFill>
                <a:latin typeface="Calibri"/>
                <a:cs typeface="Calibri"/>
              </a:rPr>
              <a:t>our </a:t>
            </a:r>
            <a:r>
              <a:rPr dirty="0" sz="3200" spc="-10" i="0">
                <a:solidFill>
                  <a:srgbClr val="C00000"/>
                </a:solidFill>
                <a:latin typeface="Calibri"/>
                <a:cs typeface="Calibri"/>
              </a:rPr>
              <a:t>approach </a:t>
            </a:r>
            <a:r>
              <a:rPr dirty="0" sz="3200" spc="-15" i="0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3200" spc="-5" i="0">
                <a:solidFill>
                  <a:srgbClr val="C00000"/>
                </a:solidFill>
                <a:latin typeface="Calibri"/>
                <a:cs typeface="Calibri"/>
              </a:rPr>
              <a:t>implicitly </a:t>
            </a:r>
            <a:r>
              <a:rPr dirty="0" sz="3200" spc="-10" i="0">
                <a:solidFill>
                  <a:srgbClr val="C00000"/>
                </a:solidFill>
                <a:latin typeface="Calibri"/>
                <a:cs typeface="Calibri"/>
              </a:rPr>
              <a:t>impute </a:t>
            </a:r>
            <a:r>
              <a:rPr dirty="0" sz="3200" i="0">
                <a:solidFill>
                  <a:srgbClr val="C00000"/>
                </a:solidFill>
                <a:latin typeface="Calibri"/>
                <a:cs typeface="Calibri"/>
              </a:rPr>
              <a:t>and  </a:t>
            </a:r>
            <a:r>
              <a:rPr dirty="0" sz="3200" spc="-10" i="0">
                <a:solidFill>
                  <a:srgbClr val="C00000"/>
                </a:solidFill>
                <a:latin typeface="Calibri"/>
                <a:cs typeface="Calibri"/>
              </a:rPr>
              <a:t>account </a:t>
            </a:r>
            <a:r>
              <a:rPr dirty="0" sz="3200" spc="-25" i="0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dirty="0" sz="3200" i="0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3200" spc="-10" i="0">
                <a:solidFill>
                  <a:srgbClr val="C00000"/>
                </a:solidFill>
                <a:latin typeface="Calibri"/>
                <a:cs typeface="Calibri"/>
              </a:rPr>
              <a:t>incomplete</a:t>
            </a:r>
            <a:r>
              <a:rPr dirty="0" sz="3200" spc="-15" i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45" i="0">
                <a:solidFill>
                  <a:srgbClr val="C00000"/>
                </a:solidFill>
                <a:latin typeface="Calibri"/>
                <a:cs typeface="Calibri"/>
              </a:rPr>
              <a:t>KG.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3305555"/>
            <a:ext cx="43040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5" b="1">
                <a:latin typeface="Calibri"/>
                <a:cs typeface="Calibri"/>
              </a:rPr>
              <a:t>Task: </a:t>
            </a:r>
            <a:r>
              <a:rPr dirty="0" sz="3200" spc="-10" b="1">
                <a:solidFill>
                  <a:srgbClr val="00B050"/>
                </a:solidFill>
                <a:latin typeface="Calibri"/>
                <a:cs typeface="Calibri"/>
              </a:rPr>
              <a:t>Predictive</a:t>
            </a:r>
            <a:r>
              <a:rPr dirty="0" sz="3200" spc="10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queries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3874515"/>
            <a:ext cx="41109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35">
                <a:latin typeface="Calibri"/>
                <a:cs typeface="Calibri"/>
              </a:rPr>
              <a:t>Want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5">
                <a:latin typeface="Calibri"/>
                <a:cs typeface="Calibri"/>
              </a:rPr>
              <a:t>able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0">
                <a:latin typeface="Calibri"/>
                <a:cs typeface="Calibri"/>
              </a:rPr>
              <a:t>answer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2/16/21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6563" y="4307332"/>
            <a:ext cx="5296535" cy="25501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87020" marR="1264920">
              <a:lnSpc>
                <a:spcPct val="99600"/>
              </a:lnSpc>
              <a:spcBef>
                <a:spcPts val="110"/>
              </a:spcBef>
            </a:pPr>
            <a:r>
              <a:rPr dirty="0" sz="2800" spc="-10">
                <a:latin typeface="Calibri"/>
                <a:cs typeface="Calibri"/>
              </a:rPr>
              <a:t>arbitrary </a:t>
            </a:r>
            <a:r>
              <a:rPr dirty="0" sz="2800" spc="-5">
                <a:latin typeface="Calibri"/>
                <a:cs typeface="Calibri"/>
              </a:rPr>
              <a:t>queries </a:t>
            </a:r>
            <a:r>
              <a:rPr dirty="0" sz="2800" spc="-10">
                <a:latin typeface="Calibri"/>
                <a:cs typeface="Calibri"/>
              </a:rPr>
              <a:t>while  implicitly </a:t>
            </a:r>
            <a:r>
              <a:rPr dirty="0" sz="2800" spc="-5">
                <a:latin typeface="Calibri"/>
                <a:cs typeface="Calibri"/>
              </a:rPr>
              <a:t>imputing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the  missing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information</a:t>
            </a:r>
            <a:endParaRPr sz="2800">
              <a:latin typeface="Calibri"/>
              <a:cs typeface="Calibri"/>
            </a:endParaRPr>
          </a:p>
          <a:p>
            <a:pPr marL="287020" marR="1278890" indent="-274320">
              <a:lnSpc>
                <a:spcPct val="101400"/>
              </a:lnSpc>
              <a:spcBef>
                <a:spcPts val="59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 b="1">
                <a:latin typeface="Calibri"/>
                <a:cs typeface="Calibri"/>
              </a:rPr>
              <a:t>Generalization </a:t>
            </a:r>
            <a:r>
              <a:rPr dirty="0" sz="2800" spc="-5" b="1">
                <a:latin typeface="Calibri"/>
                <a:cs typeface="Calibri"/>
              </a:rPr>
              <a:t>of the </a:t>
            </a:r>
            <a:r>
              <a:rPr dirty="0" sz="2800" spc="-160" b="1">
                <a:latin typeface="Calibri"/>
                <a:cs typeface="Calibri"/>
              </a:rPr>
              <a:t>link  </a:t>
            </a:r>
            <a:r>
              <a:rPr dirty="0" sz="2800" spc="-5" b="1">
                <a:latin typeface="Calibri"/>
                <a:cs typeface="Calibri"/>
              </a:rPr>
              <a:t>prediction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task</a:t>
            </a:r>
            <a:endParaRPr sz="2800">
              <a:latin typeface="Calibri"/>
              <a:cs typeface="Calibri"/>
            </a:endParaRPr>
          </a:p>
          <a:p>
            <a:pPr marL="1729739">
              <a:lnSpc>
                <a:spcPct val="100000"/>
              </a:lnSpc>
              <a:spcBef>
                <a:spcPts val="132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39236" y="6712593"/>
            <a:ext cx="260794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35"/>
              </a:lnSpc>
              <a:tabLst>
                <a:tab pos="2493010" algn="l"/>
              </a:tabLst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4w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.st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nfo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r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d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.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edu	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83000" y="3955796"/>
            <a:ext cx="800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au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70212" y="3971035"/>
            <a:ext cx="648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548235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548235"/>
                </a:solidFill>
                <a:latin typeface="Arial"/>
                <a:cs typeface="Arial"/>
              </a:rPr>
              <a:t>ss</a:t>
            </a:r>
            <a:r>
              <a:rPr dirty="0" sz="1800" spc="-5">
                <a:solidFill>
                  <a:srgbClr val="548235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548235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99758" y="4365244"/>
            <a:ext cx="20066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Cambria Math"/>
                <a:cs typeface="Cambria Math"/>
              </a:rPr>
              <a:t>𝑉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65415" y="4251722"/>
            <a:ext cx="1424305" cy="114300"/>
          </a:xfrm>
          <a:custGeom>
            <a:avLst/>
            <a:gdLst/>
            <a:ahLst/>
            <a:cxnLst/>
            <a:rect l="l" t="t" r="r" b="b"/>
            <a:pathLst>
              <a:path w="1424304" h="114300">
                <a:moveTo>
                  <a:pt x="1309377" y="76199"/>
                </a:moveTo>
                <a:lnTo>
                  <a:pt x="1309377" y="114300"/>
                </a:lnTo>
                <a:lnTo>
                  <a:pt x="1385577" y="76200"/>
                </a:lnTo>
                <a:lnTo>
                  <a:pt x="1309377" y="76199"/>
                </a:lnTo>
                <a:close/>
              </a:path>
              <a:path w="1424304" h="114300">
                <a:moveTo>
                  <a:pt x="1309377" y="38099"/>
                </a:moveTo>
                <a:lnTo>
                  <a:pt x="1309377" y="76199"/>
                </a:lnTo>
                <a:lnTo>
                  <a:pt x="1328428" y="76200"/>
                </a:lnTo>
                <a:lnTo>
                  <a:pt x="1328428" y="38100"/>
                </a:lnTo>
                <a:lnTo>
                  <a:pt x="1309377" y="38099"/>
                </a:lnTo>
                <a:close/>
              </a:path>
              <a:path w="1424304" h="114300">
                <a:moveTo>
                  <a:pt x="1309377" y="0"/>
                </a:moveTo>
                <a:lnTo>
                  <a:pt x="1309377" y="38099"/>
                </a:lnTo>
                <a:lnTo>
                  <a:pt x="1328428" y="38100"/>
                </a:lnTo>
                <a:lnTo>
                  <a:pt x="1328428" y="76200"/>
                </a:lnTo>
                <a:lnTo>
                  <a:pt x="1385580" y="76198"/>
                </a:lnTo>
                <a:lnTo>
                  <a:pt x="1423677" y="57150"/>
                </a:lnTo>
                <a:lnTo>
                  <a:pt x="1309377" y="0"/>
                </a:lnTo>
                <a:close/>
              </a:path>
              <a:path w="1424304" h="114300">
                <a:moveTo>
                  <a:pt x="0" y="38098"/>
                </a:moveTo>
                <a:lnTo>
                  <a:pt x="0" y="76198"/>
                </a:lnTo>
                <a:lnTo>
                  <a:pt x="1309377" y="76199"/>
                </a:lnTo>
                <a:lnTo>
                  <a:pt x="1309377" y="38099"/>
                </a:lnTo>
                <a:lnTo>
                  <a:pt x="0" y="3809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211796" y="4252277"/>
            <a:ext cx="1532255" cy="114300"/>
          </a:xfrm>
          <a:custGeom>
            <a:avLst/>
            <a:gdLst/>
            <a:ahLst/>
            <a:cxnLst/>
            <a:rect l="l" t="t" r="r" b="b"/>
            <a:pathLst>
              <a:path w="1532254" h="114300">
                <a:moveTo>
                  <a:pt x="1417510" y="76200"/>
                </a:moveTo>
                <a:lnTo>
                  <a:pt x="1417495" y="114300"/>
                </a:lnTo>
                <a:lnTo>
                  <a:pt x="1493756" y="76207"/>
                </a:lnTo>
                <a:lnTo>
                  <a:pt x="1417510" y="76200"/>
                </a:lnTo>
                <a:close/>
              </a:path>
              <a:path w="1532254" h="114300">
                <a:moveTo>
                  <a:pt x="1417525" y="38100"/>
                </a:moveTo>
                <a:lnTo>
                  <a:pt x="1417510" y="76200"/>
                </a:lnTo>
                <a:lnTo>
                  <a:pt x="1436559" y="76207"/>
                </a:lnTo>
                <a:lnTo>
                  <a:pt x="1436574" y="38107"/>
                </a:lnTo>
                <a:lnTo>
                  <a:pt x="1417525" y="38100"/>
                </a:lnTo>
                <a:close/>
              </a:path>
              <a:path w="1532254" h="114300">
                <a:moveTo>
                  <a:pt x="1417540" y="0"/>
                </a:moveTo>
                <a:lnTo>
                  <a:pt x="1417525" y="38100"/>
                </a:lnTo>
                <a:lnTo>
                  <a:pt x="1436574" y="38107"/>
                </a:lnTo>
                <a:lnTo>
                  <a:pt x="1436559" y="76207"/>
                </a:lnTo>
                <a:lnTo>
                  <a:pt x="1493771" y="76200"/>
                </a:lnTo>
                <a:lnTo>
                  <a:pt x="1531818" y="57195"/>
                </a:lnTo>
                <a:lnTo>
                  <a:pt x="1417540" y="0"/>
                </a:lnTo>
                <a:close/>
              </a:path>
              <a:path w="1532254" h="114300">
                <a:moveTo>
                  <a:pt x="15" y="37543"/>
                </a:moveTo>
                <a:lnTo>
                  <a:pt x="0" y="75643"/>
                </a:lnTo>
                <a:lnTo>
                  <a:pt x="1417510" y="76200"/>
                </a:lnTo>
                <a:lnTo>
                  <a:pt x="1417525" y="38100"/>
                </a:lnTo>
                <a:lnTo>
                  <a:pt x="15" y="37543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342705" y="420046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42705" y="420046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743614" y="420106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743614" y="420106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989093" y="420046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6" y="0"/>
                </a:moveTo>
                <a:lnTo>
                  <a:pt x="68011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1" y="208296"/>
                </a:lnTo>
                <a:lnTo>
                  <a:pt x="111356" y="216815"/>
                </a:lnTo>
                <a:lnTo>
                  <a:pt x="154700" y="208296"/>
                </a:lnTo>
                <a:lnTo>
                  <a:pt x="190095" y="185063"/>
                </a:lnTo>
                <a:lnTo>
                  <a:pt x="213960" y="150605"/>
                </a:lnTo>
                <a:lnTo>
                  <a:pt x="222711" y="108408"/>
                </a:lnTo>
                <a:lnTo>
                  <a:pt x="213960" y="66210"/>
                </a:lnTo>
                <a:lnTo>
                  <a:pt x="190095" y="31751"/>
                </a:lnTo>
                <a:lnTo>
                  <a:pt x="154700" y="8519"/>
                </a:lnTo>
                <a:lnTo>
                  <a:pt x="11135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989094" y="420046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763622" y="4362196"/>
            <a:ext cx="24892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95">
                <a:latin typeface="Cambria Math"/>
                <a:cs typeface="Cambria Math"/>
              </a:rPr>
              <a:t>𝑉</a:t>
            </a:r>
            <a:r>
              <a:rPr dirty="0" baseline="-15625" sz="2400">
                <a:latin typeface="Cambria Math"/>
                <a:cs typeface="Cambria Math"/>
              </a:rPr>
              <a:t>?</a:t>
            </a:r>
            <a:endParaRPr baseline="-15625"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33130" y="4481067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78909" y="4980770"/>
            <a:ext cx="2804458" cy="18772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4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77240" y="2971800"/>
            <a:ext cx="7705344" cy="20513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763256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435165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30" b="1" i="0">
                <a:solidFill>
                  <a:srgbClr val="008000"/>
                </a:solidFill>
                <a:latin typeface="Calibri"/>
                <a:cs typeface="Calibri"/>
              </a:rPr>
              <a:t>Key </a:t>
            </a:r>
            <a:r>
              <a:rPr dirty="0" sz="3000" spc="-5" b="1" i="0">
                <a:solidFill>
                  <a:srgbClr val="008000"/>
                </a:solidFill>
                <a:latin typeface="Calibri"/>
                <a:cs typeface="Calibri"/>
              </a:rPr>
              <a:t>idea: Embed</a:t>
            </a:r>
            <a:r>
              <a:rPr dirty="0" sz="3000" spc="-10" b="1" i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000" spc="-5" b="1" i="0">
                <a:solidFill>
                  <a:srgbClr val="008000"/>
                </a:solidFill>
                <a:latin typeface="Calibri"/>
                <a:cs typeface="Calibri"/>
              </a:rPr>
              <a:t>queries!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32787" y="2689038"/>
            <a:ext cx="666115" cy="306070"/>
          </a:xfrm>
          <a:custGeom>
            <a:avLst/>
            <a:gdLst/>
            <a:ahLst/>
            <a:cxnLst/>
            <a:rect l="l" t="t" r="r" b="b"/>
            <a:pathLst>
              <a:path w="666114" h="306069">
                <a:moveTo>
                  <a:pt x="568261" y="0"/>
                </a:moveTo>
                <a:lnTo>
                  <a:pt x="563907" y="12414"/>
                </a:lnTo>
                <a:lnTo>
                  <a:pt x="581612" y="20097"/>
                </a:lnTo>
                <a:lnTo>
                  <a:pt x="596839" y="30733"/>
                </a:lnTo>
                <a:lnTo>
                  <a:pt x="627755" y="80034"/>
                </a:lnTo>
                <a:lnTo>
                  <a:pt x="636784" y="125300"/>
                </a:lnTo>
                <a:lnTo>
                  <a:pt x="637913" y="151395"/>
                </a:lnTo>
                <a:lnTo>
                  <a:pt x="636779" y="178370"/>
                </a:lnTo>
                <a:lnTo>
                  <a:pt x="627710" y="224885"/>
                </a:lnTo>
                <a:lnTo>
                  <a:pt x="609511" y="261213"/>
                </a:lnTo>
                <a:lnTo>
                  <a:pt x="564391" y="293438"/>
                </a:lnTo>
                <a:lnTo>
                  <a:pt x="568261" y="305854"/>
                </a:lnTo>
                <a:lnTo>
                  <a:pt x="609979" y="286284"/>
                </a:lnTo>
                <a:lnTo>
                  <a:pt x="640654" y="252406"/>
                </a:lnTo>
                <a:lnTo>
                  <a:pt x="659518" y="207039"/>
                </a:lnTo>
                <a:lnTo>
                  <a:pt x="665806" y="153007"/>
                </a:lnTo>
                <a:lnTo>
                  <a:pt x="664229" y="124968"/>
                </a:lnTo>
                <a:lnTo>
                  <a:pt x="651612" y="75269"/>
                </a:lnTo>
                <a:lnTo>
                  <a:pt x="626591" y="34810"/>
                </a:lnTo>
                <a:lnTo>
                  <a:pt x="590435" y="8006"/>
                </a:lnTo>
                <a:lnTo>
                  <a:pt x="568261" y="0"/>
                </a:lnTo>
                <a:close/>
              </a:path>
              <a:path w="666114" h="306069">
                <a:moveTo>
                  <a:pt x="97543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7" y="99055"/>
                </a:lnTo>
                <a:lnTo>
                  <a:pt x="0" y="153007"/>
                </a:lnTo>
                <a:lnTo>
                  <a:pt x="1571" y="181106"/>
                </a:lnTo>
                <a:lnTo>
                  <a:pt x="14147" y="230806"/>
                </a:lnTo>
                <a:lnTo>
                  <a:pt x="39107" y="271133"/>
                </a:lnTo>
                <a:lnTo>
                  <a:pt x="75303" y="297857"/>
                </a:lnTo>
                <a:lnTo>
                  <a:pt x="97543" y="305854"/>
                </a:lnTo>
                <a:lnTo>
                  <a:pt x="101413" y="293438"/>
                </a:lnTo>
                <a:lnTo>
                  <a:pt x="83985" y="285719"/>
                </a:lnTo>
                <a:lnTo>
                  <a:pt x="68945" y="274978"/>
                </a:lnTo>
                <a:lnTo>
                  <a:pt x="46031" y="244425"/>
                </a:lnTo>
                <a:lnTo>
                  <a:pt x="32427" y="202867"/>
                </a:lnTo>
                <a:lnTo>
                  <a:pt x="27893" y="151395"/>
                </a:lnTo>
                <a:lnTo>
                  <a:pt x="29026" y="125300"/>
                </a:lnTo>
                <a:lnTo>
                  <a:pt x="38095" y="80034"/>
                </a:lnTo>
                <a:lnTo>
                  <a:pt x="56324" y="44322"/>
                </a:lnTo>
                <a:lnTo>
                  <a:pt x="101897" y="12414"/>
                </a:lnTo>
                <a:lnTo>
                  <a:pt x="975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325023" y="4253457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3888"/>
                </a:lnTo>
              </a:path>
            </a:pathLst>
          </a:custGeom>
          <a:ln w="2100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65678" y="4253457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3888"/>
                </a:lnTo>
              </a:path>
            </a:pathLst>
          </a:custGeom>
          <a:ln w="2100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68866" y="4253457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3888"/>
                </a:lnTo>
              </a:path>
            </a:pathLst>
          </a:custGeom>
          <a:ln w="2100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09520" y="4253457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3888"/>
                </a:lnTo>
              </a:path>
            </a:pathLst>
          </a:custGeom>
          <a:ln w="2100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56563" y="1769364"/>
            <a:ext cx="7581900" cy="275844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8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15">
                <a:latin typeface="Calibri"/>
                <a:cs typeface="Calibri"/>
              </a:rPr>
              <a:t>Generalize </a:t>
            </a:r>
            <a:r>
              <a:rPr dirty="0" sz="2600" spc="-35" b="1">
                <a:solidFill>
                  <a:srgbClr val="0070C0"/>
                </a:solidFill>
                <a:latin typeface="Calibri"/>
                <a:cs typeface="Calibri"/>
              </a:rPr>
              <a:t>TransE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spc="-5">
                <a:latin typeface="Calibri"/>
                <a:cs typeface="Calibri"/>
              </a:rPr>
              <a:t>multi-hop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reasoning.</a:t>
            </a:r>
            <a:endParaRPr sz="2600">
              <a:latin typeface="Calibri"/>
              <a:cs typeface="Calibri"/>
            </a:endParaRPr>
          </a:p>
          <a:p>
            <a:pPr marL="287020" marR="720090" indent="-274320">
              <a:lnSpc>
                <a:spcPts val="278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2562225" algn="l"/>
              </a:tabLst>
            </a:pPr>
            <a:r>
              <a:rPr dirty="0" sz="2600" spc="-10" b="1">
                <a:latin typeface="Calibri"/>
                <a:cs typeface="Calibri"/>
              </a:rPr>
              <a:t>Recap: </a:t>
            </a:r>
            <a:r>
              <a:rPr dirty="0" sz="2600" spc="-30" b="1">
                <a:solidFill>
                  <a:srgbClr val="0070C0"/>
                </a:solidFill>
                <a:latin typeface="Calibri"/>
                <a:cs typeface="Calibri"/>
              </a:rPr>
              <a:t>TransE: </a:t>
            </a:r>
            <a:r>
              <a:rPr dirty="0" sz="2600" spc="-35">
                <a:latin typeface="Calibri"/>
                <a:cs typeface="Calibri"/>
              </a:rPr>
              <a:t>Translate </a:t>
            </a:r>
            <a:r>
              <a:rPr dirty="0" sz="2600">
                <a:latin typeface="Cambria Math"/>
                <a:cs typeface="Cambria Math"/>
              </a:rPr>
              <a:t>𝐡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>
                <a:latin typeface="Cambria Math"/>
                <a:cs typeface="Cambria Math"/>
              </a:rPr>
              <a:t>𝐭 </a:t>
            </a:r>
            <a:r>
              <a:rPr dirty="0" sz="2600" spc="-5">
                <a:latin typeface="Calibri"/>
                <a:cs typeface="Calibri"/>
              </a:rPr>
              <a:t>using </a:t>
            </a:r>
            <a:r>
              <a:rPr dirty="0" sz="2600">
                <a:latin typeface="Cambria Math"/>
                <a:cs typeface="Cambria Math"/>
              </a:rPr>
              <a:t>𝐫 </a:t>
            </a:r>
            <a:r>
              <a:rPr dirty="0" sz="2600">
                <a:latin typeface="Calibri"/>
                <a:cs typeface="Calibri"/>
              </a:rPr>
              <a:t>with </a:t>
            </a:r>
            <a:r>
              <a:rPr dirty="0" sz="2600" spc="-125">
                <a:latin typeface="Calibri"/>
                <a:cs typeface="Calibri"/>
              </a:rPr>
              <a:t>score  </a:t>
            </a:r>
            <a:r>
              <a:rPr dirty="0" sz="2600" spc="-5">
                <a:latin typeface="Calibri"/>
                <a:cs typeface="Calibri"/>
              </a:rPr>
              <a:t>function </a:t>
            </a:r>
            <a:r>
              <a:rPr dirty="0" sz="2600" spc="-30">
                <a:latin typeface="Cambria Math"/>
                <a:cs typeface="Cambria Math"/>
              </a:rPr>
              <a:t>𝑓</a:t>
            </a:r>
            <a:r>
              <a:rPr dirty="0" baseline="-16081" sz="2850" spc="-44">
                <a:latin typeface="Cambria Math"/>
                <a:cs typeface="Cambria Math"/>
              </a:rPr>
              <a:t>! </a:t>
            </a:r>
            <a:r>
              <a:rPr dirty="0" baseline="-16081" sz="2850" spc="157">
                <a:latin typeface="Cambria Math"/>
                <a:cs typeface="Cambria Math"/>
              </a:rPr>
              <a:t> </a:t>
            </a:r>
            <a:r>
              <a:rPr dirty="0" sz="2600" spc="10">
                <a:latin typeface="Cambria Math"/>
                <a:cs typeface="Cambria Math"/>
              </a:rPr>
              <a:t>ℎ,</a:t>
            </a:r>
            <a:r>
              <a:rPr dirty="0" sz="2600" spc="-135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𝑡	= </a:t>
            </a:r>
            <a:r>
              <a:rPr dirty="0" sz="2600" spc="-5">
                <a:latin typeface="Cambria Math"/>
                <a:cs typeface="Cambria Math"/>
              </a:rPr>
              <a:t>−||𝐡 </a:t>
            </a:r>
            <a:r>
              <a:rPr dirty="0" sz="2600">
                <a:latin typeface="Cambria Math"/>
                <a:cs typeface="Cambria Math"/>
              </a:rPr>
              <a:t>+ 𝐫 −</a:t>
            </a:r>
            <a:r>
              <a:rPr dirty="0" sz="2600" spc="75">
                <a:latin typeface="Cambria Math"/>
                <a:cs typeface="Cambria Math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𝐭||</a:t>
            </a:r>
            <a:r>
              <a:rPr dirty="0" sz="2600" spc="-5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>
                <a:latin typeface="Calibri"/>
                <a:cs typeface="Calibri"/>
              </a:rPr>
              <a:t>Another </a:t>
            </a:r>
            <a:r>
              <a:rPr dirty="0" sz="2600" spc="-25">
                <a:latin typeface="Calibri"/>
                <a:cs typeface="Calibri"/>
              </a:rPr>
              <a:t>way </a:t>
            </a:r>
            <a:r>
              <a:rPr dirty="0" sz="2600" spc="-15">
                <a:latin typeface="Calibri"/>
                <a:cs typeface="Calibri"/>
              </a:rPr>
              <a:t>to interpret </a:t>
            </a:r>
            <a:r>
              <a:rPr dirty="0" sz="2600" spc="-5">
                <a:latin typeface="Calibri"/>
                <a:cs typeface="Calibri"/>
              </a:rPr>
              <a:t>this 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5">
                <a:latin typeface="Calibri"/>
                <a:cs typeface="Calibri"/>
              </a:rPr>
              <a:t>that:</a:t>
            </a:r>
            <a:endParaRPr sz="26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27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200" b="1">
                <a:solidFill>
                  <a:srgbClr val="00B0F0"/>
                </a:solidFill>
                <a:latin typeface="Calibri"/>
                <a:cs typeface="Calibri"/>
              </a:rPr>
              <a:t>Query </a:t>
            </a:r>
            <a:r>
              <a:rPr dirty="0" sz="2200" spc="-5" b="1">
                <a:solidFill>
                  <a:srgbClr val="00B0F0"/>
                </a:solidFill>
                <a:latin typeface="Calibri"/>
                <a:cs typeface="Calibri"/>
              </a:rPr>
              <a:t>embedding</a:t>
            </a:r>
            <a:r>
              <a:rPr dirty="0" sz="2200" spc="-5">
                <a:latin typeface="Calibri"/>
                <a:cs typeface="Calibri"/>
              </a:rPr>
              <a:t>: </a:t>
            </a:r>
            <a:r>
              <a:rPr dirty="0" sz="2200">
                <a:latin typeface="Cambria Math"/>
                <a:cs typeface="Cambria Math"/>
              </a:rPr>
              <a:t>𝐪 = 𝐡 +</a:t>
            </a:r>
            <a:r>
              <a:rPr dirty="0" sz="2200" spc="160">
                <a:latin typeface="Cambria Math"/>
                <a:cs typeface="Cambria Math"/>
              </a:rPr>
              <a:t> </a:t>
            </a:r>
            <a:r>
              <a:rPr dirty="0" sz="2200">
                <a:latin typeface="Cambria Math"/>
                <a:cs typeface="Cambria Math"/>
              </a:rPr>
              <a:t>𝐫</a:t>
            </a:r>
            <a:endParaRPr sz="2200">
              <a:latin typeface="Cambria Math"/>
              <a:cs typeface="Cambria Math"/>
            </a:endParaRPr>
          </a:p>
          <a:p>
            <a:pPr lvl="1" marL="552450" indent="-228600">
              <a:lnSpc>
                <a:spcPts val="2615"/>
              </a:lnSpc>
              <a:spcBef>
                <a:spcPts val="26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200" spc="-5">
                <a:latin typeface="Calibri"/>
                <a:cs typeface="Calibri"/>
              </a:rPr>
              <a:t>Goal: </a:t>
            </a:r>
            <a:r>
              <a:rPr dirty="0" sz="2200" spc="-5" b="1">
                <a:solidFill>
                  <a:srgbClr val="00B0F0"/>
                </a:solidFill>
                <a:latin typeface="Calibri"/>
                <a:cs typeface="Calibri"/>
              </a:rPr>
              <a:t>query </a:t>
            </a:r>
            <a:r>
              <a:rPr dirty="0" sz="2200" spc="-10" b="1">
                <a:solidFill>
                  <a:srgbClr val="00B0F0"/>
                </a:solidFill>
                <a:latin typeface="Calibri"/>
                <a:cs typeface="Calibri"/>
              </a:rPr>
              <a:t>embedding </a:t>
            </a:r>
            <a:r>
              <a:rPr dirty="0" sz="2200">
                <a:latin typeface="Cambria Math"/>
                <a:cs typeface="Cambria Math"/>
              </a:rPr>
              <a:t>𝐪 </a:t>
            </a:r>
            <a:r>
              <a:rPr dirty="0" sz="2200" spc="-5">
                <a:latin typeface="Calibri"/>
                <a:cs typeface="Calibri"/>
              </a:rPr>
              <a:t>is </a:t>
            </a:r>
            <a:r>
              <a:rPr dirty="0" sz="2200" spc="-5" b="1">
                <a:latin typeface="Calibri"/>
                <a:cs typeface="Calibri"/>
              </a:rPr>
              <a:t>close </a:t>
            </a:r>
            <a:r>
              <a:rPr dirty="0" sz="2200" spc="-15">
                <a:latin typeface="Calibri"/>
                <a:cs typeface="Calibri"/>
              </a:rPr>
              <a:t>to </a:t>
            </a:r>
            <a:r>
              <a:rPr dirty="0" sz="2200" spc="-5">
                <a:latin typeface="Calibri"/>
                <a:cs typeface="Calibri"/>
              </a:rPr>
              <a:t>the </a:t>
            </a:r>
            <a:r>
              <a:rPr dirty="0" sz="2200" spc="-10" b="1">
                <a:solidFill>
                  <a:srgbClr val="479249"/>
                </a:solidFill>
                <a:latin typeface="Calibri"/>
                <a:cs typeface="Calibri"/>
              </a:rPr>
              <a:t>answer embedding  </a:t>
            </a:r>
            <a:r>
              <a:rPr dirty="0" sz="2200" spc="-160">
                <a:latin typeface="Cambria Math"/>
                <a:cs typeface="Cambria Math"/>
              </a:rPr>
              <a:t>𝐭</a:t>
            </a:r>
            <a:endParaRPr sz="2200">
              <a:latin typeface="Cambria Math"/>
              <a:cs typeface="Cambria Math"/>
            </a:endParaRPr>
          </a:p>
          <a:p>
            <a:pPr marL="2349500">
              <a:lnSpc>
                <a:spcPts val="2615"/>
              </a:lnSpc>
              <a:tabLst>
                <a:tab pos="3656329" algn="l"/>
              </a:tabLst>
            </a:pPr>
            <a:r>
              <a:rPr dirty="0" sz="2200" spc="50">
                <a:latin typeface="Cambria Math"/>
                <a:cs typeface="Cambria Math"/>
              </a:rPr>
              <a:t>𝑓</a:t>
            </a:r>
            <a:r>
              <a:rPr dirty="0" baseline="-15625" sz="2400" spc="75">
                <a:latin typeface="Cambria Math"/>
                <a:cs typeface="Cambria Math"/>
              </a:rPr>
              <a:t>'</a:t>
            </a:r>
            <a:r>
              <a:rPr dirty="0" sz="2200" spc="50">
                <a:latin typeface="Cambria Math"/>
                <a:cs typeface="Cambria Math"/>
              </a:rPr>
              <a:t>(𝑡)</a:t>
            </a:r>
            <a:r>
              <a:rPr dirty="0" sz="2200" spc="125">
                <a:latin typeface="Cambria Math"/>
                <a:cs typeface="Cambria Math"/>
              </a:rPr>
              <a:t> </a:t>
            </a:r>
            <a:r>
              <a:rPr dirty="0" sz="2200">
                <a:latin typeface="Cambria Math"/>
                <a:cs typeface="Cambria Math"/>
              </a:rPr>
              <a:t>=</a:t>
            </a:r>
            <a:r>
              <a:rPr dirty="0" sz="2200" spc="114">
                <a:latin typeface="Cambria Math"/>
                <a:cs typeface="Cambria Math"/>
              </a:rPr>
              <a:t> </a:t>
            </a:r>
            <a:r>
              <a:rPr dirty="0" sz="2200">
                <a:latin typeface="Cambria Math"/>
                <a:cs typeface="Cambria Math"/>
              </a:rPr>
              <a:t>−	𝐪 −</a:t>
            </a:r>
            <a:r>
              <a:rPr dirty="0" sz="2200" spc="-100">
                <a:latin typeface="Cambria Math"/>
                <a:cs typeface="Cambria Math"/>
              </a:rPr>
              <a:t> </a:t>
            </a:r>
            <a:r>
              <a:rPr dirty="0" sz="2200">
                <a:latin typeface="Cambria Math"/>
                <a:cs typeface="Cambria Math"/>
              </a:rPr>
              <a:t>𝐭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50740" y="20827"/>
            <a:ext cx="4443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Guu,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al., </a:t>
            </a:r>
            <a:r>
              <a:rPr dirty="0" sz="1200" spc="-15" u="sng">
                <a:solidFill>
                  <a:srgbClr val="168BBA"/>
                </a:solidFill>
                <a:latin typeface="Corbel"/>
                <a:cs typeface="Corbel"/>
              </a:rPr>
              <a:t>Traversing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knowledge graphs in vector space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EMNLP</a:t>
            </a:r>
            <a:r>
              <a:rPr dirty="0" sz="12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2015.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09417" y="4997884"/>
            <a:ext cx="0" cy="1724025"/>
          </a:xfrm>
          <a:custGeom>
            <a:avLst/>
            <a:gdLst/>
            <a:ahLst/>
            <a:cxnLst/>
            <a:rect l="l" t="t" r="r" b="b"/>
            <a:pathLst>
              <a:path w="0" h="1724025">
                <a:moveTo>
                  <a:pt x="0" y="0"/>
                </a:moveTo>
                <a:lnTo>
                  <a:pt x="1" y="1724003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90367" y="6705309"/>
            <a:ext cx="2895600" cy="15240"/>
          </a:xfrm>
          <a:custGeom>
            <a:avLst/>
            <a:gdLst/>
            <a:ahLst/>
            <a:cxnLst/>
            <a:rect l="l" t="t" r="r" b="b"/>
            <a:pathLst>
              <a:path w="2895600" h="15240">
                <a:moveTo>
                  <a:pt x="2895600" y="0"/>
                </a:moveTo>
                <a:lnTo>
                  <a:pt x="0" y="1524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52367" y="595988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8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37986" y="5945506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2"/>
                </a:lnTo>
                <a:lnTo>
                  <a:pt x="24446" y="79158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6"/>
                </a:lnTo>
                <a:lnTo>
                  <a:pt x="41381" y="65466"/>
                </a:lnTo>
                <a:lnTo>
                  <a:pt x="31996" y="63571"/>
                </a:lnTo>
                <a:lnTo>
                  <a:pt x="24348" y="58415"/>
                </a:lnTo>
                <a:lnTo>
                  <a:pt x="19190" y="50766"/>
                </a:lnTo>
                <a:lnTo>
                  <a:pt x="17297" y="41381"/>
                </a:lnTo>
                <a:lnTo>
                  <a:pt x="19190" y="31996"/>
                </a:lnTo>
                <a:lnTo>
                  <a:pt x="24348" y="24348"/>
                </a:lnTo>
                <a:lnTo>
                  <a:pt x="31996" y="19191"/>
                </a:lnTo>
                <a:lnTo>
                  <a:pt x="41381" y="17296"/>
                </a:lnTo>
                <a:lnTo>
                  <a:pt x="74339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9" y="17296"/>
                </a:moveTo>
                <a:lnTo>
                  <a:pt x="41381" y="17296"/>
                </a:lnTo>
                <a:lnTo>
                  <a:pt x="50766" y="19191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5"/>
                </a:lnTo>
                <a:lnTo>
                  <a:pt x="50766" y="63571"/>
                </a:lnTo>
                <a:lnTo>
                  <a:pt x="41381" y="65466"/>
                </a:lnTo>
                <a:lnTo>
                  <a:pt x="74339" y="65466"/>
                </a:lnTo>
                <a:lnTo>
                  <a:pt x="79093" y="58415"/>
                </a:lnTo>
                <a:lnTo>
                  <a:pt x="79210" y="58195"/>
                </a:lnTo>
                <a:lnTo>
                  <a:pt x="79891" y="56564"/>
                </a:lnTo>
                <a:lnTo>
                  <a:pt x="82763" y="42342"/>
                </a:lnTo>
                <a:lnTo>
                  <a:pt x="82763" y="40420"/>
                </a:lnTo>
                <a:lnTo>
                  <a:pt x="79891" y="26199"/>
                </a:lnTo>
                <a:lnTo>
                  <a:pt x="79210" y="24567"/>
                </a:lnTo>
                <a:lnTo>
                  <a:pt x="79093" y="24348"/>
                </a:lnTo>
                <a:lnTo>
                  <a:pt x="74339" y="17296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5" y="24567"/>
                </a:lnTo>
                <a:lnTo>
                  <a:pt x="28464" y="28465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4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7" y="54298"/>
                </a:lnTo>
                <a:lnTo>
                  <a:pt x="54629" y="53805"/>
                </a:lnTo>
                <a:lnTo>
                  <a:pt x="41381" y="53805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5"/>
                </a:lnTo>
                <a:lnTo>
                  <a:pt x="48517" y="24567"/>
                </a:lnTo>
                <a:lnTo>
                  <a:pt x="41381" y="23127"/>
                </a:lnTo>
                <a:close/>
              </a:path>
              <a:path w="83185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5"/>
                </a:lnTo>
                <a:lnTo>
                  <a:pt x="54629" y="53805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06014" y="557728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2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2"/>
                </a:lnTo>
                <a:lnTo>
                  <a:pt x="51877" y="37509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281893" y="5553129"/>
            <a:ext cx="102870" cy="102870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52735" y="0"/>
                </a:moveTo>
                <a:lnTo>
                  <a:pt x="49505" y="0"/>
                </a:lnTo>
                <a:lnTo>
                  <a:pt x="32762" y="3380"/>
                </a:lnTo>
                <a:lnTo>
                  <a:pt x="4574" y="29853"/>
                </a:lnTo>
                <a:lnTo>
                  <a:pt x="0" y="52961"/>
                </a:lnTo>
                <a:lnTo>
                  <a:pt x="3342" y="69517"/>
                </a:lnTo>
                <a:lnTo>
                  <a:pt x="29815" y="97703"/>
                </a:lnTo>
                <a:lnTo>
                  <a:pt x="49505" y="102316"/>
                </a:lnTo>
                <a:lnTo>
                  <a:pt x="52735" y="102316"/>
                </a:lnTo>
                <a:lnTo>
                  <a:pt x="88388" y="86224"/>
                </a:lnTo>
                <a:lnTo>
                  <a:pt x="97127" y="73261"/>
                </a:lnTo>
                <a:lnTo>
                  <a:pt x="51120" y="73261"/>
                </a:lnTo>
                <a:lnTo>
                  <a:pt x="42500" y="71520"/>
                </a:lnTo>
                <a:lnTo>
                  <a:pt x="35486" y="66792"/>
                </a:lnTo>
                <a:lnTo>
                  <a:pt x="30758" y="59778"/>
                </a:lnTo>
                <a:lnTo>
                  <a:pt x="29017" y="51158"/>
                </a:lnTo>
                <a:lnTo>
                  <a:pt x="30758" y="42537"/>
                </a:lnTo>
                <a:lnTo>
                  <a:pt x="35486" y="35524"/>
                </a:lnTo>
                <a:lnTo>
                  <a:pt x="42500" y="30794"/>
                </a:lnTo>
                <a:lnTo>
                  <a:pt x="51120" y="29055"/>
                </a:lnTo>
                <a:lnTo>
                  <a:pt x="97127" y="29055"/>
                </a:lnTo>
                <a:lnTo>
                  <a:pt x="88388" y="16092"/>
                </a:lnTo>
                <a:lnTo>
                  <a:pt x="86187" y="13891"/>
                </a:lnTo>
                <a:lnTo>
                  <a:pt x="72424" y="4612"/>
                </a:lnTo>
                <a:lnTo>
                  <a:pt x="69479" y="3380"/>
                </a:lnTo>
                <a:lnTo>
                  <a:pt x="52735" y="0"/>
                </a:lnTo>
                <a:close/>
              </a:path>
              <a:path w="102870" h="102870">
                <a:moveTo>
                  <a:pt x="97127" y="29055"/>
                </a:moveTo>
                <a:lnTo>
                  <a:pt x="51120" y="29055"/>
                </a:lnTo>
                <a:lnTo>
                  <a:pt x="59740" y="30794"/>
                </a:lnTo>
                <a:lnTo>
                  <a:pt x="66755" y="35524"/>
                </a:lnTo>
                <a:lnTo>
                  <a:pt x="71483" y="42537"/>
                </a:lnTo>
                <a:lnTo>
                  <a:pt x="73223" y="51158"/>
                </a:lnTo>
                <a:lnTo>
                  <a:pt x="71483" y="59778"/>
                </a:lnTo>
                <a:lnTo>
                  <a:pt x="66755" y="66792"/>
                </a:lnTo>
                <a:lnTo>
                  <a:pt x="59740" y="71520"/>
                </a:lnTo>
                <a:lnTo>
                  <a:pt x="51120" y="73261"/>
                </a:lnTo>
                <a:lnTo>
                  <a:pt x="97127" y="73261"/>
                </a:lnTo>
                <a:lnTo>
                  <a:pt x="97665" y="72462"/>
                </a:lnTo>
                <a:lnTo>
                  <a:pt x="98898" y="69517"/>
                </a:lnTo>
                <a:lnTo>
                  <a:pt x="102241" y="52961"/>
                </a:lnTo>
                <a:lnTo>
                  <a:pt x="102141" y="48857"/>
                </a:lnTo>
                <a:lnTo>
                  <a:pt x="98898" y="32799"/>
                </a:lnTo>
                <a:lnTo>
                  <a:pt x="97665" y="29853"/>
                </a:lnTo>
                <a:lnTo>
                  <a:pt x="97127" y="29055"/>
                </a:lnTo>
                <a:close/>
              </a:path>
              <a:path w="102870" h="102870">
                <a:moveTo>
                  <a:pt x="51120" y="38848"/>
                </a:moveTo>
                <a:lnTo>
                  <a:pt x="46277" y="39826"/>
                </a:lnTo>
                <a:lnTo>
                  <a:pt x="42401" y="42439"/>
                </a:lnTo>
                <a:lnTo>
                  <a:pt x="39789" y="46315"/>
                </a:lnTo>
                <a:lnTo>
                  <a:pt x="38811" y="51158"/>
                </a:lnTo>
                <a:lnTo>
                  <a:pt x="39789" y="56000"/>
                </a:lnTo>
                <a:lnTo>
                  <a:pt x="42401" y="59876"/>
                </a:lnTo>
                <a:lnTo>
                  <a:pt x="46277" y="62489"/>
                </a:lnTo>
                <a:lnTo>
                  <a:pt x="51120" y="63467"/>
                </a:lnTo>
                <a:lnTo>
                  <a:pt x="55963" y="62489"/>
                </a:lnTo>
                <a:lnTo>
                  <a:pt x="59838" y="59876"/>
                </a:lnTo>
                <a:lnTo>
                  <a:pt x="62452" y="56000"/>
                </a:lnTo>
                <a:lnTo>
                  <a:pt x="62922" y="53673"/>
                </a:lnTo>
                <a:lnTo>
                  <a:pt x="51120" y="53673"/>
                </a:lnTo>
                <a:lnTo>
                  <a:pt x="50055" y="53458"/>
                </a:lnTo>
                <a:lnTo>
                  <a:pt x="49318" y="52961"/>
                </a:lnTo>
                <a:lnTo>
                  <a:pt x="48820" y="52222"/>
                </a:lnTo>
                <a:lnTo>
                  <a:pt x="48605" y="51158"/>
                </a:lnTo>
                <a:lnTo>
                  <a:pt x="48820" y="50093"/>
                </a:lnTo>
                <a:lnTo>
                  <a:pt x="49318" y="49355"/>
                </a:lnTo>
                <a:lnTo>
                  <a:pt x="50055" y="48857"/>
                </a:lnTo>
                <a:lnTo>
                  <a:pt x="51120" y="48642"/>
                </a:lnTo>
                <a:lnTo>
                  <a:pt x="62922" y="48642"/>
                </a:lnTo>
                <a:lnTo>
                  <a:pt x="62452" y="46315"/>
                </a:lnTo>
                <a:lnTo>
                  <a:pt x="59838" y="42439"/>
                </a:lnTo>
                <a:lnTo>
                  <a:pt x="55963" y="39826"/>
                </a:lnTo>
                <a:lnTo>
                  <a:pt x="51120" y="38848"/>
                </a:lnTo>
                <a:close/>
              </a:path>
              <a:path w="102870" h="102870">
                <a:moveTo>
                  <a:pt x="62922" y="48642"/>
                </a:moveTo>
                <a:lnTo>
                  <a:pt x="51120" y="48642"/>
                </a:lnTo>
                <a:lnTo>
                  <a:pt x="52185" y="48857"/>
                </a:lnTo>
                <a:lnTo>
                  <a:pt x="52923" y="49355"/>
                </a:lnTo>
                <a:lnTo>
                  <a:pt x="53421" y="50093"/>
                </a:lnTo>
                <a:lnTo>
                  <a:pt x="53636" y="51158"/>
                </a:lnTo>
                <a:lnTo>
                  <a:pt x="53421" y="52222"/>
                </a:lnTo>
                <a:lnTo>
                  <a:pt x="52923" y="52961"/>
                </a:lnTo>
                <a:lnTo>
                  <a:pt x="52185" y="53458"/>
                </a:lnTo>
                <a:lnTo>
                  <a:pt x="51120" y="53673"/>
                </a:lnTo>
                <a:lnTo>
                  <a:pt x="62922" y="53673"/>
                </a:lnTo>
                <a:lnTo>
                  <a:pt x="63430" y="51158"/>
                </a:lnTo>
                <a:lnTo>
                  <a:pt x="62922" y="48642"/>
                </a:lnTo>
                <a:close/>
              </a:path>
            </a:pathLst>
          </a:custGeom>
          <a:solidFill>
            <a:srgbClr val="4484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82874" y="5606591"/>
            <a:ext cx="1650364" cy="377190"/>
          </a:xfrm>
          <a:custGeom>
            <a:avLst/>
            <a:gdLst/>
            <a:ahLst/>
            <a:cxnLst/>
            <a:rect l="l" t="t" r="r" b="b"/>
            <a:pathLst>
              <a:path w="1650364" h="377189">
                <a:moveTo>
                  <a:pt x="1563294" y="27987"/>
                </a:moveTo>
                <a:lnTo>
                  <a:pt x="4975" y="348801"/>
                </a:lnTo>
                <a:lnTo>
                  <a:pt x="0" y="356356"/>
                </a:lnTo>
                <a:lnTo>
                  <a:pt x="3182" y="371813"/>
                </a:lnTo>
                <a:lnTo>
                  <a:pt x="10737" y="376789"/>
                </a:lnTo>
                <a:lnTo>
                  <a:pt x="1569056" y="55975"/>
                </a:lnTo>
                <a:lnTo>
                  <a:pt x="1563294" y="27987"/>
                </a:lnTo>
                <a:close/>
              </a:path>
              <a:path w="1650364" h="377189">
                <a:moveTo>
                  <a:pt x="1645713" y="23516"/>
                </a:moveTo>
                <a:lnTo>
                  <a:pt x="1585015" y="23516"/>
                </a:lnTo>
                <a:lnTo>
                  <a:pt x="1592571" y="28491"/>
                </a:lnTo>
                <a:lnTo>
                  <a:pt x="1595753" y="43948"/>
                </a:lnTo>
                <a:lnTo>
                  <a:pt x="1590777" y="51504"/>
                </a:lnTo>
                <a:lnTo>
                  <a:pt x="1569056" y="55975"/>
                </a:lnTo>
                <a:lnTo>
                  <a:pt x="1574817" y="83964"/>
                </a:lnTo>
                <a:lnTo>
                  <a:pt x="1650138" y="24696"/>
                </a:lnTo>
                <a:lnTo>
                  <a:pt x="1645713" y="23516"/>
                </a:lnTo>
                <a:close/>
              </a:path>
              <a:path w="1650364" h="377189">
                <a:moveTo>
                  <a:pt x="1585015" y="23516"/>
                </a:moveTo>
                <a:lnTo>
                  <a:pt x="1563294" y="27987"/>
                </a:lnTo>
                <a:lnTo>
                  <a:pt x="1569056" y="55975"/>
                </a:lnTo>
                <a:lnTo>
                  <a:pt x="1590777" y="51504"/>
                </a:lnTo>
                <a:lnTo>
                  <a:pt x="1595753" y="43948"/>
                </a:lnTo>
                <a:lnTo>
                  <a:pt x="1592571" y="28491"/>
                </a:lnTo>
                <a:lnTo>
                  <a:pt x="1585015" y="23516"/>
                </a:lnTo>
                <a:close/>
              </a:path>
              <a:path w="1650364" h="377189">
                <a:moveTo>
                  <a:pt x="1557533" y="0"/>
                </a:moveTo>
                <a:lnTo>
                  <a:pt x="1563294" y="27987"/>
                </a:lnTo>
                <a:lnTo>
                  <a:pt x="1585015" y="23516"/>
                </a:lnTo>
                <a:lnTo>
                  <a:pt x="1645713" y="23516"/>
                </a:lnTo>
                <a:lnTo>
                  <a:pt x="155753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407177" y="5523483"/>
            <a:ext cx="2432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𝐡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85541" y="5511291"/>
            <a:ext cx="1606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00B050"/>
                </a:solidFill>
                <a:latin typeface="Cambria Math"/>
                <a:cs typeface="Cambria Math"/>
              </a:rPr>
              <a:t>𝐭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58161" y="5355844"/>
            <a:ext cx="1949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D9253E"/>
                </a:solidFill>
                <a:latin typeface="Cambria Math"/>
                <a:cs typeface="Cambria Math"/>
              </a:rPr>
              <a:t>𝐫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151625" y="4997884"/>
            <a:ext cx="0" cy="1715135"/>
          </a:xfrm>
          <a:custGeom>
            <a:avLst/>
            <a:gdLst/>
            <a:ahLst/>
            <a:cxnLst/>
            <a:rect l="l" t="t" r="r" b="b"/>
            <a:pathLst>
              <a:path w="0" h="1715134">
                <a:moveTo>
                  <a:pt x="0" y="0"/>
                </a:moveTo>
                <a:lnTo>
                  <a:pt x="1" y="1715045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132575" y="6696351"/>
            <a:ext cx="2895600" cy="15240"/>
          </a:xfrm>
          <a:custGeom>
            <a:avLst/>
            <a:gdLst/>
            <a:ahLst/>
            <a:cxnLst/>
            <a:rect l="l" t="t" r="r" b="b"/>
            <a:pathLst>
              <a:path w="2895600" h="15240">
                <a:moveTo>
                  <a:pt x="2895600" y="0"/>
                </a:moveTo>
                <a:lnTo>
                  <a:pt x="0" y="1524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894575" y="595092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880193" y="5936548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200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8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6"/>
                </a:lnTo>
                <a:lnTo>
                  <a:pt x="41381" y="65466"/>
                </a:lnTo>
                <a:lnTo>
                  <a:pt x="31996" y="63571"/>
                </a:lnTo>
                <a:lnTo>
                  <a:pt x="24348" y="58415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6" y="19191"/>
                </a:lnTo>
                <a:lnTo>
                  <a:pt x="41381" y="17296"/>
                </a:lnTo>
                <a:lnTo>
                  <a:pt x="74339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9" y="17296"/>
                </a:moveTo>
                <a:lnTo>
                  <a:pt x="41381" y="17296"/>
                </a:lnTo>
                <a:lnTo>
                  <a:pt x="50766" y="19191"/>
                </a:lnTo>
                <a:lnTo>
                  <a:pt x="58414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4" y="58415"/>
                </a:lnTo>
                <a:lnTo>
                  <a:pt x="50766" y="63571"/>
                </a:lnTo>
                <a:lnTo>
                  <a:pt x="41381" y="65466"/>
                </a:lnTo>
                <a:lnTo>
                  <a:pt x="74339" y="65466"/>
                </a:lnTo>
                <a:lnTo>
                  <a:pt x="79093" y="58415"/>
                </a:lnTo>
                <a:lnTo>
                  <a:pt x="79210" y="58195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9"/>
                </a:lnTo>
                <a:lnTo>
                  <a:pt x="79210" y="24567"/>
                </a:lnTo>
                <a:lnTo>
                  <a:pt x="79093" y="24348"/>
                </a:lnTo>
                <a:lnTo>
                  <a:pt x="74339" y="17296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5" y="24567"/>
                </a:lnTo>
                <a:lnTo>
                  <a:pt x="28465" y="28465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7"/>
                </a:lnTo>
                <a:lnTo>
                  <a:pt x="28465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8" y="54298"/>
                </a:lnTo>
                <a:lnTo>
                  <a:pt x="54630" y="53805"/>
                </a:lnTo>
                <a:lnTo>
                  <a:pt x="41381" y="53805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2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5"/>
                </a:lnTo>
                <a:lnTo>
                  <a:pt x="48517" y="24567"/>
                </a:lnTo>
                <a:lnTo>
                  <a:pt x="41381" y="23127"/>
                </a:lnTo>
                <a:close/>
              </a:path>
              <a:path w="83185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2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5"/>
                </a:lnTo>
                <a:lnTo>
                  <a:pt x="54630" y="53805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548222" y="556833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6998" y="0"/>
                </a:moveTo>
                <a:lnTo>
                  <a:pt x="16489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6999"/>
                </a:lnTo>
                <a:lnTo>
                  <a:pt x="2121" y="37509"/>
                </a:lnTo>
                <a:lnTo>
                  <a:pt x="7907" y="46091"/>
                </a:lnTo>
                <a:lnTo>
                  <a:pt x="16489" y="51877"/>
                </a:lnTo>
                <a:lnTo>
                  <a:pt x="26998" y="53999"/>
                </a:lnTo>
                <a:lnTo>
                  <a:pt x="37508" y="51877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6999"/>
                </a:lnTo>
                <a:lnTo>
                  <a:pt x="51877" y="16490"/>
                </a:lnTo>
                <a:lnTo>
                  <a:pt x="46091" y="7907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524101" y="5544170"/>
            <a:ext cx="102870" cy="102870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52735" y="0"/>
                </a:moveTo>
                <a:lnTo>
                  <a:pt x="49505" y="0"/>
                </a:lnTo>
                <a:lnTo>
                  <a:pt x="32762" y="3380"/>
                </a:lnTo>
                <a:lnTo>
                  <a:pt x="4574" y="29853"/>
                </a:lnTo>
                <a:lnTo>
                  <a:pt x="0" y="52961"/>
                </a:lnTo>
                <a:lnTo>
                  <a:pt x="3342" y="69517"/>
                </a:lnTo>
                <a:lnTo>
                  <a:pt x="29815" y="97704"/>
                </a:lnTo>
                <a:lnTo>
                  <a:pt x="49505" y="102317"/>
                </a:lnTo>
                <a:lnTo>
                  <a:pt x="52735" y="102317"/>
                </a:lnTo>
                <a:lnTo>
                  <a:pt x="88388" y="86224"/>
                </a:lnTo>
                <a:lnTo>
                  <a:pt x="97127" y="73261"/>
                </a:lnTo>
                <a:lnTo>
                  <a:pt x="51120" y="73261"/>
                </a:lnTo>
                <a:lnTo>
                  <a:pt x="42499" y="71521"/>
                </a:lnTo>
                <a:lnTo>
                  <a:pt x="35486" y="66792"/>
                </a:lnTo>
                <a:lnTo>
                  <a:pt x="30758" y="59779"/>
                </a:lnTo>
                <a:lnTo>
                  <a:pt x="29017" y="51158"/>
                </a:lnTo>
                <a:lnTo>
                  <a:pt x="30758" y="42538"/>
                </a:lnTo>
                <a:lnTo>
                  <a:pt x="35486" y="35524"/>
                </a:lnTo>
                <a:lnTo>
                  <a:pt x="42499" y="30796"/>
                </a:lnTo>
                <a:lnTo>
                  <a:pt x="51120" y="29055"/>
                </a:lnTo>
                <a:lnTo>
                  <a:pt x="97127" y="29055"/>
                </a:lnTo>
                <a:lnTo>
                  <a:pt x="88388" y="16092"/>
                </a:lnTo>
                <a:lnTo>
                  <a:pt x="86186" y="13891"/>
                </a:lnTo>
                <a:lnTo>
                  <a:pt x="72424" y="4612"/>
                </a:lnTo>
                <a:lnTo>
                  <a:pt x="69479" y="3380"/>
                </a:lnTo>
                <a:lnTo>
                  <a:pt x="52735" y="0"/>
                </a:lnTo>
                <a:close/>
              </a:path>
              <a:path w="102870" h="102870">
                <a:moveTo>
                  <a:pt x="97127" y="29055"/>
                </a:moveTo>
                <a:lnTo>
                  <a:pt x="51120" y="29055"/>
                </a:lnTo>
                <a:lnTo>
                  <a:pt x="59740" y="30796"/>
                </a:lnTo>
                <a:lnTo>
                  <a:pt x="66755" y="35524"/>
                </a:lnTo>
                <a:lnTo>
                  <a:pt x="71483" y="42538"/>
                </a:lnTo>
                <a:lnTo>
                  <a:pt x="73223" y="51158"/>
                </a:lnTo>
                <a:lnTo>
                  <a:pt x="71483" y="59779"/>
                </a:lnTo>
                <a:lnTo>
                  <a:pt x="66755" y="66792"/>
                </a:lnTo>
                <a:lnTo>
                  <a:pt x="59740" y="71521"/>
                </a:lnTo>
                <a:lnTo>
                  <a:pt x="51120" y="73261"/>
                </a:lnTo>
                <a:lnTo>
                  <a:pt x="97127" y="73261"/>
                </a:lnTo>
                <a:lnTo>
                  <a:pt x="97665" y="72463"/>
                </a:lnTo>
                <a:lnTo>
                  <a:pt x="98898" y="69517"/>
                </a:lnTo>
                <a:lnTo>
                  <a:pt x="102240" y="52961"/>
                </a:lnTo>
                <a:lnTo>
                  <a:pt x="102139" y="48857"/>
                </a:lnTo>
                <a:lnTo>
                  <a:pt x="98898" y="32800"/>
                </a:lnTo>
                <a:lnTo>
                  <a:pt x="97665" y="29853"/>
                </a:lnTo>
                <a:lnTo>
                  <a:pt x="97127" y="29055"/>
                </a:lnTo>
                <a:close/>
              </a:path>
              <a:path w="102870" h="102870">
                <a:moveTo>
                  <a:pt x="51120" y="38849"/>
                </a:moveTo>
                <a:lnTo>
                  <a:pt x="46277" y="39827"/>
                </a:lnTo>
                <a:lnTo>
                  <a:pt x="42401" y="42439"/>
                </a:lnTo>
                <a:lnTo>
                  <a:pt x="39789" y="46316"/>
                </a:lnTo>
                <a:lnTo>
                  <a:pt x="38811" y="51158"/>
                </a:lnTo>
                <a:lnTo>
                  <a:pt x="39789" y="56001"/>
                </a:lnTo>
                <a:lnTo>
                  <a:pt x="42401" y="59877"/>
                </a:lnTo>
                <a:lnTo>
                  <a:pt x="46277" y="62490"/>
                </a:lnTo>
                <a:lnTo>
                  <a:pt x="51120" y="63468"/>
                </a:lnTo>
                <a:lnTo>
                  <a:pt x="55962" y="62490"/>
                </a:lnTo>
                <a:lnTo>
                  <a:pt x="59838" y="59877"/>
                </a:lnTo>
                <a:lnTo>
                  <a:pt x="62452" y="56001"/>
                </a:lnTo>
                <a:lnTo>
                  <a:pt x="62922" y="53674"/>
                </a:lnTo>
                <a:lnTo>
                  <a:pt x="51120" y="53674"/>
                </a:lnTo>
                <a:lnTo>
                  <a:pt x="50055" y="53459"/>
                </a:lnTo>
                <a:lnTo>
                  <a:pt x="49318" y="52961"/>
                </a:lnTo>
                <a:lnTo>
                  <a:pt x="48820" y="52223"/>
                </a:lnTo>
                <a:lnTo>
                  <a:pt x="48604" y="51158"/>
                </a:lnTo>
                <a:lnTo>
                  <a:pt x="48820" y="50094"/>
                </a:lnTo>
                <a:lnTo>
                  <a:pt x="49318" y="49355"/>
                </a:lnTo>
                <a:lnTo>
                  <a:pt x="50055" y="48857"/>
                </a:lnTo>
                <a:lnTo>
                  <a:pt x="51120" y="48643"/>
                </a:lnTo>
                <a:lnTo>
                  <a:pt x="62922" y="48643"/>
                </a:lnTo>
                <a:lnTo>
                  <a:pt x="62452" y="46316"/>
                </a:lnTo>
                <a:lnTo>
                  <a:pt x="59838" y="42439"/>
                </a:lnTo>
                <a:lnTo>
                  <a:pt x="55962" y="39827"/>
                </a:lnTo>
                <a:lnTo>
                  <a:pt x="51120" y="38849"/>
                </a:lnTo>
                <a:close/>
              </a:path>
              <a:path w="102870" h="102870">
                <a:moveTo>
                  <a:pt x="62922" y="48643"/>
                </a:moveTo>
                <a:lnTo>
                  <a:pt x="51120" y="48643"/>
                </a:lnTo>
                <a:lnTo>
                  <a:pt x="52185" y="48857"/>
                </a:lnTo>
                <a:lnTo>
                  <a:pt x="52923" y="49355"/>
                </a:lnTo>
                <a:lnTo>
                  <a:pt x="53421" y="50094"/>
                </a:lnTo>
                <a:lnTo>
                  <a:pt x="53636" y="51158"/>
                </a:lnTo>
                <a:lnTo>
                  <a:pt x="53421" y="52223"/>
                </a:lnTo>
                <a:lnTo>
                  <a:pt x="52923" y="52961"/>
                </a:lnTo>
                <a:lnTo>
                  <a:pt x="52185" y="53459"/>
                </a:lnTo>
                <a:lnTo>
                  <a:pt x="51120" y="53674"/>
                </a:lnTo>
                <a:lnTo>
                  <a:pt x="62922" y="53674"/>
                </a:lnTo>
                <a:lnTo>
                  <a:pt x="63430" y="51158"/>
                </a:lnTo>
                <a:lnTo>
                  <a:pt x="62922" y="48643"/>
                </a:lnTo>
                <a:close/>
              </a:path>
            </a:pathLst>
          </a:custGeom>
          <a:solidFill>
            <a:srgbClr val="4484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925083" y="5597633"/>
            <a:ext cx="1650364" cy="377190"/>
          </a:xfrm>
          <a:custGeom>
            <a:avLst/>
            <a:gdLst/>
            <a:ahLst/>
            <a:cxnLst/>
            <a:rect l="l" t="t" r="r" b="b"/>
            <a:pathLst>
              <a:path w="1650365" h="377189">
                <a:moveTo>
                  <a:pt x="1563293" y="27988"/>
                </a:moveTo>
                <a:lnTo>
                  <a:pt x="4974" y="348801"/>
                </a:lnTo>
                <a:lnTo>
                  <a:pt x="0" y="356356"/>
                </a:lnTo>
                <a:lnTo>
                  <a:pt x="3181" y="371813"/>
                </a:lnTo>
                <a:lnTo>
                  <a:pt x="10736" y="376789"/>
                </a:lnTo>
                <a:lnTo>
                  <a:pt x="1569055" y="55976"/>
                </a:lnTo>
                <a:lnTo>
                  <a:pt x="1563293" y="27988"/>
                </a:lnTo>
                <a:close/>
              </a:path>
              <a:path w="1650365" h="377189">
                <a:moveTo>
                  <a:pt x="1645713" y="23516"/>
                </a:moveTo>
                <a:lnTo>
                  <a:pt x="1585015" y="23516"/>
                </a:lnTo>
                <a:lnTo>
                  <a:pt x="1592571" y="28491"/>
                </a:lnTo>
                <a:lnTo>
                  <a:pt x="1595752" y="43949"/>
                </a:lnTo>
                <a:lnTo>
                  <a:pt x="1590777" y="51504"/>
                </a:lnTo>
                <a:lnTo>
                  <a:pt x="1569055" y="55976"/>
                </a:lnTo>
                <a:lnTo>
                  <a:pt x="1574817" y="83964"/>
                </a:lnTo>
                <a:lnTo>
                  <a:pt x="1650138" y="24696"/>
                </a:lnTo>
                <a:lnTo>
                  <a:pt x="1645713" y="23516"/>
                </a:lnTo>
                <a:close/>
              </a:path>
              <a:path w="1650365" h="377189">
                <a:moveTo>
                  <a:pt x="1585015" y="23516"/>
                </a:moveTo>
                <a:lnTo>
                  <a:pt x="1563293" y="27988"/>
                </a:lnTo>
                <a:lnTo>
                  <a:pt x="1569055" y="55976"/>
                </a:lnTo>
                <a:lnTo>
                  <a:pt x="1590777" y="51504"/>
                </a:lnTo>
                <a:lnTo>
                  <a:pt x="1595752" y="43949"/>
                </a:lnTo>
                <a:lnTo>
                  <a:pt x="1592571" y="28491"/>
                </a:lnTo>
                <a:lnTo>
                  <a:pt x="1585015" y="23516"/>
                </a:lnTo>
                <a:close/>
              </a:path>
              <a:path w="1650365" h="377189">
                <a:moveTo>
                  <a:pt x="1557531" y="0"/>
                </a:moveTo>
                <a:lnTo>
                  <a:pt x="1563293" y="27988"/>
                </a:lnTo>
                <a:lnTo>
                  <a:pt x="1585015" y="23516"/>
                </a:lnTo>
                <a:lnTo>
                  <a:pt x="1645713" y="23516"/>
                </a:lnTo>
                <a:lnTo>
                  <a:pt x="155753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173925" y="5284723"/>
            <a:ext cx="2016760" cy="67500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 marR="5080" indent="633730">
              <a:lnSpc>
                <a:spcPct val="77500"/>
              </a:lnSpc>
              <a:spcBef>
                <a:spcPts val="745"/>
              </a:spcBef>
            </a:pPr>
            <a:r>
              <a:rPr dirty="0" sz="2400">
                <a:solidFill>
                  <a:srgbClr val="D9253E"/>
                </a:solidFill>
                <a:latin typeface="Calibri"/>
                <a:cs typeface="Calibri"/>
              </a:rPr>
              <a:t>N</a:t>
            </a:r>
            <a:r>
              <a:rPr dirty="0" sz="2400" spc="-25">
                <a:solidFill>
                  <a:srgbClr val="D9253E"/>
                </a:solidFill>
                <a:latin typeface="Calibri"/>
                <a:cs typeface="Calibri"/>
              </a:rPr>
              <a:t>a</a:t>
            </a:r>
            <a:r>
              <a:rPr dirty="0" sz="2400" spc="-10">
                <a:solidFill>
                  <a:srgbClr val="D9253E"/>
                </a:solidFill>
                <a:latin typeface="Calibri"/>
                <a:cs typeface="Calibri"/>
              </a:rPr>
              <a:t>t</a:t>
            </a:r>
            <a:r>
              <a:rPr dirty="0" sz="2400" spc="-5">
                <a:solidFill>
                  <a:srgbClr val="D9253E"/>
                </a:solidFill>
                <a:latin typeface="Calibri"/>
                <a:cs typeface="Calibri"/>
              </a:rPr>
              <a:t>io</a:t>
            </a:r>
            <a:r>
              <a:rPr dirty="0" sz="2400">
                <a:solidFill>
                  <a:srgbClr val="D9253E"/>
                </a:solidFill>
                <a:latin typeface="Calibri"/>
                <a:cs typeface="Calibri"/>
              </a:rPr>
              <a:t>n</a:t>
            </a:r>
            <a:r>
              <a:rPr dirty="0" sz="2400" spc="-5">
                <a:solidFill>
                  <a:srgbClr val="D9253E"/>
                </a:solidFill>
                <a:latin typeface="Calibri"/>
                <a:cs typeface="Calibri"/>
              </a:rPr>
              <a:t>ali</a:t>
            </a:r>
            <a:r>
              <a:rPr dirty="0" sz="2400" spc="-10">
                <a:solidFill>
                  <a:srgbClr val="D9253E"/>
                </a:solidFill>
                <a:latin typeface="Calibri"/>
                <a:cs typeface="Calibri"/>
              </a:rPr>
              <a:t>t</a:t>
            </a:r>
            <a:r>
              <a:rPr dirty="0" sz="2400">
                <a:solidFill>
                  <a:srgbClr val="D9253E"/>
                </a:solidFill>
                <a:latin typeface="Calibri"/>
                <a:cs typeface="Calibri"/>
              </a:rPr>
              <a:t>y  </a:t>
            </a:r>
            <a:r>
              <a:rPr dirty="0" sz="2400" spc="-5">
                <a:solidFill>
                  <a:srgbClr val="0000FF"/>
                </a:solidFill>
                <a:latin typeface="Calibri"/>
                <a:cs typeface="Calibri"/>
              </a:rPr>
              <a:t>Obama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688095" y="566436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6999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3999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6999"/>
                </a:lnTo>
                <a:lnTo>
                  <a:pt x="51878" y="16490"/>
                </a:lnTo>
                <a:lnTo>
                  <a:pt x="46091" y="7908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673714" y="5649981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4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2"/>
                </a:lnTo>
                <a:lnTo>
                  <a:pt x="24446" y="79158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6"/>
                </a:lnTo>
                <a:lnTo>
                  <a:pt x="41381" y="65466"/>
                </a:lnTo>
                <a:lnTo>
                  <a:pt x="31996" y="63571"/>
                </a:lnTo>
                <a:lnTo>
                  <a:pt x="24348" y="58415"/>
                </a:lnTo>
                <a:lnTo>
                  <a:pt x="19190" y="50766"/>
                </a:lnTo>
                <a:lnTo>
                  <a:pt x="17296" y="41381"/>
                </a:lnTo>
                <a:lnTo>
                  <a:pt x="19190" y="31996"/>
                </a:lnTo>
                <a:lnTo>
                  <a:pt x="24348" y="24348"/>
                </a:lnTo>
                <a:lnTo>
                  <a:pt x="31996" y="19191"/>
                </a:lnTo>
                <a:lnTo>
                  <a:pt x="41381" y="17296"/>
                </a:lnTo>
                <a:lnTo>
                  <a:pt x="74338" y="17296"/>
                </a:lnTo>
                <a:lnTo>
                  <a:pt x="71292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3" y="2871"/>
                </a:lnTo>
                <a:lnTo>
                  <a:pt x="42343" y="0"/>
                </a:lnTo>
                <a:close/>
              </a:path>
              <a:path w="83184" h="83185">
                <a:moveTo>
                  <a:pt x="74338" y="17296"/>
                </a:moveTo>
                <a:lnTo>
                  <a:pt x="41381" y="17296"/>
                </a:lnTo>
                <a:lnTo>
                  <a:pt x="50766" y="19191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5"/>
                </a:lnTo>
                <a:lnTo>
                  <a:pt x="50766" y="63571"/>
                </a:lnTo>
                <a:lnTo>
                  <a:pt x="41381" y="65466"/>
                </a:lnTo>
                <a:lnTo>
                  <a:pt x="74339" y="65466"/>
                </a:lnTo>
                <a:lnTo>
                  <a:pt x="79093" y="58415"/>
                </a:lnTo>
                <a:lnTo>
                  <a:pt x="79210" y="58195"/>
                </a:lnTo>
                <a:lnTo>
                  <a:pt x="79891" y="56564"/>
                </a:lnTo>
                <a:lnTo>
                  <a:pt x="82763" y="42342"/>
                </a:lnTo>
                <a:lnTo>
                  <a:pt x="82763" y="40420"/>
                </a:lnTo>
                <a:lnTo>
                  <a:pt x="79891" y="26199"/>
                </a:lnTo>
                <a:lnTo>
                  <a:pt x="79210" y="24567"/>
                </a:lnTo>
                <a:lnTo>
                  <a:pt x="79093" y="24348"/>
                </a:lnTo>
                <a:lnTo>
                  <a:pt x="74338" y="17296"/>
                </a:lnTo>
                <a:close/>
              </a:path>
              <a:path w="83184" h="83185">
                <a:moveTo>
                  <a:pt x="41381" y="23127"/>
                </a:moveTo>
                <a:lnTo>
                  <a:pt x="34245" y="24567"/>
                </a:lnTo>
                <a:lnTo>
                  <a:pt x="28464" y="28465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4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7" y="54298"/>
                </a:lnTo>
                <a:lnTo>
                  <a:pt x="54629" y="53805"/>
                </a:lnTo>
                <a:lnTo>
                  <a:pt x="41381" y="53805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2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5"/>
                </a:lnTo>
                <a:lnTo>
                  <a:pt x="48517" y="24567"/>
                </a:lnTo>
                <a:lnTo>
                  <a:pt x="41381" y="23127"/>
                </a:lnTo>
                <a:close/>
              </a:path>
              <a:path w="83184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2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5"/>
                </a:lnTo>
                <a:lnTo>
                  <a:pt x="54629" y="53805"/>
                </a:lnTo>
                <a:lnTo>
                  <a:pt x="58195" y="48517"/>
                </a:lnTo>
                <a:lnTo>
                  <a:pt x="59635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7474797" y="5309108"/>
            <a:ext cx="146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40123" sz="2700">
                <a:latin typeface="Cambria Math"/>
                <a:cs typeface="Cambria Math"/>
              </a:rPr>
              <a:t>𝐪</a:t>
            </a:r>
            <a:r>
              <a:rPr dirty="0" baseline="40123" sz="2700" spc="337">
                <a:latin typeface="Cambria Math"/>
                <a:cs typeface="Cambria Math"/>
              </a:rPr>
              <a:t> </a:t>
            </a:r>
            <a:r>
              <a:rPr dirty="0" sz="2400" spc="-5">
                <a:solidFill>
                  <a:srgbClr val="00B050"/>
                </a:solidFill>
                <a:latin typeface="Calibri"/>
                <a:cs typeface="Calibri"/>
              </a:rPr>
              <a:t>American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458414" y="565453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444031" y="5640150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1" y="0"/>
                </a:lnTo>
                <a:lnTo>
                  <a:pt x="26200" y="2871"/>
                </a:lnTo>
                <a:lnTo>
                  <a:pt x="0" y="40420"/>
                </a:lnTo>
                <a:lnTo>
                  <a:pt x="0" y="42342"/>
                </a:lnTo>
                <a:lnTo>
                  <a:pt x="24446" y="79158"/>
                </a:lnTo>
                <a:lnTo>
                  <a:pt x="40421" y="82763"/>
                </a:lnTo>
                <a:lnTo>
                  <a:pt x="42343" y="82763"/>
                </a:lnTo>
                <a:lnTo>
                  <a:pt x="74339" y="65466"/>
                </a:lnTo>
                <a:lnTo>
                  <a:pt x="41381" y="65466"/>
                </a:lnTo>
                <a:lnTo>
                  <a:pt x="31997" y="63571"/>
                </a:lnTo>
                <a:lnTo>
                  <a:pt x="24348" y="58415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7" y="19191"/>
                </a:lnTo>
                <a:lnTo>
                  <a:pt x="41381" y="17296"/>
                </a:lnTo>
                <a:lnTo>
                  <a:pt x="74339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8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9" y="17296"/>
                </a:moveTo>
                <a:lnTo>
                  <a:pt x="41381" y="17296"/>
                </a:lnTo>
                <a:lnTo>
                  <a:pt x="50766" y="19191"/>
                </a:lnTo>
                <a:lnTo>
                  <a:pt x="58416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6" y="58415"/>
                </a:lnTo>
                <a:lnTo>
                  <a:pt x="50766" y="63571"/>
                </a:lnTo>
                <a:lnTo>
                  <a:pt x="41381" y="65466"/>
                </a:lnTo>
                <a:lnTo>
                  <a:pt x="74339" y="65466"/>
                </a:lnTo>
                <a:lnTo>
                  <a:pt x="79093" y="58415"/>
                </a:lnTo>
                <a:lnTo>
                  <a:pt x="79210" y="58195"/>
                </a:lnTo>
                <a:lnTo>
                  <a:pt x="79893" y="56564"/>
                </a:lnTo>
                <a:lnTo>
                  <a:pt x="82763" y="42342"/>
                </a:lnTo>
                <a:lnTo>
                  <a:pt x="82763" y="40420"/>
                </a:lnTo>
                <a:lnTo>
                  <a:pt x="79893" y="26199"/>
                </a:lnTo>
                <a:lnTo>
                  <a:pt x="79210" y="24567"/>
                </a:lnTo>
                <a:lnTo>
                  <a:pt x="79093" y="24348"/>
                </a:lnTo>
                <a:lnTo>
                  <a:pt x="74339" y="17296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6" y="24567"/>
                </a:lnTo>
                <a:lnTo>
                  <a:pt x="28465" y="28465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7"/>
                </a:lnTo>
                <a:lnTo>
                  <a:pt x="28465" y="54298"/>
                </a:lnTo>
                <a:lnTo>
                  <a:pt x="34246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8" y="54298"/>
                </a:lnTo>
                <a:lnTo>
                  <a:pt x="54630" y="53805"/>
                </a:lnTo>
                <a:lnTo>
                  <a:pt x="41381" y="53805"/>
                </a:lnTo>
                <a:lnTo>
                  <a:pt x="36494" y="52819"/>
                </a:lnTo>
                <a:lnTo>
                  <a:pt x="32583" y="50181"/>
                </a:lnTo>
                <a:lnTo>
                  <a:pt x="29944" y="46268"/>
                </a:lnTo>
                <a:lnTo>
                  <a:pt x="28958" y="41381"/>
                </a:lnTo>
                <a:lnTo>
                  <a:pt x="29944" y="36494"/>
                </a:lnTo>
                <a:lnTo>
                  <a:pt x="32583" y="32582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5"/>
                </a:lnTo>
                <a:lnTo>
                  <a:pt x="48517" y="24567"/>
                </a:lnTo>
                <a:lnTo>
                  <a:pt x="41381" y="23127"/>
                </a:lnTo>
                <a:close/>
              </a:path>
              <a:path w="83185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2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5"/>
                </a:lnTo>
                <a:lnTo>
                  <a:pt x="54630" y="53805"/>
                </a:lnTo>
                <a:lnTo>
                  <a:pt x="58196" y="48517"/>
                </a:lnTo>
                <a:lnTo>
                  <a:pt x="59636" y="41381"/>
                </a:lnTo>
                <a:lnTo>
                  <a:pt x="58196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316539" y="5275579"/>
            <a:ext cx="1644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𝐪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18</a:t>
            </a:fld>
          </a:p>
        </p:txBody>
      </p:sp>
      <p:sp>
        <p:nvSpPr>
          <p:cNvPr id="35" name="object 35"/>
          <p:cNvSpPr txBox="1"/>
          <p:nvPr/>
        </p:nvSpPr>
        <p:spPr>
          <a:xfrm>
            <a:off x="1901276" y="6220459"/>
            <a:ext cx="23069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Distance </a:t>
            </a:r>
            <a:r>
              <a:rPr dirty="0" sz="1800" spc="10">
                <a:latin typeface="Cambria Math"/>
                <a:cs typeface="Cambria Math"/>
              </a:rPr>
              <a:t>(𝑞, </a:t>
            </a:r>
            <a:r>
              <a:rPr dirty="0" sz="1800" spc="15">
                <a:latin typeface="Cambria Math"/>
                <a:cs typeface="Cambria Math"/>
              </a:rPr>
              <a:t>𝑡)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small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24204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61708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0" b="1" i="0">
                <a:solidFill>
                  <a:srgbClr val="008000"/>
                </a:solidFill>
                <a:latin typeface="Calibri"/>
                <a:cs typeface="Calibri"/>
              </a:rPr>
              <a:t>Key </a:t>
            </a:r>
            <a:r>
              <a:rPr dirty="0" sz="3200" spc="-5" b="1" i="0">
                <a:solidFill>
                  <a:srgbClr val="008000"/>
                </a:solidFill>
                <a:latin typeface="Calibri"/>
                <a:cs typeface="Calibri"/>
              </a:rPr>
              <a:t>idea: Embed</a:t>
            </a:r>
            <a:r>
              <a:rPr dirty="0" sz="3200" spc="-40" b="1" i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5" b="1" i="0">
                <a:solidFill>
                  <a:srgbClr val="008000"/>
                </a:solidFill>
                <a:latin typeface="Calibri"/>
                <a:cs typeface="Calibri"/>
              </a:rPr>
              <a:t>queries!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29956" y="2466872"/>
            <a:ext cx="2716530" cy="376555"/>
          </a:xfrm>
          <a:custGeom>
            <a:avLst/>
            <a:gdLst/>
            <a:ahLst/>
            <a:cxnLst/>
            <a:rect l="l" t="t" r="r" b="b"/>
            <a:pathLst>
              <a:path w="2716529" h="376555">
                <a:moveTo>
                  <a:pt x="2596363" y="0"/>
                </a:moveTo>
                <a:lnTo>
                  <a:pt x="2591005" y="15279"/>
                </a:lnTo>
                <a:lnTo>
                  <a:pt x="2612796" y="24736"/>
                </a:lnTo>
                <a:lnTo>
                  <a:pt x="2631536" y="37826"/>
                </a:lnTo>
                <a:lnTo>
                  <a:pt x="2659863" y="74909"/>
                </a:lnTo>
                <a:lnTo>
                  <a:pt x="2676532" y="124940"/>
                </a:lnTo>
                <a:lnTo>
                  <a:pt x="2682088" y="186331"/>
                </a:lnTo>
                <a:lnTo>
                  <a:pt x="2680693" y="219533"/>
                </a:lnTo>
                <a:lnTo>
                  <a:pt x="2669531" y="276782"/>
                </a:lnTo>
                <a:lnTo>
                  <a:pt x="2647132" y="321493"/>
                </a:lnTo>
                <a:lnTo>
                  <a:pt x="2613050" y="351655"/>
                </a:lnTo>
                <a:lnTo>
                  <a:pt x="2591601" y="361156"/>
                </a:lnTo>
                <a:lnTo>
                  <a:pt x="2596363" y="376435"/>
                </a:lnTo>
                <a:lnTo>
                  <a:pt x="2647709" y="352350"/>
                </a:lnTo>
                <a:lnTo>
                  <a:pt x="2685461" y="310653"/>
                </a:lnTo>
                <a:lnTo>
                  <a:pt x="2708679" y="254818"/>
                </a:lnTo>
                <a:lnTo>
                  <a:pt x="2716418" y="188316"/>
                </a:lnTo>
                <a:lnTo>
                  <a:pt x="2714477" y="153807"/>
                </a:lnTo>
                <a:lnTo>
                  <a:pt x="2698949" y="92638"/>
                </a:lnTo>
                <a:lnTo>
                  <a:pt x="2668154" y="42843"/>
                </a:lnTo>
                <a:lnTo>
                  <a:pt x="2623655" y="9853"/>
                </a:lnTo>
                <a:lnTo>
                  <a:pt x="2596363" y="0"/>
                </a:lnTo>
                <a:close/>
              </a:path>
              <a:path w="2716529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1920747"/>
            <a:ext cx="6960234" cy="9442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Generalize </a:t>
            </a:r>
            <a:r>
              <a:rPr dirty="0" sz="2800" spc="-40" b="1">
                <a:solidFill>
                  <a:srgbClr val="0070C0"/>
                </a:solidFill>
                <a:latin typeface="Calibri"/>
                <a:cs typeface="Calibri"/>
              </a:rPr>
              <a:t>TransE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multi-hop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reasoning.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  <a:tabLst>
                <a:tab pos="4231640" algn="l"/>
                <a:tab pos="6851015" algn="l"/>
              </a:tabLst>
            </a:pPr>
            <a:r>
              <a:rPr dirty="0" sz="3200" spc="-5" b="1">
                <a:latin typeface="Calibri"/>
                <a:cs typeface="Calibri"/>
              </a:rPr>
              <a:t>Gi</a:t>
            </a:r>
            <a:r>
              <a:rPr dirty="0" sz="3200" spc="-35" b="1">
                <a:latin typeface="Calibri"/>
                <a:cs typeface="Calibri"/>
              </a:rPr>
              <a:t>v</a:t>
            </a:r>
            <a:r>
              <a:rPr dirty="0" sz="3200" b="1">
                <a:latin typeface="Calibri"/>
                <a:cs typeface="Calibri"/>
              </a:rPr>
              <a:t>en</a:t>
            </a:r>
            <a:r>
              <a:rPr dirty="0" sz="3200" spc="-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</a:t>
            </a:r>
            <a:r>
              <a:rPr dirty="0" sz="3200" spc="-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p</a:t>
            </a:r>
            <a:r>
              <a:rPr dirty="0" sz="3200" spc="-40" b="1">
                <a:latin typeface="Calibri"/>
                <a:cs typeface="Calibri"/>
              </a:rPr>
              <a:t>a</a:t>
            </a:r>
            <a:r>
              <a:rPr dirty="0" sz="3200" b="1">
                <a:latin typeface="Calibri"/>
                <a:cs typeface="Calibri"/>
              </a:rPr>
              <a:t>th</a:t>
            </a:r>
            <a:r>
              <a:rPr dirty="0" sz="3200" spc="-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qu</a:t>
            </a:r>
            <a:r>
              <a:rPr dirty="0" sz="3200" b="1">
                <a:latin typeface="Calibri"/>
                <a:cs typeface="Calibri"/>
              </a:rPr>
              <a:t>e</a:t>
            </a:r>
            <a:r>
              <a:rPr dirty="0" sz="3200" spc="5" b="1">
                <a:latin typeface="Calibri"/>
                <a:cs typeface="Calibri"/>
              </a:rPr>
              <a:t>r</a:t>
            </a:r>
            <a:r>
              <a:rPr dirty="0" sz="3200" b="1">
                <a:latin typeface="Calibri"/>
                <a:cs typeface="Calibri"/>
              </a:rPr>
              <a:t>y</a:t>
            </a:r>
            <a:r>
              <a:rPr dirty="0" sz="3200" spc="5" b="1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𝒒</a:t>
            </a:r>
            <a:r>
              <a:rPr dirty="0" sz="3200" spc="18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	𝒗</a:t>
            </a:r>
            <a:r>
              <a:rPr dirty="0" baseline="-15700" sz="3450" spc="157">
                <a:latin typeface="Cambria Math"/>
                <a:cs typeface="Cambria Math"/>
              </a:rPr>
              <a:t>𝒂</a:t>
            </a:r>
            <a:r>
              <a:rPr dirty="0" sz="3200">
                <a:latin typeface="Cambria Math"/>
                <a:cs typeface="Cambria Math"/>
              </a:rPr>
              <a:t>,</a:t>
            </a:r>
            <a:r>
              <a:rPr dirty="0" sz="3200" spc="-165">
                <a:latin typeface="Cambria Math"/>
                <a:cs typeface="Cambria Math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(𝒓</a:t>
            </a:r>
            <a:r>
              <a:rPr dirty="0" baseline="-15700" sz="3450" spc="157">
                <a:latin typeface="Cambria Math"/>
                <a:cs typeface="Cambria Math"/>
              </a:rPr>
              <a:t>𝟏</a:t>
            </a:r>
            <a:r>
              <a:rPr dirty="0" sz="3200">
                <a:latin typeface="Cambria Math"/>
                <a:cs typeface="Cambria Math"/>
              </a:rPr>
              <a:t>,</a:t>
            </a:r>
            <a:r>
              <a:rPr dirty="0" sz="3200" spc="-16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…</a:t>
            </a:r>
            <a:r>
              <a:rPr dirty="0" sz="3200" spc="-16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,</a:t>
            </a:r>
            <a:r>
              <a:rPr dirty="0" sz="3200" spc="-165">
                <a:latin typeface="Cambria Math"/>
                <a:cs typeface="Cambria Math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𝒓</a:t>
            </a:r>
            <a:r>
              <a:rPr dirty="0" baseline="-15700" sz="3450" spc="157">
                <a:latin typeface="Cambria Math"/>
                <a:cs typeface="Cambria Math"/>
              </a:rPr>
              <a:t>𝒏</a:t>
            </a:r>
            <a:r>
              <a:rPr dirty="0" sz="3200">
                <a:latin typeface="Cambria Math"/>
                <a:cs typeface="Cambria Math"/>
              </a:rPr>
              <a:t>)	,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57450" y="2966641"/>
            <a:ext cx="23495" cy="1699895"/>
          </a:xfrm>
          <a:custGeom>
            <a:avLst/>
            <a:gdLst/>
            <a:ahLst/>
            <a:cxnLst/>
            <a:rect l="l" t="t" r="r" b="b"/>
            <a:pathLst>
              <a:path w="23494" h="1699895">
                <a:moveTo>
                  <a:pt x="23246" y="0"/>
                </a:moveTo>
                <a:lnTo>
                  <a:pt x="0" y="1699768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438400" y="4630633"/>
            <a:ext cx="4267200" cy="34925"/>
          </a:xfrm>
          <a:custGeom>
            <a:avLst/>
            <a:gdLst/>
            <a:ahLst/>
            <a:cxnLst/>
            <a:rect l="l" t="t" r="r" b="b"/>
            <a:pathLst>
              <a:path w="4267200" h="34925">
                <a:moveTo>
                  <a:pt x="4267200" y="0"/>
                </a:moveTo>
                <a:lnTo>
                  <a:pt x="0" y="34438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91215" y="361579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7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6834" y="3601417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0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7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5"/>
                </a:lnTo>
                <a:lnTo>
                  <a:pt x="41381" y="65465"/>
                </a:lnTo>
                <a:lnTo>
                  <a:pt x="31996" y="63571"/>
                </a:lnTo>
                <a:lnTo>
                  <a:pt x="24348" y="58414"/>
                </a:lnTo>
                <a:lnTo>
                  <a:pt x="19192" y="50765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6" y="19190"/>
                </a:lnTo>
                <a:lnTo>
                  <a:pt x="41381" y="17296"/>
                </a:lnTo>
                <a:lnTo>
                  <a:pt x="74338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4" y="2870"/>
                </a:lnTo>
                <a:lnTo>
                  <a:pt x="42343" y="0"/>
                </a:lnTo>
                <a:close/>
              </a:path>
              <a:path w="83185" h="83185">
                <a:moveTo>
                  <a:pt x="74338" y="17296"/>
                </a:moveTo>
                <a:lnTo>
                  <a:pt x="41381" y="17296"/>
                </a:lnTo>
                <a:lnTo>
                  <a:pt x="50766" y="19190"/>
                </a:lnTo>
                <a:lnTo>
                  <a:pt x="58414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5"/>
                </a:lnTo>
                <a:lnTo>
                  <a:pt x="58414" y="58414"/>
                </a:lnTo>
                <a:lnTo>
                  <a:pt x="50766" y="63571"/>
                </a:lnTo>
                <a:lnTo>
                  <a:pt x="41381" y="65465"/>
                </a:lnTo>
                <a:lnTo>
                  <a:pt x="74338" y="65465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1" y="56563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8"/>
                </a:lnTo>
                <a:lnTo>
                  <a:pt x="79210" y="24566"/>
                </a:lnTo>
                <a:lnTo>
                  <a:pt x="79094" y="24348"/>
                </a:lnTo>
                <a:lnTo>
                  <a:pt x="74338" y="17296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6"/>
                </a:lnTo>
                <a:lnTo>
                  <a:pt x="28465" y="28464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5" y="54297"/>
                </a:lnTo>
                <a:lnTo>
                  <a:pt x="34245" y="58195"/>
                </a:lnTo>
                <a:lnTo>
                  <a:pt x="41381" y="59635"/>
                </a:lnTo>
                <a:lnTo>
                  <a:pt x="48517" y="58195"/>
                </a:lnTo>
                <a:lnTo>
                  <a:pt x="54298" y="54297"/>
                </a:lnTo>
                <a:lnTo>
                  <a:pt x="54630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0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4"/>
                </a:lnTo>
                <a:lnTo>
                  <a:pt x="48517" y="24566"/>
                </a:lnTo>
                <a:lnTo>
                  <a:pt x="41381" y="23126"/>
                </a:lnTo>
                <a:close/>
              </a:path>
              <a:path w="83185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0"/>
                </a:lnTo>
                <a:lnTo>
                  <a:pt x="46268" y="52819"/>
                </a:lnTo>
                <a:lnTo>
                  <a:pt x="41381" y="53806"/>
                </a:lnTo>
                <a:lnTo>
                  <a:pt x="54630" y="53806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61236" y="333767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6998" y="0"/>
                </a:moveTo>
                <a:lnTo>
                  <a:pt x="16489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7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46854" y="3323291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200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5"/>
                </a:lnTo>
                <a:lnTo>
                  <a:pt x="41381" y="65465"/>
                </a:lnTo>
                <a:lnTo>
                  <a:pt x="31997" y="63571"/>
                </a:lnTo>
                <a:lnTo>
                  <a:pt x="24348" y="58414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7" y="19190"/>
                </a:lnTo>
                <a:lnTo>
                  <a:pt x="41381" y="17296"/>
                </a:lnTo>
                <a:lnTo>
                  <a:pt x="74338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8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8" y="17296"/>
                </a:moveTo>
                <a:lnTo>
                  <a:pt x="41381" y="17296"/>
                </a:lnTo>
                <a:lnTo>
                  <a:pt x="50766" y="19190"/>
                </a:lnTo>
                <a:lnTo>
                  <a:pt x="58416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6" y="58414"/>
                </a:lnTo>
                <a:lnTo>
                  <a:pt x="50766" y="63571"/>
                </a:lnTo>
                <a:lnTo>
                  <a:pt x="41381" y="65465"/>
                </a:lnTo>
                <a:lnTo>
                  <a:pt x="74339" y="65465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3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3" y="26198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8" y="17296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8"/>
                </a:lnTo>
                <a:lnTo>
                  <a:pt x="28465" y="28464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7"/>
                </a:lnTo>
                <a:lnTo>
                  <a:pt x="28465" y="54297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8" y="54297"/>
                </a:lnTo>
                <a:lnTo>
                  <a:pt x="54630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3" y="50181"/>
                </a:lnTo>
                <a:lnTo>
                  <a:pt x="29944" y="46268"/>
                </a:lnTo>
                <a:lnTo>
                  <a:pt x="28958" y="41381"/>
                </a:lnTo>
                <a:lnTo>
                  <a:pt x="29944" y="36494"/>
                </a:lnTo>
                <a:lnTo>
                  <a:pt x="32583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1" y="28957"/>
                </a:lnTo>
                <a:lnTo>
                  <a:pt x="54298" y="28464"/>
                </a:lnTo>
                <a:lnTo>
                  <a:pt x="48517" y="24568"/>
                </a:lnTo>
                <a:lnTo>
                  <a:pt x="41381" y="23126"/>
                </a:lnTo>
                <a:close/>
              </a:path>
              <a:path w="83185" h="83185">
                <a:moveTo>
                  <a:pt x="54631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30" y="53806"/>
                </a:lnTo>
                <a:lnTo>
                  <a:pt x="58196" y="48517"/>
                </a:lnTo>
                <a:lnTo>
                  <a:pt x="59636" y="41381"/>
                </a:lnTo>
                <a:lnTo>
                  <a:pt x="58196" y="34245"/>
                </a:lnTo>
                <a:lnTo>
                  <a:pt x="54631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29324" y="3365744"/>
            <a:ext cx="840105" cy="266065"/>
          </a:xfrm>
          <a:custGeom>
            <a:avLst/>
            <a:gdLst/>
            <a:ahLst/>
            <a:cxnLst/>
            <a:rect l="l" t="t" r="r" b="b"/>
            <a:pathLst>
              <a:path w="840104" h="266064">
                <a:moveTo>
                  <a:pt x="753431" y="27505"/>
                </a:moveTo>
                <a:lnTo>
                  <a:pt x="4423" y="238438"/>
                </a:lnTo>
                <a:lnTo>
                  <a:pt x="0" y="246330"/>
                </a:lnTo>
                <a:lnTo>
                  <a:pt x="4277" y="261520"/>
                </a:lnTo>
                <a:lnTo>
                  <a:pt x="12169" y="265944"/>
                </a:lnTo>
                <a:lnTo>
                  <a:pt x="761176" y="55009"/>
                </a:lnTo>
                <a:lnTo>
                  <a:pt x="753431" y="27505"/>
                </a:lnTo>
                <a:close/>
              </a:path>
              <a:path w="840104" h="266064">
                <a:moveTo>
                  <a:pt x="836001" y="21493"/>
                </a:moveTo>
                <a:lnTo>
                  <a:pt x="774778" y="21493"/>
                </a:lnTo>
                <a:lnTo>
                  <a:pt x="782670" y="25916"/>
                </a:lnTo>
                <a:lnTo>
                  <a:pt x="786947" y="41107"/>
                </a:lnTo>
                <a:lnTo>
                  <a:pt x="782524" y="48997"/>
                </a:lnTo>
                <a:lnTo>
                  <a:pt x="761176" y="55009"/>
                </a:lnTo>
                <a:lnTo>
                  <a:pt x="768922" y="82515"/>
                </a:lnTo>
                <a:lnTo>
                  <a:pt x="836001" y="21493"/>
                </a:lnTo>
                <a:close/>
              </a:path>
              <a:path w="840104" h="266064">
                <a:moveTo>
                  <a:pt x="774778" y="21493"/>
                </a:moveTo>
                <a:lnTo>
                  <a:pt x="753431" y="27505"/>
                </a:lnTo>
                <a:lnTo>
                  <a:pt x="761176" y="55009"/>
                </a:lnTo>
                <a:lnTo>
                  <a:pt x="782524" y="48997"/>
                </a:lnTo>
                <a:lnTo>
                  <a:pt x="786947" y="41107"/>
                </a:lnTo>
                <a:lnTo>
                  <a:pt x="782670" y="25916"/>
                </a:lnTo>
                <a:lnTo>
                  <a:pt x="774778" y="21493"/>
                </a:lnTo>
                <a:close/>
              </a:path>
              <a:path w="840104" h="266064">
                <a:moveTo>
                  <a:pt x="745685" y="0"/>
                </a:moveTo>
                <a:lnTo>
                  <a:pt x="753431" y="27505"/>
                </a:lnTo>
                <a:lnTo>
                  <a:pt x="774778" y="21493"/>
                </a:lnTo>
                <a:lnTo>
                  <a:pt x="836001" y="21493"/>
                </a:lnTo>
                <a:lnTo>
                  <a:pt x="839819" y="18020"/>
                </a:lnTo>
                <a:lnTo>
                  <a:pt x="7456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609156" y="3274059"/>
            <a:ext cx="3581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40">
                <a:latin typeface="Cambria Math"/>
                <a:cs typeface="Cambria Math"/>
              </a:rPr>
              <a:t>𝐯</a:t>
            </a:r>
            <a:r>
              <a:rPr dirty="0" baseline="-16666" sz="3000">
                <a:latin typeface="Cambria Math"/>
                <a:cs typeface="Cambria Math"/>
              </a:rPr>
              <a:t>𝒂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108" y="3722115"/>
            <a:ext cx="7926070" cy="2876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233870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𝐪</a:t>
            </a:r>
            <a:endParaRPr sz="2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350">
              <a:latin typeface="Times New Roman"/>
              <a:cs typeface="Times New Roman"/>
            </a:endParaRPr>
          </a:p>
          <a:p>
            <a:pPr marL="2163445">
              <a:lnSpc>
                <a:spcPct val="100000"/>
              </a:lnSpc>
            </a:pPr>
            <a:r>
              <a:rPr dirty="0" sz="3200">
                <a:latin typeface="Cambria Math"/>
                <a:cs typeface="Cambria Math"/>
              </a:rPr>
              <a:t>𝐪 = </a:t>
            </a:r>
            <a:r>
              <a:rPr dirty="0" sz="3200" spc="300">
                <a:latin typeface="Cambria Math"/>
                <a:cs typeface="Cambria Math"/>
              </a:rPr>
              <a:t>𝐯</a:t>
            </a:r>
            <a:r>
              <a:rPr dirty="0" baseline="-15700" sz="3450" spc="450">
                <a:latin typeface="Cambria Math"/>
                <a:cs typeface="Cambria Math"/>
              </a:rPr>
              <a:t>! </a:t>
            </a:r>
            <a:r>
              <a:rPr dirty="0" sz="3200">
                <a:latin typeface="Cambria Math"/>
                <a:cs typeface="Cambria Math"/>
              </a:rPr>
              <a:t>+ </a:t>
            </a:r>
            <a:r>
              <a:rPr dirty="0" sz="3200" spc="40">
                <a:latin typeface="Cambria Math"/>
                <a:cs typeface="Cambria Math"/>
              </a:rPr>
              <a:t>𝐫</a:t>
            </a:r>
            <a:r>
              <a:rPr dirty="0" baseline="-15700" sz="3450" spc="60">
                <a:latin typeface="Cambria Math"/>
                <a:cs typeface="Cambria Math"/>
              </a:rPr>
              <a:t>" </a:t>
            </a:r>
            <a:r>
              <a:rPr dirty="0" sz="3200">
                <a:latin typeface="Cambria Math"/>
                <a:cs typeface="Cambria Math"/>
              </a:rPr>
              <a:t>+ ⋯ +</a:t>
            </a:r>
            <a:r>
              <a:rPr dirty="0" sz="3200" spc="10">
                <a:latin typeface="Cambria Math"/>
                <a:cs typeface="Cambria Math"/>
              </a:rPr>
              <a:t> </a:t>
            </a:r>
            <a:r>
              <a:rPr dirty="0" sz="3200" spc="125">
                <a:latin typeface="Cambria Math"/>
                <a:cs typeface="Cambria Math"/>
              </a:rPr>
              <a:t>𝐫</a:t>
            </a:r>
            <a:r>
              <a:rPr dirty="0" baseline="-15700" sz="3450" spc="187">
                <a:latin typeface="Cambria Math"/>
                <a:cs typeface="Cambria Math"/>
              </a:rPr>
              <a:t>*</a:t>
            </a:r>
            <a:endParaRPr baseline="-15700" sz="3450">
              <a:latin typeface="Cambria Math"/>
              <a:cs typeface="Cambria Math"/>
            </a:endParaRPr>
          </a:p>
          <a:p>
            <a:pPr marL="332740" marR="5080" indent="-320040">
              <a:lnSpc>
                <a:spcPts val="3790"/>
              </a:lnSpc>
              <a:spcBef>
                <a:spcPts val="273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embedding </a:t>
            </a:r>
            <a:r>
              <a:rPr dirty="0" sz="3200" spc="-15">
                <a:latin typeface="Calibri"/>
                <a:cs typeface="Calibri"/>
              </a:rPr>
              <a:t>process </a:t>
            </a: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only </a:t>
            </a:r>
            <a:r>
              <a:rPr dirty="0" sz="3200" spc="-20" b="1">
                <a:solidFill>
                  <a:srgbClr val="0070C0"/>
                </a:solidFill>
                <a:latin typeface="Calibri"/>
                <a:cs typeface="Calibri"/>
              </a:rPr>
              <a:t>involves </a:t>
            </a:r>
            <a:r>
              <a:rPr dirty="0" sz="3200" spc="-15" b="1">
                <a:solidFill>
                  <a:srgbClr val="0070C0"/>
                </a:solidFill>
                <a:latin typeface="Calibri"/>
                <a:cs typeface="Calibri"/>
              </a:rPr>
              <a:t>vector  </a:t>
            </a: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addition</a:t>
            </a:r>
            <a:r>
              <a:rPr dirty="0" sz="3200" spc="-5">
                <a:latin typeface="Calibri"/>
                <a:cs typeface="Calibri"/>
              </a:rPr>
              <a:t>,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independent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of #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entities </a:t>
            </a:r>
            <a:r>
              <a:rPr dirty="0" sz="3200">
                <a:latin typeface="Calibri"/>
                <a:cs typeface="Calibri"/>
              </a:rPr>
              <a:t>in the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45">
                <a:latin typeface="Calibri"/>
                <a:cs typeface="Calibri"/>
              </a:rPr>
              <a:t>KG!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16447" y="2987547"/>
            <a:ext cx="3060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85">
                <a:latin typeface="Cambria Math"/>
                <a:cs typeface="Cambria Math"/>
              </a:rPr>
              <a:t>𝐫</a:t>
            </a:r>
            <a:r>
              <a:rPr dirty="0" baseline="-16666" sz="3000" spc="547">
                <a:latin typeface="Cambria Math"/>
                <a:cs typeface="Cambria Math"/>
              </a:rPr>
              <a:t>"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40027" y="350373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25646" y="3489354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200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5"/>
                </a:lnTo>
                <a:lnTo>
                  <a:pt x="41381" y="65465"/>
                </a:lnTo>
                <a:lnTo>
                  <a:pt x="31996" y="63571"/>
                </a:lnTo>
                <a:lnTo>
                  <a:pt x="24348" y="58414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6" y="19190"/>
                </a:lnTo>
                <a:lnTo>
                  <a:pt x="41381" y="17297"/>
                </a:lnTo>
                <a:lnTo>
                  <a:pt x="74339" y="17297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8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9" y="17297"/>
                </a:moveTo>
                <a:lnTo>
                  <a:pt x="41381" y="17297"/>
                </a:lnTo>
                <a:lnTo>
                  <a:pt x="50766" y="19190"/>
                </a:lnTo>
                <a:lnTo>
                  <a:pt x="58414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4" y="58414"/>
                </a:lnTo>
                <a:lnTo>
                  <a:pt x="50766" y="63571"/>
                </a:lnTo>
                <a:lnTo>
                  <a:pt x="41381" y="65465"/>
                </a:lnTo>
                <a:lnTo>
                  <a:pt x="74339" y="65465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3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3" y="26198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9" y="17297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8"/>
                </a:lnTo>
                <a:lnTo>
                  <a:pt x="28465" y="28465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7"/>
                </a:lnTo>
                <a:lnTo>
                  <a:pt x="28465" y="54297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8" y="54297"/>
                </a:lnTo>
                <a:lnTo>
                  <a:pt x="54630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3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3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5"/>
                </a:lnTo>
                <a:lnTo>
                  <a:pt x="48517" y="24568"/>
                </a:lnTo>
                <a:lnTo>
                  <a:pt x="41381" y="23126"/>
                </a:lnTo>
                <a:close/>
              </a:path>
              <a:path w="83185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30" y="53806"/>
                </a:lnTo>
                <a:lnTo>
                  <a:pt x="58196" y="48517"/>
                </a:lnTo>
                <a:lnTo>
                  <a:pt x="59636" y="41381"/>
                </a:lnTo>
                <a:lnTo>
                  <a:pt x="58196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999675" y="3349113"/>
            <a:ext cx="748665" cy="187960"/>
          </a:xfrm>
          <a:custGeom>
            <a:avLst/>
            <a:gdLst/>
            <a:ahLst/>
            <a:cxnLst/>
            <a:rect l="l" t="t" r="r" b="b"/>
            <a:pathLst>
              <a:path w="748664" h="187960">
                <a:moveTo>
                  <a:pt x="661399" y="159680"/>
                </a:moveTo>
                <a:lnTo>
                  <a:pt x="655779" y="187697"/>
                </a:lnTo>
                <a:lnTo>
                  <a:pt x="742706" y="164042"/>
                </a:lnTo>
                <a:lnTo>
                  <a:pt x="683144" y="164042"/>
                </a:lnTo>
                <a:lnTo>
                  <a:pt x="661399" y="159680"/>
                </a:lnTo>
                <a:close/>
              </a:path>
              <a:path w="748664" h="187960">
                <a:moveTo>
                  <a:pt x="667019" y="131662"/>
                </a:moveTo>
                <a:lnTo>
                  <a:pt x="661399" y="159680"/>
                </a:lnTo>
                <a:lnTo>
                  <a:pt x="683144" y="164042"/>
                </a:lnTo>
                <a:lnTo>
                  <a:pt x="690674" y="159028"/>
                </a:lnTo>
                <a:lnTo>
                  <a:pt x="693778" y="143554"/>
                </a:lnTo>
                <a:lnTo>
                  <a:pt x="688764" y="136024"/>
                </a:lnTo>
                <a:lnTo>
                  <a:pt x="667019" y="131662"/>
                </a:lnTo>
                <a:close/>
              </a:path>
              <a:path w="748664" h="187960">
                <a:moveTo>
                  <a:pt x="672638" y="103645"/>
                </a:moveTo>
                <a:lnTo>
                  <a:pt x="667019" y="131662"/>
                </a:lnTo>
                <a:lnTo>
                  <a:pt x="688764" y="136024"/>
                </a:lnTo>
                <a:lnTo>
                  <a:pt x="693778" y="143554"/>
                </a:lnTo>
                <a:lnTo>
                  <a:pt x="690674" y="159028"/>
                </a:lnTo>
                <a:lnTo>
                  <a:pt x="683144" y="164042"/>
                </a:lnTo>
                <a:lnTo>
                  <a:pt x="742706" y="164042"/>
                </a:lnTo>
                <a:lnTo>
                  <a:pt x="748259" y="162530"/>
                </a:lnTo>
                <a:lnTo>
                  <a:pt x="672638" y="103645"/>
                </a:lnTo>
                <a:close/>
              </a:path>
              <a:path w="748664" h="187960">
                <a:moveTo>
                  <a:pt x="10633" y="0"/>
                </a:moveTo>
                <a:lnTo>
                  <a:pt x="3103" y="5012"/>
                </a:lnTo>
                <a:lnTo>
                  <a:pt x="0" y="20486"/>
                </a:lnTo>
                <a:lnTo>
                  <a:pt x="5013" y="28016"/>
                </a:lnTo>
                <a:lnTo>
                  <a:pt x="661399" y="159680"/>
                </a:lnTo>
                <a:lnTo>
                  <a:pt x="667019" y="131662"/>
                </a:lnTo>
                <a:lnTo>
                  <a:pt x="10633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355756" y="2905251"/>
            <a:ext cx="3143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20">
                <a:latin typeface="Cambria Math"/>
                <a:cs typeface="Cambria Math"/>
              </a:rPr>
              <a:t>𝐫</a:t>
            </a:r>
            <a:r>
              <a:rPr dirty="0" baseline="-16666" sz="3000" spc="-127">
                <a:latin typeface="Cambria Math"/>
                <a:cs typeface="Cambria Math"/>
              </a:rPr>
              <a:t>#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17603" y="394465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7"/>
                </a:lnTo>
                <a:lnTo>
                  <a:pt x="27000" y="53999"/>
                </a:lnTo>
                <a:lnTo>
                  <a:pt x="37510" y="51877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7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803221" y="3930276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200" y="2870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7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5"/>
                </a:lnTo>
                <a:lnTo>
                  <a:pt x="41381" y="65465"/>
                </a:lnTo>
                <a:lnTo>
                  <a:pt x="31996" y="63571"/>
                </a:lnTo>
                <a:lnTo>
                  <a:pt x="24348" y="58414"/>
                </a:lnTo>
                <a:lnTo>
                  <a:pt x="19192" y="50765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7"/>
                </a:lnTo>
                <a:lnTo>
                  <a:pt x="31996" y="19190"/>
                </a:lnTo>
                <a:lnTo>
                  <a:pt x="41381" y="17296"/>
                </a:lnTo>
                <a:lnTo>
                  <a:pt x="74338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8" y="3604"/>
                </a:lnTo>
                <a:lnTo>
                  <a:pt x="56564" y="2870"/>
                </a:lnTo>
                <a:lnTo>
                  <a:pt x="42343" y="0"/>
                </a:lnTo>
                <a:close/>
              </a:path>
              <a:path w="83185" h="83185">
                <a:moveTo>
                  <a:pt x="74338" y="17296"/>
                </a:moveTo>
                <a:lnTo>
                  <a:pt x="41381" y="17296"/>
                </a:lnTo>
                <a:lnTo>
                  <a:pt x="50766" y="19190"/>
                </a:lnTo>
                <a:lnTo>
                  <a:pt x="58414" y="24347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5"/>
                </a:lnTo>
                <a:lnTo>
                  <a:pt x="58414" y="58414"/>
                </a:lnTo>
                <a:lnTo>
                  <a:pt x="50766" y="63571"/>
                </a:lnTo>
                <a:lnTo>
                  <a:pt x="41381" y="65465"/>
                </a:lnTo>
                <a:lnTo>
                  <a:pt x="74338" y="65465"/>
                </a:lnTo>
                <a:lnTo>
                  <a:pt x="82763" y="40420"/>
                </a:lnTo>
                <a:lnTo>
                  <a:pt x="79893" y="26198"/>
                </a:lnTo>
                <a:lnTo>
                  <a:pt x="79210" y="24566"/>
                </a:lnTo>
                <a:lnTo>
                  <a:pt x="79093" y="24347"/>
                </a:lnTo>
                <a:lnTo>
                  <a:pt x="74338" y="17296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6"/>
                </a:lnTo>
                <a:lnTo>
                  <a:pt x="28465" y="28464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9" y="48517"/>
                </a:lnTo>
                <a:lnTo>
                  <a:pt x="28465" y="54297"/>
                </a:lnTo>
                <a:lnTo>
                  <a:pt x="34245" y="58195"/>
                </a:lnTo>
                <a:lnTo>
                  <a:pt x="41381" y="59635"/>
                </a:lnTo>
                <a:lnTo>
                  <a:pt x="48517" y="58195"/>
                </a:lnTo>
                <a:lnTo>
                  <a:pt x="54298" y="54297"/>
                </a:lnTo>
                <a:lnTo>
                  <a:pt x="54631" y="53804"/>
                </a:lnTo>
                <a:lnTo>
                  <a:pt x="41381" y="53804"/>
                </a:lnTo>
                <a:lnTo>
                  <a:pt x="36494" y="52819"/>
                </a:lnTo>
                <a:lnTo>
                  <a:pt x="32581" y="50180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1" y="28957"/>
                </a:lnTo>
                <a:lnTo>
                  <a:pt x="54298" y="28464"/>
                </a:lnTo>
                <a:lnTo>
                  <a:pt x="48517" y="24566"/>
                </a:lnTo>
                <a:lnTo>
                  <a:pt x="41381" y="23126"/>
                </a:lnTo>
                <a:close/>
              </a:path>
              <a:path w="83185" h="83185">
                <a:moveTo>
                  <a:pt x="54631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0"/>
                </a:lnTo>
                <a:lnTo>
                  <a:pt x="46268" y="52819"/>
                </a:lnTo>
                <a:lnTo>
                  <a:pt x="41381" y="53804"/>
                </a:lnTo>
                <a:lnTo>
                  <a:pt x="54631" y="53804"/>
                </a:lnTo>
                <a:lnTo>
                  <a:pt x="58196" y="48516"/>
                </a:lnTo>
                <a:lnTo>
                  <a:pt x="59636" y="41381"/>
                </a:lnTo>
                <a:lnTo>
                  <a:pt x="58196" y="34245"/>
                </a:lnTo>
                <a:lnTo>
                  <a:pt x="54631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268177" y="3760631"/>
            <a:ext cx="557530" cy="206375"/>
          </a:xfrm>
          <a:custGeom>
            <a:avLst/>
            <a:gdLst/>
            <a:ahLst/>
            <a:cxnLst/>
            <a:rect l="l" t="t" r="r" b="b"/>
            <a:pathLst>
              <a:path w="557529" h="206375">
                <a:moveTo>
                  <a:pt x="471390" y="179029"/>
                </a:moveTo>
                <a:lnTo>
                  <a:pt x="462559" y="206204"/>
                </a:lnTo>
                <a:lnTo>
                  <a:pt x="557334" y="191935"/>
                </a:lnTo>
                <a:lnTo>
                  <a:pt x="551190" y="185883"/>
                </a:lnTo>
                <a:lnTo>
                  <a:pt x="492483" y="185883"/>
                </a:lnTo>
                <a:lnTo>
                  <a:pt x="471390" y="179029"/>
                </a:lnTo>
                <a:close/>
              </a:path>
              <a:path w="557529" h="206375">
                <a:moveTo>
                  <a:pt x="480222" y="151852"/>
                </a:moveTo>
                <a:lnTo>
                  <a:pt x="471390" y="179029"/>
                </a:lnTo>
                <a:lnTo>
                  <a:pt x="492483" y="185883"/>
                </a:lnTo>
                <a:lnTo>
                  <a:pt x="500543" y="181776"/>
                </a:lnTo>
                <a:lnTo>
                  <a:pt x="505420" y="166767"/>
                </a:lnTo>
                <a:lnTo>
                  <a:pt x="501314" y="158706"/>
                </a:lnTo>
                <a:lnTo>
                  <a:pt x="480222" y="151852"/>
                </a:lnTo>
                <a:close/>
              </a:path>
              <a:path w="557529" h="206375">
                <a:moveTo>
                  <a:pt x="489054" y="124675"/>
                </a:moveTo>
                <a:lnTo>
                  <a:pt x="480222" y="151852"/>
                </a:lnTo>
                <a:lnTo>
                  <a:pt x="501314" y="158706"/>
                </a:lnTo>
                <a:lnTo>
                  <a:pt x="505420" y="166767"/>
                </a:lnTo>
                <a:lnTo>
                  <a:pt x="500543" y="181776"/>
                </a:lnTo>
                <a:lnTo>
                  <a:pt x="492483" y="185883"/>
                </a:lnTo>
                <a:lnTo>
                  <a:pt x="551190" y="185883"/>
                </a:lnTo>
                <a:lnTo>
                  <a:pt x="489054" y="124675"/>
                </a:lnTo>
                <a:close/>
              </a:path>
              <a:path w="557529" h="206375">
                <a:moveTo>
                  <a:pt x="12937" y="0"/>
                </a:moveTo>
                <a:lnTo>
                  <a:pt x="4876" y="4105"/>
                </a:lnTo>
                <a:lnTo>
                  <a:pt x="0" y="19116"/>
                </a:lnTo>
                <a:lnTo>
                  <a:pt x="4105" y="27175"/>
                </a:lnTo>
                <a:lnTo>
                  <a:pt x="471390" y="179029"/>
                </a:lnTo>
                <a:lnTo>
                  <a:pt x="480222" y="151852"/>
                </a:lnTo>
                <a:lnTo>
                  <a:pt x="12937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471528" y="3316732"/>
            <a:ext cx="3321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20">
                <a:latin typeface="Cambria Math"/>
                <a:cs typeface="Cambria Math"/>
              </a:rPr>
              <a:t>𝐫</a:t>
            </a:r>
            <a:r>
              <a:rPr dirty="0" baseline="-16666" sz="3000" spc="419">
                <a:latin typeface="Cambria Math"/>
                <a:cs typeface="Cambria Math"/>
              </a:rPr>
              <a:t>$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18</a:t>
            </a:fld>
          </a:p>
        </p:txBody>
      </p:sp>
      <p:sp>
        <p:nvSpPr>
          <p:cNvPr id="24" name="object 24"/>
          <p:cNvSpPr txBox="1"/>
          <p:nvPr/>
        </p:nvSpPr>
        <p:spPr>
          <a:xfrm>
            <a:off x="4962287" y="3495547"/>
            <a:ext cx="197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…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24204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7115175" cy="13087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454"/>
              </a:lnSpc>
              <a:spcBef>
                <a:spcPts val="100"/>
              </a:spcBef>
            </a:pPr>
            <a:r>
              <a:rPr dirty="0" sz="3000" spc="-5" b="1" i="0">
                <a:solidFill>
                  <a:srgbClr val="C00000"/>
                </a:solidFill>
                <a:latin typeface="Calibri"/>
                <a:cs typeface="Calibri"/>
              </a:rPr>
              <a:t>Embed </a:t>
            </a:r>
            <a:r>
              <a:rPr dirty="0" sz="3000" spc="-10" b="1" i="0">
                <a:solidFill>
                  <a:srgbClr val="C00000"/>
                </a:solidFill>
                <a:latin typeface="Calibri"/>
                <a:cs typeface="Calibri"/>
              </a:rPr>
              <a:t>path </a:t>
            </a:r>
            <a:r>
              <a:rPr dirty="0" sz="3000" spc="-5" b="1" i="0">
                <a:solidFill>
                  <a:srgbClr val="C00000"/>
                </a:solidFill>
                <a:latin typeface="Calibri"/>
                <a:cs typeface="Calibri"/>
              </a:rPr>
              <a:t>queries in </a:t>
            </a:r>
            <a:r>
              <a:rPr dirty="0" sz="3000" spc="-15" b="1" i="0">
                <a:solidFill>
                  <a:srgbClr val="C00000"/>
                </a:solidFill>
                <a:latin typeface="Calibri"/>
                <a:cs typeface="Calibri"/>
              </a:rPr>
              <a:t>vector</a:t>
            </a:r>
            <a:r>
              <a:rPr dirty="0" sz="3000" spc="-20" b="1" i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5" b="1" i="0">
                <a:solidFill>
                  <a:srgbClr val="C00000"/>
                </a:solidFill>
                <a:latin typeface="Calibri"/>
                <a:cs typeface="Calibri"/>
              </a:rPr>
              <a:t>space.</a:t>
            </a:r>
            <a:endParaRPr sz="3000">
              <a:latin typeface="Calibri"/>
              <a:cs typeface="Calibri"/>
            </a:endParaRPr>
          </a:p>
          <a:p>
            <a:pPr marL="332740" marR="5080" indent="-320040">
              <a:lnSpc>
                <a:spcPts val="3190"/>
              </a:lnSpc>
              <a:spcBef>
                <a:spcPts val="3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i="0">
                <a:latin typeface="Calibri"/>
                <a:cs typeface="Calibri"/>
              </a:rPr>
              <a:t>“</a:t>
            </a:r>
            <a:r>
              <a:rPr dirty="0" sz="3000" spc="-5"/>
              <a:t>What </a:t>
            </a:r>
            <a:r>
              <a:rPr dirty="0" sz="3000" spc="-10"/>
              <a:t>proteins </a:t>
            </a:r>
            <a:r>
              <a:rPr dirty="0" sz="3000" spc="-5"/>
              <a:t>are </a:t>
            </a:r>
            <a:r>
              <a:rPr dirty="0" sz="3000" spc="-5" b="1">
                <a:solidFill>
                  <a:srgbClr val="479249"/>
                </a:solidFill>
                <a:latin typeface="Calibri"/>
                <a:cs typeface="Calibri"/>
              </a:rPr>
              <a:t>associated </a:t>
            </a:r>
            <a:r>
              <a:rPr dirty="0" sz="3000" spc="-5"/>
              <a:t>with adverse  </a:t>
            </a:r>
            <a:r>
              <a:rPr dirty="0" sz="3000" spc="-10" i="1"/>
              <a:t>events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caused </a:t>
            </a:r>
            <a:r>
              <a:rPr dirty="0" sz="3000" spc="-10"/>
              <a:t>by</a:t>
            </a:r>
            <a:r>
              <a:rPr dirty="0" sz="3000" spc="-65"/>
              <a:t>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Fulvestrant</a:t>
            </a:r>
            <a:r>
              <a:rPr dirty="0" sz="3000" spc="-10"/>
              <a:t>?</a:t>
            </a:r>
            <a:r>
              <a:rPr dirty="0" sz="3000" spc="-10" i="0">
                <a:latin typeface="Calibri"/>
                <a:cs typeface="Calibri"/>
              </a:rPr>
              <a:t>”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541523"/>
            <a:ext cx="5791835" cy="89154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 marR="5080">
              <a:lnSpc>
                <a:spcPts val="3220"/>
              </a:lnSpc>
              <a:spcBef>
                <a:spcPts val="52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>
                <a:latin typeface="Calibri"/>
                <a:cs typeface="Calibri"/>
              </a:rPr>
              <a:t>(</a:t>
            </a:r>
            <a:r>
              <a:rPr dirty="0" sz="3000" spc="-15" b="1">
                <a:solidFill>
                  <a:srgbClr val="0070C0"/>
                </a:solidFill>
                <a:latin typeface="Calibri"/>
                <a:cs typeface="Calibri"/>
              </a:rPr>
              <a:t>e:Fulvestrant</a:t>
            </a:r>
            <a:r>
              <a:rPr dirty="0" sz="3000" spc="-15">
                <a:latin typeface="Calibri"/>
                <a:cs typeface="Calibri"/>
              </a:rPr>
              <a:t>, </a:t>
            </a:r>
            <a:r>
              <a:rPr dirty="0" sz="3000" spc="-5">
                <a:latin typeface="Calibri"/>
                <a:cs typeface="Calibri"/>
              </a:rPr>
              <a:t>(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r:Causes </a:t>
            </a:r>
            <a:r>
              <a:rPr dirty="0" sz="3000">
                <a:latin typeface="Calibri"/>
                <a:cs typeface="Calibri"/>
              </a:rPr>
              <a:t>, </a:t>
            </a:r>
            <a:r>
              <a:rPr dirty="0" sz="3000" spc="-5" b="1">
                <a:solidFill>
                  <a:srgbClr val="479249"/>
                </a:solidFill>
                <a:latin typeface="Calibri"/>
                <a:cs typeface="Calibri"/>
              </a:rPr>
              <a:t>r:Assoc</a:t>
            </a:r>
            <a:r>
              <a:rPr dirty="0" sz="3000" spc="-5">
                <a:latin typeface="Calibri"/>
                <a:cs typeface="Calibri"/>
              </a:rPr>
              <a:t>)) </a:t>
            </a:r>
            <a:r>
              <a:rPr dirty="0" sz="3000" spc="-5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60B5CC"/>
                </a:solidFill>
                <a:latin typeface="Calibri"/>
                <a:cs typeface="Calibri"/>
              </a:rPr>
              <a:t>Follow </a:t>
            </a:r>
            <a:r>
              <a:rPr dirty="0" sz="3000" spc="-5" b="1">
                <a:solidFill>
                  <a:srgbClr val="60B5CC"/>
                </a:solidFill>
                <a:latin typeface="Calibri"/>
                <a:cs typeface="Calibri"/>
              </a:rPr>
              <a:t>the </a:t>
            </a:r>
            <a:r>
              <a:rPr dirty="0" sz="3000" b="1">
                <a:solidFill>
                  <a:srgbClr val="60B5CC"/>
                </a:solidFill>
                <a:latin typeface="Calibri"/>
                <a:cs typeface="Calibri"/>
              </a:rPr>
              <a:t>query</a:t>
            </a:r>
            <a:r>
              <a:rPr dirty="0" sz="3000" spc="-5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60B5CC"/>
                </a:solidFill>
                <a:latin typeface="Calibri"/>
                <a:cs typeface="Calibri"/>
              </a:rPr>
              <a:t>plan: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804" y="4790947"/>
            <a:ext cx="777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Fulvestrant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52442" y="483633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52442" y="483633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28095" y="3448811"/>
            <a:ext cx="13652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Query</a:t>
            </a:r>
            <a:r>
              <a:rPr dirty="0" sz="2000" spc="-9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Plan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77877" y="4089908"/>
            <a:ext cx="777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Fulvestrant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31356" y="419839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7"/>
                </a:lnTo>
                <a:lnTo>
                  <a:pt x="2121" y="16489"/>
                </a:lnTo>
                <a:lnTo>
                  <a:pt x="0" y="26998"/>
                </a:lnTo>
                <a:lnTo>
                  <a:pt x="2121" y="37508"/>
                </a:lnTo>
                <a:lnTo>
                  <a:pt x="7908" y="46091"/>
                </a:lnTo>
                <a:lnTo>
                  <a:pt x="16490" y="51877"/>
                </a:lnTo>
                <a:lnTo>
                  <a:pt x="27000" y="53999"/>
                </a:lnTo>
                <a:lnTo>
                  <a:pt x="37510" y="51877"/>
                </a:lnTo>
                <a:lnTo>
                  <a:pt x="46092" y="46091"/>
                </a:lnTo>
                <a:lnTo>
                  <a:pt x="51878" y="37508"/>
                </a:lnTo>
                <a:lnTo>
                  <a:pt x="54000" y="26998"/>
                </a:lnTo>
                <a:lnTo>
                  <a:pt x="51878" y="16489"/>
                </a:lnTo>
                <a:lnTo>
                  <a:pt x="46092" y="7907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31356" y="419839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623980" y="3464052"/>
            <a:ext cx="24695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Embedding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Process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24204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2804" y="4790947"/>
            <a:ext cx="777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Fulvestrant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6512" y="4975859"/>
            <a:ext cx="6096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au</a:t>
            </a:r>
            <a:r>
              <a:rPr dirty="0" sz="1400" spc="-25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dirty="0" sz="1400">
                <a:solidFill>
                  <a:srgbClr val="C00000"/>
                </a:solidFill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2442" y="483633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52442" y="483633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19442" y="4837818"/>
            <a:ext cx="1089660" cy="161925"/>
          </a:xfrm>
          <a:custGeom>
            <a:avLst/>
            <a:gdLst/>
            <a:ahLst/>
            <a:cxnLst/>
            <a:rect l="l" t="t" r="r" b="b"/>
            <a:pathLst>
              <a:path w="1089660" h="161925">
                <a:moveTo>
                  <a:pt x="927141" y="107949"/>
                </a:moveTo>
                <a:lnTo>
                  <a:pt x="927075" y="161924"/>
                </a:lnTo>
                <a:lnTo>
                  <a:pt x="1035292" y="107983"/>
                </a:lnTo>
                <a:lnTo>
                  <a:pt x="954129" y="107983"/>
                </a:lnTo>
                <a:lnTo>
                  <a:pt x="927141" y="107949"/>
                </a:lnTo>
                <a:close/>
              </a:path>
              <a:path w="1089660" h="161925">
                <a:moveTo>
                  <a:pt x="927207" y="53974"/>
                </a:moveTo>
                <a:lnTo>
                  <a:pt x="927141" y="107949"/>
                </a:lnTo>
                <a:lnTo>
                  <a:pt x="954129" y="107983"/>
                </a:lnTo>
                <a:lnTo>
                  <a:pt x="954195" y="54008"/>
                </a:lnTo>
                <a:lnTo>
                  <a:pt x="927207" y="53974"/>
                </a:lnTo>
                <a:close/>
              </a:path>
              <a:path w="1089660" h="161925">
                <a:moveTo>
                  <a:pt x="927273" y="0"/>
                </a:moveTo>
                <a:lnTo>
                  <a:pt x="927207" y="53974"/>
                </a:lnTo>
                <a:lnTo>
                  <a:pt x="954195" y="54008"/>
                </a:lnTo>
                <a:lnTo>
                  <a:pt x="954129" y="107983"/>
                </a:lnTo>
                <a:lnTo>
                  <a:pt x="1035292" y="107983"/>
                </a:lnTo>
                <a:lnTo>
                  <a:pt x="1089099" y="81161"/>
                </a:lnTo>
                <a:lnTo>
                  <a:pt x="927273" y="0"/>
                </a:lnTo>
                <a:close/>
              </a:path>
              <a:path w="1089660" h="161925">
                <a:moveTo>
                  <a:pt x="66" y="52838"/>
                </a:moveTo>
                <a:lnTo>
                  <a:pt x="0" y="106813"/>
                </a:lnTo>
                <a:lnTo>
                  <a:pt x="927141" y="107949"/>
                </a:lnTo>
                <a:lnTo>
                  <a:pt x="927207" y="53974"/>
                </a:lnTo>
                <a:lnTo>
                  <a:pt x="66" y="5283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308541" y="483767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08541" y="483767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062924" y="4220457"/>
            <a:ext cx="1532890" cy="734695"/>
          </a:xfrm>
          <a:custGeom>
            <a:avLst/>
            <a:gdLst/>
            <a:ahLst/>
            <a:cxnLst/>
            <a:rect l="l" t="t" r="r" b="b"/>
            <a:pathLst>
              <a:path w="1532890" h="734695">
                <a:moveTo>
                  <a:pt x="10844" y="0"/>
                </a:moveTo>
                <a:lnTo>
                  <a:pt x="0" y="22967"/>
                </a:lnTo>
                <a:lnTo>
                  <a:pt x="68906" y="55500"/>
                </a:lnTo>
                <a:lnTo>
                  <a:pt x="79750" y="32531"/>
                </a:lnTo>
                <a:lnTo>
                  <a:pt x="10844" y="0"/>
                </a:lnTo>
                <a:close/>
              </a:path>
              <a:path w="1532890" h="734695">
                <a:moveTo>
                  <a:pt x="102720" y="43375"/>
                </a:moveTo>
                <a:lnTo>
                  <a:pt x="91875" y="66344"/>
                </a:lnTo>
                <a:lnTo>
                  <a:pt x="160781" y="98875"/>
                </a:lnTo>
                <a:lnTo>
                  <a:pt x="171626" y="75906"/>
                </a:lnTo>
                <a:lnTo>
                  <a:pt x="102720" y="43375"/>
                </a:lnTo>
                <a:close/>
              </a:path>
              <a:path w="1532890" h="734695">
                <a:moveTo>
                  <a:pt x="194594" y="86751"/>
                </a:moveTo>
                <a:lnTo>
                  <a:pt x="183751" y="109720"/>
                </a:lnTo>
                <a:lnTo>
                  <a:pt x="252657" y="142251"/>
                </a:lnTo>
                <a:lnTo>
                  <a:pt x="263502" y="119282"/>
                </a:lnTo>
                <a:lnTo>
                  <a:pt x="194594" y="86751"/>
                </a:lnTo>
                <a:close/>
              </a:path>
              <a:path w="1532890" h="734695">
                <a:moveTo>
                  <a:pt x="286470" y="130126"/>
                </a:moveTo>
                <a:lnTo>
                  <a:pt x="275626" y="153095"/>
                </a:lnTo>
                <a:lnTo>
                  <a:pt x="344533" y="185627"/>
                </a:lnTo>
                <a:lnTo>
                  <a:pt x="355377" y="162657"/>
                </a:lnTo>
                <a:lnTo>
                  <a:pt x="286470" y="130126"/>
                </a:lnTo>
                <a:close/>
              </a:path>
              <a:path w="1532890" h="734695">
                <a:moveTo>
                  <a:pt x="378345" y="173502"/>
                </a:moveTo>
                <a:lnTo>
                  <a:pt x="367502" y="196471"/>
                </a:lnTo>
                <a:lnTo>
                  <a:pt x="436408" y="229002"/>
                </a:lnTo>
                <a:lnTo>
                  <a:pt x="447253" y="206034"/>
                </a:lnTo>
                <a:lnTo>
                  <a:pt x="378345" y="173502"/>
                </a:lnTo>
                <a:close/>
              </a:path>
              <a:path w="1532890" h="734695">
                <a:moveTo>
                  <a:pt x="470221" y="216877"/>
                </a:moveTo>
                <a:lnTo>
                  <a:pt x="459378" y="239847"/>
                </a:lnTo>
                <a:lnTo>
                  <a:pt x="528284" y="272378"/>
                </a:lnTo>
                <a:lnTo>
                  <a:pt x="539127" y="249410"/>
                </a:lnTo>
                <a:lnTo>
                  <a:pt x="470221" y="216877"/>
                </a:lnTo>
                <a:close/>
              </a:path>
              <a:path w="1532890" h="734695">
                <a:moveTo>
                  <a:pt x="562096" y="260253"/>
                </a:moveTo>
                <a:lnTo>
                  <a:pt x="551253" y="283222"/>
                </a:lnTo>
                <a:lnTo>
                  <a:pt x="620160" y="315753"/>
                </a:lnTo>
                <a:lnTo>
                  <a:pt x="631003" y="292785"/>
                </a:lnTo>
                <a:lnTo>
                  <a:pt x="562096" y="260253"/>
                </a:lnTo>
                <a:close/>
              </a:path>
              <a:path w="1532890" h="734695">
                <a:moveTo>
                  <a:pt x="653972" y="303629"/>
                </a:moveTo>
                <a:lnTo>
                  <a:pt x="643129" y="326598"/>
                </a:lnTo>
                <a:lnTo>
                  <a:pt x="712035" y="359129"/>
                </a:lnTo>
                <a:lnTo>
                  <a:pt x="722878" y="336161"/>
                </a:lnTo>
                <a:lnTo>
                  <a:pt x="653972" y="303629"/>
                </a:lnTo>
                <a:close/>
              </a:path>
              <a:path w="1532890" h="734695">
                <a:moveTo>
                  <a:pt x="745848" y="347004"/>
                </a:moveTo>
                <a:lnTo>
                  <a:pt x="735003" y="369973"/>
                </a:lnTo>
                <a:lnTo>
                  <a:pt x="803911" y="402506"/>
                </a:lnTo>
                <a:lnTo>
                  <a:pt x="814754" y="379536"/>
                </a:lnTo>
                <a:lnTo>
                  <a:pt x="745848" y="347004"/>
                </a:lnTo>
                <a:close/>
              </a:path>
              <a:path w="1532890" h="734695">
                <a:moveTo>
                  <a:pt x="837723" y="390380"/>
                </a:moveTo>
                <a:lnTo>
                  <a:pt x="826879" y="413349"/>
                </a:lnTo>
                <a:lnTo>
                  <a:pt x="895786" y="445881"/>
                </a:lnTo>
                <a:lnTo>
                  <a:pt x="906630" y="422912"/>
                </a:lnTo>
                <a:lnTo>
                  <a:pt x="837723" y="390380"/>
                </a:lnTo>
                <a:close/>
              </a:path>
              <a:path w="1532890" h="734695">
                <a:moveTo>
                  <a:pt x="929599" y="433755"/>
                </a:moveTo>
                <a:lnTo>
                  <a:pt x="918754" y="456725"/>
                </a:lnTo>
                <a:lnTo>
                  <a:pt x="987662" y="489257"/>
                </a:lnTo>
                <a:lnTo>
                  <a:pt x="998505" y="466288"/>
                </a:lnTo>
                <a:lnTo>
                  <a:pt x="929599" y="433755"/>
                </a:lnTo>
                <a:close/>
              </a:path>
              <a:path w="1532890" h="734695">
                <a:moveTo>
                  <a:pt x="1021474" y="477131"/>
                </a:moveTo>
                <a:lnTo>
                  <a:pt x="1010630" y="500100"/>
                </a:lnTo>
                <a:lnTo>
                  <a:pt x="1079536" y="532632"/>
                </a:lnTo>
                <a:lnTo>
                  <a:pt x="1090381" y="509663"/>
                </a:lnTo>
                <a:lnTo>
                  <a:pt x="1021474" y="477131"/>
                </a:lnTo>
                <a:close/>
              </a:path>
              <a:path w="1532890" h="734695">
                <a:moveTo>
                  <a:pt x="1113350" y="520506"/>
                </a:moveTo>
                <a:lnTo>
                  <a:pt x="1102506" y="543476"/>
                </a:lnTo>
                <a:lnTo>
                  <a:pt x="1171412" y="576008"/>
                </a:lnTo>
                <a:lnTo>
                  <a:pt x="1182256" y="553039"/>
                </a:lnTo>
                <a:lnTo>
                  <a:pt x="1113350" y="520506"/>
                </a:lnTo>
                <a:close/>
              </a:path>
              <a:path w="1532890" h="734695">
                <a:moveTo>
                  <a:pt x="1205226" y="563883"/>
                </a:moveTo>
                <a:lnTo>
                  <a:pt x="1194381" y="586851"/>
                </a:lnTo>
                <a:lnTo>
                  <a:pt x="1263288" y="619384"/>
                </a:lnTo>
                <a:lnTo>
                  <a:pt x="1274132" y="596414"/>
                </a:lnTo>
                <a:lnTo>
                  <a:pt x="1205226" y="563883"/>
                </a:lnTo>
                <a:close/>
              </a:path>
              <a:path w="1532890" h="734695">
                <a:moveTo>
                  <a:pt x="1297101" y="607259"/>
                </a:moveTo>
                <a:lnTo>
                  <a:pt x="1286257" y="630227"/>
                </a:lnTo>
                <a:lnTo>
                  <a:pt x="1355163" y="662759"/>
                </a:lnTo>
                <a:lnTo>
                  <a:pt x="1366008" y="639790"/>
                </a:lnTo>
                <a:lnTo>
                  <a:pt x="1297101" y="607259"/>
                </a:lnTo>
                <a:close/>
              </a:path>
              <a:path w="1532890" h="734695">
                <a:moveTo>
                  <a:pt x="1480174" y="665601"/>
                </a:moveTo>
                <a:lnTo>
                  <a:pt x="1447643" y="734508"/>
                </a:lnTo>
                <a:lnTo>
                  <a:pt x="1532816" y="732586"/>
                </a:lnTo>
                <a:lnTo>
                  <a:pt x="1480174" y="665601"/>
                </a:lnTo>
                <a:close/>
              </a:path>
              <a:path w="1532890" h="734695">
                <a:moveTo>
                  <a:pt x="1388977" y="650634"/>
                </a:moveTo>
                <a:lnTo>
                  <a:pt x="1378132" y="673602"/>
                </a:lnTo>
                <a:lnTo>
                  <a:pt x="1447039" y="706135"/>
                </a:lnTo>
                <a:lnTo>
                  <a:pt x="1457883" y="683166"/>
                </a:lnTo>
                <a:lnTo>
                  <a:pt x="1388977" y="65063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568950" y="5226811"/>
            <a:ext cx="600710" cy="34861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 marR="5080" indent="55244">
              <a:lnSpc>
                <a:spcPct val="76700"/>
              </a:lnSpc>
              <a:spcBef>
                <a:spcPts val="434"/>
              </a:spcBef>
            </a:pPr>
            <a:r>
              <a:rPr dirty="0" sz="1200" spc="-10">
                <a:latin typeface="Arial"/>
                <a:cs typeface="Arial"/>
              </a:rPr>
              <a:t>Kidney  </a:t>
            </a:r>
            <a:r>
              <a:rPr dirty="0" sz="1200">
                <a:latin typeface="Arial"/>
                <a:cs typeface="Arial"/>
              </a:rPr>
              <a:t>I</a:t>
            </a:r>
            <a:r>
              <a:rPr dirty="0" sz="1200" spc="-5">
                <a:latin typeface="Arial"/>
                <a:cs typeface="Arial"/>
              </a:rPr>
              <a:t>n</a:t>
            </a:r>
            <a:r>
              <a:rPr dirty="0" sz="1200">
                <a:latin typeface="Arial"/>
                <a:cs typeface="Arial"/>
              </a:rPr>
              <a:t>f</a:t>
            </a:r>
            <a:r>
              <a:rPr dirty="0" sz="1200" spc="-5">
                <a:latin typeface="Arial"/>
                <a:cs typeface="Arial"/>
              </a:rPr>
              <a:t>e</a:t>
            </a:r>
            <a:r>
              <a:rPr dirty="0" sz="1200">
                <a:latin typeface="Arial"/>
                <a:cs typeface="Arial"/>
              </a:rPr>
              <a:t>ct</a:t>
            </a:r>
            <a:r>
              <a:rPr dirty="0" sz="1200" spc="-5">
                <a:latin typeface="Arial"/>
                <a:cs typeface="Arial"/>
              </a:rPr>
              <a:t>io</a:t>
            </a:r>
            <a:r>
              <a:rPr dirty="0" sz="1200">
                <a:latin typeface="Arial"/>
                <a:cs typeface="Arial"/>
              </a:rPr>
              <a:t>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16016" y="5327396"/>
            <a:ext cx="558800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55244" marR="5080" indent="-43180">
              <a:lnSpc>
                <a:spcPts val="1390"/>
              </a:lnSpc>
              <a:spcBef>
                <a:spcPts val="185"/>
              </a:spcBef>
            </a:pPr>
            <a:r>
              <a:rPr dirty="0" sz="1200" spc="-5">
                <a:latin typeface="Arial"/>
                <a:cs typeface="Arial"/>
              </a:rPr>
              <a:t>Short</a:t>
            </a:r>
            <a:r>
              <a:rPr dirty="0" sz="1200" spc="-85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of  Breath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92776" y="4391659"/>
            <a:ext cx="10121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Brain</a:t>
            </a:r>
            <a:r>
              <a:rPr dirty="0" sz="1200" spc="-7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Bleeding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77877" y="4089908"/>
            <a:ext cx="777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Fulvestrant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31356" y="419839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7"/>
                </a:lnTo>
                <a:lnTo>
                  <a:pt x="2121" y="16489"/>
                </a:lnTo>
                <a:lnTo>
                  <a:pt x="0" y="26998"/>
                </a:lnTo>
                <a:lnTo>
                  <a:pt x="2121" y="37508"/>
                </a:lnTo>
                <a:lnTo>
                  <a:pt x="7908" y="46091"/>
                </a:lnTo>
                <a:lnTo>
                  <a:pt x="16490" y="51877"/>
                </a:lnTo>
                <a:lnTo>
                  <a:pt x="27000" y="53999"/>
                </a:lnTo>
                <a:lnTo>
                  <a:pt x="37510" y="51877"/>
                </a:lnTo>
                <a:lnTo>
                  <a:pt x="46092" y="46091"/>
                </a:lnTo>
                <a:lnTo>
                  <a:pt x="51878" y="37508"/>
                </a:lnTo>
                <a:lnTo>
                  <a:pt x="54000" y="26998"/>
                </a:lnTo>
                <a:lnTo>
                  <a:pt x="51878" y="16489"/>
                </a:lnTo>
                <a:lnTo>
                  <a:pt x="46092" y="7907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031356" y="419839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249687" y="523091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249687" y="523091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772585" y="513005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772585" y="513005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814988" y="464820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814988" y="464820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623980" y="3464052"/>
            <a:ext cx="24695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Embedding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Process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557054" y="490756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2"/>
                </a:lnTo>
                <a:lnTo>
                  <a:pt x="51878" y="37510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8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557054" y="490756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297356" y="4530174"/>
            <a:ext cx="716915" cy="65532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algn="ctr" marL="67945">
              <a:lnSpc>
                <a:spcPct val="100000"/>
              </a:lnSpc>
              <a:spcBef>
                <a:spcPts val="1090"/>
              </a:spcBef>
            </a:pP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Causes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dirty="0" sz="1200" spc="-5">
                <a:latin typeface="Arial"/>
                <a:cs typeface="Arial"/>
              </a:rPr>
              <a:t>Heada</a:t>
            </a:r>
            <a:r>
              <a:rPr dirty="0" sz="1200">
                <a:latin typeface="Arial"/>
                <a:cs typeface="Arial"/>
              </a:rPr>
              <a:t>c</a:t>
            </a:r>
            <a:r>
              <a:rPr dirty="0" sz="1200" spc="-5">
                <a:latin typeface="Arial"/>
                <a:cs typeface="Arial"/>
              </a:rPr>
              <a:t>h</a:t>
            </a:r>
            <a:r>
              <a:rPr dirty="0" sz="1200"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141284" y="505305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2"/>
                </a:lnTo>
                <a:lnTo>
                  <a:pt x="51877" y="37510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141284" y="505305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7115175" cy="13087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454"/>
              </a:lnSpc>
              <a:spcBef>
                <a:spcPts val="100"/>
              </a:spcBef>
            </a:pPr>
            <a:r>
              <a:rPr dirty="0" sz="3000" spc="-5" b="1" i="0">
                <a:solidFill>
                  <a:srgbClr val="C00000"/>
                </a:solidFill>
                <a:latin typeface="Calibri"/>
                <a:cs typeface="Calibri"/>
              </a:rPr>
              <a:t>Embed </a:t>
            </a:r>
            <a:r>
              <a:rPr dirty="0" sz="3000" spc="-10" b="1" i="0">
                <a:solidFill>
                  <a:srgbClr val="C00000"/>
                </a:solidFill>
                <a:latin typeface="Calibri"/>
                <a:cs typeface="Calibri"/>
              </a:rPr>
              <a:t>path </a:t>
            </a:r>
            <a:r>
              <a:rPr dirty="0" sz="3000" spc="-5" b="1" i="0">
                <a:solidFill>
                  <a:srgbClr val="C00000"/>
                </a:solidFill>
                <a:latin typeface="Calibri"/>
                <a:cs typeface="Calibri"/>
              </a:rPr>
              <a:t>queries in </a:t>
            </a:r>
            <a:r>
              <a:rPr dirty="0" sz="3000" spc="-15" b="1" i="0">
                <a:solidFill>
                  <a:srgbClr val="C00000"/>
                </a:solidFill>
                <a:latin typeface="Calibri"/>
                <a:cs typeface="Calibri"/>
              </a:rPr>
              <a:t>vector</a:t>
            </a:r>
            <a:r>
              <a:rPr dirty="0" sz="3000" spc="-20" b="1" i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5" b="1" i="0">
                <a:solidFill>
                  <a:srgbClr val="C00000"/>
                </a:solidFill>
                <a:latin typeface="Calibri"/>
                <a:cs typeface="Calibri"/>
              </a:rPr>
              <a:t>space.</a:t>
            </a:r>
            <a:endParaRPr sz="3000">
              <a:latin typeface="Calibri"/>
              <a:cs typeface="Calibri"/>
            </a:endParaRPr>
          </a:p>
          <a:p>
            <a:pPr marL="332740" marR="5080" indent="-320040">
              <a:lnSpc>
                <a:spcPts val="3190"/>
              </a:lnSpc>
              <a:spcBef>
                <a:spcPts val="3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i="0">
                <a:latin typeface="Calibri"/>
                <a:cs typeface="Calibri"/>
              </a:rPr>
              <a:t>“</a:t>
            </a:r>
            <a:r>
              <a:rPr dirty="0" sz="3000" spc="-5"/>
              <a:t>What </a:t>
            </a:r>
            <a:r>
              <a:rPr dirty="0" sz="3000" spc="-10"/>
              <a:t>proteins </a:t>
            </a:r>
            <a:r>
              <a:rPr dirty="0" sz="3000" spc="-5"/>
              <a:t>are </a:t>
            </a:r>
            <a:r>
              <a:rPr dirty="0" sz="3000" spc="-5" b="1">
                <a:solidFill>
                  <a:srgbClr val="479249"/>
                </a:solidFill>
                <a:latin typeface="Calibri"/>
                <a:cs typeface="Calibri"/>
              </a:rPr>
              <a:t>associated </a:t>
            </a:r>
            <a:r>
              <a:rPr dirty="0" sz="3000" spc="-5"/>
              <a:t>with adverse  </a:t>
            </a:r>
            <a:r>
              <a:rPr dirty="0" sz="3000" spc="-10" i="1"/>
              <a:t>events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caused </a:t>
            </a:r>
            <a:r>
              <a:rPr dirty="0" sz="3000" spc="-10"/>
              <a:t>by</a:t>
            </a:r>
            <a:r>
              <a:rPr dirty="0" sz="3000" spc="-65"/>
              <a:t>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Fulvestrant</a:t>
            </a:r>
            <a:r>
              <a:rPr dirty="0" sz="3000" spc="-10"/>
              <a:t>?</a:t>
            </a:r>
            <a:r>
              <a:rPr dirty="0" sz="3000" spc="-10" i="0">
                <a:latin typeface="Calibri"/>
                <a:cs typeface="Calibri"/>
              </a:rPr>
              <a:t>”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23</a:t>
            </a:fld>
          </a:p>
        </p:txBody>
      </p:sp>
      <p:sp>
        <p:nvSpPr>
          <p:cNvPr id="30" name="object 30"/>
          <p:cNvSpPr txBox="1"/>
          <p:nvPr/>
        </p:nvSpPr>
        <p:spPr>
          <a:xfrm>
            <a:off x="618108" y="2541523"/>
            <a:ext cx="5791835" cy="89154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 marR="5080">
              <a:lnSpc>
                <a:spcPts val="3220"/>
              </a:lnSpc>
              <a:spcBef>
                <a:spcPts val="52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>
                <a:latin typeface="Calibri"/>
                <a:cs typeface="Calibri"/>
              </a:rPr>
              <a:t>(</a:t>
            </a:r>
            <a:r>
              <a:rPr dirty="0" sz="3000" spc="-15" b="1">
                <a:solidFill>
                  <a:srgbClr val="0070C0"/>
                </a:solidFill>
                <a:latin typeface="Calibri"/>
                <a:cs typeface="Calibri"/>
              </a:rPr>
              <a:t>e:Fulvestrant</a:t>
            </a:r>
            <a:r>
              <a:rPr dirty="0" sz="3000" spc="-15">
                <a:latin typeface="Calibri"/>
                <a:cs typeface="Calibri"/>
              </a:rPr>
              <a:t>, </a:t>
            </a:r>
            <a:r>
              <a:rPr dirty="0" sz="3000" spc="-5">
                <a:latin typeface="Calibri"/>
                <a:cs typeface="Calibri"/>
              </a:rPr>
              <a:t>(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r:Causes </a:t>
            </a:r>
            <a:r>
              <a:rPr dirty="0" sz="3000">
                <a:latin typeface="Calibri"/>
                <a:cs typeface="Calibri"/>
              </a:rPr>
              <a:t>, </a:t>
            </a:r>
            <a:r>
              <a:rPr dirty="0" sz="3000" spc="-5" b="1">
                <a:solidFill>
                  <a:srgbClr val="479249"/>
                </a:solidFill>
                <a:latin typeface="Calibri"/>
                <a:cs typeface="Calibri"/>
              </a:rPr>
              <a:t>r:Assoc</a:t>
            </a:r>
            <a:r>
              <a:rPr dirty="0" sz="3000" spc="-5">
                <a:latin typeface="Calibri"/>
                <a:cs typeface="Calibri"/>
              </a:rPr>
              <a:t>)) </a:t>
            </a:r>
            <a:r>
              <a:rPr dirty="0" sz="3000" spc="-5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60B5CC"/>
                </a:solidFill>
                <a:latin typeface="Calibri"/>
                <a:cs typeface="Calibri"/>
              </a:rPr>
              <a:t>Follow </a:t>
            </a:r>
            <a:r>
              <a:rPr dirty="0" sz="3000" spc="-5" b="1">
                <a:solidFill>
                  <a:srgbClr val="60B5CC"/>
                </a:solidFill>
                <a:latin typeface="Calibri"/>
                <a:cs typeface="Calibri"/>
              </a:rPr>
              <a:t>the </a:t>
            </a:r>
            <a:r>
              <a:rPr dirty="0" sz="3000" b="1">
                <a:solidFill>
                  <a:srgbClr val="60B5CC"/>
                </a:solidFill>
                <a:latin typeface="Calibri"/>
                <a:cs typeface="Calibri"/>
              </a:rPr>
              <a:t>query</a:t>
            </a:r>
            <a:r>
              <a:rPr dirty="0" sz="3000" spc="-5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60B5CC"/>
                </a:solidFill>
                <a:latin typeface="Calibri"/>
                <a:cs typeface="Calibri"/>
              </a:rPr>
              <a:t>plan: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28095" y="3448811"/>
            <a:ext cx="13652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Query</a:t>
            </a:r>
            <a:r>
              <a:rPr dirty="0" sz="2000" spc="-9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Plan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24204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43242" y="4829582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43242" y="4829582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22804" y="4790947"/>
            <a:ext cx="777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Fulvestrant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6512" y="4975859"/>
            <a:ext cx="6096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au</a:t>
            </a:r>
            <a:r>
              <a:rPr dirty="0" sz="1400" spc="-25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dirty="0" sz="1400">
                <a:solidFill>
                  <a:srgbClr val="C00000"/>
                </a:solidFill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52442" y="483633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52442" y="483633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19442" y="4837818"/>
            <a:ext cx="1089660" cy="161925"/>
          </a:xfrm>
          <a:custGeom>
            <a:avLst/>
            <a:gdLst/>
            <a:ahLst/>
            <a:cxnLst/>
            <a:rect l="l" t="t" r="r" b="b"/>
            <a:pathLst>
              <a:path w="1089660" h="161925">
                <a:moveTo>
                  <a:pt x="927141" y="107949"/>
                </a:moveTo>
                <a:lnTo>
                  <a:pt x="927075" y="161924"/>
                </a:lnTo>
                <a:lnTo>
                  <a:pt x="1035292" y="107983"/>
                </a:lnTo>
                <a:lnTo>
                  <a:pt x="954129" y="107983"/>
                </a:lnTo>
                <a:lnTo>
                  <a:pt x="927141" y="107949"/>
                </a:lnTo>
                <a:close/>
              </a:path>
              <a:path w="1089660" h="161925">
                <a:moveTo>
                  <a:pt x="927207" y="53974"/>
                </a:moveTo>
                <a:lnTo>
                  <a:pt x="927141" y="107949"/>
                </a:lnTo>
                <a:lnTo>
                  <a:pt x="954129" y="107983"/>
                </a:lnTo>
                <a:lnTo>
                  <a:pt x="954195" y="54008"/>
                </a:lnTo>
                <a:lnTo>
                  <a:pt x="927207" y="53974"/>
                </a:lnTo>
                <a:close/>
              </a:path>
              <a:path w="1089660" h="161925">
                <a:moveTo>
                  <a:pt x="927273" y="0"/>
                </a:moveTo>
                <a:lnTo>
                  <a:pt x="927207" y="53974"/>
                </a:lnTo>
                <a:lnTo>
                  <a:pt x="954195" y="54008"/>
                </a:lnTo>
                <a:lnTo>
                  <a:pt x="954129" y="107983"/>
                </a:lnTo>
                <a:lnTo>
                  <a:pt x="1035292" y="107983"/>
                </a:lnTo>
                <a:lnTo>
                  <a:pt x="1089099" y="81161"/>
                </a:lnTo>
                <a:lnTo>
                  <a:pt x="927273" y="0"/>
                </a:lnTo>
                <a:close/>
              </a:path>
              <a:path w="1089660" h="161925">
                <a:moveTo>
                  <a:pt x="66" y="52838"/>
                </a:moveTo>
                <a:lnTo>
                  <a:pt x="0" y="106813"/>
                </a:lnTo>
                <a:lnTo>
                  <a:pt x="927141" y="107949"/>
                </a:lnTo>
                <a:lnTo>
                  <a:pt x="927207" y="53974"/>
                </a:lnTo>
                <a:lnTo>
                  <a:pt x="66" y="5283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08541" y="483767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308541" y="483767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475387" y="4831050"/>
            <a:ext cx="1168400" cy="161925"/>
          </a:xfrm>
          <a:custGeom>
            <a:avLst/>
            <a:gdLst/>
            <a:ahLst/>
            <a:cxnLst/>
            <a:rect l="l" t="t" r="r" b="b"/>
            <a:pathLst>
              <a:path w="1168400" h="161925">
                <a:moveTo>
                  <a:pt x="1114834" y="53785"/>
                </a:moveTo>
                <a:lnTo>
                  <a:pt x="1032733" y="53785"/>
                </a:lnTo>
                <a:lnTo>
                  <a:pt x="1033108" y="107759"/>
                </a:lnTo>
                <a:lnTo>
                  <a:pt x="1006121" y="107946"/>
                </a:lnTo>
                <a:lnTo>
                  <a:pt x="1006495" y="161921"/>
                </a:lnTo>
                <a:lnTo>
                  <a:pt x="1167855" y="79838"/>
                </a:lnTo>
                <a:lnTo>
                  <a:pt x="1114834" y="53785"/>
                </a:lnTo>
                <a:close/>
              </a:path>
              <a:path w="1168400" h="161925">
                <a:moveTo>
                  <a:pt x="1005747" y="53972"/>
                </a:moveTo>
                <a:lnTo>
                  <a:pt x="0" y="60942"/>
                </a:lnTo>
                <a:lnTo>
                  <a:pt x="374" y="114915"/>
                </a:lnTo>
                <a:lnTo>
                  <a:pt x="1006121" y="107946"/>
                </a:lnTo>
                <a:lnTo>
                  <a:pt x="1005747" y="53972"/>
                </a:lnTo>
                <a:close/>
              </a:path>
              <a:path w="1168400" h="161925">
                <a:moveTo>
                  <a:pt x="1032733" y="53785"/>
                </a:moveTo>
                <a:lnTo>
                  <a:pt x="1005747" y="53972"/>
                </a:lnTo>
                <a:lnTo>
                  <a:pt x="1006121" y="107946"/>
                </a:lnTo>
                <a:lnTo>
                  <a:pt x="1033108" y="107759"/>
                </a:lnTo>
                <a:lnTo>
                  <a:pt x="1032733" y="53785"/>
                </a:lnTo>
                <a:close/>
              </a:path>
              <a:path w="1168400" h="161925">
                <a:moveTo>
                  <a:pt x="1005373" y="0"/>
                </a:moveTo>
                <a:lnTo>
                  <a:pt x="1005747" y="53972"/>
                </a:lnTo>
                <a:lnTo>
                  <a:pt x="1114834" y="53785"/>
                </a:lnTo>
                <a:lnTo>
                  <a:pt x="1005373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789773" y="4969764"/>
            <a:ext cx="495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48235"/>
                </a:solidFill>
                <a:latin typeface="Arial"/>
                <a:cs typeface="Arial"/>
              </a:rPr>
              <a:t>A</a:t>
            </a:r>
            <a:r>
              <a:rPr dirty="0" sz="1400" spc="-30">
                <a:solidFill>
                  <a:srgbClr val="548235"/>
                </a:solidFill>
                <a:latin typeface="Arial"/>
                <a:cs typeface="Arial"/>
              </a:rPr>
              <a:t>sso</a:t>
            </a:r>
            <a:r>
              <a:rPr dirty="0" sz="1400">
                <a:solidFill>
                  <a:srgbClr val="548235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62924" y="4220457"/>
            <a:ext cx="1532890" cy="734695"/>
          </a:xfrm>
          <a:custGeom>
            <a:avLst/>
            <a:gdLst/>
            <a:ahLst/>
            <a:cxnLst/>
            <a:rect l="l" t="t" r="r" b="b"/>
            <a:pathLst>
              <a:path w="1532890" h="734695">
                <a:moveTo>
                  <a:pt x="10844" y="0"/>
                </a:moveTo>
                <a:lnTo>
                  <a:pt x="0" y="22967"/>
                </a:lnTo>
                <a:lnTo>
                  <a:pt x="68906" y="55500"/>
                </a:lnTo>
                <a:lnTo>
                  <a:pt x="79750" y="32531"/>
                </a:lnTo>
                <a:lnTo>
                  <a:pt x="10844" y="0"/>
                </a:lnTo>
                <a:close/>
              </a:path>
              <a:path w="1532890" h="734695">
                <a:moveTo>
                  <a:pt x="102720" y="43375"/>
                </a:moveTo>
                <a:lnTo>
                  <a:pt x="91875" y="66344"/>
                </a:lnTo>
                <a:lnTo>
                  <a:pt x="160781" y="98875"/>
                </a:lnTo>
                <a:lnTo>
                  <a:pt x="171626" y="75906"/>
                </a:lnTo>
                <a:lnTo>
                  <a:pt x="102720" y="43375"/>
                </a:lnTo>
                <a:close/>
              </a:path>
              <a:path w="1532890" h="734695">
                <a:moveTo>
                  <a:pt x="194594" y="86751"/>
                </a:moveTo>
                <a:lnTo>
                  <a:pt x="183751" y="109720"/>
                </a:lnTo>
                <a:lnTo>
                  <a:pt x="252657" y="142251"/>
                </a:lnTo>
                <a:lnTo>
                  <a:pt x="263502" y="119282"/>
                </a:lnTo>
                <a:lnTo>
                  <a:pt x="194594" y="86751"/>
                </a:lnTo>
                <a:close/>
              </a:path>
              <a:path w="1532890" h="734695">
                <a:moveTo>
                  <a:pt x="286470" y="130126"/>
                </a:moveTo>
                <a:lnTo>
                  <a:pt x="275626" y="153095"/>
                </a:lnTo>
                <a:lnTo>
                  <a:pt x="344533" y="185627"/>
                </a:lnTo>
                <a:lnTo>
                  <a:pt x="355377" y="162657"/>
                </a:lnTo>
                <a:lnTo>
                  <a:pt x="286470" y="130126"/>
                </a:lnTo>
                <a:close/>
              </a:path>
              <a:path w="1532890" h="734695">
                <a:moveTo>
                  <a:pt x="378345" y="173502"/>
                </a:moveTo>
                <a:lnTo>
                  <a:pt x="367502" y="196471"/>
                </a:lnTo>
                <a:lnTo>
                  <a:pt x="436408" y="229002"/>
                </a:lnTo>
                <a:lnTo>
                  <a:pt x="447253" y="206034"/>
                </a:lnTo>
                <a:lnTo>
                  <a:pt x="378345" y="173502"/>
                </a:lnTo>
                <a:close/>
              </a:path>
              <a:path w="1532890" h="734695">
                <a:moveTo>
                  <a:pt x="470221" y="216877"/>
                </a:moveTo>
                <a:lnTo>
                  <a:pt x="459378" y="239847"/>
                </a:lnTo>
                <a:lnTo>
                  <a:pt x="528284" y="272378"/>
                </a:lnTo>
                <a:lnTo>
                  <a:pt x="539127" y="249410"/>
                </a:lnTo>
                <a:lnTo>
                  <a:pt x="470221" y="216877"/>
                </a:lnTo>
                <a:close/>
              </a:path>
              <a:path w="1532890" h="734695">
                <a:moveTo>
                  <a:pt x="562096" y="260253"/>
                </a:moveTo>
                <a:lnTo>
                  <a:pt x="551253" y="283222"/>
                </a:lnTo>
                <a:lnTo>
                  <a:pt x="620160" y="315753"/>
                </a:lnTo>
                <a:lnTo>
                  <a:pt x="631003" y="292785"/>
                </a:lnTo>
                <a:lnTo>
                  <a:pt x="562096" y="260253"/>
                </a:lnTo>
                <a:close/>
              </a:path>
              <a:path w="1532890" h="734695">
                <a:moveTo>
                  <a:pt x="653972" y="303629"/>
                </a:moveTo>
                <a:lnTo>
                  <a:pt x="643129" y="326598"/>
                </a:lnTo>
                <a:lnTo>
                  <a:pt x="712035" y="359129"/>
                </a:lnTo>
                <a:lnTo>
                  <a:pt x="722878" y="336161"/>
                </a:lnTo>
                <a:lnTo>
                  <a:pt x="653972" y="303629"/>
                </a:lnTo>
                <a:close/>
              </a:path>
              <a:path w="1532890" h="734695">
                <a:moveTo>
                  <a:pt x="745848" y="347004"/>
                </a:moveTo>
                <a:lnTo>
                  <a:pt x="735003" y="369973"/>
                </a:lnTo>
                <a:lnTo>
                  <a:pt x="803911" y="402506"/>
                </a:lnTo>
                <a:lnTo>
                  <a:pt x="814754" y="379536"/>
                </a:lnTo>
                <a:lnTo>
                  <a:pt x="745848" y="347004"/>
                </a:lnTo>
                <a:close/>
              </a:path>
              <a:path w="1532890" h="734695">
                <a:moveTo>
                  <a:pt x="837723" y="390380"/>
                </a:moveTo>
                <a:lnTo>
                  <a:pt x="826879" y="413349"/>
                </a:lnTo>
                <a:lnTo>
                  <a:pt x="895786" y="445881"/>
                </a:lnTo>
                <a:lnTo>
                  <a:pt x="906630" y="422912"/>
                </a:lnTo>
                <a:lnTo>
                  <a:pt x="837723" y="390380"/>
                </a:lnTo>
                <a:close/>
              </a:path>
              <a:path w="1532890" h="734695">
                <a:moveTo>
                  <a:pt x="929599" y="433755"/>
                </a:moveTo>
                <a:lnTo>
                  <a:pt x="918754" y="456725"/>
                </a:lnTo>
                <a:lnTo>
                  <a:pt x="987662" y="489257"/>
                </a:lnTo>
                <a:lnTo>
                  <a:pt x="998505" y="466288"/>
                </a:lnTo>
                <a:lnTo>
                  <a:pt x="929599" y="433755"/>
                </a:lnTo>
                <a:close/>
              </a:path>
              <a:path w="1532890" h="734695">
                <a:moveTo>
                  <a:pt x="1021474" y="477131"/>
                </a:moveTo>
                <a:lnTo>
                  <a:pt x="1010630" y="500100"/>
                </a:lnTo>
                <a:lnTo>
                  <a:pt x="1079536" y="532632"/>
                </a:lnTo>
                <a:lnTo>
                  <a:pt x="1090381" y="509663"/>
                </a:lnTo>
                <a:lnTo>
                  <a:pt x="1021474" y="477131"/>
                </a:lnTo>
                <a:close/>
              </a:path>
              <a:path w="1532890" h="734695">
                <a:moveTo>
                  <a:pt x="1113350" y="520506"/>
                </a:moveTo>
                <a:lnTo>
                  <a:pt x="1102506" y="543476"/>
                </a:lnTo>
                <a:lnTo>
                  <a:pt x="1171412" y="576008"/>
                </a:lnTo>
                <a:lnTo>
                  <a:pt x="1182256" y="553039"/>
                </a:lnTo>
                <a:lnTo>
                  <a:pt x="1113350" y="520506"/>
                </a:lnTo>
                <a:close/>
              </a:path>
              <a:path w="1532890" h="734695">
                <a:moveTo>
                  <a:pt x="1205226" y="563883"/>
                </a:moveTo>
                <a:lnTo>
                  <a:pt x="1194381" y="586851"/>
                </a:lnTo>
                <a:lnTo>
                  <a:pt x="1263288" y="619384"/>
                </a:lnTo>
                <a:lnTo>
                  <a:pt x="1274132" y="596414"/>
                </a:lnTo>
                <a:lnTo>
                  <a:pt x="1205226" y="563883"/>
                </a:lnTo>
                <a:close/>
              </a:path>
              <a:path w="1532890" h="734695">
                <a:moveTo>
                  <a:pt x="1297101" y="607259"/>
                </a:moveTo>
                <a:lnTo>
                  <a:pt x="1286257" y="630227"/>
                </a:lnTo>
                <a:lnTo>
                  <a:pt x="1355163" y="662759"/>
                </a:lnTo>
                <a:lnTo>
                  <a:pt x="1366008" y="639790"/>
                </a:lnTo>
                <a:lnTo>
                  <a:pt x="1297101" y="607259"/>
                </a:lnTo>
                <a:close/>
              </a:path>
              <a:path w="1532890" h="734695">
                <a:moveTo>
                  <a:pt x="1480174" y="665601"/>
                </a:moveTo>
                <a:lnTo>
                  <a:pt x="1447643" y="734508"/>
                </a:lnTo>
                <a:lnTo>
                  <a:pt x="1532816" y="732586"/>
                </a:lnTo>
                <a:lnTo>
                  <a:pt x="1480174" y="665601"/>
                </a:lnTo>
                <a:close/>
              </a:path>
              <a:path w="1532890" h="734695">
                <a:moveTo>
                  <a:pt x="1388977" y="650634"/>
                </a:moveTo>
                <a:lnTo>
                  <a:pt x="1378132" y="673602"/>
                </a:lnTo>
                <a:lnTo>
                  <a:pt x="1447039" y="706135"/>
                </a:lnTo>
                <a:lnTo>
                  <a:pt x="1457883" y="683166"/>
                </a:lnTo>
                <a:lnTo>
                  <a:pt x="1388977" y="65063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568950" y="5226811"/>
            <a:ext cx="600710" cy="34861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 marR="5080" indent="55244">
              <a:lnSpc>
                <a:spcPct val="76700"/>
              </a:lnSpc>
              <a:spcBef>
                <a:spcPts val="434"/>
              </a:spcBef>
            </a:pPr>
            <a:r>
              <a:rPr dirty="0" sz="1200" spc="-10">
                <a:latin typeface="Arial"/>
                <a:cs typeface="Arial"/>
              </a:rPr>
              <a:t>Kidney  </a:t>
            </a:r>
            <a:r>
              <a:rPr dirty="0" sz="1200">
                <a:latin typeface="Arial"/>
                <a:cs typeface="Arial"/>
              </a:rPr>
              <a:t>I</a:t>
            </a:r>
            <a:r>
              <a:rPr dirty="0" sz="1200" spc="-5">
                <a:latin typeface="Arial"/>
                <a:cs typeface="Arial"/>
              </a:rPr>
              <a:t>n</a:t>
            </a:r>
            <a:r>
              <a:rPr dirty="0" sz="1200">
                <a:latin typeface="Arial"/>
                <a:cs typeface="Arial"/>
              </a:rPr>
              <a:t>f</a:t>
            </a:r>
            <a:r>
              <a:rPr dirty="0" sz="1200" spc="-5">
                <a:latin typeface="Arial"/>
                <a:cs typeface="Arial"/>
              </a:rPr>
              <a:t>e</a:t>
            </a:r>
            <a:r>
              <a:rPr dirty="0" sz="1200">
                <a:latin typeface="Arial"/>
                <a:cs typeface="Arial"/>
              </a:rPr>
              <a:t>ct</a:t>
            </a:r>
            <a:r>
              <a:rPr dirty="0" sz="1200" spc="-5">
                <a:latin typeface="Arial"/>
                <a:cs typeface="Arial"/>
              </a:rPr>
              <a:t>io</a:t>
            </a:r>
            <a:r>
              <a:rPr dirty="0" sz="1200">
                <a:latin typeface="Arial"/>
                <a:cs typeface="Arial"/>
              </a:rPr>
              <a:t>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16016" y="5327396"/>
            <a:ext cx="558800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55244" marR="5080" indent="-43180">
              <a:lnSpc>
                <a:spcPts val="1390"/>
              </a:lnSpc>
              <a:spcBef>
                <a:spcPts val="185"/>
              </a:spcBef>
            </a:pPr>
            <a:r>
              <a:rPr dirty="0" sz="1200" spc="-5">
                <a:latin typeface="Arial"/>
                <a:cs typeface="Arial"/>
              </a:rPr>
              <a:t>Short</a:t>
            </a:r>
            <a:r>
              <a:rPr dirty="0" sz="1200" spc="-85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of  Breath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92776" y="4391659"/>
            <a:ext cx="10121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Brain</a:t>
            </a:r>
            <a:r>
              <a:rPr dirty="0" sz="1200" spc="-7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Bleeding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00849" y="4710684"/>
            <a:ext cx="495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48235"/>
                </a:solidFill>
                <a:latin typeface="Arial"/>
                <a:cs typeface="Arial"/>
              </a:rPr>
              <a:t>A</a:t>
            </a:r>
            <a:r>
              <a:rPr dirty="0" sz="1400" spc="-30">
                <a:solidFill>
                  <a:srgbClr val="548235"/>
                </a:solidFill>
                <a:latin typeface="Arial"/>
                <a:cs typeface="Arial"/>
              </a:rPr>
              <a:t>sso</a:t>
            </a:r>
            <a:r>
              <a:rPr dirty="0" sz="1400">
                <a:solidFill>
                  <a:srgbClr val="548235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601364" y="4121017"/>
            <a:ext cx="1454150" cy="828675"/>
          </a:xfrm>
          <a:custGeom>
            <a:avLst/>
            <a:gdLst/>
            <a:ahLst/>
            <a:cxnLst/>
            <a:rect l="l" t="t" r="r" b="b"/>
            <a:pathLst>
              <a:path w="1454150" h="828675">
                <a:moveTo>
                  <a:pt x="66358" y="768513"/>
                </a:moveTo>
                <a:lnTo>
                  <a:pt x="0" y="805971"/>
                </a:lnTo>
                <a:lnTo>
                  <a:pt x="12485" y="828090"/>
                </a:lnTo>
                <a:lnTo>
                  <a:pt x="78844" y="790633"/>
                </a:lnTo>
                <a:lnTo>
                  <a:pt x="66358" y="768513"/>
                </a:lnTo>
                <a:close/>
              </a:path>
              <a:path w="1454150" h="828675">
                <a:moveTo>
                  <a:pt x="154835" y="718571"/>
                </a:moveTo>
                <a:lnTo>
                  <a:pt x="88477" y="756028"/>
                </a:lnTo>
                <a:lnTo>
                  <a:pt x="100963" y="778148"/>
                </a:lnTo>
                <a:lnTo>
                  <a:pt x="167321" y="740690"/>
                </a:lnTo>
                <a:lnTo>
                  <a:pt x="154835" y="718571"/>
                </a:lnTo>
                <a:close/>
              </a:path>
              <a:path w="1454150" h="828675">
                <a:moveTo>
                  <a:pt x="243312" y="668628"/>
                </a:moveTo>
                <a:lnTo>
                  <a:pt x="176955" y="706085"/>
                </a:lnTo>
                <a:lnTo>
                  <a:pt x="189440" y="728205"/>
                </a:lnTo>
                <a:lnTo>
                  <a:pt x="255798" y="690747"/>
                </a:lnTo>
                <a:lnTo>
                  <a:pt x="243312" y="668628"/>
                </a:lnTo>
                <a:close/>
              </a:path>
              <a:path w="1454150" h="828675">
                <a:moveTo>
                  <a:pt x="331790" y="618685"/>
                </a:moveTo>
                <a:lnTo>
                  <a:pt x="265432" y="656142"/>
                </a:lnTo>
                <a:lnTo>
                  <a:pt x="277917" y="678261"/>
                </a:lnTo>
                <a:lnTo>
                  <a:pt x="344276" y="640803"/>
                </a:lnTo>
                <a:lnTo>
                  <a:pt x="331790" y="618685"/>
                </a:lnTo>
                <a:close/>
              </a:path>
              <a:path w="1454150" h="828675">
                <a:moveTo>
                  <a:pt x="420268" y="568741"/>
                </a:moveTo>
                <a:lnTo>
                  <a:pt x="353909" y="606198"/>
                </a:lnTo>
                <a:lnTo>
                  <a:pt x="366395" y="628318"/>
                </a:lnTo>
                <a:lnTo>
                  <a:pt x="432753" y="590861"/>
                </a:lnTo>
                <a:lnTo>
                  <a:pt x="420268" y="568741"/>
                </a:lnTo>
                <a:close/>
              </a:path>
              <a:path w="1454150" h="828675">
                <a:moveTo>
                  <a:pt x="508745" y="518798"/>
                </a:moveTo>
                <a:lnTo>
                  <a:pt x="442386" y="556256"/>
                </a:lnTo>
                <a:lnTo>
                  <a:pt x="454873" y="578375"/>
                </a:lnTo>
                <a:lnTo>
                  <a:pt x="521230" y="540918"/>
                </a:lnTo>
                <a:lnTo>
                  <a:pt x="508745" y="518798"/>
                </a:lnTo>
                <a:close/>
              </a:path>
              <a:path w="1454150" h="828675">
                <a:moveTo>
                  <a:pt x="597222" y="468856"/>
                </a:moveTo>
                <a:lnTo>
                  <a:pt x="530865" y="506313"/>
                </a:lnTo>
                <a:lnTo>
                  <a:pt x="543350" y="528433"/>
                </a:lnTo>
                <a:lnTo>
                  <a:pt x="609707" y="490975"/>
                </a:lnTo>
                <a:lnTo>
                  <a:pt x="597222" y="468856"/>
                </a:lnTo>
                <a:close/>
              </a:path>
              <a:path w="1454150" h="828675">
                <a:moveTo>
                  <a:pt x="685699" y="418913"/>
                </a:moveTo>
                <a:lnTo>
                  <a:pt x="619342" y="456370"/>
                </a:lnTo>
                <a:lnTo>
                  <a:pt x="631827" y="478490"/>
                </a:lnTo>
                <a:lnTo>
                  <a:pt x="698186" y="441032"/>
                </a:lnTo>
                <a:lnTo>
                  <a:pt x="685699" y="418913"/>
                </a:lnTo>
                <a:close/>
              </a:path>
              <a:path w="1454150" h="828675">
                <a:moveTo>
                  <a:pt x="774178" y="368970"/>
                </a:moveTo>
                <a:lnTo>
                  <a:pt x="707819" y="406427"/>
                </a:lnTo>
                <a:lnTo>
                  <a:pt x="720305" y="428546"/>
                </a:lnTo>
                <a:lnTo>
                  <a:pt x="786663" y="391088"/>
                </a:lnTo>
                <a:lnTo>
                  <a:pt x="774178" y="368970"/>
                </a:lnTo>
                <a:close/>
              </a:path>
              <a:path w="1454150" h="828675">
                <a:moveTo>
                  <a:pt x="862655" y="319026"/>
                </a:moveTo>
                <a:lnTo>
                  <a:pt x="796297" y="356483"/>
                </a:lnTo>
                <a:lnTo>
                  <a:pt x="808782" y="378603"/>
                </a:lnTo>
                <a:lnTo>
                  <a:pt x="875140" y="341146"/>
                </a:lnTo>
                <a:lnTo>
                  <a:pt x="862655" y="319026"/>
                </a:lnTo>
                <a:close/>
              </a:path>
              <a:path w="1454150" h="828675">
                <a:moveTo>
                  <a:pt x="951132" y="269083"/>
                </a:moveTo>
                <a:lnTo>
                  <a:pt x="884774" y="306541"/>
                </a:lnTo>
                <a:lnTo>
                  <a:pt x="897260" y="328660"/>
                </a:lnTo>
                <a:lnTo>
                  <a:pt x="963618" y="291203"/>
                </a:lnTo>
                <a:lnTo>
                  <a:pt x="951132" y="269083"/>
                </a:lnTo>
                <a:close/>
              </a:path>
              <a:path w="1454150" h="828675">
                <a:moveTo>
                  <a:pt x="1039609" y="219141"/>
                </a:moveTo>
                <a:lnTo>
                  <a:pt x="973251" y="256598"/>
                </a:lnTo>
                <a:lnTo>
                  <a:pt x="985737" y="278718"/>
                </a:lnTo>
                <a:lnTo>
                  <a:pt x="1052095" y="241260"/>
                </a:lnTo>
                <a:lnTo>
                  <a:pt x="1039609" y="219141"/>
                </a:lnTo>
                <a:close/>
              </a:path>
              <a:path w="1454150" h="828675">
                <a:moveTo>
                  <a:pt x="1128087" y="169198"/>
                </a:moveTo>
                <a:lnTo>
                  <a:pt x="1061728" y="206655"/>
                </a:lnTo>
                <a:lnTo>
                  <a:pt x="1074215" y="228775"/>
                </a:lnTo>
                <a:lnTo>
                  <a:pt x="1140573" y="191317"/>
                </a:lnTo>
                <a:lnTo>
                  <a:pt x="1128087" y="169198"/>
                </a:lnTo>
                <a:close/>
              </a:path>
              <a:path w="1454150" h="828675">
                <a:moveTo>
                  <a:pt x="1216564" y="119255"/>
                </a:moveTo>
                <a:lnTo>
                  <a:pt x="1150207" y="156712"/>
                </a:lnTo>
                <a:lnTo>
                  <a:pt x="1162692" y="178831"/>
                </a:lnTo>
                <a:lnTo>
                  <a:pt x="1229050" y="141373"/>
                </a:lnTo>
                <a:lnTo>
                  <a:pt x="1216564" y="119255"/>
                </a:lnTo>
                <a:close/>
              </a:path>
              <a:path w="1454150" h="828675">
                <a:moveTo>
                  <a:pt x="1305041" y="69311"/>
                </a:moveTo>
                <a:lnTo>
                  <a:pt x="1238684" y="106768"/>
                </a:lnTo>
                <a:lnTo>
                  <a:pt x="1251169" y="128888"/>
                </a:lnTo>
                <a:lnTo>
                  <a:pt x="1317528" y="91431"/>
                </a:lnTo>
                <a:lnTo>
                  <a:pt x="1305041" y="69311"/>
                </a:lnTo>
                <a:close/>
              </a:path>
              <a:path w="1454150" h="828675">
                <a:moveTo>
                  <a:pt x="1381068" y="26397"/>
                </a:moveTo>
                <a:lnTo>
                  <a:pt x="1327161" y="56826"/>
                </a:lnTo>
                <a:lnTo>
                  <a:pt x="1339646" y="78945"/>
                </a:lnTo>
                <a:lnTo>
                  <a:pt x="1393553" y="48516"/>
                </a:lnTo>
                <a:lnTo>
                  <a:pt x="1381068" y="26397"/>
                </a:lnTo>
                <a:close/>
              </a:path>
              <a:path w="1454150" h="828675">
                <a:moveTo>
                  <a:pt x="1440078" y="20154"/>
                </a:moveTo>
                <a:lnTo>
                  <a:pt x="1392128" y="20154"/>
                </a:lnTo>
                <a:lnTo>
                  <a:pt x="1404613" y="42273"/>
                </a:lnTo>
                <a:lnTo>
                  <a:pt x="1393553" y="48516"/>
                </a:lnTo>
                <a:lnTo>
                  <a:pt x="1406039" y="70636"/>
                </a:lnTo>
                <a:lnTo>
                  <a:pt x="1440078" y="20154"/>
                </a:lnTo>
                <a:close/>
              </a:path>
              <a:path w="1454150" h="828675">
                <a:moveTo>
                  <a:pt x="1392128" y="20154"/>
                </a:moveTo>
                <a:lnTo>
                  <a:pt x="1381068" y="26397"/>
                </a:lnTo>
                <a:lnTo>
                  <a:pt x="1393553" y="48516"/>
                </a:lnTo>
                <a:lnTo>
                  <a:pt x="1404613" y="42273"/>
                </a:lnTo>
                <a:lnTo>
                  <a:pt x="1392128" y="20154"/>
                </a:lnTo>
                <a:close/>
              </a:path>
              <a:path w="1454150" h="828675">
                <a:moveTo>
                  <a:pt x="1453668" y="0"/>
                </a:moveTo>
                <a:lnTo>
                  <a:pt x="1368582" y="4278"/>
                </a:lnTo>
                <a:lnTo>
                  <a:pt x="1381068" y="26397"/>
                </a:lnTo>
                <a:lnTo>
                  <a:pt x="1392128" y="20154"/>
                </a:lnTo>
                <a:lnTo>
                  <a:pt x="1440078" y="20154"/>
                </a:lnTo>
                <a:lnTo>
                  <a:pt x="1453668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482227" y="4446523"/>
            <a:ext cx="4743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B</a:t>
            </a:r>
            <a:r>
              <a:rPr dirty="0" sz="1200">
                <a:latin typeface="Arial"/>
                <a:cs typeface="Arial"/>
              </a:rPr>
              <a:t>I</a:t>
            </a:r>
            <a:r>
              <a:rPr dirty="0" sz="1200" spc="-5">
                <a:latin typeface="Arial"/>
                <a:cs typeface="Arial"/>
              </a:rPr>
              <a:t>RC</a:t>
            </a:r>
            <a:r>
              <a:rPr dirty="0" sz="120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43095" y="4355084"/>
            <a:ext cx="3822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P</a:t>
            </a:r>
            <a:r>
              <a:rPr dirty="0" sz="1200">
                <a:latin typeface="Arial"/>
                <a:cs typeface="Arial"/>
              </a:rPr>
              <a:t>IM1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77877" y="4089908"/>
            <a:ext cx="777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Fulvestrant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031356" y="419839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7"/>
                </a:lnTo>
                <a:lnTo>
                  <a:pt x="2121" y="16489"/>
                </a:lnTo>
                <a:lnTo>
                  <a:pt x="0" y="26998"/>
                </a:lnTo>
                <a:lnTo>
                  <a:pt x="2121" y="37508"/>
                </a:lnTo>
                <a:lnTo>
                  <a:pt x="7908" y="46091"/>
                </a:lnTo>
                <a:lnTo>
                  <a:pt x="16490" y="51877"/>
                </a:lnTo>
                <a:lnTo>
                  <a:pt x="27000" y="53999"/>
                </a:lnTo>
                <a:lnTo>
                  <a:pt x="37510" y="51877"/>
                </a:lnTo>
                <a:lnTo>
                  <a:pt x="46092" y="46091"/>
                </a:lnTo>
                <a:lnTo>
                  <a:pt x="51878" y="37508"/>
                </a:lnTo>
                <a:lnTo>
                  <a:pt x="54000" y="26998"/>
                </a:lnTo>
                <a:lnTo>
                  <a:pt x="51878" y="16489"/>
                </a:lnTo>
                <a:lnTo>
                  <a:pt x="46092" y="7907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031356" y="419839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634903" y="415149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2"/>
                </a:lnTo>
                <a:lnTo>
                  <a:pt x="51878" y="37510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8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634903" y="415149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249687" y="523091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249687" y="523091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772585" y="513005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772585" y="513005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814988" y="464820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814988" y="464820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666088" y="441424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7"/>
                </a:lnTo>
                <a:lnTo>
                  <a:pt x="27000" y="53999"/>
                </a:lnTo>
                <a:lnTo>
                  <a:pt x="37509" y="51877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666088" y="441424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258139" y="430765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8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7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258139" y="430765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623980" y="3464052"/>
            <a:ext cx="24695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Embedding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Process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506434" y="3906011"/>
            <a:ext cx="6927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CASP8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baseline="-13888" sz="2100">
                <a:latin typeface="Cambria Math"/>
                <a:cs typeface="Cambria Math"/>
              </a:rPr>
              <a:t>𝐪</a:t>
            </a:r>
            <a:endParaRPr baseline="-13888" sz="21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286557" y="3754559"/>
            <a:ext cx="1811655" cy="1047115"/>
          </a:xfrm>
          <a:custGeom>
            <a:avLst/>
            <a:gdLst/>
            <a:ahLst/>
            <a:cxnLst/>
            <a:rect l="l" t="t" r="r" b="b"/>
            <a:pathLst>
              <a:path w="1811654" h="1047114">
                <a:moveTo>
                  <a:pt x="0" y="523521"/>
                </a:moveTo>
                <a:lnTo>
                  <a:pt x="7624" y="455272"/>
                </a:lnTo>
                <a:lnTo>
                  <a:pt x="29863" y="389677"/>
                </a:lnTo>
                <a:lnTo>
                  <a:pt x="65761" y="327288"/>
                </a:lnTo>
                <a:lnTo>
                  <a:pt x="114363" y="268657"/>
                </a:lnTo>
                <a:lnTo>
                  <a:pt x="143130" y="240923"/>
                </a:lnTo>
                <a:lnTo>
                  <a:pt x="174715" y="214336"/>
                </a:lnTo>
                <a:lnTo>
                  <a:pt x="208999" y="188964"/>
                </a:lnTo>
                <a:lnTo>
                  <a:pt x="245862" y="164876"/>
                </a:lnTo>
                <a:lnTo>
                  <a:pt x="285186" y="142142"/>
                </a:lnTo>
                <a:lnTo>
                  <a:pt x="326850" y="120829"/>
                </a:lnTo>
                <a:lnTo>
                  <a:pt x="370736" y="101009"/>
                </a:lnTo>
                <a:lnTo>
                  <a:pt x="416725" y="82748"/>
                </a:lnTo>
                <a:lnTo>
                  <a:pt x="464696" y="66117"/>
                </a:lnTo>
                <a:lnTo>
                  <a:pt x="514531" y="51184"/>
                </a:lnTo>
                <a:lnTo>
                  <a:pt x="566110" y="38018"/>
                </a:lnTo>
                <a:lnTo>
                  <a:pt x="619314" y="26689"/>
                </a:lnTo>
                <a:lnTo>
                  <a:pt x="674024" y="17265"/>
                </a:lnTo>
                <a:lnTo>
                  <a:pt x="730120" y="9815"/>
                </a:lnTo>
                <a:lnTo>
                  <a:pt x="787483" y="4408"/>
                </a:lnTo>
                <a:lnTo>
                  <a:pt x="845993" y="1113"/>
                </a:lnTo>
                <a:lnTo>
                  <a:pt x="905533" y="0"/>
                </a:lnTo>
                <a:lnTo>
                  <a:pt x="965072" y="1113"/>
                </a:lnTo>
                <a:lnTo>
                  <a:pt x="1023582" y="4408"/>
                </a:lnTo>
                <a:lnTo>
                  <a:pt x="1080945" y="9815"/>
                </a:lnTo>
                <a:lnTo>
                  <a:pt x="1137041" y="17265"/>
                </a:lnTo>
                <a:lnTo>
                  <a:pt x="1191751" y="26689"/>
                </a:lnTo>
                <a:lnTo>
                  <a:pt x="1244955" y="38018"/>
                </a:lnTo>
                <a:lnTo>
                  <a:pt x="1296534" y="51184"/>
                </a:lnTo>
                <a:lnTo>
                  <a:pt x="1346369" y="66117"/>
                </a:lnTo>
                <a:lnTo>
                  <a:pt x="1394340" y="82748"/>
                </a:lnTo>
                <a:lnTo>
                  <a:pt x="1440329" y="101009"/>
                </a:lnTo>
                <a:lnTo>
                  <a:pt x="1484215" y="120829"/>
                </a:lnTo>
                <a:lnTo>
                  <a:pt x="1525879" y="142142"/>
                </a:lnTo>
                <a:lnTo>
                  <a:pt x="1565203" y="164876"/>
                </a:lnTo>
                <a:lnTo>
                  <a:pt x="1602066" y="188964"/>
                </a:lnTo>
                <a:lnTo>
                  <a:pt x="1636350" y="214336"/>
                </a:lnTo>
                <a:lnTo>
                  <a:pt x="1667935" y="240923"/>
                </a:lnTo>
                <a:lnTo>
                  <a:pt x="1696702" y="268657"/>
                </a:lnTo>
                <a:lnTo>
                  <a:pt x="1722532" y="297468"/>
                </a:lnTo>
                <a:lnTo>
                  <a:pt x="1764901" y="358047"/>
                </a:lnTo>
                <a:lnTo>
                  <a:pt x="1794088" y="422108"/>
                </a:lnTo>
                <a:lnTo>
                  <a:pt x="1809139" y="489099"/>
                </a:lnTo>
                <a:lnTo>
                  <a:pt x="1811066" y="523521"/>
                </a:lnTo>
                <a:lnTo>
                  <a:pt x="1809139" y="557942"/>
                </a:lnTo>
                <a:lnTo>
                  <a:pt x="1794088" y="624933"/>
                </a:lnTo>
                <a:lnTo>
                  <a:pt x="1764901" y="688994"/>
                </a:lnTo>
                <a:lnTo>
                  <a:pt x="1722532" y="749573"/>
                </a:lnTo>
                <a:lnTo>
                  <a:pt x="1696702" y="778384"/>
                </a:lnTo>
                <a:lnTo>
                  <a:pt x="1667935" y="806118"/>
                </a:lnTo>
                <a:lnTo>
                  <a:pt x="1636350" y="832705"/>
                </a:lnTo>
                <a:lnTo>
                  <a:pt x="1602066" y="858077"/>
                </a:lnTo>
                <a:lnTo>
                  <a:pt x="1565203" y="882165"/>
                </a:lnTo>
                <a:lnTo>
                  <a:pt x="1525879" y="904899"/>
                </a:lnTo>
                <a:lnTo>
                  <a:pt x="1484215" y="926212"/>
                </a:lnTo>
                <a:lnTo>
                  <a:pt x="1440329" y="946032"/>
                </a:lnTo>
                <a:lnTo>
                  <a:pt x="1394340" y="964293"/>
                </a:lnTo>
                <a:lnTo>
                  <a:pt x="1346369" y="980924"/>
                </a:lnTo>
                <a:lnTo>
                  <a:pt x="1296534" y="995857"/>
                </a:lnTo>
                <a:lnTo>
                  <a:pt x="1244955" y="1009023"/>
                </a:lnTo>
                <a:lnTo>
                  <a:pt x="1191751" y="1020352"/>
                </a:lnTo>
                <a:lnTo>
                  <a:pt x="1137041" y="1029776"/>
                </a:lnTo>
                <a:lnTo>
                  <a:pt x="1080945" y="1037226"/>
                </a:lnTo>
                <a:lnTo>
                  <a:pt x="1023582" y="1042633"/>
                </a:lnTo>
                <a:lnTo>
                  <a:pt x="965072" y="1045928"/>
                </a:lnTo>
                <a:lnTo>
                  <a:pt x="905533" y="1047042"/>
                </a:lnTo>
                <a:lnTo>
                  <a:pt x="845993" y="1045928"/>
                </a:lnTo>
                <a:lnTo>
                  <a:pt x="787483" y="1042633"/>
                </a:lnTo>
                <a:lnTo>
                  <a:pt x="730120" y="1037226"/>
                </a:lnTo>
                <a:lnTo>
                  <a:pt x="674024" y="1029776"/>
                </a:lnTo>
                <a:lnTo>
                  <a:pt x="619314" y="1020352"/>
                </a:lnTo>
                <a:lnTo>
                  <a:pt x="566110" y="1009023"/>
                </a:lnTo>
                <a:lnTo>
                  <a:pt x="514531" y="995857"/>
                </a:lnTo>
                <a:lnTo>
                  <a:pt x="464696" y="980924"/>
                </a:lnTo>
                <a:lnTo>
                  <a:pt x="416725" y="964293"/>
                </a:lnTo>
                <a:lnTo>
                  <a:pt x="370736" y="946032"/>
                </a:lnTo>
                <a:lnTo>
                  <a:pt x="326850" y="926212"/>
                </a:lnTo>
                <a:lnTo>
                  <a:pt x="285186" y="904899"/>
                </a:lnTo>
                <a:lnTo>
                  <a:pt x="245862" y="882165"/>
                </a:lnTo>
                <a:lnTo>
                  <a:pt x="208999" y="858077"/>
                </a:lnTo>
                <a:lnTo>
                  <a:pt x="174715" y="832705"/>
                </a:lnTo>
                <a:lnTo>
                  <a:pt x="143130" y="806118"/>
                </a:lnTo>
                <a:lnTo>
                  <a:pt x="114363" y="778384"/>
                </a:lnTo>
                <a:lnTo>
                  <a:pt x="88533" y="749573"/>
                </a:lnTo>
                <a:lnTo>
                  <a:pt x="46164" y="688994"/>
                </a:lnTo>
                <a:lnTo>
                  <a:pt x="16977" y="624933"/>
                </a:lnTo>
                <a:lnTo>
                  <a:pt x="1926" y="557942"/>
                </a:lnTo>
                <a:lnTo>
                  <a:pt x="0" y="52352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8154508" y="4825491"/>
            <a:ext cx="9398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69924E"/>
                </a:solidFill>
                <a:latin typeface="Arial"/>
                <a:cs typeface="Arial"/>
              </a:rPr>
              <a:t>A</a:t>
            </a:r>
            <a:r>
              <a:rPr dirty="0" sz="1600" spc="-5" b="1">
                <a:solidFill>
                  <a:srgbClr val="69924E"/>
                </a:solidFill>
                <a:latin typeface="Arial"/>
                <a:cs typeface="Arial"/>
              </a:rPr>
              <a:t>ns</a:t>
            </a:r>
            <a:r>
              <a:rPr dirty="0" sz="1600" spc="0" b="1">
                <a:solidFill>
                  <a:srgbClr val="69924E"/>
                </a:solidFill>
                <a:latin typeface="Arial"/>
                <a:cs typeface="Arial"/>
              </a:rPr>
              <a:t>w</a:t>
            </a:r>
            <a:r>
              <a:rPr dirty="0" sz="1600" spc="-5" b="1">
                <a:solidFill>
                  <a:srgbClr val="69924E"/>
                </a:solidFill>
                <a:latin typeface="Arial"/>
                <a:cs typeface="Arial"/>
              </a:rPr>
              <a:t>e</a:t>
            </a:r>
            <a:r>
              <a:rPr dirty="0" sz="1600" b="1">
                <a:solidFill>
                  <a:srgbClr val="69924E"/>
                </a:solidFill>
                <a:latin typeface="Arial"/>
                <a:cs typeface="Arial"/>
              </a:rPr>
              <a:t>r</a:t>
            </a:r>
            <a:r>
              <a:rPr dirty="0" sz="1600" spc="-5" b="1">
                <a:solidFill>
                  <a:srgbClr val="69924E"/>
                </a:solidFill>
                <a:latin typeface="Arial"/>
                <a:cs typeface="Arial"/>
              </a:rPr>
              <a:t>s</a:t>
            </a:r>
            <a:r>
              <a:rPr dirty="0" sz="1600" b="1">
                <a:solidFill>
                  <a:srgbClr val="69924E"/>
                </a:solidFill>
                <a:latin typeface="Arial"/>
                <a:cs typeface="Arial"/>
              </a:rPr>
              <a:t>!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557054" y="490756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2"/>
                </a:lnTo>
                <a:lnTo>
                  <a:pt x="51878" y="37510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8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557054" y="490756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297356" y="4530174"/>
            <a:ext cx="716915" cy="65532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algn="ctr" marL="67945">
              <a:lnSpc>
                <a:spcPct val="100000"/>
              </a:lnSpc>
              <a:spcBef>
                <a:spcPts val="1090"/>
              </a:spcBef>
            </a:pP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Causes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dirty="0" sz="1200" spc="-5">
                <a:latin typeface="Arial"/>
                <a:cs typeface="Arial"/>
              </a:rPr>
              <a:t>Heada</a:t>
            </a:r>
            <a:r>
              <a:rPr dirty="0" sz="1200">
                <a:latin typeface="Arial"/>
                <a:cs typeface="Arial"/>
              </a:rPr>
              <a:t>c</a:t>
            </a:r>
            <a:r>
              <a:rPr dirty="0" sz="1200" spc="-5">
                <a:latin typeface="Arial"/>
                <a:cs typeface="Arial"/>
              </a:rPr>
              <a:t>h</a:t>
            </a:r>
            <a:r>
              <a:rPr dirty="0" sz="1200"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141284" y="505305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2"/>
                </a:lnTo>
                <a:lnTo>
                  <a:pt x="51877" y="37510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141284" y="505305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7115175" cy="13087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454"/>
              </a:lnSpc>
              <a:spcBef>
                <a:spcPts val="100"/>
              </a:spcBef>
            </a:pPr>
            <a:r>
              <a:rPr dirty="0" sz="3000" spc="-5" b="1" i="0">
                <a:solidFill>
                  <a:srgbClr val="C00000"/>
                </a:solidFill>
                <a:latin typeface="Calibri"/>
                <a:cs typeface="Calibri"/>
              </a:rPr>
              <a:t>Embed </a:t>
            </a:r>
            <a:r>
              <a:rPr dirty="0" sz="3000" spc="-10" b="1" i="0">
                <a:solidFill>
                  <a:srgbClr val="C00000"/>
                </a:solidFill>
                <a:latin typeface="Calibri"/>
                <a:cs typeface="Calibri"/>
              </a:rPr>
              <a:t>path </a:t>
            </a:r>
            <a:r>
              <a:rPr dirty="0" sz="3000" spc="-5" b="1" i="0">
                <a:solidFill>
                  <a:srgbClr val="C00000"/>
                </a:solidFill>
                <a:latin typeface="Calibri"/>
                <a:cs typeface="Calibri"/>
              </a:rPr>
              <a:t>queries in </a:t>
            </a:r>
            <a:r>
              <a:rPr dirty="0" sz="3000" spc="-15" b="1" i="0">
                <a:solidFill>
                  <a:srgbClr val="C00000"/>
                </a:solidFill>
                <a:latin typeface="Calibri"/>
                <a:cs typeface="Calibri"/>
              </a:rPr>
              <a:t>vector</a:t>
            </a:r>
            <a:r>
              <a:rPr dirty="0" sz="3000" spc="-20" b="1" i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5" b="1" i="0">
                <a:solidFill>
                  <a:srgbClr val="C00000"/>
                </a:solidFill>
                <a:latin typeface="Calibri"/>
                <a:cs typeface="Calibri"/>
              </a:rPr>
              <a:t>space.</a:t>
            </a:r>
            <a:endParaRPr sz="3000">
              <a:latin typeface="Calibri"/>
              <a:cs typeface="Calibri"/>
            </a:endParaRPr>
          </a:p>
          <a:p>
            <a:pPr marL="332740" marR="5080" indent="-320040">
              <a:lnSpc>
                <a:spcPts val="3190"/>
              </a:lnSpc>
              <a:spcBef>
                <a:spcPts val="3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i="0">
                <a:latin typeface="Calibri"/>
                <a:cs typeface="Calibri"/>
              </a:rPr>
              <a:t>“</a:t>
            </a:r>
            <a:r>
              <a:rPr dirty="0" sz="3000" spc="-5"/>
              <a:t>What </a:t>
            </a:r>
            <a:r>
              <a:rPr dirty="0" sz="3000" spc="-10"/>
              <a:t>proteins </a:t>
            </a:r>
            <a:r>
              <a:rPr dirty="0" sz="3000" spc="-5"/>
              <a:t>are </a:t>
            </a:r>
            <a:r>
              <a:rPr dirty="0" sz="3000" spc="-5" b="1">
                <a:solidFill>
                  <a:srgbClr val="479249"/>
                </a:solidFill>
                <a:latin typeface="Calibri"/>
                <a:cs typeface="Calibri"/>
              </a:rPr>
              <a:t>associated </a:t>
            </a:r>
            <a:r>
              <a:rPr dirty="0" sz="3000" spc="-5"/>
              <a:t>with adverse  </a:t>
            </a:r>
            <a:r>
              <a:rPr dirty="0" sz="3000" spc="-10" i="1"/>
              <a:t>events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caused </a:t>
            </a:r>
            <a:r>
              <a:rPr dirty="0" sz="3000" spc="-10"/>
              <a:t>by</a:t>
            </a:r>
            <a:r>
              <a:rPr dirty="0" sz="3000" spc="-65"/>
              <a:t>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Fulvestrant</a:t>
            </a:r>
            <a:r>
              <a:rPr dirty="0" sz="3000" spc="-10"/>
              <a:t>?</a:t>
            </a:r>
            <a:r>
              <a:rPr dirty="0" sz="3000" spc="-10" i="0">
                <a:latin typeface="Calibri"/>
                <a:cs typeface="Calibri"/>
              </a:rPr>
              <a:t>”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23</a:t>
            </a:fld>
          </a:p>
        </p:txBody>
      </p:sp>
      <p:sp>
        <p:nvSpPr>
          <p:cNvPr id="47" name="object 47"/>
          <p:cNvSpPr txBox="1"/>
          <p:nvPr/>
        </p:nvSpPr>
        <p:spPr>
          <a:xfrm>
            <a:off x="618108" y="2541523"/>
            <a:ext cx="5791835" cy="89154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 marR="5080">
              <a:lnSpc>
                <a:spcPts val="3220"/>
              </a:lnSpc>
              <a:spcBef>
                <a:spcPts val="52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>
                <a:latin typeface="Calibri"/>
                <a:cs typeface="Calibri"/>
              </a:rPr>
              <a:t>(</a:t>
            </a:r>
            <a:r>
              <a:rPr dirty="0" sz="3000" spc="-15" b="1">
                <a:solidFill>
                  <a:srgbClr val="0070C0"/>
                </a:solidFill>
                <a:latin typeface="Calibri"/>
                <a:cs typeface="Calibri"/>
              </a:rPr>
              <a:t>e:Fulvestrant</a:t>
            </a:r>
            <a:r>
              <a:rPr dirty="0" sz="3000" spc="-15">
                <a:latin typeface="Calibri"/>
                <a:cs typeface="Calibri"/>
              </a:rPr>
              <a:t>, </a:t>
            </a:r>
            <a:r>
              <a:rPr dirty="0" sz="3000" spc="-5">
                <a:latin typeface="Calibri"/>
                <a:cs typeface="Calibri"/>
              </a:rPr>
              <a:t>(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r:Causes </a:t>
            </a:r>
            <a:r>
              <a:rPr dirty="0" sz="3000">
                <a:latin typeface="Calibri"/>
                <a:cs typeface="Calibri"/>
              </a:rPr>
              <a:t>, </a:t>
            </a:r>
            <a:r>
              <a:rPr dirty="0" sz="3000" spc="-5" b="1">
                <a:solidFill>
                  <a:srgbClr val="479249"/>
                </a:solidFill>
                <a:latin typeface="Calibri"/>
                <a:cs typeface="Calibri"/>
              </a:rPr>
              <a:t>r:Assoc</a:t>
            </a:r>
            <a:r>
              <a:rPr dirty="0" sz="3000" spc="-5">
                <a:latin typeface="Calibri"/>
                <a:cs typeface="Calibri"/>
              </a:rPr>
              <a:t>)) </a:t>
            </a:r>
            <a:r>
              <a:rPr dirty="0" sz="3000" spc="-5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60B5CC"/>
                </a:solidFill>
                <a:latin typeface="Calibri"/>
                <a:cs typeface="Calibri"/>
              </a:rPr>
              <a:t>Follow </a:t>
            </a:r>
            <a:r>
              <a:rPr dirty="0" sz="3000" spc="-5" b="1">
                <a:solidFill>
                  <a:srgbClr val="60B5CC"/>
                </a:solidFill>
                <a:latin typeface="Calibri"/>
                <a:cs typeface="Calibri"/>
              </a:rPr>
              <a:t>the </a:t>
            </a:r>
            <a:r>
              <a:rPr dirty="0" sz="3000" b="1">
                <a:solidFill>
                  <a:srgbClr val="60B5CC"/>
                </a:solidFill>
                <a:latin typeface="Calibri"/>
                <a:cs typeface="Calibri"/>
              </a:rPr>
              <a:t>query</a:t>
            </a:r>
            <a:r>
              <a:rPr dirty="0" sz="3000" spc="-5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60B5CC"/>
                </a:solidFill>
                <a:latin typeface="Calibri"/>
                <a:cs typeface="Calibri"/>
              </a:rPr>
              <a:t>plan: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28095" y="3448811"/>
            <a:ext cx="13652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Query</a:t>
            </a:r>
            <a:r>
              <a:rPr dirty="0" sz="2000" spc="-9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Plan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24204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8228965" cy="5389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z="3200" spc="-10" b="1">
                <a:latin typeface="Calibri"/>
                <a:cs typeface="Calibri"/>
              </a:rPr>
              <a:t>Insights:</a:t>
            </a:r>
            <a:endParaRPr sz="3200">
              <a:latin typeface="Calibri"/>
              <a:cs typeface="Calibri"/>
            </a:endParaRPr>
          </a:p>
          <a:p>
            <a:pPr marL="332740" marR="764540" indent="-320040">
              <a:lnSpc>
                <a:spcPts val="3910"/>
              </a:lnSpc>
              <a:spcBef>
                <a:spcPts val="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15">
                <a:latin typeface="Calibri"/>
                <a:cs typeface="Calibri"/>
              </a:rPr>
              <a:t>train </a:t>
            </a:r>
            <a:r>
              <a:rPr dirty="0" sz="3200" spc="-45" b="1">
                <a:solidFill>
                  <a:srgbClr val="0070C0"/>
                </a:solidFill>
                <a:latin typeface="Calibri"/>
                <a:cs typeface="Calibri"/>
              </a:rPr>
              <a:t>TransE </a:t>
            </a:r>
            <a:r>
              <a:rPr dirty="0" sz="3200" spc="-15">
                <a:latin typeface="Calibri"/>
                <a:cs typeface="Calibri"/>
              </a:rPr>
              <a:t>to optimize </a:t>
            </a:r>
            <a:r>
              <a:rPr dirty="0" sz="3200" spc="-10">
                <a:latin typeface="Calibri"/>
                <a:cs typeface="Calibri"/>
              </a:rPr>
              <a:t>knowledge  </a:t>
            </a:r>
            <a:r>
              <a:rPr dirty="0" sz="3200" spc="-15">
                <a:latin typeface="Calibri"/>
                <a:cs typeface="Calibri"/>
              </a:rPr>
              <a:t>graph </a:t>
            </a:r>
            <a:r>
              <a:rPr dirty="0" sz="3200" spc="-10">
                <a:latin typeface="Calibri"/>
                <a:cs typeface="Calibri"/>
              </a:rPr>
              <a:t>completion objective (Lecture</a:t>
            </a:r>
            <a:r>
              <a:rPr dirty="0" sz="3200" spc="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10)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65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Since </a:t>
            </a:r>
            <a:r>
              <a:rPr dirty="0" sz="3200" spc="-45" b="1">
                <a:solidFill>
                  <a:srgbClr val="0070C0"/>
                </a:solidFill>
                <a:latin typeface="Calibri"/>
                <a:cs typeface="Calibri"/>
              </a:rPr>
              <a:t>TransE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15">
                <a:latin typeface="Calibri"/>
                <a:cs typeface="Calibri"/>
              </a:rPr>
              <a:t>naturally </a:t>
            </a:r>
            <a:r>
              <a:rPr dirty="0" sz="3200">
                <a:latin typeface="Calibri"/>
                <a:cs typeface="Calibri"/>
              </a:rPr>
              <a:t>handle</a:t>
            </a:r>
            <a:r>
              <a:rPr dirty="0" sz="3200" spc="80"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composition</a:t>
            </a:r>
            <a:endParaRPr sz="3200">
              <a:latin typeface="Calibri"/>
              <a:cs typeface="Calibri"/>
            </a:endParaRPr>
          </a:p>
          <a:p>
            <a:pPr marL="332740" marR="5080">
              <a:lnSpc>
                <a:spcPts val="3790"/>
              </a:lnSpc>
              <a:spcBef>
                <a:spcPts val="240"/>
              </a:spcBef>
            </a:pPr>
            <a:r>
              <a:rPr dirty="0" sz="3200" spc="-10" b="1">
                <a:solidFill>
                  <a:srgbClr val="00B050"/>
                </a:solidFill>
                <a:latin typeface="Calibri"/>
                <a:cs typeface="Calibri"/>
              </a:rPr>
              <a:t>relations</a:t>
            </a:r>
            <a:r>
              <a:rPr dirty="0" sz="3200" spc="-10">
                <a:latin typeface="Calibri"/>
                <a:cs typeface="Calibri"/>
              </a:rPr>
              <a:t>, </a:t>
            </a:r>
            <a:r>
              <a:rPr dirty="0" sz="3200">
                <a:latin typeface="Calibri"/>
                <a:cs typeface="Calibri"/>
              </a:rPr>
              <a:t>it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>
                <a:latin typeface="Calibri"/>
                <a:cs typeface="Calibri"/>
              </a:rPr>
              <a:t>handle </a:t>
            </a:r>
            <a:r>
              <a:rPr dirty="0" sz="3200" spc="-10">
                <a:latin typeface="Calibri"/>
                <a:cs typeface="Calibri"/>
              </a:rPr>
              <a:t>path </a:t>
            </a:r>
            <a:r>
              <a:rPr dirty="0" sz="3200" spc="-5">
                <a:latin typeface="Calibri"/>
                <a:cs typeface="Calibri"/>
              </a:rPr>
              <a:t>queries by  </a:t>
            </a:r>
            <a:r>
              <a:rPr dirty="0" sz="3200" spc="-10">
                <a:latin typeface="Calibri"/>
                <a:cs typeface="Calibri"/>
              </a:rPr>
              <a:t>translating </a:t>
            </a:r>
            <a:r>
              <a:rPr dirty="0" sz="3200">
                <a:latin typeface="Calibri"/>
                <a:cs typeface="Calibri"/>
              </a:rPr>
              <a:t>in the </a:t>
            </a:r>
            <a:r>
              <a:rPr dirty="0" sz="3200" spc="-20">
                <a:latin typeface="Calibri"/>
                <a:cs typeface="Calibri"/>
              </a:rPr>
              <a:t>latent </a:t>
            </a:r>
            <a:r>
              <a:rPr dirty="0" sz="3200" spc="-5">
                <a:latin typeface="Calibri"/>
                <a:cs typeface="Calibri"/>
              </a:rPr>
              <a:t>space </a:t>
            </a:r>
            <a:r>
              <a:rPr dirty="0" sz="3200" spc="-20" b="1">
                <a:latin typeface="Calibri"/>
                <a:cs typeface="Calibri"/>
              </a:rPr>
              <a:t>for </a:t>
            </a:r>
            <a:r>
              <a:rPr dirty="0" sz="3200" spc="-5" b="1">
                <a:latin typeface="Calibri"/>
                <a:cs typeface="Calibri"/>
              </a:rPr>
              <a:t>multiple </a:t>
            </a:r>
            <a:r>
              <a:rPr dirty="0" sz="3200" spc="-10" b="1">
                <a:latin typeface="Calibri"/>
                <a:cs typeface="Calibri"/>
              </a:rPr>
              <a:t>hops  </a:t>
            </a:r>
            <a:r>
              <a:rPr dirty="0" sz="3200" spc="-5" b="1">
                <a:latin typeface="Calibri"/>
                <a:cs typeface="Calibri"/>
              </a:rPr>
              <a:t>using addition </a:t>
            </a:r>
            <a:r>
              <a:rPr dirty="0" sz="3200" b="1">
                <a:latin typeface="Calibri"/>
                <a:cs typeface="Calibri"/>
              </a:rPr>
              <a:t>of </a:t>
            </a:r>
            <a:r>
              <a:rPr dirty="0" sz="3200" spc="-10" b="1">
                <a:latin typeface="Calibri"/>
                <a:cs typeface="Calibri"/>
              </a:rPr>
              <a:t>relation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embeddings</a:t>
            </a:r>
            <a:r>
              <a:rPr dirty="0" sz="3200" spc="-5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32740" marR="654685" indent="-320040">
              <a:lnSpc>
                <a:spcPts val="3790"/>
              </a:lnSpc>
              <a:spcBef>
                <a:spcPts val="12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For </a:t>
            </a:r>
            <a:r>
              <a:rPr dirty="0" sz="3200" spc="-45" b="1">
                <a:solidFill>
                  <a:srgbClr val="7030A0"/>
                </a:solidFill>
                <a:latin typeface="Calibri"/>
                <a:cs typeface="Calibri"/>
              </a:rPr>
              <a:t>TransR </a:t>
            </a:r>
            <a:r>
              <a:rPr dirty="0" sz="3200">
                <a:latin typeface="Calibri"/>
                <a:cs typeface="Calibri"/>
              </a:rPr>
              <a:t>/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DistMult </a:t>
            </a:r>
            <a:r>
              <a:rPr dirty="0" sz="3200">
                <a:latin typeface="Calibri"/>
                <a:cs typeface="Calibri"/>
              </a:rPr>
              <a:t>/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ComplEx</a:t>
            </a:r>
            <a:r>
              <a:rPr dirty="0" sz="3200" spc="-5">
                <a:latin typeface="Calibri"/>
                <a:cs typeface="Calibri"/>
              </a:rPr>
              <a:t>, since </a:t>
            </a:r>
            <a:r>
              <a:rPr dirty="0" sz="3200" spc="-10">
                <a:latin typeface="Calibri"/>
                <a:cs typeface="Calibri"/>
              </a:rPr>
              <a:t>they  cannot </a:t>
            </a:r>
            <a:r>
              <a:rPr dirty="0" sz="3200">
                <a:latin typeface="Calibri"/>
                <a:cs typeface="Calibri"/>
              </a:rPr>
              <a:t>handle </a:t>
            </a:r>
            <a:r>
              <a:rPr dirty="0" sz="3200" spc="-5">
                <a:latin typeface="Calibri"/>
                <a:cs typeface="Calibri"/>
              </a:rPr>
              <a:t>composition </a:t>
            </a:r>
            <a:r>
              <a:rPr dirty="0" sz="3200" spc="-10">
                <a:latin typeface="Calibri"/>
                <a:cs typeface="Calibri"/>
              </a:rPr>
              <a:t>relations,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they</a:t>
            </a:r>
            <a:endParaRPr sz="3200">
              <a:latin typeface="Calibri"/>
              <a:cs typeface="Calibri"/>
            </a:endParaRPr>
          </a:p>
          <a:p>
            <a:pPr marL="332740" marR="1044575">
              <a:lnSpc>
                <a:spcPts val="3790"/>
              </a:lnSpc>
              <a:spcBef>
                <a:spcPts val="120"/>
              </a:spcBef>
            </a:pPr>
            <a:r>
              <a:rPr dirty="0" sz="3200" spc="-5">
                <a:latin typeface="Calibri"/>
                <a:cs typeface="Calibri"/>
              </a:rPr>
              <a:t>cannot </a:t>
            </a:r>
            <a:r>
              <a:rPr dirty="0" sz="3200">
                <a:latin typeface="Calibri"/>
                <a:cs typeface="Calibri"/>
              </a:rPr>
              <a:t>be </a:t>
            </a:r>
            <a:r>
              <a:rPr dirty="0" sz="3200" spc="-5">
                <a:latin typeface="Calibri"/>
                <a:cs typeface="Calibri"/>
              </a:rPr>
              <a:t>easily </a:t>
            </a:r>
            <a:r>
              <a:rPr dirty="0" sz="3200" spc="-15">
                <a:latin typeface="Calibri"/>
                <a:cs typeface="Calibri"/>
              </a:rPr>
              <a:t>extended to </a:t>
            </a:r>
            <a:r>
              <a:rPr dirty="0" sz="3200">
                <a:latin typeface="Calibri"/>
                <a:cs typeface="Calibri"/>
              </a:rPr>
              <a:t>handle </a:t>
            </a:r>
            <a:r>
              <a:rPr dirty="0" sz="3200" spc="-10" b="1">
                <a:latin typeface="Calibri"/>
                <a:cs typeface="Calibri"/>
              </a:rPr>
              <a:t>path  </a:t>
            </a:r>
            <a:r>
              <a:rPr dirty="0" sz="3200" spc="-5" b="1">
                <a:latin typeface="Calibri"/>
                <a:cs typeface="Calibri"/>
              </a:rPr>
              <a:t>queries</a:t>
            </a:r>
            <a:r>
              <a:rPr dirty="0" sz="3200" spc="-5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23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9103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265159" cy="187960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179070">
              <a:lnSpc>
                <a:spcPts val="3790"/>
              </a:lnSpc>
              <a:spcBef>
                <a:spcPts val="265"/>
              </a:spcBef>
            </a:pPr>
            <a:r>
              <a:rPr dirty="0" sz="3200" i="0">
                <a:latin typeface="Calibri"/>
                <a:cs typeface="Calibri"/>
              </a:rPr>
              <a:t>Can </a:t>
            </a:r>
            <a:r>
              <a:rPr dirty="0" sz="3200" spc="-15" i="0">
                <a:latin typeface="Calibri"/>
                <a:cs typeface="Calibri"/>
              </a:rPr>
              <a:t>we </a:t>
            </a:r>
            <a:r>
              <a:rPr dirty="0" sz="3200" spc="-10" i="0">
                <a:latin typeface="Calibri"/>
                <a:cs typeface="Calibri"/>
              </a:rPr>
              <a:t>answer </a:t>
            </a:r>
            <a:r>
              <a:rPr dirty="0" sz="3200" spc="-15" b="1" i="0">
                <a:latin typeface="Calibri"/>
                <a:cs typeface="Calibri"/>
              </a:rPr>
              <a:t>more complex </a:t>
            </a:r>
            <a:r>
              <a:rPr dirty="0" sz="3200" spc="-5" b="1" i="0">
                <a:latin typeface="Calibri"/>
                <a:cs typeface="Calibri"/>
              </a:rPr>
              <a:t>queries </a:t>
            </a:r>
            <a:r>
              <a:rPr dirty="0" sz="3200" b="1" i="0">
                <a:latin typeface="Calibri"/>
                <a:cs typeface="Calibri"/>
              </a:rPr>
              <a:t>with </a:t>
            </a:r>
            <a:r>
              <a:rPr dirty="0" sz="3200" spc="-5" b="1" i="0">
                <a:solidFill>
                  <a:srgbClr val="60B5CC"/>
                </a:solidFill>
                <a:latin typeface="Calibri"/>
                <a:cs typeface="Calibri"/>
              </a:rPr>
              <a:t>logic  </a:t>
            </a:r>
            <a:r>
              <a:rPr dirty="0" sz="3200" spc="-5" b="1" i="0">
                <a:solidFill>
                  <a:srgbClr val="FF0000"/>
                </a:solidFill>
                <a:latin typeface="Calibri"/>
                <a:cs typeface="Calibri"/>
              </a:rPr>
              <a:t>conjunction</a:t>
            </a:r>
            <a:r>
              <a:rPr dirty="0" sz="3200" spc="-70" b="1" i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200" spc="-15" b="1" i="0">
                <a:solidFill>
                  <a:srgbClr val="60B5CC"/>
                </a:solidFill>
                <a:latin typeface="Calibri"/>
                <a:cs typeface="Calibri"/>
              </a:rPr>
              <a:t>operation</a:t>
            </a:r>
            <a:r>
              <a:rPr dirty="0" sz="3200" spc="-15" i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ts val="3190"/>
              </a:lnSpc>
              <a:spcBef>
                <a:spcPts val="59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 i="0">
                <a:solidFill>
                  <a:srgbClr val="0070C0"/>
                </a:solidFill>
                <a:latin typeface="Calibri"/>
                <a:cs typeface="Calibri"/>
              </a:rPr>
              <a:t>Conjunctive </a:t>
            </a:r>
            <a:r>
              <a:rPr dirty="0" sz="3200" spc="-5" b="1" i="0">
                <a:solidFill>
                  <a:srgbClr val="0070C0"/>
                </a:solidFill>
                <a:latin typeface="Calibri"/>
                <a:cs typeface="Calibri"/>
              </a:rPr>
              <a:t>Queries: </a:t>
            </a:r>
            <a:r>
              <a:rPr dirty="0" sz="2500" spc="-5" i="0">
                <a:latin typeface="Calibri"/>
                <a:cs typeface="Calibri"/>
              </a:rPr>
              <a:t>“</a:t>
            </a:r>
            <a:r>
              <a:rPr dirty="0" sz="2500" spc="-5"/>
              <a:t>What </a:t>
            </a:r>
            <a:r>
              <a:rPr dirty="0" sz="2500"/>
              <a:t>are drugs that </a:t>
            </a:r>
            <a:r>
              <a:rPr dirty="0" sz="2500" spc="-5"/>
              <a:t>cause Short  </a:t>
            </a:r>
            <a:r>
              <a:rPr dirty="0" sz="2500" i="1"/>
              <a:t>of Breath and treat diseases </a:t>
            </a:r>
            <a:r>
              <a:rPr dirty="0" sz="2500" spc="-5" i="1"/>
              <a:t>associated </a:t>
            </a:r>
            <a:r>
              <a:rPr dirty="0" sz="2500" i="1"/>
              <a:t>with </a:t>
            </a:r>
            <a:r>
              <a:rPr dirty="0" sz="2500" spc="-5" i="1"/>
              <a:t>protein</a:t>
            </a:r>
            <a:r>
              <a:rPr dirty="0" sz="2500" spc="-55" i="1"/>
              <a:t> </a:t>
            </a:r>
            <a:r>
              <a:rPr dirty="0" sz="2500" i="1"/>
              <a:t>ESR2?”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26292" y="6137602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74366" y="8792"/>
                </a:lnTo>
                <a:lnTo>
                  <a:pt x="35663" y="32771"/>
                </a:lnTo>
                <a:lnTo>
                  <a:pt x="9568" y="68336"/>
                </a:lnTo>
                <a:lnTo>
                  <a:pt x="0" y="111888"/>
                </a:lnTo>
                <a:lnTo>
                  <a:pt x="9568" y="155440"/>
                </a:lnTo>
                <a:lnTo>
                  <a:pt x="35663" y="191005"/>
                </a:lnTo>
                <a:lnTo>
                  <a:pt x="74366" y="214984"/>
                </a:lnTo>
                <a:lnTo>
                  <a:pt x="121762" y="223777"/>
                </a:lnTo>
                <a:lnTo>
                  <a:pt x="169158" y="214984"/>
                </a:lnTo>
                <a:lnTo>
                  <a:pt x="207861" y="191005"/>
                </a:lnTo>
                <a:lnTo>
                  <a:pt x="233956" y="155440"/>
                </a:lnTo>
                <a:lnTo>
                  <a:pt x="243525" y="111888"/>
                </a:lnTo>
                <a:lnTo>
                  <a:pt x="233956" y="68336"/>
                </a:lnTo>
                <a:lnTo>
                  <a:pt x="207861" y="32771"/>
                </a:lnTo>
                <a:lnTo>
                  <a:pt x="169158" y="8792"/>
                </a:lnTo>
                <a:lnTo>
                  <a:pt x="121762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26292" y="6137602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169157" y="8792"/>
                </a:lnTo>
                <a:lnTo>
                  <a:pt x="207861" y="32771"/>
                </a:lnTo>
                <a:lnTo>
                  <a:pt x="233956" y="68336"/>
                </a:lnTo>
                <a:lnTo>
                  <a:pt x="243525" y="111888"/>
                </a:lnTo>
                <a:lnTo>
                  <a:pt x="233956" y="155440"/>
                </a:lnTo>
                <a:lnTo>
                  <a:pt x="207861" y="191005"/>
                </a:lnTo>
                <a:lnTo>
                  <a:pt x="169157" y="214984"/>
                </a:lnTo>
                <a:lnTo>
                  <a:pt x="121762" y="223777"/>
                </a:lnTo>
                <a:lnTo>
                  <a:pt x="74367" y="214984"/>
                </a:lnTo>
                <a:lnTo>
                  <a:pt x="35663" y="191005"/>
                </a:lnTo>
                <a:lnTo>
                  <a:pt x="9568" y="155440"/>
                </a:lnTo>
                <a:lnTo>
                  <a:pt x="0" y="111888"/>
                </a:lnTo>
                <a:lnTo>
                  <a:pt x="9568" y="68336"/>
                </a:lnTo>
                <a:lnTo>
                  <a:pt x="35663" y="32771"/>
                </a:lnTo>
                <a:lnTo>
                  <a:pt x="74367" y="8792"/>
                </a:lnTo>
                <a:lnTo>
                  <a:pt x="121762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57687" y="4742662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74366" y="8792"/>
                </a:lnTo>
                <a:lnTo>
                  <a:pt x="35663" y="32771"/>
                </a:lnTo>
                <a:lnTo>
                  <a:pt x="9568" y="68336"/>
                </a:lnTo>
                <a:lnTo>
                  <a:pt x="0" y="111888"/>
                </a:lnTo>
                <a:lnTo>
                  <a:pt x="9568" y="155440"/>
                </a:lnTo>
                <a:lnTo>
                  <a:pt x="35663" y="191005"/>
                </a:lnTo>
                <a:lnTo>
                  <a:pt x="74366" y="214984"/>
                </a:lnTo>
                <a:lnTo>
                  <a:pt x="121762" y="223777"/>
                </a:lnTo>
                <a:lnTo>
                  <a:pt x="169158" y="214984"/>
                </a:lnTo>
                <a:lnTo>
                  <a:pt x="207861" y="191005"/>
                </a:lnTo>
                <a:lnTo>
                  <a:pt x="233956" y="155440"/>
                </a:lnTo>
                <a:lnTo>
                  <a:pt x="243525" y="111888"/>
                </a:lnTo>
                <a:lnTo>
                  <a:pt x="233956" y="68336"/>
                </a:lnTo>
                <a:lnTo>
                  <a:pt x="207861" y="32771"/>
                </a:lnTo>
                <a:lnTo>
                  <a:pt x="169158" y="8792"/>
                </a:lnTo>
                <a:lnTo>
                  <a:pt x="121762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57687" y="4742662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169157" y="8792"/>
                </a:lnTo>
                <a:lnTo>
                  <a:pt x="207861" y="32771"/>
                </a:lnTo>
                <a:lnTo>
                  <a:pt x="233956" y="68336"/>
                </a:lnTo>
                <a:lnTo>
                  <a:pt x="243525" y="111888"/>
                </a:lnTo>
                <a:lnTo>
                  <a:pt x="233956" y="155440"/>
                </a:lnTo>
                <a:lnTo>
                  <a:pt x="207861" y="191005"/>
                </a:lnTo>
                <a:lnTo>
                  <a:pt x="169157" y="214984"/>
                </a:lnTo>
                <a:lnTo>
                  <a:pt x="121762" y="223777"/>
                </a:lnTo>
                <a:lnTo>
                  <a:pt x="74367" y="214984"/>
                </a:lnTo>
                <a:lnTo>
                  <a:pt x="35663" y="191005"/>
                </a:lnTo>
                <a:lnTo>
                  <a:pt x="9568" y="155440"/>
                </a:lnTo>
                <a:lnTo>
                  <a:pt x="0" y="111888"/>
                </a:lnTo>
                <a:lnTo>
                  <a:pt x="9568" y="68336"/>
                </a:lnTo>
                <a:lnTo>
                  <a:pt x="35663" y="32771"/>
                </a:lnTo>
                <a:lnTo>
                  <a:pt x="74367" y="8792"/>
                </a:lnTo>
                <a:lnTo>
                  <a:pt x="121762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439101" y="4699508"/>
            <a:ext cx="622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ES</a:t>
            </a:r>
            <a:r>
              <a:rPr dirty="0" sz="1800">
                <a:latin typeface="Arial"/>
                <a:cs typeface="Arial"/>
              </a:rPr>
              <a:t>R2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25425" y="5964428"/>
            <a:ext cx="82613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07950" marR="5080" indent="-95250">
              <a:lnSpc>
                <a:spcPts val="2090"/>
              </a:lnSpc>
              <a:spcBef>
                <a:spcPts val="225"/>
              </a:spcBef>
            </a:pPr>
            <a:r>
              <a:rPr dirty="0" sz="1800" spc="-5">
                <a:latin typeface="Arial"/>
                <a:cs typeface="Arial"/>
              </a:rPr>
              <a:t>Short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of  Breath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41956" y="4900676"/>
            <a:ext cx="648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ss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36401" y="4740700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74366" y="8792"/>
                </a:lnTo>
                <a:lnTo>
                  <a:pt x="35663" y="32771"/>
                </a:lnTo>
                <a:lnTo>
                  <a:pt x="9568" y="68337"/>
                </a:lnTo>
                <a:lnTo>
                  <a:pt x="0" y="111889"/>
                </a:lnTo>
                <a:lnTo>
                  <a:pt x="9568" y="155441"/>
                </a:lnTo>
                <a:lnTo>
                  <a:pt x="35663" y="191006"/>
                </a:lnTo>
                <a:lnTo>
                  <a:pt x="74366" y="214985"/>
                </a:lnTo>
                <a:lnTo>
                  <a:pt x="121762" y="223777"/>
                </a:lnTo>
                <a:lnTo>
                  <a:pt x="169158" y="214985"/>
                </a:lnTo>
                <a:lnTo>
                  <a:pt x="207861" y="191006"/>
                </a:lnTo>
                <a:lnTo>
                  <a:pt x="233956" y="155441"/>
                </a:lnTo>
                <a:lnTo>
                  <a:pt x="243525" y="111889"/>
                </a:lnTo>
                <a:lnTo>
                  <a:pt x="233956" y="68337"/>
                </a:lnTo>
                <a:lnTo>
                  <a:pt x="207861" y="32771"/>
                </a:lnTo>
                <a:lnTo>
                  <a:pt x="169158" y="8792"/>
                </a:lnTo>
                <a:lnTo>
                  <a:pt x="121762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36401" y="4740700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169157" y="8792"/>
                </a:lnTo>
                <a:lnTo>
                  <a:pt x="207861" y="32771"/>
                </a:lnTo>
                <a:lnTo>
                  <a:pt x="233956" y="68336"/>
                </a:lnTo>
                <a:lnTo>
                  <a:pt x="243525" y="111888"/>
                </a:lnTo>
                <a:lnTo>
                  <a:pt x="233956" y="155440"/>
                </a:lnTo>
                <a:lnTo>
                  <a:pt x="207861" y="191005"/>
                </a:lnTo>
                <a:lnTo>
                  <a:pt x="169157" y="214984"/>
                </a:lnTo>
                <a:lnTo>
                  <a:pt x="121762" y="223777"/>
                </a:lnTo>
                <a:lnTo>
                  <a:pt x="74367" y="214984"/>
                </a:lnTo>
                <a:lnTo>
                  <a:pt x="35663" y="191005"/>
                </a:lnTo>
                <a:lnTo>
                  <a:pt x="9568" y="155440"/>
                </a:lnTo>
                <a:lnTo>
                  <a:pt x="0" y="111888"/>
                </a:lnTo>
                <a:lnTo>
                  <a:pt x="9568" y="68336"/>
                </a:lnTo>
                <a:lnTo>
                  <a:pt x="35663" y="32771"/>
                </a:lnTo>
                <a:lnTo>
                  <a:pt x="74367" y="8792"/>
                </a:lnTo>
                <a:lnTo>
                  <a:pt x="121762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379889" y="4773358"/>
            <a:ext cx="1377950" cy="161925"/>
          </a:xfrm>
          <a:custGeom>
            <a:avLst/>
            <a:gdLst/>
            <a:ahLst/>
            <a:cxnLst/>
            <a:rect l="l" t="t" r="r" b="b"/>
            <a:pathLst>
              <a:path w="1377950" h="161925">
                <a:moveTo>
                  <a:pt x="1215836" y="107950"/>
                </a:moveTo>
                <a:lnTo>
                  <a:pt x="1215759" y="161924"/>
                </a:lnTo>
                <a:lnTo>
                  <a:pt x="1324016" y="107989"/>
                </a:lnTo>
                <a:lnTo>
                  <a:pt x="1242823" y="107989"/>
                </a:lnTo>
                <a:lnTo>
                  <a:pt x="1215836" y="107950"/>
                </a:lnTo>
                <a:close/>
              </a:path>
              <a:path w="1377950" h="161925">
                <a:moveTo>
                  <a:pt x="1215912" y="53975"/>
                </a:moveTo>
                <a:lnTo>
                  <a:pt x="1215836" y="107950"/>
                </a:lnTo>
                <a:lnTo>
                  <a:pt x="1242823" y="107989"/>
                </a:lnTo>
                <a:lnTo>
                  <a:pt x="1242900" y="54014"/>
                </a:lnTo>
                <a:lnTo>
                  <a:pt x="1215912" y="53975"/>
                </a:lnTo>
                <a:close/>
              </a:path>
              <a:path w="1377950" h="161925">
                <a:moveTo>
                  <a:pt x="1215989" y="0"/>
                </a:moveTo>
                <a:lnTo>
                  <a:pt x="1215912" y="53975"/>
                </a:lnTo>
                <a:lnTo>
                  <a:pt x="1242900" y="54014"/>
                </a:lnTo>
                <a:lnTo>
                  <a:pt x="1242823" y="107989"/>
                </a:lnTo>
                <a:lnTo>
                  <a:pt x="1324016" y="107989"/>
                </a:lnTo>
                <a:lnTo>
                  <a:pt x="1377798" y="81193"/>
                </a:lnTo>
                <a:lnTo>
                  <a:pt x="1215989" y="0"/>
                </a:lnTo>
                <a:close/>
              </a:path>
              <a:path w="1377950" h="161925">
                <a:moveTo>
                  <a:pt x="76" y="52243"/>
                </a:moveTo>
                <a:lnTo>
                  <a:pt x="0" y="106218"/>
                </a:lnTo>
                <a:lnTo>
                  <a:pt x="1215836" y="107950"/>
                </a:lnTo>
                <a:lnTo>
                  <a:pt x="1215912" y="53975"/>
                </a:lnTo>
                <a:lnTo>
                  <a:pt x="76" y="5224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624775" y="4931265"/>
            <a:ext cx="899794" cy="581660"/>
          </a:xfrm>
          <a:custGeom>
            <a:avLst/>
            <a:gdLst/>
            <a:ahLst/>
            <a:cxnLst/>
            <a:rect l="l" t="t" r="r" b="b"/>
            <a:pathLst>
              <a:path w="899795" h="581660">
                <a:moveTo>
                  <a:pt x="28804" y="0"/>
                </a:moveTo>
                <a:lnTo>
                  <a:pt x="0" y="45645"/>
                </a:lnTo>
                <a:lnTo>
                  <a:pt x="45645" y="74451"/>
                </a:lnTo>
                <a:lnTo>
                  <a:pt x="74451" y="28804"/>
                </a:lnTo>
                <a:lnTo>
                  <a:pt x="28804" y="0"/>
                </a:lnTo>
                <a:close/>
              </a:path>
              <a:path w="899795" h="581660">
                <a:moveTo>
                  <a:pt x="120096" y="57611"/>
                </a:moveTo>
                <a:lnTo>
                  <a:pt x="91291" y="103257"/>
                </a:lnTo>
                <a:lnTo>
                  <a:pt x="136936" y="132062"/>
                </a:lnTo>
                <a:lnTo>
                  <a:pt x="165742" y="86417"/>
                </a:lnTo>
                <a:lnTo>
                  <a:pt x="120096" y="57611"/>
                </a:lnTo>
                <a:close/>
              </a:path>
              <a:path w="899795" h="581660">
                <a:moveTo>
                  <a:pt x="211387" y="115223"/>
                </a:moveTo>
                <a:lnTo>
                  <a:pt x="182582" y="160868"/>
                </a:lnTo>
                <a:lnTo>
                  <a:pt x="228227" y="189674"/>
                </a:lnTo>
                <a:lnTo>
                  <a:pt x="257034" y="144028"/>
                </a:lnTo>
                <a:lnTo>
                  <a:pt x="211387" y="115223"/>
                </a:lnTo>
                <a:close/>
              </a:path>
              <a:path w="899795" h="581660">
                <a:moveTo>
                  <a:pt x="302679" y="172834"/>
                </a:moveTo>
                <a:lnTo>
                  <a:pt x="273874" y="218479"/>
                </a:lnTo>
                <a:lnTo>
                  <a:pt x="319519" y="247285"/>
                </a:lnTo>
                <a:lnTo>
                  <a:pt x="348325" y="201640"/>
                </a:lnTo>
                <a:lnTo>
                  <a:pt x="302679" y="172834"/>
                </a:lnTo>
                <a:close/>
              </a:path>
              <a:path w="899795" h="581660">
                <a:moveTo>
                  <a:pt x="393970" y="230445"/>
                </a:moveTo>
                <a:lnTo>
                  <a:pt x="365165" y="276091"/>
                </a:lnTo>
                <a:lnTo>
                  <a:pt x="410810" y="304896"/>
                </a:lnTo>
                <a:lnTo>
                  <a:pt x="439616" y="259251"/>
                </a:lnTo>
                <a:lnTo>
                  <a:pt x="393970" y="230445"/>
                </a:lnTo>
                <a:close/>
              </a:path>
              <a:path w="899795" h="581660">
                <a:moveTo>
                  <a:pt x="485261" y="288057"/>
                </a:moveTo>
                <a:lnTo>
                  <a:pt x="456457" y="333702"/>
                </a:lnTo>
                <a:lnTo>
                  <a:pt x="502102" y="362508"/>
                </a:lnTo>
                <a:lnTo>
                  <a:pt x="530908" y="316862"/>
                </a:lnTo>
                <a:lnTo>
                  <a:pt x="485261" y="288057"/>
                </a:lnTo>
                <a:close/>
              </a:path>
              <a:path w="899795" h="581660">
                <a:moveTo>
                  <a:pt x="576553" y="345668"/>
                </a:moveTo>
                <a:lnTo>
                  <a:pt x="547748" y="391313"/>
                </a:lnTo>
                <a:lnTo>
                  <a:pt x="593393" y="420119"/>
                </a:lnTo>
                <a:lnTo>
                  <a:pt x="622199" y="374474"/>
                </a:lnTo>
                <a:lnTo>
                  <a:pt x="576553" y="345668"/>
                </a:lnTo>
                <a:close/>
              </a:path>
              <a:path w="899795" h="581660">
                <a:moveTo>
                  <a:pt x="667844" y="403279"/>
                </a:moveTo>
                <a:lnTo>
                  <a:pt x="639039" y="448925"/>
                </a:lnTo>
                <a:lnTo>
                  <a:pt x="684684" y="477732"/>
                </a:lnTo>
                <a:lnTo>
                  <a:pt x="713491" y="432085"/>
                </a:lnTo>
                <a:lnTo>
                  <a:pt x="667844" y="403279"/>
                </a:lnTo>
                <a:close/>
              </a:path>
              <a:path w="899795" h="581660">
                <a:moveTo>
                  <a:pt x="747956" y="517659"/>
                </a:moveTo>
                <a:lnTo>
                  <a:pt x="719150" y="563305"/>
                </a:lnTo>
                <a:lnTo>
                  <a:pt x="899295" y="581254"/>
                </a:lnTo>
                <a:lnTo>
                  <a:pt x="869528" y="532062"/>
                </a:lnTo>
                <a:lnTo>
                  <a:pt x="770779" y="532062"/>
                </a:lnTo>
                <a:lnTo>
                  <a:pt x="747956" y="517659"/>
                </a:lnTo>
                <a:close/>
              </a:path>
              <a:path w="899795" h="581660">
                <a:moveTo>
                  <a:pt x="776762" y="472014"/>
                </a:moveTo>
                <a:lnTo>
                  <a:pt x="747956" y="517659"/>
                </a:lnTo>
                <a:lnTo>
                  <a:pt x="770779" y="532062"/>
                </a:lnTo>
                <a:lnTo>
                  <a:pt x="799585" y="486417"/>
                </a:lnTo>
                <a:lnTo>
                  <a:pt x="776762" y="472014"/>
                </a:lnTo>
                <a:close/>
              </a:path>
              <a:path w="899795" h="581660">
                <a:moveTo>
                  <a:pt x="805568" y="426368"/>
                </a:moveTo>
                <a:lnTo>
                  <a:pt x="776762" y="472014"/>
                </a:lnTo>
                <a:lnTo>
                  <a:pt x="799585" y="486417"/>
                </a:lnTo>
                <a:lnTo>
                  <a:pt x="770779" y="532062"/>
                </a:lnTo>
                <a:lnTo>
                  <a:pt x="869528" y="532062"/>
                </a:lnTo>
                <a:lnTo>
                  <a:pt x="805568" y="426368"/>
                </a:lnTo>
                <a:close/>
              </a:path>
              <a:path w="899795" h="581660">
                <a:moveTo>
                  <a:pt x="759136" y="460891"/>
                </a:moveTo>
                <a:lnTo>
                  <a:pt x="730331" y="506536"/>
                </a:lnTo>
                <a:lnTo>
                  <a:pt x="747956" y="517659"/>
                </a:lnTo>
                <a:lnTo>
                  <a:pt x="776762" y="472014"/>
                </a:lnTo>
                <a:lnTo>
                  <a:pt x="759136" y="4608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69816" y="6168529"/>
            <a:ext cx="1393190" cy="161925"/>
          </a:xfrm>
          <a:custGeom>
            <a:avLst/>
            <a:gdLst/>
            <a:ahLst/>
            <a:cxnLst/>
            <a:rect l="l" t="t" r="r" b="b"/>
            <a:pathLst>
              <a:path w="1393189" h="161925">
                <a:moveTo>
                  <a:pt x="1230817" y="107949"/>
                </a:moveTo>
                <a:lnTo>
                  <a:pt x="1230817" y="161925"/>
                </a:lnTo>
                <a:lnTo>
                  <a:pt x="1338768" y="107950"/>
                </a:lnTo>
                <a:lnTo>
                  <a:pt x="1230817" y="107949"/>
                </a:lnTo>
                <a:close/>
              </a:path>
              <a:path w="1393189" h="161925">
                <a:moveTo>
                  <a:pt x="1230817" y="53974"/>
                </a:moveTo>
                <a:lnTo>
                  <a:pt x="1230817" y="107949"/>
                </a:lnTo>
                <a:lnTo>
                  <a:pt x="1257805" y="107950"/>
                </a:lnTo>
                <a:lnTo>
                  <a:pt x="1257805" y="53975"/>
                </a:lnTo>
                <a:lnTo>
                  <a:pt x="1230817" y="53974"/>
                </a:lnTo>
                <a:close/>
              </a:path>
              <a:path w="1393189" h="161925">
                <a:moveTo>
                  <a:pt x="1230817" y="0"/>
                </a:moveTo>
                <a:lnTo>
                  <a:pt x="1230817" y="53974"/>
                </a:lnTo>
                <a:lnTo>
                  <a:pt x="1257805" y="53975"/>
                </a:lnTo>
                <a:lnTo>
                  <a:pt x="1257805" y="107950"/>
                </a:lnTo>
                <a:lnTo>
                  <a:pt x="1338769" y="107949"/>
                </a:lnTo>
                <a:lnTo>
                  <a:pt x="1392742" y="80962"/>
                </a:lnTo>
                <a:lnTo>
                  <a:pt x="1230817" y="0"/>
                </a:lnTo>
                <a:close/>
              </a:path>
              <a:path w="1393189" h="161925">
                <a:moveTo>
                  <a:pt x="0" y="53974"/>
                </a:moveTo>
                <a:lnTo>
                  <a:pt x="0" y="107949"/>
                </a:lnTo>
                <a:lnTo>
                  <a:pt x="1230817" y="107949"/>
                </a:lnTo>
                <a:lnTo>
                  <a:pt x="1230817" y="53974"/>
                </a:lnTo>
                <a:lnTo>
                  <a:pt x="0" y="53974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462558" y="6137602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74366" y="8792"/>
                </a:lnTo>
                <a:lnTo>
                  <a:pt x="35663" y="32771"/>
                </a:lnTo>
                <a:lnTo>
                  <a:pt x="9568" y="68336"/>
                </a:lnTo>
                <a:lnTo>
                  <a:pt x="0" y="111888"/>
                </a:lnTo>
                <a:lnTo>
                  <a:pt x="9568" y="155440"/>
                </a:lnTo>
                <a:lnTo>
                  <a:pt x="35663" y="191005"/>
                </a:lnTo>
                <a:lnTo>
                  <a:pt x="74366" y="214984"/>
                </a:lnTo>
                <a:lnTo>
                  <a:pt x="121762" y="223777"/>
                </a:lnTo>
                <a:lnTo>
                  <a:pt x="169157" y="214984"/>
                </a:lnTo>
                <a:lnTo>
                  <a:pt x="207861" y="191005"/>
                </a:lnTo>
                <a:lnTo>
                  <a:pt x="233956" y="155440"/>
                </a:lnTo>
                <a:lnTo>
                  <a:pt x="243525" y="111888"/>
                </a:lnTo>
                <a:lnTo>
                  <a:pt x="233956" y="68336"/>
                </a:lnTo>
                <a:lnTo>
                  <a:pt x="207861" y="32771"/>
                </a:lnTo>
                <a:lnTo>
                  <a:pt x="169157" y="8792"/>
                </a:lnTo>
                <a:lnTo>
                  <a:pt x="121762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462558" y="6137602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169157" y="8792"/>
                </a:lnTo>
                <a:lnTo>
                  <a:pt x="207861" y="32771"/>
                </a:lnTo>
                <a:lnTo>
                  <a:pt x="233956" y="68336"/>
                </a:lnTo>
                <a:lnTo>
                  <a:pt x="243525" y="111888"/>
                </a:lnTo>
                <a:lnTo>
                  <a:pt x="233956" y="155440"/>
                </a:lnTo>
                <a:lnTo>
                  <a:pt x="207861" y="191005"/>
                </a:lnTo>
                <a:lnTo>
                  <a:pt x="169157" y="214984"/>
                </a:lnTo>
                <a:lnTo>
                  <a:pt x="121762" y="223777"/>
                </a:lnTo>
                <a:lnTo>
                  <a:pt x="74367" y="214984"/>
                </a:lnTo>
                <a:lnTo>
                  <a:pt x="35663" y="191005"/>
                </a:lnTo>
                <a:lnTo>
                  <a:pt x="9568" y="155440"/>
                </a:lnTo>
                <a:lnTo>
                  <a:pt x="0" y="111888"/>
                </a:lnTo>
                <a:lnTo>
                  <a:pt x="9568" y="68336"/>
                </a:lnTo>
                <a:lnTo>
                  <a:pt x="35663" y="32771"/>
                </a:lnTo>
                <a:lnTo>
                  <a:pt x="74367" y="8792"/>
                </a:lnTo>
                <a:lnTo>
                  <a:pt x="121762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656786" y="5670753"/>
            <a:ext cx="867410" cy="523240"/>
          </a:xfrm>
          <a:custGeom>
            <a:avLst/>
            <a:gdLst/>
            <a:ahLst/>
            <a:cxnLst/>
            <a:rect l="l" t="t" r="r" b="b"/>
            <a:pathLst>
              <a:path w="867409" h="523239">
                <a:moveTo>
                  <a:pt x="46582" y="449066"/>
                </a:moveTo>
                <a:lnTo>
                  <a:pt x="0" y="476330"/>
                </a:lnTo>
                <a:lnTo>
                  <a:pt x="27263" y="522913"/>
                </a:lnTo>
                <a:lnTo>
                  <a:pt x="73846" y="495649"/>
                </a:lnTo>
                <a:lnTo>
                  <a:pt x="46582" y="449066"/>
                </a:lnTo>
                <a:close/>
              </a:path>
              <a:path w="867409" h="523239">
                <a:moveTo>
                  <a:pt x="139749" y="394538"/>
                </a:moveTo>
                <a:lnTo>
                  <a:pt x="93165" y="421802"/>
                </a:lnTo>
                <a:lnTo>
                  <a:pt x="120430" y="468385"/>
                </a:lnTo>
                <a:lnTo>
                  <a:pt x="167012" y="441121"/>
                </a:lnTo>
                <a:lnTo>
                  <a:pt x="139749" y="394538"/>
                </a:lnTo>
                <a:close/>
              </a:path>
              <a:path w="867409" h="523239">
                <a:moveTo>
                  <a:pt x="232915" y="340011"/>
                </a:moveTo>
                <a:lnTo>
                  <a:pt x="186331" y="367274"/>
                </a:lnTo>
                <a:lnTo>
                  <a:pt x="213596" y="413857"/>
                </a:lnTo>
                <a:lnTo>
                  <a:pt x="260178" y="386593"/>
                </a:lnTo>
                <a:lnTo>
                  <a:pt x="232915" y="340011"/>
                </a:lnTo>
                <a:close/>
              </a:path>
              <a:path w="867409" h="523239">
                <a:moveTo>
                  <a:pt x="326081" y="285483"/>
                </a:moveTo>
                <a:lnTo>
                  <a:pt x="279497" y="312747"/>
                </a:lnTo>
                <a:lnTo>
                  <a:pt x="306762" y="359330"/>
                </a:lnTo>
                <a:lnTo>
                  <a:pt x="353344" y="332066"/>
                </a:lnTo>
                <a:lnTo>
                  <a:pt x="326081" y="285483"/>
                </a:lnTo>
                <a:close/>
              </a:path>
              <a:path w="867409" h="523239">
                <a:moveTo>
                  <a:pt x="419247" y="230955"/>
                </a:moveTo>
                <a:lnTo>
                  <a:pt x="372663" y="258219"/>
                </a:lnTo>
                <a:lnTo>
                  <a:pt x="399928" y="304802"/>
                </a:lnTo>
                <a:lnTo>
                  <a:pt x="446511" y="277538"/>
                </a:lnTo>
                <a:lnTo>
                  <a:pt x="419247" y="230955"/>
                </a:lnTo>
                <a:close/>
              </a:path>
              <a:path w="867409" h="523239">
                <a:moveTo>
                  <a:pt x="512413" y="176427"/>
                </a:moveTo>
                <a:lnTo>
                  <a:pt x="465829" y="203691"/>
                </a:lnTo>
                <a:lnTo>
                  <a:pt x="493094" y="250274"/>
                </a:lnTo>
                <a:lnTo>
                  <a:pt x="539677" y="223010"/>
                </a:lnTo>
                <a:lnTo>
                  <a:pt x="512413" y="176427"/>
                </a:lnTo>
                <a:close/>
              </a:path>
              <a:path w="867409" h="523239">
                <a:moveTo>
                  <a:pt x="605579" y="121899"/>
                </a:moveTo>
                <a:lnTo>
                  <a:pt x="558996" y="149163"/>
                </a:lnTo>
                <a:lnTo>
                  <a:pt x="586259" y="195746"/>
                </a:lnTo>
                <a:lnTo>
                  <a:pt x="632843" y="168482"/>
                </a:lnTo>
                <a:lnTo>
                  <a:pt x="605579" y="121899"/>
                </a:lnTo>
                <a:close/>
              </a:path>
              <a:path w="867409" h="523239">
                <a:moveTo>
                  <a:pt x="867284" y="0"/>
                </a:moveTo>
                <a:lnTo>
                  <a:pt x="686639" y="11917"/>
                </a:lnTo>
                <a:lnTo>
                  <a:pt x="768431" y="151666"/>
                </a:lnTo>
                <a:lnTo>
                  <a:pt x="867284" y="0"/>
                </a:lnTo>
                <a:close/>
              </a:path>
              <a:path w="867409" h="523239">
                <a:moveTo>
                  <a:pt x="698745" y="67371"/>
                </a:moveTo>
                <a:lnTo>
                  <a:pt x="652162" y="94635"/>
                </a:lnTo>
                <a:lnTo>
                  <a:pt x="679425" y="141218"/>
                </a:lnTo>
                <a:lnTo>
                  <a:pt x="726009" y="113954"/>
                </a:lnTo>
                <a:lnTo>
                  <a:pt x="698745" y="67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220271" y="5882132"/>
            <a:ext cx="1080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au</a:t>
            </a: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s</a:t>
            </a: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edB</a:t>
            </a: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51765" y="4885435"/>
            <a:ext cx="1071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08463" y="4836667"/>
            <a:ext cx="1207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Intersection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34077" y="6001003"/>
            <a:ext cx="1207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Intersection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488407" y="5496203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40" h="224154">
                <a:moveTo>
                  <a:pt x="121762" y="0"/>
                </a:moveTo>
                <a:lnTo>
                  <a:pt x="74367" y="8792"/>
                </a:lnTo>
                <a:lnTo>
                  <a:pt x="35663" y="32771"/>
                </a:lnTo>
                <a:lnTo>
                  <a:pt x="9568" y="68336"/>
                </a:lnTo>
                <a:lnTo>
                  <a:pt x="0" y="111888"/>
                </a:lnTo>
                <a:lnTo>
                  <a:pt x="9568" y="155440"/>
                </a:lnTo>
                <a:lnTo>
                  <a:pt x="35663" y="191005"/>
                </a:lnTo>
                <a:lnTo>
                  <a:pt x="74367" y="214983"/>
                </a:lnTo>
                <a:lnTo>
                  <a:pt x="121762" y="223776"/>
                </a:lnTo>
                <a:lnTo>
                  <a:pt x="169158" y="214983"/>
                </a:lnTo>
                <a:lnTo>
                  <a:pt x="207861" y="191005"/>
                </a:lnTo>
                <a:lnTo>
                  <a:pt x="233956" y="155440"/>
                </a:lnTo>
                <a:lnTo>
                  <a:pt x="243525" y="111888"/>
                </a:lnTo>
                <a:lnTo>
                  <a:pt x="233956" y="68336"/>
                </a:lnTo>
                <a:lnTo>
                  <a:pt x="207861" y="32771"/>
                </a:lnTo>
                <a:lnTo>
                  <a:pt x="169158" y="8792"/>
                </a:lnTo>
                <a:lnTo>
                  <a:pt x="121762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488407" y="5496203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40" h="224154">
                <a:moveTo>
                  <a:pt x="121762" y="0"/>
                </a:moveTo>
                <a:lnTo>
                  <a:pt x="169157" y="8792"/>
                </a:lnTo>
                <a:lnTo>
                  <a:pt x="207861" y="32771"/>
                </a:lnTo>
                <a:lnTo>
                  <a:pt x="233956" y="68336"/>
                </a:lnTo>
                <a:lnTo>
                  <a:pt x="243525" y="111888"/>
                </a:lnTo>
                <a:lnTo>
                  <a:pt x="233956" y="155440"/>
                </a:lnTo>
                <a:lnTo>
                  <a:pt x="207861" y="191005"/>
                </a:lnTo>
                <a:lnTo>
                  <a:pt x="169157" y="214984"/>
                </a:lnTo>
                <a:lnTo>
                  <a:pt x="121762" y="223777"/>
                </a:lnTo>
                <a:lnTo>
                  <a:pt x="74367" y="214984"/>
                </a:lnTo>
                <a:lnTo>
                  <a:pt x="35663" y="191005"/>
                </a:lnTo>
                <a:lnTo>
                  <a:pt x="9568" y="155440"/>
                </a:lnTo>
                <a:lnTo>
                  <a:pt x="0" y="111888"/>
                </a:lnTo>
                <a:lnTo>
                  <a:pt x="9568" y="68336"/>
                </a:lnTo>
                <a:lnTo>
                  <a:pt x="35663" y="32771"/>
                </a:lnTo>
                <a:lnTo>
                  <a:pt x="74367" y="8792"/>
                </a:lnTo>
                <a:lnTo>
                  <a:pt x="121762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431316" y="4763081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74366" y="8792"/>
                </a:lnTo>
                <a:lnTo>
                  <a:pt x="35663" y="32771"/>
                </a:lnTo>
                <a:lnTo>
                  <a:pt x="9568" y="68336"/>
                </a:lnTo>
                <a:lnTo>
                  <a:pt x="0" y="111888"/>
                </a:lnTo>
                <a:lnTo>
                  <a:pt x="9568" y="155440"/>
                </a:lnTo>
                <a:lnTo>
                  <a:pt x="35663" y="191005"/>
                </a:lnTo>
                <a:lnTo>
                  <a:pt x="74366" y="214983"/>
                </a:lnTo>
                <a:lnTo>
                  <a:pt x="121762" y="223776"/>
                </a:lnTo>
                <a:lnTo>
                  <a:pt x="169157" y="214983"/>
                </a:lnTo>
                <a:lnTo>
                  <a:pt x="207861" y="191005"/>
                </a:lnTo>
                <a:lnTo>
                  <a:pt x="233956" y="155440"/>
                </a:lnTo>
                <a:lnTo>
                  <a:pt x="243525" y="111888"/>
                </a:lnTo>
                <a:lnTo>
                  <a:pt x="233956" y="68336"/>
                </a:lnTo>
                <a:lnTo>
                  <a:pt x="207861" y="32771"/>
                </a:lnTo>
                <a:lnTo>
                  <a:pt x="169157" y="8792"/>
                </a:lnTo>
                <a:lnTo>
                  <a:pt x="121762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431316" y="4763081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169157" y="8792"/>
                </a:lnTo>
                <a:lnTo>
                  <a:pt x="207861" y="32771"/>
                </a:lnTo>
                <a:lnTo>
                  <a:pt x="233956" y="68336"/>
                </a:lnTo>
                <a:lnTo>
                  <a:pt x="243525" y="111888"/>
                </a:lnTo>
                <a:lnTo>
                  <a:pt x="233956" y="155440"/>
                </a:lnTo>
                <a:lnTo>
                  <a:pt x="207861" y="191005"/>
                </a:lnTo>
                <a:lnTo>
                  <a:pt x="169157" y="214984"/>
                </a:lnTo>
                <a:lnTo>
                  <a:pt x="121762" y="223777"/>
                </a:lnTo>
                <a:lnTo>
                  <a:pt x="74367" y="214984"/>
                </a:lnTo>
                <a:lnTo>
                  <a:pt x="35663" y="191005"/>
                </a:lnTo>
                <a:lnTo>
                  <a:pt x="9568" y="155440"/>
                </a:lnTo>
                <a:lnTo>
                  <a:pt x="0" y="111888"/>
                </a:lnTo>
                <a:lnTo>
                  <a:pt x="9568" y="68336"/>
                </a:lnTo>
                <a:lnTo>
                  <a:pt x="35663" y="32771"/>
                </a:lnTo>
                <a:lnTo>
                  <a:pt x="74367" y="8792"/>
                </a:lnTo>
                <a:lnTo>
                  <a:pt x="121762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000827" y="4791704"/>
            <a:ext cx="1430655" cy="161925"/>
          </a:xfrm>
          <a:custGeom>
            <a:avLst/>
            <a:gdLst/>
            <a:ahLst/>
            <a:cxnLst/>
            <a:rect l="l" t="t" r="r" b="b"/>
            <a:pathLst>
              <a:path w="1430654" h="161925">
                <a:moveTo>
                  <a:pt x="1269735" y="0"/>
                </a:moveTo>
                <a:lnTo>
                  <a:pt x="1268964" y="53969"/>
                </a:lnTo>
                <a:lnTo>
                  <a:pt x="1295949" y="54354"/>
                </a:lnTo>
                <a:lnTo>
                  <a:pt x="1295179" y="108324"/>
                </a:lnTo>
                <a:lnTo>
                  <a:pt x="1268188" y="108324"/>
                </a:lnTo>
                <a:lnTo>
                  <a:pt x="1267423" y="161908"/>
                </a:lnTo>
                <a:lnTo>
                  <a:pt x="1378529" y="108324"/>
                </a:lnTo>
                <a:lnTo>
                  <a:pt x="1295179" y="108324"/>
                </a:lnTo>
                <a:lnTo>
                  <a:pt x="1268194" y="107939"/>
                </a:lnTo>
                <a:lnTo>
                  <a:pt x="1379328" y="107939"/>
                </a:lnTo>
                <a:lnTo>
                  <a:pt x="1430488" y="83266"/>
                </a:lnTo>
                <a:lnTo>
                  <a:pt x="1269735" y="0"/>
                </a:lnTo>
                <a:close/>
              </a:path>
              <a:path w="1430654" h="161925">
                <a:moveTo>
                  <a:pt x="1268964" y="53969"/>
                </a:moveTo>
                <a:lnTo>
                  <a:pt x="1268194" y="107939"/>
                </a:lnTo>
                <a:lnTo>
                  <a:pt x="1295179" y="108324"/>
                </a:lnTo>
                <a:lnTo>
                  <a:pt x="1295949" y="54354"/>
                </a:lnTo>
                <a:lnTo>
                  <a:pt x="1268964" y="53969"/>
                </a:lnTo>
                <a:close/>
              </a:path>
              <a:path w="1430654" h="161925">
                <a:moveTo>
                  <a:pt x="770" y="35862"/>
                </a:moveTo>
                <a:lnTo>
                  <a:pt x="0" y="89832"/>
                </a:lnTo>
                <a:lnTo>
                  <a:pt x="1268194" y="107939"/>
                </a:lnTo>
                <a:lnTo>
                  <a:pt x="1268964" y="53969"/>
                </a:lnTo>
                <a:lnTo>
                  <a:pt x="770" y="35862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48370" y="3203448"/>
            <a:ext cx="8162925" cy="1243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0">
              <a:lnSpc>
                <a:spcPct val="100000"/>
              </a:lnSpc>
              <a:spcBef>
                <a:spcPts val="100"/>
              </a:spcBef>
            </a:pPr>
            <a:r>
              <a:rPr dirty="0" sz="2300" spc="-5" b="1">
                <a:latin typeface="Calibri"/>
                <a:cs typeface="Calibri"/>
              </a:rPr>
              <a:t>((</a:t>
            </a:r>
            <a:r>
              <a:rPr dirty="0" sz="2300" spc="-5" b="1">
                <a:solidFill>
                  <a:srgbClr val="0070C0"/>
                </a:solidFill>
                <a:latin typeface="Calibri"/>
                <a:cs typeface="Calibri"/>
              </a:rPr>
              <a:t>e:ESR2</a:t>
            </a:r>
            <a:r>
              <a:rPr dirty="0" sz="2300" spc="-5" b="1">
                <a:latin typeface="Calibri"/>
                <a:cs typeface="Calibri"/>
              </a:rPr>
              <a:t>, (</a:t>
            </a:r>
            <a:r>
              <a:rPr dirty="0" sz="2300" spc="-5" b="1">
                <a:solidFill>
                  <a:srgbClr val="C00000"/>
                </a:solidFill>
                <a:latin typeface="Calibri"/>
                <a:cs typeface="Calibri"/>
              </a:rPr>
              <a:t>r:Assoc</a:t>
            </a:r>
            <a:r>
              <a:rPr dirty="0" sz="2300" spc="-5" b="1">
                <a:solidFill>
                  <a:srgbClr val="C55A11"/>
                </a:solidFill>
                <a:latin typeface="Calibri"/>
                <a:cs typeface="Calibri"/>
              </a:rPr>
              <a:t>, </a:t>
            </a:r>
            <a:r>
              <a:rPr dirty="0" sz="2300" spc="-20" b="1">
                <a:solidFill>
                  <a:srgbClr val="479249"/>
                </a:solidFill>
                <a:latin typeface="Calibri"/>
                <a:cs typeface="Calibri"/>
              </a:rPr>
              <a:t>r:TreatedBy</a:t>
            </a:r>
            <a:r>
              <a:rPr dirty="0" sz="2300" spc="-20" b="1">
                <a:latin typeface="Calibri"/>
                <a:cs typeface="Calibri"/>
              </a:rPr>
              <a:t>)), </a:t>
            </a:r>
            <a:r>
              <a:rPr dirty="0" sz="2300" spc="-5" b="1">
                <a:latin typeface="Calibri"/>
                <a:cs typeface="Calibri"/>
              </a:rPr>
              <a:t>(</a:t>
            </a:r>
            <a:r>
              <a:rPr dirty="0" sz="2300" spc="-5" b="1">
                <a:solidFill>
                  <a:srgbClr val="0070C0"/>
                </a:solidFill>
                <a:latin typeface="Calibri"/>
                <a:cs typeface="Calibri"/>
              </a:rPr>
              <a:t>e:Short </a:t>
            </a:r>
            <a:r>
              <a:rPr dirty="0" sz="2300" b="1">
                <a:solidFill>
                  <a:srgbClr val="0070C0"/>
                </a:solidFill>
                <a:latin typeface="Calibri"/>
                <a:cs typeface="Calibri"/>
              </a:rPr>
              <a:t>of </a:t>
            </a:r>
            <a:r>
              <a:rPr dirty="0" sz="2300" spc="-10" b="1">
                <a:solidFill>
                  <a:srgbClr val="0070C0"/>
                </a:solidFill>
                <a:latin typeface="Calibri"/>
                <a:cs typeface="Calibri"/>
              </a:rPr>
              <a:t>Breath</a:t>
            </a:r>
            <a:r>
              <a:rPr dirty="0" sz="2300" spc="-10" b="1">
                <a:latin typeface="Calibri"/>
                <a:cs typeface="Calibri"/>
              </a:rPr>
              <a:t>,</a:t>
            </a:r>
            <a:r>
              <a:rPr dirty="0" sz="2300" spc="10" b="1">
                <a:latin typeface="Calibri"/>
                <a:cs typeface="Calibri"/>
              </a:rPr>
              <a:t> </a:t>
            </a:r>
            <a:r>
              <a:rPr dirty="0" sz="2300" spc="-5" b="1">
                <a:latin typeface="Calibri"/>
                <a:cs typeface="Calibri"/>
              </a:rPr>
              <a:t>(</a:t>
            </a:r>
            <a:r>
              <a:rPr dirty="0" sz="2300" spc="-5" b="1">
                <a:solidFill>
                  <a:srgbClr val="B48200"/>
                </a:solidFill>
                <a:latin typeface="Calibri"/>
                <a:cs typeface="Calibri"/>
              </a:rPr>
              <a:t>r:CausedBy</a:t>
            </a:r>
            <a:r>
              <a:rPr dirty="0" sz="2300" spc="-5" b="1">
                <a:latin typeface="Calibri"/>
                <a:cs typeface="Calibri"/>
              </a:rPr>
              <a:t>))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500" spc="-5" b="1">
                <a:latin typeface="Arial"/>
                <a:cs typeface="Arial"/>
              </a:rPr>
              <a:t>Query</a:t>
            </a:r>
            <a:r>
              <a:rPr dirty="0" sz="2500" spc="-65" b="1">
                <a:latin typeface="Arial"/>
                <a:cs typeface="Arial"/>
              </a:rPr>
              <a:t> </a:t>
            </a:r>
            <a:r>
              <a:rPr dirty="0" sz="2500" spc="-5" b="1">
                <a:latin typeface="Arial"/>
                <a:cs typeface="Arial"/>
              </a:rPr>
              <a:t>plan:</a:t>
            </a:r>
            <a:endParaRPr sz="25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23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9103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8013065" cy="88519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32740" marR="5080" indent="-320040">
              <a:lnSpc>
                <a:spcPct val="101400"/>
              </a:lnSpc>
              <a:spcBef>
                <a:spcPts val="5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i="0">
                <a:latin typeface="Calibri"/>
                <a:cs typeface="Calibri"/>
              </a:rPr>
              <a:t>“</a:t>
            </a:r>
            <a:r>
              <a:rPr dirty="0" sz="2800" spc="-5"/>
              <a:t>What are drugs that </a:t>
            </a:r>
            <a:r>
              <a:rPr dirty="0" sz="2800" spc="-10"/>
              <a:t>cause </a:t>
            </a:r>
            <a:r>
              <a:rPr dirty="0" sz="2800" spc="-5"/>
              <a:t>Short </a:t>
            </a:r>
            <a:r>
              <a:rPr dirty="0" sz="2800"/>
              <a:t>of </a:t>
            </a:r>
            <a:r>
              <a:rPr dirty="0" sz="2800" spc="-5"/>
              <a:t>Breath and treat  </a:t>
            </a:r>
            <a:r>
              <a:rPr dirty="0" sz="2800" spc="-5" i="1"/>
              <a:t>diseases </a:t>
            </a:r>
            <a:r>
              <a:rPr dirty="0" sz="2800" spc="-10" i="1"/>
              <a:t>associated </a:t>
            </a:r>
            <a:r>
              <a:rPr dirty="0" sz="2800" spc="-5" i="1"/>
              <a:t>with </a:t>
            </a:r>
            <a:r>
              <a:rPr dirty="0" sz="2800" spc="-10" i="1"/>
              <a:t>protein</a:t>
            </a:r>
            <a:r>
              <a:rPr dirty="0" sz="2800" spc="5" i="1"/>
              <a:t> </a:t>
            </a:r>
            <a:r>
              <a:rPr dirty="0" sz="2800" i="1"/>
              <a:t>ESR2?”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212339"/>
            <a:ext cx="8370570" cy="1198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763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alibri"/>
                <a:cs typeface="Calibri"/>
              </a:rPr>
              <a:t>((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e:ESR2</a:t>
            </a:r>
            <a:r>
              <a:rPr dirty="0" sz="2400" spc="-5" b="1">
                <a:latin typeface="Calibri"/>
                <a:cs typeface="Calibri"/>
              </a:rPr>
              <a:t>, (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r:Assoc</a:t>
            </a:r>
            <a:r>
              <a:rPr dirty="0" sz="2400" spc="-5" b="1">
                <a:solidFill>
                  <a:srgbClr val="C55A11"/>
                </a:solidFill>
                <a:latin typeface="Calibri"/>
                <a:cs typeface="Calibri"/>
              </a:rPr>
              <a:t>, </a:t>
            </a:r>
            <a:r>
              <a:rPr dirty="0" sz="2400" spc="-20" b="1">
                <a:solidFill>
                  <a:srgbClr val="479249"/>
                </a:solidFill>
                <a:latin typeface="Calibri"/>
                <a:cs typeface="Calibri"/>
              </a:rPr>
              <a:t>r:TreatedBy</a:t>
            </a:r>
            <a:r>
              <a:rPr dirty="0" sz="2400" spc="-20" b="1">
                <a:latin typeface="Calibri"/>
                <a:cs typeface="Calibri"/>
              </a:rPr>
              <a:t>)),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e:Short of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Breath</a:t>
            </a:r>
            <a:r>
              <a:rPr dirty="0" sz="2400" spc="-10" b="1">
                <a:latin typeface="Calibri"/>
                <a:cs typeface="Calibri"/>
              </a:rPr>
              <a:t>,</a:t>
            </a:r>
            <a:r>
              <a:rPr dirty="0" sz="2400" spc="10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B48200"/>
                </a:solidFill>
                <a:latin typeface="Calibri"/>
                <a:cs typeface="Calibri"/>
              </a:rPr>
              <a:t>r:CausedBy</a:t>
            </a:r>
            <a:r>
              <a:rPr dirty="0" sz="2400" spc="-5" b="1">
                <a:latin typeface="Calibri"/>
                <a:cs typeface="Calibri"/>
              </a:rPr>
              <a:t>))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10"/>
              </a:spcBef>
            </a:pP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How do </a:t>
            </a:r>
            <a:r>
              <a:rPr dirty="0" sz="3200" spc="-15" b="1">
                <a:solidFill>
                  <a:srgbClr val="00B050"/>
                </a:solidFill>
                <a:latin typeface="Calibri"/>
                <a:cs typeface="Calibri"/>
              </a:rPr>
              <a:t>we answer </a:t>
            </a: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the </a:t>
            </a:r>
            <a:r>
              <a:rPr dirty="0" sz="3200" spc="-10" b="1">
                <a:solidFill>
                  <a:srgbClr val="00B050"/>
                </a:solidFill>
                <a:latin typeface="Calibri"/>
                <a:cs typeface="Calibri"/>
              </a:rPr>
              <a:t>question </a:t>
            </a:r>
            <a:r>
              <a:rPr dirty="0" sz="3200" spc="-15" b="1">
                <a:solidFill>
                  <a:srgbClr val="00B050"/>
                </a:solidFill>
                <a:latin typeface="Calibri"/>
                <a:cs typeface="Calibri"/>
              </a:rPr>
              <a:t>by </a:t>
            </a:r>
            <a:r>
              <a:rPr dirty="0" sz="3200" spc="-65" b="1">
                <a:solidFill>
                  <a:srgbClr val="00B050"/>
                </a:solidFill>
                <a:latin typeface="Calibri"/>
                <a:cs typeface="Calibri"/>
              </a:rPr>
              <a:t>KG</a:t>
            </a:r>
            <a:r>
              <a:rPr dirty="0" sz="3200" spc="75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00B050"/>
                </a:solidFill>
                <a:latin typeface="Calibri"/>
                <a:cs typeface="Calibri"/>
              </a:rPr>
              <a:t>traversal?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10597" y="3588705"/>
            <a:ext cx="5425205" cy="30569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4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23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84047"/>
            <a:ext cx="7818120" cy="475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i="0">
                <a:latin typeface="Calibri"/>
                <a:cs typeface="Calibri"/>
              </a:rPr>
              <a:t>“</a:t>
            </a:r>
            <a:r>
              <a:rPr dirty="0" sz="3200" spc="-5"/>
              <a:t>What </a:t>
            </a:r>
            <a:r>
              <a:rPr dirty="0" sz="3200"/>
              <a:t>are drugs that </a:t>
            </a:r>
            <a:r>
              <a:rPr dirty="0" sz="3200" spc="-5"/>
              <a:t>cause Short of Breath </a:t>
            </a:r>
            <a:r>
              <a:rPr dirty="0" sz="3200"/>
              <a:t>and  </a:t>
            </a:r>
            <a:r>
              <a:rPr dirty="0" sz="3200" spc="-5" i="1"/>
              <a:t>treat diseases associated with </a:t>
            </a:r>
            <a:r>
              <a:rPr dirty="0" sz="3200" spc="-10" i="1"/>
              <a:t>protein</a:t>
            </a:r>
            <a:r>
              <a:rPr dirty="0" sz="3200" spc="65" i="1"/>
              <a:t> </a:t>
            </a:r>
            <a:r>
              <a:rPr dirty="0" sz="3200" i="1"/>
              <a:t>ESR2?”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191004"/>
            <a:ext cx="8370570" cy="110871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87630">
              <a:lnSpc>
                <a:spcPct val="100000"/>
              </a:lnSpc>
              <a:spcBef>
                <a:spcPts val="1155"/>
              </a:spcBef>
            </a:pPr>
            <a:r>
              <a:rPr dirty="0" sz="2400" spc="-5" b="1">
                <a:latin typeface="Calibri"/>
                <a:cs typeface="Calibri"/>
              </a:rPr>
              <a:t>((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e:ESR2</a:t>
            </a:r>
            <a:r>
              <a:rPr dirty="0" sz="2400" spc="-5" b="1">
                <a:latin typeface="Calibri"/>
                <a:cs typeface="Calibri"/>
              </a:rPr>
              <a:t>, (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r:Assoc</a:t>
            </a:r>
            <a:r>
              <a:rPr dirty="0" sz="2400" spc="-5" b="1">
                <a:solidFill>
                  <a:srgbClr val="C55A11"/>
                </a:solidFill>
                <a:latin typeface="Calibri"/>
                <a:cs typeface="Calibri"/>
              </a:rPr>
              <a:t>, </a:t>
            </a:r>
            <a:r>
              <a:rPr dirty="0" sz="2400" spc="-20" b="1">
                <a:solidFill>
                  <a:srgbClr val="479249"/>
                </a:solidFill>
                <a:latin typeface="Calibri"/>
                <a:cs typeface="Calibri"/>
              </a:rPr>
              <a:t>r:TreatedBy</a:t>
            </a:r>
            <a:r>
              <a:rPr dirty="0" sz="2400" spc="-20" b="1">
                <a:latin typeface="Calibri"/>
                <a:cs typeface="Calibri"/>
              </a:rPr>
              <a:t>)),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e:Short of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Breath</a:t>
            </a:r>
            <a:r>
              <a:rPr dirty="0" sz="2400" spc="-10" b="1">
                <a:latin typeface="Calibri"/>
                <a:cs typeface="Calibri"/>
              </a:rPr>
              <a:t>,</a:t>
            </a:r>
            <a:r>
              <a:rPr dirty="0" sz="2400" spc="10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B48200"/>
                </a:solidFill>
                <a:latin typeface="Calibri"/>
                <a:cs typeface="Calibri"/>
              </a:rPr>
              <a:t>r:CausedBy</a:t>
            </a:r>
            <a:r>
              <a:rPr dirty="0" sz="2400" spc="-5" b="1">
                <a:latin typeface="Calibri"/>
                <a:cs typeface="Calibri"/>
              </a:rPr>
              <a:t>))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2800" spc="-50">
                <a:latin typeface="Calibri"/>
                <a:cs typeface="Calibri"/>
              </a:rPr>
              <a:t>Traverse </a:t>
            </a:r>
            <a:r>
              <a:rPr dirty="0" sz="2800" spc="-60">
                <a:latin typeface="Calibri"/>
                <a:cs typeface="Calibri"/>
              </a:rPr>
              <a:t>KG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 spc="-5" b="1">
                <a:latin typeface="Calibri"/>
                <a:cs typeface="Calibri"/>
              </a:rPr>
              <a:t>anchor nodes</a:t>
            </a:r>
            <a:r>
              <a:rPr dirty="0" sz="2800" spc="-5">
                <a:latin typeface="Calibri"/>
                <a:cs typeface="Calibri"/>
              </a:rPr>
              <a:t>: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ESR2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Short</a:t>
            </a:r>
            <a:r>
              <a:rPr dirty="0" sz="2800" spc="14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3280155"/>
            <a:ext cx="11137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0" b="1">
                <a:solidFill>
                  <a:srgbClr val="0070C0"/>
                </a:solidFill>
                <a:latin typeface="Calibri"/>
                <a:cs typeface="Calibri"/>
              </a:rPr>
              <a:t>B</a:t>
            </a:r>
            <a:r>
              <a:rPr dirty="0" sz="2800" spc="-30" b="1">
                <a:solidFill>
                  <a:srgbClr val="0070C0"/>
                </a:solidFill>
                <a:latin typeface="Calibri"/>
                <a:cs typeface="Calibri"/>
              </a:rPr>
              <a:t>r</a:t>
            </a:r>
            <a:r>
              <a:rPr dirty="0" sz="2800" b="1">
                <a:solidFill>
                  <a:srgbClr val="0070C0"/>
                </a:solidFill>
                <a:latin typeface="Calibri"/>
                <a:cs typeface="Calibri"/>
              </a:rPr>
              <a:t>e</a:t>
            </a:r>
            <a:r>
              <a:rPr dirty="0" sz="2800" spc="-25" b="1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r>
              <a:rPr dirty="0" sz="2800" spc="0" b="1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h</a:t>
            </a:r>
            <a:r>
              <a:rPr dirty="0" sz="2800" b="1">
                <a:solidFill>
                  <a:srgbClr val="0070C0"/>
                </a:solid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15736" y="46037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15736" y="46037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12371" y="4840732"/>
            <a:ext cx="5543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ESR2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39045" y="4031996"/>
            <a:ext cx="648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ss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73893" y="4380484"/>
            <a:ext cx="67945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3302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Breast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33644" y="4693727"/>
            <a:ext cx="1032510" cy="313055"/>
          </a:xfrm>
          <a:custGeom>
            <a:avLst/>
            <a:gdLst/>
            <a:ahLst/>
            <a:cxnLst/>
            <a:rect l="l" t="t" r="r" b="b"/>
            <a:pathLst>
              <a:path w="1032510" h="313054">
                <a:moveTo>
                  <a:pt x="916774" y="275687"/>
                </a:moveTo>
                <a:lnTo>
                  <a:pt x="907169" y="312557"/>
                </a:lnTo>
                <a:lnTo>
                  <a:pt x="1032184" y="286066"/>
                </a:lnTo>
                <a:lnTo>
                  <a:pt x="1025807" y="280489"/>
                </a:lnTo>
                <a:lnTo>
                  <a:pt x="935207" y="280489"/>
                </a:lnTo>
                <a:lnTo>
                  <a:pt x="916774" y="275687"/>
                </a:lnTo>
                <a:close/>
              </a:path>
              <a:path w="1032510" h="313054">
                <a:moveTo>
                  <a:pt x="926378" y="238818"/>
                </a:moveTo>
                <a:lnTo>
                  <a:pt x="916774" y="275687"/>
                </a:lnTo>
                <a:lnTo>
                  <a:pt x="935207" y="280489"/>
                </a:lnTo>
                <a:lnTo>
                  <a:pt x="944812" y="243620"/>
                </a:lnTo>
                <a:lnTo>
                  <a:pt x="926378" y="238818"/>
                </a:lnTo>
                <a:close/>
              </a:path>
              <a:path w="1032510" h="313054">
                <a:moveTo>
                  <a:pt x="935982" y="201949"/>
                </a:moveTo>
                <a:lnTo>
                  <a:pt x="926378" y="238818"/>
                </a:lnTo>
                <a:lnTo>
                  <a:pt x="944812" y="243620"/>
                </a:lnTo>
                <a:lnTo>
                  <a:pt x="935207" y="280489"/>
                </a:lnTo>
                <a:lnTo>
                  <a:pt x="1025807" y="280489"/>
                </a:lnTo>
                <a:lnTo>
                  <a:pt x="935982" y="201949"/>
                </a:lnTo>
                <a:close/>
              </a:path>
              <a:path w="1032510" h="313054">
                <a:moveTo>
                  <a:pt x="9603" y="0"/>
                </a:moveTo>
                <a:lnTo>
                  <a:pt x="0" y="36869"/>
                </a:lnTo>
                <a:lnTo>
                  <a:pt x="916774" y="275687"/>
                </a:lnTo>
                <a:lnTo>
                  <a:pt x="926378" y="238818"/>
                </a:lnTo>
                <a:lnTo>
                  <a:pt x="960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65828" y="487138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65828" y="487138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11584" y="393724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211584" y="393724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227681" y="4045649"/>
            <a:ext cx="984250" cy="682625"/>
          </a:xfrm>
          <a:custGeom>
            <a:avLst/>
            <a:gdLst/>
            <a:ahLst/>
            <a:cxnLst/>
            <a:rect l="l" t="t" r="r" b="b"/>
            <a:pathLst>
              <a:path w="984250" h="682625">
                <a:moveTo>
                  <a:pt x="878836" y="48871"/>
                </a:moveTo>
                <a:lnTo>
                  <a:pt x="0" y="650794"/>
                </a:lnTo>
                <a:lnTo>
                  <a:pt x="21529" y="682228"/>
                </a:lnTo>
                <a:lnTo>
                  <a:pt x="900365" y="80304"/>
                </a:lnTo>
                <a:lnTo>
                  <a:pt x="878836" y="48871"/>
                </a:lnTo>
                <a:close/>
              </a:path>
              <a:path w="984250" h="682625">
                <a:moveTo>
                  <a:pt x="962756" y="38106"/>
                </a:moveTo>
                <a:lnTo>
                  <a:pt x="894553" y="38106"/>
                </a:lnTo>
                <a:lnTo>
                  <a:pt x="916082" y="69540"/>
                </a:lnTo>
                <a:lnTo>
                  <a:pt x="900365" y="80304"/>
                </a:lnTo>
                <a:lnTo>
                  <a:pt x="921895" y="111739"/>
                </a:lnTo>
                <a:lnTo>
                  <a:pt x="962756" y="38106"/>
                </a:lnTo>
                <a:close/>
              </a:path>
              <a:path w="984250" h="682625">
                <a:moveTo>
                  <a:pt x="894553" y="38106"/>
                </a:moveTo>
                <a:lnTo>
                  <a:pt x="878836" y="48871"/>
                </a:lnTo>
                <a:lnTo>
                  <a:pt x="900365" y="80304"/>
                </a:lnTo>
                <a:lnTo>
                  <a:pt x="916082" y="69540"/>
                </a:lnTo>
                <a:lnTo>
                  <a:pt x="894553" y="38106"/>
                </a:lnTo>
                <a:close/>
              </a:path>
              <a:path w="984250" h="682625">
                <a:moveTo>
                  <a:pt x="983903" y="0"/>
                </a:moveTo>
                <a:lnTo>
                  <a:pt x="857307" y="17437"/>
                </a:lnTo>
                <a:lnTo>
                  <a:pt x="878836" y="48871"/>
                </a:lnTo>
                <a:lnTo>
                  <a:pt x="894553" y="38106"/>
                </a:lnTo>
                <a:lnTo>
                  <a:pt x="962756" y="38106"/>
                </a:lnTo>
                <a:lnTo>
                  <a:pt x="98390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945680" y="3678428"/>
            <a:ext cx="2878455" cy="1125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00400"/>
              </a:lnSpc>
              <a:spcBef>
                <a:spcPts val="90"/>
              </a:spcBef>
            </a:pPr>
            <a:r>
              <a:rPr dirty="0" sz="1800" spc="-35">
                <a:solidFill>
                  <a:srgbClr val="479249"/>
                </a:solidFill>
                <a:latin typeface="Calibri"/>
                <a:cs typeface="Calibri"/>
              </a:rPr>
              <a:t>Traverse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from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the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first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anchor 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“ESR2”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by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relation </a:t>
            </a:r>
            <a:r>
              <a:rPr dirty="0" sz="1800" spc="-45">
                <a:solidFill>
                  <a:srgbClr val="479249"/>
                </a:solidFill>
                <a:latin typeface="Calibri"/>
                <a:cs typeface="Calibri"/>
              </a:rPr>
              <a:t>“Assoc”,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we 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achieve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a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set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of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entities {“Lung 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Cancer”,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“Breast</a:t>
            </a:r>
            <a:r>
              <a:rPr dirty="0" sz="1800" spc="-30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1800" spc="0">
                <a:solidFill>
                  <a:srgbClr val="479249"/>
                </a:solidFill>
                <a:latin typeface="Calibri"/>
                <a:cs typeface="Calibri"/>
              </a:rPr>
              <a:t>Cancer”}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23</a:t>
            </a:fld>
          </a:p>
        </p:txBody>
      </p:sp>
      <p:sp>
        <p:nvSpPr>
          <p:cNvPr id="18" name="object 18"/>
          <p:cNvSpPr txBox="1"/>
          <p:nvPr/>
        </p:nvSpPr>
        <p:spPr>
          <a:xfrm>
            <a:off x="3020156" y="3435603"/>
            <a:ext cx="67945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10160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Lung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84047"/>
            <a:ext cx="7818120" cy="475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i="0">
                <a:latin typeface="Calibri"/>
                <a:cs typeface="Calibri"/>
              </a:rPr>
              <a:t>“</a:t>
            </a:r>
            <a:r>
              <a:rPr dirty="0" sz="3200" spc="-5"/>
              <a:t>What </a:t>
            </a:r>
            <a:r>
              <a:rPr dirty="0" sz="3200"/>
              <a:t>are drugs that </a:t>
            </a:r>
            <a:r>
              <a:rPr dirty="0" sz="3200" spc="-5"/>
              <a:t>cause Short of Breath </a:t>
            </a:r>
            <a:r>
              <a:rPr dirty="0" sz="3200"/>
              <a:t>and  </a:t>
            </a:r>
            <a:r>
              <a:rPr dirty="0" sz="3200" spc="-5" i="1"/>
              <a:t>treat diseases associated with </a:t>
            </a:r>
            <a:r>
              <a:rPr dirty="0" sz="3200" spc="-10" i="1"/>
              <a:t>protein</a:t>
            </a:r>
            <a:r>
              <a:rPr dirty="0" sz="3200" spc="65" i="1"/>
              <a:t> </a:t>
            </a:r>
            <a:r>
              <a:rPr dirty="0" sz="3200" i="1"/>
              <a:t>ESR2?”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191004"/>
            <a:ext cx="8363584" cy="110871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80645">
              <a:lnSpc>
                <a:spcPct val="100000"/>
              </a:lnSpc>
              <a:spcBef>
                <a:spcPts val="1155"/>
              </a:spcBef>
            </a:pPr>
            <a:r>
              <a:rPr dirty="0" sz="2400" spc="-5" b="1">
                <a:latin typeface="Calibri"/>
                <a:cs typeface="Calibri"/>
              </a:rPr>
              <a:t>((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e:ESR2</a:t>
            </a:r>
            <a:r>
              <a:rPr dirty="0" sz="2400" spc="-5" b="1">
                <a:latin typeface="Calibri"/>
                <a:cs typeface="Calibri"/>
              </a:rPr>
              <a:t>, (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r:Assoc</a:t>
            </a:r>
            <a:r>
              <a:rPr dirty="0" sz="2400" spc="-5" b="1">
                <a:solidFill>
                  <a:srgbClr val="C55A11"/>
                </a:solidFill>
                <a:latin typeface="Calibri"/>
                <a:cs typeface="Calibri"/>
              </a:rPr>
              <a:t>, </a:t>
            </a:r>
            <a:r>
              <a:rPr dirty="0" sz="2400" spc="-20" b="1">
                <a:solidFill>
                  <a:srgbClr val="479249"/>
                </a:solidFill>
                <a:latin typeface="Calibri"/>
                <a:cs typeface="Calibri"/>
              </a:rPr>
              <a:t>r:TreatedBy</a:t>
            </a:r>
            <a:r>
              <a:rPr dirty="0" sz="2400" spc="-20" b="1">
                <a:latin typeface="Calibri"/>
                <a:cs typeface="Calibri"/>
              </a:rPr>
              <a:t>)),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e:Short of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Breath</a:t>
            </a:r>
            <a:r>
              <a:rPr dirty="0" sz="2400" spc="-10" b="1">
                <a:latin typeface="Calibri"/>
                <a:cs typeface="Calibri"/>
              </a:rPr>
              <a:t>,</a:t>
            </a:r>
            <a:r>
              <a:rPr dirty="0" sz="2400" spc="10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B48200"/>
                </a:solidFill>
                <a:latin typeface="Calibri"/>
                <a:cs typeface="Calibri"/>
              </a:rPr>
              <a:t>r:CausedBy</a:t>
            </a:r>
            <a:r>
              <a:rPr dirty="0" sz="2400" spc="-5" b="1">
                <a:latin typeface="Calibri"/>
                <a:cs typeface="Calibri"/>
              </a:rPr>
              <a:t>))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2800" spc="-50">
                <a:latin typeface="Calibri"/>
                <a:cs typeface="Calibri"/>
              </a:rPr>
              <a:t>Traverse </a:t>
            </a:r>
            <a:r>
              <a:rPr dirty="0" sz="2800" spc="-60">
                <a:latin typeface="Calibri"/>
                <a:cs typeface="Calibri"/>
              </a:rPr>
              <a:t>KG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 spc="-5" b="1">
                <a:latin typeface="Calibri"/>
                <a:cs typeface="Calibri"/>
              </a:rPr>
              <a:t>anchor nodes</a:t>
            </a:r>
            <a:r>
              <a:rPr dirty="0" sz="2800" spc="-5">
                <a:latin typeface="Calibri"/>
                <a:cs typeface="Calibri"/>
              </a:rPr>
              <a:t>: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ESR2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Short</a:t>
            </a:r>
            <a:r>
              <a:rPr dirty="0" sz="2800" spc="14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3280155"/>
            <a:ext cx="11137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0" b="1">
                <a:solidFill>
                  <a:srgbClr val="0070C0"/>
                </a:solidFill>
                <a:latin typeface="Calibri"/>
                <a:cs typeface="Calibri"/>
              </a:rPr>
              <a:t>B</a:t>
            </a:r>
            <a:r>
              <a:rPr dirty="0" sz="2800" spc="-30" b="1">
                <a:solidFill>
                  <a:srgbClr val="0070C0"/>
                </a:solidFill>
                <a:latin typeface="Calibri"/>
                <a:cs typeface="Calibri"/>
              </a:rPr>
              <a:t>r</a:t>
            </a:r>
            <a:r>
              <a:rPr dirty="0" sz="2800" b="1">
                <a:solidFill>
                  <a:srgbClr val="0070C0"/>
                </a:solidFill>
                <a:latin typeface="Calibri"/>
                <a:cs typeface="Calibri"/>
              </a:rPr>
              <a:t>e</a:t>
            </a:r>
            <a:r>
              <a:rPr dirty="0" sz="2800" spc="-25" b="1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r>
              <a:rPr dirty="0" sz="2800" spc="0" b="1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h</a:t>
            </a:r>
            <a:r>
              <a:rPr dirty="0" sz="2800" b="1">
                <a:solidFill>
                  <a:srgbClr val="0070C0"/>
                </a:solid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54402" y="4371340"/>
            <a:ext cx="8153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r</a:t>
            </a:r>
            <a:r>
              <a:rPr dirty="0" sz="1600" spc="-5">
                <a:latin typeface="Arial"/>
                <a:cs typeface="Arial"/>
              </a:rPr>
              <a:t>i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ide</a:t>
            </a:r>
            <a:r>
              <a:rPr dirty="0" sz="160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12884" y="5245100"/>
            <a:ext cx="1071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42773" y="5078476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39330" y="462556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39329" y="462556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15736" y="46037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015736" y="46037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812371" y="4840732"/>
            <a:ext cx="5543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ESR2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39045" y="4031996"/>
            <a:ext cx="648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ss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73893" y="4380484"/>
            <a:ext cx="67945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3302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Breast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33644" y="4693727"/>
            <a:ext cx="1032510" cy="313055"/>
          </a:xfrm>
          <a:custGeom>
            <a:avLst/>
            <a:gdLst/>
            <a:ahLst/>
            <a:cxnLst/>
            <a:rect l="l" t="t" r="r" b="b"/>
            <a:pathLst>
              <a:path w="1032510" h="313054">
                <a:moveTo>
                  <a:pt x="916774" y="275687"/>
                </a:moveTo>
                <a:lnTo>
                  <a:pt x="907169" y="312557"/>
                </a:lnTo>
                <a:lnTo>
                  <a:pt x="1032184" y="286066"/>
                </a:lnTo>
                <a:lnTo>
                  <a:pt x="1025807" y="280489"/>
                </a:lnTo>
                <a:lnTo>
                  <a:pt x="935207" y="280489"/>
                </a:lnTo>
                <a:lnTo>
                  <a:pt x="916774" y="275687"/>
                </a:lnTo>
                <a:close/>
              </a:path>
              <a:path w="1032510" h="313054">
                <a:moveTo>
                  <a:pt x="926378" y="238818"/>
                </a:moveTo>
                <a:lnTo>
                  <a:pt x="916774" y="275687"/>
                </a:lnTo>
                <a:lnTo>
                  <a:pt x="935207" y="280489"/>
                </a:lnTo>
                <a:lnTo>
                  <a:pt x="944812" y="243620"/>
                </a:lnTo>
                <a:lnTo>
                  <a:pt x="926378" y="238818"/>
                </a:lnTo>
                <a:close/>
              </a:path>
              <a:path w="1032510" h="313054">
                <a:moveTo>
                  <a:pt x="935982" y="201949"/>
                </a:moveTo>
                <a:lnTo>
                  <a:pt x="926378" y="238818"/>
                </a:lnTo>
                <a:lnTo>
                  <a:pt x="944812" y="243620"/>
                </a:lnTo>
                <a:lnTo>
                  <a:pt x="935207" y="280489"/>
                </a:lnTo>
                <a:lnTo>
                  <a:pt x="1025807" y="280489"/>
                </a:lnTo>
                <a:lnTo>
                  <a:pt x="935982" y="201949"/>
                </a:lnTo>
                <a:close/>
              </a:path>
              <a:path w="1032510" h="313054">
                <a:moveTo>
                  <a:pt x="9603" y="0"/>
                </a:moveTo>
                <a:lnTo>
                  <a:pt x="0" y="36869"/>
                </a:lnTo>
                <a:lnTo>
                  <a:pt x="916774" y="275687"/>
                </a:lnTo>
                <a:lnTo>
                  <a:pt x="926378" y="238818"/>
                </a:lnTo>
                <a:lnTo>
                  <a:pt x="960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65828" y="487138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65828" y="487138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84864" y="4699941"/>
            <a:ext cx="1254760" cy="299085"/>
          </a:xfrm>
          <a:custGeom>
            <a:avLst/>
            <a:gdLst/>
            <a:ahLst/>
            <a:cxnLst/>
            <a:rect l="l" t="t" r="r" b="b"/>
            <a:pathLst>
              <a:path w="1254760" h="299085">
                <a:moveTo>
                  <a:pt x="1138636" y="37384"/>
                </a:moveTo>
                <a:lnTo>
                  <a:pt x="0" y="261160"/>
                </a:lnTo>
                <a:lnTo>
                  <a:pt x="7348" y="298545"/>
                </a:lnTo>
                <a:lnTo>
                  <a:pt x="1145983" y="74769"/>
                </a:lnTo>
                <a:lnTo>
                  <a:pt x="1138636" y="37384"/>
                </a:lnTo>
                <a:close/>
              </a:path>
              <a:path w="1254760" h="299085">
                <a:moveTo>
                  <a:pt x="1253288" y="33710"/>
                </a:moveTo>
                <a:lnTo>
                  <a:pt x="1157328" y="33710"/>
                </a:lnTo>
                <a:lnTo>
                  <a:pt x="1164676" y="71095"/>
                </a:lnTo>
                <a:lnTo>
                  <a:pt x="1145983" y="74769"/>
                </a:lnTo>
                <a:lnTo>
                  <a:pt x="1153331" y="112154"/>
                </a:lnTo>
                <a:lnTo>
                  <a:pt x="1254465" y="34036"/>
                </a:lnTo>
                <a:lnTo>
                  <a:pt x="1253288" y="33710"/>
                </a:lnTo>
                <a:close/>
              </a:path>
              <a:path w="1254760" h="299085">
                <a:moveTo>
                  <a:pt x="1157328" y="33710"/>
                </a:moveTo>
                <a:lnTo>
                  <a:pt x="1138636" y="37384"/>
                </a:lnTo>
                <a:lnTo>
                  <a:pt x="1145983" y="74769"/>
                </a:lnTo>
                <a:lnTo>
                  <a:pt x="1164676" y="71095"/>
                </a:lnTo>
                <a:lnTo>
                  <a:pt x="1157328" y="33710"/>
                </a:lnTo>
                <a:close/>
              </a:path>
              <a:path w="1254760" h="299085">
                <a:moveTo>
                  <a:pt x="1131289" y="0"/>
                </a:moveTo>
                <a:lnTo>
                  <a:pt x="1138636" y="37384"/>
                </a:lnTo>
                <a:lnTo>
                  <a:pt x="1157328" y="33710"/>
                </a:lnTo>
                <a:lnTo>
                  <a:pt x="1253288" y="33710"/>
                </a:lnTo>
                <a:lnTo>
                  <a:pt x="1131289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480842" y="4962367"/>
            <a:ext cx="1214755" cy="556895"/>
          </a:xfrm>
          <a:custGeom>
            <a:avLst/>
            <a:gdLst/>
            <a:ahLst/>
            <a:cxnLst/>
            <a:rect l="l" t="t" r="r" b="b"/>
            <a:pathLst>
              <a:path w="1214754" h="556895">
                <a:moveTo>
                  <a:pt x="1102156" y="521630"/>
                </a:moveTo>
                <a:lnTo>
                  <a:pt x="1086763" y="556483"/>
                </a:lnTo>
                <a:lnTo>
                  <a:pt x="1214409" y="550383"/>
                </a:lnTo>
                <a:lnTo>
                  <a:pt x="1196986" y="529327"/>
                </a:lnTo>
                <a:lnTo>
                  <a:pt x="1119582" y="529327"/>
                </a:lnTo>
                <a:lnTo>
                  <a:pt x="1102156" y="521630"/>
                </a:lnTo>
                <a:close/>
              </a:path>
              <a:path w="1214754" h="556895">
                <a:moveTo>
                  <a:pt x="1117549" y="486778"/>
                </a:moveTo>
                <a:lnTo>
                  <a:pt x="1102156" y="521630"/>
                </a:lnTo>
                <a:lnTo>
                  <a:pt x="1119582" y="529327"/>
                </a:lnTo>
                <a:lnTo>
                  <a:pt x="1134974" y="494474"/>
                </a:lnTo>
                <a:lnTo>
                  <a:pt x="1117549" y="486778"/>
                </a:lnTo>
                <a:close/>
              </a:path>
              <a:path w="1214754" h="556895">
                <a:moveTo>
                  <a:pt x="1132941" y="451926"/>
                </a:moveTo>
                <a:lnTo>
                  <a:pt x="1117549" y="486778"/>
                </a:lnTo>
                <a:lnTo>
                  <a:pt x="1134974" y="494474"/>
                </a:lnTo>
                <a:lnTo>
                  <a:pt x="1119582" y="529327"/>
                </a:lnTo>
                <a:lnTo>
                  <a:pt x="1196986" y="529327"/>
                </a:lnTo>
                <a:lnTo>
                  <a:pt x="1132941" y="451926"/>
                </a:lnTo>
                <a:close/>
              </a:path>
              <a:path w="1214754" h="556895">
                <a:moveTo>
                  <a:pt x="15392" y="0"/>
                </a:moveTo>
                <a:lnTo>
                  <a:pt x="0" y="34852"/>
                </a:lnTo>
                <a:lnTo>
                  <a:pt x="1102156" y="521630"/>
                </a:lnTo>
                <a:lnTo>
                  <a:pt x="1117549" y="486778"/>
                </a:lnTo>
                <a:lnTo>
                  <a:pt x="15392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11584" y="393724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211584" y="393724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704822" y="3971936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704822" y="3971936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227681" y="4045649"/>
            <a:ext cx="984250" cy="682625"/>
          </a:xfrm>
          <a:custGeom>
            <a:avLst/>
            <a:gdLst/>
            <a:ahLst/>
            <a:cxnLst/>
            <a:rect l="l" t="t" r="r" b="b"/>
            <a:pathLst>
              <a:path w="984250" h="682625">
                <a:moveTo>
                  <a:pt x="878836" y="48871"/>
                </a:moveTo>
                <a:lnTo>
                  <a:pt x="0" y="650794"/>
                </a:lnTo>
                <a:lnTo>
                  <a:pt x="21529" y="682228"/>
                </a:lnTo>
                <a:lnTo>
                  <a:pt x="900365" y="80304"/>
                </a:lnTo>
                <a:lnTo>
                  <a:pt x="878836" y="48871"/>
                </a:lnTo>
                <a:close/>
              </a:path>
              <a:path w="984250" h="682625">
                <a:moveTo>
                  <a:pt x="962756" y="38106"/>
                </a:moveTo>
                <a:lnTo>
                  <a:pt x="894553" y="38106"/>
                </a:lnTo>
                <a:lnTo>
                  <a:pt x="916082" y="69540"/>
                </a:lnTo>
                <a:lnTo>
                  <a:pt x="900365" y="80304"/>
                </a:lnTo>
                <a:lnTo>
                  <a:pt x="921895" y="111739"/>
                </a:lnTo>
                <a:lnTo>
                  <a:pt x="962756" y="38106"/>
                </a:lnTo>
                <a:close/>
              </a:path>
              <a:path w="984250" h="682625">
                <a:moveTo>
                  <a:pt x="894553" y="38106"/>
                </a:moveTo>
                <a:lnTo>
                  <a:pt x="878836" y="48871"/>
                </a:lnTo>
                <a:lnTo>
                  <a:pt x="900365" y="80304"/>
                </a:lnTo>
                <a:lnTo>
                  <a:pt x="916082" y="69540"/>
                </a:lnTo>
                <a:lnTo>
                  <a:pt x="894553" y="38106"/>
                </a:lnTo>
                <a:close/>
              </a:path>
              <a:path w="984250" h="682625">
                <a:moveTo>
                  <a:pt x="983903" y="0"/>
                </a:moveTo>
                <a:lnTo>
                  <a:pt x="857307" y="17437"/>
                </a:lnTo>
                <a:lnTo>
                  <a:pt x="878836" y="48871"/>
                </a:lnTo>
                <a:lnTo>
                  <a:pt x="894553" y="38106"/>
                </a:lnTo>
                <a:lnTo>
                  <a:pt x="962756" y="38106"/>
                </a:lnTo>
                <a:lnTo>
                  <a:pt x="98390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433775" y="4020094"/>
            <a:ext cx="1271270" cy="114300"/>
          </a:xfrm>
          <a:custGeom>
            <a:avLst/>
            <a:gdLst/>
            <a:ahLst/>
            <a:cxnLst/>
            <a:rect l="l" t="t" r="r" b="b"/>
            <a:pathLst>
              <a:path w="1271270" h="114300">
                <a:moveTo>
                  <a:pt x="1158350" y="0"/>
                </a:moveTo>
                <a:lnTo>
                  <a:pt x="1157310" y="38086"/>
                </a:lnTo>
                <a:lnTo>
                  <a:pt x="1176351" y="38606"/>
                </a:lnTo>
                <a:lnTo>
                  <a:pt x="1175311" y="76691"/>
                </a:lnTo>
                <a:lnTo>
                  <a:pt x="1156256" y="76691"/>
                </a:lnTo>
                <a:lnTo>
                  <a:pt x="1155230" y="114258"/>
                </a:lnTo>
                <a:lnTo>
                  <a:pt x="1235788" y="76691"/>
                </a:lnTo>
                <a:lnTo>
                  <a:pt x="1175311" y="76691"/>
                </a:lnTo>
                <a:lnTo>
                  <a:pt x="1156270" y="76171"/>
                </a:lnTo>
                <a:lnTo>
                  <a:pt x="1236902" y="76171"/>
                </a:lnTo>
                <a:lnTo>
                  <a:pt x="1271047" y="60248"/>
                </a:lnTo>
                <a:lnTo>
                  <a:pt x="1158350" y="0"/>
                </a:lnTo>
                <a:close/>
              </a:path>
              <a:path w="1271270" h="114300">
                <a:moveTo>
                  <a:pt x="1157310" y="38086"/>
                </a:moveTo>
                <a:lnTo>
                  <a:pt x="1156270" y="76171"/>
                </a:lnTo>
                <a:lnTo>
                  <a:pt x="1175311" y="76691"/>
                </a:lnTo>
                <a:lnTo>
                  <a:pt x="1176351" y="38606"/>
                </a:lnTo>
                <a:lnTo>
                  <a:pt x="1157310" y="38086"/>
                </a:lnTo>
                <a:close/>
              </a:path>
              <a:path w="1271270" h="114300">
                <a:moveTo>
                  <a:pt x="1040" y="6512"/>
                </a:moveTo>
                <a:lnTo>
                  <a:pt x="0" y="44598"/>
                </a:lnTo>
                <a:lnTo>
                  <a:pt x="1156270" y="76171"/>
                </a:lnTo>
                <a:lnTo>
                  <a:pt x="1157310" y="38086"/>
                </a:lnTo>
                <a:lnTo>
                  <a:pt x="1040" y="6512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695252" y="540434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695251" y="540434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945680" y="3678428"/>
            <a:ext cx="3081655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dirty="0" sz="1800" spc="-35">
                <a:solidFill>
                  <a:srgbClr val="479249"/>
                </a:solidFill>
                <a:latin typeface="Calibri"/>
                <a:cs typeface="Calibri"/>
              </a:rPr>
              <a:t>Traverse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from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a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set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of</a:t>
            </a:r>
            <a:r>
              <a:rPr dirty="0" sz="1800" spc="10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entities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ts val="2180"/>
              </a:lnSpc>
              <a:spcBef>
                <a:spcPts val="30"/>
              </a:spcBef>
            </a:pP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{“Lung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Cancer”,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“Breast </a:t>
            </a:r>
            <a:r>
              <a:rPr dirty="0" sz="1800" spc="0">
                <a:solidFill>
                  <a:srgbClr val="479249"/>
                </a:solidFill>
                <a:latin typeface="Calibri"/>
                <a:cs typeface="Calibri"/>
              </a:rPr>
              <a:t>Cancer”} 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by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relation </a:t>
            </a:r>
            <a:r>
              <a:rPr dirty="0" sz="1800" spc="-35">
                <a:solidFill>
                  <a:srgbClr val="479249"/>
                </a:solidFill>
                <a:latin typeface="Calibri"/>
                <a:cs typeface="Calibri"/>
              </a:rPr>
              <a:t>TreatedBy,</a:t>
            </a:r>
            <a:r>
              <a:rPr dirty="0" sz="1800" spc="-55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we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10"/>
              </a:lnSpc>
            </a:pP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achieve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a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set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of</a:t>
            </a:r>
            <a:r>
              <a:rPr dirty="0" sz="1800" spc="-60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entities</a:t>
            </a:r>
            <a:endParaRPr sz="1800">
              <a:latin typeface="Calibri"/>
              <a:cs typeface="Calibri"/>
            </a:endParaRPr>
          </a:p>
          <a:p>
            <a:pPr marL="12700" marR="807085">
              <a:lnSpc>
                <a:spcPts val="2180"/>
              </a:lnSpc>
              <a:spcBef>
                <a:spcPts val="35"/>
              </a:spcBef>
            </a:pPr>
            <a:r>
              <a:rPr dirty="0" sz="1800" spc="-25">
                <a:solidFill>
                  <a:srgbClr val="479249"/>
                </a:solidFill>
                <a:latin typeface="Calibri"/>
                <a:cs typeface="Calibri"/>
              </a:rPr>
              <a:t>{“Paclitaxel”, </a:t>
            </a:r>
            <a:r>
              <a:rPr dirty="0" sz="1800" spc="-35">
                <a:solidFill>
                  <a:srgbClr val="479249"/>
                </a:solidFill>
                <a:latin typeface="Calibri"/>
                <a:cs typeface="Calibri"/>
              </a:rPr>
              <a:t>“Arimidex”, 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“Fulvestrant”}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23</a:t>
            </a:fld>
          </a:p>
        </p:txBody>
      </p:sp>
      <p:sp>
        <p:nvSpPr>
          <p:cNvPr id="30" name="object 30"/>
          <p:cNvSpPr txBox="1"/>
          <p:nvPr/>
        </p:nvSpPr>
        <p:spPr>
          <a:xfrm>
            <a:off x="3020156" y="3435603"/>
            <a:ext cx="67945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10160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Lung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26952" y="3691635"/>
            <a:ext cx="89344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Pa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10">
                <a:latin typeface="Arial"/>
                <a:cs typeface="Arial"/>
              </a:rPr>
              <a:t>li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x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l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84047"/>
            <a:ext cx="7818120" cy="475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i="0">
                <a:latin typeface="Calibri"/>
                <a:cs typeface="Calibri"/>
              </a:rPr>
              <a:t>“</a:t>
            </a:r>
            <a:r>
              <a:rPr dirty="0" sz="3200" spc="-5"/>
              <a:t>What </a:t>
            </a:r>
            <a:r>
              <a:rPr dirty="0" sz="3200"/>
              <a:t>are drugs that </a:t>
            </a:r>
            <a:r>
              <a:rPr dirty="0" sz="3200" spc="-5"/>
              <a:t>cause Short of Breath </a:t>
            </a:r>
            <a:r>
              <a:rPr dirty="0" sz="3200"/>
              <a:t>and  </a:t>
            </a:r>
            <a:r>
              <a:rPr dirty="0" sz="3200" spc="-5" i="1"/>
              <a:t>treat diseases associated with </a:t>
            </a:r>
            <a:r>
              <a:rPr dirty="0" sz="3200" spc="-10" i="1"/>
              <a:t>protein</a:t>
            </a:r>
            <a:r>
              <a:rPr dirty="0" sz="3200" spc="65" i="1"/>
              <a:t> </a:t>
            </a:r>
            <a:r>
              <a:rPr dirty="0" sz="3200" i="1"/>
              <a:t>ESR2?”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191004"/>
            <a:ext cx="8363584" cy="154178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80645">
              <a:lnSpc>
                <a:spcPct val="100000"/>
              </a:lnSpc>
              <a:spcBef>
                <a:spcPts val="1155"/>
              </a:spcBef>
            </a:pPr>
            <a:r>
              <a:rPr dirty="0" sz="2400" spc="-5" b="1">
                <a:latin typeface="Calibri"/>
                <a:cs typeface="Calibri"/>
              </a:rPr>
              <a:t>((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e:ESR2</a:t>
            </a:r>
            <a:r>
              <a:rPr dirty="0" sz="2400" spc="-5" b="1">
                <a:latin typeface="Calibri"/>
                <a:cs typeface="Calibri"/>
              </a:rPr>
              <a:t>, (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r:Assoc</a:t>
            </a:r>
            <a:r>
              <a:rPr dirty="0" sz="2400" spc="-5" b="1">
                <a:solidFill>
                  <a:srgbClr val="C55A11"/>
                </a:solidFill>
                <a:latin typeface="Calibri"/>
                <a:cs typeface="Calibri"/>
              </a:rPr>
              <a:t>, </a:t>
            </a:r>
            <a:r>
              <a:rPr dirty="0" sz="2400" spc="-20" b="1">
                <a:solidFill>
                  <a:srgbClr val="479249"/>
                </a:solidFill>
                <a:latin typeface="Calibri"/>
                <a:cs typeface="Calibri"/>
              </a:rPr>
              <a:t>r:TreatedBy</a:t>
            </a:r>
            <a:r>
              <a:rPr dirty="0" sz="2400" spc="-20" b="1">
                <a:latin typeface="Calibri"/>
                <a:cs typeface="Calibri"/>
              </a:rPr>
              <a:t>)),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e:Short of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Breath</a:t>
            </a:r>
            <a:r>
              <a:rPr dirty="0" sz="2400" spc="-10" b="1">
                <a:latin typeface="Calibri"/>
                <a:cs typeface="Calibri"/>
              </a:rPr>
              <a:t>,</a:t>
            </a:r>
            <a:r>
              <a:rPr dirty="0" sz="2400" spc="10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B48200"/>
                </a:solidFill>
                <a:latin typeface="Calibri"/>
                <a:cs typeface="Calibri"/>
              </a:rPr>
              <a:t>r:CausedBy</a:t>
            </a:r>
            <a:r>
              <a:rPr dirty="0" sz="2400" spc="-5" b="1">
                <a:latin typeface="Calibri"/>
                <a:cs typeface="Calibri"/>
              </a:rPr>
              <a:t>))</a:t>
            </a:r>
            <a:endParaRPr sz="2400">
              <a:latin typeface="Calibri"/>
              <a:cs typeface="Calibri"/>
            </a:endParaRPr>
          </a:p>
          <a:p>
            <a:pPr marL="12700" marR="1027430">
              <a:lnSpc>
                <a:spcPct val="101400"/>
              </a:lnSpc>
              <a:spcBef>
                <a:spcPts val="1180"/>
              </a:spcBef>
            </a:pPr>
            <a:r>
              <a:rPr dirty="0" sz="2800" spc="-50">
                <a:latin typeface="Calibri"/>
                <a:cs typeface="Calibri"/>
              </a:rPr>
              <a:t>Traverse </a:t>
            </a:r>
            <a:r>
              <a:rPr dirty="0" sz="2800" spc="-60">
                <a:latin typeface="Calibri"/>
                <a:cs typeface="Calibri"/>
              </a:rPr>
              <a:t>KG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 spc="-5" b="1">
                <a:latin typeface="Calibri"/>
                <a:cs typeface="Calibri"/>
              </a:rPr>
              <a:t>anchor nodes</a:t>
            </a:r>
            <a:r>
              <a:rPr dirty="0" sz="2800" spc="-5">
                <a:latin typeface="Calibri"/>
                <a:cs typeface="Calibri"/>
              </a:rPr>
              <a:t>: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ESR2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Short of 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Breath: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2773" y="5078476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64163" y="5502128"/>
            <a:ext cx="1231265" cy="518159"/>
          </a:xfrm>
          <a:custGeom>
            <a:avLst/>
            <a:gdLst/>
            <a:ahLst/>
            <a:cxnLst/>
            <a:rect l="l" t="t" r="r" b="b"/>
            <a:pathLst>
              <a:path w="1231264" h="518160">
                <a:moveTo>
                  <a:pt x="1117886" y="35376"/>
                </a:moveTo>
                <a:lnTo>
                  <a:pt x="0" y="482442"/>
                </a:lnTo>
                <a:lnTo>
                  <a:pt x="14146" y="517818"/>
                </a:lnTo>
                <a:lnTo>
                  <a:pt x="1132034" y="70752"/>
                </a:lnTo>
                <a:lnTo>
                  <a:pt x="1117886" y="35376"/>
                </a:lnTo>
                <a:close/>
              </a:path>
              <a:path w="1231264" h="518160">
                <a:moveTo>
                  <a:pt x="1215369" y="28303"/>
                </a:moveTo>
                <a:lnTo>
                  <a:pt x="1135574" y="28303"/>
                </a:lnTo>
                <a:lnTo>
                  <a:pt x="1149722" y="63679"/>
                </a:lnTo>
                <a:lnTo>
                  <a:pt x="1132034" y="70752"/>
                </a:lnTo>
                <a:lnTo>
                  <a:pt x="1146181" y="106128"/>
                </a:lnTo>
                <a:lnTo>
                  <a:pt x="1215369" y="28303"/>
                </a:lnTo>
                <a:close/>
              </a:path>
              <a:path w="1231264" h="518160">
                <a:moveTo>
                  <a:pt x="1135574" y="28303"/>
                </a:moveTo>
                <a:lnTo>
                  <a:pt x="1117886" y="35376"/>
                </a:lnTo>
                <a:lnTo>
                  <a:pt x="1132034" y="70752"/>
                </a:lnTo>
                <a:lnTo>
                  <a:pt x="1149722" y="63679"/>
                </a:lnTo>
                <a:lnTo>
                  <a:pt x="1135574" y="28303"/>
                </a:lnTo>
                <a:close/>
              </a:path>
              <a:path w="1231264" h="518160">
                <a:moveTo>
                  <a:pt x="1103739" y="0"/>
                </a:moveTo>
                <a:lnTo>
                  <a:pt x="1117886" y="35376"/>
                </a:lnTo>
                <a:lnTo>
                  <a:pt x="1135574" y="28303"/>
                </a:lnTo>
                <a:lnTo>
                  <a:pt x="1215369" y="28303"/>
                </a:lnTo>
                <a:lnTo>
                  <a:pt x="1231088" y="10622"/>
                </a:lnTo>
                <a:lnTo>
                  <a:pt x="1103739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68794" y="5983366"/>
            <a:ext cx="1279525" cy="226060"/>
          </a:xfrm>
          <a:custGeom>
            <a:avLst/>
            <a:gdLst/>
            <a:ahLst/>
            <a:cxnLst/>
            <a:rect l="l" t="t" r="r" b="b"/>
            <a:pathLst>
              <a:path w="1279525" h="226060">
                <a:moveTo>
                  <a:pt x="1163322" y="188231"/>
                </a:moveTo>
                <a:lnTo>
                  <a:pt x="1158435" y="226017"/>
                </a:lnTo>
                <a:lnTo>
                  <a:pt x="1259945" y="190675"/>
                </a:lnTo>
                <a:lnTo>
                  <a:pt x="1182216" y="190675"/>
                </a:lnTo>
                <a:lnTo>
                  <a:pt x="1163322" y="188231"/>
                </a:lnTo>
                <a:close/>
              </a:path>
              <a:path w="1279525" h="226060">
                <a:moveTo>
                  <a:pt x="1168208" y="150446"/>
                </a:moveTo>
                <a:lnTo>
                  <a:pt x="1163322" y="188231"/>
                </a:lnTo>
                <a:lnTo>
                  <a:pt x="1182216" y="190675"/>
                </a:lnTo>
                <a:lnTo>
                  <a:pt x="1187102" y="152889"/>
                </a:lnTo>
                <a:lnTo>
                  <a:pt x="1168208" y="150446"/>
                </a:lnTo>
                <a:close/>
              </a:path>
              <a:path w="1279525" h="226060">
                <a:moveTo>
                  <a:pt x="1173095" y="112661"/>
                </a:moveTo>
                <a:lnTo>
                  <a:pt x="1168208" y="150446"/>
                </a:lnTo>
                <a:lnTo>
                  <a:pt x="1187102" y="152889"/>
                </a:lnTo>
                <a:lnTo>
                  <a:pt x="1182216" y="190675"/>
                </a:lnTo>
                <a:lnTo>
                  <a:pt x="1259945" y="190675"/>
                </a:lnTo>
                <a:lnTo>
                  <a:pt x="1279121" y="183998"/>
                </a:lnTo>
                <a:lnTo>
                  <a:pt x="1173095" y="112661"/>
                </a:lnTo>
                <a:close/>
              </a:path>
              <a:path w="1279525" h="226060">
                <a:moveTo>
                  <a:pt x="4885" y="0"/>
                </a:moveTo>
                <a:lnTo>
                  <a:pt x="0" y="37785"/>
                </a:lnTo>
                <a:lnTo>
                  <a:pt x="1163322" y="188231"/>
                </a:lnTo>
                <a:lnTo>
                  <a:pt x="1168208" y="150446"/>
                </a:lnTo>
                <a:lnTo>
                  <a:pt x="4885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48526" y="58938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6"/>
                </a:lnTo>
                <a:lnTo>
                  <a:pt x="111354" y="216816"/>
                </a:lnTo>
                <a:lnTo>
                  <a:pt x="154699" y="208296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48526" y="58938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47916" y="605895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6"/>
                </a:lnTo>
                <a:lnTo>
                  <a:pt x="111354" y="216816"/>
                </a:lnTo>
                <a:lnTo>
                  <a:pt x="154699" y="208296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47916" y="605895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695252" y="540434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95251" y="540434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945680" y="3678428"/>
            <a:ext cx="3075305" cy="13944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05"/>
              </a:spcBef>
            </a:pPr>
            <a:r>
              <a:rPr dirty="0" sz="1800" spc="-35">
                <a:solidFill>
                  <a:srgbClr val="479249"/>
                </a:solidFill>
                <a:latin typeface="Calibri"/>
                <a:cs typeface="Calibri"/>
              </a:rPr>
              <a:t>Traverse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from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the second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anchor 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“Short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of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Breath”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by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relation 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“CausedBy”,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we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achieve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a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set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of 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entities </a:t>
            </a:r>
            <a:r>
              <a:rPr dirty="0" sz="1800" spc="-20">
                <a:solidFill>
                  <a:srgbClr val="479249"/>
                </a:solidFill>
                <a:latin typeface="Calibri"/>
                <a:cs typeface="Calibri"/>
              </a:rPr>
              <a:t>{“Fulvestrant”,  </a:t>
            </a:r>
            <a:r>
              <a:rPr dirty="0" sz="1800" spc="-30">
                <a:solidFill>
                  <a:srgbClr val="479249"/>
                </a:solidFill>
                <a:latin typeface="Calibri"/>
                <a:cs typeface="Calibri"/>
              </a:rPr>
              <a:t>“Ketamin”,</a:t>
            </a:r>
            <a:r>
              <a:rPr dirty="0" sz="1800" spc="-35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“Paclitaxel”}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55204" y="4080343"/>
            <a:ext cx="1249680" cy="1932305"/>
          </a:xfrm>
          <a:custGeom>
            <a:avLst/>
            <a:gdLst/>
            <a:ahLst/>
            <a:cxnLst/>
            <a:rect l="l" t="t" r="r" b="b"/>
            <a:pathLst>
              <a:path w="1249679" h="1932304">
                <a:moveTo>
                  <a:pt x="1171846" y="85901"/>
                </a:moveTo>
                <a:lnTo>
                  <a:pt x="0" y="1911626"/>
                </a:lnTo>
                <a:lnTo>
                  <a:pt x="32063" y="1932206"/>
                </a:lnTo>
                <a:lnTo>
                  <a:pt x="1203908" y="106480"/>
                </a:lnTo>
                <a:lnTo>
                  <a:pt x="1171846" y="85901"/>
                </a:lnTo>
                <a:close/>
              </a:path>
              <a:path w="1249679" h="1932304">
                <a:moveTo>
                  <a:pt x="1242114" y="69871"/>
                </a:moveTo>
                <a:lnTo>
                  <a:pt x="1182135" y="69871"/>
                </a:lnTo>
                <a:lnTo>
                  <a:pt x="1214197" y="90450"/>
                </a:lnTo>
                <a:lnTo>
                  <a:pt x="1203908" y="106480"/>
                </a:lnTo>
                <a:lnTo>
                  <a:pt x="1235972" y="127060"/>
                </a:lnTo>
                <a:lnTo>
                  <a:pt x="1242114" y="69871"/>
                </a:lnTo>
                <a:close/>
              </a:path>
              <a:path w="1249679" h="1932304">
                <a:moveTo>
                  <a:pt x="1182135" y="69871"/>
                </a:moveTo>
                <a:lnTo>
                  <a:pt x="1171846" y="85901"/>
                </a:lnTo>
                <a:lnTo>
                  <a:pt x="1203908" y="106480"/>
                </a:lnTo>
                <a:lnTo>
                  <a:pt x="1214197" y="90450"/>
                </a:lnTo>
                <a:lnTo>
                  <a:pt x="1182135" y="69871"/>
                </a:lnTo>
                <a:close/>
              </a:path>
              <a:path w="1249679" h="1932304">
                <a:moveTo>
                  <a:pt x="1249617" y="0"/>
                </a:moveTo>
                <a:lnTo>
                  <a:pt x="1139781" y="65321"/>
                </a:lnTo>
                <a:lnTo>
                  <a:pt x="1171846" y="85901"/>
                </a:lnTo>
                <a:lnTo>
                  <a:pt x="1182135" y="69871"/>
                </a:lnTo>
                <a:lnTo>
                  <a:pt x="1242114" y="69871"/>
                </a:lnTo>
                <a:lnTo>
                  <a:pt x="1249617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04822" y="3971936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04822" y="3971936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326952" y="3691635"/>
            <a:ext cx="89344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Pa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10">
                <a:latin typeface="Arial"/>
                <a:cs typeface="Arial"/>
              </a:rPr>
              <a:t>li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x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l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14572" y="5740852"/>
            <a:ext cx="737870" cy="4933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69850" marR="5080" indent="-57150">
              <a:lnSpc>
                <a:spcPts val="1900"/>
              </a:lnSpc>
              <a:spcBef>
                <a:spcPts val="25"/>
              </a:spcBef>
            </a:pPr>
            <a:r>
              <a:rPr dirty="0" sz="1600" spc="-5">
                <a:latin typeface="Arial"/>
                <a:cs typeface="Arial"/>
              </a:rPr>
              <a:t>Short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  Breath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87236" y="5795716"/>
            <a:ext cx="770255" cy="252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5">
                <a:latin typeface="Arial"/>
                <a:cs typeface="Arial"/>
              </a:rPr>
              <a:t>Ke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73615" y="6269546"/>
            <a:ext cx="4343400" cy="595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40410">
              <a:lnSpc>
                <a:spcPts val="2090"/>
              </a:lnSpc>
            </a:pP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CausedBy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28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39173" y="4080343"/>
            <a:ext cx="1266190" cy="1943100"/>
          </a:xfrm>
          <a:custGeom>
            <a:avLst/>
            <a:gdLst/>
            <a:ahLst/>
            <a:cxnLst/>
            <a:rect l="l" t="t" r="r" b="b"/>
            <a:pathLst>
              <a:path w="1266189" h="1943100">
                <a:moveTo>
                  <a:pt x="1110105" y="171801"/>
                </a:moveTo>
                <a:lnTo>
                  <a:pt x="0" y="1901336"/>
                </a:lnTo>
                <a:lnTo>
                  <a:pt x="64126" y="1942496"/>
                </a:lnTo>
                <a:lnTo>
                  <a:pt x="1174232" y="212961"/>
                </a:lnTo>
                <a:lnTo>
                  <a:pt x="1110105" y="171801"/>
                </a:lnTo>
                <a:close/>
              </a:path>
              <a:path w="1266189" h="1943100">
                <a:moveTo>
                  <a:pt x="1250642" y="139738"/>
                </a:moveTo>
                <a:lnTo>
                  <a:pt x="1130684" y="139738"/>
                </a:lnTo>
                <a:lnTo>
                  <a:pt x="1194812" y="180898"/>
                </a:lnTo>
                <a:lnTo>
                  <a:pt x="1174232" y="212961"/>
                </a:lnTo>
                <a:lnTo>
                  <a:pt x="1238359" y="254121"/>
                </a:lnTo>
                <a:lnTo>
                  <a:pt x="1250642" y="139738"/>
                </a:lnTo>
                <a:close/>
              </a:path>
              <a:path w="1266189" h="1943100">
                <a:moveTo>
                  <a:pt x="1130684" y="139738"/>
                </a:moveTo>
                <a:lnTo>
                  <a:pt x="1110105" y="171801"/>
                </a:lnTo>
                <a:lnTo>
                  <a:pt x="1174232" y="212961"/>
                </a:lnTo>
                <a:lnTo>
                  <a:pt x="1194812" y="180898"/>
                </a:lnTo>
                <a:lnTo>
                  <a:pt x="1130684" y="139738"/>
                </a:lnTo>
                <a:close/>
              </a:path>
              <a:path w="1266189" h="1943100">
                <a:moveTo>
                  <a:pt x="1265648" y="0"/>
                </a:moveTo>
                <a:lnTo>
                  <a:pt x="1045978" y="130641"/>
                </a:lnTo>
                <a:lnTo>
                  <a:pt x="1110105" y="171801"/>
                </a:lnTo>
                <a:lnTo>
                  <a:pt x="1130684" y="139738"/>
                </a:lnTo>
                <a:lnTo>
                  <a:pt x="1250642" y="139738"/>
                </a:lnTo>
                <a:lnTo>
                  <a:pt x="1265648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48640" y="384047"/>
            <a:ext cx="7818120" cy="475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i="0">
                <a:latin typeface="Calibri"/>
                <a:cs typeface="Calibri"/>
              </a:rPr>
              <a:t>“</a:t>
            </a:r>
            <a:r>
              <a:rPr dirty="0" sz="3200" spc="-5"/>
              <a:t>What </a:t>
            </a:r>
            <a:r>
              <a:rPr dirty="0" sz="3200"/>
              <a:t>are drugs that </a:t>
            </a:r>
            <a:r>
              <a:rPr dirty="0" sz="3200" spc="-5"/>
              <a:t>cause Short of Breath </a:t>
            </a:r>
            <a:r>
              <a:rPr dirty="0" sz="3200"/>
              <a:t>and  </a:t>
            </a:r>
            <a:r>
              <a:rPr dirty="0" sz="3200" spc="-5" i="1"/>
              <a:t>treat diseases associated with </a:t>
            </a:r>
            <a:r>
              <a:rPr dirty="0" sz="3200" spc="-10" i="1"/>
              <a:t>protein</a:t>
            </a:r>
            <a:r>
              <a:rPr dirty="0" sz="3200" spc="65" i="1"/>
              <a:t> </a:t>
            </a:r>
            <a:r>
              <a:rPr dirty="0" sz="3200" i="1"/>
              <a:t>ESR2?”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2191004"/>
            <a:ext cx="8370570" cy="110871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87630">
              <a:lnSpc>
                <a:spcPct val="100000"/>
              </a:lnSpc>
              <a:spcBef>
                <a:spcPts val="1155"/>
              </a:spcBef>
            </a:pPr>
            <a:r>
              <a:rPr dirty="0" sz="2400" spc="-5" b="1">
                <a:latin typeface="Calibri"/>
                <a:cs typeface="Calibri"/>
              </a:rPr>
              <a:t>((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e:ESR2</a:t>
            </a:r>
            <a:r>
              <a:rPr dirty="0" sz="2400" spc="-5" b="1">
                <a:latin typeface="Calibri"/>
                <a:cs typeface="Calibri"/>
              </a:rPr>
              <a:t>, (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r:Assoc</a:t>
            </a:r>
            <a:r>
              <a:rPr dirty="0" sz="2400" spc="-5" b="1">
                <a:solidFill>
                  <a:srgbClr val="C55A11"/>
                </a:solidFill>
                <a:latin typeface="Calibri"/>
                <a:cs typeface="Calibri"/>
              </a:rPr>
              <a:t>, </a:t>
            </a:r>
            <a:r>
              <a:rPr dirty="0" sz="2400" spc="-20" b="1">
                <a:solidFill>
                  <a:srgbClr val="479249"/>
                </a:solidFill>
                <a:latin typeface="Calibri"/>
                <a:cs typeface="Calibri"/>
              </a:rPr>
              <a:t>r:TreatedBy</a:t>
            </a:r>
            <a:r>
              <a:rPr dirty="0" sz="2400" spc="-20" b="1">
                <a:latin typeface="Calibri"/>
                <a:cs typeface="Calibri"/>
              </a:rPr>
              <a:t>)),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e:Short of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Breath</a:t>
            </a:r>
            <a:r>
              <a:rPr dirty="0" sz="2400" spc="-10" b="1">
                <a:latin typeface="Calibri"/>
                <a:cs typeface="Calibri"/>
              </a:rPr>
              <a:t>,</a:t>
            </a:r>
            <a:r>
              <a:rPr dirty="0" sz="2400" spc="10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B48200"/>
                </a:solidFill>
                <a:latin typeface="Calibri"/>
                <a:cs typeface="Calibri"/>
              </a:rPr>
              <a:t>r:CausedBy</a:t>
            </a:r>
            <a:r>
              <a:rPr dirty="0" sz="2400" spc="-5" b="1">
                <a:latin typeface="Calibri"/>
                <a:cs typeface="Calibri"/>
              </a:rPr>
              <a:t>))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2800" spc="-50">
                <a:latin typeface="Calibri"/>
                <a:cs typeface="Calibri"/>
              </a:rPr>
              <a:t>Traverse </a:t>
            </a:r>
            <a:r>
              <a:rPr dirty="0" sz="2800" spc="-60">
                <a:latin typeface="Calibri"/>
                <a:cs typeface="Calibri"/>
              </a:rPr>
              <a:t>KG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 spc="-5" b="1">
                <a:latin typeface="Calibri"/>
                <a:cs typeface="Calibri"/>
              </a:rPr>
              <a:t>anchor nodes</a:t>
            </a:r>
            <a:r>
              <a:rPr dirty="0" sz="2800" spc="-5">
                <a:latin typeface="Calibri"/>
                <a:cs typeface="Calibri"/>
              </a:rPr>
              <a:t>: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ESR2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Short</a:t>
            </a:r>
            <a:r>
              <a:rPr dirty="0" sz="2800" spc="14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3280155"/>
            <a:ext cx="11137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0" b="1">
                <a:solidFill>
                  <a:srgbClr val="0070C0"/>
                </a:solidFill>
                <a:latin typeface="Calibri"/>
                <a:cs typeface="Calibri"/>
              </a:rPr>
              <a:t>B</a:t>
            </a:r>
            <a:r>
              <a:rPr dirty="0" sz="2800" spc="-30" b="1">
                <a:solidFill>
                  <a:srgbClr val="0070C0"/>
                </a:solidFill>
                <a:latin typeface="Calibri"/>
                <a:cs typeface="Calibri"/>
              </a:rPr>
              <a:t>r</a:t>
            </a:r>
            <a:r>
              <a:rPr dirty="0" sz="2800" b="1">
                <a:solidFill>
                  <a:srgbClr val="0070C0"/>
                </a:solidFill>
                <a:latin typeface="Calibri"/>
                <a:cs typeface="Calibri"/>
              </a:rPr>
              <a:t>e</a:t>
            </a:r>
            <a:r>
              <a:rPr dirty="0" sz="2800" spc="-25" b="1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r>
              <a:rPr dirty="0" sz="2800" spc="0" b="1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h</a:t>
            </a:r>
            <a:r>
              <a:rPr dirty="0" sz="2800" b="1">
                <a:solidFill>
                  <a:srgbClr val="0070C0"/>
                </a:solid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54402" y="4371340"/>
            <a:ext cx="8153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r</a:t>
            </a:r>
            <a:r>
              <a:rPr dirty="0" sz="1600" spc="-5">
                <a:latin typeface="Arial"/>
                <a:cs typeface="Arial"/>
              </a:rPr>
              <a:t>i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ide</a:t>
            </a:r>
            <a:r>
              <a:rPr dirty="0" sz="160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12884" y="5245100"/>
            <a:ext cx="1071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42773" y="5078476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57065" y="5483367"/>
            <a:ext cx="1256665" cy="554355"/>
          </a:xfrm>
          <a:custGeom>
            <a:avLst/>
            <a:gdLst/>
            <a:ahLst/>
            <a:cxnLst/>
            <a:rect l="l" t="t" r="r" b="b"/>
            <a:pathLst>
              <a:path w="1256664" h="554354">
                <a:moveTo>
                  <a:pt x="1030226" y="70733"/>
                </a:moveTo>
                <a:lnTo>
                  <a:pt x="0" y="483525"/>
                </a:lnTo>
                <a:lnTo>
                  <a:pt x="28342" y="554259"/>
                </a:lnTo>
                <a:lnTo>
                  <a:pt x="1058567" y="141466"/>
                </a:lnTo>
                <a:lnTo>
                  <a:pt x="1030226" y="70733"/>
                </a:lnTo>
                <a:close/>
              </a:path>
              <a:path w="1256664" h="554354">
                <a:moveTo>
                  <a:pt x="1225090" y="56563"/>
                </a:moveTo>
                <a:lnTo>
                  <a:pt x="1065592" y="56563"/>
                </a:lnTo>
                <a:lnTo>
                  <a:pt x="1093934" y="127296"/>
                </a:lnTo>
                <a:lnTo>
                  <a:pt x="1058567" y="141466"/>
                </a:lnTo>
                <a:lnTo>
                  <a:pt x="1086909" y="212199"/>
                </a:lnTo>
                <a:lnTo>
                  <a:pt x="1225090" y="56563"/>
                </a:lnTo>
                <a:close/>
              </a:path>
              <a:path w="1256664" h="554354">
                <a:moveTo>
                  <a:pt x="1065592" y="56563"/>
                </a:moveTo>
                <a:lnTo>
                  <a:pt x="1030226" y="70733"/>
                </a:lnTo>
                <a:lnTo>
                  <a:pt x="1058567" y="141466"/>
                </a:lnTo>
                <a:lnTo>
                  <a:pt x="1093934" y="127296"/>
                </a:lnTo>
                <a:lnTo>
                  <a:pt x="1065592" y="56563"/>
                </a:lnTo>
                <a:close/>
              </a:path>
              <a:path w="1256664" h="554354">
                <a:moveTo>
                  <a:pt x="1001885" y="0"/>
                </a:moveTo>
                <a:lnTo>
                  <a:pt x="1030226" y="70733"/>
                </a:lnTo>
                <a:lnTo>
                  <a:pt x="1065592" y="56563"/>
                </a:lnTo>
                <a:lnTo>
                  <a:pt x="1225090" y="56563"/>
                </a:lnTo>
                <a:lnTo>
                  <a:pt x="1256597" y="21075"/>
                </a:lnTo>
                <a:lnTo>
                  <a:pt x="1001885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68794" y="5983366"/>
            <a:ext cx="1279525" cy="226060"/>
          </a:xfrm>
          <a:custGeom>
            <a:avLst/>
            <a:gdLst/>
            <a:ahLst/>
            <a:cxnLst/>
            <a:rect l="l" t="t" r="r" b="b"/>
            <a:pathLst>
              <a:path w="1279525" h="226060">
                <a:moveTo>
                  <a:pt x="1163322" y="188231"/>
                </a:moveTo>
                <a:lnTo>
                  <a:pt x="1158435" y="226017"/>
                </a:lnTo>
                <a:lnTo>
                  <a:pt x="1259945" y="190675"/>
                </a:lnTo>
                <a:lnTo>
                  <a:pt x="1182216" y="190675"/>
                </a:lnTo>
                <a:lnTo>
                  <a:pt x="1163322" y="188231"/>
                </a:lnTo>
                <a:close/>
              </a:path>
              <a:path w="1279525" h="226060">
                <a:moveTo>
                  <a:pt x="1168208" y="150446"/>
                </a:moveTo>
                <a:lnTo>
                  <a:pt x="1163322" y="188231"/>
                </a:lnTo>
                <a:lnTo>
                  <a:pt x="1182216" y="190675"/>
                </a:lnTo>
                <a:lnTo>
                  <a:pt x="1187102" y="152889"/>
                </a:lnTo>
                <a:lnTo>
                  <a:pt x="1168208" y="150446"/>
                </a:lnTo>
                <a:close/>
              </a:path>
              <a:path w="1279525" h="226060">
                <a:moveTo>
                  <a:pt x="1173095" y="112661"/>
                </a:moveTo>
                <a:lnTo>
                  <a:pt x="1168208" y="150446"/>
                </a:lnTo>
                <a:lnTo>
                  <a:pt x="1187102" y="152889"/>
                </a:lnTo>
                <a:lnTo>
                  <a:pt x="1182216" y="190675"/>
                </a:lnTo>
                <a:lnTo>
                  <a:pt x="1259945" y="190675"/>
                </a:lnTo>
                <a:lnTo>
                  <a:pt x="1279121" y="183998"/>
                </a:lnTo>
                <a:lnTo>
                  <a:pt x="1173095" y="112661"/>
                </a:lnTo>
                <a:close/>
              </a:path>
              <a:path w="1279525" h="226060">
                <a:moveTo>
                  <a:pt x="4885" y="0"/>
                </a:moveTo>
                <a:lnTo>
                  <a:pt x="0" y="37785"/>
                </a:lnTo>
                <a:lnTo>
                  <a:pt x="1163322" y="188231"/>
                </a:lnTo>
                <a:lnTo>
                  <a:pt x="1168208" y="150446"/>
                </a:lnTo>
                <a:lnTo>
                  <a:pt x="4885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48526" y="58938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6"/>
                </a:lnTo>
                <a:lnTo>
                  <a:pt x="111354" y="216816"/>
                </a:lnTo>
                <a:lnTo>
                  <a:pt x="154699" y="208296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48526" y="58938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739330" y="462556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39329" y="462556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47916" y="605895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6"/>
                </a:lnTo>
                <a:lnTo>
                  <a:pt x="111354" y="216816"/>
                </a:lnTo>
                <a:lnTo>
                  <a:pt x="154699" y="208296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47916" y="605895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15736" y="46037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015736" y="46037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812371" y="4840732"/>
            <a:ext cx="5543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ESR2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39045" y="4031996"/>
            <a:ext cx="648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ss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73893" y="4380484"/>
            <a:ext cx="67945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3302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Breast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28841" y="4675291"/>
            <a:ext cx="1037590" cy="357505"/>
          </a:xfrm>
          <a:custGeom>
            <a:avLst/>
            <a:gdLst/>
            <a:ahLst/>
            <a:cxnLst/>
            <a:rect l="l" t="t" r="r" b="b"/>
            <a:pathLst>
              <a:path w="1037589" h="357504">
                <a:moveTo>
                  <a:pt x="806165" y="283745"/>
                </a:moveTo>
                <a:lnTo>
                  <a:pt x="786956" y="357483"/>
                </a:lnTo>
                <a:lnTo>
                  <a:pt x="1036988" y="304501"/>
                </a:lnTo>
                <a:lnTo>
                  <a:pt x="1024234" y="293349"/>
                </a:lnTo>
                <a:lnTo>
                  <a:pt x="843034" y="293349"/>
                </a:lnTo>
                <a:lnTo>
                  <a:pt x="806165" y="283745"/>
                </a:lnTo>
                <a:close/>
              </a:path>
              <a:path w="1037589" h="357504">
                <a:moveTo>
                  <a:pt x="825375" y="210005"/>
                </a:moveTo>
                <a:lnTo>
                  <a:pt x="806165" y="283745"/>
                </a:lnTo>
                <a:lnTo>
                  <a:pt x="843034" y="293349"/>
                </a:lnTo>
                <a:lnTo>
                  <a:pt x="862243" y="219609"/>
                </a:lnTo>
                <a:lnTo>
                  <a:pt x="825375" y="210005"/>
                </a:lnTo>
                <a:close/>
              </a:path>
              <a:path w="1037589" h="357504">
                <a:moveTo>
                  <a:pt x="844584" y="136267"/>
                </a:moveTo>
                <a:lnTo>
                  <a:pt x="825375" y="210005"/>
                </a:lnTo>
                <a:lnTo>
                  <a:pt x="862243" y="219609"/>
                </a:lnTo>
                <a:lnTo>
                  <a:pt x="843034" y="293349"/>
                </a:lnTo>
                <a:lnTo>
                  <a:pt x="1024234" y="293349"/>
                </a:lnTo>
                <a:lnTo>
                  <a:pt x="844584" y="136267"/>
                </a:lnTo>
                <a:close/>
              </a:path>
              <a:path w="1037589" h="357504">
                <a:moveTo>
                  <a:pt x="19208" y="0"/>
                </a:moveTo>
                <a:lnTo>
                  <a:pt x="0" y="73740"/>
                </a:lnTo>
                <a:lnTo>
                  <a:pt x="806165" y="283745"/>
                </a:lnTo>
                <a:lnTo>
                  <a:pt x="825375" y="210005"/>
                </a:lnTo>
                <a:lnTo>
                  <a:pt x="1920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265828" y="487138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265828" y="487138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484864" y="4699941"/>
            <a:ext cx="1254760" cy="299085"/>
          </a:xfrm>
          <a:custGeom>
            <a:avLst/>
            <a:gdLst/>
            <a:ahLst/>
            <a:cxnLst/>
            <a:rect l="l" t="t" r="r" b="b"/>
            <a:pathLst>
              <a:path w="1254760" h="299085">
                <a:moveTo>
                  <a:pt x="1138636" y="37384"/>
                </a:moveTo>
                <a:lnTo>
                  <a:pt x="0" y="261160"/>
                </a:lnTo>
                <a:lnTo>
                  <a:pt x="7348" y="298545"/>
                </a:lnTo>
                <a:lnTo>
                  <a:pt x="1145983" y="74769"/>
                </a:lnTo>
                <a:lnTo>
                  <a:pt x="1138636" y="37384"/>
                </a:lnTo>
                <a:close/>
              </a:path>
              <a:path w="1254760" h="299085">
                <a:moveTo>
                  <a:pt x="1253288" y="33710"/>
                </a:moveTo>
                <a:lnTo>
                  <a:pt x="1157328" y="33710"/>
                </a:lnTo>
                <a:lnTo>
                  <a:pt x="1164676" y="71095"/>
                </a:lnTo>
                <a:lnTo>
                  <a:pt x="1145983" y="74769"/>
                </a:lnTo>
                <a:lnTo>
                  <a:pt x="1153331" y="112154"/>
                </a:lnTo>
                <a:lnTo>
                  <a:pt x="1254465" y="34036"/>
                </a:lnTo>
                <a:lnTo>
                  <a:pt x="1253288" y="33710"/>
                </a:lnTo>
                <a:close/>
              </a:path>
              <a:path w="1254760" h="299085">
                <a:moveTo>
                  <a:pt x="1157328" y="33710"/>
                </a:moveTo>
                <a:lnTo>
                  <a:pt x="1138636" y="37384"/>
                </a:lnTo>
                <a:lnTo>
                  <a:pt x="1145983" y="74769"/>
                </a:lnTo>
                <a:lnTo>
                  <a:pt x="1164676" y="71095"/>
                </a:lnTo>
                <a:lnTo>
                  <a:pt x="1157328" y="33710"/>
                </a:lnTo>
                <a:close/>
              </a:path>
              <a:path w="1254760" h="299085">
                <a:moveTo>
                  <a:pt x="1131289" y="0"/>
                </a:moveTo>
                <a:lnTo>
                  <a:pt x="1138636" y="37384"/>
                </a:lnTo>
                <a:lnTo>
                  <a:pt x="1157328" y="33710"/>
                </a:lnTo>
                <a:lnTo>
                  <a:pt x="1253288" y="33710"/>
                </a:lnTo>
                <a:lnTo>
                  <a:pt x="1131289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713663" y="539603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713663" y="539603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473540" y="4944770"/>
            <a:ext cx="1240155" cy="575310"/>
          </a:xfrm>
          <a:custGeom>
            <a:avLst/>
            <a:gdLst/>
            <a:ahLst/>
            <a:cxnLst/>
            <a:rect l="l" t="t" r="r" b="b"/>
            <a:pathLst>
              <a:path w="1240154" h="575310">
                <a:moveTo>
                  <a:pt x="1014982" y="504704"/>
                </a:moveTo>
                <a:lnTo>
                  <a:pt x="984985" y="574751"/>
                </a:lnTo>
                <a:lnTo>
                  <a:pt x="1240123" y="559672"/>
                </a:lnTo>
                <a:lnTo>
                  <a:pt x="1206283" y="519703"/>
                </a:lnTo>
                <a:lnTo>
                  <a:pt x="1050005" y="519703"/>
                </a:lnTo>
                <a:lnTo>
                  <a:pt x="1014982" y="504704"/>
                </a:lnTo>
                <a:close/>
              </a:path>
              <a:path w="1240154" h="575310">
                <a:moveTo>
                  <a:pt x="1044979" y="434657"/>
                </a:moveTo>
                <a:lnTo>
                  <a:pt x="1014982" y="504704"/>
                </a:lnTo>
                <a:lnTo>
                  <a:pt x="1050005" y="519703"/>
                </a:lnTo>
                <a:lnTo>
                  <a:pt x="1080002" y="449656"/>
                </a:lnTo>
                <a:lnTo>
                  <a:pt x="1044979" y="434657"/>
                </a:lnTo>
                <a:close/>
              </a:path>
              <a:path w="1240154" h="575310">
                <a:moveTo>
                  <a:pt x="1074976" y="364610"/>
                </a:moveTo>
                <a:lnTo>
                  <a:pt x="1044979" y="434657"/>
                </a:lnTo>
                <a:lnTo>
                  <a:pt x="1080002" y="449656"/>
                </a:lnTo>
                <a:lnTo>
                  <a:pt x="1050005" y="519703"/>
                </a:lnTo>
                <a:lnTo>
                  <a:pt x="1206283" y="519703"/>
                </a:lnTo>
                <a:lnTo>
                  <a:pt x="1074976" y="364610"/>
                </a:lnTo>
                <a:close/>
              </a:path>
              <a:path w="1240154" h="575310">
                <a:moveTo>
                  <a:pt x="29997" y="0"/>
                </a:moveTo>
                <a:lnTo>
                  <a:pt x="0" y="70046"/>
                </a:lnTo>
                <a:lnTo>
                  <a:pt x="1014982" y="504704"/>
                </a:lnTo>
                <a:lnTo>
                  <a:pt x="1044979" y="434657"/>
                </a:lnTo>
                <a:lnTo>
                  <a:pt x="29997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945680" y="3678428"/>
            <a:ext cx="2809875" cy="1125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dirty="0" sz="1800" spc="-35">
                <a:solidFill>
                  <a:srgbClr val="479249"/>
                </a:solidFill>
                <a:latin typeface="Calibri"/>
                <a:cs typeface="Calibri"/>
              </a:rPr>
              <a:t>We </a:t>
            </a:r>
            <a:r>
              <a:rPr dirty="0" sz="1800" spc="-25">
                <a:solidFill>
                  <a:srgbClr val="479249"/>
                </a:solidFill>
                <a:latin typeface="Calibri"/>
                <a:cs typeface="Calibri"/>
              </a:rPr>
              <a:t>take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intersection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between  the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two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sets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and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achieve the 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answers </a:t>
            </a:r>
            <a:r>
              <a:rPr dirty="0" sz="1800" spc="-20">
                <a:solidFill>
                  <a:srgbClr val="479249"/>
                </a:solidFill>
                <a:latin typeface="Calibri"/>
                <a:cs typeface="Calibri"/>
              </a:rPr>
              <a:t>{“Fulvestrant”, 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“Paclitaxel”}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211584" y="393724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211584" y="393724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020156" y="3435603"/>
            <a:ext cx="67945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10160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Lung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326952" y="3691635"/>
            <a:ext cx="89344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Pa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10">
                <a:latin typeface="Arial"/>
                <a:cs typeface="Arial"/>
              </a:rPr>
              <a:t>li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x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l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216917" y="4045649"/>
            <a:ext cx="995044" cy="698500"/>
          </a:xfrm>
          <a:custGeom>
            <a:avLst/>
            <a:gdLst/>
            <a:ahLst/>
            <a:cxnLst/>
            <a:rect l="l" t="t" r="r" b="b"/>
            <a:pathLst>
              <a:path w="995044" h="698500">
                <a:moveTo>
                  <a:pt x="784534" y="97742"/>
                </a:moveTo>
                <a:lnTo>
                  <a:pt x="0" y="635077"/>
                </a:lnTo>
                <a:lnTo>
                  <a:pt x="43058" y="697946"/>
                </a:lnTo>
                <a:lnTo>
                  <a:pt x="827593" y="160610"/>
                </a:lnTo>
                <a:lnTo>
                  <a:pt x="784534" y="97742"/>
                </a:lnTo>
                <a:close/>
              </a:path>
              <a:path w="995044" h="698500">
                <a:moveTo>
                  <a:pt x="952374" y="76212"/>
                </a:moveTo>
                <a:lnTo>
                  <a:pt x="815968" y="76212"/>
                </a:lnTo>
                <a:lnTo>
                  <a:pt x="859026" y="139081"/>
                </a:lnTo>
                <a:lnTo>
                  <a:pt x="827593" y="160610"/>
                </a:lnTo>
                <a:lnTo>
                  <a:pt x="870652" y="223478"/>
                </a:lnTo>
                <a:lnTo>
                  <a:pt x="952374" y="76212"/>
                </a:lnTo>
                <a:close/>
              </a:path>
              <a:path w="995044" h="698500">
                <a:moveTo>
                  <a:pt x="815968" y="76212"/>
                </a:moveTo>
                <a:lnTo>
                  <a:pt x="784534" y="97742"/>
                </a:lnTo>
                <a:lnTo>
                  <a:pt x="827593" y="160610"/>
                </a:lnTo>
                <a:lnTo>
                  <a:pt x="859026" y="139081"/>
                </a:lnTo>
                <a:lnTo>
                  <a:pt x="815968" y="76212"/>
                </a:lnTo>
                <a:close/>
              </a:path>
              <a:path w="995044" h="698500">
                <a:moveTo>
                  <a:pt x="994667" y="0"/>
                </a:moveTo>
                <a:lnTo>
                  <a:pt x="741475" y="34874"/>
                </a:lnTo>
                <a:lnTo>
                  <a:pt x="784534" y="97742"/>
                </a:lnTo>
                <a:lnTo>
                  <a:pt x="815968" y="76212"/>
                </a:lnTo>
                <a:lnTo>
                  <a:pt x="952374" y="76212"/>
                </a:lnTo>
                <a:lnTo>
                  <a:pt x="99466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433254" y="3959845"/>
            <a:ext cx="1271905" cy="228600"/>
          </a:xfrm>
          <a:custGeom>
            <a:avLst/>
            <a:gdLst/>
            <a:ahLst/>
            <a:cxnLst/>
            <a:rect l="l" t="t" r="r" b="b"/>
            <a:pathLst>
              <a:path w="1271904" h="228600">
                <a:moveTo>
                  <a:pt x="1046173" y="0"/>
                </a:moveTo>
                <a:lnTo>
                  <a:pt x="1044093" y="76172"/>
                </a:lnTo>
                <a:lnTo>
                  <a:pt x="1082178" y="77212"/>
                </a:lnTo>
                <a:lnTo>
                  <a:pt x="1080098" y="153384"/>
                </a:lnTo>
                <a:lnTo>
                  <a:pt x="1041984" y="153384"/>
                </a:lnTo>
                <a:lnTo>
                  <a:pt x="1039933" y="228514"/>
                </a:lnTo>
                <a:lnTo>
                  <a:pt x="1201045" y="153384"/>
                </a:lnTo>
                <a:lnTo>
                  <a:pt x="1080098" y="153384"/>
                </a:lnTo>
                <a:lnTo>
                  <a:pt x="1042013" y="152344"/>
                </a:lnTo>
                <a:lnTo>
                  <a:pt x="1203275" y="152344"/>
                </a:lnTo>
                <a:lnTo>
                  <a:pt x="1271568" y="120497"/>
                </a:lnTo>
                <a:lnTo>
                  <a:pt x="1046173" y="0"/>
                </a:lnTo>
                <a:close/>
              </a:path>
              <a:path w="1271904" h="228600">
                <a:moveTo>
                  <a:pt x="1044093" y="76172"/>
                </a:moveTo>
                <a:lnTo>
                  <a:pt x="1042013" y="152344"/>
                </a:lnTo>
                <a:lnTo>
                  <a:pt x="1080098" y="153384"/>
                </a:lnTo>
                <a:lnTo>
                  <a:pt x="1082178" y="77212"/>
                </a:lnTo>
                <a:lnTo>
                  <a:pt x="1044093" y="76172"/>
                </a:lnTo>
                <a:close/>
              </a:path>
              <a:path w="1271904" h="228600">
                <a:moveTo>
                  <a:pt x="2080" y="47717"/>
                </a:moveTo>
                <a:lnTo>
                  <a:pt x="0" y="123889"/>
                </a:lnTo>
                <a:lnTo>
                  <a:pt x="1042013" y="152344"/>
                </a:lnTo>
                <a:lnTo>
                  <a:pt x="1044093" y="76172"/>
                </a:lnTo>
                <a:lnTo>
                  <a:pt x="2080" y="47717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715845" y="399751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715845" y="399751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514572" y="5740852"/>
            <a:ext cx="737870" cy="4933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69850" marR="5080" indent="-57150">
              <a:lnSpc>
                <a:spcPts val="1900"/>
              </a:lnSpc>
              <a:spcBef>
                <a:spcPts val="25"/>
              </a:spcBef>
            </a:pPr>
            <a:r>
              <a:rPr dirty="0" sz="1600" spc="-5">
                <a:latin typeface="Arial"/>
                <a:cs typeface="Arial"/>
              </a:rPr>
              <a:t>Short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  Breath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87236" y="5795716"/>
            <a:ext cx="770255" cy="252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5">
                <a:latin typeface="Arial"/>
                <a:cs typeface="Arial"/>
              </a:rPr>
              <a:t>Ke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in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673615" y="6269546"/>
            <a:ext cx="4343400" cy="595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40410">
              <a:lnSpc>
                <a:spcPts val="2090"/>
              </a:lnSpc>
            </a:pP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CausedBy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28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84047"/>
            <a:ext cx="7818120" cy="475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i="0">
                <a:latin typeface="Calibri"/>
                <a:cs typeface="Calibri"/>
              </a:rPr>
              <a:t>“</a:t>
            </a:r>
            <a:r>
              <a:rPr dirty="0" sz="3200" spc="-5"/>
              <a:t>What </a:t>
            </a:r>
            <a:r>
              <a:rPr dirty="0" sz="3200"/>
              <a:t>are drugs that </a:t>
            </a:r>
            <a:r>
              <a:rPr dirty="0" sz="3200" spc="-5"/>
              <a:t>cause Short of Breath </a:t>
            </a:r>
            <a:r>
              <a:rPr dirty="0" sz="3200"/>
              <a:t>and  </a:t>
            </a:r>
            <a:r>
              <a:rPr dirty="0" sz="3200" spc="-5" i="1"/>
              <a:t>treat diseases associated with </a:t>
            </a:r>
            <a:r>
              <a:rPr dirty="0" sz="3200" spc="-10" i="1"/>
              <a:t>protein</a:t>
            </a:r>
            <a:r>
              <a:rPr dirty="0" sz="3200" spc="65" i="1"/>
              <a:t> </a:t>
            </a:r>
            <a:r>
              <a:rPr dirty="0" sz="3200" i="1"/>
              <a:t>ESR2?”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191004"/>
            <a:ext cx="8370570" cy="110871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87630">
              <a:lnSpc>
                <a:spcPct val="100000"/>
              </a:lnSpc>
              <a:spcBef>
                <a:spcPts val="1155"/>
              </a:spcBef>
            </a:pPr>
            <a:r>
              <a:rPr dirty="0" sz="2400" spc="-5" b="1">
                <a:latin typeface="Calibri"/>
                <a:cs typeface="Calibri"/>
              </a:rPr>
              <a:t>((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e:ESR2</a:t>
            </a:r>
            <a:r>
              <a:rPr dirty="0" sz="2400" spc="-5" b="1">
                <a:latin typeface="Calibri"/>
                <a:cs typeface="Calibri"/>
              </a:rPr>
              <a:t>, (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r:Assoc</a:t>
            </a:r>
            <a:r>
              <a:rPr dirty="0" sz="2400" spc="-5" b="1">
                <a:solidFill>
                  <a:srgbClr val="C55A11"/>
                </a:solidFill>
                <a:latin typeface="Calibri"/>
                <a:cs typeface="Calibri"/>
              </a:rPr>
              <a:t>, </a:t>
            </a:r>
            <a:r>
              <a:rPr dirty="0" sz="2400" spc="-20" b="1">
                <a:solidFill>
                  <a:srgbClr val="479249"/>
                </a:solidFill>
                <a:latin typeface="Calibri"/>
                <a:cs typeface="Calibri"/>
              </a:rPr>
              <a:t>r:TreatedBy</a:t>
            </a:r>
            <a:r>
              <a:rPr dirty="0" sz="2400" spc="-20" b="1">
                <a:latin typeface="Calibri"/>
                <a:cs typeface="Calibri"/>
              </a:rPr>
              <a:t>)),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e:Short of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Breath</a:t>
            </a:r>
            <a:r>
              <a:rPr dirty="0" sz="2400" spc="-10" b="1">
                <a:latin typeface="Calibri"/>
                <a:cs typeface="Calibri"/>
              </a:rPr>
              <a:t>,</a:t>
            </a:r>
            <a:r>
              <a:rPr dirty="0" sz="2400" spc="10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B48200"/>
                </a:solidFill>
                <a:latin typeface="Calibri"/>
                <a:cs typeface="Calibri"/>
              </a:rPr>
              <a:t>r:CausedBy</a:t>
            </a:r>
            <a:r>
              <a:rPr dirty="0" sz="2400" spc="-5" b="1">
                <a:latin typeface="Calibri"/>
                <a:cs typeface="Calibri"/>
              </a:rPr>
              <a:t>))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2800" spc="-50">
                <a:latin typeface="Calibri"/>
                <a:cs typeface="Calibri"/>
              </a:rPr>
              <a:t>Traverse </a:t>
            </a:r>
            <a:r>
              <a:rPr dirty="0" sz="2800" spc="-60">
                <a:latin typeface="Calibri"/>
                <a:cs typeface="Calibri"/>
              </a:rPr>
              <a:t>KG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 spc="-5" b="1">
                <a:latin typeface="Calibri"/>
                <a:cs typeface="Calibri"/>
              </a:rPr>
              <a:t>anchor nodes</a:t>
            </a:r>
            <a:r>
              <a:rPr dirty="0" sz="2800" spc="-5">
                <a:latin typeface="Calibri"/>
                <a:cs typeface="Calibri"/>
              </a:rPr>
              <a:t>: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ESR2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Short</a:t>
            </a:r>
            <a:r>
              <a:rPr dirty="0" sz="2800" spc="14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3280155"/>
            <a:ext cx="11137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0" b="1">
                <a:solidFill>
                  <a:srgbClr val="0070C0"/>
                </a:solidFill>
                <a:latin typeface="Calibri"/>
                <a:cs typeface="Calibri"/>
              </a:rPr>
              <a:t>B</a:t>
            </a:r>
            <a:r>
              <a:rPr dirty="0" sz="2800" spc="-30" b="1">
                <a:solidFill>
                  <a:srgbClr val="0070C0"/>
                </a:solidFill>
                <a:latin typeface="Calibri"/>
                <a:cs typeface="Calibri"/>
              </a:rPr>
              <a:t>r</a:t>
            </a:r>
            <a:r>
              <a:rPr dirty="0" sz="2800" b="1">
                <a:solidFill>
                  <a:srgbClr val="0070C0"/>
                </a:solidFill>
                <a:latin typeface="Calibri"/>
                <a:cs typeface="Calibri"/>
              </a:rPr>
              <a:t>e</a:t>
            </a:r>
            <a:r>
              <a:rPr dirty="0" sz="2800" spc="-25" b="1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r>
              <a:rPr dirty="0" sz="2800" spc="0" b="1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h</a:t>
            </a:r>
            <a:r>
              <a:rPr dirty="0" sz="2800" b="1">
                <a:solidFill>
                  <a:srgbClr val="0070C0"/>
                </a:solid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16905" y="4934294"/>
            <a:ext cx="1645285" cy="644525"/>
          </a:xfrm>
          <a:custGeom>
            <a:avLst/>
            <a:gdLst/>
            <a:ahLst/>
            <a:cxnLst/>
            <a:rect l="l" t="t" r="r" b="b"/>
            <a:pathLst>
              <a:path w="1645285" h="644525">
                <a:moveTo>
                  <a:pt x="1559757" y="26713"/>
                </a:moveTo>
                <a:lnTo>
                  <a:pt x="3708" y="617750"/>
                </a:lnTo>
                <a:lnTo>
                  <a:pt x="0" y="626002"/>
                </a:lnTo>
                <a:lnTo>
                  <a:pt x="5603" y="640755"/>
                </a:lnTo>
                <a:lnTo>
                  <a:pt x="13855" y="644464"/>
                </a:lnTo>
                <a:lnTo>
                  <a:pt x="1569903" y="53425"/>
                </a:lnTo>
                <a:lnTo>
                  <a:pt x="1559757" y="26713"/>
                </a:lnTo>
                <a:close/>
              </a:path>
              <a:path w="1645285" h="644525">
                <a:moveTo>
                  <a:pt x="1636490" y="18837"/>
                </a:moveTo>
                <a:lnTo>
                  <a:pt x="1580490" y="18837"/>
                </a:lnTo>
                <a:lnTo>
                  <a:pt x="1588741" y="22546"/>
                </a:lnTo>
                <a:lnTo>
                  <a:pt x="1594346" y="37298"/>
                </a:lnTo>
                <a:lnTo>
                  <a:pt x="1590636" y="45549"/>
                </a:lnTo>
                <a:lnTo>
                  <a:pt x="1569903" y="53425"/>
                </a:lnTo>
                <a:lnTo>
                  <a:pt x="1580049" y="80138"/>
                </a:lnTo>
                <a:lnTo>
                  <a:pt x="1636490" y="18837"/>
                </a:lnTo>
                <a:close/>
              </a:path>
              <a:path w="1645285" h="644525">
                <a:moveTo>
                  <a:pt x="1580490" y="18837"/>
                </a:moveTo>
                <a:lnTo>
                  <a:pt x="1559757" y="26713"/>
                </a:lnTo>
                <a:lnTo>
                  <a:pt x="1569903" y="53425"/>
                </a:lnTo>
                <a:lnTo>
                  <a:pt x="1590636" y="45549"/>
                </a:lnTo>
                <a:lnTo>
                  <a:pt x="1594346" y="37298"/>
                </a:lnTo>
                <a:lnTo>
                  <a:pt x="1588741" y="22546"/>
                </a:lnTo>
                <a:lnTo>
                  <a:pt x="1580490" y="18837"/>
                </a:lnTo>
                <a:close/>
              </a:path>
              <a:path w="1645285" h="644525">
                <a:moveTo>
                  <a:pt x="1549610" y="0"/>
                </a:moveTo>
                <a:lnTo>
                  <a:pt x="1559757" y="26713"/>
                </a:lnTo>
                <a:lnTo>
                  <a:pt x="1580490" y="18837"/>
                </a:lnTo>
                <a:lnTo>
                  <a:pt x="1636490" y="18837"/>
                </a:lnTo>
                <a:lnTo>
                  <a:pt x="1644969" y="9629"/>
                </a:lnTo>
                <a:lnTo>
                  <a:pt x="154961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1750" y="5537708"/>
            <a:ext cx="233743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 b="1">
                <a:solidFill>
                  <a:srgbClr val="FF0000"/>
                </a:solidFill>
                <a:latin typeface="Arial"/>
                <a:cs typeface="Arial"/>
              </a:rPr>
              <a:t>If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this link is</a:t>
            </a:r>
            <a:r>
              <a:rPr dirty="0" sz="18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0000"/>
                </a:solidFill>
                <a:latin typeface="Arial"/>
                <a:cs typeface="Arial"/>
              </a:rPr>
              <a:t>missing,  then we cannot find 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1800" spc="-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0000"/>
                </a:solidFill>
                <a:latin typeface="Arial"/>
                <a:cs typeface="Arial"/>
              </a:rPr>
              <a:t>answer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39173" y="4080343"/>
            <a:ext cx="1266190" cy="1943100"/>
          </a:xfrm>
          <a:custGeom>
            <a:avLst/>
            <a:gdLst/>
            <a:ahLst/>
            <a:cxnLst/>
            <a:rect l="l" t="t" r="r" b="b"/>
            <a:pathLst>
              <a:path w="1266189" h="1943100">
                <a:moveTo>
                  <a:pt x="1110105" y="171801"/>
                </a:moveTo>
                <a:lnTo>
                  <a:pt x="0" y="1901336"/>
                </a:lnTo>
                <a:lnTo>
                  <a:pt x="64126" y="1942496"/>
                </a:lnTo>
                <a:lnTo>
                  <a:pt x="1174232" y="212961"/>
                </a:lnTo>
                <a:lnTo>
                  <a:pt x="1110105" y="171801"/>
                </a:lnTo>
                <a:close/>
              </a:path>
              <a:path w="1266189" h="1943100">
                <a:moveTo>
                  <a:pt x="1250642" y="139738"/>
                </a:moveTo>
                <a:lnTo>
                  <a:pt x="1130684" y="139738"/>
                </a:lnTo>
                <a:lnTo>
                  <a:pt x="1194812" y="180898"/>
                </a:lnTo>
                <a:lnTo>
                  <a:pt x="1174232" y="212961"/>
                </a:lnTo>
                <a:lnTo>
                  <a:pt x="1238359" y="254121"/>
                </a:lnTo>
                <a:lnTo>
                  <a:pt x="1250642" y="139738"/>
                </a:lnTo>
                <a:close/>
              </a:path>
              <a:path w="1266189" h="1943100">
                <a:moveTo>
                  <a:pt x="1130684" y="139738"/>
                </a:moveTo>
                <a:lnTo>
                  <a:pt x="1110105" y="171801"/>
                </a:lnTo>
                <a:lnTo>
                  <a:pt x="1174232" y="212961"/>
                </a:lnTo>
                <a:lnTo>
                  <a:pt x="1194812" y="180898"/>
                </a:lnTo>
                <a:lnTo>
                  <a:pt x="1130684" y="139738"/>
                </a:lnTo>
                <a:close/>
              </a:path>
              <a:path w="1266189" h="1943100">
                <a:moveTo>
                  <a:pt x="1265648" y="0"/>
                </a:moveTo>
                <a:lnTo>
                  <a:pt x="1045978" y="130641"/>
                </a:lnTo>
                <a:lnTo>
                  <a:pt x="1110105" y="171801"/>
                </a:lnTo>
                <a:lnTo>
                  <a:pt x="1130684" y="139738"/>
                </a:lnTo>
                <a:lnTo>
                  <a:pt x="1250642" y="139738"/>
                </a:lnTo>
                <a:lnTo>
                  <a:pt x="1265648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514572" y="5721603"/>
            <a:ext cx="73787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69850" marR="5080" indent="-5715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Short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  Breath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54402" y="4371340"/>
            <a:ext cx="8153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r</a:t>
            </a:r>
            <a:r>
              <a:rPr dirty="0" sz="1600" spc="-5">
                <a:latin typeface="Arial"/>
                <a:cs typeface="Arial"/>
              </a:rPr>
              <a:t>i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ide</a:t>
            </a:r>
            <a:r>
              <a:rPr dirty="0" sz="160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12884" y="5245100"/>
            <a:ext cx="1071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42773" y="5078476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FF0000"/>
                </a:solidFill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57065" y="5483367"/>
            <a:ext cx="1256665" cy="554355"/>
          </a:xfrm>
          <a:custGeom>
            <a:avLst/>
            <a:gdLst/>
            <a:ahLst/>
            <a:cxnLst/>
            <a:rect l="l" t="t" r="r" b="b"/>
            <a:pathLst>
              <a:path w="1256664" h="554354">
                <a:moveTo>
                  <a:pt x="1030226" y="70733"/>
                </a:moveTo>
                <a:lnTo>
                  <a:pt x="0" y="483525"/>
                </a:lnTo>
                <a:lnTo>
                  <a:pt x="28342" y="554259"/>
                </a:lnTo>
                <a:lnTo>
                  <a:pt x="1058567" y="141466"/>
                </a:lnTo>
                <a:lnTo>
                  <a:pt x="1030226" y="70733"/>
                </a:lnTo>
                <a:close/>
              </a:path>
              <a:path w="1256664" h="554354">
                <a:moveTo>
                  <a:pt x="1225090" y="56563"/>
                </a:moveTo>
                <a:lnTo>
                  <a:pt x="1065592" y="56563"/>
                </a:lnTo>
                <a:lnTo>
                  <a:pt x="1093934" y="127296"/>
                </a:lnTo>
                <a:lnTo>
                  <a:pt x="1058567" y="141466"/>
                </a:lnTo>
                <a:lnTo>
                  <a:pt x="1086909" y="212199"/>
                </a:lnTo>
                <a:lnTo>
                  <a:pt x="1225090" y="56563"/>
                </a:lnTo>
                <a:close/>
              </a:path>
              <a:path w="1256664" h="554354">
                <a:moveTo>
                  <a:pt x="1065592" y="56563"/>
                </a:moveTo>
                <a:lnTo>
                  <a:pt x="1030226" y="70733"/>
                </a:lnTo>
                <a:lnTo>
                  <a:pt x="1058567" y="141466"/>
                </a:lnTo>
                <a:lnTo>
                  <a:pt x="1093934" y="127296"/>
                </a:lnTo>
                <a:lnTo>
                  <a:pt x="1065592" y="56563"/>
                </a:lnTo>
                <a:close/>
              </a:path>
              <a:path w="1256664" h="554354">
                <a:moveTo>
                  <a:pt x="1001885" y="0"/>
                </a:moveTo>
                <a:lnTo>
                  <a:pt x="1030226" y="70733"/>
                </a:lnTo>
                <a:lnTo>
                  <a:pt x="1065592" y="56563"/>
                </a:lnTo>
                <a:lnTo>
                  <a:pt x="1225090" y="56563"/>
                </a:lnTo>
                <a:lnTo>
                  <a:pt x="1256597" y="21075"/>
                </a:lnTo>
                <a:lnTo>
                  <a:pt x="1001885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68794" y="5983366"/>
            <a:ext cx="1279525" cy="226060"/>
          </a:xfrm>
          <a:custGeom>
            <a:avLst/>
            <a:gdLst/>
            <a:ahLst/>
            <a:cxnLst/>
            <a:rect l="l" t="t" r="r" b="b"/>
            <a:pathLst>
              <a:path w="1279525" h="226060">
                <a:moveTo>
                  <a:pt x="1163322" y="188231"/>
                </a:moveTo>
                <a:lnTo>
                  <a:pt x="1158435" y="226017"/>
                </a:lnTo>
                <a:lnTo>
                  <a:pt x="1259945" y="190675"/>
                </a:lnTo>
                <a:lnTo>
                  <a:pt x="1182216" y="190675"/>
                </a:lnTo>
                <a:lnTo>
                  <a:pt x="1163322" y="188231"/>
                </a:lnTo>
                <a:close/>
              </a:path>
              <a:path w="1279525" h="226060">
                <a:moveTo>
                  <a:pt x="1168208" y="150446"/>
                </a:moveTo>
                <a:lnTo>
                  <a:pt x="1163322" y="188231"/>
                </a:lnTo>
                <a:lnTo>
                  <a:pt x="1182216" y="190675"/>
                </a:lnTo>
                <a:lnTo>
                  <a:pt x="1187102" y="152889"/>
                </a:lnTo>
                <a:lnTo>
                  <a:pt x="1168208" y="150446"/>
                </a:lnTo>
                <a:close/>
              </a:path>
              <a:path w="1279525" h="226060">
                <a:moveTo>
                  <a:pt x="1173095" y="112661"/>
                </a:moveTo>
                <a:lnTo>
                  <a:pt x="1168208" y="150446"/>
                </a:lnTo>
                <a:lnTo>
                  <a:pt x="1187102" y="152889"/>
                </a:lnTo>
                <a:lnTo>
                  <a:pt x="1182216" y="190675"/>
                </a:lnTo>
                <a:lnTo>
                  <a:pt x="1259945" y="190675"/>
                </a:lnTo>
                <a:lnTo>
                  <a:pt x="1279121" y="183998"/>
                </a:lnTo>
                <a:lnTo>
                  <a:pt x="1173095" y="112661"/>
                </a:lnTo>
                <a:close/>
              </a:path>
              <a:path w="1279525" h="226060">
                <a:moveTo>
                  <a:pt x="4885" y="0"/>
                </a:moveTo>
                <a:lnTo>
                  <a:pt x="0" y="37785"/>
                </a:lnTo>
                <a:lnTo>
                  <a:pt x="1163322" y="188231"/>
                </a:lnTo>
                <a:lnTo>
                  <a:pt x="1168208" y="150446"/>
                </a:lnTo>
                <a:lnTo>
                  <a:pt x="4885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248526" y="58938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6"/>
                </a:lnTo>
                <a:lnTo>
                  <a:pt x="111354" y="216816"/>
                </a:lnTo>
                <a:lnTo>
                  <a:pt x="154699" y="208296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248526" y="58938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39330" y="462556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739329" y="462556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487236" y="5776467"/>
            <a:ext cx="7702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Ke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47916" y="605895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6"/>
                </a:lnTo>
                <a:lnTo>
                  <a:pt x="111354" y="216816"/>
                </a:lnTo>
                <a:lnTo>
                  <a:pt x="154699" y="208296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47916" y="6058958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015736" y="46037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015736" y="46037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812371" y="4840732"/>
            <a:ext cx="5543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ESR2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39045" y="4031996"/>
            <a:ext cx="648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ss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73893" y="4380484"/>
            <a:ext cx="67945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3302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Breast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228841" y="4675291"/>
            <a:ext cx="1037590" cy="357505"/>
          </a:xfrm>
          <a:custGeom>
            <a:avLst/>
            <a:gdLst/>
            <a:ahLst/>
            <a:cxnLst/>
            <a:rect l="l" t="t" r="r" b="b"/>
            <a:pathLst>
              <a:path w="1037589" h="357504">
                <a:moveTo>
                  <a:pt x="19208" y="0"/>
                </a:moveTo>
                <a:lnTo>
                  <a:pt x="0" y="73740"/>
                </a:lnTo>
                <a:lnTo>
                  <a:pt x="73740" y="92948"/>
                </a:lnTo>
                <a:lnTo>
                  <a:pt x="92948" y="19210"/>
                </a:lnTo>
                <a:lnTo>
                  <a:pt x="19208" y="0"/>
                </a:lnTo>
                <a:close/>
              </a:path>
              <a:path w="1037589" h="357504">
                <a:moveTo>
                  <a:pt x="166687" y="38418"/>
                </a:moveTo>
                <a:lnTo>
                  <a:pt x="147478" y="112157"/>
                </a:lnTo>
                <a:lnTo>
                  <a:pt x="221217" y="131366"/>
                </a:lnTo>
                <a:lnTo>
                  <a:pt x="240426" y="57627"/>
                </a:lnTo>
                <a:lnTo>
                  <a:pt x="166687" y="38418"/>
                </a:lnTo>
                <a:close/>
              </a:path>
              <a:path w="1037589" h="357504">
                <a:moveTo>
                  <a:pt x="314166" y="76836"/>
                </a:moveTo>
                <a:lnTo>
                  <a:pt x="294957" y="150575"/>
                </a:lnTo>
                <a:lnTo>
                  <a:pt x="368696" y="169785"/>
                </a:lnTo>
                <a:lnTo>
                  <a:pt x="387904" y="96045"/>
                </a:lnTo>
                <a:lnTo>
                  <a:pt x="314166" y="76836"/>
                </a:lnTo>
                <a:close/>
              </a:path>
              <a:path w="1037589" h="357504">
                <a:moveTo>
                  <a:pt x="461643" y="115253"/>
                </a:moveTo>
                <a:lnTo>
                  <a:pt x="442434" y="188993"/>
                </a:lnTo>
                <a:lnTo>
                  <a:pt x="516173" y="208202"/>
                </a:lnTo>
                <a:lnTo>
                  <a:pt x="535383" y="134463"/>
                </a:lnTo>
                <a:lnTo>
                  <a:pt x="461643" y="115253"/>
                </a:lnTo>
                <a:close/>
              </a:path>
              <a:path w="1037589" h="357504">
                <a:moveTo>
                  <a:pt x="609122" y="153672"/>
                </a:moveTo>
                <a:lnTo>
                  <a:pt x="589913" y="227411"/>
                </a:lnTo>
                <a:lnTo>
                  <a:pt x="663652" y="246620"/>
                </a:lnTo>
                <a:lnTo>
                  <a:pt x="682861" y="172881"/>
                </a:lnTo>
                <a:lnTo>
                  <a:pt x="609122" y="153672"/>
                </a:lnTo>
                <a:close/>
              </a:path>
              <a:path w="1037589" h="357504">
                <a:moveTo>
                  <a:pt x="806166" y="283744"/>
                </a:moveTo>
                <a:lnTo>
                  <a:pt x="786956" y="357483"/>
                </a:lnTo>
                <a:lnTo>
                  <a:pt x="1036988" y="304501"/>
                </a:lnTo>
                <a:lnTo>
                  <a:pt x="1014727" y="285037"/>
                </a:lnTo>
                <a:lnTo>
                  <a:pt x="811131" y="285037"/>
                </a:lnTo>
                <a:lnTo>
                  <a:pt x="806166" y="283744"/>
                </a:lnTo>
                <a:close/>
              </a:path>
              <a:path w="1037589" h="357504">
                <a:moveTo>
                  <a:pt x="825375" y="210005"/>
                </a:moveTo>
                <a:lnTo>
                  <a:pt x="806166" y="283744"/>
                </a:lnTo>
                <a:lnTo>
                  <a:pt x="811131" y="285037"/>
                </a:lnTo>
                <a:lnTo>
                  <a:pt x="830339" y="211298"/>
                </a:lnTo>
                <a:lnTo>
                  <a:pt x="825375" y="210005"/>
                </a:lnTo>
                <a:close/>
              </a:path>
              <a:path w="1037589" h="357504">
                <a:moveTo>
                  <a:pt x="844584" y="136267"/>
                </a:moveTo>
                <a:lnTo>
                  <a:pt x="825375" y="210005"/>
                </a:lnTo>
                <a:lnTo>
                  <a:pt x="830339" y="211298"/>
                </a:lnTo>
                <a:lnTo>
                  <a:pt x="811131" y="285037"/>
                </a:lnTo>
                <a:lnTo>
                  <a:pt x="1014727" y="285037"/>
                </a:lnTo>
                <a:lnTo>
                  <a:pt x="844584" y="136267"/>
                </a:lnTo>
                <a:close/>
              </a:path>
              <a:path w="1037589" h="357504">
                <a:moveTo>
                  <a:pt x="756599" y="192090"/>
                </a:moveTo>
                <a:lnTo>
                  <a:pt x="737391" y="265828"/>
                </a:lnTo>
                <a:lnTo>
                  <a:pt x="806166" y="283744"/>
                </a:lnTo>
                <a:lnTo>
                  <a:pt x="825375" y="210005"/>
                </a:lnTo>
                <a:lnTo>
                  <a:pt x="756599" y="19209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265828" y="487138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265828" y="487138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484864" y="4699941"/>
            <a:ext cx="1254760" cy="299085"/>
          </a:xfrm>
          <a:custGeom>
            <a:avLst/>
            <a:gdLst/>
            <a:ahLst/>
            <a:cxnLst/>
            <a:rect l="l" t="t" r="r" b="b"/>
            <a:pathLst>
              <a:path w="1254760" h="299085">
                <a:moveTo>
                  <a:pt x="1138636" y="37384"/>
                </a:moveTo>
                <a:lnTo>
                  <a:pt x="0" y="261160"/>
                </a:lnTo>
                <a:lnTo>
                  <a:pt x="7348" y="298545"/>
                </a:lnTo>
                <a:lnTo>
                  <a:pt x="1145983" y="74769"/>
                </a:lnTo>
                <a:lnTo>
                  <a:pt x="1138636" y="37384"/>
                </a:lnTo>
                <a:close/>
              </a:path>
              <a:path w="1254760" h="299085">
                <a:moveTo>
                  <a:pt x="1253288" y="33710"/>
                </a:moveTo>
                <a:lnTo>
                  <a:pt x="1157328" y="33710"/>
                </a:lnTo>
                <a:lnTo>
                  <a:pt x="1164676" y="71095"/>
                </a:lnTo>
                <a:lnTo>
                  <a:pt x="1145983" y="74769"/>
                </a:lnTo>
                <a:lnTo>
                  <a:pt x="1153331" y="112154"/>
                </a:lnTo>
                <a:lnTo>
                  <a:pt x="1254465" y="34036"/>
                </a:lnTo>
                <a:lnTo>
                  <a:pt x="1253288" y="33710"/>
                </a:lnTo>
                <a:close/>
              </a:path>
              <a:path w="1254760" h="299085">
                <a:moveTo>
                  <a:pt x="1157328" y="33710"/>
                </a:moveTo>
                <a:lnTo>
                  <a:pt x="1138636" y="37384"/>
                </a:lnTo>
                <a:lnTo>
                  <a:pt x="1145983" y="74769"/>
                </a:lnTo>
                <a:lnTo>
                  <a:pt x="1164676" y="71095"/>
                </a:lnTo>
                <a:lnTo>
                  <a:pt x="1157328" y="33710"/>
                </a:lnTo>
                <a:close/>
              </a:path>
              <a:path w="1254760" h="299085">
                <a:moveTo>
                  <a:pt x="1131289" y="0"/>
                </a:moveTo>
                <a:lnTo>
                  <a:pt x="1138636" y="37384"/>
                </a:lnTo>
                <a:lnTo>
                  <a:pt x="1157328" y="33710"/>
                </a:lnTo>
                <a:lnTo>
                  <a:pt x="1253288" y="33710"/>
                </a:lnTo>
                <a:lnTo>
                  <a:pt x="1131289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713663" y="539603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713663" y="539603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473540" y="4944770"/>
            <a:ext cx="1240155" cy="575310"/>
          </a:xfrm>
          <a:custGeom>
            <a:avLst/>
            <a:gdLst/>
            <a:ahLst/>
            <a:cxnLst/>
            <a:rect l="l" t="t" r="r" b="b"/>
            <a:pathLst>
              <a:path w="1240154" h="575310">
                <a:moveTo>
                  <a:pt x="1014982" y="504704"/>
                </a:moveTo>
                <a:lnTo>
                  <a:pt x="984985" y="574751"/>
                </a:lnTo>
                <a:lnTo>
                  <a:pt x="1240123" y="559672"/>
                </a:lnTo>
                <a:lnTo>
                  <a:pt x="1206283" y="519703"/>
                </a:lnTo>
                <a:lnTo>
                  <a:pt x="1050005" y="519703"/>
                </a:lnTo>
                <a:lnTo>
                  <a:pt x="1014982" y="504704"/>
                </a:lnTo>
                <a:close/>
              </a:path>
              <a:path w="1240154" h="575310">
                <a:moveTo>
                  <a:pt x="1044979" y="434657"/>
                </a:moveTo>
                <a:lnTo>
                  <a:pt x="1014982" y="504704"/>
                </a:lnTo>
                <a:lnTo>
                  <a:pt x="1050005" y="519703"/>
                </a:lnTo>
                <a:lnTo>
                  <a:pt x="1080002" y="449656"/>
                </a:lnTo>
                <a:lnTo>
                  <a:pt x="1044979" y="434657"/>
                </a:lnTo>
                <a:close/>
              </a:path>
              <a:path w="1240154" h="575310">
                <a:moveTo>
                  <a:pt x="1074976" y="364610"/>
                </a:moveTo>
                <a:lnTo>
                  <a:pt x="1044979" y="434657"/>
                </a:lnTo>
                <a:lnTo>
                  <a:pt x="1080002" y="449656"/>
                </a:lnTo>
                <a:lnTo>
                  <a:pt x="1050005" y="519703"/>
                </a:lnTo>
                <a:lnTo>
                  <a:pt x="1206283" y="519703"/>
                </a:lnTo>
                <a:lnTo>
                  <a:pt x="1074976" y="364610"/>
                </a:lnTo>
                <a:close/>
              </a:path>
              <a:path w="1240154" h="575310">
                <a:moveTo>
                  <a:pt x="29997" y="0"/>
                </a:moveTo>
                <a:lnTo>
                  <a:pt x="0" y="70046"/>
                </a:lnTo>
                <a:lnTo>
                  <a:pt x="1014982" y="504704"/>
                </a:lnTo>
                <a:lnTo>
                  <a:pt x="1044979" y="434657"/>
                </a:lnTo>
                <a:lnTo>
                  <a:pt x="29997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211584" y="393724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211584" y="393724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020156" y="3435603"/>
            <a:ext cx="67945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10160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Lung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26952" y="3691635"/>
            <a:ext cx="89344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Pa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10">
                <a:latin typeface="Arial"/>
                <a:cs typeface="Arial"/>
              </a:rPr>
              <a:t>li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x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l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216917" y="4045649"/>
            <a:ext cx="995044" cy="698500"/>
          </a:xfrm>
          <a:custGeom>
            <a:avLst/>
            <a:gdLst/>
            <a:ahLst/>
            <a:cxnLst/>
            <a:rect l="l" t="t" r="r" b="b"/>
            <a:pathLst>
              <a:path w="995044" h="698500">
                <a:moveTo>
                  <a:pt x="784534" y="97742"/>
                </a:moveTo>
                <a:lnTo>
                  <a:pt x="0" y="635077"/>
                </a:lnTo>
                <a:lnTo>
                  <a:pt x="43058" y="697946"/>
                </a:lnTo>
                <a:lnTo>
                  <a:pt x="827593" y="160610"/>
                </a:lnTo>
                <a:lnTo>
                  <a:pt x="784534" y="97742"/>
                </a:lnTo>
                <a:close/>
              </a:path>
              <a:path w="995044" h="698500">
                <a:moveTo>
                  <a:pt x="952374" y="76212"/>
                </a:moveTo>
                <a:lnTo>
                  <a:pt x="815968" y="76212"/>
                </a:lnTo>
                <a:lnTo>
                  <a:pt x="859026" y="139081"/>
                </a:lnTo>
                <a:lnTo>
                  <a:pt x="827593" y="160610"/>
                </a:lnTo>
                <a:lnTo>
                  <a:pt x="870652" y="223478"/>
                </a:lnTo>
                <a:lnTo>
                  <a:pt x="952374" y="76212"/>
                </a:lnTo>
                <a:close/>
              </a:path>
              <a:path w="995044" h="698500">
                <a:moveTo>
                  <a:pt x="815968" y="76212"/>
                </a:moveTo>
                <a:lnTo>
                  <a:pt x="784534" y="97742"/>
                </a:lnTo>
                <a:lnTo>
                  <a:pt x="827593" y="160610"/>
                </a:lnTo>
                <a:lnTo>
                  <a:pt x="859026" y="139081"/>
                </a:lnTo>
                <a:lnTo>
                  <a:pt x="815968" y="76212"/>
                </a:lnTo>
                <a:close/>
              </a:path>
              <a:path w="995044" h="698500">
                <a:moveTo>
                  <a:pt x="994667" y="0"/>
                </a:moveTo>
                <a:lnTo>
                  <a:pt x="741475" y="34874"/>
                </a:lnTo>
                <a:lnTo>
                  <a:pt x="784534" y="97742"/>
                </a:lnTo>
                <a:lnTo>
                  <a:pt x="815968" y="76212"/>
                </a:lnTo>
                <a:lnTo>
                  <a:pt x="952374" y="76212"/>
                </a:lnTo>
                <a:lnTo>
                  <a:pt x="99466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433254" y="3959845"/>
            <a:ext cx="1271905" cy="228600"/>
          </a:xfrm>
          <a:custGeom>
            <a:avLst/>
            <a:gdLst/>
            <a:ahLst/>
            <a:cxnLst/>
            <a:rect l="l" t="t" r="r" b="b"/>
            <a:pathLst>
              <a:path w="1271904" h="228600">
                <a:moveTo>
                  <a:pt x="1046173" y="0"/>
                </a:moveTo>
                <a:lnTo>
                  <a:pt x="1044093" y="76172"/>
                </a:lnTo>
                <a:lnTo>
                  <a:pt x="1082178" y="77212"/>
                </a:lnTo>
                <a:lnTo>
                  <a:pt x="1080098" y="153384"/>
                </a:lnTo>
                <a:lnTo>
                  <a:pt x="1041984" y="153384"/>
                </a:lnTo>
                <a:lnTo>
                  <a:pt x="1039933" y="228514"/>
                </a:lnTo>
                <a:lnTo>
                  <a:pt x="1201045" y="153384"/>
                </a:lnTo>
                <a:lnTo>
                  <a:pt x="1080098" y="153384"/>
                </a:lnTo>
                <a:lnTo>
                  <a:pt x="1042013" y="152344"/>
                </a:lnTo>
                <a:lnTo>
                  <a:pt x="1203275" y="152344"/>
                </a:lnTo>
                <a:lnTo>
                  <a:pt x="1271568" y="120497"/>
                </a:lnTo>
                <a:lnTo>
                  <a:pt x="1046173" y="0"/>
                </a:lnTo>
                <a:close/>
              </a:path>
              <a:path w="1271904" h="228600">
                <a:moveTo>
                  <a:pt x="1044093" y="76172"/>
                </a:moveTo>
                <a:lnTo>
                  <a:pt x="1042013" y="152344"/>
                </a:lnTo>
                <a:lnTo>
                  <a:pt x="1080098" y="153384"/>
                </a:lnTo>
                <a:lnTo>
                  <a:pt x="1082178" y="77212"/>
                </a:lnTo>
                <a:lnTo>
                  <a:pt x="1044093" y="76172"/>
                </a:lnTo>
                <a:close/>
              </a:path>
              <a:path w="1271904" h="228600">
                <a:moveTo>
                  <a:pt x="2080" y="47717"/>
                </a:moveTo>
                <a:lnTo>
                  <a:pt x="0" y="123889"/>
                </a:lnTo>
                <a:lnTo>
                  <a:pt x="1042013" y="152344"/>
                </a:lnTo>
                <a:lnTo>
                  <a:pt x="1044093" y="76172"/>
                </a:lnTo>
                <a:lnTo>
                  <a:pt x="2080" y="47717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715845" y="399751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715845" y="399751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2673615" y="6269546"/>
            <a:ext cx="4343400" cy="595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40410">
              <a:lnSpc>
                <a:spcPts val="2090"/>
              </a:lnSpc>
            </a:pP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CausedBy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1750" y="6373178"/>
            <a:ext cx="1257300" cy="4921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090"/>
              </a:lnSpc>
            </a:pPr>
            <a:r>
              <a:rPr dirty="0" sz="1800" spc="-5" b="1">
                <a:solidFill>
                  <a:srgbClr val="FF0000"/>
                </a:solidFill>
                <a:latin typeface="Arial"/>
                <a:cs typeface="Arial"/>
              </a:rPr>
              <a:t>Fulvestrant</a:t>
            </a:r>
            <a:endParaRPr sz="1800">
              <a:latin typeface="Arial"/>
              <a:cs typeface="Arial"/>
            </a:endParaRPr>
          </a:p>
          <a:p>
            <a:pPr algn="ctr" marL="87630">
              <a:lnSpc>
                <a:spcPct val="100000"/>
              </a:lnSpc>
              <a:spcBef>
                <a:spcPts val="54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2/16/21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3272" y="1239069"/>
            <a:ext cx="6257452" cy="34723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48640" y="384047"/>
            <a:ext cx="7818120" cy="4754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18108" y="4726940"/>
            <a:ext cx="844359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marR="5257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solidFill>
                  <a:srgbClr val="E66C7D"/>
                </a:solidFill>
                <a:latin typeface="Calibri"/>
                <a:cs typeface="Calibri"/>
              </a:rPr>
              <a:t>How </a:t>
            </a:r>
            <a:r>
              <a:rPr dirty="0" sz="3000" spc="-15">
                <a:solidFill>
                  <a:srgbClr val="E66C7D"/>
                </a:solidFill>
                <a:latin typeface="Calibri"/>
                <a:cs typeface="Calibri"/>
              </a:rPr>
              <a:t>can we </a:t>
            </a:r>
            <a:r>
              <a:rPr dirty="0" sz="3000" spc="-5">
                <a:solidFill>
                  <a:srgbClr val="E66C7D"/>
                </a:solidFill>
                <a:latin typeface="Calibri"/>
                <a:cs typeface="Calibri"/>
              </a:rPr>
              <a:t>use embeddings </a:t>
            </a:r>
            <a:r>
              <a:rPr dirty="0" sz="3000" spc="-20">
                <a:solidFill>
                  <a:srgbClr val="E66C7D"/>
                </a:solidFill>
                <a:latin typeface="Calibri"/>
                <a:cs typeface="Calibri"/>
              </a:rPr>
              <a:t>to </a:t>
            </a:r>
            <a:r>
              <a:rPr dirty="0" sz="3000" spc="-5">
                <a:solidFill>
                  <a:srgbClr val="E66C7D"/>
                </a:solidFill>
                <a:latin typeface="Calibri"/>
                <a:cs typeface="Calibri"/>
              </a:rPr>
              <a:t>implicitly </a:t>
            </a:r>
            <a:r>
              <a:rPr dirty="0" sz="3000" spc="-10">
                <a:solidFill>
                  <a:srgbClr val="E66C7D"/>
                </a:solidFill>
                <a:latin typeface="Calibri"/>
                <a:cs typeface="Calibri"/>
              </a:rPr>
              <a:t>impute  </a:t>
            </a:r>
            <a:r>
              <a:rPr dirty="0" sz="3000" spc="-5">
                <a:solidFill>
                  <a:srgbClr val="E66C7D"/>
                </a:solidFill>
                <a:latin typeface="Calibri"/>
                <a:cs typeface="Calibri"/>
              </a:rPr>
              <a:t>the </a:t>
            </a:r>
            <a:r>
              <a:rPr dirty="0" sz="3000" spc="-5" b="1">
                <a:solidFill>
                  <a:srgbClr val="E66C7D"/>
                </a:solidFill>
                <a:latin typeface="Calibri"/>
                <a:cs typeface="Calibri"/>
              </a:rPr>
              <a:t>missing </a:t>
            </a:r>
            <a:r>
              <a:rPr dirty="0" sz="3000" spc="-10" b="1">
                <a:solidFill>
                  <a:srgbClr val="E66C7D"/>
                </a:solidFill>
                <a:latin typeface="Calibri"/>
                <a:cs typeface="Calibri"/>
              </a:rPr>
              <a:t>(ESR2, </a:t>
            </a:r>
            <a:r>
              <a:rPr dirty="0" sz="3000" spc="-5" b="1">
                <a:solidFill>
                  <a:srgbClr val="E66C7D"/>
                </a:solidFill>
                <a:latin typeface="Calibri"/>
                <a:cs typeface="Calibri"/>
              </a:rPr>
              <a:t>Assoc, </a:t>
            </a:r>
            <a:r>
              <a:rPr dirty="0" sz="3000" spc="-15" b="1">
                <a:solidFill>
                  <a:srgbClr val="E66C7D"/>
                </a:solidFill>
                <a:latin typeface="Calibri"/>
                <a:cs typeface="Calibri"/>
              </a:rPr>
              <a:t>Breast</a:t>
            </a:r>
            <a:r>
              <a:rPr dirty="0" sz="3000" spc="-35" b="1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E66C7D"/>
                </a:solidFill>
                <a:latin typeface="Calibri"/>
                <a:cs typeface="Calibri"/>
              </a:rPr>
              <a:t>Cancer)?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00B050"/>
                </a:solidFill>
                <a:latin typeface="Calibri"/>
                <a:cs typeface="Calibri"/>
              </a:rPr>
              <a:t>Intuition: </a:t>
            </a:r>
            <a:r>
              <a:rPr dirty="0" sz="3000" spc="-15" b="1">
                <a:latin typeface="Calibri"/>
                <a:cs typeface="Calibri"/>
              </a:rPr>
              <a:t>ESR2 </a:t>
            </a:r>
            <a:r>
              <a:rPr dirty="0" sz="3000" spc="-20">
                <a:latin typeface="Calibri"/>
                <a:cs typeface="Calibri"/>
              </a:rPr>
              <a:t>interacts </a:t>
            </a:r>
            <a:r>
              <a:rPr dirty="0" sz="3000" spc="-5">
                <a:latin typeface="Calibri"/>
                <a:cs typeface="Calibri"/>
              </a:rPr>
              <a:t>with both </a:t>
            </a:r>
            <a:r>
              <a:rPr dirty="0" sz="3000" spc="-10" b="1">
                <a:latin typeface="Calibri"/>
                <a:cs typeface="Calibri"/>
              </a:rPr>
              <a:t>BRCA1 </a:t>
            </a:r>
            <a:r>
              <a:rPr dirty="0" sz="3000" spc="-5">
                <a:latin typeface="Calibri"/>
                <a:cs typeface="Calibri"/>
              </a:rPr>
              <a:t>and</a:t>
            </a:r>
            <a:r>
              <a:rPr dirty="0" sz="3000" spc="25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ESR1</a:t>
            </a:r>
            <a:r>
              <a:rPr dirty="0" sz="3000" spc="-1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8149" y="6116771"/>
            <a:ext cx="7487920" cy="7486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554"/>
              </a:lnSpc>
            </a:pPr>
            <a:r>
              <a:rPr dirty="0" sz="3000" spc="-5">
                <a:latin typeface="Calibri"/>
                <a:cs typeface="Calibri"/>
              </a:rPr>
              <a:t>Both </a:t>
            </a:r>
            <a:r>
              <a:rPr dirty="0" sz="3000" spc="-15">
                <a:latin typeface="Calibri"/>
                <a:cs typeface="Calibri"/>
              </a:rPr>
              <a:t>proteins are </a:t>
            </a:r>
            <a:r>
              <a:rPr dirty="0" sz="3000" spc="-10">
                <a:latin typeface="Calibri"/>
                <a:cs typeface="Calibri"/>
              </a:rPr>
              <a:t>associated </a:t>
            </a:r>
            <a:r>
              <a:rPr dirty="0" sz="3000" spc="-5">
                <a:latin typeface="Calibri"/>
                <a:cs typeface="Calibri"/>
              </a:rPr>
              <a:t>with </a:t>
            </a:r>
            <a:r>
              <a:rPr dirty="0" sz="3000" spc="-15" b="1">
                <a:latin typeface="Calibri"/>
                <a:cs typeface="Calibri"/>
              </a:rPr>
              <a:t>breast</a:t>
            </a:r>
            <a:r>
              <a:rPr dirty="0" sz="3000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cancer</a:t>
            </a:r>
            <a:r>
              <a:rPr dirty="0" sz="3000" spc="-1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 marL="1748155">
              <a:lnSpc>
                <a:spcPct val="100000"/>
              </a:lnSpc>
              <a:spcBef>
                <a:spcPts val="109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4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24204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8013065" cy="88519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32740" marR="5080" indent="-320040">
              <a:lnSpc>
                <a:spcPct val="101400"/>
              </a:lnSpc>
              <a:spcBef>
                <a:spcPts val="5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i="0">
                <a:latin typeface="Calibri"/>
                <a:cs typeface="Calibri"/>
              </a:rPr>
              <a:t>“</a:t>
            </a:r>
            <a:r>
              <a:rPr dirty="0" sz="2800" spc="-5"/>
              <a:t>What are drugs that </a:t>
            </a:r>
            <a:r>
              <a:rPr dirty="0" sz="2800" spc="-10"/>
              <a:t>cause </a:t>
            </a:r>
            <a:r>
              <a:rPr dirty="0" sz="2800" spc="-5"/>
              <a:t>Short </a:t>
            </a:r>
            <a:r>
              <a:rPr dirty="0" sz="2800"/>
              <a:t>of </a:t>
            </a:r>
            <a:r>
              <a:rPr dirty="0" sz="2800" spc="-5"/>
              <a:t>Breath and treat  </a:t>
            </a:r>
            <a:r>
              <a:rPr dirty="0" sz="2800" spc="-5" i="1"/>
              <a:t>diseases </a:t>
            </a:r>
            <a:r>
              <a:rPr dirty="0" sz="2800" spc="-10" i="1"/>
              <a:t>associated </a:t>
            </a:r>
            <a:r>
              <a:rPr dirty="0" sz="2800" spc="-5" i="1"/>
              <a:t>with </a:t>
            </a:r>
            <a:r>
              <a:rPr dirty="0" sz="2800" spc="-10" i="1"/>
              <a:t>protein</a:t>
            </a:r>
            <a:r>
              <a:rPr dirty="0" sz="2800" spc="5" i="1"/>
              <a:t> </a:t>
            </a:r>
            <a:r>
              <a:rPr dirty="0" sz="2800" i="1"/>
              <a:t>ESR2?”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21755" y="4535196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74367" y="8792"/>
                </a:lnTo>
                <a:lnTo>
                  <a:pt x="35663" y="32771"/>
                </a:lnTo>
                <a:lnTo>
                  <a:pt x="9568" y="68336"/>
                </a:lnTo>
                <a:lnTo>
                  <a:pt x="0" y="111888"/>
                </a:lnTo>
                <a:lnTo>
                  <a:pt x="9568" y="155440"/>
                </a:lnTo>
                <a:lnTo>
                  <a:pt x="35663" y="191005"/>
                </a:lnTo>
                <a:lnTo>
                  <a:pt x="74367" y="214984"/>
                </a:lnTo>
                <a:lnTo>
                  <a:pt x="121762" y="223777"/>
                </a:lnTo>
                <a:lnTo>
                  <a:pt x="169158" y="214984"/>
                </a:lnTo>
                <a:lnTo>
                  <a:pt x="207861" y="191005"/>
                </a:lnTo>
                <a:lnTo>
                  <a:pt x="233956" y="155440"/>
                </a:lnTo>
                <a:lnTo>
                  <a:pt x="243525" y="111888"/>
                </a:lnTo>
                <a:lnTo>
                  <a:pt x="233956" y="68336"/>
                </a:lnTo>
                <a:lnTo>
                  <a:pt x="207861" y="32771"/>
                </a:lnTo>
                <a:lnTo>
                  <a:pt x="169158" y="8792"/>
                </a:lnTo>
                <a:lnTo>
                  <a:pt x="121762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21755" y="4535196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169157" y="8792"/>
                </a:lnTo>
                <a:lnTo>
                  <a:pt x="207861" y="32771"/>
                </a:lnTo>
                <a:lnTo>
                  <a:pt x="233956" y="68336"/>
                </a:lnTo>
                <a:lnTo>
                  <a:pt x="243525" y="111888"/>
                </a:lnTo>
                <a:lnTo>
                  <a:pt x="233956" y="155440"/>
                </a:lnTo>
                <a:lnTo>
                  <a:pt x="207861" y="191005"/>
                </a:lnTo>
                <a:lnTo>
                  <a:pt x="169157" y="214984"/>
                </a:lnTo>
                <a:lnTo>
                  <a:pt x="121762" y="223777"/>
                </a:lnTo>
                <a:lnTo>
                  <a:pt x="74367" y="214984"/>
                </a:lnTo>
                <a:lnTo>
                  <a:pt x="35663" y="191005"/>
                </a:lnTo>
                <a:lnTo>
                  <a:pt x="9568" y="155440"/>
                </a:lnTo>
                <a:lnTo>
                  <a:pt x="0" y="111888"/>
                </a:lnTo>
                <a:lnTo>
                  <a:pt x="9568" y="68336"/>
                </a:lnTo>
                <a:lnTo>
                  <a:pt x="35663" y="32771"/>
                </a:lnTo>
                <a:lnTo>
                  <a:pt x="74367" y="8792"/>
                </a:lnTo>
                <a:lnTo>
                  <a:pt x="121762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53151" y="3140256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74366" y="8792"/>
                </a:lnTo>
                <a:lnTo>
                  <a:pt x="35663" y="32771"/>
                </a:lnTo>
                <a:lnTo>
                  <a:pt x="9568" y="68336"/>
                </a:lnTo>
                <a:lnTo>
                  <a:pt x="0" y="111888"/>
                </a:lnTo>
                <a:lnTo>
                  <a:pt x="9568" y="155440"/>
                </a:lnTo>
                <a:lnTo>
                  <a:pt x="35663" y="191005"/>
                </a:lnTo>
                <a:lnTo>
                  <a:pt x="74366" y="214984"/>
                </a:lnTo>
                <a:lnTo>
                  <a:pt x="121762" y="223777"/>
                </a:lnTo>
                <a:lnTo>
                  <a:pt x="169158" y="214984"/>
                </a:lnTo>
                <a:lnTo>
                  <a:pt x="207861" y="191005"/>
                </a:lnTo>
                <a:lnTo>
                  <a:pt x="233956" y="155440"/>
                </a:lnTo>
                <a:lnTo>
                  <a:pt x="243525" y="111888"/>
                </a:lnTo>
                <a:lnTo>
                  <a:pt x="233956" y="68336"/>
                </a:lnTo>
                <a:lnTo>
                  <a:pt x="207861" y="32771"/>
                </a:lnTo>
                <a:lnTo>
                  <a:pt x="169158" y="8792"/>
                </a:lnTo>
                <a:lnTo>
                  <a:pt x="121762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53151" y="3140256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169157" y="8792"/>
                </a:lnTo>
                <a:lnTo>
                  <a:pt x="207861" y="32771"/>
                </a:lnTo>
                <a:lnTo>
                  <a:pt x="233956" y="68336"/>
                </a:lnTo>
                <a:lnTo>
                  <a:pt x="243525" y="111888"/>
                </a:lnTo>
                <a:lnTo>
                  <a:pt x="233956" y="155440"/>
                </a:lnTo>
                <a:lnTo>
                  <a:pt x="207861" y="191005"/>
                </a:lnTo>
                <a:lnTo>
                  <a:pt x="169157" y="214984"/>
                </a:lnTo>
                <a:lnTo>
                  <a:pt x="121762" y="223777"/>
                </a:lnTo>
                <a:lnTo>
                  <a:pt x="74367" y="214984"/>
                </a:lnTo>
                <a:lnTo>
                  <a:pt x="35663" y="191005"/>
                </a:lnTo>
                <a:lnTo>
                  <a:pt x="9568" y="155440"/>
                </a:lnTo>
                <a:lnTo>
                  <a:pt x="0" y="111888"/>
                </a:lnTo>
                <a:lnTo>
                  <a:pt x="9568" y="68336"/>
                </a:lnTo>
                <a:lnTo>
                  <a:pt x="35663" y="32771"/>
                </a:lnTo>
                <a:lnTo>
                  <a:pt x="74367" y="8792"/>
                </a:lnTo>
                <a:lnTo>
                  <a:pt x="121762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720889" y="4361179"/>
            <a:ext cx="82613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07950" marR="5080" indent="-95250">
              <a:lnSpc>
                <a:spcPts val="2090"/>
              </a:lnSpc>
              <a:spcBef>
                <a:spcPts val="225"/>
              </a:spcBef>
            </a:pPr>
            <a:r>
              <a:rPr dirty="0" sz="1800" spc="-5">
                <a:latin typeface="Arial"/>
                <a:cs typeface="Arial"/>
              </a:rPr>
              <a:t>Short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of  Breath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37420" y="3297428"/>
            <a:ext cx="648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ss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31865" y="3138294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74366" y="8792"/>
                </a:lnTo>
                <a:lnTo>
                  <a:pt x="35663" y="32771"/>
                </a:lnTo>
                <a:lnTo>
                  <a:pt x="9568" y="68337"/>
                </a:lnTo>
                <a:lnTo>
                  <a:pt x="0" y="111889"/>
                </a:lnTo>
                <a:lnTo>
                  <a:pt x="9568" y="155441"/>
                </a:lnTo>
                <a:lnTo>
                  <a:pt x="35663" y="191006"/>
                </a:lnTo>
                <a:lnTo>
                  <a:pt x="74366" y="214985"/>
                </a:lnTo>
                <a:lnTo>
                  <a:pt x="121762" y="223777"/>
                </a:lnTo>
                <a:lnTo>
                  <a:pt x="169157" y="214985"/>
                </a:lnTo>
                <a:lnTo>
                  <a:pt x="207860" y="191006"/>
                </a:lnTo>
                <a:lnTo>
                  <a:pt x="233955" y="155441"/>
                </a:lnTo>
                <a:lnTo>
                  <a:pt x="243523" y="111889"/>
                </a:lnTo>
                <a:lnTo>
                  <a:pt x="233955" y="68337"/>
                </a:lnTo>
                <a:lnTo>
                  <a:pt x="207860" y="32771"/>
                </a:lnTo>
                <a:lnTo>
                  <a:pt x="169157" y="8792"/>
                </a:lnTo>
                <a:lnTo>
                  <a:pt x="121762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931864" y="3138294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169157" y="8792"/>
                </a:lnTo>
                <a:lnTo>
                  <a:pt x="207861" y="32771"/>
                </a:lnTo>
                <a:lnTo>
                  <a:pt x="233956" y="68336"/>
                </a:lnTo>
                <a:lnTo>
                  <a:pt x="243525" y="111888"/>
                </a:lnTo>
                <a:lnTo>
                  <a:pt x="233956" y="155440"/>
                </a:lnTo>
                <a:lnTo>
                  <a:pt x="207861" y="191005"/>
                </a:lnTo>
                <a:lnTo>
                  <a:pt x="169157" y="214984"/>
                </a:lnTo>
                <a:lnTo>
                  <a:pt x="121762" y="223777"/>
                </a:lnTo>
                <a:lnTo>
                  <a:pt x="74367" y="214984"/>
                </a:lnTo>
                <a:lnTo>
                  <a:pt x="35663" y="191005"/>
                </a:lnTo>
                <a:lnTo>
                  <a:pt x="9568" y="155440"/>
                </a:lnTo>
                <a:lnTo>
                  <a:pt x="0" y="111888"/>
                </a:lnTo>
                <a:lnTo>
                  <a:pt x="9568" y="68336"/>
                </a:lnTo>
                <a:lnTo>
                  <a:pt x="35663" y="32771"/>
                </a:lnTo>
                <a:lnTo>
                  <a:pt x="74367" y="8792"/>
                </a:lnTo>
                <a:lnTo>
                  <a:pt x="121762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75352" y="3170952"/>
            <a:ext cx="1377950" cy="161925"/>
          </a:xfrm>
          <a:custGeom>
            <a:avLst/>
            <a:gdLst/>
            <a:ahLst/>
            <a:cxnLst/>
            <a:rect l="l" t="t" r="r" b="b"/>
            <a:pathLst>
              <a:path w="1377950" h="161925">
                <a:moveTo>
                  <a:pt x="1215836" y="107950"/>
                </a:moveTo>
                <a:lnTo>
                  <a:pt x="1215759" y="161925"/>
                </a:lnTo>
                <a:lnTo>
                  <a:pt x="1324016" y="107989"/>
                </a:lnTo>
                <a:lnTo>
                  <a:pt x="1242823" y="107989"/>
                </a:lnTo>
                <a:lnTo>
                  <a:pt x="1215836" y="107950"/>
                </a:lnTo>
                <a:close/>
              </a:path>
              <a:path w="1377950" h="161925">
                <a:moveTo>
                  <a:pt x="1215912" y="53975"/>
                </a:moveTo>
                <a:lnTo>
                  <a:pt x="1215836" y="107950"/>
                </a:lnTo>
                <a:lnTo>
                  <a:pt x="1242823" y="107989"/>
                </a:lnTo>
                <a:lnTo>
                  <a:pt x="1242900" y="54014"/>
                </a:lnTo>
                <a:lnTo>
                  <a:pt x="1215912" y="53975"/>
                </a:lnTo>
                <a:close/>
              </a:path>
              <a:path w="1377950" h="161925">
                <a:moveTo>
                  <a:pt x="1215989" y="0"/>
                </a:moveTo>
                <a:lnTo>
                  <a:pt x="1215912" y="53975"/>
                </a:lnTo>
                <a:lnTo>
                  <a:pt x="1242900" y="54014"/>
                </a:lnTo>
                <a:lnTo>
                  <a:pt x="1242823" y="107989"/>
                </a:lnTo>
                <a:lnTo>
                  <a:pt x="1324016" y="107989"/>
                </a:lnTo>
                <a:lnTo>
                  <a:pt x="1377798" y="81193"/>
                </a:lnTo>
                <a:lnTo>
                  <a:pt x="1215989" y="0"/>
                </a:lnTo>
                <a:close/>
              </a:path>
              <a:path w="1377950" h="161925">
                <a:moveTo>
                  <a:pt x="76" y="52243"/>
                </a:moveTo>
                <a:lnTo>
                  <a:pt x="0" y="106218"/>
                </a:lnTo>
                <a:lnTo>
                  <a:pt x="1215836" y="107950"/>
                </a:lnTo>
                <a:lnTo>
                  <a:pt x="1215912" y="53975"/>
                </a:lnTo>
                <a:lnTo>
                  <a:pt x="76" y="5224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420238" y="3328859"/>
            <a:ext cx="899794" cy="581660"/>
          </a:xfrm>
          <a:custGeom>
            <a:avLst/>
            <a:gdLst/>
            <a:ahLst/>
            <a:cxnLst/>
            <a:rect l="l" t="t" r="r" b="b"/>
            <a:pathLst>
              <a:path w="899795" h="581660">
                <a:moveTo>
                  <a:pt x="28806" y="0"/>
                </a:moveTo>
                <a:lnTo>
                  <a:pt x="0" y="45645"/>
                </a:lnTo>
                <a:lnTo>
                  <a:pt x="45645" y="74451"/>
                </a:lnTo>
                <a:lnTo>
                  <a:pt x="74451" y="28806"/>
                </a:lnTo>
                <a:lnTo>
                  <a:pt x="28806" y="0"/>
                </a:lnTo>
                <a:close/>
              </a:path>
              <a:path w="899795" h="581660">
                <a:moveTo>
                  <a:pt x="120097" y="57611"/>
                </a:moveTo>
                <a:lnTo>
                  <a:pt x="91291" y="103257"/>
                </a:lnTo>
                <a:lnTo>
                  <a:pt x="136936" y="132062"/>
                </a:lnTo>
                <a:lnTo>
                  <a:pt x="165742" y="86417"/>
                </a:lnTo>
                <a:lnTo>
                  <a:pt x="120097" y="57611"/>
                </a:lnTo>
                <a:close/>
              </a:path>
              <a:path w="899795" h="581660">
                <a:moveTo>
                  <a:pt x="211388" y="115223"/>
                </a:moveTo>
                <a:lnTo>
                  <a:pt x="182582" y="160868"/>
                </a:lnTo>
                <a:lnTo>
                  <a:pt x="228227" y="189674"/>
                </a:lnTo>
                <a:lnTo>
                  <a:pt x="257034" y="144028"/>
                </a:lnTo>
                <a:lnTo>
                  <a:pt x="211388" y="115223"/>
                </a:lnTo>
                <a:close/>
              </a:path>
              <a:path w="899795" h="581660">
                <a:moveTo>
                  <a:pt x="302680" y="172834"/>
                </a:moveTo>
                <a:lnTo>
                  <a:pt x="273874" y="218479"/>
                </a:lnTo>
                <a:lnTo>
                  <a:pt x="319519" y="247285"/>
                </a:lnTo>
                <a:lnTo>
                  <a:pt x="348325" y="201640"/>
                </a:lnTo>
                <a:lnTo>
                  <a:pt x="302680" y="172834"/>
                </a:lnTo>
                <a:close/>
              </a:path>
              <a:path w="899795" h="581660">
                <a:moveTo>
                  <a:pt x="393971" y="230445"/>
                </a:moveTo>
                <a:lnTo>
                  <a:pt x="365165" y="276091"/>
                </a:lnTo>
                <a:lnTo>
                  <a:pt x="410810" y="304896"/>
                </a:lnTo>
                <a:lnTo>
                  <a:pt x="439616" y="259251"/>
                </a:lnTo>
                <a:lnTo>
                  <a:pt x="393971" y="230445"/>
                </a:lnTo>
                <a:close/>
              </a:path>
              <a:path w="899795" h="581660">
                <a:moveTo>
                  <a:pt x="485263" y="288057"/>
                </a:moveTo>
                <a:lnTo>
                  <a:pt x="456457" y="333702"/>
                </a:lnTo>
                <a:lnTo>
                  <a:pt x="502102" y="362508"/>
                </a:lnTo>
                <a:lnTo>
                  <a:pt x="530908" y="316862"/>
                </a:lnTo>
                <a:lnTo>
                  <a:pt x="485263" y="288057"/>
                </a:lnTo>
                <a:close/>
              </a:path>
              <a:path w="899795" h="581660">
                <a:moveTo>
                  <a:pt x="576554" y="345668"/>
                </a:moveTo>
                <a:lnTo>
                  <a:pt x="547748" y="391313"/>
                </a:lnTo>
                <a:lnTo>
                  <a:pt x="593393" y="420119"/>
                </a:lnTo>
                <a:lnTo>
                  <a:pt x="622199" y="374474"/>
                </a:lnTo>
                <a:lnTo>
                  <a:pt x="576554" y="345668"/>
                </a:lnTo>
                <a:close/>
              </a:path>
              <a:path w="899795" h="581660">
                <a:moveTo>
                  <a:pt x="667846" y="403279"/>
                </a:moveTo>
                <a:lnTo>
                  <a:pt x="639039" y="448925"/>
                </a:lnTo>
                <a:lnTo>
                  <a:pt x="684684" y="477732"/>
                </a:lnTo>
                <a:lnTo>
                  <a:pt x="713491" y="432085"/>
                </a:lnTo>
                <a:lnTo>
                  <a:pt x="667846" y="403279"/>
                </a:lnTo>
                <a:close/>
              </a:path>
              <a:path w="899795" h="581660">
                <a:moveTo>
                  <a:pt x="747957" y="517660"/>
                </a:moveTo>
                <a:lnTo>
                  <a:pt x="719151" y="563305"/>
                </a:lnTo>
                <a:lnTo>
                  <a:pt x="899297" y="581254"/>
                </a:lnTo>
                <a:lnTo>
                  <a:pt x="869528" y="532062"/>
                </a:lnTo>
                <a:lnTo>
                  <a:pt x="770779" y="532062"/>
                </a:lnTo>
                <a:lnTo>
                  <a:pt x="747957" y="517660"/>
                </a:lnTo>
                <a:close/>
              </a:path>
              <a:path w="899795" h="581660">
                <a:moveTo>
                  <a:pt x="776762" y="472014"/>
                </a:moveTo>
                <a:lnTo>
                  <a:pt x="747957" y="517660"/>
                </a:lnTo>
                <a:lnTo>
                  <a:pt x="770779" y="532062"/>
                </a:lnTo>
                <a:lnTo>
                  <a:pt x="799585" y="486417"/>
                </a:lnTo>
                <a:lnTo>
                  <a:pt x="776762" y="472014"/>
                </a:lnTo>
                <a:close/>
              </a:path>
              <a:path w="899795" h="581660">
                <a:moveTo>
                  <a:pt x="805568" y="426368"/>
                </a:moveTo>
                <a:lnTo>
                  <a:pt x="776762" y="472014"/>
                </a:lnTo>
                <a:lnTo>
                  <a:pt x="799585" y="486417"/>
                </a:lnTo>
                <a:lnTo>
                  <a:pt x="770779" y="532062"/>
                </a:lnTo>
                <a:lnTo>
                  <a:pt x="869528" y="532062"/>
                </a:lnTo>
                <a:lnTo>
                  <a:pt x="805568" y="426368"/>
                </a:lnTo>
                <a:close/>
              </a:path>
              <a:path w="899795" h="581660">
                <a:moveTo>
                  <a:pt x="759137" y="460891"/>
                </a:moveTo>
                <a:lnTo>
                  <a:pt x="730331" y="506536"/>
                </a:lnTo>
                <a:lnTo>
                  <a:pt x="747957" y="517660"/>
                </a:lnTo>
                <a:lnTo>
                  <a:pt x="776762" y="472014"/>
                </a:lnTo>
                <a:lnTo>
                  <a:pt x="759137" y="4608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65279" y="4566123"/>
            <a:ext cx="1393190" cy="161925"/>
          </a:xfrm>
          <a:custGeom>
            <a:avLst/>
            <a:gdLst/>
            <a:ahLst/>
            <a:cxnLst/>
            <a:rect l="l" t="t" r="r" b="b"/>
            <a:pathLst>
              <a:path w="1393189" h="161925">
                <a:moveTo>
                  <a:pt x="1230817" y="107949"/>
                </a:moveTo>
                <a:lnTo>
                  <a:pt x="1230817" y="161925"/>
                </a:lnTo>
                <a:lnTo>
                  <a:pt x="1338767" y="107950"/>
                </a:lnTo>
                <a:lnTo>
                  <a:pt x="1230817" y="107949"/>
                </a:lnTo>
                <a:close/>
              </a:path>
              <a:path w="1393189" h="161925">
                <a:moveTo>
                  <a:pt x="1230817" y="53974"/>
                </a:moveTo>
                <a:lnTo>
                  <a:pt x="1230817" y="107949"/>
                </a:lnTo>
                <a:lnTo>
                  <a:pt x="1257805" y="107950"/>
                </a:lnTo>
                <a:lnTo>
                  <a:pt x="1257805" y="53975"/>
                </a:lnTo>
                <a:lnTo>
                  <a:pt x="1230817" y="53974"/>
                </a:lnTo>
                <a:close/>
              </a:path>
              <a:path w="1393189" h="161925">
                <a:moveTo>
                  <a:pt x="1230817" y="0"/>
                </a:moveTo>
                <a:lnTo>
                  <a:pt x="1230817" y="53974"/>
                </a:lnTo>
                <a:lnTo>
                  <a:pt x="1257805" y="53975"/>
                </a:lnTo>
                <a:lnTo>
                  <a:pt x="1257805" y="107950"/>
                </a:lnTo>
                <a:lnTo>
                  <a:pt x="1338770" y="107948"/>
                </a:lnTo>
                <a:lnTo>
                  <a:pt x="1392742" y="80962"/>
                </a:lnTo>
                <a:lnTo>
                  <a:pt x="1230817" y="0"/>
                </a:lnTo>
                <a:close/>
              </a:path>
              <a:path w="1393189" h="161925">
                <a:moveTo>
                  <a:pt x="0" y="53973"/>
                </a:moveTo>
                <a:lnTo>
                  <a:pt x="0" y="107948"/>
                </a:lnTo>
                <a:lnTo>
                  <a:pt x="1230817" y="107949"/>
                </a:lnTo>
                <a:lnTo>
                  <a:pt x="1230817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258020" y="4535196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74366" y="8792"/>
                </a:lnTo>
                <a:lnTo>
                  <a:pt x="35663" y="32771"/>
                </a:lnTo>
                <a:lnTo>
                  <a:pt x="9568" y="68336"/>
                </a:lnTo>
                <a:lnTo>
                  <a:pt x="0" y="111888"/>
                </a:lnTo>
                <a:lnTo>
                  <a:pt x="9568" y="155440"/>
                </a:lnTo>
                <a:lnTo>
                  <a:pt x="35663" y="191005"/>
                </a:lnTo>
                <a:lnTo>
                  <a:pt x="74366" y="214984"/>
                </a:lnTo>
                <a:lnTo>
                  <a:pt x="121762" y="223777"/>
                </a:lnTo>
                <a:lnTo>
                  <a:pt x="169158" y="214984"/>
                </a:lnTo>
                <a:lnTo>
                  <a:pt x="207861" y="191005"/>
                </a:lnTo>
                <a:lnTo>
                  <a:pt x="233956" y="155440"/>
                </a:lnTo>
                <a:lnTo>
                  <a:pt x="243525" y="111888"/>
                </a:lnTo>
                <a:lnTo>
                  <a:pt x="233956" y="68336"/>
                </a:lnTo>
                <a:lnTo>
                  <a:pt x="207861" y="32771"/>
                </a:lnTo>
                <a:lnTo>
                  <a:pt x="169158" y="8792"/>
                </a:lnTo>
                <a:lnTo>
                  <a:pt x="121762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258020" y="4535196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169157" y="8792"/>
                </a:lnTo>
                <a:lnTo>
                  <a:pt x="207861" y="32771"/>
                </a:lnTo>
                <a:lnTo>
                  <a:pt x="233956" y="68336"/>
                </a:lnTo>
                <a:lnTo>
                  <a:pt x="243525" y="111888"/>
                </a:lnTo>
                <a:lnTo>
                  <a:pt x="233956" y="155440"/>
                </a:lnTo>
                <a:lnTo>
                  <a:pt x="207861" y="191005"/>
                </a:lnTo>
                <a:lnTo>
                  <a:pt x="169157" y="214984"/>
                </a:lnTo>
                <a:lnTo>
                  <a:pt x="121762" y="223777"/>
                </a:lnTo>
                <a:lnTo>
                  <a:pt x="74367" y="214984"/>
                </a:lnTo>
                <a:lnTo>
                  <a:pt x="35663" y="191005"/>
                </a:lnTo>
                <a:lnTo>
                  <a:pt x="9568" y="155440"/>
                </a:lnTo>
                <a:lnTo>
                  <a:pt x="0" y="111888"/>
                </a:lnTo>
                <a:lnTo>
                  <a:pt x="9568" y="68336"/>
                </a:lnTo>
                <a:lnTo>
                  <a:pt x="35663" y="32771"/>
                </a:lnTo>
                <a:lnTo>
                  <a:pt x="74367" y="8792"/>
                </a:lnTo>
                <a:lnTo>
                  <a:pt x="121762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452249" y="4068348"/>
            <a:ext cx="867410" cy="523240"/>
          </a:xfrm>
          <a:custGeom>
            <a:avLst/>
            <a:gdLst/>
            <a:ahLst/>
            <a:cxnLst/>
            <a:rect l="l" t="t" r="r" b="b"/>
            <a:pathLst>
              <a:path w="867410" h="523239">
                <a:moveTo>
                  <a:pt x="46583" y="449065"/>
                </a:moveTo>
                <a:lnTo>
                  <a:pt x="0" y="476330"/>
                </a:lnTo>
                <a:lnTo>
                  <a:pt x="27264" y="522913"/>
                </a:lnTo>
                <a:lnTo>
                  <a:pt x="73847" y="495649"/>
                </a:lnTo>
                <a:lnTo>
                  <a:pt x="46583" y="449065"/>
                </a:lnTo>
                <a:close/>
              </a:path>
              <a:path w="867410" h="523239">
                <a:moveTo>
                  <a:pt x="139749" y="394538"/>
                </a:moveTo>
                <a:lnTo>
                  <a:pt x="93165" y="421802"/>
                </a:lnTo>
                <a:lnTo>
                  <a:pt x="120430" y="468384"/>
                </a:lnTo>
                <a:lnTo>
                  <a:pt x="167013" y="441121"/>
                </a:lnTo>
                <a:lnTo>
                  <a:pt x="139749" y="394538"/>
                </a:lnTo>
                <a:close/>
              </a:path>
              <a:path w="867410" h="523239">
                <a:moveTo>
                  <a:pt x="232915" y="340010"/>
                </a:moveTo>
                <a:lnTo>
                  <a:pt x="186333" y="367273"/>
                </a:lnTo>
                <a:lnTo>
                  <a:pt x="213596" y="413857"/>
                </a:lnTo>
                <a:lnTo>
                  <a:pt x="260179" y="386593"/>
                </a:lnTo>
                <a:lnTo>
                  <a:pt x="232915" y="340010"/>
                </a:lnTo>
                <a:close/>
              </a:path>
              <a:path w="867410" h="523239">
                <a:moveTo>
                  <a:pt x="326081" y="285483"/>
                </a:moveTo>
                <a:lnTo>
                  <a:pt x="279499" y="312746"/>
                </a:lnTo>
                <a:lnTo>
                  <a:pt x="306762" y="359329"/>
                </a:lnTo>
                <a:lnTo>
                  <a:pt x="353345" y="332065"/>
                </a:lnTo>
                <a:lnTo>
                  <a:pt x="326081" y="285483"/>
                </a:lnTo>
                <a:close/>
              </a:path>
              <a:path w="867410" h="523239">
                <a:moveTo>
                  <a:pt x="419247" y="230954"/>
                </a:moveTo>
                <a:lnTo>
                  <a:pt x="372664" y="258218"/>
                </a:lnTo>
                <a:lnTo>
                  <a:pt x="399928" y="304801"/>
                </a:lnTo>
                <a:lnTo>
                  <a:pt x="446511" y="277538"/>
                </a:lnTo>
                <a:lnTo>
                  <a:pt x="419247" y="230954"/>
                </a:lnTo>
                <a:close/>
              </a:path>
              <a:path w="867410" h="523239">
                <a:moveTo>
                  <a:pt x="512413" y="176427"/>
                </a:moveTo>
                <a:lnTo>
                  <a:pt x="465830" y="203691"/>
                </a:lnTo>
                <a:lnTo>
                  <a:pt x="493095" y="250273"/>
                </a:lnTo>
                <a:lnTo>
                  <a:pt x="539677" y="223010"/>
                </a:lnTo>
                <a:lnTo>
                  <a:pt x="512413" y="176427"/>
                </a:lnTo>
                <a:close/>
              </a:path>
              <a:path w="867410" h="523239">
                <a:moveTo>
                  <a:pt x="605580" y="121899"/>
                </a:moveTo>
                <a:lnTo>
                  <a:pt x="558996" y="149162"/>
                </a:lnTo>
                <a:lnTo>
                  <a:pt x="586261" y="195746"/>
                </a:lnTo>
                <a:lnTo>
                  <a:pt x="632843" y="168482"/>
                </a:lnTo>
                <a:lnTo>
                  <a:pt x="605580" y="121899"/>
                </a:lnTo>
                <a:close/>
              </a:path>
              <a:path w="867410" h="523239">
                <a:moveTo>
                  <a:pt x="867285" y="0"/>
                </a:moveTo>
                <a:lnTo>
                  <a:pt x="686640" y="11916"/>
                </a:lnTo>
                <a:lnTo>
                  <a:pt x="768432" y="151665"/>
                </a:lnTo>
                <a:lnTo>
                  <a:pt x="867285" y="0"/>
                </a:lnTo>
                <a:close/>
              </a:path>
              <a:path w="867410" h="523239">
                <a:moveTo>
                  <a:pt x="698746" y="67370"/>
                </a:moveTo>
                <a:lnTo>
                  <a:pt x="652162" y="94635"/>
                </a:lnTo>
                <a:lnTo>
                  <a:pt x="679427" y="141218"/>
                </a:lnTo>
                <a:lnTo>
                  <a:pt x="726009" y="113954"/>
                </a:lnTo>
                <a:lnTo>
                  <a:pt x="698746" y="67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015733" y="4281932"/>
            <a:ext cx="1080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au</a:t>
            </a: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s</a:t>
            </a: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edB</a:t>
            </a: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47228" y="3282188"/>
            <a:ext cx="1071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03926" y="3233420"/>
            <a:ext cx="1207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Intersection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29541" y="4397755"/>
            <a:ext cx="1207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Intersection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83871" y="3893797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40" h="224154">
                <a:moveTo>
                  <a:pt x="121762" y="0"/>
                </a:moveTo>
                <a:lnTo>
                  <a:pt x="74366" y="8792"/>
                </a:lnTo>
                <a:lnTo>
                  <a:pt x="35663" y="32771"/>
                </a:lnTo>
                <a:lnTo>
                  <a:pt x="9568" y="68336"/>
                </a:lnTo>
                <a:lnTo>
                  <a:pt x="0" y="111888"/>
                </a:lnTo>
                <a:lnTo>
                  <a:pt x="9568" y="155440"/>
                </a:lnTo>
                <a:lnTo>
                  <a:pt x="35663" y="191005"/>
                </a:lnTo>
                <a:lnTo>
                  <a:pt x="74366" y="214983"/>
                </a:lnTo>
                <a:lnTo>
                  <a:pt x="121762" y="223776"/>
                </a:lnTo>
                <a:lnTo>
                  <a:pt x="169158" y="214983"/>
                </a:lnTo>
                <a:lnTo>
                  <a:pt x="207861" y="191005"/>
                </a:lnTo>
                <a:lnTo>
                  <a:pt x="233956" y="155440"/>
                </a:lnTo>
                <a:lnTo>
                  <a:pt x="243525" y="111888"/>
                </a:lnTo>
                <a:lnTo>
                  <a:pt x="233956" y="68336"/>
                </a:lnTo>
                <a:lnTo>
                  <a:pt x="207861" y="32771"/>
                </a:lnTo>
                <a:lnTo>
                  <a:pt x="169158" y="8792"/>
                </a:lnTo>
                <a:lnTo>
                  <a:pt x="121762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283871" y="3893797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40" h="224154">
                <a:moveTo>
                  <a:pt x="121762" y="0"/>
                </a:moveTo>
                <a:lnTo>
                  <a:pt x="169157" y="8792"/>
                </a:lnTo>
                <a:lnTo>
                  <a:pt x="207861" y="32771"/>
                </a:lnTo>
                <a:lnTo>
                  <a:pt x="233956" y="68336"/>
                </a:lnTo>
                <a:lnTo>
                  <a:pt x="243525" y="111888"/>
                </a:lnTo>
                <a:lnTo>
                  <a:pt x="233956" y="155440"/>
                </a:lnTo>
                <a:lnTo>
                  <a:pt x="207861" y="191005"/>
                </a:lnTo>
                <a:lnTo>
                  <a:pt x="169157" y="214984"/>
                </a:lnTo>
                <a:lnTo>
                  <a:pt x="121762" y="223777"/>
                </a:lnTo>
                <a:lnTo>
                  <a:pt x="74367" y="214984"/>
                </a:lnTo>
                <a:lnTo>
                  <a:pt x="35663" y="191005"/>
                </a:lnTo>
                <a:lnTo>
                  <a:pt x="9568" y="155440"/>
                </a:lnTo>
                <a:lnTo>
                  <a:pt x="0" y="111888"/>
                </a:lnTo>
                <a:lnTo>
                  <a:pt x="9568" y="68336"/>
                </a:lnTo>
                <a:lnTo>
                  <a:pt x="35663" y="32771"/>
                </a:lnTo>
                <a:lnTo>
                  <a:pt x="74367" y="8792"/>
                </a:lnTo>
                <a:lnTo>
                  <a:pt x="121762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226779" y="3160675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74366" y="8792"/>
                </a:lnTo>
                <a:lnTo>
                  <a:pt x="35663" y="32771"/>
                </a:lnTo>
                <a:lnTo>
                  <a:pt x="9568" y="68336"/>
                </a:lnTo>
                <a:lnTo>
                  <a:pt x="0" y="111888"/>
                </a:lnTo>
                <a:lnTo>
                  <a:pt x="9568" y="155440"/>
                </a:lnTo>
                <a:lnTo>
                  <a:pt x="35663" y="191005"/>
                </a:lnTo>
                <a:lnTo>
                  <a:pt x="74366" y="214983"/>
                </a:lnTo>
                <a:lnTo>
                  <a:pt x="121762" y="223776"/>
                </a:lnTo>
                <a:lnTo>
                  <a:pt x="169158" y="214983"/>
                </a:lnTo>
                <a:lnTo>
                  <a:pt x="207861" y="191005"/>
                </a:lnTo>
                <a:lnTo>
                  <a:pt x="233956" y="155440"/>
                </a:lnTo>
                <a:lnTo>
                  <a:pt x="243525" y="111888"/>
                </a:lnTo>
                <a:lnTo>
                  <a:pt x="233956" y="68336"/>
                </a:lnTo>
                <a:lnTo>
                  <a:pt x="207861" y="32771"/>
                </a:lnTo>
                <a:lnTo>
                  <a:pt x="169158" y="8792"/>
                </a:lnTo>
                <a:lnTo>
                  <a:pt x="121762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226779" y="3160675"/>
            <a:ext cx="243840" cy="224154"/>
          </a:xfrm>
          <a:custGeom>
            <a:avLst/>
            <a:gdLst/>
            <a:ahLst/>
            <a:cxnLst/>
            <a:rect l="l" t="t" r="r" b="b"/>
            <a:pathLst>
              <a:path w="243839" h="224154">
                <a:moveTo>
                  <a:pt x="121762" y="0"/>
                </a:moveTo>
                <a:lnTo>
                  <a:pt x="169157" y="8792"/>
                </a:lnTo>
                <a:lnTo>
                  <a:pt x="207861" y="32771"/>
                </a:lnTo>
                <a:lnTo>
                  <a:pt x="233956" y="68336"/>
                </a:lnTo>
                <a:lnTo>
                  <a:pt x="243525" y="111888"/>
                </a:lnTo>
                <a:lnTo>
                  <a:pt x="233956" y="155440"/>
                </a:lnTo>
                <a:lnTo>
                  <a:pt x="207861" y="191005"/>
                </a:lnTo>
                <a:lnTo>
                  <a:pt x="169157" y="214984"/>
                </a:lnTo>
                <a:lnTo>
                  <a:pt x="121762" y="223777"/>
                </a:lnTo>
                <a:lnTo>
                  <a:pt x="74367" y="214984"/>
                </a:lnTo>
                <a:lnTo>
                  <a:pt x="35663" y="191005"/>
                </a:lnTo>
                <a:lnTo>
                  <a:pt x="9568" y="155440"/>
                </a:lnTo>
                <a:lnTo>
                  <a:pt x="0" y="111888"/>
                </a:lnTo>
                <a:lnTo>
                  <a:pt x="9568" y="68336"/>
                </a:lnTo>
                <a:lnTo>
                  <a:pt x="35663" y="32771"/>
                </a:lnTo>
                <a:lnTo>
                  <a:pt x="74367" y="8792"/>
                </a:lnTo>
                <a:lnTo>
                  <a:pt x="121762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796290" y="3189298"/>
            <a:ext cx="1430655" cy="161925"/>
          </a:xfrm>
          <a:custGeom>
            <a:avLst/>
            <a:gdLst/>
            <a:ahLst/>
            <a:cxnLst/>
            <a:rect l="l" t="t" r="r" b="b"/>
            <a:pathLst>
              <a:path w="1430654" h="161925">
                <a:moveTo>
                  <a:pt x="1269735" y="0"/>
                </a:moveTo>
                <a:lnTo>
                  <a:pt x="1268965" y="53969"/>
                </a:lnTo>
                <a:lnTo>
                  <a:pt x="1295949" y="54354"/>
                </a:lnTo>
                <a:lnTo>
                  <a:pt x="1295180" y="108324"/>
                </a:lnTo>
                <a:lnTo>
                  <a:pt x="1268189" y="108324"/>
                </a:lnTo>
                <a:lnTo>
                  <a:pt x="1267424" y="161908"/>
                </a:lnTo>
                <a:lnTo>
                  <a:pt x="1378530" y="108324"/>
                </a:lnTo>
                <a:lnTo>
                  <a:pt x="1295180" y="108324"/>
                </a:lnTo>
                <a:lnTo>
                  <a:pt x="1268194" y="107939"/>
                </a:lnTo>
                <a:lnTo>
                  <a:pt x="1379329" y="107939"/>
                </a:lnTo>
                <a:lnTo>
                  <a:pt x="1430488" y="83266"/>
                </a:lnTo>
                <a:lnTo>
                  <a:pt x="1269735" y="0"/>
                </a:lnTo>
                <a:close/>
              </a:path>
              <a:path w="1430654" h="161925">
                <a:moveTo>
                  <a:pt x="1268965" y="53969"/>
                </a:moveTo>
                <a:lnTo>
                  <a:pt x="1268194" y="107939"/>
                </a:lnTo>
                <a:lnTo>
                  <a:pt x="1295180" y="108324"/>
                </a:lnTo>
                <a:lnTo>
                  <a:pt x="1295949" y="54354"/>
                </a:lnTo>
                <a:lnTo>
                  <a:pt x="1268965" y="53969"/>
                </a:lnTo>
                <a:close/>
              </a:path>
              <a:path w="1430654" h="161925">
                <a:moveTo>
                  <a:pt x="770" y="35862"/>
                </a:moveTo>
                <a:lnTo>
                  <a:pt x="0" y="89832"/>
                </a:lnTo>
                <a:lnTo>
                  <a:pt x="1268194" y="107939"/>
                </a:lnTo>
                <a:lnTo>
                  <a:pt x="1268965" y="53969"/>
                </a:lnTo>
                <a:lnTo>
                  <a:pt x="770" y="35862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31801" y="2137765"/>
            <a:ext cx="7867650" cy="126174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963294">
              <a:lnSpc>
                <a:spcPct val="100000"/>
              </a:lnSpc>
              <a:spcBef>
                <a:spcPts val="680"/>
              </a:spcBef>
            </a:pPr>
            <a:r>
              <a:rPr dirty="0" sz="2000" spc="-5" b="1">
                <a:latin typeface="Calibri"/>
                <a:cs typeface="Calibri"/>
              </a:rPr>
              <a:t>((</a:t>
            </a:r>
            <a:r>
              <a:rPr dirty="0" sz="2000" spc="-5" b="1">
                <a:solidFill>
                  <a:srgbClr val="0070C0"/>
                </a:solidFill>
                <a:latin typeface="Calibri"/>
                <a:cs typeface="Calibri"/>
              </a:rPr>
              <a:t>e:ESR2</a:t>
            </a:r>
            <a:r>
              <a:rPr dirty="0" sz="2000" spc="-5" b="1">
                <a:latin typeface="Calibri"/>
                <a:cs typeface="Calibri"/>
              </a:rPr>
              <a:t>, (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r:Assoc</a:t>
            </a:r>
            <a:r>
              <a:rPr dirty="0" sz="2000" spc="-5" b="1">
                <a:solidFill>
                  <a:srgbClr val="C55A11"/>
                </a:solidFill>
                <a:latin typeface="Calibri"/>
                <a:cs typeface="Calibri"/>
              </a:rPr>
              <a:t>, </a:t>
            </a:r>
            <a:r>
              <a:rPr dirty="0" sz="2000" spc="-15" b="1">
                <a:solidFill>
                  <a:srgbClr val="479249"/>
                </a:solidFill>
                <a:latin typeface="Calibri"/>
                <a:cs typeface="Calibri"/>
              </a:rPr>
              <a:t>r:TreatedBy</a:t>
            </a:r>
            <a:r>
              <a:rPr dirty="0" sz="2000" spc="-15" b="1">
                <a:latin typeface="Calibri"/>
                <a:cs typeface="Calibri"/>
              </a:rPr>
              <a:t>)), </a:t>
            </a:r>
            <a:r>
              <a:rPr dirty="0" sz="2000" spc="-5" b="1">
                <a:latin typeface="Calibri"/>
                <a:cs typeface="Calibri"/>
              </a:rPr>
              <a:t>(</a:t>
            </a:r>
            <a:r>
              <a:rPr dirty="0" sz="2000" spc="-5" b="1">
                <a:solidFill>
                  <a:srgbClr val="0070C0"/>
                </a:solidFill>
                <a:latin typeface="Calibri"/>
                <a:cs typeface="Calibri"/>
              </a:rPr>
              <a:t>e:Short of </a:t>
            </a:r>
            <a:r>
              <a:rPr dirty="0" sz="2000" spc="-10" b="1">
                <a:solidFill>
                  <a:srgbClr val="0070C0"/>
                </a:solidFill>
                <a:latin typeface="Calibri"/>
                <a:cs typeface="Calibri"/>
              </a:rPr>
              <a:t>Breath</a:t>
            </a:r>
            <a:r>
              <a:rPr dirty="0" sz="2000" spc="-10" b="1">
                <a:latin typeface="Calibri"/>
                <a:cs typeface="Calibri"/>
              </a:rPr>
              <a:t>,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spc="-5" b="1">
                <a:latin typeface="Calibri"/>
                <a:cs typeface="Calibri"/>
              </a:rPr>
              <a:t>(</a:t>
            </a:r>
            <a:r>
              <a:rPr dirty="0" sz="2000" spc="-5" b="1">
                <a:solidFill>
                  <a:srgbClr val="B48200"/>
                </a:solidFill>
                <a:latin typeface="Calibri"/>
                <a:cs typeface="Calibri"/>
              </a:rPr>
              <a:t>r:CausedBy</a:t>
            </a:r>
            <a:r>
              <a:rPr dirty="0" sz="2000" spc="-5" b="1">
                <a:latin typeface="Calibri"/>
                <a:cs typeface="Calibri"/>
              </a:rPr>
              <a:t>))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2500" spc="-5" b="1">
                <a:latin typeface="Arial"/>
                <a:cs typeface="Arial"/>
              </a:rPr>
              <a:t>Query</a:t>
            </a:r>
            <a:r>
              <a:rPr dirty="0" sz="2500" spc="-65" b="1">
                <a:latin typeface="Arial"/>
                <a:cs typeface="Arial"/>
              </a:rPr>
              <a:t> </a:t>
            </a:r>
            <a:r>
              <a:rPr dirty="0" sz="2500" spc="-5" b="1">
                <a:latin typeface="Arial"/>
                <a:cs typeface="Arial"/>
              </a:rPr>
              <a:t>plan:</a:t>
            </a:r>
            <a:endParaRPr sz="2500">
              <a:latin typeface="Arial"/>
              <a:cs typeface="Arial"/>
            </a:endParaRPr>
          </a:p>
          <a:p>
            <a:pPr marL="815340">
              <a:lnSpc>
                <a:spcPct val="100000"/>
              </a:lnSpc>
              <a:spcBef>
                <a:spcPts val="865"/>
              </a:spcBef>
            </a:pPr>
            <a:r>
              <a:rPr dirty="0" sz="1800" spc="-5">
                <a:latin typeface="Arial"/>
                <a:cs typeface="Arial"/>
              </a:rPr>
              <a:t>ESR2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6883" y="5659628"/>
            <a:ext cx="801497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10" b="1">
                <a:solidFill>
                  <a:srgbClr val="00B050"/>
                </a:solidFill>
                <a:latin typeface="Calibri"/>
                <a:cs typeface="Calibri"/>
              </a:rPr>
              <a:t>Each intermediate </a:t>
            </a:r>
            <a:r>
              <a:rPr dirty="0" sz="2400" spc="-5" b="1">
                <a:solidFill>
                  <a:srgbClr val="00B050"/>
                </a:solidFill>
                <a:latin typeface="Calibri"/>
                <a:cs typeface="Calibri"/>
              </a:rPr>
              <a:t>node </a:t>
            </a:r>
            <a:r>
              <a:rPr dirty="0" sz="2400" spc="-10" b="1">
                <a:solidFill>
                  <a:srgbClr val="00B050"/>
                </a:solidFill>
                <a:latin typeface="Calibri"/>
                <a:cs typeface="Calibri"/>
              </a:rPr>
              <a:t>represents </a:t>
            </a:r>
            <a:r>
              <a:rPr dirty="0" sz="2400" b="1">
                <a:solidFill>
                  <a:srgbClr val="00B050"/>
                </a:solidFill>
                <a:latin typeface="Calibri"/>
                <a:cs typeface="Calibri"/>
              </a:rPr>
              <a:t>a </a:t>
            </a:r>
            <a:r>
              <a:rPr dirty="0" sz="2400" spc="-5" b="1">
                <a:solidFill>
                  <a:srgbClr val="00B050"/>
                </a:solidFill>
                <a:latin typeface="Calibri"/>
                <a:cs typeface="Calibri"/>
              </a:rPr>
              <a:t>set of entities, how do </a:t>
            </a:r>
            <a:r>
              <a:rPr dirty="0" sz="2400" spc="-15" b="1">
                <a:solidFill>
                  <a:srgbClr val="00B050"/>
                </a:solidFill>
                <a:latin typeface="Calibri"/>
                <a:cs typeface="Calibri"/>
              </a:rPr>
              <a:t>we  represent </a:t>
            </a:r>
            <a:r>
              <a:rPr dirty="0" sz="2400" spc="-5" b="1">
                <a:solidFill>
                  <a:srgbClr val="00B050"/>
                </a:solidFill>
                <a:latin typeface="Calibri"/>
                <a:cs typeface="Calibri"/>
              </a:rPr>
              <a:t>it? How </a:t>
            </a:r>
            <a:r>
              <a:rPr dirty="0" sz="2400" b="1">
                <a:solidFill>
                  <a:srgbClr val="00B050"/>
                </a:solidFill>
                <a:latin typeface="Calibri"/>
                <a:cs typeface="Calibri"/>
              </a:rPr>
              <a:t>do </a:t>
            </a:r>
            <a:r>
              <a:rPr dirty="0" sz="2400" spc="-10" b="1">
                <a:solidFill>
                  <a:srgbClr val="00B050"/>
                </a:solidFill>
                <a:latin typeface="Calibri"/>
                <a:cs typeface="Calibri"/>
              </a:rPr>
              <a:t>we </a:t>
            </a:r>
            <a:r>
              <a:rPr dirty="0" sz="2400" spc="-5" b="1">
                <a:solidFill>
                  <a:srgbClr val="00B050"/>
                </a:solidFill>
                <a:latin typeface="Calibri"/>
                <a:cs typeface="Calibri"/>
              </a:rPr>
              <a:t>define </a:t>
            </a:r>
            <a:r>
              <a:rPr dirty="0" sz="2400" b="1">
                <a:solidFill>
                  <a:srgbClr val="00B050"/>
                </a:solidFill>
                <a:latin typeface="Calibri"/>
                <a:cs typeface="Calibri"/>
              </a:rPr>
              <a:t>the </a:t>
            </a:r>
            <a:r>
              <a:rPr dirty="0" sz="2400" spc="-10" b="1">
                <a:solidFill>
                  <a:srgbClr val="00B050"/>
                </a:solidFill>
                <a:latin typeface="Calibri"/>
                <a:cs typeface="Calibri"/>
              </a:rPr>
              <a:t>intersection </a:t>
            </a:r>
            <a:r>
              <a:rPr dirty="0" sz="2400" spc="-15" b="1">
                <a:solidFill>
                  <a:srgbClr val="00B050"/>
                </a:solidFill>
                <a:latin typeface="Calibri"/>
                <a:cs typeface="Calibri"/>
              </a:rPr>
              <a:t>operation</a:t>
            </a:r>
            <a:r>
              <a:rPr dirty="0" sz="2400" spc="35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00B050"/>
                </a:solidFill>
                <a:latin typeface="Calibri"/>
                <a:cs typeface="Calibri"/>
              </a:rPr>
              <a:t>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735116" y="4840392"/>
            <a:ext cx="519430" cy="828040"/>
          </a:xfrm>
          <a:custGeom>
            <a:avLst/>
            <a:gdLst/>
            <a:ahLst/>
            <a:cxnLst/>
            <a:rect l="l" t="t" r="r" b="b"/>
            <a:pathLst>
              <a:path w="519429" h="828039">
                <a:moveTo>
                  <a:pt x="462092" y="65328"/>
                </a:moveTo>
                <a:lnTo>
                  <a:pt x="0" y="810617"/>
                </a:lnTo>
                <a:lnTo>
                  <a:pt x="2065" y="819424"/>
                </a:lnTo>
                <a:lnTo>
                  <a:pt x="15478" y="827740"/>
                </a:lnTo>
                <a:lnTo>
                  <a:pt x="24286" y="825675"/>
                </a:lnTo>
                <a:lnTo>
                  <a:pt x="486377" y="80385"/>
                </a:lnTo>
                <a:lnTo>
                  <a:pt x="462092" y="65328"/>
                </a:lnTo>
                <a:close/>
              </a:path>
              <a:path w="519429" h="828039">
                <a:moveTo>
                  <a:pt x="515338" y="44413"/>
                </a:moveTo>
                <a:lnTo>
                  <a:pt x="482586" y="44413"/>
                </a:lnTo>
                <a:lnTo>
                  <a:pt x="495998" y="52729"/>
                </a:lnTo>
                <a:lnTo>
                  <a:pt x="498064" y="61536"/>
                </a:lnTo>
                <a:lnTo>
                  <a:pt x="486377" y="80385"/>
                </a:lnTo>
                <a:lnTo>
                  <a:pt x="510663" y="95443"/>
                </a:lnTo>
                <a:lnTo>
                  <a:pt x="515338" y="44413"/>
                </a:lnTo>
                <a:close/>
              </a:path>
              <a:path w="519429" h="828039">
                <a:moveTo>
                  <a:pt x="482586" y="44413"/>
                </a:moveTo>
                <a:lnTo>
                  <a:pt x="473778" y="46479"/>
                </a:lnTo>
                <a:lnTo>
                  <a:pt x="462092" y="65328"/>
                </a:lnTo>
                <a:lnTo>
                  <a:pt x="486377" y="80385"/>
                </a:lnTo>
                <a:lnTo>
                  <a:pt x="498064" y="61536"/>
                </a:lnTo>
                <a:lnTo>
                  <a:pt x="495998" y="52729"/>
                </a:lnTo>
                <a:lnTo>
                  <a:pt x="482586" y="44413"/>
                </a:lnTo>
                <a:close/>
              </a:path>
              <a:path w="519429" h="828039">
                <a:moveTo>
                  <a:pt x="519407" y="0"/>
                </a:moveTo>
                <a:lnTo>
                  <a:pt x="437805" y="50270"/>
                </a:lnTo>
                <a:lnTo>
                  <a:pt x="462092" y="65328"/>
                </a:lnTo>
                <a:lnTo>
                  <a:pt x="473778" y="46479"/>
                </a:lnTo>
                <a:lnTo>
                  <a:pt x="482586" y="44413"/>
                </a:lnTo>
                <a:lnTo>
                  <a:pt x="515338" y="44413"/>
                </a:lnTo>
                <a:lnTo>
                  <a:pt x="519407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735786" y="3465873"/>
            <a:ext cx="511809" cy="2202180"/>
          </a:xfrm>
          <a:custGeom>
            <a:avLst/>
            <a:gdLst/>
            <a:ahLst/>
            <a:cxnLst/>
            <a:rect l="l" t="t" r="r" b="b"/>
            <a:pathLst>
              <a:path w="511810" h="2202179">
                <a:moveTo>
                  <a:pt x="455441" y="80780"/>
                </a:moveTo>
                <a:lnTo>
                  <a:pt x="0" y="2190658"/>
                </a:lnTo>
                <a:lnTo>
                  <a:pt x="4902" y="2198260"/>
                </a:lnTo>
                <a:lnTo>
                  <a:pt x="20328" y="2201590"/>
                </a:lnTo>
                <a:lnTo>
                  <a:pt x="27931" y="2196687"/>
                </a:lnTo>
                <a:lnTo>
                  <a:pt x="483372" y="86809"/>
                </a:lnTo>
                <a:lnTo>
                  <a:pt x="455441" y="80780"/>
                </a:lnTo>
                <a:close/>
              </a:path>
              <a:path w="511810" h="2202179">
                <a:moveTo>
                  <a:pt x="501394" y="54198"/>
                </a:moveTo>
                <a:lnTo>
                  <a:pt x="467723" y="54198"/>
                </a:lnTo>
                <a:lnTo>
                  <a:pt x="483149" y="57528"/>
                </a:lnTo>
                <a:lnTo>
                  <a:pt x="488052" y="65130"/>
                </a:lnTo>
                <a:lnTo>
                  <a:pt x="483372" y="86809"/>
                </a:lnTo>
                <a:lnTo>
                  <a:pt x="511304" y="92838"/>
                </a:lnTo>
                <a:lnTo>
                  <a:pt x="501394" y="54198"/>
                </a:lnTo>
                <a:close/>
              </a:path>
              <a:path w="511810" h="2202179">
                <a:moveTo>
                  <a:pt x="467723" y="54198"/>
                </a:moveTo>
                <a:lnTo>
                  <a:pt x="460121" y="59101"/>
                </a:lnTo>
                <a:lnTo>
                  <a:pt x="455441" y="80780"/>
                </a:lnTo>
                <a:lnTo>
                  <a:pt x="483372" y="86809"/>
                </a:lnTo>
                <a:lnTo>
                  <a:pt x="488052" y="65130"/>
                </a:lnTo>
                <a:lnTo>
                  <a:pt x="483149" y="57528"/>
                </a:lnTo>
                <a:lnTo>
                  <a:pt x="467723" y="54198"/>
                </a:lnTo>
                <a:close/>
              </a:path>
              <a:path w="511810" h="2202179">
                <a:moveTo>
                  <a:pt x="487494" y="0"/>
                </a:moveTo>
                <a:lnTo>
                  <a:pt x="427509" y="74750"/>
                </a:lnTo>
                <a:lnTo>
                  <a:pt x="455441" y="80780"/>
                </a:lnTo>
                <a:lnTo>
                  <a:pt x="460121" y="59101"/>
                </a:lnTo>
                <a:lnTo>
                  <a:pt x="467723" y="54198"/>
                </a:lnTo>
                <a:lnTo>
                  <a:pt x="501394" y="54198"/>
                </a:lnTo>
                <a:lnTo>
                  <a:pt x="487494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66218" y="3422736"/>
            <a:ext cx="1101725" cy="2245995"/>
          </a:xfrm>
          <a:custGeom>
            <a:avLst/>
            <a:gdLst/>
            <a:ahLst/>
            <a:cxnLst/>
            <a:rect l="l" t="t" r="r" b="b"/>
            <a:pathLst>
              <a:path w="1101725" h="2245995">
                <a:moveTo>
                  <a:pt x="51393" y="70842"/>
                </a:moveTo>
                <a:lnTo>
                  <a:pt x="25695" y="83340"/>
                </a:lnTo>
                <a:lnTo>
                  <a:pt x="1075801" y="2242441"/>
                </a:lnTo>
                <a:lnTo>
                  <a:pt x="1084351" y="2245396"/>
                </a:lnTo>
                <a:lnTo>
                  <a:pt x="1098543" y="2238493"/>
                </a:lnTo>
                <a:lnTo>
                  <a:pt x="1101498" y="2229943"/>
                </a:lnTo>
                <a:lnTo>
                  <a:pt x="51393" y="70842"/>
                </a:lnTo>
                <a:close/>
              </a:path>
              <a:path w="1101725" h="2245995">
                <a:moveTo>
                  <a:pt x="1050" y="0"/>
                </a:moveTo>
                <a:lnTo>
                  <a:pt x="0" y="95838"/>
                </a:lnTo>
                <a:lnTo>
                  <a:pt x="25695" y="83340"/>
                </a:lnTo>
                <a:lnTo>
                  <a:pt x="15998" y="63400"/>
                </a:lnTo>
                <a:lnTo>
                  <a:pt x="18953" y="54850"/>
                </a:lnTo>
                <a:lnTo>
                  <a:pt x="33145" y="47947"/>
                </a:lnTo>
                <a:lnTo>
                  <a:pt x="63540" y="47947"/>
                </a:lnTo>
                <a:lnTo>
                  <a:pt x="1050" y="0"/>
                </a:lnTo>
                <a:close/>
              </a:path>
              <a:path w="1101725" h="2245995">
                <a:moveTo>
                  <a:pt x="33145" y="47947"/>
                </a:moveTo>
                <a:lnTo>
                  <a:pt x="18953" y="54850"/>
                </a:lnTo>
                <a:lnTo>
                  <a:pt x="15998" y="63400"/>
                </a:lnTo>
                <a:lnTo>
                  <a:pt x="25695" y="83340"/>
                </a:lnTo>
                <a:lnTo>
                  <a:pt x="51393" y="70842"/>
                </a:lnTo>
                <a:lnTo>
                  <a:pt x="41695" y="50902"/>
                </a:lnTo>
                <a:lnTo>
                  <a:pt x="33145" y="47947"/>
                </a:lnTo>
                <a:close/>
              </a:path>
              <a:path w="1101725" h="2245995">
                <a:moveTo>
                  <a:pt x="63540" y="47947"/>
                </a:moveTo>
                <a:lnTo>
                  <a:pt x="33145" y="47947"/>
                </a:lnTo>
                <a:lnTo>
                  <a:pt x="41695" y="50902"/>
                </a:lnTo>
                <a:lnTo>
                  <a:pt x="51393" y="70842"/>
                </a:lnTo>
                <a:lnTo>
                  <a:pt x="77090" y="58343"/>
                </a:lnTo>
                <a:lnTo>
                  <a:pt x="63540" y="47947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706883" y="6411829"/>
            <a:ext cx="2190750" cy="397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65"/>
              </a:lnSpc>
            </a:pPr>
            <a:r>
              <a:rPr dirty="0" sz="2400" spc="-5" b="1">
                <a:solidFill>
                  <a:srgbClr val="00B050"/>
                </a:solidFill>
                <a:latin typeface="Calibri"/>
                <a:cs typeface="Calibri"/>
              </a:rPr>
              <a:t>the </a:t>
            </a:r>
            <a:r>
              <a:rPr dirty="0" sz="2400" spc="-15" b="1">
                <a:solidFill>
                  <a:srgbClr val="00B050"/>
                </a:solidFill>
                <a:latin typeface="Calibri"/>
                <a:cs typeface="Calibri"/>
              </a:rPr>
              <a:t>latent</a:t>
            </a:r>
            <a:r>
              <a:rPr dirty="0" sz="2400" spc="-55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00B050"/>
                </a:solidFill>
                <a:latin typeface="Calibri"/>
                <a:cs typeface="Calibri"/>
              </a:rPr>
              <a:t>space?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4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98576" y="2971800"/>
            <a:ext cx="7257288" cy="20513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105655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253134" y="1946172"/>
            <a:ext cx="497840" cy="376555"/>
          </a:xfrm>
          <a:custGeom>
            <a:avLst/>
            <a:gdLst/>
            <a:ahLst/>
            <a:cxnLst/>
            <a:rect l="l" t="t" r="r" b="b"/>
            <a:pathLst>
              <a:path w="497839" h="376555">
                <a:moveTo>
                  <a:pt x="377229" y="0"/>
                </a:moveTo>
                <a:lnTo>
                  <a:pt x="371871" y="15279"/>
                </a:lnTo>
                <a:lnTo>
                  <a:pt x="393662" y="24736"/>
                </a:lnTo>
                <a:lnTo>
                  <a:pt x="412402" y="37826"/>
                </a:lnTo>
                <a:lnTo>
                  <a:pt x="440729" y="74909"/>
                </a:lnTo>
                <a:lnTo>
                  <a:pt x="457398" y="124940"/>
                </a:lnTo>
                <a:lnTo>
                  <a:pt x="462954" y="186331"/>
                </a:lnTo>
                <a:lnTo>
                  <a:pt x="461558" y="219533"/>
                </a:lnTo>
                <a:lnTo>
                  <a:pt x="450396" y="276782"/>
                </a:lnTo>
                <a:lnTo>
                  <a:pt x="427998" y="321493"/>
                </a:lnTo>
                <a:lnTo>
                  <a:pt x="393916" y="351655"/>
                </a:lnTo>
                <a:lnTo>
                  <a:pt x="372466" y="361156"/>
                </a:lnTo>
                <a:lnTo>
                  <a:pt x="377229" y="376435"/>
                </a:lnTo>
                <a:lnTo>
                  <a:pt x="428574" y="352349"/>
                </a:lnTo>
                <a:lnTo>
                  <a:pt x="466327" y="310653"/>
                </a:lnTo>
                <a:lnTo>
                  <a:pt x="489544" y="254818"/>
                </a:lnTo>
                <a:lnTo>
                  <a:pt x="497283" y="188316"/>
                </a:lnTo>
                <a:lnTo>
                  <a:pt x="495342" y="153807"/>
                </a:lnTo>
                <a:lnTo>
                  <a:pt x="479815" y="92638"/>
                </a:lnTo>
                <a:lnTo>
                  <a:pt x="449020" y="42843"/>
                </a:lnTo>
                <a:lnTo>
                  <a:pt x="404520" y="9853"/>
                </a:lnTo>
                <a:lnTo>
                  <a:pt x="377229" y="0"/>
                </a:lnTo>
                <a:close/>
              </a:path>
              <a:path w="497839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6765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i="0">
                <a:latin typeface="Calibri"/>
                <a:cs typeface="Calibri"/>
              </a:rPr>
              <a:t>Embed queries with </a:t>
            </a:r>
            <a:r>
              <a:rPr dirty="0" sz="3200" spc="-20" b="1" i="0">
                <a:solidFill>
                  <a:srgbClr val="0000FF"/>
                </a:solidFill>
                <a:latin typeface="Calibri"/>
                <a:cs typeface="Calibri"/>
              </a:rPr>
              <a:t>hyper-rectangles</a:t>
            </a:r>
            <a:r>
              <a:rPr dirty="0" sz="3200" spc="100" b="1" i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25" b="1" i="0">
                <a:solidFill>
                  <a:srgbClr val="0000FF"/>
                </a:solidFill>
                <a:latin typeface="Calibri"/>
                <a:cs typeface="Calibri"/>
              </a:rPr>
              <a:t>(boxes)</a:t>
            </a:r>
            <a:endParaRPr sz="3200">
              <a:latin typeface="Calibri"/>
              <a:cs typeface="Calibri"/>
            </a:endParaRPr>
          </a:p>
          <a:p>
            <a:pPr algn="ctr" marR="107950">
              <a:lnSpc>
                <a:spcPts val="3815"/>
              </a:lnSpc>
              <a:tabLst>
                <a:tab pos="2353945" algn="l"/>
                <a:tab pos="2753995" algn="l"/>
              </a:tabLst>
            </a:pPr>
            <a:r>
              <a:rPr dirty="0" sz="3200" i="0">
                <a:latin typeface="Cambria Math"/>
                <a:cs typeface="Cambria Math"/>
              </a:rPr>
              <a:t>𝐪</a:t>
            </a:r>
            <a:r>
              <a:rPr dirty="0" sz="3200" spc="180" i="0">
                <a:latin typeface="Cambria Math"/>
                <a:cs typeface="Cambria Math"/>
              </a:rPr>
              <a:t> </a:t>
            </a:r>
            <a:r>
              <a:rPr dirty="0" sz="3200" i="0">
                <a:latin typeface="Cambria Math"/>
                <a:cs typeface="Cambria Math"/>
              </a:rPr>
              <a:t>=</a:t>
            </a:r>
            <a:r>
              <a:rPr dirty="0" sz="3200" spc="180" i="0">
                <a:latin typeface="Cambria Math"/>
                <a:cs typeface="Cambria Math"/>
              </a:rPr>
              <a:t> </a:t>
            </a:r>
            <a:r>
              <a:rPr dirty="0" sz="3200" spc="-5" i="0">
                <a:latin typeface="Cambria Math"/>
                <a:cs typeface="Cambria Math"/>
              </a:rPr>
              <a:t>(𝐶𝑒𝑛𝑡𝑒𝑟	</a:t>
            </a:r>
            <a:r>
              <a:rPr dirty="0" sz="3200" i="0">
                <a:latin typeface="Cambria Math"/>
                <a:cs typeface="Cambria Math"/>
              </a:rPr>
              <a:t>𝑞	,</a:t>
            </a:r>
            <a:r>
              <a:rPr dirty="0" sz="3200" spc="-215" i="0">
                <a:latin typeface="Cambria Math"/>
                <a:cs typeface="Cambria Math"/>
              </a:rPr>
              <a:t> </a:t>
            </a:r>
            <a:r>
              <a:rPr dirty="0" sz="3200" spc="5" i="0">
                <a:latin typeface="Cambria Math"/>
                <a:cs typeface="Cambria Math"/>
              </a:rPr>
              <a:t>𝑂𝑓𝑓𝑠𝑒𝑡(𝑞))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16123" y="2928743"/>
            <a:ext cx="0" cy="2804795"/>
          </a:xfrm>
          <a:custGeom>
            <a:avLst/>
            <a:gdLst/>
            <a:ahLst/>
            <a:cxnLst/>
            <a:rect l="l" t="t" r="r" b="b"/>
            <a:pathLst>
              <a:path w="0" h="2804795">
                <a:moveTo>
                  <a:pt x="0" y="0"/>
                </a:moveTo>
                <a:lnTo>
                  <a:pt x="1" y="2804547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50495" y="5147364"/>
            <a:ext cx="3542665" cy="0"/>
          </a:xfrm>
          <a:custGeom>
            <a:avLst/>
            <a:gdLst/>
            <a:ahLst/>
            <a:cxnLst/>
            <a:rect l="l" t="t" r="r" b="b"/>
            <a:pathLst>
              <a:path w="3542665" h="0">
                <a:moveTo>
                  <a:pt x="3542178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26518" y="361410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7"/>
                </a:lnTo>
                <a:lnTo>
                  <a:pt x="27000" y="53999"/>
                </a:lnTo>
                <a:lnTo>
                  <a:pt x="37509" y="51877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12136" y="3599724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0"/>
                </a:lnTo>
                <a:lnTo>
                  <a:pt x="0" y="40420"/>
                </a:lnTo>
                <a:lnTo>
                  <a:pt x="0" y="42343"/>
                </a:lnTo>
                <a:lnTo>
                  <a:pt x="24444" y="79157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7" y="65465"/>
                </a:lnTo>
                <a:lnTo>
                  <a:pt x="41381" y="65465"/>
                </a:lnTo>
                <a:lnTo>
                  <a:pt x="31996" y="63571"/>
                </a:lnTo>
                <a:lnTo>
                  <a:pt x="24348" y="58414"/>
                </a:lnTo>
                <a:lnTo>
                  <a:pt x="19190" y="50765"/>
                </a:lnTo>
                <a:lnTo>
                  <a:pt x="17296" y="41381"/>
                </a:lnTo>
                <a:lnTo>
                  <a:pt x="19190" y="31996"/>
                </a:lnTo>
                <a:lnTo>
                  <a:pt x="24348" y="24348"/>
                </a:lnTo>
                <a:lnTo>
                  <a:pt x="31996" y="19190"/>
                </a:lnTo>
                <a:lnTo>
                  <a:pt x="41381" y="17296"/>
                </a:lnTo>
                <a:lnTo>
                  <a:pt x="74337" y="17296"/>
                </a:lnTo>
                <a:lnTo>
                  <a:pt x="71292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3" y="2870"/>
                </a:lnTo>
                <a:lnTo>
                  <a:pt x="42343" y="0"/>
                </a:lnTo>
                <a:close/>
              </a:path>
              <a:path w="83185" h="83185">
                <a:moveTo>
                  <a:pt x="74337" y="17296"/>
                </a:moveTo>
                <a:lnTo>
                  <a:pt x="41381" y="17296"/>
                </a:lnTo>
                <a:lnTo>
                  <a:pt x="50766" y="19190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5"/>
                </a:lnTo>
                <a:lnTo>
                  <a:pt x="58414" y="58414"/>
                </a:lnTo>
                <a:lnTo>
                  <a:pt x="50766" y="63571"/>
                </a:lnTo>
                <a:lnTo>
                  <a:pt x="41381" y="65465"/>
                </a:lnTo>
                <a:lnTo>
                  <a:pt x="74337" y="65465"/>
                </a:lnTo>
                <a:lnTo>
                  <a:pt x="79091" y="58414"/>
                </a:lnTo>
                <a:lnTo>
                  <a:pt x="79208" y="58195"/>
                </a:lnTo>
                <a:lnTo>
                  <a:pt x="79891" y="56563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8"/>
                </a:lnTo>
                <a:lnTo>
                  <a:pt x="79208" y="24566"/>
                </a:lnTo>
                <a:lnTo>
                  <a:pt x="79092" y="24348"/>
                </a:lnTo>
                <a:lnTo>
                  <a:pt x="74337" y="17296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6"/>
                </a:lnTo>
                <a:lnTo>
                  <a:pt x="28464" y="28464"/>
                </a:lnTo>
                <a:lnTo>
                  <a:pt x="24566" y="34245"/>
                </a:lnTo>
                <a:lnTo>
                  <a:pt x="23126" y="41381"/>
                </a:lnTo>
                <a:lnTo>
                  <a:pt x="24566" y="48517"/>
                </a:lnTo>
                <a:lnTo>
                  <a:pt x="28464" y="54297"/>
                </a:lnTo>
                <a:lnTo>
                  <a:pt x="34245" y="58195"/>
                </a:lnTo>
                <a:lnTo>
                  <a:pt x="41381" y="59635"/>
                </a:lnTo>
                <a:lnTo>
                  <a:pt x="48517" y="58195"/>
                </a:lnTo>
                <a:lnTo>
                  <a:pt x="54297" y="54297"/>
                </a:lnTo>
                <a:lnTo>
                  <a:pt x="54629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0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4"/>
                </a:lnTo>
                <a:lnTo>
                  <a:pt x="48517" y="24566"/>
                </a:lnTo>
                <a:lnTo>
                  <a:pt x="41381" y="23126"/>
                </a:lnTo>
                <a:close/>
              </a:path>
              <a:path w="83185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0"/>
                </a:lnTo>
                <a:lnTo>
                  <a:pt x="46268" y="52819"/>
                </a:lnTo>
                <a:lnTo>
                  <a:pt x="41381" y="53806"/>
                </a:lnTo>
                <a:lnTo>
                  <a:pt x="54629" y="53806"/>
                </a:lnTo>
                <a:lnTo>
                  <a:pt x="58195" y="48517"/>
                </a:lnTo>
                <a:lnTo>
                  <a:pt x="59635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06873" y="341134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92491" y="3396961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0"/>
                </a:lnTo>
                <a:lnTo>
                  <a:pt x="0" y="40420"/>
                </a:lnTo>
                <a:lnTo>
                  <a:pt x="0" y="42343"/>
                </a:lnTo>
                <a:lnTo>
                  <a:pt x="24444" y="79157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5"/>
                </a:lnTo>
                <a:lnTo>
                  <a:pt x="41381" y="65465"/>
                </a:lnTo>
                <a:lnTo>
                  <a:pt x="31996" y="63571"/>
                </a:lnTo>
                <a:lnTo>
                  <a:pt x="24348" y="58414"/>
                </a:lnTo>
                <a:lnTo>
                  <a:pt x="19190" y="50766"/>
                </a:lnTo>
                <a:lnTo>
                  <a:pt x="17296" y="41381"/>
                </a:lnTo>
                <a:lnTo>
                  <a:pt x="19190" y="31996"/>
                </a:lnTo>
                <a:lnTo>
                  <a:pt x="24348" y="24348"/>
                </a:lnTo>
                <a:lnTo>
                  <a:pt x="31996" y="19190"/>
                </a:lnTo>
                <a:lnTo>
                  <a:pt x="41381" y="17296"/>
                </a:lnTo>
                <a:lnTo>
                  <a:pt x="74337" y="17296"/>
                </a:lnTo>
                <a:lnTo>
                  <a:pt x="71292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3" y="2870"/>
                </a:lnTo>
                <a:lnTo>
                  <a:pt x="42343" y="0"/>
                </a:lnTo>
                <a:close/>
              </a:path>
              <a:path w="83185" h="83185">
                <a:moveTo>
                  <a:pt x="74337" y="17296"/>
                </a:moveTo>
                <a:lnTo>
                  <a:pt x="41381" y="17296"/>
                </a:lnTo>
                <a:lnTo>
                  <a:pt x="50765" y="19190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4"/>
                </a:lnTo>
                <a:lnTo>
                  <a:pt x="50765" y="63571"/>
                </a:lnTo>
                <a:lnTo>
                  <a:pt x="41381" y="65465"/>
                </a:lnTo>
                <a:lnTo>
                  <a:pt x="74338" y="65465"/>
                </a:lnTo>
                <a:lnTo>
                  <a:pt x="79091" y="58414"/>
                </a:lnTo>
                <a:lnTo>
                  <a:pt x="79208" y="58195"/>
                </a:lnTo>
                <a:lnTo>
                  <a:pt x="79891" y="56563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8"/>
                </a:lnTo>
                <a:lnTo>
                  <a:pt x="79208" y="24566"/>
                </a:lnTo>
                <a:lnTo>
                  <a:pt x="79092" y="24348"/>
                </a:lnTo>
                <a:lnTo>
                  <a:pt x="74337" y="17296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6"/>
                </a:lnTo>
                <a:lnTo>
                  <a:pt x="28464" y="28464"/>
                </a:lnTo>
                <a:lnTo>
                  <a:pt x="24566" y="34245"/>
                </a:lnTo>
                <a:lnTo>
                  <a:pt x="23126" y="41381"/>
                </a:lnTo>
                <a:lnTo>
                  <a:pt x="24566" y="48517"/>
                </a:lnTo>
                <a:lnTo>
                  <a:pt x="28464" y="54297"/>
                </a:lnTo>
                <a:lnTo>
                  <a:pt x="34245" y="58195"/>
                </a:lnTo>
                <a:lnTo>
                  <a:pt x="41381" y="59635"/>
                </a:lnTo>
                <a:lnTo>
                  <a:pt x="48517" y="58195"/>
                </a:lnTo>
                <a:lnTo>
                  <a:pt x="54297" y="54297"/>
                </a:lnTo>
                <a:lnTo>
                  <a:pt x="54629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4"/>
                </a:lnTo>
                <a:lnTo>
                  <a:pt x="48517" y="24566"/>
                </a:lnTo>
                <a:lnTo>
                  <a:pt x="41381" y="23126"/>
                </a:lnTo>
                <a:close/>
              </a:path>
              <a:path w="83185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0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0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29" y="53806"/>
                </a:lnTo>
                <a:lnTo>
                  <a:pt x="58195" y="48517"/>
                </a:lnTo>
                <a:lnTo>
                  <a:pt x="59635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912613" y="3297428"/>
            <a:ext cx="889635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>
                <a:latin typeface="Arial"/>
                <a:cs typeface="Arial"/>
              </a:rPr>
              <a:t>Kidney  Infe</a:t>
            </a:r>
            <a:r>
              <a:rPr dirty="0" sz="1800">
                <a:latin typeface="Arial"/>
                <a:cs typeface="Arial"/>
              </a:rPr>
              <a:t>c</a:t>
            </a:r>
            <a:r>
              <a:rPr dirty="0" sz="1800" spc="-5">
                <a:latin typeface="Arial"/>
                <a:cs typeface="Arial"/>
              </a:rPr>
              <a:t>t</a:t>
            </a:r>
            <a:r>
              <a:rPr dirty="0" sz="1800">
                <a:latin typeface="Arial"/>
                <a:cs typeface="Arial"/>
              </a:rPr>
              <a:t>i</a:t>
            </a:r>
            <a:r>
              <a:rPr dirty="0" sz="1800" spc="-5">
                <a:latin typeface="Arial"/>
                <a:cs typeface="Arial"/>
              </a:rPr>
              <a:t>o</a:t>
            </a:r>
            <a:r>
              <a:rPr dirty="0" sz="1800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79294" y="399234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2"/>
                </a:lnTo>
                <a:lnTo>
                  <a:pt x="51878" y="37510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8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764913" y="3977961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7"/>
                </a:lnTo>
                <a:lnTo>
                  <a:pt x="41381" y="65467"/>
                </a:lnTo>
                <a:lnTo>
                  <a:pt x="31996" y="63572"/>
                </a:lnTo>
                <a:lnTo>
                  <a:pt x="24348" y="58414"/>
                </a:lnTo>
                <a:lnTo>
                  <a:pt x="19190" y="50766"/>
                </a:lnTo>
                <a:lnTo>
                  <a:pt x="17297" y="41381"/>
                </a:lnTo>
                <a:lnTo>
                  <a:pt x="19190" y="31996"/>
                </a:lnTo>
                <a:lnTo>
                  <a:pt x="24348" y="24348"/>
                </a:lnTo>
                <a:lnTo>
                  <a:pt x="31996" y="19192"/>
                </a:lnTo>
                <a:lnTo>
                  <a:pt x="41381" y="17297"/>
                </a:lnTo>
                <a:lnTo>
                  <a:pt x="74339" y="17297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9" y="17297"/>
                </a:moveTo>
                <a:lnTo>
                  <a:pt x="41381" y="17297"/>
                </a:lnTo>
                <a:lnTo>
                  <a:pt x="50766" y="19192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4"/>
                </a:lnTo>
                <a:lnTo>
                  <a:pt x="50766" y="63572"/>
                </a:lnTo>
                <a:lnTo>
                  <a:pt x="41381" y="65467"/>
                </a:lnTo>
                <a:lnTo>
                  <a:pt x="74338" y="65467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8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9" y="17297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8"/>
                </a:lnTo>
                <a:lnTo>
                  <a:pt x="28464" y="28465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4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7" y="54298"/>
                </a:lnTo>
                <a:lnTo>
                  <a:pt x="54629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5"/>
                </a:lnTo>
                <a:lnTo>
                  <a:pt x="48517" y="24568"/>
                </a:lnTo>
                <a:lnTo>
                  <a:pt x="41381" y="23126"/>
                </a:lnTo>
                <a:close/>
              </a:path>
              <a:path w="83185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29" y="53806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251036" y="320988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36655" y="3195500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5"/>
                </a:lnTo>
                <a:lnTo>
                  <a:pt x="41381" y="65465"/>
                </a:lnTo>
                <a:lnTo>
                  <a:pt x="31996" y="63571"/>
                </a:lnTo>
                <a:lnTo>
                  <a:pt x="24348" y="58414"/>
                </a:lnTo>
                <a:lnTo>
                  <a:pt x="19190" y="50766"/>
                </a:lnTo>
                <a:lnTo>
                  <a:pt x="17296" y="41381"/>
                </a:lnTo>
                <a:lnTo>
                  <a:pt x="19190" y="31996"/>
                </a:lnTo>
                <a:lnTo>
                  <a:pt x="24348" y="24348"/>
                </a:lnTo>
                <a:lnTo>
                  <a:pt x="31996" y="19190"/>
                </a:lnTo>
                <a:lnTo>
                  <a:pt x="41381" y="17296"/>
                </a:lnTo>
                <a:lnTo>
                  <a:pt x="74337" y="17296"/>
                </a:lnTo>
                <a:lnTo>
                  <a:pt x="71292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3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7" y="17296"/>
                </a:moveTo>
                <a:lnTo>
                  <a:pt x="41381" y="17296"/>
                </a:lnTo>
                <a:lnTo>
                  <a:pt x="50766" y="19190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4"/>
                </a:lnTo>
                <a:lnTo>
                  <a:pt x="50766" y="63571"/>
                </a:lnTo>
                <a:lnTo>
                  <a:pt x="41381" y="65465"/>
                </a:lnTo>
                <a:lnTo>
                  <a:pt x="74338" y="65465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1" y="56563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8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7" y="17296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8"/>
                </a:lnTo>
                <a:lnTo>
                  <a:pt x="28464" y="28464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4" y="54297"/>
                </a:lnTo>
                <a:lnTo>
                  <a:pt x="34245" y="58195"/>
                </a:lnTo>
                <a:lnTo>
                  <a:pt x="41381" y="59635"/>
                </a:lnTo>
                <a:lnTo>
                  <a:pt x="48517" y="58195"/>
                </a:lnTo>
                <a:lnTo>
                  <a:pt x="54297" y="54297"/>
                </a:lnTo>
                <a:lnTo>
                  <a:pt x="54629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4"/>
                </a:lnTo>
                <a:lnTo>
                  <a:pt x="48517" y="24568"/>
                </a:lnTo>
                <a:lnTo>
                  <a:pt x="41381" y="23126"/>
                </a:lnTo>
                <a:close/>
              </a:path>
              <a:path w="83185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29" y="53806"/>
                </a:lnTo>
                <a:lnTo>
                  <a:pt x="58195" y="48517"/>
                </a:lnTo>
                <a:lnTo>
                  <a:pt x="59635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331966" y="3077971"/>
            <a:ext cx="1617345" cy="108966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dirty="0" sz="1800" spc="-5">
                <a:latin typeface="Arial"/>
                <a:cs typeface="Arial"/>
              </a:rPr>
              <a:t>Short of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Breath</a:t>
            </a:r>
            <a:endParaRPr sz="1800">
              <a:latin typeface="Arial"/>
              <a:cs typeface="Arial"/>
            </a:endParaRPr>
          </a:p>
          <a:p>
            <a:pPr marL="918844">
              <a:lnSpc>
                <a:spcPct val="100000"/>
              </a:lnSpc>
              <a:spcBef>
                <a:spcPts val="175"/>
              </a:spcBef>
            </a:pPr>
            <a:r>
              <a:rPr dirty="0" sz="2200">
                <a:latin typeface="Cambria Math"/>
                <a:cs typeface="Cambria Math"/>
              </a:rPr>
              <a:t>𝑞</a:t>
            </a:r>
            <a:endParaRPr sz="2200">
              <a:latin typeface="Cambria Math"/>
              <a:cs typeface="Cambria Math"/>
            </a:endParaRPr>
          </a:p>
          <a:p>
            <a:pPr marL="562610">
              <a:lnSpc>
                <a:spcPct val="100000"/>
              </a:lnSpc>
              <a:spcBef>
                <a:spcPts val="1090"/>
              </a:spcBef>
            </a:pPr>
            <a:r>
              <a:rPr dirty="0" sz="1800">
                <a:latin typeface="Arial"/>
                <a:cs typeface="Arial"/>
              </a:rPr>
              <a:t>H</a:t>
            </a:r>
            <a:r>
              <a:rPr dirty="0" sz="1800" spc="-5">
                <a:latin typeface="Arial"/>
                <a:cs typeface="Arial"/>
              </a:rPr>
              <a:t>eada</a:t>
            </a:r>
            <a:r>
              <a:rPr dirty="0" sz="1800">
                <a:latin typeface="Arial"/>
                <a:cs typeface="Arial"/>
              </a:rPr>
              <a:t>c</a:t>
            </a:r>
            <a:r>
              <a:rPr dirty="0" sz="1800" spc="-5">
                <a:latin typeface="Arial"/>
                <a:cs typeface="Arial"/>
              </a:rPr>
              <a:t>h</a:t>
            </a:r>
            <a:r>
              <a:rPr dirty="0" sz="180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80796" y="5353811"/>
            <a:ext cx="22294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Embedding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Space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69301" y="2869280"/>
            <a:ext cx="3215640" cy="1556385"/>
          </a:xfrm>
          <a:custGeom>
            <a:avLst/>
            <a:gdLst/>
            <a:ahLst/>
            <a:cxnLst/>
            <a:rect l="l" t="t" r="r" b="b"/>
            <a:pathLst>
              <a:path w="3215640" h="1556385">
                <a:moveTo>
                  <a:pt x="3208690" y="0"/>
                </a:moveTo>
                <a:lnTo>
                  <a:pt x="6396" y="0"/>
                </a:lnTo>
                <a:lnTo>
                  <a:pt x="0" y="6396"/>
                </a:lnTo>
                <a:lnTo>
                  <a:pt x="0" y="1549810"/>
                </a:lnTo>
                <a:lnTo>
                  <a:pt x="6396" y="1556207"/>
                </a:lnTo>
                <a:lnTo>
                  <a:pt x="3208690" y="1556207"/>
                </a:lnTo>
                <a:lnTo>
                  <a:pt x="3215087" y="1549810"/>
                </a:lnTo>
                <a:lnTo>
                  <a:pt x="3215087" y="1539062"/>
                </a:lnTo>
                <a:lnTo>
                  <a:pt x="17144" y="1539062"/>
                </a:lnTo>
                <a:lnTo>
                  <a:pt x="17144" y="17145"/>
                </a:lnTo>
                <a:lnTo>
                  <a:pt x="3215087" y="17145"/>
                </a:lnTo>
                <a:lnTo>
                  <a:pt x="3215087" y="6396"/>
                </a:lnTo>
                <a:lnTo>
                  <a:pt x="3208690" y="0"/>
                </a:lnTo>
                <a:close/>
              </a:path>
              <a:path w="3215640" h="1556385">
                <a:moveTo>
                  <a:pt x="3215087" y="17145"/>
                </a:moveTo>
                <a:lnTo>
                  <a:pt x="3197942" y="17145"/>
                </a:lnTo>
                <a:lnTo>
                  <a:pt x="3197942" y="1539062"/>
                </a:lnTo>
                <a:lnTo>
                  <a:pt x="3215087" y="1539062"/>
                </a:lnTo>
                <a:lnTo>
                  <a:pt x="3215087" y="17145"/>
                </a:lnTo>
                <a:close/>
              </a:path>
              <a:path w="3215640" h="1556385">
                <a:moveTo>
                  <a:pt x="3192227" y="22860"/>
                </a:moveTo>
                <a:lnTo>
                  <a:pt x="22860" y="22860"/>
                </a:lnTo>
                <a:lnTo>
                  <a:pt x="22860" y="1533347"/>
                </a:lnTo>
                <a:lnTo>
                  <a:pt x="3192227" y="1533347"/>
                </a:lnTo>
                <a:lnTo>
                  <a:pt x="3192227" y="1527632"/>
                </a:lnTo>
                <a:lnTo>
                  <a:pt x="28575" y="1527632"/>
                </a:lnTo>
                <a:lnTo>
                  <a:pt x="28575" y="28575"/>
                </a:lnTo>
                <a:lnTo>
                  <a:pt x="3192227" y="28575"/>
                </a:lnTo>
                <a:lnTo>
                  <a:pt x="3192227" y="22860"/>
                </a:lnTo>
                <a:close/>
              </a:path>
              <a:path w="3215640" h="1556385">
                <a:moveTo>
                  <a:pt x="3192227" y="28575"/>
                </a:moveTo>
                <a:lnTo>
                  <a:pt x="3186512" y="28575"/>
                </a:lnTo>
                <a:lnTo>
                  <a:pt x="3186512" y="1527632"/>
                </a:lnTo>
                <a:lnTo>
                  <a:pt x="3192227" y="1527632"/>
                </a:lnTo>
                <a:lnTo>
                  <a:pt x="3192227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249882" y="17779"/>
            <a:ext cx="6831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Ren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al.,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Query2box: Reasoning over Knowledge Graphs in </a:t>
            </a:r>
            <a:r>
              <a:rPr dirty="0" sz="1200" spc="-15" u="sng">
                <a:solidFill>
                  <a:srgbClr val="168BBA"/>
                </a:solidFill>
                <a:latin typeface="Corbel"/>
                <a:cs typeface="Corbel"/>
              </a:rPr>
              <a:t>Vector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Space Using Box Embeddings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ICLR</a:t>
            </a:r>
            <a:r>
              <a:rPr dirty="0" sz="1200" spc="-1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orbel"/>
                <a:cs typeface="Corbel"/>
              </a:rPr>
              <a:t>2020.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34</a:t>
            </a:fld>
          </a:p>
        </p:txBody>
      </p:sp>
      <p:sp>
        <p:nvSpPr>
          <p:cNvPr id="20" name="object 20"/>
          <p:cNvSpPr txBox="1"/>
          <p:nvPr/>
        </p:nvSpPr>
        <p:spPr>
          <a:xfrm>
            <a:off x="5698770" y="3138932"/>
            <a:ext cx="2731135" cy="13944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05"/>
              </a:spcBef>
            </a:pPr>
            <a:r>
              <a:rPr dirty="0" sz="1800" spc="-5">
                <a:solidFill>
                  <a:srgbClr val="479249"/>
                </a:solidFill>
                <a:latin typeface="Arial"/>
                <a:cs typeface="Arial"/>
              </a:rPr>
              <a:t>For example, </a:t>
            </a:r>
            <a:r>
              <a:rPr dirty="0" sz="1800">
                <a:solidFill>
                  <a:srgbClr val="479249"/>
                </a:solidFill>
                <a:latin typeface="Arial"/>
                <a:cs typeface="Arial"/>
              </a:rPr>
              <a:t>we </a:t>
            </a:r>
            <a:r>
              <a:rPr dirty="0" sz="1800" spc="-5">
                <a:solidFill>
                  <a:srgbClr val="479249"/>
                </a:solidFill>
                <a:latin typeface="Arial"/>
                <a:cs typeface="Arial"/>
              </a:rPr>
              <a:t>can  embed the adverse events  of Fulvestrant with </a:t>
            </a:r>
            <a:r>
              <a:rPr dirty="0" sz="1800">
                <a:solidFill>
                  <a:srgbClr val="479249"/>
                </a:solidFill>
                <a:latin typeface="Arial"/>
                <a:cs typeface="Arial"/>
              </a:rPr>
              <a:t>a </a:t>
            </a:r>
            <a:r>
              <a:rPr dirty="0" sz="1800" spc="-5">
                <a:solidFill>
                  <a:srgbClr val="479249"/>
                </a:solidFill>
                <a:latin typeface="Arial"/>
                <a:cs typeface="Arial"/>
              </a:rPr>
              <a:t>box  that enclose all the answer  entities.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94664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88300" cy="1491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 i="0">
                <a:solidFill>
                  <a:srgbClr val="00B050"/>
                </a:solidFill>
                <a:latin typeface="Calibri"/>
                <a:cs typeface="Calibri"/>
              </a:rPr>
              <a:t>Intersection </a:t>
            </a:r>
            <a:r>
              <a:rPr dirty="0" sz="3200" b="1" i="0">
                <a:solidFill>
                  <a:srgbClr val="00B050"/>
                </a:solidFill>
                <a:latin typeface="Calibri"/>
                <a:cs typeface="Calibri"/>
              </a:rPr>
              <a:t>of </a:t>
            </a:r>
            <a:r>
              <a:rPr dirty="0" sz="3200" spc="-30" b="1" i="0">
                <a:solidFill>
                  <a:srgbClr val="00B050"/>
                </a:solidFill>
                <a:latin typeface="Calibri"/>
                <a:cs typeface="Calibri"/>
              </a:rPr>
              <a:t>boxes </a:t>
            </a:r>
            <a:r>
              <a:rPr dirty="0" sz="3200" b="1" i="0">
                <a:solidFill>
                  <a:srgbClr val="00B050"/>
                </a:solidFill>
                <a:latin typeface="Calibri"/>
                <a:cs typeface="Calibri"/>
              </a:rPr>
              <a:t>is</a:t>
            </a:r>
            <a:r>
              <a:rPr dirty="0" sz="3200" spc="50" b="1" i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3200" spc="-10" b="1" i="0">
                <a:solidFill>
                  <a:srgbClr val="00B050"/>
                </a:solidFill>
                <a:latin typeface="Calibri"/>
                <a:cs typeface="Calibri"/>
              </a:rPr>
              <a:t>well-defined!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ts val="3910"/>
              </a:lnSpc>
              <a:spcBef>
                <a:spcPts val="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i="0">
                <a:latin typeface="Calibri"/>
                <a:cs typeface="Calibri"/>
              </a:rPr>
              <a:t>When </a:t>
            </a:r>
            <a:r>
              <a:rPr dirty="0" sz="3200" spc="-15" i="0">
                <a:latin typeface="Calibri"/>
                <a:cs typeface="Calibri"/>
              </a:rPr>
              <a:t>we </a:t>
            </a:r>
            <a:r>
              <a:rPr dirty="0" sz="3200" spc="-30" i="0">
                <a:latin typeface="Calibri"/>
                <a:cs typeface="Calibri"/>
              </a:rPr>
              <a:t>traverse </a:t>
            </a:r>
            <a:r>
              <a:rPr dirty="0" sz="3200" i="0">
                <a:latin typeface="Calibri"/>
                <a:cs typeface="Calibri"/>
              </a:rPr>
              <a:t>the </a:t>
            </a:r>
            <a:r>
              <a:rPr dirty="0" sz="3200" spc="-65" i="0">
                <a:latin typeface="Calibri"/>
                <a:cs typeface="Calibri"/>
              </a:rPr>
              <a:t>KG </a:t>
            </a:r>
            <a:r>
              <a:rPr dirty="0" sz="3200" spc="-15" i="0">
                <a:latin typeface="Calibri"/>
                <a:cs typeface="Calibri"/>
              </a:rPr>
              <a:t>to </a:t>
            </a:r>
            <a:r>
              <a:rPr dirty="0" sz="3200" spc="-5" i="0">
                <a:latin typeface="Calibri"/>
                <a:cs typeface="Calibri"/>
              </a:rPr>
              <a:t>find </a:t>
            </a:r>
            <a:r>
              <a:rPr dirty="0" sz="3200" i="0">
                <a:latin typeface="Calibri"/>
                <a:cs typeface="Calibri"/>
              </a:rPr>
              <a:t>the </a:t>
            </a:r>
            <a:r>
              <a:rPr dirty="0" sz="3200" spc="-15" i="0">
                <a:latin typeface="Calibri"/>
                <a:cs typeface="Calibri"/>
              </a:rPr>
              <a:t>answers,  </a:t>
            </a:r>
            <a:r>
              <a:rPr dirty="0" sz="3200" spc="-5" i="0">
                <a:latin typeface="Calibri"/>
                <a:cs typeface="Calibri"/>
              </a:rPr>
              <a:t>each </a:t>
            </a:r>
            <a:r>
              <a:rPr dirty="0" sz="3200" spc="-20" i="0">
                <a:latin typeface="Calibri"/>
                <a:cs typeface="Calibri"/>
              </a:rPr>
              <a:t>step </a:t>
            </a:r>
            <a:r>
              <a:rPr dirty="0" sz="3200" spc="-10" i="0">
                <a:latin typeface="Calibri"/>
                <a:cs typeface="Calibri"/>
              </a:rPr>
              <a:t>produces </a:t>
            </a:r>
            <a:r>
              <a:rPr dirty="0" sz="3200" i="0">
                <a:latin typeface="Calibri"/>
                <a:cs typeface="Calibri"/>
              </a:rPr>
              <a:t>a </a:t>
            </a:r>
            <a:r>
              <a:rPr dirty="0" sz="3200" spc="-10" i="0">
                <a:latin typeface="Calibri"/>
                <a:cs typeface="Calibri"/>
              </a:rPr>
              <a:t>set </a:t>
            </a:r>
            <a:r>
              <a:rPr dirty="0" sz="3200" spc="-5" i="0">
                <a:latin typeface="Calibri"/>
                <a:cs typeface="Calibri"/>
              </a:rPr>
              <a:t>of </a:t>
            </a:r>
            <a:r>
              <a:rPr dirty="0" sz="3200" spc="-10" i="0">
                <a:latin typeface="Calibri"/>
                <a:cs typeface="Calibri"/>
              </a:rPr>
              <a:t>reachable</a:t>
            </a:r>
            <a:r>
              <a:rPr dirty="0" sz="3200" spc="65" i="0">
                <a:latin typeface="Calibri"/>
                <a:cs typeface="Calibri"/>
              </a:rPr>
              <a:t> </a:t>
            </a:r>
            <a:r>
              <a:rPr dirty="0" sz="3200" spc="-5" i="0">
                <a:latin typeface="Calibri"/>
                <a:cs typeface="Calibri"/>
              </a:rPr>
              <a:t>entities.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698423"/>
            <a:ext cx="7817484" cy="199707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How </a:t>
            </a:r>
            <a:r>
              <a:rPr dirty="0" sz="3200" spc="-15" b="1">
                <a:latin typeface="Calibri"/>
                <a:cs typeface="Calibri"/>
              </a:rPr>
              <a:t>can we </a:t>
            </a:r>
            <a:r>
              <a:rPr dirty="0" sz="3200" spc="-20" b="1">
                <a:latin typeface="Calibri"/>
                <a:cs typeface="Calibri"/>
              </a:rPr>
              <a:t>better </a:t>
            </a:r>
            <a:r>
              <a:rPr dirty="0" sz="3200" spc="-5" b="1">
                <a:latin typeface="Calibri"/>
                <a:cs typeface="Calibri"/>
              </a:rPr>
              <a:t>model these</a:t>
            </a:r>
            <a:r>
              <a:rPr dirty="0" sz="3200" spc="3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sets?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ct val="99600"/>
              </a:lnSpc>
              <a:spcBef>
                <a:spcPts val="77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30">
                <a:latin typeface="Calibri"/>
                <a:cs typeface="Calibri"/>
              </a:rPr>
              <a:t>Boxes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powerful </a:t>
            </a: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abstraction</a:t>
            </a:r>
            <a:r>
              <a:rPr dirty="0" sz="2800" spc="-15">
                <a:latin typeface="Calibri"/>
                <a:cs typeface="Calibri"/>
              </a:rPr>
              <a:t>, </a:t>
            </a:r>
            <a:r>
              <a:rPr dirty="0" sz="2800" spc="-5">
                <a:latin typeface="Calibri"/>
                <a:cs typeface="Calibri"/>
              </a:rPr>
              <a:t>as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can  project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center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20">
                <a:latin typeface="Calibri"/>
                <a:cs typeface="Calibri"/>
              </a:rPr>
              <a:t>control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20">
                <a:latin typeface="Calibri"/>
                <a:cs typeface="Calibri"/>
              </a:rPr>
              <a:t>offset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model  the </a:t>
            </a:r>
            <a:r>
              <a:rPr dirty="0" sz="2800" spc="-10">
                <a:latin typeface="Calibri"/>
                <a:cs typeface="Calibri"/>
              </a:rPr>
              <a:t>set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0">
                <a:latin typeface="Calibri"/>
                <a:cs typeface="Calibri"/>
              </a:rPr>
              <a:t>entities </a:t>
            </a:r>
            <a:r>
              <a:rPr dirty="0" sz="2800" spc="-5">
                <a:latin typeface="Calibri"/>
                <a:cs typeface="Calibri"/>
              </a:rPr>
              <a:t>enclosed in the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box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46325" y="538576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89"/>
                </a:lnTo>
                <a:lnTo>
                  <a:pt x="0" y="26998"/>
                </a:lnTo>
                <a:lnTo>
                  <a:pt x="2121" y="37508"/>
                </a:lnTo>
                <a:lnTo>
                  <a:pt x="7907" y="46091"/>
                </a:lnTo>
                <a:lnTo>
                  <a:pt x="16490" y="51877"/>
                </a:lnTo>
                <a:lnTo>
                  <a:pt x="27000" y="53999"/>
                </a:lnTo>
                <a:lnTo>
                  <a:pt x="37509" y="51877"/>
                </a:lnTo>
                <a:lnTo>
                  <a:pt x="46091" y="46091"/>
                </a:lnTo>
                <a:lnTo>
                  <a:pt x="51877" y="37508"/>
                </a:lnTo>
                <a:lnTo>
                  <a:pt x="53999" y="26998"/>
                </a:lnTo>
                <a:lnTo>
                  <a:pt x="51877" y="16489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31943" y="5371378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1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1"/>
                </a:lnTo>
                <a:lnTo>
                  <a:pt x="0" y="42343"/>
                </a:lnTo>
                <a:lnTo>
                  <a:pt x="24444" y="79159"/>
                </a:lnTo>
                <a:lnTo>
                  <a:pt x="40420" y="82763"/>
                </a:lnTo>
                <a:lnTo>
                  <a:pt x="42341" y="82763"/>
                </a:lnTo>
                <a:lnTo>
                  <a:pt x="74337" y="65467"/>
                </a:lnTo>
                <a:lnTo>
                  <a:pt x="41381" y="65467"/>
                </a:lnTo>
                <a:lnTo>
                  <a:pt x="31996" y="63572"/>
                </a:lnTo>
                <a:lnTo>
                  <a:pt x="24347" y="58416"/>
                </a:lnTo>
                <a:lnTo>
                  <a:pt x="19190" y="50766"/>
                </a:lnTo>
                <a:lnTo>
                  <a:pt x="17296" y="41381"/>
                </a:lnTo>
                <a:lnTo>
                  <a:pt x="19190" y="31997"/>
                </a:lnTo>
                <a:lnTo>
                  <a:pt x="24347" y="24348"/>
                </a:lnTo>
                <a:lnTo>
                  <a:pt x="31996" y="19192"/>
                </a:lnTo>
                <a:lnTo>
                  <a:pt x="41381" y="17297"/>
                </a:lnTo>
                <a:lnTo>
                  <a:pt x="74337" y="17297"/>
                </a:lnTo>
                <a:lnTo>
                  <a:pt x="71292" y="12781"/>
                </a:lnTo>
                <a:lnTo>
                  <a:pt x="69982" y="11470"/>
                </a:lnTo>
                <a:lnTo>
                  <a:pt x="58317" y="3605"/>
                </a:lnTo>
                <a:lnTo>
                  <a:pt x="56563" y="2871"/>
                </a:lnTo>
                <a:lnTo>
                  <a:pt x="42341" y="0"/>
                </a:lnTo>
                <a:close/>
              </a:path>
              <a:path w="83185" h="83185">
                <a:moveTo>
                  <a:pt x="74337" y="17297"/>
                </a:moveTo>
                <a:lnTo>
                  <a:pt x="41381" y="17297"/>
                </a:lnTo>
                <a:lnTo>
                  <a:pt x="50765" y="19192"/>
                </a:lnTo>
                <a:lnTo>
                  <a:pt x="58414" y="24348"/>
                </a:lnTo>
                <a:lnTo>
                  <a:pt x="63571" y="31997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6"/>
                </a:lnTo>
                <a:lnTo>
                  <a:pt x="50765" y="63572"/>
                </a:lnTo>
                <a:lnTo>
                  <a:pt x="41381" y="65467"/>
                </a:lnTo>
                <a:lnTo>
                  <a:pt x="74337" y="65467"/>
                </a:lnTo>
                <a:lnTo>
                  <a:pt x="79091" y="58416"/>
                </a:lnTo>
                <a:lnTo>
                  <a:pt x="79208" y="58196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1"/>
                </a:lnTo>
                <a:lnTo>
                  <a:pt x="79891" y="26200"/>
                </a:lnTo>
                <a:lnTo>
                  <a:pt x="79208" y="24568"/>
                </a:lnTo>
                <a:lnTo>
                  <a:pt x="79091" y="24348"/>
                </a:lnTo>
                <a:lnTo>
                  <a:pt x="74337" y="17297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5" y="24568"/>
                </a:lnTo>
                <a:lnTo>
                  <a:pt x="28464" y="28465"/>
                </a:lnTo>
                <a:lnTo>
                  <a:pt x="24566" y="34246"/>
                </a:lnTo>
                <a:lnTo>
                  <a:pt x="23126" y="41381"/>
                </a:lnTo>
                <a:lnTo>
                  <a:pt x="24566" y="48517"/>
                </a:lnTo>
                <a:lnTo>
                  <a:pt x="28464" y="54298"/>
                </a:lnTo>
                <a:lnTo>
                  <a:pt x="34245" y="58196"/>
                </a:lnTo>
                <a:lnTo>
                  <a:pt x="41381" y="59636"/>
                </a:lnTo>
                <a:lnTo>
                  <a:pt x="48516" y="58196"/>
                </a:lnTo>
                <a:lnTo>
                  <a:pt x="54297" y="54298"/>
                </a:lnTo>
                <a:lnTo>
                  <a:pt x="54629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3"/>
                </a:lnTo>
                <a:lnTo>
                  <a:pt x="36494" y="29944"/>
                </a:lnTo>
                <a:lnTo>
                  <a:pt x="41381" y="28958"/>
                </a:lnTo>
                <a:lnTo>
                  <a:pt x="54629" y="28958"/>
                </a:lnTo>
                <a:lnTo>
                  <a:pt x="54297" y="28465"/>
                </a:lnTo>
                <a:lnTo>
                  <a:pt x="48516" y="24568"/>
                </a:lnTo>
                <a:lnTo>
                  <a:pt x="41381" y="23127"/>
                </a:lnTo>
                <a:close/>
              </a:path>
              <a:path w="83185" h="83185">
                <a:moveTo>
                  <a:pt x="54629" y="28958"/>
                </a:moveTo>
                <a:lnTo>
                  <a:pt x="41381" y="28958"/>
                </a:lnTo>
                <a:lnTo>
                  <a:pt x="46268" y="29944"/>
                </a:lnTo>
                <a:lnTo>
                  <a:pt x="50180" y="32583"/>
                </a:lnTo>
                <a:lnTo>
                  <a:pt x="52819" y="36494"/>
                </a:lnTo>
                <a:lnTo>
                  <a:pt x="53804" y="41381"/>
                </a:lnTo>
                <a:lnTo>
                  <a:pt x="52819" y="46268"/>
                </a:lnTo>
                <a:lnTo>
                  <a:pt x="50180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29" y="53806"/>
                </a:lnTo>
                <a:lnTo>
                  <a:pt x="58195" y="48517"/>
                </a:lnTo>
                <a:lnTo>
                  <a:pt x="59635" y="41381"/>
                </a:lnTo>
                <a:lnTo>
                  <a:pt x="58195" y="34246"/>
                </a:lnTo>
                <a:lnTo>
                  <a:pt x="54629" y="289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18746" y="596676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04365" y="5952379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200" y="2871"/>
                </a:lnTo>
                <a:lnTo>
                  <a:pt x="0" y="40420"/>
                </a:lnTo>
                <a:lnTo>
                  <a:pt x="0" y="42342"/>
                </a:lnTo>
                <a:lnTo>
                  <a:pt x="24446" y="79158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6"/>
                </a:lnTo>
                <a:lnTo>
                  <a:pt x="41381" y="65466"/>
                </a:lnTo>
                <a:lnTo>
                  <a:pt x="31996" y="63571"/>
                </a:lnTo>
                <a:lnTo>
                  <a:pt x="24348" y="58415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6" y="19191"/>
                </a:lnTo>
                <a:lnTo>
                  <a:pt x="41381" y="17296"/>
                </a:lnTo>
                <a:lnTo>
                  <a:pt x="74339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9" y="17296"/>
                </a:moveTo>
                <a:lnTo>
                  <a:pt x="41381" y="17296"/>
                </a:lnTo>
                <a:lnTo>
                  <a:pt x="50766" y="19191"/>
                </a:lnTo>
                <a:lnTo>
                  <a:pt x="58414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4" y="58415"/>
                </a:lnTo>
                <a:lnTo>
                  <a:pt x="50766" y="63571"/>
                </a:lnTo>
                <a:lnTo>
                  <a:pt x="41381" y="65466"/>
                </a:lnTo>
                <a:lnTo>
                  <a:pt x="74339" y="65466"/>
                </a:lnTo>
                <a:lnTo>
                  <a:pt x="79093" y="58415"/>
                </a:lnTo>
                <a:lnTo>
                  <a:pt x="79210" y="58195"/>
                </a:lnTo>
                <a:lnTo>
                  <a:pt x="79891" y="56564"/>
                </a:lnTo>
                <a:lnTo>
                  <a:pt x="82763" y="42342"/>
                </a:lnTo>
                <a:lnTo>
                  <a:pt x="82763" y="40420"/>
                </a:lnTo>
                <a:lnTo>
                  <a:pt x="79891" y="26199"/>
                </a:lnTo>
                <a:lnTo>
                  <a:pt x="79210" y="24567"/>
                </a:lnTo>
                <a:lnTo>
                  <a:pt x="79093" y="24348"/>
                </a:lnTo>
                <a:lnTo>
                  <a:pt x="74339" y="17296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5" y="24567"/>
                </a:lnTo>
                <a:lnTo>
                  <a:pt x="28465" y="28465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5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8" y="54298"/>
                </a:lnTo>
                <a:lnTo>
                  <a:pt x="54630" y="53805"/>
                </a:lnTo>
                <a:lnTo>
                  <a:pt x="41381" y="53805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2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5"/>
                </a:lnTo>
                <a:lnTo>
                  <a:pt x="48517" y="24567"/>
                </a:lnTo>
                <a:lnTo>
                  <a:pt x="41381" y="23127"/>
                </a:lnTo>
                <a:close/>
              </a:path>
              <a:path w="83185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2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5"/>
                </a:lnTo>
                <a:lnTo>
                  <a:pt x="54630" y="53805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90488" y="518429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176107" y="5169918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5"/>
                </a:lnTo>
                <a:lnTo>
                  <a:pt x="41381" y="65465"/>
                </a:lnTo>
                <a:lnTo>
                  <a:pt x="31996" y="63571"/>
                </a:lnTo>
                <a:lnTo>
                  <a:pt x="24348" y="58414"/>
                </a:lnTo>
                <a:lnTo>
                  <a:pt x="19190" y="50766"/>
                </a:lnTo>
                <a:lnTo>
                  <a:pt x="17297" y="41381"/>
                </a:lnTo>
                <a:lnTo>
                  <a:pt x="19190" y="31996"/>
                </a:lnTo>
                <a:lnTo>
                  <a:pt x="24348" y="24348"/>
                </a:lnTo>
                <a:lnTo>
                  <a:pt x="31996" y="19190"/>
                </a:lnTo>
                <a:lnTo>
                  <a:pt x="41381" y="17296"/>
                </a:lnTo>
                <a:lnTo>
                  <a:pt x="74338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8" y="17296"/>
                </a:moveTo>
                <a:lnTo>
                  <a:pt x="41381" y="17296"/>
                </a:lnTo>
                <a:lnTo>
                  <a:pt x="50766" y="19190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4"/>
                </a:lnTo>
                <a:lnTo>
                  <a:pt x="50766" y="63571"/>
                </a:lnTo>
                <a:lnTo>
                  <a:pt x="41381" y="65465"/>
                </a:lnTo>
                <a:lnTo>
                  <a:pt x="74339" y="65465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1" y="56563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8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8" y="17296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8"/>
                </a:lnTo>
                <a:lnTo>
                  <a:pt x="28464" y="28464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4" y="54297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7" y="54297"/>
                </a:lnTo>
                <a:lnTo>
                  <a:pt x="54629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4"/>
                </a:lnTo>
                <a:lnTo>
                  <a:pt x="48517" y="24568"/>
                </a:lnTo>
                <a:lnTo>
                  <a:pt x="41381" y="23126"/>
                </a:lnTo>
                <a:close/>
              </a:path>
              <a:path w="83185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29" y="53806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271419" y="5071364"/>
            <a:ext cx="2470150" cy="1071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87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Short of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Breath</a:t>
            </a:r>
            <a:endParaRPr sz="1800">
              <a:latin typeface="Arial"/>
              <a:cs typeface="Arial"/>
            </a:endParaRPr>
          </a:p>
          <a:p>
            <a:pPr marL="1593215">
              <a:lnSpc>
                <a:spcPts val="1835"/>
              </a:lnSpc>
            </a:pPr>
            <a:r>
              <a:rPr dirty="0" sz="1800" spc="-5">
                <a:latin typeface="Arial"/>
                <a:cs typeface="Arial"/>
              </a:rPr>
              <a:t>Kidney</a:t>
            </a:r>
            <a:endParaRPr sz="1800">
              <a:latin typeface="Arial"/>
              <a:cs typeface="Arial"/>
            </a:endParaRPr>
          </a:p>
          <a:p>
            <a:pPr marL="1593215">
              <a:lnSpc>
                <a:spcPts val="2125"/>
              </a:lnSpc>
            </a:pPr>
            <a:r>
              <a:rPr dirty="0" sz="1800" spc="-5">
                <a:latin typeface="Arial"/>
                <a:cs typeface="Arial"/>
              </a:rPr>
              <a:t>Infection</a:t>
            </a:r>
            <a:endParaRPr sz="1800">
              <a:latin typeface="Arial"/>
              <a:cs typeface="Arial"/>
            </a:endParaRPr>
          </a:p>
          <a:p>
            <a:pPr marL="562610">
              <a:lnSpc>
                <a:spcPct val="100000"/>
              </a:lnSpc>
              <a:spcBef>
                <a:spcPts val="240"/>
              </a:spcBef>
            </a:pPr>
            <a:r>
              <a:rPr dirty="0" sz="1800" spc="-5">
                <a:latin typeface="Arial"/>
                <a:cs typeface="Arial"/>
              </a:rPr>
              <a:t>Headache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08753" y="4843698"/>
            <a:ext cx="3215640" cy="1556385"/>
          </a:xfrm>
          <a:custGeom>
            <a:avLst/>
            <a:gdLst/>
            <a:ahLst/>
            <a:cxnLst/>
            <a:rect l="l" t="t" r="r" b="b"/>
            <a:pathLst>
              <a:path w="3215640" h="1556385">
                <a:moveTo>
                  <a:pt x="3208690" y="0"/>
                </a:moveTo>
                <a:lnTo>
                  <a:pt x="6396" y="0"/>
                </a:lnTo>
                <a:lnTo>
                  <a:pt x="0" y="6395"/>
                </a:lnTo>
                <a:lnTo>
                  <a:pt x="0" y="1549809"/>
                </a:lnTo>
                <a:lnTo>
                  <a:pt x="6396" y="1556206"/>
                </a:lnTo>
                <a:lnTo>
                  <a:pt x="3208690" y="1556206"/>
                </a:lnTo>
                <a:lnTo>
                  <a:pt x="3215087" y="1549809"/>
                </a:lnTo>
                <a:lnTo>
                  <a:pt x="3215087" y="1539061"/>
                </a:lnTo>
                <a:lnTo>
                  <a:pt x="17144" y="1539061"/>
                </a:lnTo>
                <a:lnTo>
                  <a:pt x="17144" y="17144"/>
                </a:lnTo>
                <a:lnTo>
                  <a:pt x="3215087" y="17144"/>
                </a:lnTo>
                <a:lnTo>
                  <a:pt x="3215087" y="6395"/>
                </a:lnTo>
                <a:lnTo>
                  <a:pt x="3208690" y="0"/>
                </a:lnTo>
                <a:close/>
              </a:path>
              <a:path w="3215640" h="1556385">
                <a:moveTo>
                  <a:pt x="3215087" y="17144"/>
                </a:moveTo>
                <a:lnTo>
                  <a:pt x="3197942" y="17144"/>
                </a:lnTo>
                <a:lnTo>
                  <a:pt x="3197942" y="1539061"/>
                </a:lnTo>
                <a:lnTo>
                  <a:pt x="3215087" y="1539061"/>
                </a:lnTo>
                <a:lnTo>
                  <a:pt x="3215087" y="17144"/>
                </a:lnTo>
                <a:close/>
              </a:path>
              <a:path w="3215640" h="1556385">
                <a:moveTo>
                  <a:pt x="3192227" y="22860"/>
                </a:moveTo>
                <a:lnTo>
                  <a:pt x="22860" y="22860"/>
                </a:lnTo>
                <a:lnTo>
                  <a:pt x="22860" y="1533346"/>
                </a:lnTo>
                <a:lnTo>
                  <a:pt x="3192227" y="1533346"/>
                </a:lnTo>
                <a:lnTo>
                  <a:pt x="3192227" y="1527631"/>
                </a:lnTo>
                <a:lnTo>
                  <a:pt x="28575" y="1527631"/>
                </a:lnTo>
                <a:lnTo>
                  <a:pt x="28575" y="28575"/>
                </a:lnTo>
                <a:lnTo>
                  <a:pt x="3192227" y="28575"/>
                </a:lnTo>
                <a:lnTo>
                  <a:pt x="3192227" y="22860"/>
                </a:lnTo>
                <a:close/>
              </a:path>
              <a:path w="3215640" h="1556385">
                <a:moveTo>
                  <a:pt x="3192227" y="28575"/>
                </a:moveTo>
                <a:lnTo>
                  <a:pt x="3186512" y="28575"/>
                </a:lnTo>
                <a:lnTo>
                  <a:pt x="3186512" y="1527631"/>
                </a:lnTo>
                <a:lnTo>
                  <a:pt x="3192227" y="1527631"/>
                </a:lnTo>
                <a:lnTo>
                  <a:pt x="3192227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34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9342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4220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 b="1" i="0">
                <a:solidFill>
                  <a:srgbClr val="00B050"/>
                </a:solidFill>
                <a:latin typeface="Calibri"/>
                <a:cs typeface="Calibri"/>
              </a:rPr>
              <a:t>Things </a:t>
            </a:r>
            <a:r>
              <a:rPr dirty="0" sz="3200" spc="-15" b="1" i="0">
                <a:solidFill>
                  <a:srgbClr val="00B050"/>
                </a:solidFill>
                <a:latin typeface="Calibri"/>
                <a:cs typeface="Calibri"/>
              </a:rPr>
              <a:t>to </a:t>
            </a:r>
            <a:r>
              <a:rPr dirty="0" sz="3200" spc="-10" b="1" i="0">
                <a:solidFill>
                  <a:srgbClr val="00B050"/>
                </a:solidFill>
                <a:latin typeface="Calibri"/>
                <a:cs typeface="Calibri"/>
              </a:rPr>
              <a:t>figure</a:t>
            </a:r>
            <a:r>
              <a:rPr dirty="0" sz="3200" spc="-50" b="1" i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3200" spc="-5" b="1" i="0">
                <a:solidFill>
                  <a:srgbClr val="00B050"/>
                </a:solidFill>
                <a:latin typeface="Calibri"/>
                <a:cs typeface="Calibri"/>
              </a:rPr>
              <a:t>out: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75222" y="1955775"/>
            <a:ext cx="0" cy="346710"/>
          </a:xfrm>
          <a:custGeom>
            <a:avLst/>
            <a:gdLst/>
            <a:ahLst/>
            <a:cxnLst/>
            <a:rect l="l" t="t" r="r" b="b"/>
            <a:pathLst>
              <a:path w="0" h="346710">
                <a:moveTo>
                  <a:pt x="0" y="0"/>
                </a:moveTo>
                <a:lnTo>
                  <a:pt x="0" y="346210"/>
                </a:lnTo>
              </a:path>
            </a:pathLst>
          </a:custGeom>
          <a:ln w="286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04509" y="1955775"/>
            <a:ext cx="0" cy="346710"/>
          </a:xfrm>
          <a:custGeom>
            <a:avLst/>
            <a:gdLst/>
            <a:ahLst/>
            <a:cxnLst/>
            <a:rect l="l" t="t" r="r" b="b"/>
            <a:pathLst>
              <a:path w="0" h="346710">
                <a:moveTo>
                  <a:pt x="0" y="0"/>
                </a:moveTo>
                <a:lnTo>
                  <a:pt x="0" y="346210"/>
                </a:lnTo>
              </a:path>
            </a:pathLst>
          </a:custGeom>
          <a:ln w="286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76746" y="2882875"/>
            <a:ext cx="0" cy="346710"/>
          </a:xfrm>
          <a:custGeom>
            <a:avLst/>
            <a:gdLst/>
            <a:ahLst/>
            <a:cxnLst/>
            <a:rect l="l" t="t" r="r" b="b"/>
            <a:pathLst>
              <a:path w="0" h="346710">
                <a:moveTo>
                  <a:pt x="0" y="0"/>
                </a:moveTo>
                <a:lnTo>
                  <a:pt x="0" y="346210"/>
                </a:lnTo>
              </a:path>
            </a:pathLst>
          </a:custGeom>
          <a:ln w="286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02159" y="2882875"/>
            <a:ext cx="0" cy="346710"/>
          </a:xfrm>
          <a:custGeom>
            <a:avLst/>
            <a:gdLst/>
            <a:ahLst/>
            <a:cxnLst/>
            <a:rect l="l" t="t" r="r" b="b"/>
            <a:pathLst>
              <a:path w="0" h="346710">
                <a:moveTo>
                  <a:pt x="0" y="0"/>
                </a:moveTo>
                <a:lnTo>
                  <a:pt x="0" y="346210"/>
                </a:lnTo>
              </a:path>
            </a:pathLst>
          </a:custGeom>
          <a:ln w="286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18108" y="1756781"/>
            <a:ext cx="7275830" cy="324104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8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  <a:tab pos="5446395" algn="l"/>
                <a:tab pos="5817235" algn="l"/>
              </a:tabLst>
            </a:pPr>
            <a:r>
              <a:rPr dirty="0" sz="3000" spc="-10" b="1">
                <a:latin typeface="Calibri"/>
                <a:cs typeface="Calibri"/>
              </a:rPr>
              <a:t>Entity </a:t>
            </a:r>
            <a:r>
              <a:rPr dirty="0" sz="3000" spc="-5" b="1">
                <a:latin typeface="Calibri"/>
                <a:cs typeface="Calibri"/>
              </a:rPr>
              <a:t>embeddings </a:t>
            </a:r>
            <a:r>
              <a:rPr dirty="0" sz="3000">
                <a:latin typeface="Calibri"/>
                <a:cs typeface="Calibri"/>
              </a:rPr>
              <a:t>(#</a:t>
            </a:r>
            <a:r>
              <a:rPr dirty="0" sz="3000" spc="3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params: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>
                <a:latin typeface="Cambria Math"/>
                <a:cs typeface="Cambria Math"/>
              </a:rPr>
              <a:t>𝑑	𝑉	</a:t>
            </a:r>
            <a:r>
              <a:rPr dirty="0" sz="3000">
                <a:latin typeface="Calibri"/>
                <a:cs typeface="Calibri"/>
              </a:rPr>
              <a:t>):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ts val="3110"/>
              </a:lnSpc>
              <a:spcBef>
                <a:spcPts val="5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Entities </a:t>
            </a:r>
            <a:r>
              <a:rPr dirty="0" sz="2600" spc="-10">
                <a:latin typeface="Calibri"/>
                <a:cs typeface="Calibri"/>
              </a:rPr>
              <a:t>are seen </a:t>
            </a:r>
            <a:r>
              <a:rPr dirty="0" sz="2600">
                <a:latin typeface="Calibri"/>
                <a:cs typeface="Calibri"/>
              </a:rPr>
              <a:t>as </a:t>
            </a:r>
            <a:r>
              <a:rPr dirty="0" sz="2600" spc="-20">
                <a:latin typeface="Calibri"/>
                <a:cs typeface="Calibri"/>
              </a:rPr>
              <a:t>zero-volume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30">
                <a:latin typeface="Calibri"/>
                <a:cs typeface="Calibri"/>
              </a:rPr>
              <a:t>boxes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59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  <a:tab pos="5944235" algn="l"/>
                <a:tab pos="6318250" algn="l"/>
              </a:tabLst>
            </a:pPr>
            <a:r>
              <a:rPr dirty="0" sz="3000" spc="-15" b="1">
                <a:latin typeface="Calibri"/>
                <a:cs typeface="Calibri"/>
              </a:rPr>
              <a:t>Relation </a:t>
            </a:r>
            <a:r>
              <a:rPr dirty="0" sz="3000" spc="-5" b="1">
                <a:latin typeface="Calibri"/>
                <a:cs typeface="Calibri"/>
              </a:rPr>
              <a:t>embeddings </a:t>
            </a:r>
            <a:r>
              <a:rPr dirty="0" sz="3000">
                <a:latin typeface="Calibri"/>
                <a:cs typeface="Calibri"/>
              </a:rPr>
              <a:t>(#</a:t>
            </a:r>
            <a:r>
              <a:rPr dirty="0" sz="3000" spc="55">
                <a:latin typeface="Calibri"/>
                <a:cs typeface="Calibri"/>
              </a:rPr>
              <a:t> </a:t>
            </a:r>
            <a:r>
              <a:rPr dirty="0" sz="3000" spc="-15">
                <a:latin typeface="Calibri"/>
                <a:cs typeface="Calibri"/>
              </a:rPr>
              <a:t>params</a:t>
            </a:r>
            <a:r>
              <a:rPr dirty="0" sz="3000" spc="5">
                <a:latin typeface="Calibri"/>
                <a:cs typeface="Calibri"/>
              </a:rPr>
              <a:t> </a:t>
            </a:r>
            <a:r>
              <a:rPr dirty="0" sz="3000">
                <a:latin typeface="Cambria Math"/>
                <a:cs typeface="Cambria Math"/>
              </a:rPr>
              <a:t>2𝑑	𝑅	</a:t>
            </a:r>
            <a:r>
              <a:rPr dirty="0" sz="3000">
                <a:latin typeface="Calibri"/>
                <a:cs typeface="Calibri"/>
              </a:rPr>
              <a:t>)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ts val="31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>
                <a:latin typeface="Calibri"/>
                <a:cs typeface="Calibri"/>
              </a:rPr>
              <a:t>Each relation </a:t>
            </a:r>
            <a:r>
              <a:rPr dirty="0" sz="2600" spc="-25">
                <a:latin typeface="Calibri"/>
                <a:cs typeface="Calibri"/>
              </a:rPr>
              <a:t>takes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20">
                <a:latin typeface="Calibri"/>
                <a:cs typeface="Calibri"/>
              </a:rPr>
              <a:t>box </a:t>
            </a:r>
            <a:r>
              <a:rPr dirty="0" sz="2600" spc="-5">
                <a:latin typeface="Calibri"/>
                <a:cs typeface="Calibri"/>
              </a:rPr>
              <a:t>and </a:t>
            </a:r>
            <a:r>
              <a:rPr dirty="0" sz="2600" spc="-10">
                <a:latin typeface="Calibri"/>
                <a:cs typeface="Calibri"/>
              </a:rPr>
              <a:t>produces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10">
                <a:latin typeface="Calibri"/>
                <a:cs typeface="Calibri"/>
              </a:rPr>
              <a:t>new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 spc="-175">
                <a:latin typeface="Calibri"/>
                <a:cs typeface="Calibri"/>
              </a:rPr>
              <a:t>box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579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 b="1">
                <a:latin typeface="Calibri"/>
                <a:cs typeface="Calibri"/>
              </a:rPr>
              <a:t>Intersection </a:t>
            </a:r>
            <a:r>
              <a:rPr dirty="0" sz="3000" spc="-20" b="1">
                <a:latin typeface="Calibri"/>
                <a:cs typeface="Calibri"/>
              </a:rPr>
              <a:t>operator </a:t>
            </a:r>
            <a:r>
              <a:rPr dirty="0" sz="3000">
                <a:latin typeface="Cambria Math"/>
                <a:cs typeface="Cambria Math"/>
              </a:rPr>
              <a:t>𝒇</a:t>
            </a:r>
            <a:r>
              <a:rPr dirty="0" sz="3000" spc="-20">
                <a:latin typeface="Cambria Math"/>
                <a:cs typeface="Cambria Math"/>
              </a:rPr>
              <a:t> </a:t>
            </a:r>
            <a:r>
              <a:rPr dirty="0" sz="3000" b="1">
                <a:latin typeface="Calibri"/>
                <a:cs typeface="Calibri"/>
              </a:rPr>
              <a:t>: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200" spc="-5">
                <a:latin typeface="Calibri"/>
                <a:cs typeface="Calibri"/>
              </a:rPr>
              <a:t>New </a:t>
            </a:r>
            <a:r>
              <a:rPr dirty="0" sz="2200" spc="-35">
                <a:latin typeface="Calibri"/>
                <a:cs typeface="Calibri"/>
              </a:rPr>
              <a:t>operator, </a:t>
            </a:r>
            <a:r>
              <a:rPr dirty="0" sz="2200" spc="-10">
                <a:latin typeface="Calibri"/>
                <a:cs typeface="Calibri"/>
              </a:rPr>
              <a:t>inputs </a:t>
            </a:r>
            <a:r>
              <a:rPr dirty="0" sz="2200" spc="-15">
                <a:latin typeface="Calibri"/>
                <a:cs typeface="Calibri"/>
              </a:rPr>
              <a:t>are </a:t>
            </a:r>
            <a:r>
              <a:rPr dirty="0" sz="2200" spc="-25">
                <a:latin typeface="Calibri"/>
                <a:cs typeface="Calibri"/>
              </a:rPr>
              <a:t>boxes </a:t>
            </a:r>
            <a:r>
              <a:rPr dirty="0" sz="2200" spc="-5">
                <a:latin typeface="Calibri"/>
                <a:cs typeface="Calibri"/>
              </a:rPr>
              <a:t>and output is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7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box</a:t>
            </a:r>
            <a:endParaRPr sz="2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5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200" spc="-10">
                <a:latin typeface="Calibri"/>
                <a:cs typeface="Calibri"/>
              </a:rPr>
              <a:t>Intuitively </a:t>
            </a:r>
            <a:r>
              <a:rPr dirty="0" sz="2200" spc="-5">
                <a:latin typeface="Calibri"/>
                <a:cs typeface="Calibri"/>
              </a:rPr>
              <a:t>models </a:t>
            </a:r>
            <a:r>
              <a:rPr dirty="0" sz="2200" spc="-15">
                <a:latin typeface="Calibri"/>
                <a:cs typeface="Calibri"/>
              </a:rPr>
              <a:t>intersection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boxes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34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9342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46124"/>
            <a:ext cx="8221980" cy="1308735"/>
          </a:xfrm>
          <a:prstGeom prst="rect"/>
        </p:spPr>
        <p:txBody>
          <a:bodyPr wrap="square" lIns="0" tIns="118110" rIns="0" bIns="0" rtlCol="0" vert="horz">
            <a:spAutoFit/>
          </a:bodyPr>
          <a:lstStyle/>
          <a:p>
            <a:pPr marL="332740" marR="5080" indent="-320040">
              <a:lnSpc>
                <a:spcPct val="80700"/>
              </a:lnSpc>
              <a:spcBef>
                <a:spcPts val="930"/>
              </a:spcBef>
              <a:buClr>
                <a:srgbClr val="F0AD00"/>
              </a:buClr>
              <a:buSzPct val="80555"/>
              <a:buFont typeface="Arial"/>
              <a:buChar char="▪"/>
              <a:tabLst>
                <a:tab pos="332740" algn="l"/>
              </a:tabLst>
            </a:pPr>
            <a:r>
              <a:rPr dirty="0" sz="3600" spc="-5" b="1" i="0">
                <a:latin typeface="Calibri"/>
                <a:cs typeface="Calibri"/>
              </a:rPr>
              <a:t>Embed queries </a:t>
            </a:r>
            <a:r>
              <a:rPr dirty="0" sz="3600" b="1" i="0">
                <a:latin typeface="Calibri"/>
                <a:cs typeface="Calibri"/>
              </a:rPr>
              <a:t>in </a:t>
            </a:r>
            <a:r>
              <a:rPr dirty="0" sz="3600" spc="-15" b="1" i="0">
                <a:latin typeface="Calibri"/>
                <a:cs typeface="Calibri"/>
              </a:rPr>
              <a:t>vector </a:t>
            </a:r>
            <a:r>
              <a:rPr dirty="0" sz="3600" spc="-5" b="1" i="0">
                <a:latin typeface="Calibri"/>
                <a:cs typeface="Calibri"/>
              </a:rPr>
              <a:t>space: </a:t>
            </a:r>
            <a:r>
              <a:rPr dirty="0" sz="3000" spc="-5" i="0">
                <a:latin typeface="Calibri"/>
                <a:cs typeface="Calibri"/>
              </a:rPr>
              <a:t>“</a:t>
            </a:r>
            <a:r>
              <a:rPr dirty="0" sz="3000" spc="-5"/>
              <a:t>What are  </a:t>
            </a:r>
            <a:r>
              <a:rPr dirty="0" sz="3000" spc="-10" i="1"/>
              <a:t>drugs </a:t>
            </a:r>
            <a:r>
              <a:rPr dirty="0" sz="3000" spc="-5" i="1"/>
              <a:t>that </a:t>
            </a:r>
            <a:r>
              <a:rPr dirty="0" sz="3000" spc="-10" i="1"/>
              <a:t>cause </a:t>
            </a:r>
            <a:r>
              <a:rPr dirty="0" sz="3000" spc="-5" i="1"/>
              <a:t>Short of Breath </a:t>
            </a:r>
            <a:r>
              <a:rPr dirty="0" sz="3000" spc="-10" i="1"/>
              <a:t>and </a:t>
            </a:r>
            <a:r>
              <a:rPr dirty="0" sz="3000" spc="-5" i="1"/>
              <a:t>treat diseases  </a:t>
            </a:r>
            <a:r>
              <a:rPr dirty="0" sz="3000" spc="-10" i="1"/>
              <a:t>associated </a:t>
            </a:r>
            <a:r>
              <a:rPr dirty="0" sz="3000" spc="-5" i="1"/>
              <a:t>with </a:t>
            </a:r>
            <a:r>
              <a:rPr dirty="0" sz="3000" spc="-10" i="1"/>
              <a:t>protein</a:t>
            </a:r>
            <a:r>
              <a:rPr dirty="0" sz="3000" spc="-25" i="1"/>
              <a:t> </a:t>
            </a:r>
            <a:r>
              <a:rPr dirty="0" sz="3000" i="1"/>
              <a:t>ESR2?”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2743" y="4458715"/>
            <a:ext cx="130937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5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ESR2</a:t>
            </a:r>
            <a:endParaRPr sz="1200">
              <a:latin typeface="Arial"/>
              <a:cs typeface="Arial"/>
            </a:endParaRPr>
          </a:p>
          <a:p>
            <a:pPr marL="826135">
              <a:lnSpc>
                <a:spcPts val="1590"/>
              </a:lnSpc>
            </a:pPr>
            <a:r>
              <a:rPr dirty="0" sz="1400" spc="-3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sso</a:t>
            </a:r>
            <a:r>
              <a:rPr dirty="0" sz="14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7776" y="448360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1"/>
                </a:lnTo>
                <a:lnTo>
                  <a:pt x="83516" y="162610"/>
                </a:lnTo>
                <a:lnTo>
                  <a:pt x="116024" y="156221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3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57776" y="448360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24769" y="4485128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4" h="161925">
                <a:moveTo>
                  <a:pt x="783077" y="107949"/>
                </a:moveTo>
                <a:lnTo>
                  <a:pt x="782996" y="161925"/>
                </a:lnTo>
                <a:lnTo>
                  <a:pt x="891272" y="107990"/>
                </a:lnTo>
                <a:lnTo>
                  <a:pt x="810064" y="107990"/>
                </a:lnTo>
                <a:lnTo>
                  <a:pt x="783077" y="107949"/>
                </a:lnTo>
                <a:close/>
              </a:path>
              <a:path w="945514" h="161925">
                <a:moveTo>
                  <a:pt x="783158" y="53974"/>
                </a:moveTo>
                <a:lnTo>
                  <a:pt x="783077" y="107949"/>
                </a:lnTo>
                <a:lnTo>
                  <a:pt x="810064" y="107990"/>
                </a:lnTo>
                <a:lnTo>
                  <a:pt x="810146" y="54015"/>
                </a:lnTo>
                <a:lnTo>
                  <a:pt x="783158" y="53974"/>
                </a:lnTo>
                <a:close/>
              </a:path>
              <a:path w="945514" h="161925">
                <a:moveTo>
                  <a:pt x="783239" y="0"/>
                </a:moveTo>
                <a:lnTo>
                  <a:pt x="783158" y="53974"/>
                </a:lnTo>
                <a:lnTo>
                  <a:pt x="810146" y="54015"/>
                </a:lnTo>
                <a:lnTo>
                  <a:pt x="810064" y="107990"/>
                </a:lnTo>
                <a:lnTo>
                  <a:pt x="891272" y="107990"/>
                </a:lnTo>
                <a:lnTo>
                  <a:pt x="945043" y="81206"/>
                </a:lnTo>
                <a:lnTo>
                  <a:pt x="783239" y="0"/>
                </a:lnTo>
                <a:close/>
              </a:path>
              <a:path w="945514" h="161925">
                <a:moveTo>
                  <a:pt x="81" y="52793"/>
                </a:moveTo>
                <a:lnTo>
                  <a:pt x="0" y="106767"/>
                </a:lnTo>
                <a:lnTo>
                  <a:pt x="783077" y="107949"/>
                </a:lnTo>
                <a:lnTo>
                  <a:pt x="783158" y="53974"/>
                </a:lnTo>
                <a:lnTo>
                  <a:pt x="81" y="5279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18108" y="2426794"/>
            <a:ext cx="8027670" cy="135255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430530">
              <a:lnSpc>
                <a:spcPct val="100000"/>
              </a:lnSpc>
              <a:spcBef>
                <a:spcPts val="409"/>
              </a:spcBef>
            </a:pPr>
            <a:r>
              <a:rPr dirty="0" sz="2200" spc="-5" b="1">
                <a:latin typeface="Calibri"/>
                <a:cs typeface="Calibri"/>
              </a:rPr>
              <a:t>((</a:t>
            </a:r>
            <a:r>
              <a:rPr dirty="0" sz="2200" spc="-5" b="1">
                <a:solidFill>
                  <a:srgbClr val="0070C0"/>
                </a:solidFill>
                <a:latin typeface="Calibri"/>
                <a:cs typeface="Calibri"/>
              </a:rPr>
              <a:t>e:ESR2</a:t>
            </a:r>
            <a:r>
              <a:rPr dirty="0" sz="2200" spc="-5" b="1">
                <a:latin typeface="Calibri"/>
                <a:cs typeface="Calibri"/>
              </a:rPr>
              <a:t>, (</a:t>
            </a:r>
            <a:r>
              <a:rPr dirty="0" sz="2200" spc="-5" b="1">
                <a:solidFill>
                  <a:srgbClr val="C00000"/>
                </a:solidFill>
                <a:latin typeface="Calibri"/>
                <a:cs typeface="Calibri"/>
              </a:rPr>
              <a:t>r:Assoc</a:t>
            </a:r>
            <a:r>
              <a:rPr dirty="0" sz="2200" spc="-5" b="1">
                <a:solidFill>
                  <a:srgbClr val="C55A11"/>
                </a:solidFill>
                <a:latin typeface="Calibri"/>
                <a:cs typeface="Calibri"/>
              </a:rPr>
              <a:t>, </a:t>
            </a:r>
            <a:r>
              <a:rPr dirty="0" sz="2200" spc="-20" b="1">
                <a:solidFill>
                  <a:srgbClr val="479249"/>
                </a:solidFill>
                <a:latin typeface="Calibri"/>
                <a:cs typeface="Calibri"/>
              </a:rPr>
              <a:t>r:TreatedBy</a:t>
            </a:r>
            <a:r>
              <a:rPr dirty="0" sz="2200" spc="-20" b="1">
                <a:latin typeface="Calibri"/>
                <a:cs typeface="Calibri"/>
              </a:rPr>
              <a:t>)), </a:t>
            </a:r>
            <a:r>
              <a:rPr dirty="0" sz="2200" spc="-5" b="1">
                <a:latin typeface="Calibri"/>
                <a:cs typeface="Calibri"/>
              </a:rPr>
              <a:t>(</a:t>
            </a:r>
            <a:r>
              <a:rPr dirty="0" sz="2200" spc="-5" b="1">
                <a:solidFill>
                  <a:srgbClr val="0070C0"/>
                </a:solidFill>
                <a:latin typeface="Calibri"/>
                <a:cs typeface="Calibri"/>
              </a:rPr>
              <a:t>e:Short </a:t>
            </a:r>
            <a:r>
              <a:rPr dirty="0" sz="2200" b="1">
                <a:solidFill>
                  <a:srgbClr val="0070C0"/>
                </a:solidFill>
                <a:latin typeface="Calibri"/>
                <a:cs typeface="Calibri"/>
              </a:rPr>
              <a:t>of </a:t>
            </a:r>
            <a:r>
              <a:rPr dirty="0" sz="2200" spc="-10" b="1">
                <a:solidFill>
                  <a:srgbClr val="0070C0"/>
                </a:solidFill>
                <a:latin typeface="Calibri"/>
                <a:cs typeface="Calibri"/>
              </a:rPr>
              <a:t>Breath</a:t>
            </a:r>
            <a:r>
              <a:rPr dirty="0" sz="2200" spc="-10" b="1">
                <a:latin typeface="Calibri"/>
                <a:cs typeface="Calibri"/>
              </a:rPr>
              <a:t>,</a:t>
            </a:r>
            <a:r>
              <a:rPr dirty="0" sz="2200" spc="130" b="1">
                <a:latin typeface="Calibri"/>
                <a:cs typeface="Calibri"/>
              </a:rPr>
              <a:t> </a:t>
            </a:r>
            <a:r>
              <a:rPr dirty="0" sz="2200" spc="-5" b="1">
                <a:latin typeface="Calibri"/>
                <a:cs typeface="Calibri"/>
              </a:rPr>
              <a:t>(</a:t>
            </a:r>
            <a:r>
              <a:rPr dirty="0" sz="2200" spc="-5" b="1">
                <a:solidFill>
                  <a:srgbClr val="B48200"/>
                </a:solidFill>
                <a:latin typeface="Calibri"/>
                <a:cs typeface="Calibri"/>
              </a:rPr>
              <a:t>r:CausedBy</a:t>
            </a:r>
            <a:r>
              <a:rPr dirty="0" sz="2200" spc="-5" b="1">
                <a:latin typeface="Calibri"/>
                <a:cs typeface="Calibri"/>
              </a:rPr>
              <a:t>))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2600" spc="-45">
                <a:latin typeface="Calibri"/>
                <a:cs typeface="Calibri"/>
              </a:rPr>
              <a:t>Traverse </a:t>
            </a:r>
            <a:r>
              <a:rPr dirty="0" sz="2600" spc="-55">
                <a:latin typeface="Calibri"/>
                <a:cs typeface="Calibri"/>
              </a:rPr>
              <a:t>KG </a:t>
            </a:r>
            <a:r>
              <a:rPr dirty="0" sz="2600" spc="-15">
                <a:latin typeface="Calibri"/>
                <a:cs typeface="Calibri"/>
              </a:rPr>
              <a:t>from </a:t>
            </a:r>
            <a:r>
              <a:rPr dirty="0" sz="2600" spc="-5" b="1">
                <a:latin typeface="Calibri"/>
                <a:cs typeface="Calibri"/>
              </a:rPr>
              <a:t>anchor nodes</a:t>
            </a:r>
            <a:r>
              <a:rPr dirty="0" sz="2600" spc="-5">
                <a:latin typeface="Calibri"/>
                <a:cs typeface="Calibri"/>
              </a:rPr>
              <a:t>: </a:t>
            </a:r>
            <a:r>
              <a:rPr dirty="0" sz="2600" spc="-15" b="1">
                <a:solidFill>
                  <a:srgbClr val="0070C0"/>
                </a:solidFill>
                <a:latin typeface="Calibri"/>
                <a:cs typeface="Calibri"/>
              </a:rPr>
              <a:t>ESR2 </a:t>
            </a:r>
            <a:r>
              <a:rPr dirty="0" sz="2600" spc="-5">
                <a:latin typeface="Calibri"/>
                <a:cs typeface="Calibri"/>
              </a:rPr>
              <a:t>and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Short </a:t>
            </a:r>
            <a:r>
              <a:rPr dirty="0" sz="2600" b="1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dirty="0" sz="2600" spc="15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Breath:</a:t>
            </a:r>
            <a:endParaRPr sz="2600">
              <a:latin typeface="Calibri"/>
              <a:cs typeface="Calibri"/>
            </a:endParaRPr>
          </a:p>
          <a:p>
            <a:pPr marL="322580">
              <a:lnSpc>
                <a:spcPct val="100000"/>
              </a:lnSpc>
              <a:spcBef>
                <a:spcPts val="1605"/>
              </a:spcBef>
              <a:tabLst>
                <a:tab pos="5025390" algn="l"/>
              </a:tabLst>
            </a:pPr>
            <a:r>
              <a:rPr dirty="0" sz="2000" spc="-5" b="1">
                <a:latin typeface="Arial"/>
                <a:cs typeface="Arial"/>
              </a:rPr>
              <a:t>Query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plan	Embedding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Space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77514" y="5519420"/>
            <a:ext cx="423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ESR</a:t>
            </a:r>
            <a:r>
              <a:rPr dirty="0" sz="120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145040" y="559663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6999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6999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45040" y="559663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643858" y="4973320"/>
            <a:ext cx="17272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34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86460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7608" y="1148588"/>
            <a:ext cx="3874135" cy="83946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204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 b="1" i="0">
                <a:solidFill>
                  <a:srgbClr val="0000FF"/>
                </a:solidFill>
                <a:latin typeface="Calibri"/>
                <a:cs typeface="Calibri"/>
              </a:rPr>
              <a:t>Projection </a:t>
            </a:r>
            <a:r>
              <a:rPr dirty="0" sz="3000" spc="-20" b="1" i="0">
                <a:solidFill>
                  <a:srgbClr val="0000FF"/>
                </a:solidFill>
                <a:latin typeface="Calibri"/>
                <a:cs typeface="Calibri"/>
              </a:rPr>
              <a:t>Operator</a:t>
            </a:r>
            <a:r>
              <a:rPr dirty="0" sz="3000" spc="-70" b="1" i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000" i="0">
                <a:latin typeface="Cambria Math"/>
                <a:cs typeface="Cambria Math"/>
              </a:rPr>
              <a:t>𝓟</a:t>
            </a:r>
            <a:endParaRPr sz="3000">
              <a:latin typeface="Cambria Math"/>
              <a:cs typeface="Cambria Math"/>
            </a:endParaRPr>
          </a:p>
          <a:p>
            <a:pPr marL="332740" indent="-320040">
              <a:lnSpc>
                <a:spcPts val="3204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 i="0">
                <a:latin typeface="Calibri"/>
                <a:cs typeface="Calibri"/>
              </a:rPr>
              <a:t>Intuition</a:t>
            </a:r>
            <a:r>
              <a:rPr dirty="0" sz="3000" spc="-5" i="0">
                <a:latin typeface="Calibri"/>
                <a:cs typeface="Calibri"/>
              </a:rPr>
              <a:t>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48580" y="3150612"/>
            <a:ext cx="580390" cy="353060"/>
          </a:xfrm>
          <a:custGeom>
            <a:avLst/>
            <a:gdLst/>
            <a:ahLst/>
            <a:cxnLst/>
            <a:rect l="l" t="t" r="r" b="b"/>
            <a:pathLst>
              <a:path w="580389" h="353060">
                <a:moveTo>
                  <a:pt x="467301" y="0"/>
                </a:moveTo>
                <a:lnTo>
                  <a:pt x="462278" y="14324"/>
                </a:lnTo>
                <a:lnTo>
                  <a:pt x="482707" y="23190"/>
                </a:lnTo>
                <a:lnTo>
                  <a:pt x="500276" y="35463"/>
                </a:lnTo>
                <a:lnTo>
                  <a:pt x="526832" y="70228"/>
                </a:lnTo>
                <a:lnTo>
                  <a:pt x="542459" y="117132"/>
                </a:lnTo>
                <a:lnTo>
                  <a:pt x="547668" y="174687"/>
                </a:lnTo>
                <a:lnTo>
                  <a:pt x="546360" y="205812"/>
                </a:lnTo>
                <a:lnTo>
                  <a:pt x="535896" y="259483"/>
                </a:lnTo>
                <a:lnTo>
                  <a:pt x="514897" y="301399"/>
                </a:lnTo>
                <a:lnTo>
                  <a:pt x="482946" y="329677"/>
                </a:lnTo>
                <a:lnTo>
                  <a:pt x="462837" y="338583"/>
                </a:lnTo>
                <a:lnTo>
                  <a:pt x="467301" y="352908"/>
                </a:lnTo>
                <a:lnTo>
                  <a:pt x="515438" y="330328"/>
                </a:lnTo>
                <a:lnTo>
                  <a:pt x="550832" y="291237"/>
                </a:lnTo>
                <a:lnTo>
                  <a:pt x="572597" y="238892"/>
                </a:lnTo>
                <a:lnTo>
                  <a:pt x="579852" y="176547"/>
                </a:lnTo>
                <a:lnTo>
                  <a:pt x="578033" y="144194"/>
                </a:lnTo>
                <a:lnTo>
                  <a:pt x="563476" y="86849"/>
                </a:lnTo>
                <a:lnTo>
                  <a:pt x="534605" y="40166"/>
                </a:lnTo>
                <a:lnTo>
                  <a:pt x="492887" y="9237"/>
                </a:lnTo>
                <a:lnTo>
                  <a:pt x="467301" y="0"/>
                </a:lnTo>
                <a:close/>
              </a:path>
              <a:path w="580389" h="353060">
                <a:moveTo>
                  <a:pt x="112551" y="0"/>
                </a:moveTo>
                <a:lnTo>
                  <a:pt x="64530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4" y="266315"/>
                </a:lnTo>
                <a:lnTo>
                  <a:pt x="45125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3"/>
                </a:lnTo>
                <a:lnTo>
                  <a:pt x="96907" y="329677"/>
                </a:lnTo>
                <a:lnTo>
                  <a:pt x="79553" y="317282"/>
                </a:lnTo>
                <a:lnTo>
                  <a:pt x="53112" y="282028"/>
                </a:lnTo>
                <a:lnTo>
                  <a:pt x="37416" y="234078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6" y="92349"/>
                </a:lnTo>
                <a:lnTo>
                  <a:pt x="64990" y="51142"/>
                </a:lnTo>
                <a:lnTo>
                  <a:pt x="97221" y="23190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732803" y="3150612"/>
            <a:ext cx="466090" cy="353060"/>
          </a:xfrm>
          <a:custGeom>
            <a:avLst/>
            <a:gdLst/>
            <a:ahLst/>
            <a:cxnLst/>
            <a:rect l="l" t="t" r="r" b="b"/>
            <a:pathLst>
              <a:path w="466089" h="353060">
                <a:moveTo>
                  <a:pt x="353065" y="0"/>
                </a:moveTo>
                <a:lnTo>
                  <a:pt x="348042" y="14324"/>
                </a:lnTo>
                <a:lnTo>
                  <a:pt x="368471" y="23190"/>
                </a:lnTo>
                <a:lnTo>
                  <a:pt x="386039" y="35463"/>
                </a:lnTo>
                <a:lnTo>
                  <a:pt x="412596" y="70228"/>
                </a:lnTo>
                <a:lnTo>
                  <a:pt x="428223" y="117132"/>
                </a:lnTo>
                <a:lnTo>
                  <a:pt x="433433" y="174687"/>
                </a:lnTo>
                <a:lnTo>
                  <a:pt x="432125" y="205812"/>
                </a:lnTo>
                <a:lnTo>
                  <a:pt x="421659" y="259483"/>
                </a:lnTo>
                <a:lnTo>
                  <a:pt x="400661" y="301399"/>
                </a:lnTo>
                <a:lnTo>
                  <a:pt x="368709" y="329677"/>
                </a:lnTo>
                <a:lnTo>
                  <a:pt x="348601" y="338583"/>
                </a:lnTo>
                <a:lnTo>
                  <a:pt x="353065" y="352908"/>
                </a:lnTo>
                <a:lnTo>
                  <a:pt x="401202" y="330328"/>
                </a:lnTo>
                <a:lnTo>
                  <a:pt x="436595" y="291237"/>
                </a:lnTo>
                <a:lnTo>
                  <a:pt x="458361" y="238892"/>
                </a:lnTo>
                <a:lnTo>
                  <a:pt x="465616" y="176547"/>
                </a:lnTo>
                <a:lnTo>
                  <a:pt x="463796" y="144194"/>
                </a:lnTo>
                <a:lnTo>
                  <a:pt x="449240" y="86849"/>
                </a:lnTo>
                <a:lnTo>
                  <a:pt x="420369" y="40166"/>
                </a:lnTo>
                <a:lnTo>
                  <a:pt x="378650" y="9237"/>
                </a:lnTo>
                <a:lnTo>
                  <a:pt x="353065" y="0"/>
                </a:lnTo>
                <a:close/>
              </a:path>
              <a:path w="466089" h="353060">
                <a:moveTo>
                  <a:pt x="112551" y="0"/>
                </a:moveTo>
                <a:lnTo>
                  <a:pt x="64530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4" y="266315"/>
                </a:lnTo>
                <a:lnTo>
                  <a:pt x="45124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3"/>
                </a:lnTo>
                <a:lnTo>
                  <a:pt x="96906" y="329677"/>
                </a:lnTo>
                <a:lnTo>
                  <a:pt x="79552" y="317282"/>
                </a:lnTo>
                <a:lnTo>
                  <a:pt x="53112" y="282028"/>
                </a:lnTo>
                <a:lnTo>
                  <a:pt x="37416" y="234078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6" y="92349"/>
                </a:lnTo>
                <a:lnTo>
                  <a:pt x="64989" y="51142"/>
                </a:lnTo>
                <a:lnTo>
                  <a:pt x="97220" y="23190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360372" y="3150612"/>
            <a:ext cx="438784" cy="353060"/>
          </a:xfrm>
          <a:custGeom>
            <a:avLst/>
            <a:gdLst/>
            <a:ahLst/>
            <a:cxnLst/>
            <a:rect l="l" t="t" r="r" b="b"/>
            <a:pathLst>
              <a:path w="438784" h="353060">
                <a:moveTo>
                  <a:pt x="326077" y="0"/>
                </a:moveTo>
                <a:lnTo>
                  <a:pt x="321054" y="14324"/>
                </a:lnTo>
                <a:lnTo>
                  <a:pt x="341483" y="23190"/>
                </a:lnTo>
                <a:lnTo>
                  <a:pt x="359052" y="35463"/>
                </a:lnTo>
                <a:lnTo>
                  <a:pt x="385608" y="70228"/>
                </a:lnTo>
                <a:lnTo>
                  <a:pt x="401235" y="117132"/>
                </a:lnTo>
                <a:lnTo>
                  <a:pt x="406444" y="174687"/>
                </a:lnTo>
                <a:lnTo>
                  <a:pt x="405136" y="205812"/>
                </a:lnTo>
                <a:lnTo>
                  <a:pt x="394672" y="259483"/>
                </a:lnTo>
                <a:lnTo>
                  <a:pt x="373673" y="301399"/>
                </a:lnTo>
                <a:lnTo>
                  <a:pt x="341722" y="329677"/>
                </a:lnTo>
                <a:lnTo>
                  <a:pt x="321613" y="338583"/>
                </a:lnTo>
                <a:lnTo>
                  <a:pt x="326077" y="352908"/>
                </a:lnTo>
                <a:lnTo>
                  <a:pt x="374214" y="330328"/>
                </a:lnTo>
                <a:lnTo>
                  <a:pt x="409608" y="291237"/>
                </a:lnTo>
                <a:lnTo>
                  <a:pt x="431373" y="238892"/>
                </a:lnTo>
                <a:lnTo>
                  <a:pt x="438628" y="176547"/>
                </a:lnTo>
                <a:lnTo>
                  <a:pt x="436809" y="144194"/>
                </a:lnTo>
                <a:lnTo>
                  <a:pt x="422252" y="86849"/>
                </a:lnTo>
                <a:lnTo>
                  <a:pt x="393381" y="40166"/>
                </a:lnTo>
                <a:lnTo>
                  <a:pt x="351663" y="9237"/>
                </a:lnTo>
                <a:lnTo>
                  <a:pt x="326077" y="0"/>
                </a:lnTo>
                <a:close/>
              </a:path>
              <a:path w="438784" h="353060">
                <a:moveTo>
                  <a:pt x="112551" y="0"/>
                </a:moveTo>
                <a:lnTo>
                  <a:pt x="64530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4" y="266315"/>
                </a:lnTo>
                <a:lnTo>
                  <a:pt x="45124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5" y="338583"/>
                </a:lnTo>
                <a:lnTo>
                  <a:pt x="96906" y="329677"/>
                </a:lnTo>
                <a:lnTo>
                  <a:pt x="79552" y="317282"/>
                </a:lnTo>
                <a:lnTo>
                  <a:pt x="53112" y="282028"/>
                </a:lnTo>
                <a:lnTo>
                  <a:pt x="37416" y="234078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6" y="92349"/>
                </a:lnTo>
                <a:lnTo>
                  <a:pt x="64989" y="51142"/>
                </a:lnTo>
                <a:lnTo>
                  <a:pt x="97220" y="23190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27608" y="1976628"/>
            <a:ext cx="7277100" cy="154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281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75">
                <a:latin typeface="Calibri"/>
                <a:cs typeface="Calibri"/>
              </a:rPr>
              <a:t>Take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5">
                <a:latin typeface="Calibri"/>
                <a:cs typeface="Calibri"/>
              </a:rPr>
              <a:t>current </a:t>
            </a:r>
            <a:r>
              <a:rPr dirty="0" sz="2600" spc="-20">
                <a:latin typeface="Calibri"/>
                <a:cs typeface="Calibri"/>
              </a:rPr>
              <a:t>box </a:t>
            </a:r>
            <a:r>
              <a:rPr dirty="0" sz="2600">
                <a:latin typeface="Calibri"/>
                <a:cs typeface="Calibri"/>
              </a:rPr>
              <a:t>as </a:t>
            </a:r>
            <a:r>
              <a:rPr dirty="0" sz="2600" spc="-5">
                <a:latin typeface="Calibri"/>
                <a:cs typeface="Calibri"/>
              </a:rPr>
              <a:t>input and use the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 spc="-45">
                <a:solidFill>
                  <a:srgbClr val="00B050"/>
                </a:solidFill>
                <a:latin typeface="Calibri"/>
                <a:cs typeface="Calibri"/>
              </a:rPr>
              <a:t>relation</a:t>
            </a:r>
            <a:endParaRPr sz="2600">
              <a:latin typeface="Calibri"/>
              <a:cs typeface="Calibri"/>
            </a:endParaRPr>
          </a:p>
          <a:p>
            <a:pPr marL="625475">
              <a:lnSpc>
                <a:spcPts val="2390"/>
              </a:lnSpc>
            </a:pPr>
            <a:r>
              <a:rPr dirty="0" sz="2600" spc="-5">
                <a:solidFill>
                  <a:srgbClr val="00B050"/>
                </a:solidFill>
                <a:latin typeface="Calibri"/>
                <a:cs typeface="Calibri"/>
              </a:rPr>
              <a:t>embedding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spc="-10" b="1">
                <a:latin typeface="Calibri"/>
                <a:cs typeface="Calibri"/>
              </a:rPr>
              <a:t>project </a:t>
            </a:r>
            <a:r>
              <a:rPr dirty="0" sz="2600" b="1">
                <a:latin typeface="Calibri"/>
                <a:cs typeface="Calibri"/>
              </a:rPr>
              <a:t>and </a:t>
            </a:r>
            <a:r>
              <a:rPr dirty="0" sz="2600" spc="-10" b="1">
                <a:latin typeface="Calibri"/>
                <a:cs typeface="Calibri"/>
              </a:rPr>
              <a:t>expand </a:t>
            </a:r>
            <a:r>
              <a:rPr dirty="0" sz="2600" spc="-5">
                <a:latin typeface="Calibri"/>
                <a:cs typeface="Calibri"/>
              </a:rPr>
              <a:t>the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box!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185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>
                <a:latin typeface="Cambria Math"/>
                <a:cs typeface="Cambria Math"/>
              </a:rPr>
              <a:t>𝒫 </a:t>
            </a:r>
            <a:r>
              <a:rPr dirty="0" sz="3000">
                <a:latin typeface="Calibri"/>
                <a:cs typeface="Calibri"/>
              </a:rPr>
              <a:t>: </a:t>
            </a:r>
            <a:r>
              <a:rPr dirty="0" sz="3000" spc="-20">
                <a:latin typeface="Calibri"/>
                <a:cs typeface="Calibri"/>
              </a:rPr>
              <a:t>Box </a:t>
            </a:r>
            <a:r>
              <a:rPr dirty="0" sz="3000">
                <a:latin typeface="Cambria Math"/>
                <a:cs typeface="Cambria Math"/>
              </a:rPr>
              <a:t>× </a:t>
            </a:r>
            <a:r>
              <a:rPr dirty="0" sz="3000" spc="-15">
                <a:latin typeface="Calibri"/>
                <a:cs typeface="Calibri"/>
              </a:rPr>
              <a:t>Relation </a:t>
            </a:r>
            <a:r>
              <a:rPr dirty="0" sz="3000">
                <a:latin typeface="Cambria Math"/>
                <a:cs typeface="Cambria Math"/>
              </a:rPr>
              <a:t>→</a:t>
            </a:r>
            <a:r>
              <a:rPr dirty="0" sz="3000" spc="55">
                <a:latin typeface="Cambria Math"/>
                <a:cs typeface="Cambria Math"/>
              </a:rPr>
              <a:t> </a:t>
            </a:r>
            <a:r>
              <a:rPr dirty="0" sz="3000" spc="-20">
                <a:latin typeface="Calibri"/>
                <a:cs typeface="Calibri"/>
              </a:rPr>
              <a:t>Box</a:t>
            </a:r>
            <a:endParaRPr sz="3000">
              <a:latin typeface="Calibri"/>
              <a:cs typeface="Calibri"/>
            </a:endParaRPr>
          </a:p>
          <a:p>
            <a:pPr marL="1845945">
              <a:lnSpc>
                <a:spcPct val="100000"/>
              </a:lnSpc>
              <a:tabLst>
                <a:tab pos="2645410" algn="l"/>
                <a:tab pos="3239770" algn="l"/>
                <a:tab pos="4429760" algn="l"/>
                <a:tab pos="4888865" algn="l"/>
                <a:tab pos="6057265" algn="l"/>
              </a:tabLst>
            </a:pPr>
            <a:r>
              <a:rPr dirty="0" sz="3000" spc="-5">
                <a:latin typeface="Cambria Math"/>
                <a:cs typeface="Cambria Math"/>
              </a:rPr>
              <a:t>𝐶𝑒𝑛	</a:t>
            </a:r>
            <a:r>
              <a:rPr dirty="0" sz="3000" spc="-180">
                <a:solidFill>
                  <a:srgbClr val="0070C0"/>
                </a:solidFill>
                <a:latin typeface="Cambria Math"/>
                <a:cs typeface="Cambria Math"/>
              </a:rPr>
              <a:t>𝑞</a:t>
            </a:r>
            <a:r>
              <a:rPr dirty="0" baseline="27777" sz="3300" spc="-270">
                <a:solidFill>
                  <a:srgbClr val="0070C0"/>
                </a:solidFill>
                <a:latin typeface="Cambria Math"/>
                <a:cs typeface="Cambria Math"/>
              </a:rPr>
              <a:t>4	</a:t>
            </a:r>
            <a:r>
              <a:rPr dirty="0" sz="3000">
                <a:latin typeface="Cambria Math"/>
                <a:cs typeface="Cambria Math"/>
              </a:rPr>
              <a:t>=</a:t>
            </a:r>
            <a:r>
              <a:rPr dirty="0" sz="3000" spc="160">
                <a:latin typeface="Cambria Math"/>
                <a:cs typeface="Cambria Math"/>
              </a:rPr>
              <a:t> </a:t>
            </a:r>
            <a:r>
              <a:rPr dirty="0" sz="3000" spc="-5">
                <a:latin typeface="Cambria Math"/>
                <a:cs typeface="Cambria Math"/>
              </a:rPr>
              <a:t>𝐶𝑒𝑛	</a:t>
            </a:r>
            <a:r>
              <a:rPr dirty="0" sz="3000">
                <a:solidFill>
                  <a:srgbClr val="C00000"/>
                </a:solidFill>
                <a:latin typeface="Cambria Math"/>
                <a:cs typeface="Cambria Math"/>
              </a:rPr>
              <a:t>𝑞	</a:t>
            </a:r>
            <a:r>
              <a:rPr dirty="0" sz="3000">
                <a:latin typeface="Cambria Math"/>
                <a:cs typeface="Cambria Math"/>
              </a:rPr>
              <a:t>+ </a:t>
            </a:r>
            <a:r>
              <a:rPr dirty="0" sz="3000" spc="-5">
                <a:latin typeface="Cambria Math"/>
                <a:cs typeface="Cambria Math"/>
              </a:rPr>
              <a:t>𝐶𝑒𝑛	</a:t>
            </a:r>
            <a:r>
              <a:rPr dirty="0" sz="3000">
                <a:solidFill>
                  <a:srgbClr val="00B050"/>
                </a:solidFill>
                <a:latin typeface="Cambria Math"/>
                <a:cs typeface="Cambria Math"/>
              </a:rPr>
              <a:t>𝑟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25022" y="3607812"/>
            <a:ext cx="580390" cy="353060"/>
          </a:xfrm>
          <a:custGeom>
            <a:avLst/>
            <a:gdLst/>
            <a:ahLst/>
            <a:cxnLst/>
            <a:rect l="l" t="t" r="r" b="b"/>
            <a:pathLst>
              <a:path w="580389" h="353060">
                <a:moveTo>
                  <a:pt x="467301" y="0"/>
                </a:moveTo>
                <a:lnTo>
                  <a:pt x="462278" y="14324"/>
                </a:lnTo>
                <a:lnTo>
                  <a:pt x="482707" y="23190"/>
                </a:lnTo>
                <a:lnTo>
                  <a:pt x="500276" y="35463"/>
                </a:lnTo>
                <a:lnTo>
                  <a:pt x="526832" y="70228"/>
                </a:lnTo>
                <a:lnTo>
                  <a:pt x="542460" y="117132"/>
                </a:lnTo>
                <a:lnTo>
                  <a:pt x="547669" y="174687"/>
                </a:lnTo>
                <a:lnTo>
                  <a:pt x="546361" y="205812"/>
                </a:lnTo>
                <a:lnTo>
                  <a:pt x="535896" y="259483"/>
                </a:lnTo>
                <a:lnTo>
                  <a:pt x="514897" y="301399"/>
                </a:lnTo>
                <a:lnTo>
                  <a:pt x="482946" y="329677"/>
                </a:lnTo>
                <a:lnTo>
                  <a:pt x="462837" y="338583"/>
                </a:lnTo>
                <a:lnTo>
                  <a:pt x="467301" y="352908"/>
                </a:lnTo>
                <a:lnTo>
                  <a:pt x="515438" y="330328"/>
                </a:lnTo>
                <a:lnTo>
                  <a:pt x="550832" y="291237"/>
                </a:lnTo>
                <a:lnTo>
                  <a:pt x="572597" y="238892"/>
                </a:lnTo>
                <a:lnTo>
                  <a:pt x="579852" y="176547"/>
                </a:lnTo>
                <a:lnTo>
                  <a:pt x="578033" y="144194"/>
                </a:lnTo>
                <a:lnTo>
                  <a:pt x="563476" y="86849"/>
                </a:lnTo>
                <a:lnTo>
                  <a:pt x="534606" y="40166"/>
                </a:lnTo>
                <a:lnTo>
                  <a:pt x="492887" y="9237"/>
                </a:lnTo>
                <a:lnTo>
                  <a:pt x="467301" y="0"/>
                </a:lnTo>
                <a:close/>
              </a:path>
              <a:path w="580389" h="353060">
                <a:moveTo>
                  <a:pt x="112551" y="0"/>
                </a:moveTo>
                <a:lnTo>
                  <a:pt x="64530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4" y="266315"/>
                </a:lnTo>
                <a:lnTo>
                  <a:pt x="45125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3"/>
                </a:lnTo>
                <a:lnTo>
                  <a:pt x="96907" y="329677"/>
                </a:lnTo>
                <a:lnTo>
                  <a:pt x="79553" y="317282"/>
                </a:lnTo>
                <a:lnTo>
                  <a:pt x="53112" y="282028"/>
                </a:lnTo>
                <a:lnTo>
                  <a:pt x="37416" y="234078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6" y="92349"/>
                </a:lnTo>
                <a:lnTo>
                  <a:pt x="64990" y="51142"/>
                </a:lnTo>
                <a:lnTo>
                  <a:pt x="97221" y="23190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191385" y="3498596"/>
            <a:ext cx="11874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7885" algn="l"/>
              </a:tabLst>
            </a:pPr>
            <a:r>
              <a:rPr dirty="0" sz="3000" spc="-5">
                <a:latin typeface="Cambria Math"/>
                <a:cs typeface="Cambria Math"/>
              </a:rPr>
              <a:t>𝑂</a:t>
            </a:r>
            <a:r>
              <a:rPr dirty="0" sz="3000">
                <a:latin typeface="Cambria Math"/>
                <a:cs typeface="Cambria Math"/>
              </a:rPr>
              <a:t>𝑓𝑓	</a:t>
            </a:r>
            <a:r>
              <a:rPr dirty="0" sz="3000" spc="80">
                <a:solidFill>
                  <a:srgbClr val="0070C0"/>
                </a:solidFill>
                <a:latin typeface="Cambria Math"/>
                <a:cs typeface="Cambria Math"/>
              </a:rPr>
              <a:t>𝑞</a:t>
            </a:r>
            <a:r>
              <a:rPr dirty="0" baseline="27777" sz="3300" spc="-652">
                <a:solidFill>
                  <a:srgbClr val="0070C0"/>
                </a:solidFill>
                <a:latin typeface="Cambria Math"/>
                <a:cs typeface="Cambria Math"/>
              </a:rPr>
              <a:t>4</a:t>
            </a:r>
            <a:endParaRPr baseline="27777" sz="33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55155" y="3607812"/>
            <a:ext cx="466090" cy="353060"/>
          </a:xfrm>
          <a:custGeom>
            <a:avLst/>
            <a:gdLst/>
            <a:ahLst/>
            <a:cxnLst/>
            <a:rect l="l" t="t" r="r" b="b"/>
            <a:pathLst>
              <a:path w="466089" h="353060">
                <a:moveTo>
                  <a:pt x="353065" y="0"/>
                </a:moveTo>
                <a:lnTo>
                  <a:pt x="348042" y="14324"/>
                </a:lnTo>
                <a:lnTo>
                  <a:pt x="368471" y="23190"/>
                </a:lnTo>
                <a:lnTo>
                  <a:pt x="386039" y="35463"/>
                </a:lnTo>
                <a:lnTo>
                  <a:pt x="412596" y="70228"/>
                </a:lnTo>
                <a:lnTo>
                  <a:pt x="428223" y="117132"/>
                </a:lnTo>
                <a:lnTo>
                  <a:pt x="433431" y="174687"/>
                </a:lnTo>
                <a:lnTo>
                  <a:pt x="432123" y="205812"/>
                </a:lnTo>
                <a:lnTo>
                  <a:pt x="421659" y="259483"/>
                </a:lnTo>
                <a:lnTo>
                  <a:pt x="400660" y="301399"/>
                </a:lnTo>
                <a:lnTo>
                  <a:pt x="368709" y="329677"/>
                </a:lnTo>
                <a:lnTo>
                  <a:pt x="348599" y="338583"/>
                </a:lnTo>
                <a:lnTo>
                  <a:pt x="353065" y="352908"/>
                </a:lnTo>
                <a:lnTo>
                  <a:pt x="401201" y="330328"/>
                </a:lnTo>
                <a:lnTo>
                  <a:pt x="436595" y="291237"/>
                </a:lnTo>
                <a:lnTo>
                  <a:pt x="458361" y="238892"/>
                </a:lnTo>
                <a:lnTo>
                  <a:pt x="465616" y="176547"/>
                </a:lnTo>
                <a:lnTo>
                  <a:pt x="463796" y="144194"/>
                </a:lnTo>
                <a:lnTo>
                  <a:pt x="449239" y="86849"/>
                </a:lnTo>
                <a:lnTo>
                  <a:pt x="420369" y="40166"/>
                </a:lnTo>
                <a:lnTo>
                  <a:pt x="378650" y="9237"/>
                </a:lnTo>
                <a:lnTo>
                  <a:pt x="353065" y="0"/>
                </a:lnTo>
                <a:close/>
              </a:path>
              <a:path w="466089" h="353060">
                <a:moveTo>
                  <a:pt x="112551" y="0"/>
                </a:moveTo>
                <a:lnTo>
                  <a:pt x="64530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4" y="266315"/>
                </a:lnTo>
                <a:lnTo>
                  <a:pt x="45124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3"/>
                </a:lnTo>
                <a:lnTo>
                  <a:pt x="96907" y="329677"/>
                </a:lnTo>
                <a:lnTo>
                  <a:pt x="79553" y="317282"/>
                </a:lnTo>
                <a:lnTo>
                  <a:pt x="53112" y="282028"/>
                </a:lnTo>
                <a:lnTo>
                  <a:pt x="37416" y="234078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6" y="92349"/>
                </a:lnTo>
                <a:lnTo>
                  <a:pt x="64990" y="51142"/>
                </a:lnTo>
                <a:lnTo>
                  <a:pt x="97220" y="23190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631501" y="3498596"/>
            <a:ext cx="32829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47775" algn="l"/>
                <a:tab pos="1706880" algn="l"/>
              </a:tabLst>
            </a:pPr>
            <a:r>
              <a:rPr dirty="0" sz="3000">
                <a:latin typeface="Cambria Math"/>
                <a:cs typeface="Cambria Math"/>
              </a:rPr>
              <a:t>=</a:t>
            </a:r>
            <a:r>
              <a:rPr dirty="0" sz="3000" spc="160">
                <a:latin typeface="Cambria Math"/>
                <a:cs typeface="Cambria Math"/>
              </a:rPr>
              <a:t> </a:t>
            </a:r>
            <a:r>
              <a:rPr dirty="0" sz="3000" spc="-5">
                <a:latin typeface="Cambria Math"/>
                <a:cs typeface="Cambria Math"/>
              </a:rPr>
              <a:t>𝑂𝑓𝑓	</a:t>
            </a:r>
            <a:r>
              <a:rPr dirty="0" sz="3000">
                <a:solidFill>
                  <a:srgbClr val="C00000"/>
                </a:solidFill>
                <a:latin typeface="Cambria Math"/>
                <a:cs typeface="Cambria Math"/>
              </a:rPr>
              <a:t>𝑞	</a:t>
            </a:r>
            <a:r>
              <a:rPr dirty="0" sz="3000">
                <a:latin typeface="Cambria Math"/>
                <a:cs typeface="Cambria Math"/>
              </a:rPr>
              <a:t>+</a:t>
            </a:r>
            <a:r>
              <a:rPr dirty="0" sz="3000" spc="-85">
                <a:latin typeface="Cambria Math"/>
                <a:cs typeface="Cambria Math"/>
              </a:rPr>
              <a:t> </a:t>
            </a:r>
            <a:r>
              <a:rPr dirty="0" sz="3000" spc="15">
                <a:latin typeface="Cambria Math"/>
                <a:cs typeface="Cambria Math"/>
              </a:rPr>
              <a:t>𝑂𝑓𝑓(</a:t>
            </a:r>
            <a:r>
              <a:rPr dirty="0" sz="3000" spc="15">
                <a:solidFill>
                  <a:srgbClr val="00B050"/>
                </a:solidFill>
                <a:latin typeface="Cambria Math"/>
                <a:cs typeface="Cambria Math"/>
              </a:rPr>
              <a:t>𝑟</a:t>
            </a:r>
            <a:r>
              <a:rPr dirty="0" sz="3000" spc="15">
                <a:latin typeface="Cambria Math"/>
                <a:cs typeface="Cambria Math"/>
              </a:rPr>
              <a:t>)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80873" y="5736158"/>
            <a:ext cx="438784" cy="525780"/>
          </a:xfrm>
          <a:custGeom>
            <a:avLst/>
            <a:gdLst/>
            <a:ahLst/>
            <a:cxnLst/>
            <a:rect l="l" t="t" r="r" b="b"/>
            <a:pathLst>
              <a:path w="438785" h="525779">
                <a:moveTo>
                  <a:pt x="0" y="0"/>
                </a:moveTo>
                <a:lnTo>
                  <a:pt x="438413" y="0"/>
                </a:lnTo>
                <a:lnTo>
                  <a:pt x="438413" y="525298"/>
                </a:lnTo>
                <a:lnTo>
                  <a:pt x="0" y="525298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174751" y="4271450"/>
            <a:ext cx="1133630" cy="17718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174751" y="4271450"/>
            <a:ext cx="1134110" cy="1772285"/>
          </a:xfrm>
          <a:custGeom>
            <a:avLst/>
            <a:gdLst/>
            <a:ahLst/>
            <a:cxnLst/>
            <a:rect l="l" t="t" r="r" b="b"/>
            <a:pathLst>
              <a:path w="1134110" h="1772285">
                <a:moveTo>
                  <a:pt x="0" y="0"/>
                </a:moveTo>
                <a:lnTo>
                  <a:pt x="1133631" y="0"/>
                </a:lnTo>
                <a:lnTo>
                  <a:pt x="1133631" y="1771837"/>
                </a:lnTo>
                <a:lnTo>
                  <a:pt x="0" y="1771837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92029" y="4278288"/>
            <a:ext cx="781685" cy="1443990"/>
          </a:xfrm>
          <a:custGeom>
            <a:avLst/>
            <a:gdLst/>
            <a:ahLst/>
            <a:cxnLst/>
            <a:rect l="l" t="t" r="r" b="b"/>
            <a:pathLst>
              <a:path w="781685" h="1443989">
                <a:moveTo>
                  <a:pt x="0" y="1443680"/>
                </a:moveTo>
                <a:lnTo>
                  <a:pt x="78122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819286" y="6043286"/>
            <a:ext cx="1489710" cy="218440"/>
          </a:xfrm>
          <a:custGeom>
            <a:avLst/>
            <a:gdLst/>
            <a:ahLst/>
            <a:cxnLst/>
            <a:rect l="l" t="t" r="r" b="b"/>
            <a:pathLst>
              <a:path w="1489710" h="218439">
                <a:moveTo>
                  <a:pt x="0" y="218169"/>
                </a:moveTo>
                <a:lnTo>
                  <a:pt x="148909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94719" y="5970068"/>
            <a:ext cx="45720" cy="46355"/>
          </a:xfrm>
          <a:custGeom>
            <a:avLst/>
            <a:gdLst/>
            <a:ahLst/>
            <a:cxnLst/>
            <a:rect l="l" t="t" r="r" b="b"/>
            <a:pathLst>
              <a:path w="45720" h="46354">
                <a:moveTo>
                  <a:pt x="22859" y="0"/>
                </a:moveTo>
                <a:lnTo>
                  <a:pt x="13961" y="1810"/>
                </a:lnTo>
                <a:lnTo>
                  <a:pt x="6695" y="6747"/>
                </a:lnTo>
                <a:lnTo>
                  <a:pt x="1796" y="14070"/>
                </a:lnTo>
                <a:lnTo>
                  <a:pt x="0" y="23038"/>
                </a:lnTo>
                <a:lnTo>
                  <a:pt x="1796" y="32006"/>
                </a:lnTo>
                <a:lnTo>
                  <a:pt x="6695" y="39329"/>
                </a:lnTo>
                <a:lnTo>
                  <a:pt x="13961" y="44266"/>
                </a:lnTo>
                <a:lnTo>
                  <a:pt x="22859" y="46076"/>
                </a:lnTo>
                <a:lnTo>
                  <a:pt x="31757" y="44266"/>
                </a:lnTo>
                <a:lnTo>
                  <a:pt x="39023" y="39329"/>
                </a:lnTo>
                <a:lnTo>
                  <a:pt x="43922" y="32006"/>
                </a:lnTo>
                <a:lnTo>
                  <a:pt x="45718" y="23038"/>
                </a:lnTo>
                <a:lnTo>
                  <a:pt x="43922" y="14070"/>
                </a:lnTo>
                <a:lnTo>
                  <a:pt x="39023" y="6747"/>
                </a:lnTo>
                <a:lnTo>
                  <a:pt x="31757" y="1810"/>
                </a:lnTo>
                <a:lnTo>
                  <a:pt x="22859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594719" y="5970068"/>
            <a:ext cx="45720" cy="46355"/>
          </a:xfrm>
          <a:custGeom>
            <a:avLst/>
            <a:gdLst/>
            <a:ahLst/>
            <a:cxnLst/>
            <a:rect l="l" t="t" r="r" b="b"/>
            <a:pathLst>
              <a:path w="45720" h="46354">
                <a:moveTo>
                  <a:pt x="22859" y="46077"/>
                </a:moveTo>
                <a:lnTo>
                  <a:pt x="13961" y="44266"/>
                </a:lnTo>
                <a:lnTo>
                  <a:pt x="6695" y="39329"/>
                </a:lnTo>
                <a:lnTo>
                  <a:pt x="1796" y="32006"/>
                </a:lnTo>
                <a:lnTo>
                  <a:pt x="0" y="23038"/>
                </a:lnTo>
                <a:lnTo>
                  <a:pt x="1796" y="14070"/>
                </a:lnTo>
                <a:lnTo>
                  <a:pt x="6695" y="6747"/>
                </a:lnTo>
                <a:lnTo>
                  <a:pt x="13961" y="1810"/>
                </a:lnTo>
                <a:lnTo>
                  <a:pt x="22859" y="0"/>
                </a:lnTo>
                <a:lnTo>
                  <a:pt x="31757" y="1810"/>
                </a:lnTo>
                <a:lnTo>
                  <a:pt x="39023" y="6747"/>
                </a:lnTo>
                <a:lnTo>
                  <a:pt x="43922" y="14070"/>
                </a:lnTo>
                <a:lnTo>
                  <a:pt x="45719" y="23038"/>
                </a:lnTo>
                <a:lnTo>
                  <a:pt x="43922" y="32006"/>
                </a:lnTo>
                <a:lnTo>
                  <a:pt x="39023" y="39329"/>
                </a:lnTo>
                <a:lnTo>
                  <a:pt x="31757" y="44266"/>
                </a:lnTo>
                <a:lnTo>
                  <a:pt x="22859" y="46077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34558" y="5091360"/>
            <a:ext cx="1155065" cy="909319"/>
          </a:xfrm>
          <a:custGeom>
            <a:avLst/>
            <a:gdLst/>
            <a:ahLst/>
            <a:cxnLst/>
            <a:rect l="l" t="t" r="r" b="b"/>
            <a:pathLst>
              <a:path w="1155064" h="909320">
                <a:moveTo>
                  <a:pt x="1089085" y="39550"/>
                </a:moveTo>
                <a:lnTo>
                  <a:pt x="0" y="894253"/>
                </a:lnTo>
                <a:lnTo>
                  <a:pt x="11761" y="909239"/>
                </a:lnTo>
                <a:lnTo>
                  <a:pt x="1100846" y="54536"/>
                </a:lnTo>
                <a:lnTo>
                  <a:pt x="1089085" y="39550"/>
                </a:lnTo>
                <a:close/>
              </a:path>
              <a:path w="1155064" h="909320">
                <a:moveTo>
                  <a:pt x="1139912" y="31711"/>
                </a:moveTo>
                <a:lnTo>
                  <a:pt x="1099074" y="31711"/>
                </a:lnTo>
                <a:lnTo>
                  <a:pt x="1110834" y="46697"/>
                </a:lnTo>
                <a:lnTo>
                  <a:pt x="1100846" y="54536"/>
                </a:lnTo>
                <a:lnTo>
                  <a:pt x="1118487" y="77015"/>
                </a:lnTo>
                <a:lnTo>
                  <a:pt x="1139912" y="31711"/>
                </a:lnTo>
                <a:close/>
              </a:path>
              <a:path w="1155064" h="909320">
                <a:moveTo>
                  <a:pt x="1099074" y="31711"/>
                </a:moveTo>
                <a:lnTo>
                  <a:pt x="1089085" y="39550"/>
                </a:lnTo>
                <a:lnTo>
                  <a:pt x="1100846" y="54536"/>
                </a:lnTo>
                <a:lnTo>
                  <a:pt x="1110834" y="46697"/>
                </a:lnTo>
                <a:lnTo>
                  <a:pt x="1099074" y="31711"/>
                </a:lnTo>
                <a:close/>
              </a:path>
              <a:path w="1155064" h="909320">
                <a:moveTo>
                  <a:pt x="1154910" y="0"/>
                </a:moveTo>
                <a:lnTo>
                  <a:pt x="1071444" y="17071"/>
                </a:lnTo>
                <a:lnTo>
                  <a:pt x="1089085" y="39550"/>
                </a:lnTo>
                <a:lnTo>
                  <a:pt x="1099074" y="31711"/>
                </a:lnTo>
                <a:lnTo>
                  <a:pt x="1139912" y="31711"/>
                </a:lnTo>
                <a:lnTo>
                  <a:pt x="1154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035873" y="4392676"/>
            <a:ext cx="2726055" cy="20313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solidFill>
                  <a:srgbClr val="0070C0"/>
                </a:solidFill>
                <a:latin typeface="Cambria Math"/>
                <a:cs typeface="Cambria Math"/>
              </a:rPr>
              <a:t>𝒒′</a:t>
            </a:r>
            <a:endParaRPr sz="2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00">
              <a:latin typeface="Times New Roman"/>
              <a:cs typeface="Times New Roman"/>
            </a:endParaRPr>
          </a:p>
          <a:p>
            <a:pPr marL="818515">
              <a:lnSpc>
                <a:spcPct val="100000"/>
              </a:lnSpc>
              <a:spcBef>
                <a:spcPts val="5"/>
              </a:spcBef>
            </a:pPr>
            <a:r>
              <a:rPr dirty="0" sz="2800">
                <a:solidFill>
                  <a:srgbClr val="00B050"/>
                </a:solidFill>
                <a:latin typeface="Cambria Math"/>
                <a:cs typeface="Cambria Math"/>
              </a:rPr>
              <a:t>𝒓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565"/>
              </a:spcBef>
            </a:pP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4"/>
              </a:rPr>
              <a:t>http://cs224w.stanford.edu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34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9342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47139"/>
            <a:ext cx="8428990" cy="1238885"/>
          </a:xfrm>
          <a:prstGeom prst="rect"/>
        </p:spPr>
        <p:txBody>
          <a:bodyPr wrap="square" lIns="0" tIns="106680" rIns="0" bIns="0" rtlCol="0" vert="horz">
            <a:spAutoFit/>
          </a:bodyPr>
          <a:lstStyle/>
          <a:p>
            <a:pPr algn="just" marL="332740" marR="5080" indent="-320040">
              <a:lnSpc>
                <a:spcPct val="81800"/>
              </a:lnSpc>
              <a:spcBef>
                <a:spcPts val="840"/>
              </a:spcBef>
              <a:buClr>
                <a:srgbClr val="F0AD00"/>
              </a:buClr>
              <a:buSzPct val="79411"/>
              <a:buFont typeface="Arial"/>
              <a:buChar char="▪"/>
              <a:tabLst>
                <a:tab pos="332740" algn="l"/>
              </a:tabLst>
            </a:pPr>
            <a:r>
              <a:rPr dirty="0" sz="3400" spc="-5" b="1" i="0">
                <a:latin typeface="Calibri"/>
                <a:cs typeface="Calibri"/>
              </a:rPr>
              <a:t>Embed </a:t>
            </a:r>
            <a:r>
              <a:rPr dirty="0" sz="3400" b="1" i="0">
                <a:latin typeface="Calibri"/>
                <a:cs typeface="Calibri"/>
              </a:rPr>
              <a:t>queries in </a:t>
            </a:r>
            <a:r>
              <a:rPr dirty="0" sz="3400" spc="-15" b="1" i="0">
                <a:latin typeface="Calibri"/>
                <a:cs typeface="Calibri"/>
              </a:rPr>
              <a:t>vector </a:t>
            </a:r>
            <a:r>
              <a:rPr dirty="0" sz="3400" spc="-5" b="1" i="0">
                <a:latin typeface="Calibri"/>
                <a:cs typeface="Calibri"/>
              </a:rPr>
              <a:t>space: </a:t>
            </a:r>
            <a:r>
              <a:rPr dirty="0" sz="2800" spc="-5" i="0">
                <a:latin typeface="Calibri"/>
                <a:cs typeface="Calibri"/>
              </a:rPr>
              <a:t>“</a:t>
            </a:r>
            <a:r>
              <a:rPr dirty="0" sz="2800" spc="-5"/>
              <a:t>What are drugs  </a:t>
            </a:r>
            <a:r>
              <a:rPr dirty="0" sz="2800" spc="-5" i="1"/>
              <a:t>that </a:t>
            </a:r>
            <a:r>
              <a:rPr dirty="0" sz="2800" spc="-10" i="1"/>
              <a:t>cause </a:t>
            </a:r>
            <a:r>
              <a:rPr dirty="0" sz="2800" spc="-5" i="1"/>
              <a:t>Short </a:t>
            </a:r>
            <a:r>
              <a:rPr dirty="0" sz="2800" i="1"/>
              <a:t>of Breath </a:t>
            </a:r>
            <a:r>
              <a:rPr dirty="0" sz="2800" spc="-5" i="1"/>
              <a:t>and treat diseases </a:t>
            </a:r>
            <a:r>
              <a:rPr dirty="0" sz="2800" spc="-10" i="1"/>
              <a:t>associated  </a:t>
            </a:r>
            <a:r>
              <a:rPr dirty="0" sz="2800" spc="-5" i="1"/>
              <a:t>with </a:t>
            </a:r>
            <a:r>
              <a:rPr dirty="0" sz="2800" spc="-10" i="1"/>
              <a:t>protein</a:t>
            </a:r>
            <a:r>
              <a:rPr dirty="0" sz="2800" spc="-45" i="1"/>
              <a:t> </a:t>
            </a:r>
            <a:r>
              <a:rPr dirty="0" sz="2800" i="1"/>
              <a:t>ESR2?”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2743" y="4458715"/>
            <a:ext cx="423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ESR</a:t>
            </a:r>
            <a:r>
              <a:rPr dirty="0" sz="120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261" y="4619244"/>
            <a:ext cx="495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sso</a:t>
            </a:r>
            <a:r>
              <a:rPr dirty="0" sz="14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7776" y="448360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1"/>
                </a:lnTo>
                <a:lnTo>
                  <a:pt x="83516" y="162610"/>
                </a:lnTo>
                <a:lnTo>
                  <a:pt x="116024" y="156221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3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7776" y="448360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24769" y="4485128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4" h="161925">
                <a:moveTo>
                  <a:pt x="783077" y="107949"/>
                </a:moveTo>
                <a:lnTo>
                  <a:pt x="782996" y="161925"/>
                </a:lnTo>
                <a:lnTo>
                  <a:pt x="891272" y="107990"/>
                </a:lnTo>
                <a:lnTo>
                  <a:pt x="810064" y="107990"/>
                </a:lnTo>
                <a:lnTo>
                  <a:pt x="783077" y="107949"/>
                </a:lnTo>
                <a:close/>
              </a:path>
              <a:path w="945514" h="161925">
                <a:moveTo>
                  <a:pt x="783158" y="53974"/>
                </a:moveTo>
                <a:lnTo>
                  <a:pt x="783077" y="107949"/>
                </a:lnTo>
                <a:lnTo>
                  <a:pt x="810064" y="107990"/>
                </a:lnTo>
                <a:lnTo>
                  <a:pt x="810146" y="54015"/>
                </a:lnTo>
                <a:lnTo>
                  <a:pt x="783158" y="53974"/>
                </a:lnTo>
                <a:close/>
              </a:path>
              <a:path w="945514" h="161925">
                <a:moveTo>
                  <a:pt x="783239" y="0"/>
                </a:moveTo>
                <a:lnTo>
                  <a:pt x="783158" y="53974"/>
                </a:lnTo>
                <a:lnTo>
                  <a:pt x="810146" y="54015"/>
                </a:lnTo>
                <a:lnTo>
                  <a:pt x="810064" y="107990"/>
                </a:lnTo>
                <a:lnTo>
                  <a:pt x="891272" y="107990"/>
                </a:lnTo>
                <a:lnTo>
                  <a:pt x="945043" y="81206"/>
                </a:lnTo>
                <a:lnTo>
                  <a:pt x="783239" y="0"/>
                </a:lnTo>
                <a:close/>
              </a:path>
              <a:path w="945514" h="161925">
                <a:moveTo>
                  <a:pt x="81" y="52793"/>
                </a:moveTo>
                <a:lnTo>
                  <a:pt x="0" y="106767"/>
                </a:lnTo>
                <a:lnTo>
                  <a:pt x="783077" y="107949"/>
                </a:lnTo>
                <a:lnTo>
                  <a:pt x="783158" y="53974"/>
                </a:lnTo>
                <a:lnTo>
                  <a:pt x="81" y="5279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116321" y="4035044"/>
            <a:ext cx="514350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dirty="0" sz="1200" spc="-5">
                <a:latin typeface="Arial"/>
                <a:cs typeface="Arial"/>
              </a:rPr>
              <a:t>Breast  Can</a:t>
            </a:r>
            <a:r>
              <a:rPr dirty="0" sz="1200">
                <a:latin typeface="Arial"/>
                <a:cs typeface="Arial"/>
              </a:rPr>
              <a:t>c</a:t>
            </a:r>
            <a:r>
              <a:rPr dirty="0" sz="1200" spc="-5">
                <a:latin typeface="Arial"/>
                <a:cs typeface="Arial"/>
              </a:rPr>
              <a:t>e</a:t>
            </a:r>
            <a:r>
              <a:rPr dirty="0" sz="1200"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50293" y="442559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2"/>
                </a:lnTo>
                <a:lnTo>
                  <a:pt x="51877" y="37510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450293" y="442559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18108" y="2480055"/>
            <a:ext cx="8099425" cy="1299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2695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500" spc="-45">
                <a:latin typeface="Calibri"/>
                <a:cs typeface="Calibri"/>
              </a:rPr>
              <a:t>Traverse </a:t>
            </a:r>
            <a:r>
              <a:rPr dirty="0" sz="2500" spc="-50">
                <a:latin typeface="Calibri"/>
                <a:cs typeface="Calibri"/>
              </a:rPr>
              <a:t>KG </a:t>
            </a:r>
            <a:r>
              <a:rPr dirty="0" sz="2500" spc="-15">
                <a:latin typeface="Calibri"/>
                <a:cs typeface="Calibri"/>
              </a:rPr>
              <a:t>from </a:t>
            </a:r>
            <a:r>
              <a:rPr dirty="0" sz="2500" spc="-5" b="1">
                <a:latin typeface="Calibri"/>
                <a:cs typeface="Calibri"/>
              </a:rPr>
              <a:t>anchor nodes</a:t>
            </a:r>
            <a:r>
              <a:rPr dirty="0" sz="2500" spc="-5">
                <a:latin typeface="Calibri"/>
                <a:cs typeface="Calibri"/>
              </a:rPr>
              <a:t>: </a:t>
            </a:r>
            <a:r>
              <a:rPr dirty="0" sz="2500" spc="-5" b="1">
                <a:solidFill>
                  <a:srgbClr val="0070C0"/>
                </a:solidFill>
                <a:latin typeface="Calibri"/>
                <a:cs typeface="Calibri"/>
              </a:rPr>
              <a:t>ESR2 </a:t>
            </a:r>
            <a:r>
              <a:rPr dirty="0" sz="2500" spc="-5">
                <a:latin typeface="Calibri"/>
                <a:cs typeface="Calibri"/>
              </a:rPr>
              <a:t>and </a:t>
            </a:r>
            <a:r>
              <a:rPr dirty="0" sz="2500" spc="-5" b="1">
                <a:solidFill>
                  <a:srgbClr val="0070C0"/>
                </a:solidFill>
                <a:latin typeface="Calibri"/>
                <a:cs typeface="Calibri"/>
              </a:rPr>
              <a:t>Short </a:t>
            </a:r>
            <a:r>
              <a:rPr dirty="0" sz="2500" b="1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dirty="0" sz="2500" spc="12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500" spc="-10" b="1">
                <a:solidFill>
                  <a:srgbClr val="0070C0"/>
                </a:solidFill>
                <a:latin typeface="Calibri"/>
                <a:cs typeface="Calibri"/>
              </a:rPr>
              <a:t>Breath:</a:t>
            </a:r>
            <a:endParaRPr sz="2500">
              <a:latin typeface="Calibri"/>
              <a:cs typeface="Calibri"/>
            </a:endParaRPr>
          </a:p>
          <a:p>
            <a:pPr marL="332740" indent="-320040">
              <a:lnSpc>
                <a:spcPts val="2935"/>
              </a:lnSpc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5">
                <a:latin typeface="Calibri"/>
                <a:cs typeface="Calibri"/>
              </a:rPr>
              <a:t>Use </a:t>
            </a:r>
            <a:r>
              <a:rPr dirty="0" sz="2700" spc="-10" b="1">
                <a:solidFill>
                  <a:srgbClr val="479249"/>
                </a:solidFill>
                <a:latin typeface="Calibri"/>
                <a:cs typeface="Calibri"/>
              </a:rPr>
              <a:t>projection </a:t>
            </a:r>
            <a:r>
              <a:rPr dirty="0" sz="2700" spc="-20" b="1">
                <a:solidFill>
                  <a:srgbClr val="479249"/>
                </a:solidFill>
                <a:latin typeface="Calibri"/>
                <a:cs typeface="Calibri"/>
              </a:rPr>
              <a:t>operator </a:t>
            </a:r>
            <a:r>
              <a:rPr dirty="0" sz="2700" spc="-15">
                <a:latin typeface="Calibri"/>
                <a:cs typeface="Calibri"/>
              </a:rPr>
              <a:t>again </a:t>
            </a:r>
            <a:r>
              <a:rPr dirty="0" sz="2700" spc="-10">
                <a:latin typeface="Calibri"/>
                <a:cs typeface="Calibri"/>
              </a:rPr>
              <a:t>following the query</a:t>
            </a:r>
            <a:r>
              <a:rPr dirty="0" sz="2700" spc="12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plan.</a:t>
            </a:r>
            <a:endParaRPr sz="2700">
              <a:latin typeface="Calibri"/>
              <a:cs typeface="Calibri"/>
            </a:endParaRPr>
          </a:p>
          <a:p>
            <a:pPr marL="322580">
              <a:lnSpc>
                <a:spcPct val="100000"/>
              </a:lnSpc>
              <a:spcBef>
                <a:spcPts val="1995"/>
              </a:spcBef>
              <a:tabLst>
                <a:tab pos="5025390" algn="l"/>
              </a:tabLst>
            </a:pPr>
            <a:r>
              <a:rPr dirty="0" sz="2000" spc="-5" b="1">
                <a:latin typeface="Arial"/>
                <a:cs typeface="Arial"/>
              </a:rPr>
              <a:t>Query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Plan	Embedding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Space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37592" y="450032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37592" y="450032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007161" y="4610100"/>
            <a:ext cx="495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sso</a:t>
            </a:r>
            <a:r>
              <a:rPr dirty="0" sz="14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915816" y="4243535"/>
            <a:ext cx="737235" cy="747395"/>
          </a:xfrm>
          <a:custGeom>
            <a:avLst/>
            <a:gdLst/>
            <a:ahLst/>
            <a:cxnLst/>
            <a:rect l="l" t="t" r="r" b="b"/>
            <a:pathLst>
              <a:path w="737234" h="747395">
                <a:moveTo>
                  <a:pt x="0" y="0"/>
                </a:moveTo>
                <a:lnTo>
                  <a:pt x="736714" y="0"/>
                </a:lnTo>
                <a:lnTo>
                  <a:pt x="736714" y="747093"/>
                </a:lnTo>
                <a:lnTo>
                  <a:pt x="0" y="747093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86505" y="5011011"/>
            <a:ext cx="1502410" cy="605790"/>
          </a:xfrm>
          <a:custGeom>
            <a:avLst/>
            <a:gdLst/>
            <a:ahLst/>
            <a:cxnLst/>
            <a:rect l="l" t="t" r="r" b="b"/>
            <a:pathLst>
              <a:path w="1502409" h="605789">
                <a:moveTo>
                  <a:pt x="70965" y="553949"/>
                </a:moveTo>
                <a:lnTo>
                  <a:pt x="0" y="581708"/>
                </a:lnTo>
                <a:lnTo>
                  <a:pt x="9253" y="605363"/>
                </a:lnTo>
                <a:lnTo>
                  <a:pt x="80217" y="577604"/>
                </a:lnTo>
                <a:lnTo>
                  <a:pt x="70965" y="553949"/>
                </a:lnTo>
                <a:close/>
              </a:path>
              <a:path w="1502409" h="605789">
                <a:moveTo>
                  <a:pt x="165582" y="516936"/>
                </a:moveTo>
                <a:lnTo>
                  <a:pt x="94618" y="544696"/>
                </a:lnTo>
                <a:lnTo>
                  <a:pt x="103872" y="568351"/>
                </a:lnTo>
                <a:lnTo>
                  <a:pt x="174835" y="540592"/>
                </a:lnTo>
                <a:lnTo>
                  <a:pt x="165582" y="516936"/>
                </a:lnTo>
                <a:close/>
              </a:path>
              <a:path w="1502409" h="605789">
                <a:moveTo>
                  <a:pt x="260201" y="479925"/>
                </a:moveTo>
                <a:lnTo>
                  <a:pt x="189237" y="507685"/>
                </a:lnTo>
                <a:lnTo>
                  <a:pt x="198490" y="531338"/>
                </a:lnTo>
                <a:lnTo>
                  <a:pt x="269454" y="503580"/>
                </a:lnTo>
                <a:lnTo>
                  <a:pt x="260201" y="479925"/>
                </a:lnTo>
                <a:close/>
              </a:path>
              <a:path w="1502409" h="605789">
                <a:moveTo>
                  <a:pt x="354820" y="442913"/>
                </a:moveTo>
                <a:lnTo>
                  <a:pt x="283856" y="470672"/>
                </a:lnTo>
                <a:lnTo>
                  <a:pt x="293109" y="494327"/>
                </a:lnTo>
                <a:lnTo>
                  <a:pt x="364073" y="466568"/>
                </a:lnTo>
                <a:lnTo>
                  <a:pt x="354820" y="442913"/>
                </a:lnTo>
                <a:close/>
              </a:path>
              <a:path w="1502409" h="605789">
                <a:moveTo>
                  <a:pt x="449439" y="405902"/>
                </a:moveTo>
                <a:lnTo>
                  <a:pt x="378475" y="433660"/>
                </a:lnTo>
                <a:lnTo>
                  <a:pt x="387728" y="457315"/>
                </a:lnTo>
                <a:lnTo>
                  <a:pt x="458692" y="429557"/>
                </a:lnTo>
                <a:lnTo>
                  <a:pt x="449439" y="405902"/>
                </a:lnTo>
                <a:close/>
              </a:path>
              <a:path w="1502409" h="605789">
                <a:moveTo>
                  <a:pt x="544057" y="368890"/>
                </a:moveTo>
                <a:lnTo>
                  <a:pt x="473094" y="396648"/>
                </a:lnTo>
                <a:lnTo>
                  <a:pt x="482346" y="420303"/>
                </a:lnTo>
                <a:lnTo>
                  <a:pt x="553311" y="392544"/>
                </a:lnTo>
                <a:lnTo>
                  <a:pt x="544057" y="368890"/>
                </a:lnTo>
                <a:close/>
              </a:path>
              <a:path w="1502409" h="605789">
                <a:moveTo>
                  <a:pt x="638676" y="331877"/>
                </a:moveTo>
                <a:lnTo>
                  <a:pt x="567711" y="359637"/>
                </a:lnTo>
                <a:lnTo>
                  <a:pt x="576964" y="383292"/>
                </a:lnTo>
                <a:lnTo>
                  <a:pt x="647928" y="355532"/>
                </a:lnTo>
                <a:lnTo>
                  <a:pt x="638676" y="331877"/>
                </a:lnTo>
                <a:close/>
              </a:path>
              <a:path w="1502409" h="605789">
                <a:moveTo>
                  <a:pt x="733294" y="294866"/>
                </a:moveTo>
                <a:lnTo>
                  <a:pt x="662330" y="322625"/>
                </a:lnTo>
                <a:lnTo>
                  <a:pt x="671583" y="346279"/>
                </a:lnTo>
                <a:lnTo>
                  <a:pt x="742547" y="318521"/>
                </a:lnTo>
                <a:lnTo>
                  <a:pt x="733294" y="294866"/>
                </a:lnTo>
                <a:close/>
              </a:path>
              <a:path w="1502409" h="605789">
                <a:moveTo>
                  <a:pt x="827913" y="257854"/>
                </a:moveTo>
                <a:lnTo>
                  <a:pt x="756949" y="285612"/>
                </a:lnTo>
                <a:lnTo>
                  <a:pt x="766202" y="309267"/>
                </a:lnTo>
                <a:lnTo>
                  <a:pt x="837166" y="281509"/>
                </a:lnTo>
                <a:lnTo>
                  <a:pt x="827913" y="257854"/>
                </a:lnTo>
                <a:close/>
              </a:path>
              <a:path w="1502409" h="605789">
                <a:moveTo>
                  <a:pt x="922531" y="220842"/>
                </a:moveTo>
                <a:lnTo>
                  <a:pt x="851568" y="248601"/>
                </a:lnTo>
                <a:lnTo>
                  <a:pt x="860821" y="272256"/>
                </a:lnTo>
                <a:lnTo>
                  <a:pt x="931785" y="244497"/>
                </a:lnTo>
                <a:lnTo>
                  <a:pt x="922531" y="220842"/>
                </a:lnTo>
                <a:close/>
              </a:path>
              <a:path w="1502409" h="605789">
                <a:moveTo>
                  <a:pt x="1017150" y="183831"/>
                </a:moveTo>
                <a:lnTo>
                  <a:pt x="946186" y="211589"/>
                </a:lnTo>
                <a:lnTo>
                  <a:pt x="955440" y="235244"/>
                </a:lnTo>
                <a:lnTo>
                  <a:pt x="1026403" y="207484"/>
                </a:lnTo>
                <a:lnTo>
                  <a:pt x="1017150" y="183831"/>
                </a:lnTo>
                <a:close/>
              </a:path>
              <a:path w="1502409" h="605789">
                <a:moveTo>
                  <a:pt x="1111769" y="146818"/>
                </a:moveTo>
                <a:lnTo>
                  <a:pt x="1040805" y="174578"/>
                </a:lnTo>
                <a:lnTo>
                  <a:pt x="1050057" y="198233"/>
                </a:lnTo>
                <a:lnTo>
                  <a:pt x="1121022" y="170473"/>
                </a:lnTo>
                <a:lnTo>
                  <a:pt x="1111769" y="146818"/>
                </a:lnTo>
                <a:close/>
              </a:path>
              <a:path w="1502409" h="605789">
                <a:moveTo>
                  <a:pt x="1206388" y="109806"/>
                </a:moveTo>
                <a:lnTo>
                  <a:pt x="1135423" y="137566"/>
                </a:lnTo>
                <a:lnTo>
                  <a:pt x="1144676" y="161220"/>
                </a:lnTo>
                <a:lnTo>
                  <a:pt x="1215640" y="133461"/>
                </a:lnTo>
                <a:lnTo>
                  <a:pt x="1206388" y="109806"/>
                </a:lnTo>
                <a:close/>
              </a:path>
              <a:path w="1502409" h="605789">
                <a:moveTo>
                  <a:pt x="1301005" y="72795"/>
                </a:moveTo>
                <a:lnTo>
                  <a:pt x="1230041" y="100554"/>
                </a:lnTo>
                <a:lnTo>
                  <a:pt x="1239295" y="124208"/>
                </a:lnTo>
                <a:lnTo>
                  <a:pt x="1310259" y="96450"/>
                </a:lnTo>
                <a:lnTo>
                  <a:pt x="1301005" y="72795"/>
                </a:lnTo>
                <a:close/>
              </a:path>
              <a:path w="1502409" h="605789">
                <a:moveTo>
                  <a:pt x="1395624" y="35783"/>
                </a:moveTo>
                <a:lnTo>
                  <a:pt x="1324660" y="63541"/>
                </a:lnTo>
                <a:lnTo>
                  <a:pt x="1333914" y="87196"/>
                </a:lnTo>
                <a:lnTo>
                  <a:pt x="1404877" y="59438"/>
                </a:lnTo>
                <a:lnTo>
                  <a:pt x="1395624" y="35783"/>
                </a:lnTo>
                <a:close/>
              </a:path>
              <a:path w="1502409" h="605789">
                <a:moveTo>
                  <a:pt x="1492019" y="19027"/>
                </a:moveTo>
                <a:lnTo>
                  <a:pt x="1438460" y="19027"/>
                </a:lnTo>
                <a:lnTo>
                  <a:pt x="1447713" y="42682"/>
                </a:lnTo>
                <a:lnTo>
                  <a:pt x="1435885" y="47309"/>
                </a:lnTo>
                <a:lnTo>
                  <a:pt x="1445138" y="70963"/>
                </a:lnTo>
                <a:lnTo>
                  <a:pt x="1492019" y="19027"/>
                </a:lnTo>
                <a:close/>
              </a:path>
              <a:path w="1502409" h="605789">
                <a:moveTo>
                  <a:pt x="1426632" y="23654"/>
                </a:moveTo>
                <a:lnTo>
                  <a:pt x="1419279" y="26530"/>
                </a:lnTo>
                <a:lnTo>
                  <a:pt x="1428532" y="50185"/>
                </a:lnTo>
                <a:lnTo>
                  <a:pt x="1435885" y="47309"/>
                </a:lnTo>
                <a:lnTo>
                  <a:pt x="1426632" y="23654"/>
                </a:lnTo>
                <a:close/>
              </a:path>
              <a:path w="1502409" h="605789">
                <a:moveTo>
                  <a:pt x="1438460" y="19027"/>
                </a:moveTo>
                <a:lnTo>
                  <a:pt x="1426632" y="23654"/>
                </a:lnTo>
                <a:lnTo>
                  <a:pt x="1435885" y="47309"/>
                </a:lnTo>
                <a:lnTo>
                  <a:pt x="1447713" y="42682"/>
                </a:lnTo>
                <a:lnTo>
                  <a:pt x="1438460" y="19027"/>
                </a:lnTo>
                <a:close/>
              </a:path>
              <a:path w="1502409" h="605789">
                <a:moveTo>
                  <a:pt x="1417379" y="0"/>
                </a:moveTo>
                <a:lnTo>
                  <a:pt x="1426632" y="23654"/>
                </a:lnTo>
                <a:lnTo>
                  <a:pt x="1438460" y="19027"/>
                </a:lnTo>
                <a:lnTo>
                  <a:pt x="1492019" y="19027"/>
                </a:lnTo>
                <a:lnTo>
                  <a:pt x="1502223" y="7722"/>
                </a:lnTo>
                <a:lnTo>
                  <a:pt x="141737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179870" y="4236616"/>
            <a:ext cx="744220" cy="1412240"/>
          </a:xfrm>
          <a:custGeom>
            <a:avLst/>
            <a:gdLst/>
            <a:ahLst/>
            <a:cxnLst/>
            <a:rect l="l" t="t" r="r" b="b"/>
            <a:pathLst>
              <a:path w="744220" h="1412239">
                <a:moveTo>
                  <a:pt x="35208" y="1332666"/>
                </a:moveTo>
                <a:lnTo>
                  <a:pt x="0" y="1400245"/>
                </a:lnTo>
                <a:lnTo>
                  <a:pt x="22525" y="1411981"/>
                </a:lnTo>
                <a:lnTo>
                  <a:pt x="57734" y="1344404"/>
                </a:lnTo>
                <a:lnTo>
                  <a:pt x="35208" y="1332666"/>
                </a:lnTo>
                <a:close/>
              </a:path>
              <a:path w="744220" h="1412239">
                <a:moveTo>
                  <a:pt x="82152" y="1242562"/>
                </a:moveTo>
                <a:lnTo>
                  <a:pt x="46944" y="1310140"/>
                </a:lnTo>
                <a:lnTo>
                  <a:pt x="69470" y="1321876"/>
                </a:lnTo>
                <a:lnTo>
                  <a:pt x="104678" y="1254298"/>
                </a:lnTo>
                <a:lnTo>
                  <a:pt x="82152" y="1242562"/>
                </a:lnTo>
                <a:close/>
              </a:path>
              <a:path w="744220" h="1412239">
                <a:moveTo>
                  <a:pt x="129098" y="1152458"/>
                </a:moveTo>
                <a:lnTo>
                  <a:pt x="93888" y="1220036"/>
                </a:lnTo>
                <a:lnTo>
                  <a:pt x="116414" y="1231773"/>
                </a:lnTo>
                <a:lnTo>
                  <a:pt x="151624" y="1164195"/>
                </a:lnTo>
                <a:lnTo>
                  <a:pt x="129098" y="1152458"/>
                </a:lnTo>
                <a:close/>
              </a:path>
              <a:path w="744220" h="1412239">
                <a:moveTo>
                  <a:pt x="176042" y="1062355"/>
                </a:moveTo>
                <a:lnTo>
                  <a:pt x="140834" y="1129932"/>
                </a:lnTo>
                <a:lnTo>
                  <a:pt x="163360" y="1141669"/>
                </a:lnTo>
                <a:lnTo>
                  <a:pt x="198568" y="1074091"/>
                </a:lnTo>
                <a:lnTo>
                  <a:pt x="176042" y="1062355"/>
                </a:lnTo>
                <a:close/>
              </a:path>
              <a:path w="744220" h="1412239">
                <a:moveTo>
                  <a:pt x="222986" y="972251"/>
                </a:moveTo>
                <a:lnTo>
                  <a:pt x="187778" y="1039829"/>
                </a:lnTo>
                <a:lnTo>
                  <a:pt x="210304" y="1051565"/>
                </a:lnTo>
                <a:lnTo>
                  <a:pt x="245512" y="983987"/>
                </a:lnTo>
                <a:lnTo>
                  <a:pt x="222986" y="972251"/>
                </a:lnTo>
                <a:close/>
              </a:path>
              <a:path w="744220" h="1412239">
                <a:moveTo>
                  <a:pt x="269930" y="882147"/>
                </a:moveTo>
                <a:lnTo>
                  <a:pt x="234722" y="949725"/>
                </a:lnTo>
                <a:lnTo>
                  <a:pt x="257248" y="961461"/>
                </a:lnTo>
                <a:lnTo>
                  <a:pt x="292456" y="893883"/>
                </a:lnTo>
                <a:lnTo>
                  <a:pt x="269930" y="882147"/>
                </a:lnTo>
                <a:close/>
              </a:path>
              <a:path w="744220" h="1412239">
                <a:moveTo>
                  <a:pt x="316876" y="792043"/>
                </a:moveTo>
                <a:lnTo>
                  <a:pt x="281666" y="859621"/>
                </a:lnTo>
                <a:lnTo>
                  <a:pt x="304194" y="871357"/>
                </a:lnTo>
                <a:lnTo>
                  <a:pt x="339402" y="803779"/>
                </a:lnTo>
                <a:lnTo>
                  <a:pt x="316876" y="792043"/>
                </a:lnTo>
                <a:close/>
              </a:path>
              <a:path w="744220" h="1412239">
                <a:moveTo>
                  <a:pt x="363820" y="701937"/>
                </a:moveTo>
                <a:lnTo>
                  <a:pt x="328612" y="769515"/>
                </a:lnTo>
                <a:lnTo>
                  <a:pt x="351138" y="781251"/>
                </a:lnTo>
                <a:lnTo>
                  <a:pt x="386346" y="713673"/>
                </a:lnTo>
                <a:lnTo>
                  <a:pt x="363820" y="701937"/>
                </a:lnTo>
                <a:close/>
              </a:path>
              <a:path w="744220" h="1412239">
                <a:moveTo>
                  <a:pt x="410764" y="611833"/>
                </a:moveTo>
                <a:lnTo>
                  <a:pt x="375556" y="679411"/>
                </a:lnTo>
                <a:lnTo>
                  <a:pt x="398082" y="691147"/>
                </a:lnTo>
                <a:lnTo>
                  <a:pt x="433290" y="623569"/>
                </a:lnTo>
                <a:lnTo>
                  <a:pt x="410764" y="611833"/>
                </a:lnTo>
                <a:close/>
              </a:path>
              <a:path w="744220" h="1412239">
                <a:moveTo>
                  <a:pt x="457709" y="521729"/>
                </a:moveTo>
                <a:lnTo>
                  <a:pt x="422501" y="589307"/>
                </a:lnTo>
                <a:lnTo>
                  <a:pt x="445027" y="601044"/>
                </a:lnTo>
                <a:lnTo>
                  <a:pt x="480236" y="533466"/>
                </a:lnTo>
                <a:lnTo>
                  <a:pt x="457709" y="521729"/>
                </a:lnTo>
                <a:close/>
              </a:path>
              <a:path w="744220" h="1412239">
                <a:moveTo>
                  <a:pt x="504654" y="431626"/>
                </a:moveTo>
                <a:lnTo>
                  <a:pt x="469446" y="499203"/>
                </a:lnTo>
                <a:lnTo>
                  <a:pt x="491972" y="510940"/>
                </a:lnTo>
                <a:lnTo>
                  <a:pt x="527180" y="443362"/>
                </a:lnTo>
                <a:lnTo>
                  <a:pt x="504654" y="431626"/>
                </a:lnTo>
                <a:close/>
              </a:path>
              <a:path w="744220" h="1412239">
                <a:moveTo>
                  <a:pt x="551599" y="341522"/>
                </a:moveTo>
                <a:lnTo>
                  <a:pt x="516390" y="409100"/>
                </a:lnTo>
                <a:lnTo>
                  <a:pt x="538916" y="420836"/>
                </a:lnTo>
                <a:lnTo>
                  <a:pt x="574125" y="353258"/>
                </a:lnTo>
                <a:lnTo>
                  <a:pt x="551599" y="341522"/>
                </a:lnTo>
                <a:close/>
              </a:path>
              <a:path w="744220" h="1412239">
                <a:moveTo>
                  <a:pt x="598543" y="251416"/>
                </a:moveTo>
                <a:lnTo>
                  <a:pt x="563335" y="318996"/>
                </a:lnTo>
                <a:lnTo>
                  <a:pt x="585861" y="330732"/>
                </a:lnTo>
                <a:lnTo>
                  <a:pt x="621069" y="263154"/>
                </a:lnTo>
                <a:lnTo>
                  <a:pt x="598543" y="251416"/>
                </a:lnTo>
                <a:close/>
              </a:path>
              <a:path w="744220" h="1412239">
                <a:moveTo>
                  <a:pt x="645488" y="161312"/>
                </a:moveTo>
                <a:lnTo>
                  <a:pt x="610279" y="228890"/>
                </a:lnTo>
                <a:lnTo>
                  <a:pt x="632805" y="240628"/>
                </a:lnTo>
                <a:lnTo>
                  <a:pt x="668014" y="173050"/>
                </a:lnTo>
                <a:lnTo>
                  <a:pt x="645488" y="161312"/>
                </a:lnTo>
                <a:close/>
              </a:path>
              <a:path w="744220" h="1412239">
                <a:moveTo>
                  <a:pt x="692433" y="71208"/>
                </a:moveTo>
                <a:lnTo>
                  <a:pt x="657225" y="138786"/>
                </a:lnTo>
                <a:lnTo>
                  <a:pt x="679750" y="150522"/>
                </a:lnTo>
                <a:lnTo>
                  <a:pt x="714959" y="82944"/>
                </a:lnTo>
                <a:lnTo>
                  <a:pt x="692433" y="71208"/>
                </a:lnTo>
                <a:close/>
              </a:path>
              <a:path w="744220" h="1412239">
                <a:moveTo>
                  <a:pt x="743854" y="0"/>
                </a:moveTo>
                <a:lnTo>
                  <a:pt x="674856" y="49973"/>
                </a:lnTo>
                <a:lnTo>
                  <a:pt x="742434" y="85182"/>
                </a:lnTo>
                <a:lnTo>
                  <a:pt x="74385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677514" y="5519420"/>
            <a:ext cx="423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ESR</a:t>
            </a:r>
            <a:r>
              <a:rPr dirty="0" sz="120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45040" y="559663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6999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6999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145040" y="559663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204459" y="485437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2"/>
                </a:lnTo>
                <a:lnTo>
                  <a:pt x="51877" y="37510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204459" y="485437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934039" y="4449571"/>
            <a:ext cx="514350" cy="38862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165"/>
              </a:spcBef>
            </a:pPr>
            <a:r>
              <a:rPr dirty="0" sz="1200" spc="-5">
                <a:latin typeface="Arial"/>
                <a:cs typeface="Arial"/>
              </a:rPr>
              <a:t>Lung  Can</a:t>
            </a:r>
            <a:r>
              <a:rPr dirty="0" sz="1200">
                <a:latin typeface="Arial"/>
                <a:cs typeface="Arial"/>
              </a:rPr>
              <a:t>c</a:t>
            </a:r>
            <a:r>
              <a:rPr dirty="0" sz="1200" spc="-5">
                <a:latin typeface="Arial"/>
                <a:cs typeface="Arial"/>
              </a:rPr>
              <a:t>e</a:t>
            </a:r>
            <a:r>
              <a:rPr dirty="0" sz="1200"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34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9342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865" rIns="0" bIns="0" rtlCol="0" vert="horz">
            <a:spAutoFit/>
          </a:bodyPr>
          <a:lstStyle/>
          <a:p>
            <a:pPr marL="12700" marR="5080">
              <a:lnSpc>
                <a:spcPts val="2880"/>
              </a:lnSpc>
              <a:spcBef>
                <a:spcPts val="495"/>
              </a:spcBef>
            </a:pPr>
            <a:r>
              <a:rPr dirty="0" spc="-5" i="0">
                <a:latin typeface="Calibri"/>
                <a:cs typeface="Calibri"/>
              </a:rPr>
              <a:t>“</a:t>
            </a:r>
            <a:r>
              <a:rPr dirty="0" spc="-5"/>
              <a:t>What </a:t>
            </a:r>
            <a:r>
              <a:rPr dirty="0"/>
              <a:t>is </a:t>
            </a:r>
            <a:r>
              <a:rPr dirty="0" spc="-5"/>
              <a:t>the drug that </a:t>
            </a:r>
            <a:r>
              <a:rPr dirty="0" spc="-10"/>
              <a:t>causes </a:t>
            </a:r>
            <a:r>
              <a:rPr dirty="0" spc="-5"/>
              <a:t>Short </a:t>
            </a:r>
            <a:r>
              <a:rPr dirty="0"/>
              <a:t>of </a:t>
            </a:r>
            <a:r>
              <a:rPr dirty="0" spc="-5"/>
              <a:t>Breath and treats  </a:t>
            </a:r>
            <a:r>
              <a:rPr dirty="0" spc="-5" i="1"/>
              <a:t>disease </a:t>
            </a:r>
            <a:r>
              <a:rPr dirty="0" spc="-10" i="1"/>
              <a:t>associated </a:t>
            </a:r>
            <a:r>
              <a:rPr dirty="0" spc="-5" i="1"/>
              <a:t>with </a:t>
            </a:r>
            <a:r>
              <a:rPr dirty="0" spc="-10" i="1"/>
              <a:t>protein</a:t>
            </a:r>
            <a:r>
              <a:rPr dirty="0" spc="0" i="1"/>
              <a:t> </a:t>
            </a:r>
            <a:r>
              <a:rPr dirty="0" i="1"/>
              <a:t>ESR2?”</a:t>
            </a:r>
          </a:p>
        </p:txBody>
      </p:sp>
      <p:sp>
        <p:nvSpPr>
          <p:cNvPr id="4" name="object 4"/>
          <p:cNvSpPr/>
          <p:nvPr/>
        </p:nvSpPr>
        <p:spPr>
          <a:xfrm>
            <a:off x="2846054" y="450032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46054" y="450032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02743" y="4458715"/>
            <a:ext cx="423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ESR</a:t>
            </a:r>
            <a:r>
              <a:rPr dirty="0" sz="120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261" y="4619244"/>
            <a:ext cx="495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sso</a:t>
            </a:r>
            <a:r>
              <a:rPr dirty="0" sz="14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7776" y="448360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1"/>
                </a:lnTo>
                <a:lnTo>
                  <a:pt x="83516" y="162610"/>
                </a:lnTo>
                <a:lnTo>
                  <a:pt x="116024" y="156221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3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7776" y="448360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24769" y="4485128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4" h="161925">
                <a:moveTo>
                  <a:pt x="783077" y="107949"/>
                </a:moveTo>
                <a:lnTo>
                  <a:pt x="782996" y="161925"/>
                </a:lnTo>
                <a:lnTo>
                  <a:pt x="891272" y="107990"/>
                </a:lnTo>
                <a:lnTo>
                  <a:pt x="810064" y="107990"/>
                </a:lnTo>
                <a:lnTo>
                  <a:pt x="783077" y="107949"/>
                </a:lnTo>
                <a:close/>
              </a:path>
              <a:path w="945514" h="161925">
                <a:moveTo>
                  <a:pt x="783158" y="53974"/>
                </a:moveTo>
                <a:lnTo>
                  <a:pt x="783077" y="107949"/>
                </a:lnTo>
                <a:lnTo>
                  <a:pt x="810064" y="107990"/>
                </a:lnTo>
                <a:lnTo>
                  <a:pt x="810146" y="54015"/>
                </a:lnTo>
                <a:lnTo>
                  <a:pt x="783158" y="53974"/>
                </a:lnTo>
                <a:close/>
              </a:path>
              <a:path w="945514" h="161925">
                <a:moveTo>
                  <a:pt x="783239" y="0"/>
                </a:moveTo>
                <a:lnTo>
                  <a:pt x="783158" y="53974"/>
                </a:lnTo>
                <a:lnTo>
                  <a:pt x="810146" y="54015"/>
                </a:lnTo>
                <a:lnTo>
                  <a:pt x="810064" y="107990"/>
                </a:lnTo>
                <a:lnTo>
                  <a:pt x="891272" y="107990"/>
                </a:lnTo>
                <a:lnTo>
                  <a:pt x="945043" y="81206"/>
                </a:lnTo>
                <a:lnTo>
                  <a:pt x="783239" y="0"/>
                </a:lnTo>
                <a:close/>
              </a:path>
              <a:path w="945514" h="161925">
                <a:moveTo>
                  <a:pt x="81" y="52793"/>
                </a:moveTo>
                <a:lnTo>
                  <a:pt x="0" y="106767"/>
                </a:lnTo>
                <a:lnTo>
                  <a:pt x="783077" y="107949"/>
                </a:lnTo>
                <a:lnTo>
                  <a:pt x="783158" y="53974"/>
                </a:lnTo>
                <a:lnTo>
                  <a:pt x="81" y="5279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941436" y="4649723"/>
            <a:ext cx="8128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12086" y="4131564"/>
            <a:ext cx="8191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479249"/>
                </a:solidFill>
                <a:latin typeface="Arial"/>
                <a:cs typeface="Arial"/>
              </a:rPr>
              <a:t>T</a:t>
            </a:r>
            <a:r>
              <a:rPr dirty="0" sz="1400" spc="-20">
                <a:solidFill>
                  <a:srgbClr val="479249"/>
                </a:solidFill>
                <a:latin typeface="Arial"/>
                <a:cs typeface="Arial"/>
              </a:rPr>
              <a:t>r</a:t>
            </a:r>
            <a:r>
              <a:rPr dirty="0" sz="1400" spc="-30">
                <a:solidFill>
                  <a:srgbClr val="479249"/>
                </a:solidFill>
                <a:latin typeface="Arial"/>
                <a:cs typeface="Arial"/>
              </a:rPr>
              <a:t>ea</a:t>
            </a:r>
            <a:r>
              <a:rPr dirty="0" sz="1400" spc="-15">
                <a:solidFill>
                  <a:srgbClr val="479249"/>
                </a:solidFill>
                <a:latin typeface="Arial"/>
                <a:cs typeface="Arial"/>
              </a:rPr>
              <a:t>t</a:t>
            </a:r>
            <a:r>
              <a:rPr dirty="0" sz="1400" spc="-30">
                <a:solidFill>
                  <a:srgbClr val="479249"/>
                </a:solidFill>
                <a:latin typeface="Arial"/>
                <a:cs typeface="Arial"/>
              </a:rPr>
              <a:t>ed</a:t>
            </a:r>
            <a:r>
              <a:rPr dirty="0" sz="1400" spc="-35">
                <a:solidFill>
                  <a:srgbClr val="479249"/>
                </a:solidFill>
                <a:latin typeface="Arial"/>
                <a:cs typeface="Arial"/>
              </a:rPr>
              <a:t>B</a:t>
            </a:r>
            <a:r>
              <a:rPr dirty="0" sz="1400">
                <a:solidFill>
                  <a:srgbClr val="479249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11903" y="5016164"/>
            <a:ext cx="1680210" cy="567690"/>
          </a:xfrm>
          <a:custGeom>
            <a:avLst/>
            <a:gdLst/>
            <a:ahLst/>
            <a:cxnLst/>
            <a:rect l="l" t="t" r="r" b="b"/>
            <a:pathLst>
              <a:path w="1680209" h="567689">
                <a:moveTo>
                  <a:pt x="7825" y="0"/>
                </a:moveTo>
                <a:lnTo>
                  <a:pt x="0" y="24164"/>
                </a:lnTo>
                <a:lnTo>
                  <a:pt x="72494" y="47640"/>
                </a:lnTo>
                <a:lnTo>
                  <a:pt x="80318" y="23475"/>
                </a:lnTo>
                <a:lnTo>
                  <a:pt x="7825" y="0"/>
                </a:lnTo>
                <a:close/>
              </a:path>
              <a:path w="1680209" h="567689">
                <a:moveTo>
                  <a:pt x="104482" y="31300"/>
                </a:moveTo>
                <a:lnTo>
                  <a:pt x="96658" y="55464"/>
                </a:lnTo>
                <a:lnTo>
                  <a:pt x="169152" y="78940"/>
                </a:lnTo>
                <a:lnTo>
                  <a:pt x="176977" y="54776"/>
                </a:lnTo>
                <a:lnTo>
                  <a:pt x="104482" y="31300"/>
                </a:lnTo>
                <a:close/>
              </a:path>
              <a:path w="1680209" h="567689">
                <a:moveTo>
                  <a:pt x="201141" y="62602"/>
                </a:moveTo>
                <a:lnTo>
                  <a:pt x="193316" y="86766"/>
                </a:lnTo>
                <a:lnTo>
                  <a:pt x="265809" y="110241"/>
                </a:lnTo>
                <a:lnTo>
                  <a:pt x="273635" y="86076"/>
                </a:lnTo>
                <a:lnTo>
                  <a:pt x="201141" y="62602"/>
                </a:lnTo>
                <a:close/>
              </a:path>
              <a:path w="1680209" h="567689">
                <a:moveTo>
                  <a:pt x="297799" y="93902"/>
                </a:moveTo>
                <a:lnTo>
                  <a:pt x="289975" y="118066"/>
                </a:lnTo>
                <a:lnTo>
                  <a:pt x="362468" y="141542"/>
                </a:lnTo>
                <a:lnTo>
                  <a:pt x="370293" y="117377"/>
                </a:lnTo>
                <a:lnTo>
                  <a:pt x="297799" y="93902"/>
                </a:lnTo>
                <a:close/>
              </a:path>
              <a:path w="1680209" h="567689">
                <a:moveTo>
                  <a:pt x="394458" y="125202"/>
                </a:moveTo>
                <a:lnTo>
                  <a:pt x="386632" y="149367"/>
                </a:lnTo>
                <a:lnTo>
                  <a:pt x="459126" y="172843"/>
                </a:lnTo>
                <a:lnTo>
                  <a:pt x="466952" y="148678"/>
                </a:lnTo>
                <a:lnTo>
                  <a:pt x="394458" y="125202"/>
                </a:lnTo>
                <a:close/>
              </a:path>
              <a:path w="1680209" h="567689">
                <a:moveTo>
                  <a:pt x="491116" y="156503"/>
                </a:moveTo>
                <a:lnTo>
                  <a:pt x="483290" y="180667"/>
                </a:lnTo>
                <a:lnTo>
                  <a:pt x="555785" y="204143"/>
                </a:lnTo>
                <a:lnTo>
                  <a:pt x="563610" y="179979"/>
                </a:lnTo>
                <a:lnTo>
                  <a:pt x="491116" y="156503"/>
                </a:lnTo>
                <a:close/>
              </a:path>
              <a:path w="1680209" h="567689">
                <a:moveTo>
                  <a:pt x="587775" y="187805"/>
                </a:moveTo>
                <a:lnTo>
                  <a:pt x="579949" y="211969"/>
                </a:lnTo>
                <a:lnTo>
                  <a:pt x="652443" y="235444"/>
                </a:lnTo>
                <a:lnTo>
                  <a:pt x="660267" y="211279"/>
                </a:lnTo>
                <a:lnTo>
                  <a:pt x="587775" y="187805"/>
                </a:lnTo>
                <a:close/>
              </a:path>
              <a:path w="1680209" h="567689">
                <a:moveTo>
                  <a:pt x="684433" y="219105"/>
                </a:moveTo>
                <a:lnTo>
                  <a:pt x="676607" y="243269"/>
                </a:lnTo>
                <a:lnTo>
                  <a:pt x="749101" y="266745"/>
                </a:lnTo>
                <a:lnTo>
                  <a:pt x="756926" y="242580"/>
                </a:lnTo>
                <a:lnTo>
                  <a:pt x="684433" y="219105"/>
                </a:lnTo>
                <a:close/>
              </a:path>
              <a:path w="1680209" h="567689">
                <a:moveTo>
                  <a:pt x="781091" y="250405"/>
                </a:moveTo>
                <a:lnTo>
                  <a:pt x="773266" y="274570"/>
                </a:lnTo>
                <a:lnTo>
                  <a:pt x="845760" y="298046"/>
                </a:lnTo>
                <a:lnTo>
                  <a:pt x="853584" y="273881"/>
                </a:lnTo>
                <a:lnTo>
                  <a:pt x="781091" y="250405"/>
                </a:lnTo>
                <a:close/>
              </a:path>
              <a:path w="1680209" h="567689">
                <a:moveTo>
                  <a:pt x="877749" y="281706"/>
                </a:moveTo>
                <a:lnTo>
                  <a:pt x="869924" y="305870"/>
                </a:lnTo>
                <a:lnTo>
                  <a:pt x="942417" y="329346"/>
                </a:lnTo>
                <a:lnTo>
                  <a:pt x="950243" y="305182"/>
                </a:lnTo>
                <a:lnTo>
                  <a:pt x="877749" y="281706"/>
                </a:lnTo>
                <a:close/>
              </a:path>
              <a:path w="1680209" h="567689">
                <a:moveTo>
                  <a:pt x="974407" y="313008"/>
                </a:moveTo>
                <a:lnTo>
                  <a:pt x="966583" y="337172"/>
                </a:lnTo>
                <a:lnTo>
                  <a:pt x="1039075" y="360646"/>
                </a:lnTo>
                <a:lnTo>
                  <a:pt x="1046901" y="336482"/>
                </a:lnTo>
                <a:lnTo>
                  <a:pt x="974407" y="313008"/>
                </a:lnTo>
                <a:close/>
              </a:path>
              <a:path w="1680209" h="567689">
                <a:moveTo>
                  <a:pt x="1071065" y="344308"/>
                </a:moveTo>
                <a:lnTo>
                  <a:pt x="1063241" y="368472"/>
                </a:lnTo>
                <a:lnTo>
                  <a:pt x="1135734" y="391948"/>
                </a:lnTo>
                <a:lnTo>
                  <a:pt x="1143560" y="367783"/>
                </a:lnTo>
                <a:lnTo>
                  <a:pt x="1071065" y="344308"/>
                </a:lnTo>
                <a:close/>
              </a:path>
              <a:path w="1680209" h="567689">
                <a:moveTo>
                  <a:pt x="1167724" y="375608"/>
                </a:moveTo>
                <a:lnTo>
                  <a:pt x="1159899" y="399773"/>
                </a:lnTo>
                <a:lnTo>
                  <a:pt x="1232392" y="423249"/>
                </a:lnTo>
                <a:lnTo>
                  <a:pt x="1240218" y="399084"/>
                </a:lnTo>
                <a:lnTo>
                  <a:pt x="1167724" y="375608"/>
                </a:lnTo>
                <a:close/>
              </a:path>
              <a:path w="1680209" h="567689">
                <a:moveTo>
                  <a:pt x="1264382" y="406909"/>
                </a:moveTo>
                <a:lnTo>
                  <a:pt x="1256557" y="431073"/>
                </a:lnTo>
                <a:lnTo>
                  <a:pt x="1329051" y="454549"/>
                </a:lnTo>
                <a:lnTo>
                  <a:pt x="1336876" y="430385"/>
                </a:lnTo>
                <a:lnTo>
                  <a:pt x="1264382" y="406909"/>
                </a:lnTo>
                <a:close/>
              </a:path>
              <a:path w="1680209" h="567689">
                <a:moveTo>
                  <a:pt x="1361041" y="438210"/>
                </a:moveTo>
                <a:lnTo>
                  <a:pt x="1353215" y="462375"/>
                </a:lnTo>
                <a:lnTo>
                  <a:pt x="1425709" y="485849"/>
                </a:lnTo>
                <a:lnTo>
                  <a:pt x="1433535" y="461685"/>
                </a:lnTo>
                <a:lnTo>
                  <a:pt x="1361041" y="438210"/>
                </a:lnTo>
                <a:close/>
              </a:path>
              <a:path w="1680209" h="567689">
                <a:moveTo>
                  <a:pt x="1457699" y="469511"/>
                </a:moveTo>
                <a:lnTo>
                  <a:pt x="1449873" y="493675"/>
                </a:lnTo>
                <a:lnTo>
                  <a:pt x="1522368" y="517151"/>
                </a:lnTo>
                <a:lnTo>
                  <a:pt x="1530192" y="492986"/>
                </a:lnTo>
                <a:lnTo>
                  <a:pt x="1457699" y="469511"/>
                </a:lnTo>
                <a:close/>
              </a:path>
              <a:path w="1680209" h="567689">
                <a:moveTo>
                  <a:pt x="1603481" y="543418"/>
                </a:moveTo>
                <a:lnTo>
                  <a:pt x="1595655" y="567582"/>
                </a:lnTo>
                <a:lnTo>
                  <a:pt x="1679887" y="554810"/>
                </a:lnTo>
                <a:lnTo>
                  <a:pt x="1672277" y="547330"/>
                </a:lnTo>
                <a:lnTo>
                  <a:pt x="1615563" y="547330"/>
                </a:lnTo>
                <a:lnTo>
                  <a:pt x="1603481" y="543418"/>
                </a:lnTo>
                <a:close/>
              </a:path>
              <a:path w="1680209" h="567689">
                <a:moveTo>
                  <a:pt x="1611306" y="519253"/>
                </a:moveTo>
                <a:lnTo>
                  <a:pt x="1603481" y="543418"/>
                </a:lnTo>
                <a:lnTo>
                  <a:pt x="1615563" y="547330"/>
                </a:lnTo>
                <a:lnTo>
                  <a:pt x="1623388" y="523166"/>
                </a:lnTo>
                <a:lnTo>
                  <a:pt x="1611306" y="519253"/>
                </a:lnTo>
                <a:close/>
              </a:path>
              <a:path w="1680209" h="567689">
                <a:moveTo>
                  <a:pt x="1619131" y="495089"/>
                </a:moveTo>
                <a:lnTo>
                  <a:pt x="1611306" y="519253"/>
                </a:lnTo>
                <a:lnTo>
                  <a:pt x="1623388" y="523166"/>
                </a:lnTo>
                <a:lnTo>
                  <a:pt x="1615563" y="547330"/>
                </a:lnTo>
                <a:lnTo>
                  <a:pt x="1672277" y="547330"/>
                </a:lnTo>
                <a:lnTo>
                  <a:pt x="1619131" y="495089"/>
                </a:lnTo>
                <a:close/>
              </a:path>
              <a:path w="1680209" h="567689">
                <a:moveTo>
                  <a:pt x="1554358" y="500811"/>
                </a:moveTo>
                <a:lnTo>
                  <a:pt x="1546532" y="524976"/>
                </a:lnTo>
                <a:lnTo>
                  <a:pt x="1603481" y="543418"/>
                </a:lnTo>
                <a:lnTo>
                  <a:pt x="1611306" y="519253"/>
                </a:lnTo>
                <a:lnTo>
                  <a:pt x="1554358" y="500811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56123" y="4267771"/>
            <a:ext cx="2020570" cy="389890"/>
          </a:xfrm>
          <a:custGeom>
            <a:avLst/>
            <a:gdLst/>
            <a:ahLst/>
            <a:cxnLst/>
            <a:rect l="l" t="t" r="r" b="b"/>
            <a:pathLst>
              <a:path w="2020570" h="389889">
                <a:moveTo>
                  <a:pt x="4372" y="0"/>
                </a:moveTo>
                <a:lnTo>
                  <a:pt x="0" y="25020"/>
                </a:lnTo>
                <a:lnTo>
                  <a:pt x="75062" y="38139"/>
                </a:lnTo>
                <a:lnTo>
                  <a:pt x="79434" y="13117"/>
                </a:lnTo>
                <a:lnTo>
                  <a:pt x="4372" y="0"/>
                </a:lnTo>
                <a:close/>
              </a:path>
              <a:path w="2020570" h="389889">
                <a:moveTo>
                  <a:pt x="104456" y="17490"/>
                </a:moveTo>
                <a:lnTo>
                  <a:pt x="100083" y="42511"/>
                </a:lnTo>
                <a:lnTo>
                  <a:pt x="175145" y="55629"/>
                </a:lnTo>
                <a:lnTo>
                  <a:pt x="179518" y="30609"/>
                </a:lnTo>
                <a:lnTo>
                  <a:pt x="104456" y="17490"/>
                </a:lnTo>
                <a:close/>
              </a:path>
              <a:path w="2020570" h="389889">
                <a:moveTo>
                  <a:pt x="204538" y="34982"/>
                </a:moveTo>
                <a:lnTo>
                  <a:pt x="200165" y="60002"/>
                </a:lnTo>
                <a:lnTo>
                  <a:pt x="275228" y="73120"/>
                </a:lnTo>
                <a:lnTo>
                  <a:pt x="279600" y="48099"/>
                </a:lnTo>
                <a:lnTo>
                  <a:pt x="204538" y="34982"/>
                </a:lnTo>
                <a:close/>
              </a:path>
              <a:path w="2020570" h="389889">
                <a:moveTo>
                  <a:pt x="304622" y="52472"/>
                </a:moveTo>
                <a:lnTo>
                  <a:pt x="300249" y="77492"/>
                </a:lnTo>
                <a:lnTo>
                  <a:pt x="375311" y="90611"/>
                </a:lnTo>
                <a:lnTo>
                  <a:pt x="379684" y="65590"/>
                </a:lnTo>
                <a:lnTo>
                  <a:pt x="304622" y="52472"/>
                </a:lnTo>
                <a:close/>
              </a:path>
              <a:path w="2020570" h="389889">
                <a:moveTo>
                  <a:pt x="404704" y="69963"/>
                </a:moveTo>
                <a:lnTo>
                  <a:pt x="400331" y="94984"/>
                </a:lnTo>
                <a:lnTo>
                  <a:pt x="475395" y="108102"/>
                </a:lnTo>
                <a:lnTo>
                  <a:pt x="479767" y="83082"/>
                </a:lnTo>
                <a:lnTo>
                  <a:pt x="404704" y="69963"/>
                </a:lnTo>
                <a:close/>
              </a:path>
              <a:path w="2020570" h="389889">
                <a:moveTo>
                  <a:pt x="504788" y="87454"/>
                </a:moveTo>
                <a:lnTo>
                  <a:pt x="500415" y="112475"/>
                </a:lnTo>
                <a:lnTo>
                  <a:pt x="575477" y="125592"/>
                </a:lnTo>
                <a:lnTo>
                  <a:pt x="579850" y="100572"/>
                </a:lnTo>
                <a:lnTo>
                  <a:pt x="504788" y="87454"/>
                </a:lnTo>
                <a:close/>
              </a:path>
              <a:path w="2020570" h="389889">
                <a:moveTo>
                  <a:pt x="604871" y="104945"/>
                </a:moveTo>
                <a:lnTo>
                  <a:pt x="600499" y="129965"/>
                </a:lnTo>
                <a:lnTo>
                  <a:pt x="675561" y="143084"/>
                </a:lnTo>
                <a:lnTo>
                  <a:pt x="679933" y="118063"/>
                </a:lnTo>
                <a:lnTo>
                  <a:pt x="604871" y="104945"/>
                </a:lnTo>
                <a:close/>
              </a:path>
              <a:path w="2020570" h="389889">
                <a:moveTo>
                  <a:pt x="704954" y="122435"/>
                </a:moveTo>
                <a:lnTo>
                  <a:pt x="700581" y="147457"/>
                </a:lnTo>
                <a:lnTo>
                  <a:pt x="775643" y="160574"/>
                </a:lnTo>
                <a:lnTo>
                  <a:pt x="780016" y="135554"/>
                </a:lnTo>
                <a:lnTo>
                  <a:pt x="704954" y="122435"/>
                </a:lnTo>
                <a:close/>
              </a:path>
              <a:path w="2020570" h="389889">
                <a:moveTo>
                  <a:pt x="805037" y="139927"/>
                </a:moveTo>
                <a:lnTo>
                  <a:pt x="800665" y="164947"/>
                </a:lnTo>
                <a:lnTo>
                  <a:pt x="875727" y="178065"/>
                </a:lnTo>
                <a:lnTo>
                  <a:pt x="880099" y="153045"/>
                </a:lnTo>
                <a:lnTo>
                  <a:pt x="805037" y="139927"/>
                </a:lnTo>
                <a:close/>
              </a:path>
              <a:path w="2020570" h="389889">
                <a:moveTo>
                  <a:pt x="905120" y="157417"/>
                </a:moveTo>
                <a:lnTo>
                  <a:pt x="900747" y="182438"/>
                </a:lnTo>
                <a:lnTo>
                  <a:pt x="975810" y="195557"/>
                </a:lnTo>
                <a:lnTo>
                  <a:pt x="980183" y="170535"/>
                </a:lnTo>
                <a:lnTo>
                  <a:pt x="905120" y="157417"/>
                </a:lnTo>
                <a:close/>
              </a:path>
              <a:path w="2020570" h="389889">
                <a:moveTo>
                  <a:pt x="1005203" y="174908"/>
                </a:moveTo>
                <a:lnTo>
                  <a:pt x="1000831" y="199929"/>
                </a:lnTo>
                <a:lnTo>
                  <a:pt x="1075893" y="213047"/>
                </a:lnTo>
                <a:lnTo>
                  <a:pt x="1080265" y="188027"/>
                </a:lnTo>
                <a:lnTo>
                  <a:pt x="1005203" y="174908"/>
                </a:lnTo>
                <a:close/>
              </a:path>
              <a:path w="2020570" h="389889">
                <a:moveTo>
                  <a:pt x="1105287" y="192399"/>
                </a:moveTo>
                <a:lnTo>
                  <a:pt x="1100913" y="217420"/>
                </a:lnTo>
                <a:lnTo>
                  <a:pt x="1175976" y="230538"/>
                </a:lnTo>
                <a:lnTo>
                  <a:pt x="1180349" y="205517"/>
                </a:lnTo>
                <a:lnTo>
                  <a:pt x="1105287" y="192399"/>
                </a:lnTo>
                <a:close/>
              </a:path>
              <a:path w="2020570" h="389889">
                <a:moveTo>
                  <a:pt x="1205369" y="209890"/>
                </a:moveTo>
                <a:lnTo>
                  <a:pt x="1200997" y="234910"/>
                </a:lnTo>
                <a:lnTo>
                  <a:pt x="1276059" y="248029"/>
                </a:lnTo>
                <a:lnTo>
                  <a:pt x="1280431" y="223008"/>
                </a:lnTo>
                <a:lnTo>
                  <a:pt x="1205369" y="209890"/>
                </a:lnTo>
                <a:close/>
              </a:path>
              <a:path w="2020570" h="389889">
                <a:moveTo>
                  <a:pt x="1305453" y="227380"/>
                </a:moveTo>
                <a:lnTo>
                  <a:pt x="1301080" y="252402"/>
                </a:lnTo>
                <a:lnTo>
                  <a:pt x="1376142" y="265520"/>
                </a:lnTo>
                <a:lnTo>
                  <a:pt x="1380515" y="240499"/>
                </a:lnTo>
                <a:lnTo>
                  <a:pt x="1305453" y="227380"/>
                </a:lnTo>
                <a:close/>
              </a:path>
              <a:path w="2020570" h="389889">
                <a:moveTo>
                  <a:pt x="1405535" y="244872"/>
                </a:moveTo>
                <a:lnTo>
                  <a:pt x="1401163" y="269892"/>
                </a:lnTo>
                <a:lnTo>
                  <a:pt x="1476226" y="283010"/>
                </a:lnTo>
                <a:lnTo>
                  <a:pt x="1480599" y="257990"/>
                </a:lnTo>
                <a:lnTo>
                  <a:pt x="1405535" y="244872"/>
                </a:lnTo>
                <a:close/>
              </a:path>
              <a:path w="2020570" h="389889">
                <a:moveTo>
                  <a:pt x="1505619" y="262362"/>
                </a:moveTo>
                <a:lnTo>
                  <a:pt x="1501246" y="287383"/>
                </a:lnTo>
                <a:lnTo>
                  <a:pt x="1576308" y="300502"/>
                </a:lnTo>
                <a:lnTo>
                  <a:pt x="1580681" y="275480"/>
                </a:lnTo>
                <a:lnTo>
                  <a:pt x="1505619" y="262362"/>
                </a:lnTo>
                <a:close/>
              </a:path>
              <a:path w="2020570" h="389889">
                <a:moveTo>
                  <a:pt x="1605702" y="279853"/>
                </a:moveTo>
                <a:lnTo>
                  <a:pt x="1601330" y="304874"/>
                </a:lnTo>
                <a:lnTo>
                  <a:pt x="1676392" y="317992"/>
                </a:lnTo>
                <a:lnTo>
                  <a:pt x="1680764" y="292972"/>
                </a:lnTo>
                <a:lnTo>
                  <a:pt x="1605702" y="279853"/>
                </a:lnTo>
                <a:close/>
              </a:path>
              <a:path w="2020570" h="389889">
                <a:moveTo>
                  <a:pt x="1705785" y="297345"/>
                </a:moveTo>
                <a:lnTo>
                  <a:pt x="1701412" y="322365"/>
                </a:lnTo>
                <a:lnTo>
                  <a:pt x="1776474" y="335483"/>
                </a:lnTo>
                <a:lnTo>
                  <a:pt x="1780847" y="310462"/>
                </a:lnTo>
                <a:lnTo>
                  <a:pt x="1705785" y="297345"/>
                </a:lnTo>
                <a:close/>
              </a:path>
              <a:path w="2020570" h="389889">
                <a:moveTo>
                  <a:pt x="1805868" y="314835"/>
                </a:moveTo>
                <a:lnTo>
                  <a:pt x="1801496" y="339855"/>
                </a:lnTo>
                <a:lnTo>
                  <a:pt x="1876558" y="352974"/>
                </a:lnTo>
                <a:lnTo>
                  <a:pt x="1880930" y="327953"/>
                </a:lnTo>
                <a:lnTo>
                  <a:pt x="1805868" y="314835"/>
                </a:lnTo>
                <a:close/>
              </a:path>
              <a:path w="2020570" h="389889">
                <a:moveTo>
                  <a:pt x="1943243" y="364628"/>
                </a:moveTo>
                <a:lnTo>
                  <a:pt x="1938870" y="389649"/>
                </a:lnTo>
                <a:lnTo>
                  <a:pt x="2015214" y="366815"/>
                </a:lnTo>
                <a:lnTo>
                  <a:pt x="1955756" y="366815"/>
                </a:lnTo>
                <a:lnTo>
                  <a:pt x="1943243" y="364628"/>
                </a:lnTo>
                <a:close/>
              </a:path>
              <a:path w="2020570" h="389889">
                <a:moveTo>
                  <a:pt x="1947616" y="339608"/>
                </a:moveTo>
                <a:lnTo>
                  <a:pt x="1943243" y="364628"/>
                </a:lnTo>
                <a:lnTo>
                  <a:pt x="1955756" y="366815"/>
                </a:lnTo>
                <a:lnTo>
                  <a:pt x="1960129" y="341795"/>
                </a:lnTo>
                <a:lnTo>
                  <a:pt x="1947616" y="339608"/>
                </a:lnTo>
                <a:close/>
              </a:path>
              <a:path w="2020570" h="389889">
                <a:moveTo>
                  <a:pt x="1951988" y="314586"/>
                </a:moveTo>
                <a:lnTo>
                  <a:pt x="1947616" y="339608"/>
                </a:lnTo>
                <a:lnTo>
                  <a:pt x="1960129" y="341795"/>
                </a:lnTo>
                <a:lnTo>
                  <a:pt x="1955756" y="366815"/>
                </a:lnTo>
                <a:lnTo>
                  <a:pt x="2015214" y="366815"/>
                </a:lnTo>
                <a:lnTo>
                  <a:pt x="2020492" y="365236"/>
                </a:lnTo>
                <a:lnTo>
                  <a:pt x="1951988" y="314586"/>
                </a:lnTo>
                <a:close/>
              </a:path>
              <a:path w="2020570" h="389889">
                <a:moveTo>
                  <a:pt x="1905951" y="332325"/>
                </a:moveTo>
                <a:lnTo>
                  <a:pt x="1901578" y="357347"/>
                </a:lnTo>
                <a:lnTo>
                  <a:pt x="1943243" y="364628"/>
                </a:lnTo>
                <a:lnTo>
                  <a:pt x="1947616" y="339608"/>
                </a:lnTo>
                <a:lnTo>
                  <a:pt x="1905951" y="332325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116321" y="4035044"/>
            <a:ext cx="4648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B</a:t>
            </a:r>
            <a:r>
              <a:rPr dirty="0" sz="1200">
                <a:latin typeface="Arial"/>
                <a:cs typeface="Arial"/>
              </a:rPr>
              <a:t>r</a:t>
            </a:r>
            <a:r>
              <a:rPr dirty="0" sz="1200" spc="-5">
                <a:latin typeface="Arial"/>
                <a:cs typeface="Arial"/>
              </a:rPr>
              <a:t>ea</a:t>
            </a:r>
            <a:r>
              <a:rPr dirty="0" sz="1200">
                <a:latin typeface="Arial"/>
                <a:cs typeface="Arial"/>
              </a:rPr>
              <a:t>st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50293" y="442559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2"/>
                </a:lnTo>
                <a:lnTo>
                  <a:pt x="51877" y="37510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450293" y="442559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830548" y="547715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6998" y="0"/>
                </a:moveTo>
                <a:lnTo>
                  <a:pt x="16489" y="2121"/>
                </a:lnTo>
                <a:lnTo>
                  <a:pt x="7907" y="7907"/>
                </a:lnTo>
                <a:lnTo>
                  <a:pt x="2121" y="16489"/>
                </a:lnTo>
                <a:lnTo>
                  <a:pt x="0" y="26998"/>
                </a:lnTo>
                <a:lnTo>
                  <a:pt x="2121" y="37508"/>
                </a:lnTo>
                <a:lnTo>
                  <a:pt x="7907" y="46091"/>
                </a:lnTo>
                <a:lnTo>
                  <a:pt x="16489" y="51877"/>
                </a:lnTo>
                <a:lnTo>
                  <a:pt x="26998" y="53999"/>
                </a:lnTo>
                <a:lnTo>
                  <a:pt x="37508" y="51877"/>
                </a:lnTo>
                <a:lnTo>
                  <a:pt x="46091" y="46091"/>
                </a:lnTo>
                <a:lnTo>
                  <a:pt x="51877" y="37508"/>
                </a:lnTo>
                <a:lnTo>
                  <a:pt x="53999" y="26998"/>
                </a:lnTo>
                <a:lnTo>
                  <a:pt x="51877" y="16489"/>
                </a:lnTo>
                <a:lnTo>
                  <a:pt x="46091" y="7907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830548" y="547715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395849" y="500427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8" y="46092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2"/>
                </a:lnTo>
                <a:lnTo>
                  <a:pt x="51878" y="37510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395849" y="500427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737592" y="450032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737592" y="450032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904626" y="4500670"/>
            <a:ext cx="941705" cy="161925"/>
          </a:xfrm>
          <a:custGeom>
            <a:avLst/>
            <a:gdLst/>
            <a:ahLst/>
            <a:cxnLst/>
            <a:rect l="l" t="t" r="r" b="b"/>
            <a:pathLst>
              <a:path w="941705" h="161925">
                <a:moveTo>
                  <a:pt x="779503" y="107949"/>
                </a:moveTo>
                <a:lnTo>
                  <a:pt x="779503" y="161924"/>
                </a:lnTo>
                <a:lnTo>
                  <a:pt x="887453" y="107949"/>
                </a:lnTo>
                <a:lnTo>
                  <a:pt x="779503" y="107949"/>
                </a:lnTo>
                <a:close/>
              </a:path>
              <a:path w="941705" h="161925">
                <a:moveTo>
                  <a:pt x="779503" y="53974"/>
                </a:moveTo>
                <a:lnTo>
                  <a:pt x="779503" y="107949"/>
                </a:lnTo>
                <a:lnTo>
                  <a:pt x="806490" y="107949"/>
                </a:lnTo>
                <a:lnTo>
                  <a:pt x="806490" y="53974"/>
                </a:lnTo>
                <a:lnTo>
                  <a:pt x="779503" y="53974"/>
                </a:lnTo>
                <a:close/>
              </a:path>
              <a:path w="941705" h="161925">
                <a:moveTo>
                  <a:pt x="779503" y="0"/>
                </a:moveTo>
                <a:lnTo>
                  <a:pt x="779503" y="53974"/>
                </a:lnTo>
                <a:lnTo>
                  <a:pt x="806490" y="53974"/>
                </a:lnTo>
                <a:lnTo>
                  <a:pt x="806490" y="107949"/>
                </a:lnTo>
                <a:lnTo>
                  <a:pt x="887455" y="107948"/>
                </a:lnTo>
                <a:lnTo>
                  <a:pt x="941428" y="80962"/>
                </a:lnTo>
                <a:lnTo>
                  <a:pt x="779503" y="0"/>
                </a:lnTo>
                <a:close/>
              </a:path>
              <a:path w="941705" h="161925">
                <a:moveTo>
                  <a:pt x="0" y="53973"/>
                </a:moveTo>
                <a:lnTo>
                  <a:pt x="0" y="107948"/>
                </a:lnTo>
                <a:lnTo>
                  <a:pt x="779503" y="107949"/>
                </a:lnTo>
                <a:lnTo>
                  <a:pt x="779503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057871" y="4634484"/>
            <a:ext cx="495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sso</a:t>
            </a:r>
            <a:r>
              <a:rPr dirty="0" sz="14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186505" y="5011011"/>
            <a:ext cx="1502410" cy="605790"/>
          </a:xfrm>
          <a:custGeom>
            <a:avLst/>
            <a:gdLst/>
            <a:ahLst/>
            <a:cxnLst/>
            <a:rect l="l" t="t" r="r" b="b"/>
            <a:pathLst>
              <a:path w="1502409" h="605789">
                <a:moveTo>
                  <a:pt x="70965" y="553949"/>
                </a:moveTo>
                <a:lnTo>
                  <a:pt x="0" y="581708"/>
                </a:lnTo>
                <a:lnTo>
                  <a:pt x="9253" y="605363"/>
                </a:lnTo>
                <a:lnTo>
                  <a:pt x="80217" y="577604"/>
                </a:lnTo>
                <a:lnTo>
                  <a:pt x="70965" y="553949"/>
                </a:lnTo>
                <a:close/>
              </a:path>
              <a:path w="1502409" h="605789">
                <a:moveTo>
                  <a:pt x="165582" y="516936"/>
                </a:moveTo>
                <a:lnTo>
                  <a:pt x="94618" y="544696"/>
                </a:lnTo>
                <a:lnTo>
                  <a:pt x="103872" y="568351"/>
                </a:lnTo>
                <a:lnTo>
                  <a:pt x="174835" y="540592"/>
                </a:lnTo>
                <a:lnTo>
                  <a:pt x="165582" y="516936"/>
                </a:lnTo>
                <a:close/>
              </a:path>
              <a:path w="1502409" h="605789">
                <a:moveTo>
                  <a:pt x="260201" y="479925"/>
                </a:moveTo>
                <a:lnTo>
                  <a:pt x="189237" y="507685"/>
                </a:lnTo>
                <a:lnTo>
                  <a:pt x="198490" y="531338"/>
                </a:lnTo>
                <a:lnTo>
                  <a:pt x="269454" y="503580"/>
                </a:lnTo>
                <a:lnTo>
                  <a:pt x="260201" y="479925"/>
                </a:lnTo>
                <a:close/>
              </a:path>
              <a:path w="1502409" h="605789">
                <a:moveTo>
                  <a:pt x="354820" y="442913"/>
                </a:moveTo>
                <a:lnTo>
                  <a:pt x="283856" y="470672"/>
                </a:lnTo>
                <a:lnTo>
                  <a:pt x="293109" y="494327"/>
                </a:lnTo>
                <a:lnTo>
                  <a:pt x="364073" y="466568"/>
                </a:lnTo>
                <a:lnTo>
                  <a:pt x="354820" y="442913"/>
                </a:lnTo>
                <a:close/>
              </a:path>
              <a:path w="1502409" h="605789">
                <a:moveTo>
                  <a:pt x="449439" y="405902"/>
                </a:moveTo>
                <a:lnTo>
                  <a:pt x="378475" y="433660"/>
                </a:lnTo>
                <a:lnTo>
                  <a:pt x="387728" y="457315"/>
                </a:lnTo>
                <a:lnTo>
                  <a:pt x="458692" y="429557"/>
                </a:lnTo>
                <a:lnTo>
                  <a:pt x="449439" y="405902"/>
                </a:lnTo>
                <a:close/>
              </a:path>
              <a:path w="1502409" h="605789">
                <a:moveTo>
                  <a:pt x="544057" y="368890"/>
                </a:moveTo>
                <a:lnTo>
                  <a:pt x="473094" y="396648"/>
                </a:lnTo>
                <a:lnTo>
                  <a:pt x="482346" y="420303"/>
                </a:lnTo>
                <a:lnTo>
                  <a:pt x="553311" y="392544"/>
                </a:lnTo>
                <a:lnTo>
                  <a:pt x="544057" y="368890"/>
                </a:lnTo>
                <a:close/>
              </a:path>
              <a:path w="1502409" h="605789">
                <a:moveTo>
                  <a:pt x="638676" y="331877"/>
                </a:moveTo>
                <a:lnTo>
                  <a:pt x="567711" y="359637"/>
                </a:lnTo>
                <a:lnTo>
                  <a:pt x="576964" y="383292"/>
                </a:lnTo>
                <a:lnTo>
                  <a:pt x="647928" y="355532"/>
                </a:lnTo>
                <a:lnTo>
                  <a:pt x="638676" y="331877"/>
                </a:lnTo>
                <a:close/>
              </a:path>
              <a:path w="1502409" h="605789">
                <a:moveTo>
                  <a:pt x="733294" y="294866"/>
                </a:moveTo>
                <a:lnTo>
                  <a:pt x="662330" y="322625"/>
                </a:lnTo>
                <a:lnTo>
                  <a:pt x="671583" y="346279"/>
                </a:lnTo>
                <a:lnTo>
                  <a:pt x="742547" y="318521"/>
                </a:lnTo>
                <a:lnTo>
                  <a:pt x="733294" y="294866"/>
                </a:lnTo>
                <a:close/>
              </a:path>
              <a:path w="1502409" h="605789">
                <a:moveTo>
                  <a:pt x="827913" y="257854"/>
                </a:moveTo>
                <a:lnTo>
                  <a:pt x="756949" y="285612"/>
                </a:lnTo>
                <a:lnTo>
                  <a:pt x="766202" y="309267"/>
                </a:lnTo>
                <a:lnTo>
                  <a:pt x="837166" y="281509"/>
                </a:lnTo>
                <a:lnTo>
                  <a:pt x="827913" y="257854"/>
                </a:lnTo>
                <a:close/>
              </a:path>
              <a:path w="1502409" h="605789">
                <a:moveTo>
                  <a:pt x="922531" y="220842"/>
                </a:moveTo>
                <a:lnTo>
                  <a:pt x="851568" y="248601"/>
                </a:lnTo>
                <a:lnTo>
                  <a:pt x="860821" y="272256"/>
                </a:lnTo>
                <a:lnTo>
                  <a:pt x="931785" y="244497"/>
                </a:lnTo>
                <a:lnTo>
                  <a:pt x="922531" y="220842"/>
                </a:lnTo>
                <a:close/>
              </a:path>
              <a:path w="1502409" h="605789">
                <a:moveTo>
                  <a:pt x="1017150" y="183831"/>
                </a:moveTo>
                <a:lnTo>
                  <a:pt x="946186" y="211589"/>
                </a:lnTo>
                <a:lnTo>
                  <a:pt x="955440" y="235244"/>
                </a:lnTo>
                <a:lnTo>
                  <a:pt x="1026403" y="207484"/>
                </a:lnTo>
                <a:lnTo>
                  <a:pt x="1017150" y="183831"/>
                </a:lnTo>
                <a:close/>
              </a:path>
              <a:path w="1502409" h="605789">
                <a:moveTo>
                  <a:pt x="1111769" y="146818"/>
                </a:moveTo>
                <a:lnTo>
                  <a:pt x="1040805" y="174578"/>
                </a:lnTo>
                <a:lnTo>
                  <a:pt x="1050057" y="198233"/>
                </a:lnTo>
                <a:lnTo>
                  <a:pt x="1121022" y="170473"/>
                </a:lnTo>
                <a:lnTo>
                  <a:pt x="1111769" y="146818"/>
                </a:lnTo>
                <a:close/>
              </a:path>
              <a:path w="1502409" h="605789">
                <a:moveTo>
                  <a:pt x="1206388" y="109806"/>
                </a:moveTo>
                <a:lnTo>
                  <a:pt x="1135423" y="137566"/>
                </a:lnTo>
                <a:lnTo>
                  <a:pt x="1144676" y="161220"/>
                </a:lnTo>
                <a:lnTo>
                  <a:pt x="1215640" y="133461"/>
                </a:lnTo>
                <a:lnTo>
                  <a:pt x="1206388" y="109806"/>
                </a:lnTo>
                <a:close/>
              </a:path>
              <a:path w="1502409" h="605789">
                <a:moveTo>
                  <a:pt x="1301005" y="72795"/>
                </a:moveTo>
                <a:lnTo>
                  <a:pt x="1230041" y="100554"/>
                </a:lnTo>
                <a:lnTo>
                  <a:pt x="1239295" y="124208"/>
                </a:lnTo>
                <a:lnTo>
                  <a:pt x="1310259" y="96450"/>
                </a:lnTo>
                <a:lnTo>
                  <a:pt x="1301005" y="72795"/>
                </a:lnTo>
                <a:close/>
              </a:path>
              <a:path w="1502409" h="605789">
                <a:moveTo>
                  <a:pt x="1395624" y="35783"/>
                </a:moveTo>
                <a:lnTo>
                  <a:pt x="1324660" y="63541"/>
                </a:lnTo>
                <a:lnTo>
                  <a:pt x="1333914" y="87196"/>
                </a:lnTo>
                <a:lnTo>
                  <a:pt x="1404877" y="59438"/>
                </a:lnTo>
                <a:lnTo>
                  <a:pt x="1395624" y="35783"/>
                </a:lnTo>
                <a:close/>
              </a:path>
              <a:path w="1502409" h="605789">
                <a:moveTo>
                  <a:pt x="1492019" y="19027"/>
                </a:moveTo>
                <a:lnTo>
                  <a:pt x="1438460" y="19027"/>
                </a:lnTo>
                <a:lnTo>
                  <a:pt x="1447713" y="42682"/>
                </a:lnTo>
                <a:lnTo>
                  <a:pt x="1435885" y="47309"/>
                </a:lnTo>
                <a:lnTo>
                  <a:pt x="1445138" y="70963"/>
                </a:lnTo>
                <a:lnTo>
                  <a:pt x="1492019" y="19027"/>
                </a:lnTo>
                <a:close/>
              </a:path>
              <a:path w="1502409" h="605789">
                <a:moveTo>
                  <a:pt x="1426632" y="23654"/>
                </a:moveTo>
                <a:lnTo>
                  <a:pt x="1419279" y="26530"/>
                </a:lnTo>
                <a:lnTo>
                  <a:pt x="1428532" y="50185"/>
                </a:lnTo>
                <a:lnTo>
                  <a:pt x="1435885" y="47309"/>
                </a:lnTo>
                <a:lnTo>
                  <a:pt x="1426632" y="23654"/>
                </a:lnTo>
                <a:close/>
              </a:path>
              <a:path w="1502409" h="605789">
                <a:moveTo>
                  <a:pt x="1438460" y="19027"/>
                </a:moveTo>
                <a:lnTo>
                  <a:pt x="1426632" y="23654"/>
                </a:lnTo>
                <a:lnTo>
                  <a:pt x="1435885" y="47309"/>
                </a:lnTo>
                <a:lnTo>
                  <a:pt x="1447713" y="42682"/>
                </a:lnTo>
                <a:lnTo>
                  <a:pt x="1438460" y="19027"/>
                </a:lnTo>
                <a:close/>
              </a:path>
              <a:path w="1502409" h="605789">
                <a:moveTo>
                  <a:pt x="1417379" y="0"/>
                </a:moveTo>
                <a:lnTo>
                  <a:pt x="1426632" y="23654"/>
                </a:lnTo>
                <a:lnTo>
                  <a:pt x="1438460" y="19027"/>
                </a:lnTo>
                <a:lnTo>
                  <a:pt x="1492019" y="19027"/>
                </a:lnTo>
                <a:lnTo>
                  <a:pt x="1502223" y="7722"/>
                </a:lnTo>
                <a:lnTo>
                  <a:pt x="141737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179870" y="4236616"/>
            <a:ext cx="744220" cy="1412240"/>
          </a:xfrm>
          <a:custGeom>
            <a:avLst/>
            <a:gdLst/>
            <a:ahLst/>
            <a:cxnLst/>
            <a:rect l="l" t="t" r="r" b="b"/>
            <a:pathLst>
              <a:path w="744220" h="1412239">
                <a:moveTo>
                  <a:pt x="35208" y="1332666"/>
                </a:moveTo>
                <a:lnTo>
                  <a:pt x="0" y="1400245"/>
                </a:lnTo>
                <a:lnTo>
                  <a:pt x="22525" y="1411981"/>
                </a:lnTo>
                <a:lnTo>
                  <a:pt x="57734" y="1344404"/>
                </a:lnTo>
                <a:lnTo>
                  <a:pt x="35208" y="1332666"/>
                </a:lnTo>
                <a:close/>
              </a:path>
              <a:path w="744220" h="1412239">
                <a:moveTo>
                  <a:pt x="82152" y="1242562"/>
                </a:moveTo>
                <a:lnTo>
                  <a:pt x="46944" y="1310140"/>
                </a:lnTo>
                <a:lnTo>
                  <a:pt x="69470" y="1321876"/>
                </a:lnTo>
                <a:lnTo>
                  <a:pt x="104678" y="1254298"/>
                </a:lnTo>
                <a:lnTo>
                  <a:pt x="82152" y="1242562"/>
                </a:lnTo>
                <a:close/>
              </a:path>
              <a:path w="744220" h="1412239">
                <a:moveTo>
                  <a:pt x="129098" y="1152458"/>
                </a:moveTo>
                <a:lnTo>
                  <a:pt x="93888" y="1220036"/>
                </a:lnTo>
                <a:lnTo>
                  <a:pt x="116414" y="1231773"/>
                </a:lnTo>
                <a:lnTo>
                  <a:pt x="151624" y="1164195"/>
                </a:lnTo>
                <a:lnTo>
                  <a:pt x="129098" y="1152458"/>
                </a:lnTo>
                <a:close/>
              </a:path>
              <a:path w="744220" h="1412239">
                <a:moveTo>
                  <a:pt x="176042" y="1062355"/>
                </a:moveTo>
                <a:lnTo>
                  <a:pt x="140834" y="1129932"/>
                </a:lnTo>
                <a:lnTo>
                  <a:pt x="163360" y="1141669"/>
                </a:lnTo>
                <a:lnTo>
                  <a:pt x="198568" y="1074091"/>
                </a:lnTo>
                <a:lnTo>
                  <a:pt x="176042" y="1062355"/>
                </a:lnTo>
                <a:close/>
              </a:path>
              <a:path w="744220" h="1412239">
                <a:moveTo>
                  <a:pt x="222986" y="972251"/>
                </a:moveTo>
                <a:lnTo>
                  <a:pt x="187778" y="1039829"/>
                </a:lnTo>
                <a:lnTo>
                  <a:pt x="210304" y="1051565"/>
                </a:lnTo>
                <a:lnTo>
                  <a:pt x="245512" y="983987"/>
                </a:lnTo>
                <a:lnTo>
                  <a:pt x="222986" y="972251"/>
                </a:lnTo>
                <a:close/>
              </a:path>
              <a:path w="744220" h="1412239">
                <a:moveTo>
                  <a:pt x="269930" y="882147"/>
                </a:moveTo>
                <a:lnTo>
                  <a:pt x="234722" y="949725"/>
                </a:lnTo>
                <a:lnTo>
                  <a:pt x="257248" y="961461"/>
                </a:lnTo>
                <a:lnTo>
                  <a:pt x="292456" y="893883"/>
                </a:lnTo>
                <a:lnTo>
                  <a:pt x="269930" y="882147"/>
                </a:lnTo>
                <a:close/>
              </a:path>
              <a:path w="744220" h="1412239">
                <a:moveTo>
                  <a:pt x="316876" y="792043"/>
                </a:moveTo>
                <a:lnTo>
                  <a:pt x="281666" y="859621"/>
                </a:lnTo>
                <a:lnTo>
                  <a:pt x="304194" y="871357"/>
                </a:lnTo>
                <a:lnTo>
                  <a:pt x="339402" y="803779"/>
                </a:lnTo>
                <a:lnTo>
                  <a:pt x="316876" y="792043"/>
                </a:lnTo>
                <a:close/>
              </a:path>
              <a:path w="744220" h="1412239">
                <a:moveTo>
                  <a:pt x="363820" y="701937"/>
                </a:moveTo>
                <a:lnTo>
                  <a:pt x="328612" y="769515"/>
                </a:lnTo>
                <a:lnTo>
                  <a:pt x="351138" y="781251"/>
                </a:lnTo>
                <a:lnTo>
                  <a:pt x="386346" y="713673"/>
                </a:lnTo>
                <a:lnTo>
                  <a:pt x="363820" y="701937"/>
                </a:lnTo>
                <a:close/>
              </a:path>
              <a:path w="744220" h="1412239">
                <a:moveTo>
                  <a:pt x="410764" y="611833"/>
                </a:moveTo>
                <a:lnTo>
                  <a:pt x="375556" y="679411"/>
                </a:lnTo>
                <a:lnTo>
                  <a:pt x="398082" y="691147"/>
                </a:lnTo>
                <a:lnTo>
                  <a:pt x="433290" y="623569"/>
                </a:lnTo>
                <a:lnTo>
                  <a:pt x="410764" y="611833"/>
                </a:lnTo>
                <a:close/>
              </a:path>
              <a:path w="744220" h="1412239">
                <a:moveTo>
                  <a:pt x="457709" y="521729"/>
                </a:moveTo>
                <a:lnTo>
                  <a:pt x="422501" y="589307"/>
                </a:lnTo>
                <a:lnTo>
                  <a:pt x="445027" y="601044"/>
                </a:lnTo>
                <a:lnTo>
                  <a:pt x="480236" y="533466"/>
                </a:lnTo>
                <a:lnTo>
                  <a:pt x="457709" y="521729"/>
                </a:lnTo>
                <a:close/>
              </a:path>
              <a:path w="744220" h="1412239">
                <a:moveTo>
                  <a:pt x="504654" y="431626"/>
                </a:moveTo>
                <a:lnTo>
                  <a:pt x="469446" y="499203"/>
                </a:lnTo>
                <a:lnTo>
                  <a:pt x="491972" y="510940"/>
                </a:lnTo>
                <a:lnTo>
                  <a:pt x="527180" y="443362"/>
                </a:lnTo>
                <a:lnTo>
                  <a:pt x="504654" y="431626"/>
                </a:lnTo>
                <a:close/>
              </a:path>
              <a:path w="744220" h="1412239">
                <a:moveTo>
                  <a:pt x="551599" y="341522"/>
                </a:moveTo>
                <a:lnTo>
                  <a:pt x="516390" y="409100"/>
                </a:lnTo>
                <a:lnTo>
                  <a:pt x="538916" y="420836"/>
                </a:lnTo>
                <a:lnTo>
                  <a:pt x="574125" y="353258"/>
                </a:lnTo>
                <a:lnTo>
                  <a:pt x="551599" y="341522"/>
                </a:lnTo>
                <a:close/>
              </a:path>
              <a:path w="744220" h="1412239">
                <a:moveTo>
                  <a:pt x="598543" y="251416"/>
                </a:moveTo>
                <a:lnTo>
                  <a:pt x="563335" y="318996"/>
                </a:lnTo>
                <a:lnTo>
                  <a:pt x="585861" y="330732"/>
                </a:lnTo>
                <a:lnTo>
                  <a:pt x="621069" y="263154"/>
                </a:lnTo>
                <a:lnTo>
                  <a:pt x="598543" y="251416"/>
                </a:lnTo>
                <a:close/>
              </a:path>
              <a:path w="744220" h="1412239">
                <a:moveTo>
                  <a:pt x="645488" y="161312"/>
                </a:moveTo>
                <a:lnTo>
                  <a:pt x="610279" y="228890"/>
                </a:lnTo>
                <a:lnTo>
                  <a:pt x="632805" y="240628"/>
                </a:lnTo>
                <a:lnTo>
                  <a:pt x="668014" y="173050"/>
                </a:lnTo>
                <a:lnTo>
                  <a:pt x="645488" y="161312"/>
                </a:lnTo>
                <a:close/>
              </a:path>
              <a:path w="744220" h="1412239">
                <a:moveTo>
                  <a:pt x="692433" y="71208"/>
                </a:moveTo>
                <a:lnTo>
                  <a:pt x="657225" y="138786"/>
                </a:lnTo>
                <a:lnTo>
                  <a:pt x="679750" y="150522"/>
                </a:lnTo>
                <a:lnTo>
                  <a:pt x="714959" y="82944"/>
                </a:lnTo>
                <a:lnTo>
                  <a:pt x="692433" y="71208"/>
                </a:lnTo>
                <a:close/>
              </a:path>
              <a:path w="744220" h="1412239">
                <a:moveTo>
                  <a:pt x="743854" y="0"/>
                </a:moveTo>
                <a:lnTo>
                  <a:pt x="674856" y="49973"/>
                </a:lnTo>
                <a:lnTo>
                  <a:pt x="742434" y="85182"/>
                </a:lnTo>
                <a:lnTo>
                  <a:pt x="74385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677514" y="5519420"/>
            <a:ext cx="423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ESR</a:t>
            </a:r>
            <a:r>
              <a:rPr dirty="0" sz="120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145040" y="559663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6999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6999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145040" y="559663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204459" y="485437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2"/>
                </a:lnTo>
                <a:lnTo>
                  <a:pt x="51877" y="37510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204459" y="485437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915816" y="4243535"/>
            <a:ext cx="737235" cy="747395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98755">
              <a:lnSpc>
                <a:spcPts val="1180"/>
              </a:lnSpc>
            </a:pPr>
            <a:r>
              <a:rPr dirty="0" sz="1200" spc="-5">
                <a:latin typeface="Arial"/>
                <a:cs typeface="Arial"/>
              </a:rPr>
              <a:t>Cancer</a:t>
            </a:r>
            <a:endParaRPr sz="1200">
              <a:latin typeface="Arial"/>
              <a:cs typeface="Arial"/>
            </a:endParaRPr>
          </a:p>
          <a:p>
            <a:pPr marL="16510" marR="194945">
              <a:lnSpc>
                <a:spcPts val="1420"/>
              </a:lnSpc>
              <a:spcBef>
                <a:spcPts val="495"/>
              </a:spcBef>
            </a:pPr>
            <a:r>
              <a:rPr dirty="0" sz="1200" spc="-5">
                <a:latin typeface="Arial"/>
                <a:cs typeface="Arial"/>
              </a:rPr>
              <a:t>Lung  Cancer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621756" y="4672816"/>
            <a:ext cx="1055370" cy="902335"/>
          </a:xfrm>
          <a:prstGeom prst="rect">
            <a:avLst/>
          </a:prstGeom>
          <a:ln w="28575">
            <a:solidFill>
              <a:srgbClr val="479249"/>
            </a:solidFill>
          </a:ln>
        </p:spPr>
        <p:txBody>
          <a:bodyPr wrap="square" lIns="0" tIns="21590" rIns="0" bIns="0" rtlCol="0" vert="horz">
            <a:spAutoFit/>
          </a:bodyPr>
          <a:lstStyle/>
          <a:p>
            <a:pPr marL="341630" marR="15875" indent="69850">
              <a:lnSpc>
                <a:spcPts val="2640"/>
              </a:lnSpc>
              <a:spcBef>
                <a:spcPts val="170"/>
              </a:spcBef>
            </a:pPr>
            <a:r>
              <a:rPr dirty="0" sz="1200" spc="-5">
                <a:latin typeface="Arial"/>
                <a:cs typeface="Arial"/>
              </a:rPr>
              <a:t>Arimidex  Paclitaxel</a:t>
            </a:r>
            <a:endParaRPr sz="1200">
              <a:latin typeface="Arial"/>
              <a:cs typeface="Arial"/>
            </a:endParaRPr>
          </a:p>
          <a:p>
            <a:pPr marL="52069">
              <a:lnSpc>
                <a:spcPts val="790"/>
              </a:lnSpc>
            </a:pPr>
            <a:r>
              <a:rPr dirty="0" sz="1200" spc="-5">
                <a:latin typeface="Arial"/>
                <a:cs typeface="Arial"/>
              </a:rPr>
              <a:t>Fulvestrant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560372" y="536462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560372" y="536462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18108" y="1877060"/>
            <a:ext cx="8370570" cy="190246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87630">
              <a:lnSpc>
                <a:spcPct val="100000"/>
              </a:lnSpc>
              <a:spcBef>
                <a:spcPts val="1540"/>
              </a:spcBef>
            </a:pPr>
            <a:r>
              <a:rPr dirty="0" sz="2400" spc="-5" b="1">
                <a:latin typeface="Calibri"/>
                <a:cs typeface="Calibri"/>
              </a:rPr>
              <a:t>((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e:ESR2</a:t>
            </a:r>
            <a:r>
              <a:rPr dirty="0" sz="2400" spc="-5" b="1">
                <a:latin typeface="Calibri"/>
                <a:cs typeface="Calibri"/>
              </a:rPr>
              <a:t>, (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r:Assoc, </a:t>
            </a:r>
            <a:r>
              <a:rPr dirty="0" sz="2400" spc="-20" b="1">
                <a:solidFill>
                  <a:srgbClr val="479249"/>
                </a:solidFill>
                <a:latin typeface="Calibri"/>
                <a:cs typeface="Calibri"/>
              </a:rPr>
              <a:t>r:TreatedBy</a:t>
            </a:r>
            <a:r>
              <a:rPr dirty="0" sz="2400" spc="-20" b="1">
                <a:latin typeface="Calibri"/>
                <a:cs typeface="Calibri"/>
              </a:rPr>
              <a:t>)),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e:Short of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Breath</a:t>
            </a:r>
            <a:r>
              <a:rPr dirty="0" sz="2400" spc="-10" b="1">
                <a:latin typeface="Calibri"/>
                <a:cs typeface="Calibri"/>
              </a:rPr>
              <a:t>,</a:t>
            </a:r>
            <a:r>
              <a:rPr dirty="0" sz="2400" spc="10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B48200"/>
                </a:solidFill>
                <a:latin typeface="Calibri"/>
                <a:cs typeface="Calibri"/>
              </a:rPr>
              <a:t>r:CausedBy</a:t>
            </a:r>
            <a:r>
              <a:rPr dirty="0" sz="2400" spc="-5" b="1">
                <a:latin typeface="Calibri"/>
                <a:cs typeface="Calibri"/>
              </a:rPr>
              <a:t>))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62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5">
                <a:latin typeface="Calibri"/>
                <a:cs typeface="Calibri"/>
              </a:rPr>
              <a:t>Use </a:t>
            </a:r>
            <a:r>
              <a:rPr dirty="0" sz="2700" spc="-10" b="1">
                <a:solidFill>
                  <a:srgbClr val="479249"/>
                </a:solidFill>
                <a:latin typeface="Calibri"/>
                <a:cs typeface="Calibri"/>
              </a:rPr>
              <a:t>projection </a:t>
            </a:r>
            <a:r>
              <a:rPr dirty="0" sz="2700" spc="-20" b="1">
                <a:solidFill>
                  <a:srgbClr val="479249"/>
                </a:solidFill>
                <a:latin typeface="Calibri"/>
                <a:cs typeface="Calibri"/>
              </a:rPr>
              <a:t>operator </a:t>
            </a:r>
            <a:r>
              <a:rPr dirty="0" sz="2700" spc="-15">
                <a:latin typeface="Calibri"/>
                <a:cs typeface="Calibri"/>
              </a:rPr>
              <a:t>again </a:t>
            </a:r>
            <a:r>
              <a:rPr dirty="0" sz="2700" spc="-10">
                <a:latin typeface="Calibri"/>
                <a:cs typeface="Calibri"/>
              </a:rPr>
              <a:t>following the query</a:t>
            </a:r>
            <a:r>
              <a:rPr dirty="0" sz="2700" spc="12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plan.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750">
              <a:latin typeface="Times New Roman"/>
              <a:cs typeface="Times New Roman"/>
            </a:endParaRPr>
          </a:p>
          <a:p>
            <a:pPr marL="322580">
              <a:lnSpc>
                <a:spcPct val="100000"/>
              </a:lnSpc>
              <a:tabLst>
                <a:tab pos="5025390" algn="l"/>
              </a:tabLst>
            </a:pPr>
            <a:r>
              <a:rPr dirty="0" sz="2000" spc="-5" b="1">
                <a:latin typeface="Arial"/>
                <a:cs typeface="Arial"/>
              </a:rPr>
              <a:t>Query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Plan	Embedding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Space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9342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865" rIns="0" bIns="0" rtlCol="0" vert="horz">
            <a:spAutoFit/>
          </a:bodyPr>
          <a:lstStyle/>
          <a:p>
            <a:pPr marL="12700" marR="5080">
              <a:lnSpc>
                <a:spcPts val="2880"/>
              </a:lnSpc>
              <a:spcBef>
                <a:spcPts val="495"/>
              </a:spcBef>
            </a:pPr>
            <a:r>
              <a:rPr dirty="0" spc="-5" i="0">
                <a:latin typeface="Calibri"/>
                <a:cs typeface="Calibri"/>
              </a:rPr>
              <a:t>“</a:t>
            </a:r>
            <a:r>
              <a:rPr dirty="0" spc="-5"/>
              <a:t>What </a:t>
            </a:r>
            <a:r>
              <a:rPr dirty="0"/>
              <a:t>is </a:t>
            </a:r>
            <a:r>
              <a:rPr dirty="0" spc="-5"/>
              <a:t>the drug that </a:t>
            </a:r>
            <a:r>
              <a:rPr dirty="0" spc="-10"/>
              <a:t>causes </a:t>
            </a:r>
            <a:r>
              <a:rPr dirty="0" spc="-5"/>
              <a:t>Short </a:t>
            </a:r>
            <a:r>
              <a:rPr dirty="0"/>
              <a:t>of </a:t>
            </a:r>
            <a:r>
              <a:rPr dirty="0" spc="-5"/>
              <a:t>Breath and treats  </a:t>
            </a:r>
            <a:r>
              <a:rPr dirty="0" spc="-5" i="1"/>
              <a:t>disease </a:t>
            </a:r>
            <a:r>
              <a:rPr dirty="0" spc="-10" i="1"/>
              <a:t>associated </a:t>
            </a:r>
            <a:r>
              <a:rPr dirty="0" spc="-5" i="1"/>
              <a:t>with </a:t>
            </a:r>
            <a:r>
              <a:rPr dirty="0" spc="-10" i="1"/>
              <a:t>protein</a:t>
            </a:r>
            <a:r>
              <a:rPr dirty="0" spc="0" i="1"/>
              <a:t> </a:t>
            </a:r>
            <a:r>
              <a:rPr dirty="0" i="1"/>
              <a:t>ESR2?”</a:t>
            </a:r>
          </a:p>
        </p:txBody>
      </p:sp>
      <p:sp>
        <p:nvSpPr>
          <p:cNvPr id="4" name="object 4"/>
          <p:cNvSpPr/>
          <p:nvPr/>
        </p:nvSpPr>
        <p:spPr>
          <a:xfrm>
            <a:off x="1746025" y="556361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46025" y="556361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46054" y="450032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46054" y="450032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02743" y="4458715"/>
            <a:ext cx="423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ESR</a:t>
            </a:r>
            <a:r>
              <a:rPr dirty="0" sz="120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5136" y="5446267"/>
            <a:ext cx="558800" cy="3886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55244" marR="5080" indent="-43180">
              <a:lnSpc>
                <a:spcPts val="1420"/>
              </a:lnSpc>
              <a:spcBef>
                <a:spcPts val="160"/>
              </a:spcBef>
            </a:pPr>
            <a:r>
              <a:rPr dirty="0" sz="1200" spc="-5">
                <a:latin typeface="Arial"/>
                <a:cs typeface="Arial"/>
              </a:rPr>
              <a:t>Short</a:t>
            </a:r>
            <a:r>
              <a:rPr dirty="0" sz="1200" spc="-85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of  Breath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261" y="4619244"/>
            <a:ext cx="495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sso</a:t>
            </a:r>
            <a:r>
              <a:rPr dirty="0" sz="14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7776" y="448360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1"/>
                </a:lnTo>
                <a:lnTo>
                  <a:pt x="83516" y="162610"/>
                </a:lnTo>
                <a:lnTo>
                  <a:pt x="116024" y="156221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3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57776" y="448360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24769" y="4485128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4" h="161925">
                <a:moveTo>
                  <a:pt x="783077" y="107949"/>
                </a:moveTo>
                <a:lnTo>
                  <a:pt x="782996" y="161925"/>
                </a:lnTo>
                <a:lnTo>
                  <a:pt x="891272" y="107990"/>
                </a:lnTo>
                <a:lnTo>
                  <a:pt x="810064" y="107990"/>
                </a:lnTo>
                <a:lnTo>
                  <a:pt x="783077" y="107949"/>
                </a:lnTo>
                <a:close/>
              </a:path>
              <a:path w="945514" h="161925">
                <a:moveTo>
                  <a:pt x="783158" y="53974"/>
                </a:moveTo>
                <a:lnTo>
                  <a:pt x="783077" y="107949"/>
                </a:lnTo>
                <a:lnTo>
                  <a:pt x="810064" y="107990"/>
                </a:lnTo>
                <a:lnTo>
                  <a:pt x="810146" y="54015"/>
                </a:lnTo>
                <a:lnTo>
                  <a:pt x="783158" y="53974"/>
                </a:lnTo>
                <a:close/>
              </a:path>
              <a:path w="945514" h="161925">
                <a:moveTo>
                  <a:pt x="783239" y="0"/>
                </a:moveTo>
                <a:lnTo>
                  <a:pt x="783158" y="53974"/>
                </a:lnTo>
                <a:lnTo>
                  <a:pt x="810146" y="54015"/>
                </a:lnTo>
                <a:lnTo>
                  <a:pt x="810064" y="107990"/>
                </a:lnTo>
                <a:lnTo>
                  <a:pt x="891272" y="107990"/>
                </a:lnTo>
                <a:lnTo>
                  <a:pt x="945043" y="81206"/>
                </a:lnTo>
                <a:lnTo>
                  <a:pt x="783239" y="0"/>
                </a:lnTo>
                <a:close/>
              </a:path>
              <a:path w="945514" h="161925">
                <a:moveTo>
                  <a:pt x="81" y="52793"/>
                </a:moveTo>
                <a:lnTo>
                  <a:pt x="0" y="106767"/>
                </a:lnTo>
                <a:lnTo>
                  <a:pt x="783077" y="107949"/>
                </a:lnTo>
                <a:lnTo>
                  <a:pt x="783158" y="53974"/>
                </a:lnTo>
                <a:lnTo>
                  <a:pt x="81" y="5279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913058" y="5563957"/>
            <a:ext cx="955675" cy="161925"/>
          </a:xfrm>
          <a:custGeom>
            <a:avLst/>
            <a:gdLst/>
            <a:ahLst/>
            <a:cxnLst/>
            <a:rect l="l" t="t" r="r" b="b"/>
            <a:pathLst>
              <a:path w="955675" h="161925">
                <a:moveTo>
                  <a:pt x="793351" y="107949"/>
                </a:moveTo>
                <a:lnTo>
                  <a:pt x="793351" y="161924"/>
                </a:lnTo>
                <a:lnTo>
                  <a:pt x="901301" y="107949"/>
                </a:lnTo>
                <a:lnTo>
                  <a:pt x="793351" y="107949"/>
                </a:lnTo>
                <a:close/>
              </a:path>
              <a:path w="955675" h="161925">
                <a:moveTo>
                  <a:pt x="793351" y="53974"/>
                </a:moveTo>
                <a:lnTo>
                  <a:pt x="793351" y="107949"/>
                </a:lnTo>
                <a:lnTo>
                  <a:pt x="820338" y="107949"/>
                </a:lnTo>
                <a:lnTo>
                  <a:pt x="820338" y="53974"/>
                </a:lnTo>
                <a:lnTo>
                  <a:pt x="793351" y="53974"/>
                </a:lnTo>
                <a:close/>
              </a:path>
              <a:path w="955675" h="161925">
                <a:moveTo>
                  <a:pt x="793351" y="0"/>
                </a:moveTo>
                <a:lnTo>
                  <a:pt x="793351" y="53974"/>
                </a:lnTo>
                <a:lnTo>
                  <a:pt x="820338" y="53974"/>
                </a:lnTo>
                <a:lnTo>
                  <a:pt x="820338" y="107949"/>
                </a:lnTo>
                <a:lnTo>
                  <a:pt x="901303" y="107948"/>
                </a:lnTo>
                <a:lnTo>
                  <a:pt x="955276" y="80962"/>
                </a:lnTo>
                <a:lnTo>
                  <a:pt x="793351" y="0"/>
                </a:lnTo>
                <a:close/>
              </a:path>
              <a:path w="955675" h="161925">
                <a:moveTo>
                  <a:pt x="0" y="53973"/>
                </a:moveTo>
                <a:lnTo>
                  <a:pt x="0" y="107948"/>
                </a:lnTo>
                <a:lnTo>
                  <a:pt x="793351" y="107949"/>
                </a:lnTo>
                <a:lnTo>
                  <a:pt x="793351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68334" y="556361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68334" y="556361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004649" y="5384291"/>
            <a:ext cx="8191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">
                <a:solidFill>
                  <a:srgbClr val="BF9000"/>
                </a:solidFill>
                <a:latin typeface="Arial"/>
                <a:cs typeface="Arial"/>
              </a:rPr>
              <a:t>C</a:t>
            </a:r>
            <a:r>
              <a:rPr dirty="0" sz="1400" spc="-30">
                <a:solidFill>
                  <a:srgbClr val="BF9000"/>
                </a:solidFill>
                <a:latin typeface="Arial"/>
                <a:cs typeface="Arial"/>
              </a:rPr>
              <a:t>au</a:t>
            </a: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s</a:t>
            </a:r>
            <a:r>
              <a:rPr dirty="0" sz="1400" spc="-30">
                <a:solidFill>
                  <a:srgbClr val="BF9000"/>
                </a:solidFill>
                <a:latin typeface="Arial"/>
                <a:cs typeface="Arial"/>
              </a:rPr>
              <a:t>ed</a:t>
            </a:r>
            <a:r>
              <a:rPr dirty="0" sz="1400" spc="-35">
                <a:solidFill>
                  <a:srgbClr val="BF9000"/>
                </a:solidFill>
                <a:latin typeface="Arial"/>
                <a:cs typeface="Arial"/>
              </a:rPr>
              <a:t>B</a:t>
            </a:r>
            <a:r>
              <a:rPr dirty="0" sz="1400">
                <a:solidFill>
                  <a:srgbClr val="BF9000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41436" y="4649723"/>
            <a:ext cx="8128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12086" y="4131564"/>
            <a:ext cx="8191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479249"/>
                </a:solidFill>
                <a:latin typeface="Arial"/>
                <a:cs typeface="Arial"/>
              </a:rPr>
              <a:t>T</a:t>
            </a:r>
            <a:r>
              <a:rPr dirty="0" sz="1400" spc="-20">
                <a:solidFill>
                  <a:srgbClr val="479249"/>
                </a:solidFill>
                <a:latin typeface="Arial"/>
                <a:cs typeface="Arial"/>
              </a:rPr>
              <a:t>r</a:t>
            </a:r>
            <a:r>
              <a:rPr dirty="0" sz="1400" spc="-30">
                <a:solidFill>
                  <a:srgbClr val="479249"/>
                </a:solidFill>
                <a:latin typeface="Arial"/>
                <a:cs typeface="Arial"/>
              </a:rPr>
              <a:t>ea</a:t>
            </a:r>
            <a:r>
              <a:rPr dirty="0" sz="1400" spc="-15">
                <a:solidFill>
                  <a:srgbClr val="479249"/>
                </a:solidFill>
                <a:latin typeface="Arial"/>
                <a:cs typeface="Arial"/>
              </a:rPr>
              <a:t>t</a:t>
            </a:r>
            <a:r>
              <a:rPr dirty="0" sz="1400" spc="-30">
                <a:solidFill>
                  <a:srgbClr val="479249"/>
                </a:solidFill>
                <a:latin typeface="Arial"/>
                <a:cs typeface="Arial"/>
              </a:rPr>
              <a:t>ed</a:t>
            </a:r>
            <a:r>
              <a:rPr dirty="0" sz="1400" spc="-35">
                <a:solidFill>
                  <a:srgbClr val="479249"/>
                </a:solidFill>
                <a:latin typeface="Arial"/>
                <a:cs typeface="Arial"/>
              </a:rPr>
              <a:t>B</a:t>
            </a:r>
            <a:r>
              <a:rPr dirty="0" sz="1400">
                <a:solidFill>
                  <a:srgbClr val="479249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911903" y="5016164"/>
            <a:ext cx="1680210" cy="567690"/>
          </a:xfrm>
          <a:custGeom>
            <a:avLst/>
            <a:gdLst/>
            <a:ahLst/>
            <a:cxnLst/>
            <a:rect l="l" t="t" r="r" b="b"/>
            <a:pathLst>
              <a:path w="1680209" h="567689">
                <a:moveTo>
                  <a:pt x="7825" y="0"/>
                </a:moveTo>
                <a:lnTo>
                  <a:pt x="0" y="24164"/>
                </a:lnTo>
                <a:lnTo>
                  <a:pt x="72494" y="47640"/>
                </a:lnTo>
                <a:lnTo>
                  <a:pt x="80318" y="23475"/>
                </a:lnTo>
                <a:lnTo>
                  <a:pt x="7825" y="0"/>
                </a:lnTo>
                <a:close/>
              </a:path>
              <a:path w="1680209" h="567689">
                <a:moveTo>
                  <a:pt x="104482" y="31300"/>
                </a:moveTo>
                <a:lnTo>
                  <a:pt x="96658" y="55464"/>
                </a:lnTo>
                <a:lnTo>
                  <a:pt x="169152" y="78940"/>
                </a:lnTo>
                <a:lnTo>
                  <a:pt x="176977" y="54776"/>
                </a:lnTo>
                <a:lnTo>
                  <a:pt x="104482" y="31300"/>
                </a:lnTo>
                <a:close/>
              </a:path>
              <a:path w="1680209" h="567689">
                <a:moveTo>
                  <a:pt x="201141" y="62602"/>
                </a:moveTo>
                <a:lnTo>
                  <a:pt x="193316" y="86766"/>
                </a:lnTo>
                <a:lnTo>
                  <a:pt x="265809" y="110241"/>
                </a:lnTo>
                <a:lnTo>
                  <a:pt x="273635" y="86076"/>
                </a:lnTo>
                <a:lnTo>
                  <a:pt x="201141" y="62602"/>
                </a:lnTo>
                <a:close/>
              </a:path>
              <a:path w="1680209" h="567689">
                <a:moveTo>
                  <a:pt x="297799" y="93902"/>
                </a:moveTo>
                <a:lnTo>
                  <a:pt x="289975" y="118066"/>
                </a:lnTo>
                <a:lnTo>
                  <a:pt x="362468" y="141542"/>
                </a:lnTo>
                <a:lnTo>
                  <a:pt x="370293" y="117377"/>
                </a:lnTo>
                <a:lnTo>
                  <a:pt x="297799" y="93902"/>
                </a:lnTo>
                <a:close/>
              </a:path>
              <a:path w="1680209" h="567689">
                <a:moveTo>
                  <a:pt x="394458" y="125202"/>
                </a:moveTo>
                <a:lnTo>
                  <a:pt x="386632" y="149367"/>
                </a:lnTo>
                <a:lnTo>
                  <a:pt x="459126" y="172843"/>
                </a:lnTo>
                <a:lnTo>
                  <a:pt x="466952" y="148678"/>
                </a:lnTo>
                <a:lnTo>
                  <a:pt x="394458" y="125202"/>
                </a:lnTo>
                <a:close/>
              </a:path>
              <a:path w="1680209" h="567689">
                <a:moveTo>
                  <a:pt x="491116" y="156503"/>
                </a:moveTo>
                <a:lnTo>
                  <a:pt x="483290" y="180667"/>
                </a:lnTo>
                <a:lnTo>
                  <a:pt x="555785" y="204143"/>
                </a:lnTo>
                <a:lnTo>
                  <a:pt x="563610" y="179979"/>
                </a:lnTo>
                <a:lnTo>
                  <a:pt x="491116" y="156503"/>
                </a:lnTo>
                <a:close/>
              </a:path>
              <a:path w="1680209" h="567689">
                <a:moveTo>
                  <a:pt x="587775" y="187805"/>
                </a:moveTo>
                <a:lnTo>
                  <a:pt x="579949" y="211969"/>
                </a:lnTo>
                <a:lnTo>
                  <a:pt x="652443" y="235444"/>
                </a:lnTo>
                <a:lnTo>
                  <a:pt x="660267" y="211279"/>
                </a:lnTo>
                <a:lnTo>
                  <a:pt x="587775" y="187805"/>
                </a:lnTo>
                <a:close/>
              </a:path>
              <a:path w="1680209" h="567689">
                <a:moveTo>
                  <a:pt x="684433" y="219105"/>
                </a:moveTo>
                <a:lnTo>
                  <a:pt x="676607" y="243269"/>
                </a:lnTo>
                <a:lnTo>
                  <a:pt x="749101" y="266745"/>
                </a:lnTo>
                <a:lnTo>
                  <a:pt x="756926" y="242580"/>
                </a:lnTo>
                <a:lnTo>
                  <a:pt x="684433" y="219105"/>
                </a:lnTo>
                <a:close/>
              </a:path>
              <a:path w="1680209" h="567689">
                <a:moveTo>
                  <a:pt x="781091" y="250405"/>
                </a:moveTo>
                <a:lnTo>
                  <a:pt x="773266" y="274570"/>
                </a:lnTo>
                <a:lnTo>
                  <a:pt x="845760" y="298046"/>
                </a:lnTo>
                <a:lnTo>
                  <a:pt x="853584" y="273881"/>
                </a:lnTo>
                <a:lnTo>
                  <a:pt x="781091" y="250405"/>
                </a:lnTo>
                <a:close/>
              </a:path>
              <a:path w="1680209" h="567689">
                <a:moveTo>
                  <a:pt x="877749" y="281706"/>
                </a:moveTo>
                <a:lnTo>
                  <a:pt x="869924" y="305870"/>
                </a:lnTo>
                <a:lnTo>
                  <a:pt x="942417" y="329346"/>
                </a:lnTo>
                <a:lnTo>
                  <a:pt x="950243" y="305182"/>
                </a:lnTo>
                <a:lnTo>
                  <a:pt x="877749" y="281706"/>
                </a:lnTo>
                <a:close/>
              </a:path>
              <a:path w="1680209" h="567689">
                <a:moveTo>
                  <a:pt x="974407" y="313008"/>
                </a:moveTo>
                <a:lnTo>
                  <a:pt x="966583" y="337172"/>
                </a:lnTo>
                <a:lnTo>
                  <a:pt x="1039075" y="360646"/>
                </a:lnTo>
                <a:lnTo>
                  <a:pt x="1046901" y="336482"/>
                </a:lnTo>
                <a:lnTo>
                  <a:pt x="974407" y="313008"/>
                </a:lnTo>
                <a:close/>
              </a:path>
              <a:path w="1680209" h="567689">
                <a:moveTo>
                  <a:pt x="1071065" y="344308"/>
                </a:moveTo>
                <a:lnTo>
                  <a:pt x="1063241" y="368472"/>
                </a:lnTo>
                <a:lnTo>
                  <a:pt x="1135734" y="391948"/>
                </a:lnTo>
                <a:lnTo>
                  <a:pt x="1143560" y="367783"/>
                </a:lnTo>
                <a:lnTo>
                  <a:pt x="1071065" y="344308"/>
                </a:lnTo>
                <a:close/>
              </a:path>
              <a:path w="1680209" h="567689">
                <a:moveTo>
                  <a:pt x="1167724" y="375608"/>
                </a:moveTo>
                <a:lnTo>
                  <a:pt x="1159899" y="399773"/>
                </a:lnTo>
                <a:lnTo>
                  <a:pt x="1232392" y="423249"/>
                </a:lnTo>
                <a:lnTo>
                  <a:pt x="1240218" y="399084"/>
                </a:lnTo>
                <a:lnTo>
                  <a:pt x="1167724" y="375608"/>
                </a:lnTo>
                <a:close/>
              </a:path>
              <a:path w="1680209" h="567689">
                <a:moveTo>
                  <a:pt x="1264382" y="406909"/>
                </a:moveTo>
                <a:lnTo>
                  <a:pt x="1256557" y="431073"/>
                </a:lnTo>
                <a:lnTo>
                  <a:pt x="1329051" y="454549"/>
                </a:lnTo>
                <a:lnTo>
                  <a:pt x="1336876" y="430385"/>
                </a:lnTo>
                <a:lnTo>
                  <a:pt x="1264382" y="406909"/>
                </a:lnTo>
                <a:close/>
              </a:path>
              <a:path w="1680209" h="567689">
                <a:moveTo>
                  <a:pt x="1361041" y="438210"/>
                </a:moveTo>
                <a:lnTo>
                  <a:pt x="1353215" y="462375"/>
                </a:lnTo>
                <a:lnTo>
                  <a:pt x="1425709" y="485849"/>
                </a:lnTo>
                <a:lnTo>
                  <a:pt x="1433535" y="461685"/>
                </a:lnTo>
                <a:lnTo>
                  <a:pt x="1361041" y="438210"/>
                </a:lnTo>
                <a:close/>
              </a:path>
              <a:path w="1680209" h="567689">
                <a:moveTo>
                  <a:pt x="1457699" y="469511"/>
                </a:moveTo>
                <a:lnTo>
                  <a:pt x="1449873" y="493675"/>
                </a:lnTo>
                <a:lnTo>
                  <a:pt x="1522368" y="517151"/>
                </a:lnTo>
                <a:lnTo>
                  <a:pt x="1530192" y="492986"/>
                </a:lnTo>
                <a:lnTo>
                  <a:pt x="1457699" y="469511"/>
                </a:lnTo>
                <a:close/>
              </a:path>
              <a:path w="1680209" h="567689">
                <a:moveTo>
                  <a:pt x="1603481" y="543418"/>
                </a:moveTo>
                <a:lnTo>
                  <a:pt x="1595655" y="567582"/>
                </a:lnTo>
                <a:lnTo>
                  <a:pt x="1679887" y="554810"/>
                </a:lnTo>
                <a:lnTo>
                  <a:pt x="1672277" y="547330"/>
                </a:lnTo>
                <a:lnTo>
                  <a:pt x="1615563" y="547330"/>
                </a:lnTo>
                <a:lnTo>
                  <a:pt x="1603481" y="543418"/>
                </a:lnTo>
                <a:close/>
              </a:path>
              <a:path w="1680209" h="567689">
                <a:moveTo>
                  <a:pt x="1611306" y="519253"/>
                </a:moveTo>
                <a:lnTo>
                  <a:pt x="1603481" y="543418"/>
                </a:lnTo>
                <a:lnTo>
                  <a:pt x="1615563" y="547330"/>
                </a:lnTo>
                <a:lnTo>
                  <a:pt x="1623388" y="523166"/>
                </a:lnTo>
                <a:lnTo>
                  <a:pt x="1611306" y="519253"/>
                </a:lnTo>
                <a:close/>
              </a:path>
              <a:path w="1680209" h="567689">
                <a:moveTo>
                  <a:pt x="1619131" y="495089"/>
                </a:moveTo>
                <a:lnTo>
                  <a:pt x="1611306" y="519253"/>
                </a:lnTo>
                <a:lnTo>
                  <a:pt x="1623388" y="523166"/>
                </a:lnTo>
                <a:lnTo>
                  <a:pt x="1615563" y="547330"/>
                </a:lnTo>
                <a:lnTo>
                  <a:pt x="1672277" y="547330"/>
                </a:lnTo>
                <a:lnTo>
                  <a:pt x="1619131" y="495089"/>
                </a:lnTo>
                <a:close/>
              </a:path>
              <a:path w="1680209" h="567689">
                <a:moveTo>
                  <a:pt x="1554358" y="500811"/>
                </a:moveTo>
                <a:lnTo>
                  <a:pt x="1546532" y="524976"/>
                </a:lnTo>
                <a:lnTo>
                  <a:pt x="1603481" y="543418"/>
                </a:lnTo>
                <a:lnTo>
                  <a:pt x="1611306" y="519253"/>
                </a:lnTo>
                <a:lnTo>
                  <a:pt x="1554358" y="500811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656123" y="4267771"/>
            <a:ext cx="2020570" cy="389890"/>
          </a:xfrm>
          <a:custGeom>
            <a:avLst/>
            <a:gdLst/>
            <a:ahLst/>
            <a:cxnLst/>
            <a:rect l="l" t="t" r="r" b="b"/>
            <a:pathLst>
              <a:path w="2020570" h="389889">
                <a:moveTo>
                  <a:pt x="4372" y="0"/>
                </a:moveTo>
                <a:lnTo>
                  <a:pt x="0" y="25020"/>
                </a:lnTo>
                <a:lnTo>
                  <a:pt x="75062" y="38139"/>
                </a:lnTo>
                <a:lnTo>
                  <a:pt x="79434" y="13117"/>
                </a:lnTo>
                <a:lnTo>
                  <a:pt x="4372" y="0"/>
                </a:lnTo>
                <a:close/>
              </a:path>
              <a:path w="2020570" h="389889">
                <a:moveTo>
                  <a:pt x="104456" y="17490"/>
                </a:moveTo>
                <a:lnTo>
                  <a:pt x="100083" y="42511"/>
                </a:lnTo>
                <a:lnTo>
                  <a:pt x="175145" y="55629"/>
                </a:lnTo>
                <a:lnTo>
                  <a:pt x="179518" y="30609"/>
                </a:lnTo>
                <a:lnTo>
                  <a:pt x="104456" y="17490"/>
                </a:lnTo>
                <a:close/>
              </a:path>
              <a:path w="2020570" h="389889">
                <a:moveTo>
                  <a:pt x="204538" y="34982"/>
                </a:moveTo>
                <a:lnTo>
                  <a:pt x="200165" y="60002"/>
                </a:lnTo>
                <a:lnTo>
                  <a:pt x="275228" y="73120"/>
                </a:lnTo>
                <a:lnTo>
                  <a:pt x="279600" y="48099"/>
                </a:lnTo>
                <a:lnTo>
                  <a:pt x="204538" y="34982"/>
                </a:lnTo>
                <a:close/>
              </a:path>
              <a:path w="2020570" h="389889">
                <a:moveTo>
                  <a:pt x="304622" y="52472"/>
                </a:moveTo>
                <a:lnTo>
                  <a:pt x="300249" y="77492"/>
                </a:lnTo>
                <a:lnTo>
                  <a:pt x="375311" y="90611"/>
                </a:lnTo>
                <a:lnTo>
                  <a:pt x="379684" y="65590"/>
                </a:lnTo>
                <a:lnTo>
                  <a:pt x="304622" y="52472"/>
                </a:lnTo>
                <a:close/>
              </a:path>
              <a:path w="2020570" h="389889">
                <a:moveTo>
                  <a:pt x="404704" y="69963"/>
                </a:moveTo>
                <a:lnTo>
                  <a:pt x="400331" y="94984"/>
                </a:lnTo>
                <a:lnTo>
                  <a:pt x="475395" y="108102"/>
                </a:lnTo>
                <a:lnTo>
                  <a:pt x="479767" y="83082"/>
                </a:lnTo>
                <a:lnTo>
                  <a:pt x="404704" y="69963"/>
                </a:lnTo>
                <a:close/>
              </a:path>
              <a:path w="2020570" h="389889">
                <a:moveTo>
                  <a:pt x="504788" y="87454"/>
                </a:moveTo>
                <a:lnTo>
                  <a:pt x="500415" y="112475"/>
                </a:lnTo>
                <a:lnTo>
                  <a:pt x="575477" y="125592"/>
                </a:lnTo>
                <a:lnTo>
                  <a:pt x="579850" y="100572"/>
                </a:lnTo>
                <a:lnTo>
                  <a:pt x="504788" y="87454"/>
                </a:lnTo>
                <a:close/>
              </a:path>
              <a:path w="2020570" h="389889">
                <a:moveTo>
                  <a:pt x="604871" y="104945"/>
                </a:moveTo>
                <a:lnTo>
                  <a:pt x="600499" y="129965"/>
                </a:lnTo>
                <a:lnTo>
                  <a:pt x="675561" y="143084"/>
                </a:lnTo>
                <a:lnTo>
                  <a:pt x="679933" y="118063"/>
                </a:lnTo>
                <a:lnTo>
                  <a:pt x="604871" y="104945"/>
                </a:lnTo>
                <a:close/>
              </a:path>
              <a:path w="2020570" h="389889">
                <a:moveTo>
                  <a:pt x="704954" y="122435"/>
                </a:moveTo>
                <a:lnTo>
                  <a:pt x="700581" y="147457"/>
                </a:lnTo>
                <a:lnTo>
                  <a:pt x="775643" y="160574"/>
                </a:lnTo>
                <a:lnTo>
                  <a:pt x="780016" y="135554"/>
                </a:lnTo>
                <a:lnTo>
                  <a:pt x="704954" y="122435"/>
                </a:lnTo>
                <a:close/>
              </a:path>
              <a:path w="2020570" h="389889">
                <a:moveTo>
                  <a:pt x="805037" y="139927"/>
                </a:moveTo>
                <a:lnTo>
                  <a:pt x="800665" y="164947"/>
                </a:lnTo>
                <a:lnTo>
                  <a:pt x="875727" y="178065"/>
                </a:lnTo>
                <a:lnTo>
                  <a:pt x="880099" y="153045"/>
                </a:lnTo>
                <a:lnTo>
                  <a:pt x="805037" y="139927"/>
                </a:lnTo>
                <a:close/>
              </a:path>
              <a:path w="2020570" h="389889">
                <a:moveTo>
                  <a:pt x="905120" y="157417"/>
                </a:moveTo>
                <a:lnTo>
                  <a:pt x="900747" y="182438"/>
                </a:lnTo>
                <a:lnTo>
                  <a:pt x="975810" y="195557"/>
                </a:lnTo>
                <a:lnTo>
                  <a:pt x="980183" y="170535"/>
                </a:lnTo>
                <a:lnTo>
                  <a:pt x="905120" y="157417"/>
                </a:lnTo>
                <a:close/>
              </a:path>
              <a:path w="2020570" h="389889">
                <a:moveTo>
                  <a:pt x="1005203" y="174908"/>
                </a:moveTo>
                <a:lnTo>
                  <a:pt x="1000831" y="199929"/>
                </a:lnTo>
                <a:lnTo>
                  <a:pt x="1075893" y="213047"/>
                </a:lnTo>
                <a:lnTo>
                  <a:pt x="1080265" y="188027"/>
                </a:lnTo>
                <a:lnTo>
                  <a:pt x="1005203" y="174908"/>
                </a:lnTo>
                <a:close/>
              </a:path>
              <a:path w="2020570" h="389889">
                <a:moveTo>
                  <a:pt x="1105287" y="192399"/>
                </a:moveTo>
                <a:lnTo>
                  <a:pt x="1100913" y="217420"/>
                </a:lnTo>
                <a:lnTo>
                  <a:pt x="1175976" y="230538"/>
                </a:lnTo>
                <a:lnTo>
                  <a:pt x="1180349" y="205517"/>
                </a:lnTo>
                <a:lnTo>
                  <a:pt x="1105287" y="192399"/>
                </a:lnTo>
                <a:close/>
              </a:path>
              <a:path w="2020570" h="389889">
                <a:moveTo>
                  <a:pt x="1205369" y="209890"/>
                </a:moveTo>
                <a:lnTo>
                  <a:pt x="1200997" y="234910"/>
                </a:lnTo>
                <a:lnTo>
                  <a:pt x="1276059" y="248029"/>
                </a:lnTo>
                <a:lnTo>
                  <a:pt x="1280431" y="223008"/>
                </a:lnTo>
                <a:lnTo>
                  <a:pt x="1205369" y="209890"/>
                </a:lnTo>
                <a:close/>
              </a:path>
              <a:path w="2020570" h="389889">
                <a:moveTo>
                  <a:pt x="1305453" y="227380"/>
                </a:moveTo>
                <a:lnTo>
                  <a:pt x="1301080" y="252402"/>
                </a:lnTo>
                <a:lnTo>
                  <a:pt x="1376142" y="265520"/>
                </a:lnTo>
                <a:lnTo>
                  <a:pt x="1380515" y="240499"/>
                </a:lnTo>
                <a:lnTo>
                  <a:pt x="1305453" y="227380"/>
                </a:lnTo>
                <a:close/>
              </a:path>
              <a:path w="2020570" h="389889">
                <a:moveTo>
                  <a:pt x="1405535" y="244872"/>
                </a:moveTo>
                <a:lnTo>
                  <a:pt x="1401163" y="269892"/>
                </a:lnTo>
                <a:lnTo>
                  <a:pt x="1476226" y="283010"/>
                </a:lnTo>
                <a:lnTo>
                  <a:pt x="1480599" y="257990"/>
                </a:lnTo>
                <a:lnTo>
                  <a:pt x="1405535" y="244872"/>
                </a:lnTo>
                <a:close/>
              </a:path>
              <a:path w="2020570" h="389889">
                <a:moveTo>
                  <a:pt x="1505619" y="262362"/>
                </a:moveTo>
                <a:lnTo>
                  <a:pt x="1501246" y="287383"/>
                </a:lnTo>
                <a:lnTo>
                  <a:pt x="1576308" y="300502"/>
                </a:lnTo>
                <a:lnTo>
                  <a:pt x="1580681" y="275480"/>
                </a:lnTo>
                <a:lnTo>
                  <a:pt x="1505619" y="262362"/>
                </a:lnTo>
                <a:close/>
              </a:path>
              <a:path w="2020570" h="389889">
                <a:moveTo>
                  <a:pt x="1605702" y="279853"/>
                </a:moveTo>
                <a:lnTo>
                  <a:pt x="1601330" y="304874"/>
                </a:lnTo>
                <a:lnTo>
                  <a:pt x="1676392" y="317992"/>
                </a:lnTo>
                <a:lnTo>
                  <a:pt x="1680764" y="292972"/>
                </a:lnTo>
                <a:lnTo>
                  <a:pt x="1605702" y="279853"/>
                </a:lnTo>
                <a:close/>
              </a:path>
              <a:path w="2020570" h="389889">
                <a:moveTo>
                  <a:pt x="1705785" y="297345"/>
                </a:moveTo>
                <a:lnTo>
                  <a:pt x="1701412" y="322365"/>
                </a:lnTo>
                <a:lnTo>
                  <a:pt x="1776474" y="335483"/>
                </a:lnTo>
                <a:lnTo>
                  <a:pt x="1780847" y="310462"/>
                </a:lnTo>
                <a:lnTo>
                  <a:pt x="1705785" y="297345"/>
                </a:lnTo>
                <a:close/>
              </a:path>
              <a:path w="2020570" h="389889">
                <a:moveTo>
                  <a:pt x="1805868" y="314835"/>
                </a:moveTo>
                <a:lnTo>
                  <a:pt x="1801496" y="339855"/>
                </a:lnTo>
                <a:lnTo>
                  <a:pt x="1876558" y="352974"/>
                </a:lnTo>
                <a:lnTo>
                  <a:pt x="1880930" y="327953"/>
                </a:lnTo>
                <a:lnTo>
                  <a:pt x="1805868" y="314835"/>
                </a:lnTo>
                <a:close/>
              </a:path>
              <a:path w="2020570" h="389889">
                <a:moveTo>
                  <a:pt x="1943243" y="364628"/>
                </a:moveTo>
                <a:lnTo>
                  <a:pt x="1938870" y="389649"/>
                </a:lnTo>
                <a:lnTo>
                  <a:pt x="2015214" y="366815"/>
                </a:lnTo>
                <a:lnTo>
                  <a:pt x="1955756" y="366815"/>
                </a:lnTo>
                <a:lnTo>
                  <a:pt x="1943243" y="364628"/>
                </a:lnTo>
                <a:close/>
              </a:path>
              <a:path w="2020570" h="389889">
                <a:moveTo>
                  <a:pt x="1947616" y="339608"/>
                </a:moveTo>
                <a:lnTo>
                  <a:pt x="1943243" y="364628"/>
                </a:lnTo>
                <a:lnTo>
                  <a:pt x="1955756" y="366815"/>
                </a:lnTo>
                <a:lnTo>
                  <a:pt x="1960129" y="341795"/>
                </a:lnTo>
                <a:lnTo>
                  <a:pt x="1947616" y="339608"/>
                </a:lnTo>
                <a:close/>
              </a:path>
              <a:path w="2020570" h="389889">
                <a:moveTo>
                  <a:pt x="1951988" y="314586"/>
                </a:moveTo>
                <a:lnTo>
                  <a:pt x="1947616" y="339608"/>
                </a:lnTo>
                <a:lnTo>
                  <a:pt x="1960129" y="341795"/>
                </a:lnTo>
                <a:lnTo>
                  <a:pt x="1955756" y="366815"/>
                </a:lnTo>
                <a:lnTo>
                  <a:pt x="2015214" y="366815"/>
                </a:lnTo>
                <a:lnTo>
                  <a:pt x="2020492" y="365236"/>
                </a:lnTo>
                <a:lnTo>
                  <a:pt x="1951988" y="314586"/>
                </a:lnTo>
                <a:close/>
              </a:path>
              <a:path w="2020570" h="389889">
                <a:moveTo>
                  <a:pt x="1905951" y="332325"/>
                </a:moveTo>
                <a:lnTo>
                  <a:pt x="1901578" y="357347"/>
                </a:lnTo>
                <a:lnTo>
                  <a:pt x="1943243" y="364628"/>
                </a:lnTo>
                <a:lnTo>
                  <a:pt x="1947616" y="339608"/>
                </a:lnTo>
                <a:lnTo>
                  <a:pt x="1905951" y="332325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280242" y="6060947"/>
            <a:ext cx="8191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">
                <a:solidFill>
                  <a:srgbClr val="BF9000"/>
                </a:solidFill>
                <a:latin typeface="Arial"/>
                <a:cs typeface="Arial"/>
              </a:rPr>
              <a:t>C</a:t>
            </a:r>
            <a:r>
              <a:rPr dirty="0" sz="1400" spc="-30">
                <a:solidFill>
                  <a:srgbClr val="BF9000"/>
                </a:solidFill>
                <a:latin typeface="Arial"/>
                <a:cs typeface="Arial"/>
              </a:rPr>
              <a:t>au</a:t>
            </a: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s</a:t>
            </a:r>
            <a:r>
              <a:rPr dirty="0" sz="1400" spc="-30">
                <a:solidFill>
                  <a:srgbClr val="BF9000"/>
                </a:solidFill>
                <a:latin typeface="Arial"/>
                <a:cs typeface="Arial"/>
              </a:rPr>
              <a:t>ed</a:t>
            </a:r>
            <a:r>
              <a:rPr dirty="0" sz="1400" spc="-35">
                <a:solidFill>
                  <a:srgbClr val="BF9000"/>
                </a:solidFill>
                <a:latin typeface="Arial"/>
                <a:cs typeface="Arial"/>
              </a:rPr>
              <a:t>B</a:t>
            </a:r>
            <a:r>
              <a:rPr dirty="0" sz="1400">
                <a:solidFill>
                  <a:srgbClr val="BF9000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650614" y="5723852"/>
            <a:ext cx="808990" cy="620395"/>
          </a:xfrm>
          <a:custGeom>
            <a:avLst/>
            <a:gdLst/>
            <a:ahLst/>
            <a:cxnLst/>
            <a:rect l="l" t="t" r="r" b="b"/>
            <a:pathLst>
              <a:path w="808990" h="620395">
                <a:moveTo>
                  <a:pt x="15393" y="0"/>
                </a:moveTo>
                <a:lnTo>
                  <a:pt x="0" y="20204"/>
                </a:lnTo>
                <a:lnTo>
                  <a:pt x="60613" y="66383"/>
                </a:lnTo>
                <a:lnTo>
                  <a:pt x="76006" y="46179"/>
                </a:lnTo>
                <a:lnTo>
                  <a:pt x="15393" y="0"/>
                </a:lnTo>
                <a:close/>
              </a:path>
              <a:path w="808990" h="620395">
                <a:moveTo>
                  <a:pt x="96210" y="61572"/>
                </a:moveTo>
                <a:lnTo>
                  <a:pt x="80817" y="81776"/>
                </a:lnTo>
                <a:lnTo>
                  <a:pt x="141429" y="127956"/>
                </a:lnTo>
                <a:lnTo>
                  <a:pt x="156823" y="107751"/>
                </a:lnTo>
                <a:lnTo>
                  <a:pt x="96210" y="61572"/>
                </a:lnTo>
                <a:close/>
              </a:path>
              <a:path w="808990" h="620395">
                <a:moveTo>
                  <a:pt x="177027" y="123144"/>
                </a:moveTo>
                <a:lnTo>
                  <a:pt x="161634" y="143349"/>
                </a:lnTo>
                <a:lnTo>
                  <a:pt x="222247" y="189528"/>
                </a:lnTo>
                <a:lnTo>
                  <a:pt x="237639" y="169324"/>
                </a:lnTo>
                <a:lnTo>
                  <a:pt x="177027" y="123144"/>
                </a:lnTo>
                <a:close/>
              </a:path>
              <a:path w="808990" h="620395">
                <a:moveTo>
                  <a:pt x="257844" y="184717"/>
                </a:moveTo>
                <a:lnTo>
                  <a:pt x="242451" y="204921"/>
                </a:lnTo>
                <a:lnTo>
                  <a:pt x="303063" y="251100"/>
                </a:lnTo>
                <a:lnTo>
                  <a:pt x="318457" y="230896"/>
                </a:lnTo>
                <a:lnTo>
                  <a:pt x="257844" y="184717"/>
                </a:lnTo>
                <a:close/>
              </a:path>
              <a:path w="808990" h="620395">
                <a:moveTo>
                  <a:pt x="338662" y="246289"/>
                </a:moveTo>
                <a:lnTo>
                  <a:pt x="323268" y="266494"/>
                </a:lnTo>
                <a:lnTo>
                  <a:pt x="383881" y="312673"/>
                </a:lnTo>
                <a:lnTo>
                  <a:pt x="399274" y="292469"/>
                </a:lnTo>
                <a:lnTo>
                  <a:pt x="338662" y="246289"/>
                </a:lnTo>
                <a:close/>
              </a:path>
              <a:path w="808990" h="620395">
                <a:moveTo>
                  <a:pt x="419478" y="307862"/>
                </a:moveTo>
                <a:lnTo>
                  <a:pt x="404086" y="328066"/>
                </a:lnTo>
                <a:lnTo>
                  <a:pt x="464698" y="374245"/>
                </a:lnTo>
                <a:lnTo>
                  <a:pt x="480091" y="354041"/>
                </a:lnTo>
                <a:lnTo>
                  <a:pt x="419478" y="307862"/>
                </a:lnTo>
                <a:close/>
              </a:path>
              <a:path w="808990" h="620395">
                <a:moveTo>
                  <a:pt x="500296" y="369434"/>
                </a:moveTo>
                <a:lnTo>
                  <a:pt x="484902" y="389639"/>
                </a:lnTo>
                <a:lnTo>
                  <a:pt x="545515" y="435818"/>
                </a:lnTo>
                <a:lnTo>
                  <a:pt x="560908" y="415614"/>
                </a:lnTo>
                <a:lnTo>
                  <a:pt x="500296" y="369434"/>
                </a:lnTo>
                <a:close/>
              </a:path>
              <a:path w="808990" h="620395">
                <a:moveTo>
                  <a:pt x="581112" y="431007"/>
                </a:moveTo>
                <a:lnTo>
                  <a:pt x="565720" y="451211"/>
                </a:lnTo>
                <a:lnTo>
                  <a:pt x="626332" y="497390"/>
                </a:lnTo>
                <a:lnTo>
                  <a:pt x="641725" y="477186"/>
                </a:lnTo>
                <a:lnTo>
                  <a:pt x="581112" y="431007"/>
                </a:lnTo>
                <a:close/>
              </a:path>
              <a:path w="808990" h="620395">
                <a:moveTo>
                  <a:pt x="661930" y="492579"/>
                </a:moveTo>
                <a:lnTo>
                  <a:pt x="646536" y="512783"/>
                </a:lnTo>
                <a:lnTo>
                  <a:pt x="707149" y="558963"/>
                </a:lnTo>
                <a:lnTo>
                  <a:pt x="722542" y="538759"/>
                </a:lnTo>
                <a:lnTo>
                  <a:pt x="661930" y="492579"/>
                </a:lnTo>
                <a:close/>
              </a:path>
              <a:path w="808990" h="620395">
                <a:moveTo>
                  <a:pt x="740080" y="584052"/>
                </a:moveTo>
                <a:lnTo>
                  <a:pt x="724687" y="604257"/>
                </a:lnTo>
                <a:lnTo>
                  <a:pt x="808390" y="620130"/>
                </a:lnTo>
                <a:lnTo>
                  <a:pt x="794466" y="591749"/>
                </a:lnTo>
                <a:lnTo>
                  <a:pt x="750182" y="591749"/>
                </a:lnTo>
                <a:lnTo>
                  <a:pt x="740080" y="584052"/>
                </a:lnTo>
                <a:close/>
              </a:path>
              <a:path w="808990" h="620395">
                <a:moveTo>
                  <a:pt x="755473" y="563848"/>
                </a:moveTo>
                <a:lnTo>
                  <a:pt x="740080" y="584052"/>
                </a:lnTo>
                <a:lnTo>
                  <a:pt x="750182" y="591749"/>
                </a:lnTo>
                <a:lnTo>
                  <a:pt x="765575" y="571544"/>
                </a:lnTo>
                <a:lnTo>
                  <a:pt x="755473" y="563848"/>
                </a:lnTo>
                <a:close/>
              </a:path>
              <a:path w="808990" h="620395">
                <a:moveTo>
                  <a:pt x="770867" y="543644"/>
                </a:moveTo>
                <a:lnTo>
                  <a:pt x="755473" y="563848"/>
                </a:lnTo>
                <a:lnTo>
                  <a:pt x="765575" y="571544"/>
                </a:lnTo>
                <a:lnTo>
                  <a:pt x="750182" y="591749"/>
                </a:lnTo>
                <a:lnTo>
                  <a:pt x="794466" y="591749"/>
                </a:lnTo>
                <a:lnTo>
                  <a:pt x="770867" y="543644"/>
                </a:lnTo>
                <a:close/>
              </a:path>
              <a:path w="808990" h="620395">
                <a:moveTo>
                  <a:pt x="742746" y="554152"/>
                </a:moveTo>
                <a:lnTo>
                  <a:pt x="727353" y="574356"/>
                </a:lnTo>
                <a:lnTo>
                  <a:pt x="740080" y="584052"/>
                </a:lnTo>
                <a:lnTo>
                  <a:pt x="755473" y="563848"/>
                </a:lnTo>
                <a:lnTo>
                  <a:pt x="742746" y="554152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651219" y="5155291"/>
            <a:ext cx="810895" cy="551180"/>
          </a:xfrm>
          <a:custGeom>
            <a:avLst/>
            <a:gdLst/>
            <a:ahLst/>
            <a:cxnLst/>
            <a:rect l="l" t="t" r="r" b="b"/>
            <a:pathLst>
              <a:path w="810895" h="551179">
                <a:moveTo>
                  <a:pt x="63221" y="487404"/>
                </a:moveTo>
                <a:lnTo>
                  <a:pt x="0" y="529941"/>
                </a:lnTo>
                <a:lnTo>
                  <a:pt x="14179" y="551015"/>
                </a:lnTo>
                <a:lnTo>
                  <a:pt x="77401" y="508478"/>
                </a:lnTo>
                <a:lnTo>
                  <a:pt x="63221" y="487404"/>
                </a:lnTo>
                <a:close/>
              </a:path>
              <a:path w="810895" h="551179">
                <a:moveTo>
                  <a:pt x="147518" y="430688"/>
                </a:moveTo>
                <a:lnTo>
                  <a:pt x="84296" y="473225"/>
                </a:lnTo>
                <a:lnTo>
                  <a:pt x="98475" y="494299"/>
                </a:lnTo>
                <a:lnTo>
                  <a:pt x="161697" y="451762"/>
                </a:lnTo>
                <a:lnTo>
                  <a:pt x="147518" y="430688"/>
                </a:lnTo>
                <a:close/>
              </a:path>
              <a:path w="810895" h="551179">
                <a:moveTo>
                  <a:pt x="231814" y="373971"/>
                </a:moveTo>
                <a:lnTo>
                  <a:pt x="168592" y="416509"/>
                </a:lnTo>
                <a:lnTo>
                  <a:pt x="182770" y="437582"/>
                </a:lnTo>
                <a:lnTo>
                  <a:pt x="245992" y="395046"/>
                </a:lnTo>
                <a:lnTo>
                  <a:pt x="231814" y="373971"/>
                </a:lnTo>
                <a:close/>
              </a:path>
              <a:path w="810895" h="551179">
                <a:moveTo>
                  <a:pt x="316109" y="317254"/>
                </a:moveTo>
                <a:lnTo>
                  <a:pt x="252887" y="359792"/>
                </a:lnTo>
                <a:lnTo>
                  <a:pt x="267067" y="380866"/>
                </a:lnTo>
                <a:lnTo>
                  <a:pt x="330288" y="338329"/>
                </a:lnTo>
                <a:lnTo>
                  <a:pt x="316109" y="317254"/>
                </a:lnTo>
                <a:close/>
              </a:path>
              <a:path w="810895" h="551179">
                <a:moveTo>
                  <a:pt x="400405" y="260539"/>
                </a:moveTo>
                <a:lnTo>
                  <a:pt x="337183" y="303076"/>
                </a:lnTo>
                <a:lnTo>
                  <a:pt x="351363" y="324149"/>
                </a:lnTo>
                <a:lnTo>
                  <a:pt x="414585" y="281612"/>
                </a:lnTo>
                <a:lnTo>
                  <a:pt x="400405" y="260539"/>
                </a:lnTo>
                <a:close/>
              </a:path>
              <a:path w="810895" h="551179">
                <a:moveTo>
                  <a:pt x="484701" y="203822"/>
                </a:moveTo>
                <a:lnTo>
                  <a:pt x="421479" y="246359"/>
                </a:lnTo>
                <a:lnTo>
                  <a:pt x="435659" y="267434"/>
                </a:lnTo>
                <a:lnTo>
                  <a:pt x="498881" y="224896"/>
                </a:lnTo>
                <a:lnTo>
                  <a:pt x="484701" y="203822"/>
                </a:lnTo>
                <a:close/>
              </a:path>
              <a:path w="810895" h="551179">
                <a:moveTo>
                  <a:pt x="568998" y="147105"/>
                </a:moveTo>
                <a:lnTo>
                  <a:pt x="505776" y="189642"/>
                </a:lnTo>
                <a:lnTo>
                  <a:pt x="519954" y="210717"/>
                </a:lnTo>
                <a:lnTo>
                  <a:pt x="583176" y="168179"/>
                </a:lnTo>
                <a:lnTo>
                  <a:pt x="568998" y="147105"/>
                </a:lnTo>
                <a:close/>
              </a:path>
              <a:path w="810895" h="551179">
                <a:moveTo>
                  <a:pt x="653293" y="90389"/>
                </a:moveTo>
                <a:lnTo>
                  <a:pt x="590071" y="132927"/>
                </a:lnTo>
                <a:lnTo>
                  <a:pt x="604250" y="154000"/>
                </a:lnTo>
                <a:lnTo>
                  <a:pt x="667472" y="111462"/>
                </a:lnTo>
                <a:lnTo>
                  <a:pt x="653293" y="90389"/>
                </a:lnTo>
                <a:close/>
              </a:path>
              <a:path w="810895" h="551179">
                <a:moveTo>
                  <a:pt x="737589" y="33672"/>
                </a:moveTo>
                <a:lnTo>
                  <a:pt x="674367" y="76210"/>
                </a:lnTo>
                <a:lnTo>
                  <a:pt x="688547" y="97284"/>
                </a:lnTo>
                <a:lnTo>
                  <a:pt x="751768" y="54747"/>
                </a:lnTo>
                <a:lnTo>
                  <a:pt x="737589" y="33672"/>
                </a:lnTo>
                <a:close/>
              </a:path>
              <a:path w="810895" h="551179">
                <a:moveTo>
                  <a:pt x="810386" y="0"/>
                </a:moveTo>
                <a:lnTo>
                  <a:pt x="725896" y="10925"/>
                </a:lnTo>
                <a:lnTo>
                  <a:pt x="768433" y="74147"/>
                </a:lnTo>
                <a:lnTo>
                  <a:pt x="810386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612218" y="568786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6999"/>
                </a:lnTo>
                <a:lnTo>
                  <a:pt x="2121" y="37509"/>
                </a:lnTo>
                <a:lnTo>
                  <a:pt x="7907" y="46091"/>
                </a:lnTo>
                <a:lnTo>
                  <a:pt x="16489" y="51878"/>
                </a:lnTo>
                <a:lnTo>
                  <a:pt x="26998" y="53999"/>
                </a:lnTo>
                <a:lnTo>
                  <a:pt x="37508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6999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612218" y="568786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7466510" y="4658528"/>
          <a:ext cx="1443990" cy="1699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958"/>
                <a:gridCol w="1054860"/>
                <a:gridCol w="205278"/>
              </a:tblGrid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479249"/>
                      </a:solidFill>
                      <a:prstDash val="solid"/>
                    </a:lnR>
                    <a:lnB w="38100">
                      <a:solidFill>
                        <a:srgbClr val="BF9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dirty="0" sz="1200" spc="-5">
                          <a:latin typeface="Arial"/>
                          <a:cs typeface="Arial"/>
                        </a:rPr>
                        <a:t>Arimidex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32715">
                    <a:lnL w="38100">
                      <a:solidFill>
                        <a:srgbClr val="479249"/>
                      </a:solidFill>
                      <a:prstDash val="solid"/>
                    </a:lnL>
                    <a:lnR w="38100">
                      <a:solidFill>
                        <a:srgbClr val="479249"/>
                      </a:solidFill>
                      <a:prstDash val="solid"/>
                    </a:lnR>
                    <a:lnT w="38100">
                      <a:solidFill>
                        <a:srgbClr val="479249"/>
                      </a:solidFill>
                      <a:prstDash val="solid"/>
                    </a:lnT>
                    <a:lnB w="38100">
                      <a:solidFill>
                        <a:srgbClr val="BF9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479249"/>
                      </a:solidFill>
                      <a:prstDash val="solid"/>
                    </a:lnL>
                    <a:lnB w="38100">
                      <a:solidFill>
                        <a:srgbClr val="BF9000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F9000"/>
                      </a:solidFill>
                      <a:prstDash val="solid"/>
                    </a:lnL>
                    <a:lnR w="38100">
                      <a:solidFill>
                        <a:srgbClr val="479249"/>
                      </a:solidFill>
                      <a:prstDash val="solid"/>
                    </a:lnR>
                    <a:lnT w="38100">
                      <a:solidFill>
                        <a:srgbClr val="BF9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6990" marR="22225" indent="289560">
                        <a:lnSpc>
                          <a:spcPct val="75000"/>
                        </a:lnSpc>
                        <a:spcBef>
                          <a:spcPts val="290"/>
                        </a:spcBef>
                      </a:pPr>
                      <a:r>
                        <a:rPr dirty="0" sz="1200" spc="-5">
                          <a:latin typeface="Arial"/>
                          <a:cs typeface="Arial"/>
                        </a:rPr>
                        <a:t>Pa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li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l  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Fulvestrant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6830">
                    <a:lnL w="38100">
                      <a:solidFill>
                        <a:srgbClr val="479249"/>
                      </a:solidFill>
                      <a:prstDash val="solid"/>
                    </a:lnL>
                    <a:lnR w="38100">
                      <a:solidFill>
                        <a:srgbClr val="479249"/>
                      </a:solidFill>
                      <a:prstDash val="solid"/>
                    </a:lnR>
                    <a:lnT w="38100">
                      <a:solidFill>
                        <a:srgbClr val="BF9000"/>
                      </a:solidFill>
                      <a:prstDash val="solid"/>
                    </a:lnT>
                    <a:lnB w="38100">
                      <a:solidFill>
                        <a:srgbClr val="47924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479249"/>
                      </a:solidFill>
                      <a:prstDash val="solid"/>
                    </a:lnL>
                    <a:lnR w="38100">
                      <a:solidFill>
                        <a:srgbClr val="BF9000"/>
                      </a:solidFill>
                      <a:prstDash val="solid"/>
                    </a:lnR>
                    <a:lnT w="38100">
                      <a:solidFill>
                        <a:srgbClr val="BF9000"/>
                      </a:solidFill>
                      <a:prstDash val="solid"/>
                    </a:lnT>
                  </a:tcPr>
                </a:tc>
              </a:tr>
              <a:tr h="749300">
                <a:tc gridSpan="3">
                  <a:txBody>
                    <a:bodyPr/>
                    <a:lstStyle/>
                    <a:p>
                      <a:pPr marL="65786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spc="-5">
                          <a:latin typeface="Arial"/>
                          <a:cs typeface="Arial"/>
                        </a:rPr>
                        <a:t>Ketamin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3505">
                    <a:lnL w="38100">
                      <a:solidFill>
                        <a:srgbClr val="BF9000"/>
                      </a:solidFill>
                      <a:prstDash val="solid"/>
                    </a:lnL>
                    <a:lnR w="38100">
                      <a:solidFill>
                        <a:srgbClr val="BF9000"/>
                      </a:solidFill>
                      <a:prstDash val="solid"/>
                    </a:lnR>
                    <a:lnB w="38100">
                      <a:solidFill>
                        <a:srgbClr val="BF9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8" name="object 28"/>
          <p:cNvSpPr txBox="1"/>
          <p:nvPr/>
        </p:nvSpPr>
        <p:spPr>
          <a:xfrm>
            <a:off x="6116321" y="4035044"/>
            <a:ext cx="4648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B</a:t>
            </a:r>
            <a:r>
              <a:rPr dirty="0" sz="1200">
                <a:latin typeface="Arial"/>
                <a:cs typeface="Arial"/>
              </a:rPr>
              <a:t>r</a:t>
            </a:r>
            <a:r>
              <a:rPr dirty="0" sz="1200" spc="-5">
                <a:latin typeface="Arial"/>
                <a:cs typeface="Arial"/>
              </a:rPr>
              <a:t>ea</a:t>
            </a:r>
            <a:r>
              <a:rPr dirty="0" sz="1200">
                <a:latin typeface="Arial"/>
                <a:cs typeface="Arial"/>
              </a:rPr>
              <a:t>st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450293" y="442559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2"/>
                </a:lnTo>
                <a:lnTo>
                  <a:pt x="51877" y="37510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450293" y="442559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320103" y="587201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6999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6999"/>
                </a:lnTo>
                <a:lnTo>
                  <a:pt x="51877" y="16490"/>
                </a:lnTo>
                <a:lnTo>
                  <a:pt x="46091" y="7908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320103" y="587201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830548" y="547715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6998" y="0"/>
                </a:moveTo>
                <a:lnTo>
                  <a:pt x="16489" y="2121"/>
                </a:lnTo>
                <a:lnTo>
                  <a:pt x="7907" y="7907"/>
                </a:lnTo>
                <a:lnTo>
                  <a:pt x="2121" y="16489"/>
                </a:lnTo>
                <a:lnTo>
                  <a:pt x="0" y="26998"/>
                </a:lnTo>
                <a:lnTo>
                  <a:pt x="2121" y="37508"/>
                </a:lnTo>
                <a:lnTo>
                  <a:pt x="7907" y="46091"/>
                </a:lnTo>
                <a:lnTo>
                  <a:pt x="16489" y="51877"/>
                </a:lnTo>
                <a:lnTo>
                  <a:pt x="26998" y="53999"/>
                </a:lnTo>
                <a:lnTo>
                  <a:pt x="37508" y="51877"/>
                </a:lnTo>
                <a:lnTo>
                  <a:pt x="46091" y="46091"/>
                </a:lnTo>
                <a:lnTo>
                  <a:pt x="51877" y="37508"/>
                </a:lnTo>
                <a:lnTo>
                  <a:pt x="53999" y="26998"/>
                </a:lnTo>
                <a:lnTo>
                  <a:pt x="51877" y="16489"/>
                </a:lnTo>
                <a:lnTo>
                  <a:pt x="46091" y="7907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830548" y="547715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560372" y="536462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560372" y="536462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395849" y="500427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8" y="46092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2"/>
                </a:lnTo>
                <a:lnTo>
                  <a:pt x="51878" y="37510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395849" y="500427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37592" y="450032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737592" y="450032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904626" y="4500670"/>
            <a:ext cx="941705" cy="161925"/>
          </a:xfrm>
          <a:custGeom>
            <a:avLst/>
            <a:gdLst/>
            <a:ahLst/>
            <a:cxnLst/>
            <a:rect l="l" t="t" r="r" b="b"/>
            <a:pathLst>
              <a:path w="941705" h="161925">
                <a:moveTo>
                  <a:pt x="779503" y="107949"/>
                </a:moveTo>
                <a:lnTo>
                  <a:pt x="779503" y="161924"/>
                </a:lnTo>
                <a:lnTo>
                  <a:pt x="887453" y="107949"/>
                </a:lnTo>
                <a:lnTo>
                  <a:pt x="779503" y="107949"/>
                </a:lnTo>
                <a:close/>
              </a:path>
              <a:path w="941705" h="161925">
                <a:moveTo>
                  <a:pt x="779503" y="53974"/>
                </a:moveTo>
                <a:lnTo>
                  <a:pt x="779503" y="107949"/>
                </a:lnTo>
                <a:lnTo>
                  <a:pt x="806490" y="107949"/>
                </a:lnTo>
                <a:lnTo>
                  <a:pt x="806490" y="53974"/>
                </a:lnTo>
                <a:lnTo>
                  <a:pt x="779503" y="53974"/>
                </a:lnTo>
                <a:close/>
              </a:path>
              <a:path w="941705" h="161925">
                <a:moveTo>
                  <a:pt x="779503" y="0"/>
                </a:moveTo>
                <a:lnTo>
                  <a:pt x="779503" y="53974"/>
                </a:lnTo>
                <a:lnTo>
                  <a:pt x="806490" y="53974"/>
                </a:lnTo>
                <a:lnTo>
                  <a:pt x="806490" y="107949"/>
                </a:lnTo>
                <a:lnTo>
                  <a:pt x="887455" y="107948"/>
                </a:lnTo>
                <a:lnTo>
                  <a:pt x="941428" y="80962"/>
                </a:lnTo>
                <a:lnTo>
                  <a:pt x="779503" y="0"/>
                </a:lnTo>
                <a:close/>
              </a:path>
              <a:path w="941705" h="161925">
                <a:moveTo>
                  <a:pt x="0" y="53973"/>
                </a:moveTo>
                <a:lnTo>
                  <a:pt x="0" y="107948"/>
                </a:lnTo>
                <a:lnTo>
                  <a:pt x="779503" y="107949"/>
                </a:lnTo>
                <a:lnTo>
                  <a:pt x="779503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5049697" y="4625340"/>
            <a:ext cx="495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sso</a:t>
            </a:r>
            <a:r>
              <a:rPr dirty="0" sz="14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186505" y="5011011"/>
            <a:ext cx="1502410" cy="605790"/>
          </a:xfrm>
          <a:custGeom>
            <a:avLst/>
            <a:gdLst/>
            <a:ahLst/>
            <a:cxnLst/>
            <a:rect l="l" t="t" r="r" b="b"/>
            <a:pathLst>
              <a:path w="1502409" h="605789">
                <a:moveTo>
                  <a:pt x="70965" y="553949"/>
                </a:moveTo>
                <a:lnTo>
                  <a:pt x="0" y="581708"/>
                </a:lnTo>
                <a:lnTo>
                  <a:pt x="9253" y="605363"/>
                </a:lnTo>
                <a:lnTo>
                  <a:pt x="80217" y="577604"/>
                </a:lnTo>
                <a:lnTo>
                  <a:pt x="70965" y="553949"/>
                </a:lnTo>
                <a:close/>
              </a:path>
              <a:path w="1502409" h="605789">
                <a:moveTo>
                  <a:pt x="165582" y="516936"/>
                </a:moveTo>
                <a:lnTo>
                  <a:pt x="94618" y="544696"/>
                </a:lnTo>
                <a:lnTo>
                  <a:pt x="103872" y="568351"/>
                </a:lnTo>
                <a:lnTo>
                  <a:pt x="174835" y="540592"/>
                </a:lnTo>
                <a:lnTo>
                  <a:pt x="165582" y="516936"/>
                </a:lnTo>
                <a:close/>
              </a:path>
              <a:path w="1502409" h="605789">
                <a:moveTo>
                  <a:pt x="260201" y="479925"/>
                </a:moveTo>
                <a:lnTo>
                  <a:pt x="189237" y="507685"/>
                </a:lnTo>
                <a:lnTo>
                  <a:pt x="198490" y="531338"/>
                </a:lnTo>
                <a:lnTo>
                  <a:pt x="269454" y="503580"/>
                </a:lnTo>
                <a:lnTo>
                  <a:pt x="260201" y="479925"/>
                </a:lnTo>
                <a:close/>
              </a:path>
              <a:path w="1502409" h="605789">
                <a:moveTo>
                  <a:pt x="354820" y="442913"/>
                </a:moveTo>
                <a:lnTo>
                  <a:pt x="283856" y="470672"/>
                </a:lnTo>
                <a:lnTo>
                  <a:pt x="293109" y="494327"/>
                </a:lnTo>
                <a:lnTo>
                  <a:pt x="364073" y="466568"/>
                </a:lnTo>
                <a:lnTo>
                  <a:pt x="354820" y="442913"/>
                </a:lnTo>
                <a:close/>
              </a:path>
              <a:path w="1502409" h="605789">
                <a:moveTo>
                  <a:pt x="449439" y="405902"/>
                </a:moveTo>
                <a:lnTo>
                  <a:pt x="378475" y="433660"/>
                </a:lnTo>
                <a:lnTo>
                  <a:pt x="387728" y="457315"/>
                </a:lnTo>
                <a:lnTo>
                  <a:pt x="458692" y="429557"/>
                </a:lnTo>
                <a:lnTo>
                  <a:pt x="449439" y="405902"/>
                </a:lnTo>
                <a:close/>
              </a:path>
              <a:path w="1502409" h="605789">
                <a:moveTo>
                  <a:pt x="544057" y="368890"/>
                </a:moveTo>
                <a:lnTo>
                  <a:pt x="473094" y="396648"/>
                </a:lnTo>
                <a:lnTo>
                  <a:pt x="482346" y="420303"/>
                </a:lnTo>
                <a:lnTo>
                  <a:pt x="553311" y="392544"/>
                </a:lnTo>
                <a:lnTo>
                  <a:pt x="544057" y="368890"/>
                </a:lnTo>
                <a:close/>
              </a:path>
              <a:path w="1502409" h="605789">
                <a:moveTo>
                  <a:pt x="638676" y="331877"/>
                </a:moveTo>
                <a:lnTo>
                  <a:pt x="567711" y="359637"/>
                </a:lnTo>
                <a:lnTo>
                  <a:pt x="576964" y="383292"/>
                </a:lnTo>
                <a:lnTo>
                  <a:pt x="647928" y="355532"/>
                </a:lnTo>
                <a:lnTo>
                  <a:pt x="638676" y="331877"/>
                </a:lnTo>
                <a:close/>
              </a:path>
              <a:path w="1502409" h="605789">
                <a:moveTo>
                  <a:pt x="733294" y="294866"/>
                </a:moveTo>
                <a:lnTo>
                  <a:pt x="662330" y="322625"/>
                </a:lnTo>
                <a:lnTo>
                  <a:pt x="671583" y="346279"/>
                </a:lnTo>
                <a:lnTo>
                  <a:pt x="742547" y="318521"/>
                </a:lnTo>
                <a:lnTo>
                  <a:pt x="733294" y="294866"/>
                </a:lnTo>
                <a:close/>
              </a:path>
              <a:path w="1502409" h="605789">
                <a:moveTo>
                  <a:pt x="827913" y="257854"/>
                </a:moveTo>
                <a:lnTo>
                  <a:pt x="756949" y="285612"/>
                </a:lnTo>
                <a:lnTo>
                  <a:pt x="766202" y="309267"/>
                </a:lnTo>
                <a:lnTo>
                  <a:pt x="837166" y="281509"/>
                </a:lnTo>
                <a:lnTo>
                  <a:pt x="827913" y="257854"/>
                </a:lnTo>
                <a:close/>
              </a:path>
              <a:path w="1502409" h="605789">
                <a:moveTo>
                  <a:pt x="922531" y="220842"/>
                </a:moveTo>
                <a:lnTo>
                  <a:pt x="851568" y="248601"/>
                </a:lnTo>
                <a:lnTo>
                  <a:pt x="860821" y="272256"/>
                </a:lnTo>
                <a:lnTo>
                  <a:pt x="931785" y="244497"/>
                </a:lnTo>
                <a:lnTo>
                  <a:pt x="922531" y="220842"/>
                </a:lnTo>
                <a:close/>
              </a:path>
              <a:path w="1502409" h="605789">
                <a:moveTo>
                  <a:pt x="1017150" y="183831"/>
                </a:moveTo>
                <a:lnTo>
                  <a:pt x="946186" y="211589"/>
                </a:lnTo>
                <a:lnTo>
                  <a:pt x="955440" y="235244"/>
                </a:lnTo>
                <a:lnTo>
                  <a:pt x="1026403" y="207484"/>
                </a:lnTo>
                <a:lnTo>
                  <a:pt x="1017150" y="183831"/>
                </a:lnTo>
                <a:close/>
              </a:path>
              <a:path w="1502409" h="605789">
                <a:moveTo>
                  <a:pt x="1111769" y="146818"/>
                </a:moveTo>
                <a:lnTo>
                  <a:pt x="1040805" y="174578"/>
                </a:lnTo>
                <a:lnTo>
                  <a:pt x="1050057" y="198233"/>
                </a:lnTo>
                <a:lnTo>
                  <a:pt x="1121022" y="170473"/>
                </a:lnTo>
                <a:lnTo>
                  <a:pt x="1111769" y="146818"/>
                </a:lnTo>
                <a:close/>
              </a:path>
              <a:path w="1502409" h="605789">
                <a:moveTo>
                  <a:pt x="1206388" y="109806"/>
                </a:moveTo>
                <a:lnTo>
                  <a:pt x="1135423" y="137566"/>
                </a:lnTo>
                <a:lnTo>
                  <a:pt x="1144676" y="161220"/>
                </a:lnTo>
                <a:lnTo>
                  <a:pt x="1215640" y="133461"/>
                </a:lnTo>
                <a:lnTo>
                  <a:pt x="1206388" y="109806"/>
                </a:lnTo>
                <a:close/>
              </a:path>
              <a:path w="1502409" h="605789">
                <a:moveTo>
                  <a:pt x="1301005" y="72795"/>
                </a:moveTo>
                <a:lnTo>
                  <a:pt x="1230041" y="100554"/>
                </a:lnTo>
                <a:lnTo>
                  <a:pt x="1239295" y="124208"/>
                </a:lnTo>
                <a:lnTo>
                  <a:pt x="1310259" y="96450"/>
                </a:lnTo>
                <a:lnTo>
                  <a:pt x="1301005" y="72795"/>
                </a:lnTo>
                <a:close/>
              </a:path>
              <a:path w="1502409" h="605789">
                <a:moveTo>
                  <a:pt x="1395624" y="35783"/>
                </a:moveTo>
                <a:lnTo>
                  <a:pt x="1324660" y="63541"/>
                </a:lnTo>
                <a:lnTo>
                  <a:pt x="1333914" y="87196"/>
                </a:lnTo>
                <a:lnTo>
                  <a:pt x="1404877" y="59438"/>
                </a:lnTo>
                <a:lnTo>
                  <a:pt x="1395624" y="35783"/>
                </a:lnTo>
                <a:close/>
              </a:path>
              <a:path w="1502409" h="605789">
                <a:moveTo>
                  <a:pt x="1492019" y="19027"/>
                </a:moveTo>
                <a:lnTo>
                  <a:pt x="1438460" y="19027"/>
                </a:lnTo>
                <a:lnTo>
                  <a:pt x="1447713" y="42682"/>
                </a:lnTo>
                <a:lnTo>
                  <a:pt x="1435885" y="47309"/>
                </a:lnTo>
                <a:lnTo>
                  <a:pt x="1445138" y="70963"/>
                </a:lnTo>
                <a:lnTo>
                  <a:pt x="1492019" y="19027"/>
                </a:lnTo>
                <a:close/>
              </a:path>
              <a:path w="1502409" h="605789">
                <a:moveTo>
                  <a:pt x="1426632" y="23654"/>
                </a:moveTo>
                <a:lnTo>
                  <a:pt x="1419279" y="26530"/>
                </a:lnTo>
                <a:lnTo>
                  <a:pt x="1428532" y="50185"/>
                </a:lnTo>
                <a:lnTo>
                  <a:pt x="1435885" y="47309"/>
                </a:lnTo>
                <a:lnTo>
                  <a:pt x="1426632" y="23654"/>
                </a:lnTo>
                <a:close/>
              </a:path>
              <a:path w="1502409" h="605789">
                <a:moveTo>
                  <a:pt x="1438460" y="19027"/>
                </a:moveTo>
                <a:lnTo>
                  <a:pt x="1426632" y="23654"/>
                </a:lnTo>
                <a:lnTo>
                  <a:pt x="1435885" y="47309"/>
                </a:lnTo>
                <a:lnTo>
                  <a:pt x="1447713" y="42682"/>
                </a:lnTo>
                <a:lnTo>
                  <a:pt x="1438460" y="19027"/>
                </a:lnTo>
                <a:close/>
              </a:path>
              <a:path w="1502409" h="605789">
                <a:moveTo>
                  <a:pt x="1417379" y="0"/>
                </a:moveTo>
                <a:lnTo>
                  <a:pt x="1426632" y="23654"/>
                </a:lnTo>
                <a:lnTo>
                  <a:pt x="1438460" y="19027"/>
                </a:lnTo>
                <a:lnTo>
                  <a:pt x="1492019" y="19027"/>
                </a:lnTo>
                <a:lnTo>
                  <a:pt x="1502223" y="7722"/>
                </a:lnTo>
                <a:lnTo>
                  <a:pt x="141737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179870" y="4236616"/>
            <a:ext cx="744220" cy="1412240"/>
          </a:xfrm>
          <a:custGeom>
            <a:avLst/>
            <a:gdLst/>
            <a:ahLst/>
            <a:cxnLst/>
            <a:rect l="l" t="t" r="r" b="b"/>
            <a:pathLst>
              <a:path w="744220" h="1412239">
                <a:moveTo>
                  <a:pt x="35208" y="1332666"/>
                </a:moveTo>
                <a:lnTo>
                  <a:pt x="0" y="1400245"/>
                </a:lnTo>
                <a:lnTo>
                  <a:pt x="22525" y="1411981"/>
                </a:lnTo>
                <a:lnTo>
                  <a:pt x="57734" y="1344404"/>
                </a:lnTo>
                <a:lnTo>
                  <a:pt x="35208" y="1332666"/>
                </a:lnTo>
                <a:close/>
              </a:path>
              <a:path w="744220" h="1412239">
                <a:moveTo>
                  <a:pt x="82152" y="1242562"/>
                </a:moveTo>
                <a:lnTo>
                  <a:pt x="46944" y="1310140"/>
                </a:lnTo>
                <a:lnTo>
                  <a:pt x="69470" y="1321876"/>
                </a:lnTo>
                <a:lnTo>
                  <a:pt x="104678" y="1254298"/>
                </a:lnTo>
                <a:lnTo>
                  <a:pt x="82152" y="1242562"/>
                </a:lnTo>
                <a:close/>
              </a:path>
              <a:path w="744220" h="1412239">
                <a:moveTo>
                  <a:pt x="129098" y="1152458"/>
                </a:moveTo>
                <a:lnTo>
                  <a:pt x="93888" y="1220036"/>
                </a:lnTo>
                <a:lnTo>
                  <a:pt x="116414" y="1231773"/>
                </a:lnTo>
                <a:lnTo>
                  <a:pt x="151624" y="1164195"/>
                </a:lnTo>
                <a:lnTo>
                  <a:pt x="129098" y="1152458"/>
                </a:lnTo>
                <a:close/>
              </a:path>
              <a:path w="744220" h="1412239">
                <a:moveTo>
                  <a:pt x="176042" y="1062355"/>
                </a:moveTo>
                <a:lnTo>
                  <a:pt x="140834" y="1129932"/>
                </a:lnTo>
                <a:lnTo>
                  <a:pt x="163360" y="1141669"/>
                </a:lnTo>
                <a:lnTo>
                  <a:pt x="198568" y="1074091"/>
                </a:lnTo>
                <a:lnTo>
                  <a:pt x="176042" y="1062355"/>
                </a:lnTo>
                <a:close/>
              </a:path>
              <a:path w="744220" h="1412239">
                <a:moveTo>
                  <a:pt x="222986" y="972251"/>
                </a:moveTo>
                <a:lnTo>
                  <a:pt x="187778" y="1039829"/>
                </a:lnTo>
                <a:lnTo>
                  <a:pt x="210304" y="1051565"/>
                </a:lnTo>
                <a:lnTo>
                  <a:pt x="245512" y="983987"/>
                </a:lnTo>
                <a:lnTo>
                  <a:pt x="222986" y="972251"/>
                </a:lnTo>
                <a:close/>
              </a:path>
              <a:path w="744220" h="1412239">
                <a:moveTo>
                  <a:pt x="269930" y="882147"/>
                </a:moveTo>
                <a:lnTo>
                  <a:pt x="234722" y="949725"/>
                </a:lnTo>
                <a:lnTo>
                  <a:pt x="257248" y="961461"/>
                </a:lnTo>
                <a:lnTo>
                  <a:pt x="292456" y="893883"/>
                </a:lnTo>
                <a:lnTo>
                  <a:pt x="269930" y="882147"/>
                </a:lnTo>
                <a:close/>
              </a:path>
              <a:path w="744220" h="1412239">
                <a:moveTo>
                  <a:pt x="316876" y="792043"/>
                </a:moveTo>
                <a:lnTo>
                  <a:pt x="281666" y="859621"/>
                </a:lnTo>
                <a:lnTo>
                  <a:pt x="304194" y="871357"/>
                </a:lnTo>
                <a:lnTo>
                  <a:pt x="339402" y="803779"/>
                </a:lnTo>
                <a:lnTo>
                  <a:pt x="316876" y="792043"/>
                </a:lnTo>
                <a:close/>
              </a:path>
              <a:path w="744220" h="1412239">
                <a:moveTo>
                  <a:pt x="363820" y="701937"/>
                </a:moveTo>
                <a:lnTo>
                  <a:pt x="328612" y="769515"/>
                </a:lnTo>
                <a:lnTo>
                  <a:pt x="351138" y="781251"/>
                </a:lnTo>
                <a:lnTo>
                  <a:pt x="386346" y="713673"/>
                </a:lnTo>
                <a:lnTo>
                  <a:pt x="363820" y="701937"/>
                </a:lnTo>
                <a:close/>
              </a:path>
              <a:path w="744220" h="1412239">
                <a:moveTo>
                  <a:pt x="410764" y="611833"/>
                </a:moveTo>
                <a:lnTo>
                  <a:pt x="375556" y="679411"/>
                </a:lnTo>
                <a:lnTo>
                  <a:pt x="398082" y="691147"/>
                </a:lnTo>
                <a:lnTo>
                  <a:pt x="433290" y="623569"/>
                </a:lnTo>
                <a:lnTo>
                  <a:pt x="410764" y="611833"/>
                </a:lnTo>
                <a:close/>
              </a:path>
              <a:path w="744220" h="1412239">
                <a:moveTo>
                  <a:pt x="457709" y="521729"/>
                </a:moveTo>
                <a:lnTo>
                  <a:pt x="422501" y="589307"/>
                </a:lnTo>
                <a:lnTo>
                  <a:pt x="445027" y="601044"/>
                </a:lnTo>
                <a:lnTo>
                  <a:pt x="480236" y="533466"/>
                </a:lnTo>
                <a:lnTo>
                  <a:pt x="457709" y="521729"/>
                </a:lnTo>
                <a:close/>
              </a:path>
              <a:path w="744220" h="1412239">
                <a:moveTo>
                  <a:pt x="504654" y="431626"/>
                </a:moveTo>
                <a:lnTo>
                  <a:pt x="469446" y="499203"/>
                </a:lnTo>
                <a:lnTo>
                  <a:pt x="491972" y="510940"/>
                </a:lnTo>
                <a:lnTo>
                  <a:pt x="527180" y="443362"/>
                </a:lnTo>
                <a:lnTo>
                  <a:pt x="504654" y="431626"/>
                </a:lnTo>
                <a:close/>
              </a:path>
              <a:path w="744220" h="1412239">
                <a:moveTo>
                  <a:pt x="551599" y="341522"/>
                </a:moveTo>
                <a:lnTo>
                  <a:pt x="516390" y="409100"/>
                </a:lnTo>
                <a:lnTo>
                  <a:pt x="538916" y="420836"/>
                </a:lnTo>
                <a:lnTo>
                  <a:pt x="574125" y="353258"/>
                </a:lnTo>
                <a:lnTo>
                  <a:pt x="551599" y="341522"/>
                </a:lnTo>
                <a:close/>
              </a:path>
              <a:path w="744220" h="1412239">
                <a:moveTo>
                  <a:pt x="598543" y="251416"/>
                </a:moveTo>
                <a:lnTo>
                  <a:pt x="563335" y="318996"/>
                </a:lnTo>
                <a:lnTo>
                  <a:pt x="585861" y="330732"/>
                </a:lnTo>
                <a:lnTo>
                  <a:pt x="621069" y="263154"/>
                </a:lnTo>
                <a:lnTo>
                  <a:pt x="598543" y="251416"/>
                </a:lnTo>
                <a:close/>
              </a:path>
              <a:path w="744220" h="1412239">
                <a:moveTo>
                  <a:pt x="645488" y="161312"/>
                </a:moveTo>
                <a:lnTo>
                  <a:pt x="610279" y="228890"/>
                </a:lnTo>
                <a:lnTo>
                  <a:pt x="632805" y="240628"/>
                </a:lnTo>
                <a:lnTo>
                  <a:pt x="668014" y="173050"/>
                </a:lnTo>
                <a:lnTo>
                  <a:pt x="645488" y="161312"/>
                </a:lnTo>
                <a:close/>
              </a:path>
              <a:path w="744220" h="1412239">
                <a:moveTo>
                  <a:pt x="692433" y="71208"/>
                </a:moveTo>
                <a:lnTo>
                  <a:pt x="657225" y="138786"/>
                </a:lnTo>
                <a:lnTo>
                  <a:pt x="679750" y="150522"/>
                </a:lnTo>
                <a:lnTo>
                  <a:pt x="714959" y="82944"/>
                </a:lnTo>
                <a:lnTo>
                  <a:pt x="692433" y="71208"/>
                </a:lnTo>
                <a:close/>
              </a:path>
              <a:path w="744220" h="1412239">
                <a:moveTo>
                  <a:pt x="743854" y="0"/>
                </a:moveTo>
                <a:lnTo>
                  <a:pt x="674856" y="49973"/>
                </a:lnTo>
                <a:lnTo>
                  <a:pt x="742434" y="85182"/>
                </a:lnTo>
                <a:lnTo>
                  <a:pt x="74385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677514" y="5519420"/>
            <a:ext cx="423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ESR</a:t>
            </a:r>
            <a:r>
              <a:rPr dirty="0" sz="120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145040" y="559663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6999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6999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145040" y="559663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6003268" y="5531611"/>
            <a:ext cx="558800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55244" marR="5080" indent="-43180">
              <a:lnSpc>
                <a:spcPts val="1390"/>
              </a:lnSpc>
              <a:spcBef>
                <a:spcPts val="185"/>
              </a:spcBef>
            </a:pPr>
            <a:r>
              <a:rPr dirty="0" sz="1200" spc="-5">
                <a:latin typeface="Arial"/>
                <a:cs typeface="Arial"/>
              </a:rPr>
              <a:t>Short</a:t>
            </a:r>
            <a:r>
              <a:rPr dirty="0" sz="1200" spc="-85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of  Breath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6204459" y="485437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2"/>
                </a:lnTo>
                <a:lnTo>
                  <a:pt x="51877" y="37510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204459" y="485437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5915816" y="4243535"/>
            <a:ext cx="737235" cy="747395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98755">
              <a:lnSpc>
                <a:spcPts val="1180"/>
              </a:lnSpc>
            </a:pPr>
            <a:r>
              <a:rPr dirty="0" sz="1200" spc="-5">
                <a:latin typeface="Arial"/>
                <a:cs typeface="Arial"/>
              </a:rPr>
              <a:t>Cancer</a:t>
            </a:r>
            <a:endParaRPr sz="1200">
              <a:latin typeface="Arial"/>
              <a:cs typeface="Arial"/>
            </a:endParaRPr>
          </a:p>
          <a:p>
            <a:pPr marL="16510" marR="194945">
              <a:lnSpc>
                <a:spcPts val="1420"/>
              </a:lnSpc>
              <a:spcBef>
                <a:spcPts val="495"/>
              </a:spcBef>
            </a:pPr>
            <a:r>
              <a:rPr dirty="0" sz="1200" spc="-5">
                <a:latin typeface="Arial"/>
                <a:cs typeface="Arial"/>
              </a:rPr>
              <a:t>Lung  Cancer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44</a:t>
            </a:fld>
          </a:p>
        </p:txBody>
      </p:sp>
      <p:sp>
        <p:nvSpPr>
          <p:cNvPr id="52" name="object 52"/>
          <p:cNvSpPr txBox="1"/>
          <p:nvPr/>
        </p:nvSpPr>
        <p:spPr>
          <a:xfrm>
            <a:off x="618108" y="1877060"/>
            <a:ext cx="8370570" cy="190246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87630">
              <a:lnSpc>
                <a:spcPct val="100000"/>
              </a:lnSpc>
              <a:spcBef>
                <a:spcPts val="1540"/>
              </a:spcBef>
            </a:pPr>
            <a:r>
              <a:rPr dirty="0" sz="2400" spc="-5" b="1">
                <a:latin typeface="Calibri"/>
                <a:cs typeface="Calibri"/>
              </a:rPr>
              <a:t>((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e:ESR2</a:t>
            </a:r>
            <a:r>
              <a:rPr dirty="0" sz="2400" spc="-5" b="1">
                <a:latin typeface="Calibri"/>
                <a:cs typeface="Calibri"/>
              </a:rPr>
              <a:t>, (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r:Assoc, </a:t>
            </a:r>
            <a:r>
              <a:rPr dirty="0" sz="2400" spc="-20" b="1">
                <a:solidFill>
                  <a:srgbClr val="479249"/>
                </a:solidFill>
                <a:latin typeface="Calibri"/>
                <a:cs typeface="Calibri"/>
              </a:rPr>
              <a:t>r:TreatedBy</a:t>
            </a:r>
            <a:r>
              <a:rPr dirty="0" sz="2400" spc="-20" b="1">
                <a:latin typeface="Calibri"/>
                <a:cs typeface="Calibri"/>
              </a:rPr>
              <a:t>)),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e:Short of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Breath</a:t>
            </a:r>
            <a:r>
              <a:rPr dirty="0" sz="2400" spc="-10" b="1">
                <a:latin typeface="Calibri"/>
                <a:cs typeface="Calibri"/>
              </a:rPr>
              <a:t>,</a:t>
            </a:r>
            <a:r>
              <a:rPr dirty="0" sz="2400" spc="10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B48200"/>
                </a:solidFill>
                <a:latin typeface="Calibri"/>
                <a:cs typeface="Calibri"/>
              </a:rPr>
              <a:t>r:CausedBy</a:t>
            </a:r>
            <a:r>
              <a:rPr dirty="0" sz="2400" spc="-5" b="1">
                <a:latin typeface="Calibri"/>
                <a:cs typeface="Calibri"/>
              </a:rPr>
              <a:t>))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62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5">
                <a:latin typeface="Calibri"/>
                <a:cs typeface="Calibri"/>
              </a:rPr>
              <a:t>Use </a:t>
            </a:r>
            <a:r>
              <a:rPr dirty="0" sz="2700" spc="-10" b="1">
                <a:solidFill>
                  <a:srgbClr val="479249"/>
                </a:solidFill>
                <a:latin typeface="Calibri"/>
                <a:cs typeface="Calibri"/>
              </a:rPr>
              <a:t>projection </a:t>
            </a:r>
            <a:r>
              <a:rPr dirty="0" sz="2700" spc="-20" b="1">
                <a:solidFill>
                  <a:srgbClr val="479249"/>
                </a:solidFill>
                <a:latin typeface="Calibri"/>
                <a:cs typeface="Calibri"/>
              </a:rPr>
              <a:t>operator </a:t>
            </a:r>
            <a:r>
              <a:rPr dirty="0" sz="2700" spc="-15">
                <a:latin typeface="Calibri"/>
                <a:cs typeface="Calibri"/>
              </a:rPr>
              <a:t>again </a:t>
            </a:r>
            <a:r>
              <a:rPr dirty="0" sz="2700" spc="-10">
                <a:latin typeface="Calibri"/>
                <a:cs typeface="Calibri"/>
              </a:rPr>
              <a:t>following the query</a:t>
            </a:r>
            <a:r>
              <a:rPr dirty="0" sz="2700" spc="12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plan.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750">
              <a:latin typeface="Times New Roman"/>
              <a:cs typeface="Times New Roman"/>
            </a:endParaRPr>
          </a:p>
          <a:p>
            <a:pPr marL="322580">
              <a:lnSpc>
                <a:spcPct val="100000"/>
              </a:lnSpc>
              <a:tabLst>
                <a:tab pos="5025390" algn="l"/>
              </a:tabLst>
            </a:pPr>
            <a:r>
              <a:rPr dirty="0" sz="2000" spc="-5" b="1">
                <a:latin typeface="Arial"/>
                <a:cs typeface="Arial"/>
              </a:rPr>
              <a:t>Query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Plan	Embedding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Space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9342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865" rIns="0" bIns="0" rtlCol="0" vert="horz">
            <a:spAutoFit/>
          </a:bodyPr>
          <a:lstStyle/>
          <a:p>
            <a:pPr marL="12700" marR="5080">
              <a:lnSpc>
                <a:spcPts val="2880"/>
              </a:lnSpc>
              <a:spcBef>
                <a:spcPts val="495"/>
              </a:spcBef>
            </a:pPr>
            <a:r>
              <a:rPr dirty="0" spc="-5" i="0">
                <a:latin typeface="Calibri"/>
                <a:cs typeface="Calibri"/>
              </a:rPr>
              <a:t>“</a:t>
            </a:r>
            <a:r>
              <a:rPr dirty="0" spc="-5"/>
              <a:t>What </a:t>
            </a:r>
            <a:r>
              <a:rPr dirty="0"/>
              <a:t>is </a:t>
            </a:r>
            <a:r>
              <a:rPr dirty="0" spc="-5"/>
              <a:t>the drug that </a:t>
            </a:r>
            <a:r>
              <a:rPr dirty="0" spc="-10"/>
              <a:t>causes </a:t>
            </a:r>
            <a:r>
              <a:rPr dirty="0" spc="-5"/>
              <a:t>Short </a:t>
            </a:r>
            <a:r>
              <a:rPr dirty="0"/>
              <a:t>of </a:t>
            </a:r>
            <a:r>
              <a:rPr dirty="0" spc="-5"/>
              <a:t>Breath and treats  </a:t>
            </a:r>
            <a:r>
              <a:rPr dirty="0" spc="-5" i="1"/>
              <a:t>disease </a:t>
            </a:r>
            <a:r>
              <a:rPr dirty="0" spc="-10" i="1"/>
              <a:t>associated </a:t>
            </a:r>
            <a:r>
              <a:rPr dirty="0" spc="-5" i="1"/>
              <a:t>with </a:t>
            </a:r>
            <a:r>
              <a:rPr dirty="0" spc="-10" i="1"/>
              <a:t>protein</a:t>
            </a:r>
            <a:r>
              <a:rPr dirty="0" spc="0" i="1"/>
              <a:t> </a:t>
            </a:r>
            <a:r>
              <a:rPr dirty="0" i="1"/>
              <a:t>ESR2?”</a:t>
            </a:r>
          </a:p>
        </p:txBody>
      </p:sp>
      <p:sp>
        <p:nvSpPr>
          <p:cNvPr id="4" name="object 4"/>
          <p:cNvSpPr/>
          <p:nvPr/>
        </p:nvSpPr>
        <p:spPr>
          <a:xfrm>
            <a:off x="1746025" y="556361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46025" y="556361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85109" y="510232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85109" y="510232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46054" y="450032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46054" y="450032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02743" y="4458715"/>
            <a:ext cx="423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ESR</a:t>
            </a:r>
            <a:r>
              <a:rPr dirty="0" sz="120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55136" y="5446267"/>
            <a:ext cx="558800" cy="3886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55244" marR="5080" indent="-43180">
              <a:lnSpc>
                <a:spcPts val="1420"/>
              </a:lnSpc>
              <a:spcBef>
                <a:spcPts val="160"/>
              </a:spcBef>
            </a:pPr>
            <a:r>
              <a:rPr dirty="0" sz="1200" spc="-5">
                <a:latin typeface="Arial"/>
                <a:cs typeface="Arial"/>
              </a:rPr>
              <a:t>Short</a:t>
            </a:r>
            <a:r>
              <a:rPr dirty="0" sz="1200" spc="-85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of  Breath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6261" y="4619244"/>
            <a:ext cx="495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sso</a:t>
            </a:r>
            <a:r>
              <a:rPr dirty="0" sz="14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7776" y="448360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1"/>
                </a:lnTo>
                <a:lnTo>
                  <a:pt x="83516" y="162610"/>
                </a:lnTo>
                <a:lnTo>
                  <a:pt x="116024" y="156221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3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57776" y="448360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24769" y="4485128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4" h="161925">
                <a:moveTo>
                  <a:pt x="783077" y="107949"/>
                </a:moveTo>
                <a:lnTo>
                  <a:pt x="782996" y="161925"/>
                </a:lnTo>
                <a:lnTo>
                  <a:pt x="891272" y="107990"/>
                </a:lnTo>
                <a:lnTo>
                  <a:pt x="810064" y="107990"/>
                </a:lnTo>
                <a:lnTo>
                  <a:pt x="783077" y="107949"/>
                </a:lnTo>
                <a:close/>
              </a:path>
              <a:path w="945514" h="161925">
                <a:moveTo>
                  <a:pt x="783158" y="53974"/>
                </a:moveTo>
                <a:lnTo>
                  <a:pt x="783077" y="107949"/>
                </a:lnTo>
                <a:lnTo>
                  <a:pt x="810064" y="107990"/>
                </a:lnTo>
                <a:lnTo>
                  <a:pt x="810146" y="54015"/>
                </a:lnTo>
                <a:lnTo>
                  <a:pt x="783158" y="53974"/>
                </a:lnTo>
                <a:close/>
              </a:path>
              <a:path w="945514" h="161925">
                <a:moveTo>
                  <a:pt x="783239" y="0"/>
                </a:moveTo>
                <a:lnTo>
                  <a:pt x="783158" y="53974"/>
                </a:lnTo>
                <a:lnTo>
                  <a:pt x="810146" y="54015"/>
                </a:lnTo>
                <a:lnTo>
                  <a:pt x="810064" y="107990"/>
                </a:lnTo>
                <a:lnTo>
                  <a:pt x="891272" y="107990"/>
                </a:lnTo>
                <a:lnTo>
                  <a:pt x="945043" y="81206"/>
                </a:lnTo>
                <a:lnTo>
                  <a:pt x="783239" y="0"/>
                </a:lnTo>
                <a:close/>
              </a:path>
              <a:path w="945514" h="161925">
                <a:moveTo>
                  <a:pt x="81" y="52793"/>
                </a:moveTo>
                <a:lnTo>
                  <a:pt x="0" y="106767"/>
                </a:lnTo>
                <a:lnTo>
                  <a:pt x="783077" y="107949"/>
                </a:lnTo>
                <a:lnTo>
                  <a:pt x="783158" y="53974"/>
                </a:lnTo>
                <a:lnTo>
                  <a:pt x="81" y="5279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971971" y="4617890"/>
            <a:ext cx="638175" cy="508634"/>
          </a:xfrm>
          <a:custGeom>
            <a:avLst/>
            <a:gdLst/>
            <a:ahLst/>
            <a:cxnLst/>
            <a:rect l="l" t="t" r="r" b="b"/>
            <a:pathLst>
              <a:path w="638175" h="508635">
                <a:moveTo>
                  <a:pt x="33310" y="0"/>
                </a:moveTo>
                <a:lnTo>
                  <a:pt x="0" y="42470"/>
                </a:lnTo>
                <a:lnTo>
                  <a:pt x="42471" y="75779"/>
                </a:lnTo>
                <a:lnTo>
                  <a:pt x="75780" y="33309"/>
                </a:lnTo>
                <a:lnTo>
                  <a:pt x="33310" y="0"/>
                </a:lnTo>
                <a:close/>
              </a:path>
              <a:path w="638175" h="508635">
                <a:moveTo>
                  <a:pt x="118250" y="66620"/>
                </a:moveTo>
                <a:lnTo>
                  <a:pt x="84941" y="109090"/>
                </a:lnTo>
                <a:lnTo>
                  <a:pt x="127411" y="142400"/>
                </a:lnTo>
                <a:lnTo>
                  <a:pt x="160721" y="99929"/>
                </a:lnTo>
                <a:lnTo>
                  <a:pt x="118250" y="66620"/>
                </a:lnTo>
                <a:close/>
              </a:path>
              <a:path w="638175" h="508635">
                <a:moveTo>
                  <a:pt x="203192" y="133240"/>
                </a:moveTo>
                <a:lnTo>
                  <a:pt x="169881" y="175710"/>
                </a:lnTo>
                <a:lnTo>
                  <a:pt x="212351" y="209020"/>
                </a:lnTo>
                <a:lnTo>
                  <a:pt x="245662" y="166550"/>
                </a:lnTo>
                <a:lnTo>
                  <a:pt x="203192" y="133240"/>
                </a:lnTo>
                <a:close/>
              </a:path>
              <a:path w="638175" h="508635">
                <a:moveTo>
                  <a:pt x="288132" y="199861"/>
                </a:moveTo>
                <a:lnTo>
                  <a:pt x="254821" y="242331"/>
                </a:lnTo>
                <a:lnTo>
                  <a:pt x="297293" y="275642"/>
                </a:lnTo>
                <a:lnTo>
                  <a:pt x="330602" y="233170"/>
                </a:lnTo>
                <a:lnTo>
                  <a:pt x="288132" y="199861"/>
                </a:lnTo>
                <a:close/>
              </a:path>
              <a:path w="638175" h="508635">
                <a:moveTo>
                  <a:pt x="373072" y="266481"/>
                </a:moveTo>
                <a:lnTo>
                  <a:pt x="339763" y="308951"/>
                </a:lnTo>
                <a:lnTo>
                  <a:pt x="382233" y="342262"/>
                </a:lnTo>
                <a:lnTo>
                  <a:pt x="415544" y="299791"/>
                </a:lnTo>
                <a:lnTo>
                  <a:pt x="373072" y="266481"/>
                </a:lnTo>
                <a:close/>
              </a:path>
              <a:path w="638175" h="508635">
                <a:moveTo>
                  <a:pt x="560153" y="344615"/>
                </a:moveTo>
                <a:lnTo>
                  <a:pt x="460222" y="472027"/>
                </a:lnTo>
                <a:lnTo>
                  <a:pt x="637599" y="508252"/>
                </a:lnTo>
                <a:lnTo>
                  <a:pt x="608237" y="446211"/>
                </a:lnTo>
                <a:lnTo>
                  <a:pt x="514769" y="446211"/>
                </a:lnTo>
                <a:lnTo>
                  <a:pt x="509644" y="442192"/>
                </a:lnTo>
                <a:lnTo>
                  <a:pt x="542954" y="399722"/>
                </a:lnTo>
                <a:lnTo>
                  <a:pt x="586234" y="399722"/>
                </a:lnTo>
                <a:lnTo>
                  <a:pt x="560153" y="344615"/>
                </a:lnTo>
                <a:close/>
              </a:path>
              <a:path w="638175" h="508635">
                <a:moveTo>
                  <a:pt x="542954" y="399722"/>
                </a:moveTo>
                <a:lnTo>
                  <a:pt x="509644" y="442192"/>
                </a:lnTo>
                <a:lnTo>
                  <a:pt x="514769" y="446211"/>
                </a:lnTo>
                <a:lnTo>
                  <a:pt x="548078" y="403741"/>
                </a:lnTo>
                <a:lnTo>
                  <a:pt x="542954" y="399722"/>
                </a:lnTo>
                <a:close/>
              </a:path>
              <a:path w="638175" h="508635">
                <a:moveTo>
                  <a:pt x="586234" y="399722"/>
                </a:moveTo>
                <a:lnTo>
                  <a:pt x="542954" y="399722"/>
                </a:lnTo>
                <a:lnTo>
                  <a:pt x="548078" y="403741"/>
                </a:lnTo>
                <a:lnTo>
                  <a:pt x="514769" y="446211"/>
                </a:lnTo>
                <a:lnTo>
                  <a:pt x="608237" y="446211"/>
                </a:lnTo>
                <a:lnTo>
                  <a:pt x="586234" y="399722"/>
                </a:lnTo>
                <a:close/>
              </a:path>
              <a:path w="638175" h="508635">
                <a:moveTo>
                  <a:pt x="458014" y="333101"/>
                </a:moveTo>
                <a:lnTo>
                  <a:pt x="424703" y="375572"/>
                </a:lnTo>
                <a:lnTo>
                  <a:pt x="467173" y="408882"/>
                </a:lnTo>
                <a:lnTo>
                  <a:pt x="500484" y="366412"/>
                </a:lnTo>
                <a:lnTo>
                  <a:pt x="458014" y="3331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913058" y="5563957"/>
            <a:ext cx="955675" cy="161925"/>
          </a:xfrm>
          <a:custGeom>
            <a:avLst/>
            <a:gdLst/>
            <a:ahLst/>
            <a:cxnLst/>
            <a:rect l="l" t="t" r="r" b="b"/>
            <a:pathLst>
              <a:path w="955675" h="161925">
                <a:moveTo>
                  <a:pt x="793351" y="107949"/>
                </a:moveTo>
                <a:lnTo>
                  <a:pt x="793351" y="161924"/>
                </a:lnTo>
                <a:lnTo>
                  <a:pt x="901301" y="107949"/>
                </a:lnTo>
                <a:lnTo>
                  <a:pt x="793351" y="107949"/>
                </a:lnTo>
                <a:close/>
              </a:path>
              <a:path w="955675" h="161925">
                <a:moveTo>
                  <a:pt x="793351" y="53974"/>
                </a:moveTo>
                <a:lnTo>
                  <a:pt x="793351" y="107949"/>
                </a:lnTo>
                <a:lnTo>
                  <a:pt x="820338" y="107949"/>
                </a:lnTo>
                <a:lnTo>
                  <a:pt x="820338" y="53974"/>
                </a:lnTo>
                <a:lnTo>
                  <a:pt x="793351" y="53974"/>
                </a:lnTo>
                <a:close/>
              </a:path>
              <a:path w="955675" h="161925">
                <a:moveTo>
                  <a:pt x="793351" y="0"/>
                </a:moveTo>
                <a:lnTo>
                  <a:pt x="793351" y="53974"/>
                </a:lnTo>
                <a:lnTo>
                  <a:pt x="820338" y="53974"/>
                </a:lnTo>
                <a:lnTo>
                  <a:pt x="820338" y="107949"/>
                </a:lnTo>
                <a:lnTo>
                  <a:pt x="901303" y="107948"/>
                </a:lnTo>
                <a:lnTo>
                  <a:pt x="955276" y="80962"/>
                </a:lnTo>
                <a:lnTo>
                  <a:pt x="793351" y="0"/>
                </a:lnTo>
                <a:close/>
              </a:path>
              <a:path w="955675" h="161925">
                <a:moveTo>
                  <a:pt x="0" y="53973"/>
                </a:moveTo>
                <a:lnTo>
                  <a:pt x="0" y="107948"/>
                </a:lnTo>
                <a:lnTo>
                  <a:pt x="793351" y="107949"/>
                </a:lnTo>
                <a:lnTo>
                  <a:pt x="793351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868334" y="556361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868334" y="556361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997394" y="5241126"/>
            <a:ext cx="612775" cy="370205"/>
          </a:xfrm>
          <a:custGeom>
            <a:avLst/>
            <a:gdLst/>
            <a:ahLst/>
            <a:cxnLst/>
            <a:rect l="l" t="t" r="r" b="b"/>
            <a:pathLst>
              <a:path w="612775" h="370204">
                <a:moveTo>
                  <a:pt x="46720" y="295915"/>
                </a:moveTo>
                <a:lnTo>
                  <a:pt x="0" y="322940"/>
                </a:lnTo>
                <a:lnTo>
                  <a:pt x="27025" y="369662"/>
                </a:lnTo>
                <a:lnTo>
                  <a:pt x="73747" y="342635"/>
                </a:lnTo>
                <a:lnTo>
                  <a:pt x="46720" y="295915"/>
                </a:lnTo>
                <a:close/>
              </a:path>
              <a:path w="612775" h="370204">
                <a:moveTo>
                  <a:pt x="140163" y="241862"/>
                </a:moveTo>
                <a:lnTo>
                  <a:pt x="93442" y="268888"/>
                </a:lnTo>
                <a:lnTo>
                  <a:pt x="120468" y="315610"/>
                </a:lnTo>
                <a:lnTo>
                  <a:pt x="167189" y="288583"/>
                </a:lnTo>
                <a:lnTo>
                  <a:pt x="140163" y="241862"/>
                </a:lnTo>
                <a:close/>
              </a:path>
              <a:path w="612775" h="370204">
                <a:moveTo>
                  <a:pt x="233606" y="187810"/>
                </a:moveTo>
                <a:lnTo>
                  <a:pt x="186884" y="214835"/>
                </a:lnTo>
                <a:lnTo>
                  <a:pt x="213911" y="261557"/>
                </a:lnTo>
                <a:lnTo>
                  <a:pt x="260631" y="234530"/>
                </a:lnTo>
                <a:lnTo>
                  <a:pt x="233606" y="187810"/>
                </a:lnTo>
                <a:close/>
              </a:path>
              <a:path w="612775" h="370204">
                <a:moveTo>
                  <a:pt x="327049" y="133757"/>
                </a:moveTo>
                <a:lnTo>
                  <a:pt x="280327" y="160783"/>
                </a:lnTo>
                <a:lnTo>
                  <a:pt x="307353" y="207505"/>
                </a:lnTo>
                <a:lnTo>
                  <a:pt x="354074" y="180478"/>
                </a:lnTo>
                <a:lnTo>
                  <a:pt x="327049" y="133757"/>
                </a:lnTo>
                <a:close/>
              </a:path>
              <a:path w="612775" h="370204">
                <a:moveTo>
                  <a:pt x="420491" y="79705"/>
                </a:moveTo>
                <a:lnTo>
                  <a:pt x="373769" y="106730"/>
                </a:lnTo>
                <a:lnTo>
                  <a:pt x="400796" y="153452"/>
                </a:lnTo>
                <a:lnTo>
                  <a:pt x="447517" y="126425"/>
                </a:lnTo>
                <a:lnTo>
                  <a:pt x="420491" y="79705"/>
                </a:lnTo>
                <a:close/>
              </a:path>
              <a:path w="612775" h="370204">
                <a:moveTo>
                  <a:pt x="612176" y="0"/>
                </a:moveTo>
                <a:lnTo>
                  <a:pt x="431473" y="10996"/>
                </a:lnTo>
                <a:lnTo>
                  <a:pt x="512551" y="151161"/>
                </a:lnTo>
                <a:lnTo>
                  <a:pt x="546665" y="99400"/>
                </a:lnTo>
                <a:lnTo>
                  <a:pt x="494239" y="99400"/>
                </a:lnTo>
                <a:lnTo>
                  <a:pt x="467212" y="52678"/>
                </a:lnTo>
                <a:lnTo>
                  <a:pt x="481860" y="44204"/>
                </a:lnTo>
                <a:lnTo>
                  <a:pt x="583043" y="44204"/>
                </a:lnTo>
                <a:lnTo>
                  <a:pt x="612176" y="0"/>
                </a:lnTo>
                <a:close/>
              </a:path>
              <a:path w="612775" h="370204">
                <a:moveTo>
                  <a:pt x="481860" y="44204"/>
                </a:moveTo>
                <a:lnTo>
                  <a:pt x="467212" y="52678"/>
                </a:lnTo>
                <a:lnTo>
                  <a:pt x="494239" y="99400"/>
                </a:lnTo>
                <a:lnTo>
                  <a:pt x="508886" y="90926"/>
                </a:lnTo>
                <a:lnTo>
                  <a:pt x="481860" y="44204"/>
                </a:lnTo>
                <a:close/>
              </a:path>
              <a:path w="612775" h="370204">
                <a:moveTo>
                  <a:pt x="583043" y="44204"/>
                </a:moveTo>
                <a:lnTo>
                  <a:pt x="481860" y="44204"/>
                </a:lnTo>
                <a:lnTo>
                  <a:pt x="508886" y="90926"/>
                </a:lnTo>
                <a:lnTo>
                  <a:pt x="494239" y="99400"/>
                </a:lnTo>
                <a:lnTo>
                  <a:pt x="546665" y="99400"/>
                </a:lnTo>
                <a:lnTo>
                  <a:pt x="583043" y="44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004649" y="5384291"/>
            <a:ext cx="8191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">
                <a:solidFill>
                  <a:srgbClr val="BF9000"/>
                </a:solidFill>
                <a:latin typeface="Arial"/>
                <a:cs typeface="Arial"/>
              </a:rPr>
              <a:t>C</a:t>
            </a:r>
            <a:r>
              <a:rPr dirty="0" sz="1400" spc="-30">
                <a:solidFill>
                  <a:srgbClr val="BF9000"/>
                </a:solidFill>
                <a:latin typeface="Arial"/>
                <a:cs typeface="Arial"/>
              </a:rPr>
              <a:t>au</a:t>
            </a: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s</a:t>
            </a:r>
            <a:r>
              <a:rPr dirty="0" sz="1400" spc="-30">
                <a:solidFill>
                  <a:srgbClr val="BF9000"/>
                </a:solidFill>
                <a:latin typeface="Arial"/>
                <a:cs typeface="Arial"/>
              </a:rPr>
              <a:t>ed</a:t>
            </a:r>
            <a:r>
              <a:rPr dirty="0" sz="1400" spc="-35">
                <a:solidFill>
                  <a:srgbClr val="BF9000"/>
                </a:solidFill>
                <a:latin typeface="Arial"/>
                <a:cs typeface="Arial"/>
              </a:rPr>
              <a:t>B</a:t>
            </a:r>
            <a:r>
              <a:rPr dirty="0" sz="1400">
                <a:solidFill>
                  <a:srgbClr val="BF9000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41436" y="4649723"/>
            <a:ext cx="8128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85070" y="4637532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85070" y="5460491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37592" y="450032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737592" y="450032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904626" y="4500670"/>
            <a:ext cx="941705" cy="161925"/>
          </a:xfrm>
          <a:custGeom>
            <a:avLst/>
            <a:gdLst/>
            <a:ahLst/>
            <a:cxnLst/>
            <a:rect l="l" t="t" r="r" b="b"/>
            <a:pathLst>
              <a:path w="941705" h="161925">
                <a:moveTo>
                  <a:pt x="779503" y="107949"/>
                </a:moveTo>
                <a:lnTo>
                  <a:pt x="779503" y="161924"/>
                </a:lnTo>
                <a:lnTo>
                  <a:pt x="887453" y="107949"/>
                </a:lnTo>
                <a:lnTo>
                  <a:pt x="779503" y="107949"/>
                </a:lnTo>
                <a:close/>
              </a:path>
              <a:path w="941705" h="161925">
                <a:moveTo>
                  <a:pt x="779503" y="53974"/>
                </a:moveTo>
                <a:lnTo>
                  <a:pt x="779503" y="107949"/>
                </a:lnTo>
                <a:lnTo>
                  <a:pt x="806490" y="107949"/>
                </a:lnTo>
                <a:lnTo>
                  <a:pt x="806490" y="53974"/>
                </a:lnTo>
                <a:lnTo>
                  <a:pt x="779503" y="53974"/>
                </a:lnTo>
                <a:close/>
              </a:path>
              <a:path w="941705" h="161925">
                <a:moveTo>
                  <a:pt x="779503" y="0"/>
                </a:moveTo>
                <a:lnTo>
                  <a:pt x="779503" y="53974"/>
                </a:lnTo>
                <a:lnTo>
                  <a:pt x="806490" y="53974"/>
                </a:lnTo>
                <a:lnTo>
                  <a:pt x="806490" y="107949"/>
                </a:lnTo>
                <a:lnTo>
                  <a:pt x="887455" y="107948"/>
                </a:lnTo>
                <a:lnTo>
                  <a:pt x="941428" y="80962"/>
                </a:lnTo>
                <a:lnTo>
                  <a:pt x="779503" y="0"/>
                </a:lnTo>
                <a:close/>
              </a:path>
              <a:path w="941705" h="161925">
                <a:moveTo>
                  <a:pt x="0" y="53973"/>
                </a:moveTo>
                <a:lnTo>
                  <a:pt x="0" y="107948"/>
                </a:lnTo>
                <a:lnTo>
                  <a:pt x="779503" y="107949"/>
                </a:lnTo>
                <a:lnTo>
                  <a:pt x="779503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230886" y="4970271"/>
            <a:ext cx="17272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12086" y="4131564"/>
            <a:ext cx="8191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479249"/>
                </a:solidFill>
                <a:latin typeface="Arial"/>
                <a:cs typeface="Arial"/>
              </a:rPr>
              <a:t>T</a:t>
            </a:r>
            <a:r>
              <a:rPr dirty="0" sz="1400" spc="-20">
                <a:solidFill>
                  <a:srgbClr val="479249"/>
                </a:solidFill>
                <a:latin typeface="Arial"/>
                <a:cs typeface="Arial"/>
              </a:rPr>
              <a:t>r</a:t>
            </a:r>
            <a:r>
              <a:rPr dirty="0" sz="1400" spc="-30">
                <a:solidFill>
                  <a:srgbClr val="479249"/>
                </a:solidFill>
                <a:latin typeface="Arial"/>
                <a:cs typeface="Arial"/>
              </a:rPr>
              <a:t>ea</a:t>
            </a:r>
            <a:r>
              <a:rPr dirty="0" sz="1400" spc="-15">
                <a:solidFill>
                  <a:srgbClr val="479249"/>
                </a:solidFill>
                <a:latin typeface="Arial"/>
                <a:cs typeface="Arial"/>
              </a:rPr>
              <a:t>t</a:t>
            </a:r>
            <a:r>
              <a:rPr dirty="0" sz="1400" spc="-30">
                <a:solidFill>
                  <a:srgbClr val="479249"/>
                </a:solidFill>
                <a:latin typeface="Arial"/>
                <a:cs typeface="Arial"/>
              </a:rPr>
              <a:t>ed</a:t>
            </a:r>
            <a:r>
              <a:rPr dirty="0" sz="1400" spc="-35">
                <a:solidFill>
                  <a:srgbClr val="479249"/>
                </a:solidFill>
                <a:latin typeface="Arial"/>
                <a:cs typeface="Arial"/>
              </a:rPr>
              <a:t>B</a:t>
            </a:r>
            <a:r>
              <a:rPr dirty="0" sz="1400">
                <a:solidFill>
                  <a:srgbClr val="479249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911903" y="5016164"/>
            <a:ext cx="1680210" cy="567690"/>
          </a:xfrm>
          <a:custGeom>
            <a:avLst/>
            <a:gdLst/>
            <a:ahLst/>
            <a:cxnLst/>
            <a:rect l="l" t="t" r="r" b="b"/>
            <a:pathLst>
              <a:path w="1680209" h="567689">
                <a:moveTo>
                  <a:pt x="7825" y="0"/>
                </a:moveTo>
                <a:lnTo>
                  <a:pt x="0" y="24164"/>
                </a:lnTo>
                <a:lnTo>
                  <a:pt x="72494" y="47640"/>
                </a:lnTo>
                <a:lnTo>
                  <a:pt x="80318" y="23475"/>
                </a:lnTo>
                <a:lnTo>
                  <a:pt x="7825" y="0"/>
                </a:lnTo>
                <a:close/>
              </a:path>
              <a:path w="1680209" h="567689">
                <a:moveTo>
                  <a:pt x="104482" y="31300"/>
                </a:moveTo>
                <a:lnTo>
                  <a:pt x="96658" y="55464"/>
                </a:lnTo>
                <a:lnTo>
                  <a:pt x="169152" y="78940"/>
                </a:lnTo>
                <a:lnTo>
                  <a:pt x="176977" y="54776"/>
                </a:lnTo>
                <a:lnTo>
                  <a:pt x="104482" y="31300"/>
                </a:lnTo>
                <a:close/>
              </a:path>
              <a:path w="1680209" h="567689">
                <a:moveTo>
                  <a:pt x="201141" y="62602"/>
                </a:moveTo>
                <a:lnTo>
                  <a:pt x="193316" y="86766"/>
                </a:lnTo>
                <a:lnTo>
                  <a:pt x="265809" y="110241"/>
                </a:lnTo>
                <a:lnTo>
                  <a:pt x="273635" y="86076"/>
                </a:lnTo>
                <a:lnTo>
                  <a:pt x="201141" y="62602"/>
                </a:lnTo>
                <a:close/>
              </a:path>
              <a:path w="1680209" h="567689">
                <a:moveTo>
                  <a:pt x="297799" y="93902"/>
                </a:moveTo>
                <a:lnTo>
                  <a:pt x="289975" y="118066"/>
                </a:lnTo>
                <a:lnTo>
                  <a:pt x="362468" y="141542"/>
                </a:lnTo>
                <a:lnTo>
                  <a:pt x="370293" y="117377"/>
                </a:lnTo>
                <a:lnTo>
                  <a:pt x="297799" y="93902"/>
                </a:lnTo>
                <a:close/>
              </a:path>
              <a:path w="1680209" h="567689">
                <a:moveTo>
                  <a:pt x="394458" y="125202"/>
                </a:moveTo>
                <a:lnTo>
                  <a:pt x="386632" y="149367"/>
                </a:lnTo>
                <a:lnTo>
                  <a:pt x="459126" y="172843"/>
                </a:lnTo>
                <a:lnTo>
                  <a:pt x="466952" y="148678"/>
                </a:lnTo>
                <a:lnTo>
                  <a:pt x="394458" y="125202"/>
                </a:lnTo>
                <a:close/>
              </a:path>
              <a:path w="1680209" h="567689">
                <a:moveTo>
                  <a:pt x="491116" y="156503"/>
                </a:moveTo>
                <a:lnTo>
                  <a:pt x="483290" y="180667"/>
                </a:lnTo>
                <a:lnTo>
                  <a:pt x="555785" y="204143"/>
                </a:lnTo>
                <a:lnTo>
                  <a:pt x="563610" y="179979"/>
                </a:lnTo>
                <a:lnTo>
                  <a:pt x="491116" y="156503"/>
                </a:lnTo>
                <a:close/>
              </a:path>
              <a:path w="1680209" h="567689">
                <a:moveTo>
                  <a:pt x="587775" y="187805"/>
                </a:moveTo>
                <a:lnTo>
                  <a:pt x="579949" y="211969"/>
                </a:lnTo>
                <a:lnTo>
                  <a:pt x="652443" y="235444"/>
                </a:lnTo>
                <a:lnTo>
                  <a:pt x="660267" y="211279"/>
                </a:lnTo>
                <a:lnTo>
                  <a:pt x="587775" y="187805"/>
                </a:lnTo>
                <a:close/>
              </a:path>
              <a:path w="1680209" h="567689">
                <a:moveTo>
                  <a:pt x="684433" y="219105"/>
                </a:moveTo>
                <a:lnTo>
                  <a:pt x="676607" y="243269"/>
                </a:lnTo>
                <a:lnTo>
                  <a:pt x="749101" y="266745"/>
                </a:lnTo>
                <a:lnTo>
                  <a:pt x="756926" y="242580"/>
                </a:lnTo>
                <a:lnTo>
                  <a:pt x="684433" y="219105"/>
                </a:lnTo>
                <a:close/>
              </a:path>
              <a:path w="1680209" h="567689">
                <a:moveTo>
                  <a:pt x="781091" y="250405"/>
                </a:moveTo>
                <a:lnTo>
                  <a:pt x="773266" y="274570"/>
                </a:lnTo>
                <a:lnTo>
                  <a:pt x="845760" y="298046"/>
                </a:lnTo>
                <a:lnTo>
                  <a:pt x="853584" y="273881"/>
                </a:lnTo>
                <a:lnTo>
                  <a:pt x="781091" y="250405"/>
                </a:lnTo>
                <a:close/>
              </a:path>
              <a:path w="1680209" h="567689">
                <a:moveTo>
                  <a:pt x="877749" y="281706"/>
                </a:moveTo>
                <a:lnTo>
                  <a:pt x="869924" y="305870"/>
                </a:lnTo>
                <a:lnTo>
                  <a:pt x="942417" y="329346"/>
                </a:lnTo>
                <a:lnTo>
                  <a:pt x="950243" y="305182"/>
                </a:lnTo>
                <a:lnTo>
                  <a:pt x="877749" y="281706"/>
                </a:lnTo>
                <a:close/>
              </a:path>
              <a:path w="1680209" h="567689">
                <a:moveTo>
                  <a:pt x="974407" y="313008"/>
                </a:moveTo>
                <a:lnTo>
                  <a:pt x="966583" y="337172"/>
                </a:lnTo>
                <a:lnTo>
                  <a:pt x="1039075" y="360646"/>
                </a:lnTo>
                <a:lnTo>
                  <a:pt x="1046901" y="336482"/>
                </a:lnTo>
                <a:lnTo>
                  <a:pt x="974407" y="313008"/>
                </a:lnTo>
                <a:close/>
              </a:path>
              <a:path w="1680209" h="567689">
                <a:moveTo>
                  <a:pt x="1071065" y="344308"/>
                </a:moveTo>
                <a:lnTo>
                  <a:pt x="1063241" y="368472"/>
                </a:lnTo>
                <a:lnTo>
                  <a:pt x="1135734" y="391948"/>
                </a:lnTo>
                <a:lnTo>
                  <a:pt x="1143560" y="367783"/>
                </a:lnTo>
                <a:lnTo>
                  <a:pt x="1071065" y="344308"/>
                </a:lnTo>
                <a:close/>
              </a:path>
              <a:path w="1680209" h="567689">
                <a:moveTo>
                  <a:pt x="1167724" y="375608"/>
                </a:moveTo>
                <a:lnTo>
                  <a:pt x="1159899" y="399773"/>
                </a:lnTo>
                <a:lnTo>
                  <a:pt x="1232392" y="423249"/>
                </a:lnTo>
                <a:lnTo>
                  <a:pt x="1240218" y="399084"/>
                </a:lnTo>
                <a:lnTo>
                  <a:pt x="1167724" y="375608"/>
                </a:lnTo>
                <a:close/>
              </a:path>
              <a:path w="1680209" h="567689">
                <a:moveTo>
                  <a:pt x="1264382" y="406909"/>
                </a:moveTo>
                <a:lnTo>
                  <a:pt x="1256557" y="431073"/>
                </a:lnTo>
                <a:lnTo>
                  <a:pt x="1329051" y="454549"/>
                </a:lnTo>
                <a:lnTo>
                  <a:pt x="1336876" y="430385"/>
                </a:lnTo>
                <a:lnTo>
                  <a:pt x="1264382" y="406909"/>
                </a:lnTo>
                <a:close/>
              </a:path>
              <a:path w="1680209" h="567689">
                <a:moveTo>
                  <a:pt x="1361041" y="438210"/>
                </a:moveTo>
                <a:lnTo>
                  <a:pt x="1353215" y="462375"/>
                </a:lnTo>
                <a:lnTo>
                  <a:pt x="1425709" y="485849"/>
                </a:lnTo>
                <a:lnTo>
                  <a:pt x="1433535" y="461685"/>
                </a:lnTo>
                <a:lnTo>
                  <a:pt x="1361041" y="438210"/>
                </a:lnTo>
                <a:close/>
              </a:path>
              <a:path w="1680209" h="567689">
                <a:moveTo>
                  <a:pt x="1457699" y="469511"/>
                </a:moveTo>
                <a:lnTo>
                  <a:pt x="1449873" y="493675"/>
                </a:lnTo>
                <a:lnTo>
                  <a:pt x="1522368" y="517151"/>
                </a:lnTo>
                <a:lnTo>
                  <a:pt x="1530192" y="492986"/>
                </a:lnTo>
                <a:lnTo>
                  <a:pt x="1457699" y="469511"/>
                </a:lnTo>
                <a:close/>
              </a:path>
              <a:path w="1680209" h="567689">
                <a:moveTo>
                  <a:pt x="1603481" y="543418"/>
                </a:moveTo>
                <a:lnTo>
                  <a:pt x="1595655" y="567582"/>
                </a:lnTo>
                <a:lnTo>
                  <a:pt x="1679887" y="554810"/>
                </a:lnTo>
                <a:lnTo>
                  <a:pt x="1672277" y="547330"/>
                </a:lnTo>
                <a:lnTo>
                  <a:pt x="1615563" y="547330"/>
                </a:lnTo>
                <a:lnTo>
                  <a:pt x="1603481" y="543418"/>
                </a:lnTo>
                <a:close/>
              </a:path>
              <a:path w="1680209" h="567689">
                <a:moveTo>
                  <a:pt x="1611306" y="519253"/>
                </a:moveTo>
                <a:lnTo>
                  <a:pt x="1603481" y="543418"/>
                </a:lnTo>
                <a:lnTo>
                  <a:pt x="1615563" y="547330"/>
                </a:lnTo>
                <a:lnTo>
                  <a:pt x="1623388" y="523166"/>
                </a:lnTo>
                <a:lnTo>
                  <a:pt x="1611306" y="519253"/>
                </a:lnTo>
                <a:close/>
              </a:path>
              <a:path w="1680209" h="567689">
                <a:moveTo>
                  <a:pt x="1619131" y="495089"/>
                </a:moveTo>
                <a:lnTo>
                  <a:pt x="1611306" y="519253"/>
                </a:lnTo>
                <a:lnTo>
                  <a:pt x="1623388" y="523166"/>
                </a:lnTo>
                <a:lnTo>
                  <a:pt x="1615563" y="547330"/>
                </a:lnTo>
                <a:lnTo>
                  <a:pt x="1672277" y="547330"/>
                </a:lnTo>
                <a:lnTo>
                  <a:pt x="1619131" y="495089"/>
                </a:lnTo>
                <a:close/>
              </a:path>
              <a:path w="1680209" h="567689">
                <a:moveTo>
                  <a:pt x="1554358" y="500811"/>
                </a:moveTo>
                <a:lnTo>
                  <a:pt x="1546532" y="524976"/>
                </a:lnTo>
                <a:lnTo>
                  <a:pt x="1603481" y="543418"/>
                </a:lnTo>
                <a:lnTo>
                  <a:pt x="1611306" y="519253"/>
                </a:lnTo>
                <a:lnTo>
                  <a:pt x="1554358" y="500811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656123" y="4267771"/>
            <a:ext cx="2020570" cy="389890"/>
          </a:xfrm>
          <a:custGeom>
            <a:avLst/>
            <a:gdLst/>
            <a:ahLst/>
            <a:cxnLst/>
            <a:rect l="l" t="t" r="r" b="b"/>
            <a:pathLst>
              <a:path w="2020570" h="389889">
                <a:moveTo>
                  <a:pt x="4372" y="0"/>
                </a:moveTo>
                <a:lnTo>
                  <a:pt x="0" y="25020"/>
                </a:lnTo>
                <a:lnTo>
                  <a:pt x="75062" y="38139"/>
                </a:lnTo>
                <a:lnTo>
                  <a:pt x="79434" y="13117"/>
                </a:lnTo>
                <a:lnTo>
                  <a:pt x="4372" y="0"/>
                </a:lnTo>
                <a:close/>
              </a:path>
              <a:path w="2020570" h="389889">
                <a:moveTo>
                  <a:pt x="104456" y="17490"/>
                </a:moveTo>
                <a:lnTo>
                  <a:pt x="100083" y="42511"/>
                </a:lnTo>
                <a:lnTo>
                  <a:pt x="175145" y="55629"/>
                </a:lnTo>
                <a:lnTo>
                  <a:pt x="179518" y="30609"/>
                </a:lnTo>
                <a:lnTo>
                  <a:pt x="104456" y="17490"/>
                </a:lnTo>
                <a:close/>
              </a:path>
              <a:path w="2020570" h="389889">
                <a:moveTo>
                  <a:pt x="204538" y="34982"/>
                </a:moveTo>
                <a:lnTo>
                  <a:pt x="200165" y="60002"/>
                </a:lnTo>
                <a:lnTo>
                  <a:pt x="275228" y="73120"/>
                </a:lnTo>
                <a:lnTo>
                  <a:pt x="279600" y="48099"/>
                </a:lnTo>
                <a:lnTo>
                  <a:pt x="204538" y="34982"/>
                </a:lnTo>
                <a:close/>
              </a:path>
              <a:path w="2020570" h="389889">
                <a:moveTo>
                  <a:pt x="304622" y="52472"/>
                </a:moveTo>
                <a:lnTo>
                  <a:pt x="300249" y="77492"/>
                </a:lnTo>
                <a:lnTo>
                  <a:pt x="375311" y="90611"/>
                </a:lnTo>
                <a:lnTo>
                  <a:pt x="379684" y="65590"/>
                </a:lnTo>
                <a:lnTo>
                  <a:pt x="304622" y="52472"/>
                </a:lnTo>
                <a:close/>
              </a:path>
              <a:path w="2020570" h="389889">
                <a:moveTo>
                  <a:pt x="404704" y="69963"/>
                </a:moveTo>
                <a:lnTo>
                  <a:pt x="400331" y="94984"/>
                </a:lnTo>
                <a:lnTo>
                  <a:pt x="475395" y="108102"/>
                </a:lnTo>
                <a:lnTo>
                  <a:pt x="479767" y="83082"/>
                </a:lnTo>
                <a:lnTo>
                  <a:pt x="404704" y="69963"/>
                </a:lnTo>
                <a:close/>
              </a:path>
              <a:path w="2020570" h="389889">
                <a:moveTo>
                  <a:pt x="504788" y="87454"/>
                </a:moveTo>
                <a:lnTo>
                  <a:pt x="500415" y="112475"/>
                </a:lnTo>
                <a:lnTo>
                  <a:pt x="575477" y="125592"/>
                </a:lnTo>
                <a:lnTo>
                  <a:pt x="579850" y="100572"/>
                </a:lnTo>
                <a:lnTo>
                  <a:pt x="504788" y="87454"/>
                </a:lnTo>
                <a:close/>
              </a:path>
              <a:path w="2020570" h="389889">
                <a:moveTo>
                  <a:pt x="604871" y="104945"/>
                </a:moveTo>
                <a:lnTo>
                  <a:pt x="600499" y="129965"/>
                </a:lnTo>
                <a:lnTo>
                  <a:pt x="675561" y="143084"/>
                </a:lnTo>
                <a:lnTo>
                  <a:pt x="679933" y="118063"/>
                </a:lnTo>
                <a:lnTo>
                  <a:pt x="604871" y="104945"/>
                </a:lnTo>
                <a:close/>
              </a:path>
              <a:path w="2020570" h="389889">
                <a:moveTo>
                  <a:pt x="704954" y="122435"/>
                </a:moveTo>
                <a:lnTo>
                  <a:pt x="700581" y="147457"/>
                </a:lnTo>
                <a:lnTo>
                  <a:pt x="775643" y="160574"/>
                </a:lnTo>
                <a:lnTo>
                  <a:pt x="780016" y="135554"/>
                </a:lnTo>
                <a:lnTo>
                  <a:pt x="704954" y="122435"/>
                </a:lnTo>
                <a:close/>
              </a:path>
              <a:path w="2020570" h="389889">
                <a:moveTo>
                  <a:pt x="805037" y="139927"/>
                </a:moveTo>
                <a:lnTo>
                  <a:pt x="800665" y="164947"/>
                </a:lnTo>
                <a:lnTo>
                  <a:pt x="875727" y="178065"/>
                </a:lnTo>
                <a:lnTo>
                  <a:pt x="880099" y="153045"/>
                </a:lnTo>
                <a:lnTo>
                  <a:pt x="805037" y="139927"/>
                </a:lnTo>
                <a:close/>
              </a:path>
              <a:path w="2020570" h="389889">
                <a:moveTo>
                  <a:pt x="905120" y="157417"/>
                </a:moveTo>
                <a:lnTo>
                  <a:pt x="900747" y="182438"/>
                </a:lnTo>
                <a:lnTo>
                  <a:pt x="975810" y="195557"/>
                </a:lnTo>
                <a:lnTo>
                  <a:pt x="980183" y="170535"/>
                </a:lnTo>
                <a:lnTo>
                  <a:pt x="905120" y="157417"/>
                </a:lnTo>
                <a:close/>
              </a:path>
              <a:path w="2020570" h="389889">
                <a:moveTo>
                  <a:pt x="1005203" y="174908"/>
                </a:moveTo>
                <a:lnTo>
                  <a:pt x="1000831" y="199929"/>
                </a:lnTo>
                <a:lnTo>
                  <a:pt x="1075893" y="213047"/>
                </a:lnTo>
                <a:lnTo>
                  <a:pt x="1080265" y="188027"/>
                </a:lnTo>
                <a:lnTo>
                  <a:pt x="1005203" y="174908"/>
                </a:lnTo>
                <a:close/>
              </a:path>
              <a:path w="2020570" h="389889">
                <a:moveTo>
                  <a:pt x="1105287" y="192399"/>
                </a:moveTo>
                <a:lnTo>
                  <a:pt x="1100913" y="217420"/>
                </a:lnTo>
                <a:lnTo>
                  <a:pt x="1175976" y="230538"/>
                </a:lnTo>
                <a:lnTo>
                  <a:pt x="1180349" y="205517"/>
                </a:lnTo>
                <a:lnTo>
                  <a:pt x="1105287" y="192399"/>
                </a:lnTo>
                <a:close/>
              </a:path>
              <a:path w="2020570" h="389889">
                <a:moveTo>
                  <a:pt x="1205369" y="209890"/>
                </a:moveTo>
                <a:lnTo>
                  <a:pt x="1200997" y="234910"/>
                </a:lnTo>
                <a:lnTo>
                  <a:pt x="1276059" y="248029"/>
                </a:lnTo>
                <a:lnTo>
                  <a:pt x="1280431" y="223008"/>
                </a:lnTo>
                <a:lnTo>
                  <a:pt x="1205369" y="209890"/>
                </a:lnTo>
                <a:close/>
              </a:path>
              <a:path w="2020570" h="389889">
                <a:moveTo>
                  <a:pt x="1305453" y="227380"/>
                </a:moveTo>
                <a:lnTo>
                  <a:pt x="1301080" y="252402"/>
                </a:lnTo>
                <a:lnTo>
                  <a:pt x="1376142" y="265520"/>
                </a:lnTo>
                <a:lnTo>
                  <a:pt x="1380515" y="240499"/>
                </a:lnTo>
                <a:lnTo>
                  <a:pt x="1305453" y="227380"/>
                </a:lnTo>
                <a:close/>
              </a:path>
              <a:path w="2020570" h="389889">
                <a:moveTo>
                  <a:pt x="1405535" y="244872"/>
                </a:moveTo>
                <a:lnTo>
                  <a:pt x="1401163" y="269892"/>
                </a:lnTo>
                <a:lnTo>
                  <a:pt x="1476226" y="283010"/>
                </a:lnTo>
                <a:lnTo>
                  <a:pt x="1480599" y="257990"/>
                </a:lnTo>
                <a:lnTo>
                  <a:pt x="1405535" y="244872"/>
                </a:lnTo>
                <a:close/>
              </a:path>
              <a:path w="2020570" h="389889">
                <a:moveTo>
                  <a:pt x="1505619" y="262362"/>
                </a:moveTo>
                <a:lnTo>
                  <a:pt x="1501246" y="287383"/>
                </a:lnTo>
                <a:lnTo>
                  <a:pt x="1576308" y="300502"/>
                </a:lnTo>
                <a:lnTo>
                  <a:pt x="1580681" y="275480"/>
                </a:lnTo>
                <a:lnTo>
                  <a:pt x="1505619" y="262362"/>
                </a:lnTo>
                <a:close/>
              </a:path>
              <a:path w="2020570" h="389889">
                <a:moveTo>
                  <a:pt x="1605702" y="279853"/>
                </a:moveTo>
                <a:lnTo>
                  <a:pt x="1601330" y="304874"/>
                </a:lnTo>
                <a:lnTo>
                  <a:pt x="1676392" y="317992"/>
                </a:lnTo>
                <a:lnTo>
                  <a:pt x="1680764" y="292972"/>
                </a:lnTo>
                <a:lnTo>
                  <a:pt x="1605702" y="279853"/>
                </a:lnTo>
                <a:close/>
              </a:path>
              <a:path w="2020570" h="389889">
                <a:moveTo>
                  <a:pt x="1705785" y="297345"/>
                </a:moveTo>
                <a:lnTo>
                  <a:pt x="1701412" y="322365"/>
                </a:lnTo>
                <a:lnTo>
                  <a:pt x="1776474" y="335483"/>
                </a:lnTo>
                <a:lnTo>
                  <a:pt x="1780847" y="310462"/>
                </a:lnTo>
                <a:lnTo>
                  <a:pt x="1705785" y="297345"/>
                </a:lnTo>
                <a:close/>
              </a:path>
              <a:path w="2020570" h="389889">
                <a:moveTo>
                  <a:pt x="1805868" y="314835"/>
                </a:moveTo>
                <a:lnTo>
                  <a:pt x="1801496" y="339855"/>
                </a:lnTo>
                <a:lnTo>
                  <a:pt x="1876558" y="352974"/>
                </a:lnTo>
                <a:lnTo>
                  <a:pt x="1880930" y="327953"/>
                </a:lnTo>
                <a:lnTo>
                  <a:pt x="1805868" y="314835"/>
                </a:lnTo>
                <a:close/>
              </a:path>
              <a:path w="2020570" h="389889">
                <a:moveTo>
                  <a:pt x="1943243" y="364628"/>
                </a:moveTo>
                <a:lnTo>
                  <a:pt x="1938870" y="389649"/>
                </a:lnTo>
                <a:lnTo>
                  <a:pt x="2015214" y="366815"/>
                </a:lnTo>
                <a:lnTo>
                  <a:pt x="1955756" y="366815"/>
                </a:lnTo>
                <a:lnTo>
                  <a:pt x="1943243" y="364628"/>
                </a:lnTo>
                <a:close/>
              </a:path>
              <a:path w="2020570" h="389889">
                <a:moveTo>
                  <a:pt x="1947616" y="339608"/>
                </a:moveTo>
                <a:lnTo>
                  <a:pt x="1943243" y="364628"/>
                </a:lnTo>
                <a:lnTo>
                  <a:pt x="1955756" y="366815"/>
                </a:lnTo>
                <a:lnTo>
                  <a:pt x="1960129" y="341795"/>
                </a:lnTo>
                <a:lnTo>
                  <a:pt x="1947616" y="339608"/>
                </a:lnTo>
                <a:close/>
              </a:path>
              <a:path w="2020570" h="389889">
                <a:moveTo>
                  <a:pt x="1951988" y="314586"/>
                </a:moveTo>
                <a:lnTo>
                  <a:pt x="1947616" y="339608"/>
                </a:lnTo>
                <a:lnTo>
                  <a:pt x="1960129" y="341795"/>
                </a:lnTo>
                <a:lnTo>
                  <a:pt x="1955756" y="366815"/>
                </a:lnTo>
                <a:lnTo>
                  <a:pt x="2015214" y="366815"/>
                </a:lnTo>
                <a:lnTo>
                  <a:pt x="2020492" y="365236"/>
                </a:lnTo>
                <a:lnTo>
                  <a:pt x="1951988" y="314586"/>
                </a:lnTo>
                <a:close/>
              </a:path>
              <a:path w="2020570" h="389889">
                <a:moveTo>
                  <a:pt x="1905951" y="332325"/>
                </a:moveTo>
                <a:lnTo>
                  <a:pt x="1901578" y="357347"/>
                </a:lnTo>
                <a:lnTo>
                  <a:pt x="1943243" y="364628"/>
                </a:lnTo>
                <a:lnTo>
                  <a:pt x="1947616" y="339608"/>
                </a:lnTo>
                <a:lnTo>
                  <a:pt x="1905951" y="332325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280242" y="6060947"/>
            <a:ext cx="8191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">
                <a:solidFill>
                  <a:srgbClr val="BF9000"/>
                </a:solidFill>
                <a:latin typeface="Arial"/>
                <a:cs typeface="Arial"/>
              </a:rPr>
              <a:t>C</a:t>
            </a:r>
            <a:r>
              <a:rPr dirty="0" sz="1400" spc="-30">
                <a:solidFill>
                  <a:srgbClr val="BF9000"/>
                </a:solidFill>
                <a:latin typeface="Arial"/>
                <a:cs typeface="Arial"/>
              </a:rPr>
              <a:t>au</a:t>
            </a: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s</a:t>
            </a:r>
            <a:r>
              <a:rPr dirty="0" sz="1400" spc="-30">
                <a:solidFill>
                  <a:srgbClr val="BF9000"/>
                </a:solidFill>
                <a:latin typeface="Arial"/>
                <a:cs typeface="Arial"/>
              </a:rPr>
              <a:t>ed</a:t>
            </a:r>
            <a:r>
              <a:rPr dirty="0" sz="1400" spc="-35">
                <a:solidFill>
                  <a:srgbClr val="BF9000"/>
                </a:solidFill>
                <a:latin typeface="Arial"/>
                <a:cs typeface="Arial"/>
              </a:rPr>
              <a:t>B</a:t>
            </a:r>
            <a:r>
              <a:rPr dirty="0" sz="1400">
                <a:solidFill>
                  <a:srgbClr val="BF9000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650614" y="5723852"/>
            <a:ext cx="808990" cy="620395"/>
          </a:xfrm>
          <a:custGeom>
            <a:avLst/>
            <a:gdLst/>
            <a:ahLst/>
            <a:cxnLst/>
            <a:rect l="l" t="t" r="r" b="b"/>
            <a:pathLst>
              <a:path w="808990" h="620395">
                <a:moveTo>
                  <a:pt x="15393" y="0"/>
                </a:moveTo>
                <a:lnTo>
                  <a:pt x="0" y="20204"/>
                </a:lnTo>
                <a:lnTo>
                  <a:pt x="60613" y="66383"/>
                </a:lnTo>
                <a:lnTo>
                  <a:pt x="76006" y="46179"/>
                </a:lnTo>
                <a:lnTo>
                  <a:pt x="15393" y="0"/>
                </a:lnTo>
                <a:close/>
              </a:path>
              <a:path w="808990" h="620395">
                <a:moveTo>
                  <a:pt x="96210" y="61572"/>
                </a:moveTo>
                <a:lnTo>
                  <a:pt x="80817" y="81776"/>
                </a:lnTo>
                <a:lnTo>
                  <a:pt x="141429" y="127956"/>
                </a:lnTo>
                <a:lnTo>
                  <a:pt x="156823" y="107751"/>
                </a:lnTo>
                <a:lnTo>
                  <a:pt x="96210" y="61572"/>
                </a:lnTo>
                <a:close/>
              </a:path>
              <a:path w="808990" h="620395">
                <a:moveTo>
                  <a:pt x="177027" y="123144"/>
                </a:moveTo>
                <a:lnTo>
                  <a:pt x="161634" y="143349"/>
                </a:lnTo>
                <a:lnTo>
                  <a:pt x="222247" y="189528"/>
                </a:lnTo>
                <a:lnTo>
                  <a:pt x="237639" y="169324"/>
                </a:lnTo>
                <a:lnTo>
                  <a:pt x="177027" y="123144"/>
                </a:lnTo>
                <a:close/>
              </a:path>
              <a:path w="808990" h="620395">
                <a:moveTo>
                  <a:pt x="257844" y="184717"/>
                </a:moveTo>
                <a:lnTo>
                  <a:pt x="242451" y="204921"/>
                </a:lnTo>
                <a:lnTo>
                  <a:pt x="303063" y="251100"/>
                </a:lnTo>
                <a:lnTo>
                  <a:pt x="318457" y="230896"/>
                </a:lnTo>
                <a:lnTo>
                  <a:pt x="257844" y="184717"/>
                </a:lnTo>
                <a:close/>
              </a:path>
              <a:path w="808990" h="620395">
                <a:moveTo>
                  <a:pt x="338662" y="246289"/>
                </a:moveTo>
                <a:lnTo>
                  <a:pt x="323268" y="266494"/>
                </a:lnTo>
                <a:lnTo>
                  <a:pt x="383881" y="312673"/>
                </a:lnTo>
                <a:lnTo>
                  <a:pt x="399274" y="292469"/>
                </a:lnTo>
                <a:lnTo>
                  <a:pt x="338662" y="246289"/>
                </a:lnTo>
                <a:close/>
              </a:path>
              <a:path w="808990" h="620395">
                <a:moveTo>
                  <a:pt x="419478" y="307862"/>
                </a:moveTo>
                <a:lnTo>
                  <a:pt x="404086" y="328066"/>
                </a:lnTo>
                <a:lnTo>
                  <a:pt x="464698" y="374245"/>
                </a:lnTo>
                <a:lnTo>
                  <a:pt x="480091" y="354041"/>
                </a:lnTo>
                <a:lnTo>
                  <a:pt x="419478" y="307862"/>
                </a:lnTo>
                <a:close/>
              </a:path>
              <a:path w="808990" h="620395">
                <a:moveTo>
                  <a:pt x="500296" y="369434"/>
                </a:moveTo>
                <a:lnTo>
                  <a:pt x="484902" y="389639"/>
                </a:lnTo>
                <a:lnTo>
                  <a:pt x="545515" y="435818"/>
                </a:lnTo>
                <a:lnTo>
                  <a:pt x="560908" y="415614"/>
                </a:lnTo>
                <a:lnTo>
                  <a:pt x="500296" y="369434"/>
                </a:lnTo>
                <a:close/>
              </a:path>
              <a:path w="808990" h="620395">
                <a:moveTo>
                  <a:pt x="581112" y="431007"/>
                </a:moveTo>
                <a:lnTo>
                  <a:pt x="565720" y="451211"/>
                </a:lnTo>
                <a:lnTo>
                  <a:pt x="626332" y="497390"/>
                </a:lnTo>
                <a:lnTo>
                  <a:pt x="641725" y="477186"/>
                </a:lnTo>
                <a:lnTo>
                  <a:pt x="581112" y="431007"/>
                </a:lnTo>
                <a:close/>
              </a:path>
              <a:path w="808990" h="620395">
                <a:moveTo>
                  <a:pt x="661930" y="492579"/>
                </a:moveTo>
                <a:lnTo>
                  <a:pt x="646536" y="512783"/>
                </a:lnTo>
                <a:lnTo>
                  <a:pt x="707149" y="558963"/>
                </a:lnTo>
                <a:lnTo>
                  <a:pt x="722542" y="538759"/>
                </a:lnTo>
                <a:lnTo>
                  <a:pt x="661930" y="492579"/>
                </a:lnTo>
                <a:close/>
              </a:path>
              <a:path w="808990" h="620395">
                <a:moveTo>
                  <a:pt x="740080" y="584052"/>
                </a:moveTo>
                <a:lnTo>
                  <a:pt x="724687" y="604257"/>
                </a:lnTo>
                <a:lnTo>
                  <a:pt x="808390" y="620130"/>
                </a:lnTo>
                <a:lnTo>
                  <a:pt x="794466" y="591749"/>
                </a:lnTo>
                <a:lnTo>
                  <a:pt x="750182" y="591749"/>
                </a:lnTo>
                <a:lnTo>
                  <a:pt x="740080" y="584052"/>
                </a:lnTo>
                <a:close/>
              </a:path>
              <a:path w="808990" h="620395">
                <a:moveTo>
                  <a:pt x="755473" y="563848"/>
                </a:moveTo>
                <a:lnTo>
                  <a:pt x="740080" y="584052"/>
                </a:lnTo>
                <a:lnTo>
                  <a:pt x="750182" y="591749"/>
                </a:lnTo>
                <a:lnTo>
                  <a:pt x="765575" y="571544"/>
                </a:lnTo>
                <a:lnTo>
                  <a:pt x="755473" y="563848"/>
                </a:lnTo>
                <a:close/>
              </a:path>
              <a:path w="808990" h="620395">
                <a:moveTo>
                  <a:pt x="770867" y="543644"/>
                </a:moveTo>
                <a:lnTo>
                  <a:pt x="755473" y="563848"/>
                </a:lnTo>
                <a:lnTo>
                  <a:pt x="765575" y="571544"/>
                </a:lnTo>
                <a:lnTo>
                  <a:pt x="750182" y="591749"/>
                </a:lnTo>
                <a:lnTo>
                  <a:pt x="794466" y="591749"/>
                </a:lnTo>
                <a:lnTo>
                  <a:pt x="770867" y="543644"/>
                </a:lnTo>
                <a:close/>
              </a:path>
              <a:path w="808990" h="620395">
                <a:moveTo>
                  <a:pt x="742746" y="554152"/>
                </a:moveTo>
                <a:lnTo>
                  <a:pt x="727353" y="574356"/>
                </a:lnTo>
                <a:lnTo>
                  <a:pt x="740080" y="584052"/>
                </a:lnTo>
                <a:lnTo>
                  <a:pt x="755473" y="563848"/>
                </a:lnTo>
                <a:lnTo>
                  <a:pt x="742746" y="554152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651219" y="5155291"/>
            <a:ext cx="810895" cy="551180"/>
          </a:xfrm>
          <a:custGeom>
            <a:avLst/>
            <a:gdLst/>
            <a:ahLst/>
            <a:cxnLst/>
            <a:rect l="l" t="t" r="r" b="b"/>
            <a:pathLst>
              <a:path w="810895" h="551179">
                <a:moveTo>
                  <a:pt x="63221" y="487404"/>
                </a:moveTo>
                <a:lnTo>
                  <a:pt x="0" y="529941"/>
                </a:lnTo>
                <a:lnTo>
                  <a:pt x="14179" y="551015"/>
                </a:lnTo>
                <a:lnTo>
                  <a:pt x="77401" y="508478"/>
                </a:lnTo>
                <a:lnTo>
                  <a:pt x="63221" y="487404"/>
                </a:lnTo>
                <a:close/>
              </a:path>
              <a:path w="810895" h="551179">
                <a:moveTo>
                  <a:pt x="147518" y="430688"/>
                </a:moveTo>
                <a:lnTo>
                  <a:pt x="84296" y="473225"/>
                </a:lnTo>
                <a:lnTo>
                  <a:pt x="98475" y="494299"/>
                </a:lnTo>
                <a:lnTo>
                  <a:pt x="161697" y="451762"/>
                </a:lnTo>
                <a:lnTo>
                  <a:pt x="147518" y="430688"/>
                </a:lnTo>
                <a:close/>
              </a:path>
              <a:path w="810895" h="551179">
                <a:moveTo>
                  <a:pt x="231814" y="373971"/>
                </a:moveTo>
                <a:lnTo>
                  <a:pt x="168592" y="416509"/>
                </a:lnTo>
                <a:lnTo>
                  <a:pt x="182770" y="437582"/>
                </a:lnTo>
                <a:lnTo>
                  <a:pt x="245992" y="395046"/>
                </a:lnTo>
                <a:lnTo>
                  <a:pt x="231814" y="373971"/>
                </a:lnTo>
                <a:close/>
              </a:path>
              <a:path w="810895" h="551179">
                <a:moveTo>
                  <a:pt x="316109" y="317254"/>
                </a:moveTo>
                <a:lnTo>
                  <a:pt x="252887" y="359792"/>
                </a:lnTo>
                <a:lnTo>
                  <a:pt x="267067" y="380866"/>
                </a:lnTo>
                <a:lnTo>
                  <a:pt x="330288" y="338329"/>
                </a:lnTo>
                <a:lnTo>
                  <a:pt x="316109" y="317254"/>
                </a:lnTo>
                <a:close/>
              </a:path>
              <a:path w="810895" h="551179">
                <a:moveTo>
                  <a:pt x="400405" y="260539"/>
                </a:moveTo>
                <a:lnTo>
                  <a:pt x="337183" y="303076"/>
                </a:lnTo>
                <a:lnTo>
                  <a:pt x="351363" y="324149"/>
                </a:lnTo>
                <a:lnTo>
                  <a:pt x="414585" y="281612"/>
                </a:lnTo>
                <a:lnTo>
                  <a:pt x="400405" y="260539"/>
                </a:lnTo>
                <a:close/>
              </a:path>
              <a:path w="810895" h="551179">
                <a:moveTo>
                  <a:pt x="484701" y="203822"/>
                </a:moveTo>
                <a:lnTo>
                  <a:pt x="421479" y="246359"/>
                </a:lnTo>
                <a:lnTo>
                  <a:pt x="435659" y="267434"/>
                </a:lnTo>
                <a:lnTo>
                  <a:pt x="498881" y="224896"/>
                </a:lnTo>
                <a:lnTo>
                  <a:pt x="484701" y="203822"/>
                </a:lnTo>
                <a:close/>
              </a:path>
              <a:path w="810895" h="551179">
                <a:moveTo>
                  <a:pt x="568998" y="147105"/>
                </a:moveTo>
                <a:lnTo>
                  <a:pt x="505776" y="189642"/>
                </a:lnTo>
                <a:lnTo>
                  <a:pt x="519954" y="210717"/>
                </a:lnTo>
                <a:lnTo>
                  <a:pt x="583176" y="168179"/>
                </a:lnTo>
                <a:lnTo>
                  <a:pt x="568998" y="147105"/>
                </a:lnTo>
                <a:close/>
              </a:path>
              <a:path w="810895" h="551179">
                <a:moveTo>
                  <a:pt x="653293" y="90389"/>
                </a:moveTo>
                <a:lnTo>
                  <a:pt x="590071" y="132927"/>
                </a:lnTo>
                <a:lnTo>
                  <a:pt x="604250" y="154000"/>
                </a:lnTo>
                <a:lnTo>
                  <a:pt x="667472" y="111462"/>
                </a:lnTo>
                <a:lnTo>
                  <a:pt x="653293" y="90389"/>
                </a:lnTo>
                <a:close/>
              </a:path>
              <a:path w="810895" h="551179">
                <a:moveTo>
                  <a:pt x="737589" y="33672"/>
                </a:moveTo>
                <a:lnTo>
                  <a:pt x="674367" y="76210"/>
                </a:lnTo>
                <a:lnTo>
                  <a:pt x="688547" y="97284"/>
                </a:lnTo>
                <a:lnTo>
                  <a:pt x="751768" y="54747"/>
                </a:lnTo>
                <a:lnTo>
                  <a:pt x="737589" y="33672"/>
                </a:lnTo>
                <a:close/>
              </a:path>
              <a:path w="810895" h="551179">
                <a:moveTo>
                  <a:pt x="810386" y="0"/>
                </a:moveTo>
                <a:lnTo>
                  <a:pt x="725896" y="10925"/>
                </a:lnTo>
                <a:lnTo>
                  <a:pt x="768433" y="74147"/>
                </a:lnTo>
                <a:lnTo>
                  <a:pt x="810386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612218" y="568786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6999"/>
                </a:lnTo>
                <a:lnTo>
                  <a:pt x="2121" y="37509"/>
                </a:lnTo>
                <a:lnTo>
                  <a:pt x="7907" y="46091"/>
                </a:lnTo>
                <a:lnTo>
                  <a:pt x="16489" y="51878"/>
                </a:lnTo>
                <a:lnTo>
                  <a:pt x="26998" y="53999"/>
                </a:lnTo>
                <a:lnTo>
                  <a:pt x="37508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6999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612218" y="568786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116321" y="4035044"/>
            <a:ext cx="4648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B</a:t>
            </a:r>
            <a:r>
              <a:rPr dirty="0" sz="1200">
                <a:latin typeface="Arial"/>
                <a:cs typeface="Arial"/>
              </a:rPr>
              <a:t>r</a:t>
            </a:r>
            <a:r>
              <a:rPr dirty="0" sz="1200" spc="-5">
                <a:latin typeface="Arial"/>
                <a:cs typeface="Arial"/>
              </a:rPr>
              <a:t>ea</a:t>
            </a:r>
            <a:r>
              <a:rPr dirty="0" sz="1200">
                <a:latin typeface="Arial"/>
                <a:cs typeface="Arial"/>
              </a:rPr>
              <a:t>st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450293" y="442559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2"/>
                </a:lnTo>
                <a:lnTo>
                  <a:pt x="51877" y="37510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450293" y="442559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320103" y="587201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6999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6999"/>
                </a:lnTo>
                <a:lnTo>
                  <a:pt x="51877" y="16490"/>
                </a:lnTo>
                <a:lnTo>
                  <a:pt x="46091" y="7908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320103" y="587201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830548" y="547715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6998" y="0"/>
                </a:moveTo>
                <a:lnTo>
                  <a:pt x="16489" y="2121"/>
                </a:lnTo>
                <a:lnTo>
                  <a:pt x="7907" y="7907"/>
                </a:lnTo>
                <a:lnTo>
                  <a:pt x="2121" y="16489"/>
                </a:lnTo>
                <a:lnTo>
                  <a:pt x="0" y="26998"/>
                </a:lnTo>
                <a:lnTo>
                  <a:pt x="2121" y="37508"/>
                </a:lnTo>
                <a:lnTo>
                  <a:pt x="7907" y="46091"/>
                </a:lnTo>
                <a:lnTo>
                  <a:pt x="16489" y="51877"/>
                </a:lnTo>
                <a:lnTo>
                  <a:pt x="26998" y="53999"/>
                </a:lnTo>
                <a:lnTo>
                  <a:pt x="37508" y="51877"/>
                </a:lnTo>
                <a:lnTo>
                  <a:pt x="46091" y="46091"/>
                </a:lnTo>
                <a:lnTo>
                  <a:pt x="51877" y="37508"/>
                </a:lnTo>
                <a:lnTo>
                  <a:pt x="53999" y="26998"/>
                </a:lnTo>
                <a:lnTo>
                  <a:pt x="51877" y="16489"/>
                </a:lnTo>
                <a:lnTo>
                  <a:pt x="46091" y="7907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830548" y="547715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395849" y="500427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8" y="46092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2"/>
                </a:lnTo>
                <a:lnTo>
                  <a:pt x="51878" y="37510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395849" y="500427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5005465" y="4634484"/>
            <a:ext cx="495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sso</a:t>
            </a:r>
            <a:r>
              <a:rPr dirty="0" sz="14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186505" y="5011011"/>
            <a:ext cx="1502410" cy="605790"/>
          </a:xfrm>
          <a:custGeom>
            <a:avLst/>
            <a:gdLst/>
            <a:ahLst/>
            <a:cxnLst/>
            <a:rect l="l" t="t" r="r" b="b"/>
            <a:pathLst>
              <a:path w="1502409" h="605789">
                <a:moveTo>
                  <a:pt x="70965" y="553949"/>
                </a:moveTo>
                <a:lnTo>
                  <a:pt x="0" y="581708"/>
                </a:lnTo>
                <a:lnTo>
                  <a:pt x="9253" y="605363"/>
                </a:lnTo>
                <a:lnTo>
                  <a:pt x="80217" y="577604"/>
                </a:lnTo>
                <a:lnTo>
                  <a:pt x="70965" y="553949"/>
                </a:lnTo>
                <a:close/>
              </a:path>
              <a:path w="1502409" h="605789">
                <a:moveTo>
                  <a:pt x="165582" y="516936"/>
                </a:moveTo>
                <a:lnTo>
                  <a:pt x="94618" y="544696"/>
                </a:lnTo>
                <a:lnTo>
                  <a:pt x="103872" y="568351"/>
                </a:lnTo>
                <a:lnTo>
                  <a:pt x="174835" y="540592"/>
                </a:lnTo>
                <a:lnTo>
                  <a:pt x="165582" y="516936"/>
                </a:lnTo>
                <a:close/>
              </a:path>
              <a:path w="1502409" h="605789">
                <a:moveTo>
                  <a:pt x="260201" y="479925"/>
                </a:moveTo>
                <a:lnTo>
                  <a:pt x="189237" y="507685"/>
                </a:lnTo>
                <a:lnTo>
                  <a:pt x="198490" y="531338"/>
                </a:lnTo>
                <a:lnTo>
                  <a:pt x="269454" y="503580"/>
                </a:lnTo>
                <a:lnTo>
                  <a:pt x="260201" y="479925"/>
                </a:lnTo>
                <a:close/>
              </a:path>
              <a:path w="1502409" h="605789">
                <a:moveTo>
                  <a:pt x="354820" y="442913"/>
                </a:moveTo>
                <a:lnTo>
                  <a:pt x="283856" y="470672"/>
                </a:lnTo>
                <a:lnTo>
                  <a:pt x="293109" y="494327"/>
                </a:lnTo>
                <a:lnTo>
                  <a:pt x="364073" y="466568"/>
                </a:lnTo>
                <a:lnTo>
                  <a:pt x="354820" y="442913"/>
                </a:lnTo>
                <a:close/>
              </a:path>
              <a:path w="1502409" h="605789">
                <a:moveTo>
                  <a:pt x="449439" y="405902"/>
                </a:moveTo>
                <a:lnTo>
                  <a:pt x="378475" y="433660"/>
                </a:lnTo>
                <a:lnTo>
                  <a:pt x="387728" y="457315"/>
                </a:lnTo>
                <a:lnTo>
                  <a:pt x="458692" y="429557"/>
                </a:lnTo>
                <a:lnTo>
                  <a:pt x="449439" y="405902"/>
                </a:lnTo>
                <a:close/>
              </a:path>
              <a:path w="1502409" h="605789">
                <a:moveTo>
                  <a:pt x="544057" y="368890"/>
                </a:moveTo>
                <a:lnTo>
                  <a:pt x="473094" y="396648"/>
                </a:lnTo>
                <a:lnTo>
                  <a:pt x="482346" y="420303"/>
                </a:lnTo>
                <a:lnTo>
                  <a:pt x="553311" y="392544"/>
                </a:lnTo>
                <a:lnTo>
                  <a:pt x="544057" y="368890"/>
                </a:lnTo>
                <a:close/>
              </a:path>
              <a:path w="1502409" h="605789">
                <a:moveTo>
                  <a:pt x="638676" y="331877"/>
                </a:moveTo>
                <a:lnTo>
                  <a:pt x="567711" y="359637"/>
                </a:lnTo>
                <a:lnTo>
                  <a:pt x="576964" y="383292"/>
                </a:lnTo>
                <a:lnTo>
                  <a:pt x="647928" y="355532"/>
                </a:lnTo>
                <a:lnTo>
                  <a:pt x="638676" y="331877"/>
                </a:lnTo>
                <a:close/>
              </a:path>
              <a:path w="1502409" h="605789">
                <a:moveTo>
                  <a:pt x="733294" y="294866"/>
                </a:moveTo>
                <a:lnTo>
                  <a:pt x="662330" y="322625"/>
                </a:lnTo>
                <a:lnTo>
                  <a:pt x="671583" y="346279"/>
                </a:lnTo>
                <a:lnTo>
                  <a:pt x="742547" y="318521"/>
                </a:lnTo>
                <a:lnTo>
                  <a:pt x="733294" y="294866"/>
                </a:lnTo>
                <a:close/>
              </a:path>
              <a:path w="1502409" h="605789">
                <a:moveTo>
                  <a:pt x="827913" y="257854"/>
                </a:moveTo>
                <a:lnTo>
                  <a:pt x="756949" y="285612"/>
                </a:lnTo>
                <a:lnTo>
                  <a:pt x="766202" y="309267"/>
                </a:lnTo>
                <a:lnTo>
                  <a:pt x="837166" y="281509"/>
                </a:lnTo>
                <a:lnTo>
                  <a:pt x="827913" y="257854"/>
                </a:lnTo>
                <a:close/>
              </a:path>
              <a:path w="1502409" h="605789">
                <a:moveTo>
                  <a:pt x="922531" y="220842"/>
                </a:moveTo>
                <a:lnTo>
                  <a:pt x="851568" y="248601"/>
                </a:lnTo>
                <a:lnTo>
                  <a:pt x="860821" y="272256"/>
                </a:lnTo>
                <a:lnTo>
                  <a:pt x="931785" y="244497"/>
                </a:lnTo>
                <a:lnTo>
                  <a:pt x="922531" y="220842"/>
                </a:lnTo>
                <a:close/>
              </a:path>
              <a:path w="1502409" h="605789">
                <a:moveTo>
                  <a:pt x="1017150" y="183831"/>
                </a:moveTo>
                <a:lnTo>
                  <a:pt x="946186" y="211589"/>
                </a:lnTo>
                <a:lnTo>
                  <a:pt x="955440" y="235244"/>
                </a:lnTo>
                <a:lnTo>
                  <a:pt x="1026403" y="207484"/>
                </a:lnTo>
                <a:lnTo>
                  <a:pt x="1017150" y="183831"/>
                </a:lnTo>
                <a:close/>
              </a:path>
              <a:path w="1502409" h="605789">
                <a:moveTo>
                  <a:pt x="1111769" y="146818"/>
                </a:moveTo>
                <a:lnTo>
                  <a:pt x="1040805" y="174578"/>
                </a:lnTo>
                <a:lnTo>
                  <a:pt x="1050057" y="198233"/>
                </a:lnTo>
                <a:lnTo>
                  <a:pt x="1121022" y="170473"/>
                </a:lnTo>
                <a:lnTo>
                  <a:pt x="1111769" y="146818"/>
                </a:lnTo>
                <a:close/>
              </a:path>
              <a:path w="1502409" h="605789">
                <a:moveTo>
                  <a:pt x="1206388" y="109806"/>
                </a:moveTo>
                <a:lnTo>
                  <a:pt x="1135423" y="137566"/>
                </a:lnTo>
                <a:lnTo>
                  <a:pt x="1144676" y="161220"/>
                </a:lnTo>
                <a:lnTo>
                  <a:pt x="1215640" y="133461"/>
                </a:lnTo>
                <a:lnTo>
                  <a:pt x="1206388" y="109806"/>
                </a:lnTo>
                <a:close/>
              </a:path>
              <a:path w="1502409" h="605789">
                <a:moveTo>
                  <a:pt x="1301005" y="72795"/>
                </a:moveTo>
                <a:lnTo>
                  <a:pt x="1230041" y="100554"/>
                </a:lnTo>
                <a:lnTo>
                  <a:pt x="1239295" y="124208"/>
                </a:lnTo>
                <a:lnTo>
                  <a:pt x="1310259" y="96450"/>
                </a:lnTo>
                <a:lnTo>
                  <a:pt x="1301005" y="72795"/>
                </a:lnTo>
                <a:close/>
              </a:path>
              <a:path w="1502409" h="605789">
                <a:moveTo>
                  <a:pt x="1395624" y="35783"/>
                </a:moveTo>
                <a:lnTo>
                  <a:pt x="1324660" y="63541"/>
                </a:lnTo>
                <a:lnTo>
                  <a:pt x="1333914" y="87196"/>
                </a:lnTo>
                <a:lnTo>
                  <a:pt x="1404877" y="59438"/>
                </a:lnTo>
                <a:lnTo>
                  <a:pt x="1395624" y="35783"/>
                </a:lnTo>
                <a:close/>
              </a:path>
              <a:path w="1502409" h="605789">
                <a:moveTo>
                  <a:pt x="1492019" y="19027"/>
                </a:moveTo>
                <a:lnTo>
                  <a:pt x="1438460" y="19027"/>
                </a:lnTo>
                <a:lnTo>
                  <a:pt x="1447713" y="42682"/>
                </a:lnTo>
                <a:lnTo>
                  <a:pt x="1435885" y="47309"/>
                </a:lnTo>
                <a:lnTo>
                  <a:pt x="1445138" y="70963"/>
                </a:lnTo>
                <a:lnTo>
                  <a:pt x="1492019" y="19027"/>
                </a:lnTo>
                <a:close/>
              </a:path>
              <a:path w="1502409" h="605789">
                <a:moveTo>
                  <a:pt x="1426632" y="23654"/>
                </a:moveTo>
                <a:lnTo>
                  <a:pt x="1419279" y="26530"/>
                </a:lnTo>
                <a:lnTo>
                  <a:pt x="1428532" y="50185"/>
                </a:lnTo>
                <a:lnTo>
                  <a:pt x="1435885" y="47309"/>
                </a:lnTo>
                <a:lnTo>
                  <a:pt x="1426632" y="23654"/>
                </a:lnTo>
                <a:close/>
              </a:path>
              <a:path w="1502409" h="605789">
                <a:moveTo>
                  <a:pt x="1438460" y="19027"/>
                </a:moveTo>
                <a:lnTo>
                  <a:pt x="1426632" y="23654"/>
                </a:lnTo>
                <a:lnTo>
                  <a:pt x="1435885" y="47309"/>
                </a:lnTo>
                <a:lnTo>
                  <a:pt x="1447713" y="42682"/>
                </a:lnTo>
                <a:lnTo>
                  <a:pt x="1438460" y="19027"/>
                </a:lnTo>
                <a:close/>
              </a:path>
              <a:path w="1502409" h="605789">
                <a:moveTo>
                  <a:pt x="1417379" y="0"/>
                </a:moveTo>
                <a:lnTo>
                  <a:pt x="1426632" y="23654"/>
                </a:lnTo>
                <a:lnTo>
                  <a:pt x="1438460" y="19027"/>
                </a:lnTo>
                <a:lnTo>
                  <a:pt x="1492019" y="19027"/>
                </a:lnTo>
                <a:lnTo>
                  <a:pt x="1502223" y="7722"/>
                </a:lnTo>
                <a:lnTo>
                  <a:pt x="141737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179870" y="4236616"/>
            <a:ext cx="744220" cy="1412240"/>
          </a:xfrm>
          <a:custGeom>
            <a:avLst/>
            <a:gdLst/>
            <a:ahLst/>
            <a:cxnLst/>
            <a:rect l="l" t="t" r="r" b="b"/>
            <a:pathLst>
              <a:path w="744220" h="1412239">
                <a:moveTo>
                  <a:pt x="35208" y="1332666"/>
                </a:moveTo>
                <a:lnTo>
                  <a:pt x="0" y="1400245"/>
                </a:lnTo>
                <a:lnTo>
                  <a:pt x="22525" y="1411981"/>
                </a:lnTo>
                <a:lnTo>
                  <a:pt x="57734" y="1344404"/>
                </a:lnTo>
                <a:lnTo>
                  <a:pt x="35208" y="1332666"/>
                </a:lnTo>
                <a:close/>
              </a:path>
              <a:path w="744220" h="1412239">
                <a:moveTo>
                  <a:pt x="82152" y="1242562"/>
                </a:moveTo>
                <a:lnTo>
                  <a:pt x="46944" y="1310140"/>
                </a:lnTo>
                <a:lnTo>
                  <a:pt x="69470" y="1321876"/>
                </a:lnTo>
                <a:lnTo>
                  <a:pt x="104678" y="1254298"/>
                </a:lnTo>
                <a:lnTo>
                  <a:pt x="82152" y="1242562"/>
                </a:lnTo>
                <a:close/>
              </a:path>
              <a:path w="744220" h="1412239">
                <a:moveTo>
                  <a:pt x="129098" y="1152458"/>
                </a:moveTo>
                <a:lnTo>
                  <a:pt x="93888" y="1220036"/>
                </a:lnTo>
                <a:lnTo>
                  <a:pt x="116414" y="1231773"/>
                </a:lnTo>
                <a:lnTo>
                  <a:pt x="151624" y="1164195"/>
                </a:lnTo>
                <a:lnTo>
                  <a:pt x="129098" y="1152458"/>
                </a:lnTo>
                <a:close/>
              </a:path>
              <a:path w="744220" h="1412239">
                <a:moveTo>
                  <a:pt x="176042" y="1062355"/>
                </a:moveTo>
                <a:lnTo>
                  <a:pt x="140834" y="1129932"/>
                </a:lnTo>
                <a:lnTo>
                  <a:pt x="163360" y="1141669"/>
                </a:lnTo>
                <a:lnTo>
                  <a:pt x="198568" y="1074091"/>
                </a:lnTo>
                <a:lnTo>
                  <a:pt x="176042" y="1062355"/>
                </a:lnTo>
                <a:close/>
              </a:path>
              <a:path w="744220" h="1412239">
                <a:moveTo>
                  <a:pt x="222986" y="972251"/>
                </a:moveTo>
                <a:lnTo>
                  <a:pt x="187778" y="1039829"/>
                </a:lnTo>
                <a:lnTo>
                  <a:pt x="210304" y="1051565"/>
                </a:lnTo>
                <a:lnTo>
                  <a:pt x="245512" y="983987"/>
                </a:lnTo>
                <a:lnTo>
                  <a:pt x="222986" y="972251"/>
                </a:lnTo>
                <a:close/>
              </a:path>
              <a:path w="744220" h="1412239">
                <a:moveTo>
                  <a:pt x="269930" y="882147"/>
                </a:moveTo>
                <a:lnTo>
                  <a:pt x="234722" y="949725"/>
                </a:lnTo>
                <a:lnTo>
                  <a:pt x="257248" y="961461"/>
                </a:lnTo>
                <a:lnTo>
                  <a:pt x="292456" y="893883"/>
                </a:lnTo>
                <a:lnTo>
                  <a:pt x="269930" y="882147"/>
                </a:lnTo>
                <a:close/>
              </a:path>
              <a:path w="744220" h="1412239">
                <a:moveTo>
                  <a:pt x="316876" y="792043"/>
                </a:moveTo>
                <a:lnTo>
                  <a:pt x="281666" y="859621"/>
                </a:lnTo>
                <a:lnTo>
                  <a:pt x="304194" y="871357"/>
                </a:lnTo>
                <a:lnTo>
                  <a:pt x="339402" y="803779"/>
                </a:lnTo>
                <a:lnTo>
                  <a:pt x="316876" y="792043"/>
                </a:lnTo>
                <a:close/>
              </a:path>
              <a:path w="744220" h="1412239">
                <a:moveTo>
                  <a:pt x="363820" y="701937"/>
                </a:moveTo>
                <a:lnTo>
                  <a:pt x="328612" y="769515"/>
                </a:lnTo>
                <a:lnTo>
                  <a:pt x="351138" y="781251"/>
                </a:lnTo>
                <a:lnTo>
                  <a:pt x="386346" y="713673"/>
                </a:lnTo>
                <a:lnTo>
                  <a:pt x="363820" y="701937"/>
                </a:lnTo>
                <a:close/>
              </a:path>
              <a:path w="744220" h="1412239">
                <a:moveTo>
                  <a:pt x="410764" y="611833"/>
                </a:moveTo>
                <a:lnTo>
                  <a:pt x="375556" y="679411"/>
                </a:lnTo>
                <a:lnTo>
                  <a:pt x="398082" y="691147"/>
                </a:lnTo>
                <a:lnTo>
                  <a:pt x="433290" y="623569"/>
                </a:lnTo>
                <a:lnTo>
                  <a:pt x="410764" y="611833"/>
                </a:lnTo>
                <a:close/>
              </a:path>
              <a:path w="744220" h="1412239">
                <a:moveTo>
                  <a:pt x="457709" y="521729"/>
                </a:moveTo>
                <a:lnTo>
                  <a:pt x="422501" y="589307"/>
                </a:lnTo>
                <a:lnTo>
                  <a:pt x="445027" y="601044"/>
                </a:lnTo>
                <a:lnTo>
                  <a:pt x="480236" y="533466"/>
                </a:lnTo>
                <a:lnTo>
                  <a:pt x="457709" y="521729"/>
                </a:lnTo>
                <a:close/>
              </a:path>
              <a:path w="744220" h="1412239">
                <a:moveTo>
                  <a:pt x="504654" y="431626"/>
                </a:moveTo>
                <a:lnTo>
                  <a:pt x="469446" y="499203"/>
                </a:lnTo>
                <a:lnTo>
                  <a:pt x="491972" y="510940"/>
                </a:lnTo>
                <a:lnTo>
                  <a:pt x="527180" y="443362"/>
                </a:lnTo>
                <a:lnTo>
                  <a:pt x="504654" y="431626"/>
                </a:lnTo>
                <a:close/>
              </a:path>
              <a:path w="744220" h="1412239">
                <a:moveTo>
                  <a:pt x="551599" y="341522"/>
                </a:moveTo>
                <a:lnTo>
                  <a:pt x="516390" y="409100"/>
                </a:lnTo>
                <a:lnTo>
                  <a:pt x="538916" y="420836"/>
                </a:lnTo>
                <a:lnTo>
                  <a:pt x="574125" y="353258"/>
                </a:lnTo>
                <a:lnTo>
                  <a:pt x="551599" y="341522"/>
                </a:lnTo>
                <a:close/>
              </a:path>
              <a:path w="744220" h="1412239">
                <a:moveTo>
                  <a:pt x="598543" y="251416"/>
                </a:moveTo>
                <a:lnTo>
                  <a:pt x="563335" y="318996"/>
                </a:lnTo>
                <a:lnTo>
                  <a:pt x="585861" y="330732"/>
                </a:lnTo>
                <a:lnTo>
                  <a:pt x="621069" y="263154"/>
                </a:lnTo>
                <a:lnTo>
                  <a:pt x="598543" y="251416"/>
                </a:lnTo>
                <a:close/>
              </a:path>
              <a:path w="744220" h="1412239">
                <a:moveTo>
                  <a:pt x="645488" y="161312"/>
                </a:moveTo>
                <a:lnTo>
                  <a:pt x="610279" y="228890"/>
                </a:lnTo>
                <a:lnTo>
                  <a:pt x="632805" y="240628"/>
                </a:lnTo>
                <a:lnTo>
                  <a:pt x="668014" y="173050"/>
                </a:lnTo>
                <a:lnTo>
                  <a:pt x="645488" y="161312"/>
                </a:lnTo>
                <a:close/>
              </a:path>
              <a:path w="744220" h="1412239">
                <a:moveTo>
                  <a:pt x="692433" y="71208"/>
                </a:moveTo>
                <a:lnTo>
                  <a:pt x="657225" y="138786"/>
                </a:lnTo>
                <a:lnTo>
                  <a:pt x="679750" y="150522"/>
                </a:lnTo>
                <a:lnTo>
                  <a:pt x="714959" y="82944"/>
                </a:lnTo>
                <a:lnTo>
                  <a:pt x="692433" y="71208"/>
                </a:lnTo>
                <a:close/>
              </a:path>
              <a:path w="744220" h="1412239">
                <a:moveTo>
                  <a:pt x="743854" y="0"/>
                </a:moveTo>
                <a:lnTo>
                  <a:pt x="674856" y="49973"/>
                </a:lnTo>
                <a:lnTo>
                  <a:pt x="742434" y="85182"/>
                </a:lnTo>
                <a:lnTo>
                  <a:pt x="74385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4677514" y="5519420"/>
            <a:ext cx="423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ESR</a:t>
            </a:r>
            <a:r>
              <a:rPr dirty="0" sz="120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145040" y="559663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6999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6999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145040" y="559663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6003268" y="5531611"/>
            <a:ext cx="558800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55244" marR="5080" indent="-43180">
              <a:lnSpc>
                <a:spcPts val="1390"/>
              </a:lnSpc>
              <a:spcBef>
                <a:spcPts val="185"/>
              </a:spcBef>
            </a:pPr>
            <a:r>
              <a:rPr dirty="0" sz="1200" spc="-5">
                <a:latin typeface="Arial"/>
                <a:cs typeface="Arial"/>
              </a:rPr>
              <a:t>Short</a:t>
            </a:r>
            <a:r>
              <a:rPr dirty="0" sz="1200" spc="-85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of  Breath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204459" y="485437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2"/>
                </a:lnTo>
                <a:lnTo>
                  <a:pt x="51877" y="37510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204459" y="485437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5915816" y="4243535"/>
            <a:ext cx="737235" cy="747395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98755">
              <a:lnSpc>
                <a:spcPts val="1180"/>
              </a:lnSpc>
            </a:pPr>
            <a:r>
              <a:rPr dirty="0" sz="1200" spc="-5">
                <a:latin typeface="Arial"/>
                <a:cs typeface="Arial"/>
              </a:rPr>
              <a:t>Cancer</a:t>
            </a:r>
            <a:endParaRPr sz="1200">
              <a:latin typeface="Arial"/>
              <a:cs typeface="Arial"/>
            </a:endParaRPr>
          </a:p>
          <a:p>
            <a:pPr marL="16510" marR="194945">
              <a:lnSpc>
                <a:spcPts val="1420"/>
              </a:lnSpc>
              <a:spcBef>
                <a:spcPts val="495"/>
              </a:spcBef>
            </a:pPr>
            <a:r>
              <a:rPr dirty="0" sz="1200" spc="-5">
                <a:latin typeface="Arial"/>
                <a:cs typeface="Arial"/>
              </a:rPr>
              <a:t>Lung  Cancer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7466510" y="4658528"/>
          <a:ext cx="1443990" cy="1699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958"/>
                <a:gridCol w="1054860"/>
                <a:gridCol w="205278"/>
              </a:tblGrid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479249"/>
                      </a:solidFill>
                      <a:prstDash val="solid"/>
                    </a:lnR>
                    <a:lnB w="38100">
                      <a:solidFill>
                        <a:srgbClr val="BF9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dirty="0" sz="1200" spc="-5">
                          <a:latin typeface="Arial"/>
                          <a:cs typeface="Arial"/>
                        </a:rPr>
                        <a:t>Arimidex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32715">
                    <a:lnL w="38100">
                      <a:solidFill>
                        <a:srgbClr val="479249"/>
                      </a:solidFill>
                      <a:prstDash val="solid"/>
                    </a:lnL>
                    <a:lnR w="38100">
                      <a:solidFill>
                        <a:srgbClr val="479249"/>
                      </a:solidFill>
                      <a:prstDash val="solid"/>
                    </a:lnR>
                    <a:lnT w="38100">
                      <a:solidFill>
                        <a:srgbClr val="479249"/>
                      </a:solidFill>
                      <a:prstDash val="solid"/>
                    </a:lnT>
                    <a:lnB w="38100">
                      <a:solidFill>
                        <a:srgbClr val="BF9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479249"/>
                      </a:solidFill>
                      <a:prstDash val="solid"/>
                    </a:lnL>
                    <a:lnB w="38100">
                      <a:solidFill>
                        <a:srgbClr val="BF9000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F9000"/>
                      </a:solidFill>
                      <a:prstDash val="solid"/>
                    </a:lnL>
                    <a:lnR w="38100">
                      <a:solidFill>
                        <a:srgbClr val="479249"/>
                      </a:solidFill>
                      <a:prstDash val="solid"/>
                    </a:lnR>
                    <a:lnT w="38100">
                      <a:solidFill>
                        <a:srgbClr val="BF9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6990" marR="22225" indent="289560">
                        <a:lnSpc>
                          <a:spcPct val="75000"/>
                        </a:lnSpc>
                        <a:spcBef>
                          <a:spcPts val="290"/>
                        </a:spcBef>
                      </a:pPr>
                      <a:r>
                        <a:rPr dirty="0" sz="1200" spc="-5">
                          <a:latin typeface="Arial"/>
                          <a:cs typeface="Arial"/>
                        </a:rPr>
                        <a:t>Pa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li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l  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Fulvestrant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6830">
                    <a:lnL w="38100">
                      <a:solidFill>
                        <a:srgbClr val="479249"/>
                      </a:solidFill>
                      <a:prstDash val="solid"/>
                    </a:lnL>
                    <a:lnR w="38100">
                      <a:solidFill>
                        <a:srgbClr val="479249"/>
                      </a:solidFill>
                      <a:prstDash val="solid"/>
                    </a:lnR>
                    <a:lnT w="38100">
                      <a:solidFill>
                        <a:srgbClr val="BF9000"/>
                      </a:solidFill>
                      <a:prstDash val="solid"/>
                    </a:lnT>
                    <a:lnB w="38100">
                      <a:solidFill>
                        <a:srgbClr val="47924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479249"/>
                      </a:solidFill>
                      <a:prstDash val="solid"/>
                    </a:lnL>
                    <a:lnR w="38100">
                      <a:solidFill>
                        <a:srgbClr val="BF9000"/>
                      </a:solidFill>
                      <a:prstDash val="solid"/>
                    </a:lnR>
                    <a:lnT w="38100">
                      <a:solidFill>
                        <a:srgbClr val="BF9000"/>
                      </a:solidFill>
                      <a:prstDash val="solid"/>
                    </a:lnT>
                  </a:tcPr>
                </a:tc>
              </a:tr>
              <a:tr h="749300">
                <a:tc gridSpan="3">
                  <a:txBody>
                    <a:bodyPr/>
                    <a:lstStyle/>
                    <a:p>
                      <a:pPr marL="65786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spc="-5">
                          <a:latin typeface="Arial"/>
                          <a:cs typeface="Arial"/>
                        </a:rPr>
                        <a:t>Ketamin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3505">
                    <a:lnL w="38100">
                      <a:solidFill>
                        <a:srgbClr val="BF9000"/>
                      </a:solidFill>
                      <a:prstDash val="solid"/>
                    </a:lnL>
                    <a:lnR w="38100">
                      <a:solidFill>
                        <a:srgbClr val="BF9000"/>
                      </a:solidFill>
                      <a:prstDash val="solid"/>
                    </a:lnR>
                    <a:lnB w="38100">
                      <a:solidFill>
                        <a:srgbClr val="BF9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7" name="object 57"/>
          <p:cNvSpPr/>
          <p:nvPr/>
        </p:nvSpPr>
        <p:spPr>
          <a:xfrm>
            <a:off x="8560372" y="536462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560372" y="536462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618108" y="1940052"/>
            <a:ext cx="8370570" cy="1838960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87630">
              <a:lnSpc>
                <a:spcPct val="100000"/>
              </a:lnSpc>
              <a:spcBef>
                <a:spcPts val="1045"/>
              </a:spcBef>
            </a:pPr>
            <a:r>
              <a:rPr dirty="0" sz="2400" spc="-5" b="1">
                <a:latin typeface="Calibri"/>
                <a:cs typeface="Calibri"/>
              </a:rPr>
              <a:t>((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e:ESR2</a:t>
            </a:r>
            <a:r>
              <a:rPr dirty="0" sz="2400" spc="-5" b="1">
                <a:latin typeface="Calibri"/>
                <a:cs typeface="Calibri"/>
              </a:rPr>
              <a:t>, (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r:Assoc, </a:t>
            </a:r>
            <a:r>
              <a:rPr dirty="0" sz="2400" spc="-20" b="1">
                <a:solidFill>
                  <a:srgbClr val="479249"/>
                </a:solidFill>
                <a:latin typeface="Calibri"/>
                <a:cs typeface="Calibri"/>
              </a:rPr>
              <a:t>r:TreatedBy</a:t>
            </a:r>
            <a:r>
              <a:rPr dirty="0" sz="2400" spc="-20" b="1">
                <a:latin typeface="Calibri"/>
                <a:cs typeface="Calibri"/>
              </a:rPr>
              <a:t>)),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e:Short of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Breath</a:t>
            </a:r>
            <a:r>
              <a:rPr dirty="0" sz="2400" spc="-10" b="1">
                <a:latin typeface="Calibri"/>
                <a:cs typeface="Calibri"/>
              </a:rPr>
              <a:t>,</a:t>
            </a:r>
            <a:r>
              <a:rPr dirty="0" sz="2400" spc="10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B48200"/>
                </a:solidFill>
                <a:latin typeface="Calibri"/>
                <a:cs typeface="Calibri"/>
              </a:rPr>
              <a:t>r:CausedBy</a:t>
            </a:r>
            <a:r>
              <a:rPr dirty="0" sz="2400" spc="-5" b="1">
                <a:latin typeface="Calibri"/>
                <a:cs typeface="Calibri"/>
              </a:rPr>
              <a:t>))</a:t>
            </a:r>
            <a:endParaRPr sz="2400">
              <a:latin typeface="Calibri"/>
              <a:cs typeface="Calibri"/>
            </a:endParaRPr>
          </a:p>
          <a:p>
            <a:pPr marL="332740" marR="687070" indent="-320040">
              <a:lnSpc>
                <a:spcPct val="100000"/>
              </a:lnSpc>
              <a:spcBef>
                <a:spcPts val="1415"/>
              </a:spcBef>
              <a:buClr>
                <a:srgbClr val="F0AD00"/>
              </a:buClr>
              <a:buSzPct val="80555"/>
              <a:buFont typeface="Arial"/>
              <a:buChar char="▪"/>
              <a:tabLst>
                <a:tab pos="332740" algn="l"/>
              </a:tabLst>
            </a:pPr>
            <a:r>
              <a:rPr dirty="0" sz="3600" spc="-5" b="1">
                <a:solidFill>
                  <a:srgbClr val="C00000"/>
                </a:solidFill>
                <a:latin typeface="Calibri"/>
                <a:cs typeface="Calibri"/>
              </a:rPr>
              <a:t>How </a:t>
            </a:r>
            <a:r>
              <a:rPr dirty="0" sz="3600" b="1">
                <a:solidFill>
                  <a:srgbClr val="C00000"/>
                </a:solidFill>
                <a:latin typeface="Calibri"/>
                <a:cs typeface="Calibri"/>
              </a:rPr>
              <a:t>do </a:t>
            </a:r>
            <a:r>
              <a:rPr dirty="0" sz="3600" spc="-15" b="1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3600" spc="-40" b="1">
                <a:solidFill>
                  <a:srgbClr val="C00000"/>
                </a:solidFill>
                <a:latin typeface="Calibri"/>
                <a:cs typeface="Calibri"/>
              </a:rPr>
              <a:t>take </a:t>
            </a:r>
            <a:r>
              <a:rPr dirty="0" sz="3600" spc="-15" b="1">
                <a:solidFill>
                  <a:srgbClr val="C00000"/>
                </a:solidFill>
                <a:latin typeface="Calibri"/>
                <a:cs typeface="Calibri"/>
              </a:rPr>
              <a:t>intersection </a:t>
            </a:r>
            <a:r>
              <a:rPr dirty="0" sz="3600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3600" spc="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spc="-30" b="1">
                <a:solidFill>
                  <a:srgbClr val="C00000"/>
                </a:solidFill>
                <a:latin typeface="Calibri"/>
                <a:cs typeface="Calibri"/>
              </a:rPr>
              <a:t>boxes?</a:t>
            </a:r>
            <a:endParaRPr sz="3600">
              <a:latin typeface="Calibri"/>
              <a:cs typeface="Calibri"/>
            </a:endParaRPr>
          </a:p>
          <a:p>
            <a:pPr algn="ctr" marR="810260">
              <a:lnSpc>
                <a:spcPct val="100000"/>
              </a:lnSpc>
              <a:spcBef>
                <a:spcPts val="2315"/>
              </a:spcBef>
              <a:tabLst>
                <a:tab pos="4702810" algn="l"/>
              </a:tabLst>
            </a:pPr>
            <a:r>
              <a:rPr dirty="0" sz="2000" spc="-5" b="1">
                <a:latin typeface="Arial"/>
                <a:cs typeface="Arial"/>
              </a:rPr>
              <a:t>Query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Plan	Embedding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Space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44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28523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73555"/>
            <a:ext cx="578167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 i="0">
                <a:solidFill>
                  <a:srgbClr val="0000FF"/>
                </a:solidFill>
                <a:latin typeface="Calibri"/>
                <a:cs typeface="Calibri"/>
              </a:rPr>
              <a:t>Geometric </a:t>
            </a:r>
            <a:r>
              <a:rPr dirty="0" sz="3000" spc="-15" b="1" i="0">
                <a:solidFill>
                  <a:srgbClr val="0000FF"/>
                </a:solidFill>
                <a:latin typeface="Calibri"/>
                <a:cs typeface="Calibri"/>
              </a:rPr>
              <a:t>Intersection </a:t>
            </a:r>
            <a:r>
              <a:rPr dirty="0" sz="3000" spc="-20" b="1" i="0">
                <a:solidFill>
                  <a:srgbClr val="0000FF"/>
                </a:solidFill>
                <a:latin typeface="Calibri"/>
                <a:cs typeface="Calibri"/>
              </a:rPr>
              <a:t>Operator</a:t>
            </a:r>
            <a:r>
              <a:rPr dirty="0" sz="3000" spc="-60" b="1" i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000" i="0">
                <a:latin typeface="Cambria Math"/>
                <a:cs typeface="Cambria Math"/>
              </a:rPr>
              <a:t>𝓘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729740"/>
            <a:ext cx="8374380" cy="289496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625475" marR="18415" indent="-274320">
              <a:lnSpc>
                <a:spcPct val="80000"/>
              </a:lnSpc>
              <a:spcBef>
                <a:spcPts val="7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75">
                <a:latin typeface="Calibri"/>
                <a:cs typeface="Calibri"/>
              </a:rPr>
              <a:t>Take </a:t>
            </a:r>
            <a:r>
              <a:rPr dirty="0" sz="2600" spc="-5">
                <a:latin typeface="Calibri"/>
                <a:cs typeface="Calibri"/>
              </a:rPr>
              <a:t>multiple </a:t>
            </a:r>
            <a:r>
              <a:rPr dirty="0" sz="2600" spc="-30">
                <a:latin typeface="Calibri"/>
                <a:cs typeface="Calibri"/>
              </a:rPr>
              <a:t>boxes </a:t>
            </a:r>
            <a:r>
              <a:rPr dirty="0" sz="2600">
                <a:latin typeface="Calibri"/>
                <a:cs typeface="Calibri"/>
              </a:rPr>
              <a:t>as </a:t>
            </a:r>
            <a:r>
              <a:rPr dirty="0" sz="2600" spc="-5">
                <a:latin typeface="Calibri"/>
                <a:cs typeface="Calibri"/>
              </a:rPr>
              <a:t>input and </a:t>
            </a:r>
            <a:r>
              <a:rPr dirty="0" sz="2600" spc="-10">
                <a:latin typeface="Calibri"/>
                <a:cs typeface="Calibri"/>
              </a:rPr>
              <a:t>produce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40">
                <a:latin typeface="Calibri"/>
                <a:cs typeface="Calibri"/>
              </a:rPr>
              <a:t>intersection  </a:t>
            </a:r>
            <a:r>
              <a:rPr dirty="0" sz="2600" spc="-20">
                <a:latin typeface="Calibri"/>
                <a:cs typeface="Calibri"/>
              </a:rPr>
              <a:t>box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2885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latin typeface="Calibri"/>
                <a:cs typeface="Calibri"/>
              </a:rPr>
              <a:t>Intuition:</a:t>
            </a:r>
            <a:endParaRPr sz="3000">
              <a:latin typeface="Calibri"/>
              <a:cs typeface="Calibri"/>
            </a:endParaRPr>
          </a:p>
          <a:p>
            <a:pPr lvl="1" marL="625475" marR="841375" indent="-274320">
              <a:lnSpc>
                <a:spcPct val="8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5">
                <a:latin typeface="Calibri"/>
                <a:cs typeface="Calibri"/>
              </a:rPr>
              <a:t>center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new </a:t>
            </a:r>
            <a:r>
              <a:rPr dirty="0" sz="2600" spc="-15">
                <a:latin typeface="Calibri"/>
                <a:cs typeface="Calibri"/>
              </a:rPr>
              <a:t>blox </a:t>
            </a:r>
            <a:r>
              <a:rPr dirty="0" sz="2600" spc="-5">
                <a:latin typeface="Calibri"/>
                <a:cs typeface="Calibri"/>
              </a:rPr>
              <a:t>should be </a:t>
            </a:r>
            <a:r>
              <a:rPr dirty="0" sz="2600" spc="-5">
                <a:solidFill>
                  <a:srgbClr val="00B050"/>
                </a:solidFill>
                <a:latin typeface="Calibri"/>
                <a:cs typeface="Calibri"/>
              </a:rPr>
              <a:t>“</a:t>
            </a:r>
            <a:r>
              <a:rPr dirty="0" sz="2600" spc="-5" b="1">
                <a:solidFill>
                  <a:srgbClr val="00B050"/>
                </a:solidFill>
                <a:latin typeface="Calibri"/>
                <a:cs typeface="Calibri"/>
              </a:rPr>
              <a:t>close”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spc="-185">
                <a:latin typeface="Calibri"/>
                <a:cs typeface="Calibri"/>
              </a:rPr>
              <a:t>the  </a:t>
            </a:r>
            <a:r>
              <a:rPr dirty="0" sz="2600" spc="-20">
                <a:latin typeface="Calibri"/>
                <a:cs typeface="Calibri"/>
              </a:rPr>
              <a:t>centers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the input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30">
                <a:latin typeface="Calibri"/>
                <a:cs typeface="Calibri"/>
              </a:rPr>
              <a:t>boxes</a:t>
            </a:r>
            <a:endParaRPr sz="2600">
              <a:latin typeface="Calibri"/>
              <a:cs typeface="Calibri"/>
            </a:endParaRPr>
          </a:p>
          <a:p>
            <a:pPr lvl="1" marL="625475" marR="5080" indent="-274320">
              <a:lnSpc>
                <a:spcPts val="2520"/>
              </a:lnSpc>
              <a:spcBef>
                <a:spcPts val="5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20">
                <a:latin typeface="Calibri"/>
                <a:cs typeface="Calibri"/>
              </a:rPr>
              <a:t>offset </a:t>
            </a:r>
            <a:r>
              <a:rPr dirty="0" sz="2600" spc="-15">
                <a:latin typeface="Calibri"/>
                <a:cs typeface="Calibri"/>
              </a:rPr>
              <a:t>(box </a:t>
            </a:r>
            <a:r>
              <a:rPr dirty="0" sz="2600" spc="-20">
                <a:latin typeface="Calibri"/>
                <a:cs typeface="Calibri"/>
              </a:rPr>
              <a:t>size) </a:t>
            </a:r>
            <a:r>
              <a:rPr dirty="0" sz="2600" spc="-5">
                <a:latin typeface="Calibri"/>
                <a:cs typeface="Calibri"/>
              </a:rPr>
              <a:t>should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shrink </a:t>
            </a:r>
            <a:r>
              <a:rPr dirty="0" sz="2600" spc="-5">
                <a:latin typeface="Calibri"/>
                <a:cs typeface="Calibri"/>
              </a:rPr>
              <a:t>(since the </a:t>
            </a:r>
            <a:r>
              <a:rPr dirty="0" sz="2600" spc="-20">
                <a:latin typeface="Calibri"/>
                <a:cs typeface="Calibri"/>
              </a:rPr>
              <a:t>size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the  </a:t>
            </a:r>
            <a:r>
              <a:rPr dirty="0" sz="2600" spc="-15">
                <a:latin typeface="Calibri"/>
                <a:cs typeface="Calibri"/>
              </a:rPr>
              <a:t>intersected </a:t>
            </a:r>
            <a:r>
              <a:rPr dirty="0" sz="2600" spc="-10">
                <a:latin typeface="Calibri"/>
                <a:cs typeface="Calibri"/>
              </a:rPr>
              <a:t>set 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5" b="1">
                <a:latin typeface="Calibri"/>
                <a:cs typeface="Calibri"/>
              </a:rPr>
              <a:t>smaller </a:t>
            </a:r>
            <a:r>
              <a:rPr dirty="0" sz="2600" spc="-5">
                <a:latin typeface="Calibri"/>
                <a:cs typeface="Calibri"/>
              </a:rPr>
              <a:t>than the </a:t>
            </a:r>
            <a:r>
              <a:rPr dirty="0" sz="2600" spc="-20">
                <a:latin typeface="Calibri"/>
                <a:cs typeface="Calibri"/>
              </a:rPr>
              <a:t>size </a:t>
            </a:r>
            <a:r>
              <a:rPr dirty="0" sz="2600">
                <a:latin typeface="Calibri"/>
                <a:cs typeface="Calibri"/>
              </a:rPr>
              <a:t>of all </a:t>
            </a:r>
            <a:r>
              <a:rPr dirty="0" sz="2600" spc="-5">
                <a:latin typeface="Calibri"/>
                <a:cs typeface="Calibri"/>
              </a:rPr>
              <a:t>the input</a:t>
            </a:r>
            <a:r>
              <a:rPr dirty="0" sz="260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set)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288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>
                <a:latin typeface="Cambria Math"/>
                <a:cs typeface="Cambria Math"/>
              </a:rPr>
              <a:t>ℐ </a:t>
            </a:r>
            <a:r>
              <a:rPr dirty="0" sz="3000">
                <a:latin typeface="Calibri"/>
                <a:cs typeface="Calibri"/>
              </a:rPr>
              <a:t>: </a:t>
            </a:r>
            <a:r>
              <a:rPr dirty="0" sz="3000" spc="-20">
                <a:latin typeface="Calibri"/>
                <a:cs typeface="Calibri"/>
              </a:rPr>
              <a:t>Box </a:t>
            </a:r>
            <a:r>
              <a:rPr dirty="0" sz="3000">
                <a:latin typeface="Cambria Math"/>
                <a:cs typeface="Cambria Math"/>
              </a:rPr>
              <a:t>× ⋯× </a:t>
            </a:r>
            <a:r>
              <a:rPr dirty="0" sz="3000" spc="-20">
                <a:latin typeface="Calibri"/>
                <a:cs typeface="Calibri"/>
              </a:rPr>
              <a:t>Box </a:t>
            </a:r>
            <a:r>
              <a:rPr dirty="0" sz="3000">
                <a:latin typeface="Cambria Math"/>
                <a:cs typeface="Cambria Math"/>
              </a:rPr>
              <a:t>→</a:t>
            </a:r>
            <a:r>
              <a:rPr dirty="0" sz="3000" spc="-95">
                <a:latin typeface="Cambria Math"/>
                <a:cs typeface="Cambria Math"/>
              </a:rPr>
              <a:t> </a:t>
            </a:r>
            <a:r>
              <a:rPr dirty="0" sz="3000" spc="-20">
                <a:latin typeface="Calibri"/>
                <a:cs typeface="Calibri"/>
              </a:rPr>
              <a:t>Box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95538" y="5852357"/>
            <a:ext cx="275338" cy="2376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25115" y="5021602"/>
            <a:ext cx="2494280" cy="1102360"/>
          </a:xfrm>
          <a:custGeom>
            <a:avLst/>
            <a:gdLst/>
            <a:ahLst/>
            <a:cxnLst/>
            <a:rect l="l" t="t" r="r" b="b"/>
            <a:pathLst>
              <a:path w="2494279" h="1102360">
                <a:moveTo>
                  <a:pt x="2487371" y="0"/>
                </a:moveTo>
                <a:lnTo>
                  <a:pt x="6396" y="0"/>
                </a:lnTo>
                <a:lnTo>
                  <a:pt x="0" y="6396"/>
                </a:lnTo>
                <a:lnTo>
                  <a:pt x="0" y="1095670"/>
                </a:lnTo>
                <a:lnTo>
                  <a:pt x="6396" y="1102067"/>
                </a:lnTo>
                <a:lnTo>
                  <a:pt x="2487371" y="1102067"/>
                </a:lnTo>
                <a:lnTo>
                  <a:pt x="2493768" y="1095670"/>
                </a:lnTo>
                <a:lnTo>
                  <a:pt x="2493768" y="1084922"/>
                </a:lnTo>
                <a:lnTo>
                  <a:pt x="17144" y="1084922"/>
                </a:lnTo>
                <a:lnTo>
                  <a:pt x="17144" y="17145"/>
                </a:lnTo>
                <a:lnTo>
                  <a:pt x="2493768" y="17145"/>
                </a:lnTo>
                <a:lnTo>
                  <a:pt x="2493768" y="6396"/>
                </a:lnTo>
                <a:lnTo>
                  <a:pt x="2487371" y="0"/>
                </a:lnTo>
                <a:close/>
              </a:path>
              <a:path w="2494279" h="1102360">
                <a:moveTo>
                  <a:pt x="2493768" y="17145"/>
                </a:moveTo>
                <a:lnTo>
                  <a:pt x="2476623" y="17145"/>
                </a:lnTo>
                <a:lnTo>
                  <a:pt x="2476623" y="1084922"/>
                </a:lnTo>
                <a:lnTo>
                  <a:pt x="2493768" y="1084922"/>
                </a:lnTo>
                <a:lnTo>
                  <a:pt x="2493768" y="17145"/>
                </a:lnTo>
                <a:close/>
              </a:path>
              <a:path w="2494279" h="1102360">
                <a:moveTo>
                  <a:pt x="2470908" y="22860"/>
                </a:moveTo>
                <a:lnTo>
                  <a:pt x="22859" y="22860"/>
                </a:lnTo>
                <a:lnTo>
                  <a:pt x="22859" y="1079207"/>
                </a:lnTo>
                <a:lnTo>
                  <a:pt x="2470908" y="1079207"/>
                </a:lnTo>
                <a:lnTo>
                  <a:pt x="2470908" y="1073492"/>
                </a:lnTo>
                <a:lnTo>
                  <a:pt x="28575" y="1073492"/>
                </a:lnTo>
                <a:lnTo>
                  <a:pt x="28575" y="28575"/>
                </a:lnTo>
                <a:lnTo>
                  <a:pt x="2470908" y="28575"/>
                </a:lnTo>
                <a:lnTo>
                  <a:pt x="2470908" y="22860"/>
                </a:lnTo>
                <a:close/>
              </a:path>
              <a:path w="2494279" h="1102360">
                <a:moveTo>
                  <a:pt x="2470908" y="28575"/>
                </a:moveTo>
                <a:lnTo>
                  <a:pt x="2465193" y="28575"/>
                </a:lnTo>
                <a:lnTo>
                  <a:pt x="2465193" y="1073492"/>
                </a:lnTo>
                <a:lnTo>
                  <a:pt x="2470908" y="1073492"/>
                </a:lnTo>
                <a:lnTo>
                  <a:pt x="2470908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77149" y="5821753"/>
            <a:ext cx="1108075" cy="776605"/>
          </a:xfrm>
          <a:custGeom>
            <a:avLst/>
            <a:gdLst/>
            <a:ahLst/>
            <a:cxnLst/>
            <a:rect l="l" t="t" r="r" b="b"/>
            <a:pathLst>
              <a:path w="1108075" h="776604">
                <a:moveTo>
                  <a:pt x="1101617" y="0"/>
                </a:moveTo>
                <a:lnTo>
                  <a:pt x="6396" y="0"/>
                </a:lnTo>
                <a:lnTo>
                  <a:pt x="0" y="6396"/>
                </a:lnTo>
                <a:lnTo>
                  <a:pt x="0" y="769817"/>
                </a:lnTo>
                <a:lnTo>
                  <a:pt x="6396" y="776213"/>
                </a:lnTo>
                <a:lnTo>
                  <a:pt x="1101617" y="776213"/>
                </a:lnTo>
                <a:lnTo>
                  <a:pt x="1108012" y="769817"/>
                </a:lnTo>
                <a:lnTo>
                  <a:pt x="1108012" y="759068"/>
                </a:lnTo>
                <a:lnTo>
                  <a:pt x="17145" y="759068"/>
                </a:lnTo>
                <a:lnTo>
                  <a:pt x="17145" y="17144"/>
                </a:lnTo>
                <a:lnTo>
                  <a:pt x="1108012" y="17144"/>
                </a:lnTo>
                <a:lnTo>
                  <a:pt x="1108012" y="6396"/>
                </a:lnTo>
                <a:lnTo>
                  <a:pt x="1101617" y="0"/>
                </a:lnTo>
                <a:close/>
              </a:path>
              <a:path w="1108075" h="776604">
                <a:moveTo>
                  <a:pt x="1108012" y="17144"/>
                </a:moveTo>
                <a:lnTo>
                  <a:pt x="1090867" y="17144"/>
                </a:lnTo>
                <a:lnTo>
                  <a:pt x="1090867" y="759068"/>
                </a:lnTo>
                <a:lnTo>
                  <a:pt x="1108012" y="759068"/>
                </a:lnTo>
                <a:lnTo>
                  <a:pt x="1108012" y="17144"/>
                </a:lnTo>
                <a:close/>
              </a:path>
              <a:path w="1108075" h="776604">
                <a:moveTo>
                  <a:pt x="1085152" y="22859"/>
                </a:moveTo>
                <a:lnTo>
                  <a:pt x="22860" y="22859"/>
                </a:lnTo>
                <a:lnTo>
                  <a:pt x="22860" y="753353"/>
                </a:lnTo>
                <a:lnTo>
                  <a:pt x="1085152" y="753353"/>
                </a:lnTo>
                <a:lnTo>
                  <a:pt x="1085152" y="747638"/>
                </a:lnTo>
                <a:lnTo>
                  <a:pt x="28575" y="747638"/>
                </a:lnTo>
                <a:lnTo>
                  <a:pt x="28575" y="28574"/>
                </a:lnTo>
                <a:lnTo>
                  <a:pt x="1085152" y="28574"/>
                </a:lnTo>
                <a:lnTo>
                  <a:pt x="1085152" y="22859"/>
                </a:lnTo>
                <a:close/>
              </a:path>
              <a:path w="1108075" h="776604">
                <a:moveTo>
                  <a:pt x="1085152" y="28574"/>
                </a:moveTo>
                <a:lnTo>
                  <a:pt x="1079437" y="28574"/>
                </a:lnTo>
                <a:lnTo>
                  <a:pt x="1079437" y="747638"/>
                </a:lnTo>
                <a:lnTo>
                  <a:pt x="1085152" y="747638"/>
                </a:lnTo>
                <a:lnTo>
                  <a:pt x="1085152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81250" y="4507730"/>
            <a:ext cx="468630" cy="1730375"/>
          </a:xfrm>
          <a:custGeom>
            <a:avLst/>
            <a:gdLst/>
            <a:ahLst/>
            <a:cxnLst/>
            <a:rect l="l" t="t" r="r" b="b"/>
            <a:pathLst>
              <a:path w="468629" h="1730375">
                <a:moveTo>
                  <a:pt x="462111" y="0"/>
                </a:moveTo>
                <a:lnTo>
                  <a:pt x="6396" y="0"/>
                </a:lnTo>
                <a:lnTo>
                  <a:pt x="0" y="6396"/>
                </a:lnTo>
                <a:lnTo>
                  <a:pt x="0" y="1723757"/>
                </a:lnTo>
                <a:lnTo>
                  <a:pt x="6396" y="1730153"/>
                </a:lnTo>
                <a:lnTo>
                  <a:pt x="462111" y="1730153"/>
                </a:lnTo>
                <a:lnTo>
                  <a:pt x="468508" y="1723757"/>
                </a:lnTo>
                <a:lnTo>
                  <a:pt x="468508" y="1713008"/>
                </a:lnTo>
                <a:lnTo>
                  <a:pt x="17145" y="1713008"/>
                </a:lnTo>
                <a:lnTo>
                  <a:pt x="17145" y="17145"/>
                </a:lnTo>
                <a:lnTo>
                  <a:pt x="468508" y="17145"/>
                </a:lnTo>
                <a:lnTo>
                  <a:pt x="468508" y="6396"/>
                </a:lnTo>
                <a:lnTo>
                  <a:pt x="462111" y="0"/>
                </a:lnTo>
                <a:close/>
              </a:path>
              <a:path w="468629" h="1730375">
                <a:moveTo>
                  <a:pt x="468508" y="17145"/>
                </a:moveTo>
                <a:lnTo>
                  <a:pt x="451363" y="17145"/>
                </a:lnTo>
                <a:lnTo>
                  <a:pt x="451363" y="1713008"/>
                </a:lnTo>
                <a:lnTo>
                  <a:pt x="468508" y="1713008"/>
                </a:lnTo>
                <a:lnTo>
                  <a:pt x="468508" y="17145"/>
                </a:lnTo>
                <a:close/>
              </a:path>
              <a:path w="468629" h="1730375">
                <a:moveTo>
                  <a:pt x="445648" y="22860"/>
                </a:moveTo>
                <a:lnTo>
                  <a:pt x="22860" y="22860"/>
                </a:lnTo>
                <a:lnTo>
                  <a:pt x="22860" y="1707293"/>
                </a:lnTo>
                <a:lnTo>
                  <a:pt x="445648" y="1707293"/>
                </a:lnTo>
                <a:lnTo>
                  <a:pt x="445648" y="1701578"/>
                </a:lnTo>
                <a:lnTo>
                  <a:pt x="28575" y="1701578"/>
                </a:lnTo>
                <a:lnTo>
                  <a:pt x="28575" y="28575"/>
                </a:lnTo>
                <a:lnTo>
                  <a:pt x="445648" y="28575"/>
                </a:lnTo>
                <a:lnTo>
                  <a:pt x="445648" y="22860"/>
                </a:lnTo>
                <a:close/>
              </a:path>
              <a:path w="468629" h="1730375">
                <a:moveTo>
                  <a:pt x="445648" y="28575"/>
                </a:moveTo>
                <a:lnTo>
                  <a:pt x="439933" y="28575"/>
                </a:lnTo>
                <a:lnTo>
                  <a:pt x="439933" y="1701578"/>
                </a:lnTo>
                <a:lnTo>
                  <a:pt x="445648" y="1701578"/>
                </a:lnTo>
                <a:lnTo>
                  <a:pt x="445648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08298" y="6205146"/>
            <a:ext cx="45720" cy="46355"/>
          </a:xfrm>
          <a:custGeom>
            <a:avLst/>
            <a:gdLst/>
            <a:ahLst/>
            <a:cxnLst/>
            <a:rect l="l" t="t" r="r" b="b"/>
            <a:pathLst>
              <a:path w="45720" h="46354">
                <a:moveTo>
                  <a:pt x="22858" y="0"/>
                </a:moveTo>
                <a:lnTo>
                  <a:pt x="13960" y="1810"/>
                </a:lnTo>
                <a:lnTo>
                  <a:pt x="6694" y="6747"/>
                </a:lnTo>
                <a:lnTo>
                  <a:pt x="1796" y="14070"/>
                </a:lnTo>
                <a:lnTo>
                  <a:pt x="0" y="23038"/>
                </a:lnTo>
                <a:lnTo>
                  <a:pt x="1796" y="32006"/>
                </a:lnTo>
                <a:lnTo>
                  <a:pt x="6694" y="39329"/>
                </a:lnTo>
                <a:lnTo>
                  <a:pt x="13960" y="44266"/>
                </a:lnTo>
                <a:lnTo>
                  <a:pt x="22858" y="46076"/>
                </a:lnTo>
                <a:lnTo>
                  <a:pt x="31756" y="44266"/>
                </a:lnTo>
                <a:lnTo>
                  <a:pt x="39023" y="39329"/>
                </a:lnTo>
                <a:lnTo>
                  <a:pt x="43922" y="32006"/>
                </a:lnTo>
                <a:lnTo>
                  <a:pt x="45718" y="23038"/>
                </a:lnTo>
                <a:lnTo>
                  <a:pt x="43922" y="14070"/>
                </a:lnTo>
                <a:lnTo>
                  <a:pt x="39023" y="6747"/>
                </a:lnTo>
                <a:lnTo>
                  <a:pt x="31756" y="1810"/>
                </a:lnTo>
                <a:lnTo>
                  <a:pt x="22858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993916" y="6190762"/>
            <a:ext cx="74930" cy="74930"/>
          </a:xfrm>
          <a:custGeom>
            <a:avLst/>
            <a:gdLst/>
            <a:ahLst/>
            <a:cxnLst/>
            <a:rect l="l" t="t" r="r" b="b"/>
            <a:pathLst>
              <a:path w="74929" h="74929">
                <a:moveTo>
                  <a:pt x="38209" y="0"/>
                </a:moveTo>
                <a:lnTo>
                  <a:pt x="36271" y="0"/>
                </a:lnTo>
                <a:lnTo>
                  <a:pt x="23638" y="2570"/>
                </a:lnTo>
                <a:lnTo>
                  <a:pt x="0" y="36467"/>
                </a:lnTo>
                <a:lnTo>
                  <a:pt x="0" y="38375"/>
                </a:lnTo>
                <a:lnTo>
                  <a:pt x="21878" y="71530"/>
                </a:lnTo>
                <a:lnTo>
                  <a:pt x="36271" y="74843"/>
                </a:lnTo>
                <a:lnTo>
                  <a:pt x="38209" y="74843"/>
                </a:lnTo>
                <a:lnTo>
                  <a:pt x="68030" y="57544"/>
                </a:lnTo>
                <a:lnTo>
                  <a:pt x="37240" y="57544"/>
                </a:lnTo>
                <a:lnTo>
                  <a:pt x="29474" y="55963"/>
                </a:lnTo>
                <a:lnTo>
                  <a:pt x="23141" y="51661"/>
                </a:lnTo>
                <a:lnTo>
                  <a:pt x="18867" y="45271"/>
                </a:lnTo>
                <a:lnTo>
                  <a:pt x="17294" y="37421"/>
                </a:lnTo>
                <a:lnTo>
                  <a:pt x="18867" y="29571"/>
                </a:lnTo>
                <a:lnTo>
                  <a:pt x="23141" y="23181"/>
                </a:lnTo>
                <a:lnTo>
                  <a:pt x="29474" y="18879"/>
                </a:lnTo>
                <a:lnTo>
                  <a:pt x="37240" y="17299"/>
                </a:lnTo>
                <a:lnTo>
                  <a:pt x="68030" y="17299"/>
                </a:lnTo>
                <a:lnTo>
                  <a:pt x="64258" y="11660"/>
                </a:lnTo>
                <a:lnTo>
                  <a:pt x="62952" y="10345"/>
                </a:lnTo>
                <a:lnTo>
                  <a:pt x="52603" y="3312"/>
                </a:lnTo>
                <a:lnTo>
                  <a:pt x="50841" y="2570"/>
                </a:lnTo>
                <a:lnTo>
                  <a:pt x="38209" y="0"/>
                </a:lnTo>
                <a:close/>
              </a:path>
              <a:path w="74929" h="74929">
                <a:moveTo>
                  <a:pt x="68030" y="17299"/>
                </a:moveTo>
                <a:lnTo>
                  <a:pt x="37240" y="17299"/>
                </a:lnTo>
                <a:lnTo>
                  <a:pt x="45006" y="18879"/>
                </a:lnTo>
                <a:lnTo>
                  <a:pt x="51338" y="23181"/>
                </a:lnTo>
                <a:lnTo>
                  <a:pt x="55613" y="29571"/>
                </a:lnTo>
                <a:lnTo>
                  <a:pt x="57185" y="37421"/>
                </a:lnTo>
                <a:lnTo>
                  <a:pt x="55613" y="45271"/>
                </a:lnTo>
                <a:lnTo>
                  <a:pt x="51338" y="51661"/>
                </a:lnTo>
                <a:lnTo>
                  <a:pt x="45006" y="55963"/>
                </a:lnTo>
                <a:lnTo>
                  <a:pt x="37240" y="57544"/>
                </a:lnTo>
                <a:lnTo>
                  <a:pt x="68030" y="57544"/>
                </a:lnTo>
                <a:lnTo>
                  <a:pt x="71220" y="52777"/>
                </a:lnTo>
                <a:lnTo>
                  <a:pt x="71944" y="51031"/>
                </a:lnTo>
                <a:lnTo>
                  <a:pt x="74480" y="38375"/>
                </a:lnTo>
                <a:lnTo>
                  <a:pt x="74480" y="36467"/>
                </a:lnTo>
                <a:lnTo>
                  <a:pt x="71944" y="23811"/>
                </a:lnTo>
                <a:lnTo>
                  <a:pt x="71220" y="22065"/>
                </a:lnTo>
                <a:lnTo>
                  <a:pt x="68030" y="17299"/>
                </a:lnTo>
                <a:close/>
              </a:path>
              <a:path w="74929" h="74929">
                <a:moveTo>
                  <a:pt x="37240" y="23131"/>
                </a:moveTo>
                <a:lnTo>
                  <a:pt x="31737" y="24251"/>
                </a:lnTo>
                <a:lnTo>
                  <a:pt x="27274" y="27284"/>
                </a:lnTo>
                <a:lnTo>
                  <a:pt x="24248" y="31806"/>
                </a:lnTo>
                <a:lnTo>
                  <a:pt x="23124" y="37421"/>
                </a:lnTo>
                <a:lnTo>
                  <a:pt x="24248" y="43036"/>
                </a:lnTo>
                <a:lnTo>
                  <a:pt x="27274" y="47559"/>
                </a:lnTo>
                <a:lnTo>
                  <a:pt x="31737" y="50592"/>
                </a:lnTo>
                <a:lnTo>
                  <a:pt x="37240" y="51711"/>
                </a:lnTo>
                <a:lnTo>
                  <a:pt x="42743" y="50592"/>
                </a:lnTo>
                <a:lnTo>
                  <a:pt x="47207" y="47559"/>
                </a:lnTo>
                <a:lnTo>
                  <a:pt x="48330" y="45879"/>
                </a:lnTo>
                <a:lnTo>
                  <a:pt x="37240" y="45879"/>
                </a:lnTo>
                <a:lnTo>
                  <a:pt x="34000" y="45220"/>
                </a:lnTo>
                <a:lnTo>
                  <a:pt x="31405" y="43457"/>
                </a:lnTo>
                <a:lnTo>
                  <a:pt x="29629" y="40802"/>
                </a:lnTo>
                <a:lnTo>
                  <a:pt x="28952" y="37421"/>
                </a:lnTo>
                <a:lnTo>
                  <a:pt x="29629" y="34041"/>
                </a:lnTo>
                <a:lnTo>
                  <a:pt x="31405" y="31386"/>
                </a:lnTo>
                <a:lnTo>
                  <a:pt x="34000" y="29622"/>
                </a:lnTo>
                <a:lnTo>
                  <a:pt x="37240" y="28963"/>
                </a:lnTo>
                <a:lnTo>
                  <a:pt x="48330" y="28963"/>
                </a:lnTo>
                <a:lnTo>
                  <a:pt x="47207" y="27284"/>
                </a:lnTo>
                <a:lnTo>
                  <a:pt x="42743" y="24251"/>
                </a:lnTo>
                <a:lnTo>
                  <a:pt x="37240" y="23131"/>
                </a:lnTo>
                <a:close/>
              </a:path>
              <a:path w="74929" h="74929">
                <a:moveTo>
                  <a:pt x="48330" y="28963"/>
                </a:moveTo>
                <a:lnTo>
                  <a:pt x="37240" y="28963"/>
                </a:lnTo>
                <a:lnTo>
                  <a:pt x="40479" y="29622"/>
                </a:lnTo>
                <a:lnTo>
                  <a:pt x="43074" y="31386"/>
                </a:lnTo>
                <a:lnTo>
                  <a:pt x="44851" y="34041"/>
                </a:lnTo>
                <a:lnTo>
                  <a:pt x="45528" y="37421"/>
                </a:lnTo>
                <a:lnTo>
                  <a:pt x="44851" y="40802"/>
                </a:lnTo>
                <a:lnTo>
                  <a:pt x="43074" y="43457"/>
                </a:lnTo>
                <a:lnTo>
                  <a:pt x="40479" y="45220"/>
                </a:lnTo>
                <a:lnTo>
                  <a:pt x="37240" y="45879"/>
                </a:lnTo>
                <a:lnTo>
                  <a:pt x="48330" y="45879"/>
                </a:lnTo>
                <a:lnTo>
                  <a:pt x="50232" y="43036"/>
                </a:lnTo>
                <a:lnTo>
                  <a:pt x="51357" y="37421"/>
                </a:lnTo>
                <a:lnTo>
                  <a:pt x="50232" y="31806"/>
                </a:lnTo>
                <a:lnTo>
                  <a:pt x="48330" y="289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92644" y="5394830"/>
            <a:ext cx="45720" cy="46355"/>
          </a:xfrm>
          <a:custGeom>
            <a:avLst/>
            <a:gdLst/>
            <a:ahLst/>
            <a:cxnLst/>
            <a:rect l="l" t="t" r="r" b="b"/>
            <a:pathLst>
              <a:path w="45720" h="46354">
                <a:moveTo>
                  <a:pt x="22858" y="0"/>
                </a:moveTo>
                <a:lnTo>
                  <a:pt x="13960" y="1810"/>
                </a:lnTo>
                <a:lnTo>
                  <a:pt x="6694" y="6747"/>
                </a:lnTo>
                <a:lnTo>
                  <a:pt x="1796" y="14071"/>
                </a:lnTo>
                <a:lnTo>
                  <a:pt x="0" y="23039"/>
                </a:lnTo>
                <a:lnTo>
                  <a:pt x="1796" y="32006"/>
                </a:lnTo>
                <a:lnTo>
                  <a:pt x="6694" y="39329"/>
                </a:lnTo>
                <a:lnTo>
                  <a:pt x="13960" y="44266"/>
                </a:lnTo>
                <a:lnTo>
                  <a:pt x="22858" y="46076"/>
                </a:lnTo>
                <a:lnTo>
                  <a:pt x="31756" y="44266"/>
                </a:lnTo>
                <a:lnTo>
                  <a:pt x="39023" y="39329"/>
                </a:lnTo>
                <a:lnTo>
                  <a:pt x="43922" y="32006"/>
                </a:lnTo>
                <a:lnTo>
                  <a:pt x="45718" y="23039"/>
                </a:lnTo>
                <a:lnTo>
                  <a:pt x="43922" y="14071"/>
                </a:lnTo>
                <a:lnTo>
                  <a:pt x="39023" y="6747"/>
                </a:lnTo>
                <a:lnTo>
                  <a:pt x="31756" y="1810"/>
                </a:lnTo>
                <a:lnTo>
                  <a:pt x="22858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78263" y="5380447"/>
            <a:ext cx="74930" cy="74930"/>
          </a:xfrm>
          <a:custGeom>
            <a:avLst/>
            <a:gdLst/>
            <a:ahLst/>
            <a:cxnLst/>
            <a:rect l="l" t="t" r="r" b="b"/>
            <a:pathLst>
              <a:path w="74929" h="74929">
                <a:moveTo>
                  <a:pt x="38209" y="0"/>
                </a:moveTo>
                <a:lnTo>
                  <a:pt x="36271" y="0"/>
                </a:lnTo>
                <a:lnTo>
                  <a:pt x="23638" y="2570"/>
                </a:lnTo>
                <a:lnTo>
                  <a:pt x="0" y="36468"/>
                </a:lnTo>
                <a:lnTo>
                  <a:pt x="0" y="38375"/>
                </a:lnTo>
                <a:lnTo>
                  <a:pt x="21878" y="71531"/>
                </a:lnTo>
                <a:lnTo>
                  <a:pt x="36271" y="74843"/>
                </a:lnTo>
                <a:lnTo>
                  <a:pt x="38209" y="74843"/>
                </a:lnTo>
                <a:lnTo>
                  <a:pt x="68031" y="57543"/>
                </a:lnTo>
                <a:lnTo>
                  <a:pt x="37240" y="57543"/>
                </a:lnTo>
                <a:lnTo>
                  <a:pt x="29474" y="55963"/>
                </a:lnTo>
                <a:lnTo>
                  <a:pt x="23141" y="51661"/>
                </a:lnTo>
                <a:lnTo>
                  <a:pt x="18867" y="45271"/>
                </a:lnTo>
                <a:lnTo>
                  <a:pt x="17294" y="37421"/>
                </a:lnTo>
                <a:lnTo>
                  <a:pt x="18867" y="29571"/>
                </a:lnTo>
                <a:lnTo>
                  <a:pt x="23141" y="23182"/>
                </a:lnTo>
                <a:lnTo>
                  <a:pt x="29474" y="18879"/>
                </a:lnTo>
                <a:lnTo>
                  <a:pt x="37240" y="17298"/>
                </a:lnTo>
                <a:lnTo>
                  <a:pt x="68030" y="17298"/>
                </a:lnTo>
                <a:lnTo>
                  <a:pt x="64258" y="11661"/>
                </a:lnTo>
                <a:lnTo>
                  <a:pt x="62952" y="10345"/>
                </a:lnTo>
                <a:lnTo>
                  <a:pt x="52603" y="3312"/>
                </a:lnTo>
                <a:lnTo>
                  <a:pt x="50841" y="2570"/>
                </a:lnTo>
                <a:lnTo>
                  <a:pt x="38209" y="0"/>
                </a:lnTo>
                <a:close/>
              </a:path>
              <a:path w="74929" h="74929">
                <a:moveTo>
                  <a:pt x="68030" y="17298"/>
                </a:moveTo>
                <a:lnTo>
                  <a:pt x="37240" y="17298"/>
                </a:lnTo>
                <a:lnTo>
                  <a:pt x="45006" y="18879"/>
                </a:lnTo>
                <a:lnTo>
                  <a:pt x="51338" y="23182"/>
                </a:lnTo>
                <a:lnTo>
                  <a:pt x="55613" y="29571"/>
                </a:lnTo>
                <a:lnTo>
                  <a:pt x="57185" y="37421"/>
                </a:lnTo>
                <a:lnTo>
                  <a:pt x="55613" y="45271"/>
                </a:lnTo>
                <a:lnTo>
                  <a:pt x="51338" y="51661"/>
                </a:lnTo>
                <a:lnTo>
                  <a:pt x="45006" y="55963"/>
                </a:lnTo>
                <a:lnTo>
                  <a:pt x="37240" y="57543"/>
                </a:lnTo>
                <a:lnTo>
                  <a:pt x="68031" y="57543"/>
                </a:lnTo>
                <a:lnTo>
                  <a:pt x="71220" y="52777"/>
                </a:lnTo>
                <a:lnTo>
                  <a:pt x="71944" y="51031"/>
                </a:lnTo>
                <a:lnTo>
                  <a:pt x="74480" y="38375"/>
                </a:lnTo>
                <a:lnTo>
                  <a:pt x="74480" y="36468"/>
                </a:lnTo>
                <a:lnTo>
                  <a:pt x="71944" y="23811"/>
                </a:lnTo>
                <a:lnTo>
                  <a:pt x="71220" y="22066"/>
                </a:lnTo>
                <a:lnTo>
                  <a:pt x="68030" y="17298"/>
                </a:lnTo>
                <a:close/>
              </a:path>
              <a:path w="74929" h="74929">
                <a:moveTo>
                  <a:pt x="37240" y="23131"/>
                </a:moveTo>
                <a:lnTo>
                  <a:pt x="31737" y="24250"/>
                </a:lnTo>
                <a:lnTo>
                  <a:pt x="27274" y="27284"/>
                </a:lnTo>
                <a:lnTo>
                  <a:pt x="24248" y="31805"/>
                </a:lnTo>
                <a:lnTo>
                  <a:pt x="23124" y="37421"/>
                </a:lnTo>
                <a:lnTo>
                  <a:pt x="24248" y="43036"/>
                </a:lnTo>
                <a:lnTo>
                  <a:pt x="27274" y="47558"/>
                </a:lnTo>
                <a:lnTo>
                  <a:pt x="31737" y="50592"/>
                </a:lnTo>
                <a:lnTo>
                  <a:pt x="37240" y="51711"/>
                </a:lnTo>
                <a:lnTo>
                  <a:pt x="42743" y="50592"/>
                </a:lnTo>
                <a:lnTo>
                  <a:pt x="47207" y="47558"/>
                </a:lnTo>
                <a:lnTo>
                  <a:pt x="48330" y="45880"/>
                </a:lnTo>
                <a:lnTo>
                  <a:pt x="37240" y="45880"/>
                </a:lnTo>
                <a:lnTo>
                  <a:pt x="34000" y="45220"/>
                </a:lnTo>
                <a:lnTo>
                  <a:pt x="31405" y="43456"/>
                </a:lnTo>
                <a:lnTo>
                  <a:pt x="29629" y="40802"/>
                </a:lnTo>
                <a:lnTo>
                  <a:pt x="28952" y="37421"/>
                </a:lnTo>
                <a:lnTo>
                  <a:pt x="29629" y="34041"/>
                </a:lnTo>
                <a:lnTo>
                  <a:pt x="31405" y="31385"/>
                </a:lnTo>
                <a:lnTo>
                  <a:pt x="34000" y="29622"/>
                </a:lnTo>
                <a:lnTo>
                  <a:pt x="37240" y="28963"/>
                </a:lnTo>
                <a:lnTo>
                  <a:pt x="48330" y="28963"/>
                </a:lnTo>
                <a:lnTo>
                  <a:pt x="47207" y="27284"/>
                </a:lnTo>
                <a:lnTo>
                  <a:pt x="42743" y="24250"/>
                </a:lnTo>
                <a:lnTo>
                  <a:pt x="37240" y="23131"/>
                </a:lnTo>
                <a:close/>
              </a:path>
              <a:path w="74929" h="74929">
                <a:moveTo>
                  <a:pt x="48330" y="28963"/>
                </a:moveTo>
                <a:lnTo>
                  <a:pt x="37240" y="28963"/>
                </a:lnTo>
                <a:lnTo>
                  <a:pt x="40479" y="29622"/>
                </a:lnTo>
                <a:lnTo>
                  <a:pt x="43074" y="31385"/>
                </a:lnTo>
                <a:lnTo>
                  <a:pt x="44851" y="34041"/>
                </a:lnTo>
                <a:lnTo>
                  <a:pt x="45528" y="37421"/>
                </a:lnTo>
                <a:lnTo>
                  <a:pt x="44851" y="40802"/>
                </a:lnTo>
                <a:lnTo>
                  <a:pt x="43074" y="43456"/>
                </a:lnTo>
                <a:lnTo>
                  <a:pt x="40479" y="45220"/>
                </a:lnTo>
                <a:lnTo>
                  <a:pt x="37240" y="45880"/>
                </a:lnTo>
                <a:lnTo>
                  <a:pt x="48330" y="45880"/>
                </a:lnTo>
                <a:lnTo>
                  <a:pt x="50232" y="43036"/>
                </a:lnTo>
                <a:lnTo>
                  <a:pt x="51357" y="37421"/>
                </a:lnTo>
                <a:lnTo>
                  <a:pt x="50232" y="31805"/>
                </a:lnTo>
                <a:lnTo>
                  <a:pt x="48330" y="289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44311" y="5580757"/>
            <a:ext cx="45720" cy="46355"/>
          </a:xfrm>
          <a:custGeom>
            <a:avLst/>
            <a:gdLst/>
            <a:ahLst/>
            <a:cxnLst/>
            <a:rect l="l" t="t" r="r" b="b"/>
            <a:pathLst>
              <a:path w="45720" h="46354">
                <a:moveTo>
                  <a:pt x="22860" y="0"/>
                </a:moveTo>
                <a:lnTo>
                  <a:pt x="13961" y="1810"/>
                </a:lnTo>
                <a:lnTo>
                  <a:pt x="6695" y="6747"/>
                </a:lnTo>
                <a:lnTo>
                  <a:pt x="1796" y="14070"/>
                </a:lnTo>
                <a:lnTo>
                  <a:pt x="0" y="23038"/>
                </a:lnTo>
                <a:lnTo>
                  <a:pt x="1796" y="32005"/>
                </a:lnTo>
                <a:lnTo>
                  <a:pt x="6695" y="39328"/>
                </a:lnTo>
                <a:lnTo>
                  <a:pt x="13961" y="44266"/>
                </a:lnTo>
                <a:lnTo>
                  <a:pt x="22860" y="46076"/>
                </a:lnTo>
                <a:lnTo>
                  <a:pt x="31758" y="44266"/>
                </a:lnTo>
                <a:lnTo>
                  <a:pt x="39024" y="39328"/>
                </a:lnTo>
                <a:lnTo>
                  <a:pt x="43923" y="32005"/>
                </a:lnTo>
                <a:lnTo>
                  <a:pt x="45720" y="23038"/>
                </a:lnTo>
                <a:lnTo>
                  <a:pt x="43923" y="14070"/>
                </a:lnTo>
                <a:lnTo>
                  <a:pt x="39024" y="6747"/>
                </a:lnTo>
                <a:lnTo>
                  <a:pt x="31758" y="1810"/>
                </a:lnTo>
                <a:lnTo>
                  <a:pt x="2286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29931" y="5566373"/>
            <a:ext cx="74930" cy="74930"/>
          </a:xfrm>
          <a:custGeom>
            <a:avLst/>
            <a:gdLst/>
            <a:ahLst/>
            <a:cxnLst/>
            <a:rect l="l" t="t" r="r" b="b"/>
            <a:pathLst>
              <a:path w="74929" h="74929">
                <a:moveTo>
                  <a:pt x="38209" y="0"/>
                </a:moveTo>
                <a:lnTo>
                  <a:pt x="36271" y="0"/>
                </a:lnTo>
                <a:lnTo>
                  <a:pt x="23638" y="2570"/>
                </a:lnTo>
                <a:lnTo>
                  <a:pt x="0" y="36468"/>
                </a:lnTo>
                <a:lnTo>
                  <a:pt x="0" y="38375"/>
                </a:lnTo>
                <a:lnTo>
                  <a:pt x="21878" y="71531"/>
                </a:lnTo>
                <a:lnTo>
                  <a:pt x="36271" y="74843"/>
                </a:lnTo>
                <a:lnTo>
                  <a:pt x="38209" y="74843"/>
                </a:lnTo>
                <a:lnTo>
                  <a:pt x="68030" y="57544"/>
                </a:lnTo>
                <a:lnTo>
                  <a:pt x="37240" y="57544"/>
                </a:lnTo>
                <a:lnTo>
                  <a:pt x="29474" y="55964"/>
                </a:lnTo>
                <a:lnTo>
                  <a:pt x="23141" y="51661"/>
                </a:lnTo>
                <a:lnTo>
                  <a:pt x="18867" y="45272"/>
                </a:lnTo>
                <a:lnTo>
                  <a:pt x="17294" y="37422"/>
                </a:lnTo>
                <a:lnTo>
                  <a:pt x="18867" y="29571"/>
                </a:lnTo>
                <a:lnTo>
                  <a:pt x="23141" y="23182"/>
                </a:lnTo>
                <a:lnTo>
                  <a:pt x="29474" y="18879"/>
                </a:lnTo>
                <a:lnTo>
                  <a:pt x="37240" y="17299"/>
                </a:lnTo>
                <a:lnTo>
                  <a:pt x="68030" y="17299"/>
                </a:lnTo>
                <a:lnTo>
                  <a:pt x="64258" y="11661"/>
                </a:lnTo>
                <a:lnTo>
                  <a:pt x="62952" y="10345"/>
                </a:lnTo>
                <a:lnTo>
                  <a:pt x="52602" y="3313"/>
                </a:lnTo>
                <a:lnTo>
                  <a:pt x="50841" y="2570"/>
                </a:lnTo>
                <a:lnTo>
                  <a:pt x="38209" y="0"/>
                </a:lnTo>
                <a:close/>
              </a:path>
              <a:path w="74929" h="74929">
                <a:moveTo>
                  <a:pt x="68030" y="17299"/>
                </a:moveTo>
                <a:lnTo>
                  <a:pt x="37240" y="17299"/>
                </a:lnTo>
                <a:lnTo>
                  <a:pt x="45006" y="18879"/>
                </a:lnTo>
                <a:lnTo>
                  <a:pt x="51338" y="23182"/>
                </a:lnTo>
                <a:lnTo>
                  <a:pt x="55613" y="29571"/>
                </a:lnTo>
                <a:lnTo>
                  <a:pt x="57185" y="37422"/>
                </a:lnTo>
                <a:lnTo>
                  <a:pt x="55613" y="45272"/>
                </a:lnTo>
                <a:lnTo>
                  <a:pt x="51338" y="51661"/>
                </a:lnTo>
                <a:lnTo>
                  <a:pt x="45006" y="55964"/>
                </a:lnTo>
                <a:lnTo>
                  <a:pt x="37240" y="57544"/>
                </a:lnTo>
                <a:lnTo>
                  <a:pt x="68030" y="57544"/>
                </a:lnTo>
                <a:lnTo>
                  <a:pt x="71219" y="52777"/>
                </a:lnTo>
                <a:lnTo>
                  <a:pt x="71944" y="51031"/>
                </a:lnTo>
                <a:lnTo>
                  <a:pt x="74480" y="38375"/>
                </a:lnTo>
                <a:lnTo>
                  <a:pt x="74480" y="36468"/>
                </a:lnTo>
                <a:lnTo>
                  <a:pt x="71944" y="23812"/>
                </a:lnTo>
                <a:lnTo>
                  <a:pt x="71219" y="22066"/>
                </a:lnTo>
                <a:lnTo>
                  <a:pt x="68030" y="17299"/>
                </a:lnTo>
                <a:close/>
              </a:path>
              <a:path w="74929" h="74929">
                <a:moveTo>
                  <a:pt x="37240" y="23131"/>
                </a:moveTo>
                <a:lnTo>
                  <a:pt x="31737" y="24251"/>
                </a:lnTo>
                <a:lnTo>
                  <a:pt x="27273" y="27284"/>
                </a:lnTo>
                <a:lnTo>
                  <a:pt x="24248" y="31806"/>
                </a:lnTo>
                <a:lnTo>
                  <a:pt x="23122" y="37422"/>
                </a:lnTo>
                <a:lnTo>
                  <a:pt x="24248" y="43037"/>
                </a:lnTo>
                <a:lnTo>
                  <a:pt x="27273" y="47559"/>
                </a:lnTo>
                <a:lnTo>
                  <a:pt x="31737" y="50592"/>
                </a:lnTo>
                <a:lnTo>
                  <a:pt x="37240" y="51712"/>
                </a:lnTo>
                <a:lnTo>
                  <a:pt x="42743" y="50592"/>
                </a:lnTo>
                <a:lnTo>
                  <a:pt x="47207" y="47559"/>
                </a:lnTo>
                <a:lnTo>
                  <a:pt x="48330" y="45880"/>
                </a:lnTo>
                <a:lnTo>
                  <a:pt x="37240" y="45880"/>
                </a:lnTo>
                <a:lnTo>
                  <a:pt x="34000" y="45221"/>
                </a:lnTo>
                <a:lnTo>
                  <a:pt x="31405" y="43457"/>
                </a:lnTo>
                <a:lnTo>
                  <a:pt x="29629" y="40802"/>
                </a:lnTo>
                <a:lnTo>
                  <a:pt x="28952" y="37422"/>
                </a:lnTo>
                <a:lnTo>
                  <a:pt x="29629" y="34041"/>
                </a:lnTo>
                <a:lnTo>
                  <a:pt x="31405" y="31386"/>
                </a:lnTo>
                <a:lnTo>
                  <a:pt x="34000" y="29623"/>
                </a:lnTo>
                <a:lnTo>
                  <a:pt x="37240" y="28963"/>
                </a:lnTo>
                <a:lnTo>
                  <a:pt x="48330" y="28963"/>
                </a:lnTo>
                <a:lnTo>
                  <a:pt x="47207" y="27284"/>
                </a:lnTo>
                <a:lnTo>
                  <a:pt x="42743" y="24251"/>
                </a:lnTo>
                <a:lnTo>
                  <a:pt x="37240" y="23131"/>
                </a:lnTo>
                <a:close/>
              </a:path>
              <a:path w="74929" h="74929">
                <a:moveTo>
                  <a:pt x="48330" y="28963"/>
                </a:moveTo>
                <a:lnTo>
                  <a:pt x="37240" y="28963"/>
                </a:lnTo>
                <a:lnTo>
                  <a:pt x="40479" y="29623"/>
                </a:lnTo>
                <a:lnTo>
                  <a:pt x="43074" y="31386"/>
                </a:lnTo>
                <a:lnTo>
                  <a:pt x="44851" y="34041"/>
                </a:lnTo>
                <a:lnTo>
                  <a:pt x="45528" y="37422"/>
                </a:lnTo>
                <a:lnTo>
                  <a:pt x="44851" y="40802"/>
                </a:lnTo>
                <a:lnTo>
                  <a:pt x="43074" y="43457"/>
                </a:lnTo>
                <a:lnTo>
                  <a:pt x="40479" y="45221"/>
                </a:lnTo>
                <a:lnTo>
                  <a:pt x="37240" y="45880"/>
                </a:lnTo>
                <a:lnTo>
                  <a:pt x="48330" y="45880"/>
                </a:lnTo>
                <a:lnTo>
                  <a:pt x="50232" y="43037"/>
                </a:lnTo>
                <a:lnTo>
                  <a:pt x="51356" y="37422"/>
                </a:lnTo>
                <a:lnTo>
                  <a:pt x="50232" y="31806"/>
                </a:lnTo>
                <a:lnTo>
                  <a:pt x="48330" y="289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44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28523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14997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 i="0">
                <a:solidFill>
                  <a:srgbClr val="0000FF"/>
                </a:solidFill>
                <a:latin typeface="Calibri"/>
                <a:cs typeface="Calibri"/>
              </a:rPr>
              <a:t>Geometric </a:t>
            </a:r>
            <a:r>
              <a:rPr dirty="0" sz="3200" spc="-15" b="1" i="0">
                <a:solidFill>
                  <a:srgbClr val="0000FF"/>
                </a:solidFill>
                <a:latin typeface="Calibri"/>
                <a:cs typeface="Calibri"/>
              </a:rPr>
              <a:t>Intersection </a:t>
            </a:r>
            <a:r>
              <a:rPr dirty="0" sz="3200" spc="-20" b="1" i="0">
                <a:solidFill>
                  <a:srgbClr val="0000FF"/>
                </a:solidFill>
                <a:latin typeface="Calibri"/>
                <a:cs typeface="Calibri"/>
              </a:rPr>
              <a:t>Operator </a:t>
            </a:r>
            <a:r>
              <a:rPr dirty="0" sz="3200" i="0">
                <a:latin typeface="Cambria Math"/>
                <a:cs typeface="Cambria Math"/>
              </a:rPr>
              <a:t>𝓘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i="0">
                <a:latin typeface="Cambria Math"/>
                <a:cs typeface="Cambria Math"/>
              </a:rPr>
              <a:t>ℐ </a:t>
            </a:r>
            <a:r>
              <a:rPr dirty="0" sz="3200" i="0">
                <a:latin typeface="Calibri"/>
                <a:cs typeface="Calibri"/>
              </a:rPr>
              <a:t>: </a:t>
            </a:r>
            <a:r>
              <a:rPr dirty="0" sz="3200" spc="-25" i="0">
                <a:latin typeface="Calibri"/>
                <a:cs typeface="Calibri"/>
              </a:rPr>
              <a:t>Box </a:t>
            </a:r>
            <a:r>
              <a:rPr dirty="0" sz="3200" i="0">
                <a:latin typeface="Cambria Math"/>
                <a:cs typeface="Cambria Math"/>
              </a:rPr>
              <a:t>× </a:t>
            </a:r>
            <a:r>
              <a:rPr dirty="0" sz="3200" spc="-5" i="0">
                <a:latin typeface="Cambria Math"/>
                <a:cs typeface="Cambria Math"/>
              </a:rPr>
              <a:t>⋯× </a:t>
            </a:r>
            <a:r>
              <a:rPr dirty="0" sz="3200" spc="-25" i="0">
                <a:latin typeface="Calibri"/>
                <a:cs typeface="Calibri"/>
              </a:rPr>
              <a:t>Box </a:t>
            </a:r>
            <a:r>
              <a:rPr dirty="0" sz="3200" i="0">
                <a:latin typeface="Cambria Math"/>
                <a:cs typeface="Cambria Math"/>
              </a:rPr>
              <a:t>→</a:t>
            </a:r>
            <a:r>
              <a:rPr dirty="0" sz="3200" spc="-30" i="0">
                <a:latin typeface="Cambria Math"/>
                <a:cs typeface="Cambria Math"/>
              </a:rPr>
              <a:t> </a:t>
            </a:r>
            <a:r>
              <a:rPr dirty="0" sz="3200" spc="-25" i="0">
                <a:latin typeface="Calibri"/>
                <a:cs typeface="Calibri"/>
              </a:rPr>
              <a:t>Box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02249" y="2720872"/>
            <a:ext cx="1248410" cy="376555"/>
          </a:xfrm>
          <a:custGeom>
            <a:avLst/>
            <a:gdLst/>
            <a:ahLst/>
            <a:cxnLst/>
            <a:rect l="l" t="t" r="r" b="b"/>
            <a:pathLst>
              <a:path w="1248410" h="376555">
                <a:moveTo>
                  <a:pt x="1127799" y="0"/>
                </a:moveTo>
                <a:lnTo>
                  <a:pt x="1122441" y="15279"/>
                </a:lnTo>
                <a:lnTo>
                  <a:pt x="1144232" y="24736"/>
                </a:lnTo>
                <a:lnTo>
                  <a:pt x="1162972" y="37826"/>
                </a:lnTo>
                <a:lnTo>
                  <a:pt x="1191299" y="74909"/>
                </a:lnTo>
                <a:lnTo>
                  <a:pt x="1207968" y="124940"/>
                </a:lnTo>
                <a:lnTo>
                  <a:pt x="1213524" y="186331"/>
                </a:lnTo>
                <a:lnTo>
                  <a:pt x="1212129" y="219533"/>
                </a:lnTo>
                <a:lnTo>
                  <a:pt x="1200967" y="276782"/>
                </a:lnTo>
                <a:lnTo>
                  <a:pt x="1178568" y="321493"/>
                </a:lnTo>
                <a:lnTo>
                  <a:pt x="1144486" y="351655"/>
                </a:lnTo>
                <a:lnTo>
                  <a:pt x="1123036" y="361156"/>
                </a:lnTo>
                <a:lnTo>
                  <a:pt x="1127799" y="376435"/>
                </a:lnTo>
                <a:lnTo>
                  <a:pt x="1179144" y="352349"/>
                </a:lnTo>
                <a:lnTo>
                  <a:pt x="1216897" y="310653"/>
                </a:lnTo>
                <a:lnTo>
                  <a:pt x="1240114" y="254818"/>
                </a:lnTo>
                <a:lnTo>
                  <a:pt x="1247853" y="188316"/>
                </a:lnTo>
                <a:lnTo>
                  <a:pt x="1245912" y="153807"/>
                </a:lnTo>
                <a:lnTo>
                  <a:pt x="1230385" y="92638"/>
                </a:lnTo>
                <a:lnTo>
                  <a:pt x="1199590" y="42843"/>
                </a:lnTo>
                <a:lnTo>
                  <a:pt x="1155090" y="9853"/>
                </a:lnTo>
                <a:lnTo>
                  <a:pt x="1127799" y="0"/>
                </a:lnTo>
                <a:close/>
              </a:path>
              <a:path w="124841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769046" y="2689860"/>
            <a:ext cx="183261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5505" algn="l"/>
              </a:tabLst>
            </a:pPr>
            <a:r>
              <a:rPr dirty="0" baseline="11284" sz="4800">
                <a:latin typeface="Cambria Math"/>
                <a:cs typeface="Cambria Math"/>
              </a:rPr>
              <a:t>𝐶𝑒𝑛	</a:t>
            </a:r>
            <a:r>
              <a:rPr dirty="0" baseline="11284" sz="4800" spc="322">
                <a:latin typeface="Cambria Math"/>
                <a:cs typeface="Cambria Math"/>
              </a:rPr>
              <a:t>𝑞</a:t>
            </a:r>
            <a:r>
              <a:rPr dirty="0" sz="2300" spc="215">
                <a:latin typeface="Cambria Math"/>
                <a:cs typeface="Cambria Math"/>
              </a:rPr>
              <a:t>+*,-.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79724" y="2720872"/>
            <a:ext cx="608965" cy="376555"/>
          </a:xfrm>
          <a:custGeom>
            <a:avLst/>
            <a:gdLst/>
            <a:ahLst/>
            <a:cxnLst/>
            <a:rect l="l" t="t" r="r" b="b"/>
            <a:pathLst>
              <a:path w="608965" h="376555">
                <a:moveTo>
                  <a:pt x="488798" y="0"/>
                </a:moveTo>
                <a:lnTo>
                  <a:pt x="483440" y="15279"/>
                </a:lnTo>
                <a:lnTo>
                  <a:pt x="505231" y="24736"/>
                </a:lnTo>
                <a:lnTo>
                  <a:pt x="523971" y="37826"/>
                </a:lnTo>
                <a:lnTo>
                  <a:pt x="552298" y="74909"/>
                </a:lnTo>
                <a:lnTo>
                  <a:pt x="568967" y="124940"/>
                </a:lnTo>
                <a:lnTo>
                  <a:pt x="574523" y="186331"/>
                </a:lnTo>
                <a:lnTo>
                  <a:pt x="573128" y="219533"/>
                </a:lnTo>
                <a:lnTo>
                  <a:pt x="561966" y="276782"/>
                </a:lnTo>
                <a:lnTo>
                  <a:pt x="539567" y="321493"/>
                </a:lnTo>
                <a:lnTo>
                  <a:pt x="505485" y="351655"/>
                </a:lnTo>
                <a:lnTo>
                  <a:pt x="484036" y="361156"/>
                </a:lnTo>
                <a:lnTo>
                  <a:pt x="488798" y="376435"/>
                </a:lnTo>
                <a:lnTo>
                  <a:pt x="540144" y="352349"/>
                </a:lnTo>
                <a:lnTo>
                  <a:pt x="577896" y="310653"/>
                </a:lnTo>
                <a:lnTo>
                  <a:pt x="601114" y="254818"/>
                </a:lnTo>
                <a:lnTo>
                  <a:pt x="608853" y="188316"/>
                </a:lnTo>
                <a:lnTo>
                  <a:pt x="606912" y="153807"/>
                </a:lnTo>
                <a:lnTo>
                  <a:pt x="591384" y="92638"/>
                </a:lnTo>
                <a:lnTo>
                  <a:pt x="560589" y="42843"/>
                </a:lnTo>
                <a:lnTo>
                  <a:pt x="516090" y="9853"/>
                </a:lnTo>
                <a:lnTo>
                  <a:pt x="488798" y="0"/>
                </a:lnTo>
                <a:close/>
              </a:path>
              <a:path w="608965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886009" y="2607564"/>
            <a:ext cx="3253104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26080" algn="l"/>
              </a:tabLst>
            </a:pP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75">
                <a:latin typeface="Cambria Math"/>
                <a:cs typeface="Cambria Math"/>
              </a:rPr>
              <a:t> </a:t>
            </a:r>
            <a:r>
              <a:rPr dirty="0" sz="3200" spc="2885">
                <a:latin typeface="Cambria Math"/>
                <a:cs typeface="Cambria Math"/>
              </a:rPr>
              <a:t>?</a:t>
            </a:r>
            <a:r>
              <a:rPr dirty="0" sz="3200" spc="-17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𝒘</a:t>
            </a:r>
            <a:r>
              <a:rPr dirty="0" baseline="-15700" sz="3450" spc="-1372">
                <a:latin typeface="Cambria Math"/>
                <a:cs typeface="Cambria Math"/>
              </a:rPr>
              <a:t>+</a:t>
            </a:r>
            <a:r>
              <a:rPr dirty="0" baseline="-15700" sz="3450" spc="247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⊙</a:t>
            </a:r>
            <a:r>
              <a:rPr dirty="0" sz="3200" spc="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𝐶𝑒𝑛	</a:t>
            </a:r>
            <a:r>
              <a:rPr dirty="0" sz="3200" spc="-65">
                <a:latin typeface="Cambria Math"/>
                <a:cs typeface="Cambria Math"/>
              </a:rPr>
              <a:t>𝑞</a:t>
            </a:r>
            <a:r>
              <a:rPr dirty="0" baseline="-15700" sz="3450" spc="-1372">
                <a:latin typeface="Cambria Math"/>
                <a:cs typeface="Cambria Math"/>
              </a:rPr>
              <a:t>+</a:t>
            </a:r>
            <a:endParaRPr baseline="-15700" sz="34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25311" y="1877060"/>
            <a:ext cx="220408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5">
                <a:solidFill>
                  <a:srgbClr val="3B9D3B"/>
                </a:solidFill>
                <a:latin typeface="Calibri"/>
                <a:cs typeface="Calibri"/>
              </a:rPr>
              <a:t>Hadamard product  </a:t>
            </a:r>
            <a:r>
              <a:rPr dirty="0" sz="1800" spc="-10">
                <a:solidFill>
                  <a:srgbClr val="3B9D3B"/>
                </a:solidFill>
                <a:latin typeface="Calibri"/>
                <a:cs typeface="Calibri"/>
              </a:rPr>
              <a:t>(element-wise</a:t>
            </a:r>
            <a:r>
              <a:rPr dirty="0" sz="1800" spc="-35">
                <a:solidFill>
                  <a:srgbClr val="3B9D3B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3B9D3B"/>
                </a:solidFill>
                <a:latin typeface="Calibri"/>
                <a:cs typeface="Calibri"/>
              </a:rPr>
              <a:t>product)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18314" y="2440202"/>
            <a:ext cx="1436370" cy="346075"/>
          </a:xfrm>
          <a:custGeom>
            <a:avLst/>
            <a:gdLst/>
            <a:ahLst/>
            <a:cxnLst/>
            <a:rect l="l" t="t" r="r" b="b"/>
            <a:pathLst>
              <a:path w="1436370" h="346075">
                <a:moveTo>
                  <a:pt x="74764" y="261984"/>
                </a:moveTo>
                <a:lnTo>
                  <a:pt x="0" y="321952"/>
                </a:lnTo>
                <a:lnTo>
                  <a:pt x="92833" y="345784"/>
                </a:lnTo>
                <a:lnTo>
                  <a:pt x="87818" y="322525"/>
                </a:lnTo>
                <a:lnTo>
                  <a:pt x="65129" y="322525"/>
                </a:lnTo>
                <a:lnTo>
                  <a:pt x="57527" y="317620"/>
                </a:lnTo>
                <a:lnTo>
                  <a:pt x="54201" y="302193"/>
                </a:lnTo>
                <a:lnTo>
                  <a:pt x="59105" y="294593"/>
                </a:lnTo>
                <a:lnTo>
                  <a:pt x="80787" y="289918"/>
                </a:lnTo>
                <a:lnTo>
                  <a:pt x="74764" y="261984"/>
                </a:lnTo>
                <a:close/>
              </a:path>
              <a:path w="1436370" h="346075">
                <a:moveTo>
                  <a:pt x="80787" y="289918"/>
                </a:moveTo>
                <a:lnTo>
                  <a:pt x="59105" y="294593"/>
                </a:lnTo>
                <a:lnTo>
                  <a:pt x="54201" y="302193"/>
                </a:lnTo>
                <a:lnTo>
                  <a:pt x="57527" y="317620"/>
                </a:lnTo>
                <a:lnTo>
                  <a:pt x="65129" y="322525"/>
                </a:lnTo>
                <a:lnTo>
                  <a:pt x="86810" y="317850"/>
                </a:lnTo>
                <a:lnTo>
                  <a:pt x="80787" y="289918"/>
                </a:lnTo>
                <a:close/>
              </a:path>
              <a:path w="1436370" h="346075">
                <a:moveTo>
                  <a:pt x="86810" y="317850"/>
                </a:moveTo>
                <a:lnTo>
                  <a:pt x="65129" y="322525"/>
                </a:lnTo>
                <a:lnTo>
                  <a:pt x="87818" y="322525"/>
                </a:lnTo>
                <a:lnTo>
                  <a:pt x="86810" y="317850"/>
                </a:lnTo>
                <a:close/>
              </a:path>
              <a:path w="1436370" h="346075">
                <a:moveTo>
                  <a:pt x="1425387" y="0"/>
                </a:moveTo>
                <a:lnTo>
                  <a:pt x="80787" y="289918"/>
                </a:lnTo>
                <a:lnTo>
                  <a:pt x="86810" y="317850"/>
                </a:lnTo>
                <a:lnTo>
                  <a:pt x="1431410" y="27933"/>
                </a:lnTo>
                <a:lnTo>
                  <a:pt x="1436315" y="20331"/>
                </a:lnTo>
                <a:lnTo>
                  <a:pt x="1432989" y="4904"/>
                </a:lnTo>
                <a:lnTo>
                  <a:pt x="14253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97620" y="5802184"/>
            <a:ext cx="275338" cy="2376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7198" y="4971430"/>
            <a:ext cx="2494280" cy="1102360"/>
          </a:xfrm>
          <a:custGeom>
            <a:avLst/>
            <a:gdLst/>
            <a:ahLst/>
            <a:cxnLst/>
            <a:rect l="l" t="t" r="r" b="b"/>
            <a:pathLst>
              <a:path w="2494280" h="1102360">
                <a:moveTo>
                  <a:pt x="2487370" y="0"/>
                </a:moveTo>
                <a:lnTo>
                  <a:pt x="6396" y="0"/>
                </a:lnTo>
                <a:lnTo>
                  <a:pt x="0" y="6396"/>
                </a:lnTo>
                <a:lnTo>
                  <a:pt x="0" y="1095670"/>
                </a:lnTo>
                <a:lnTo>
                  <a:pt x="6396" y="1102067"/>
                </a:lnTo>
                <a:lnTo>
                  <a:pt x="2487370" y="1102067"/>
                </a:lnTo>
                <a:lnTo>
                  <a:pt x="2493767" y="1095670"/>
                </a:lnTo>
                <a:lnTo>
                  <a:pt x="2493767" y="1084922"/>
                </a:lnTo>
                <a:lnTo>
                  <a:pt x="17144" y="1084922"/>
                </a:lnTo>
                <a:lnTo>
                  <a:pt x="17144" y="17145"/>
                </a:lnTo>
                <a:lnTo>
                  <a:pt x="2493767" y="17145"/>
                </a:lnTo>
                <a:lnTo>
                  <a:pt x="2493767" y="6396"/>
                </a:lnTo>
                <a:lnTo>
                  <a:pt x="2487370" y="0"/>
                </a:lnTo>
                <a:close/>
              </a:path>
              <a:path w="2494280" h="1102360">
                <a:moveTo>
                  <a:pt x="2493767" y="17145"/>
                </a:moveTo>
                <a:lnTo>
                  <a:pt x="2476622" y="17145"/>
                </a:lnTo>
                <a:lnTo>
                  <a:pt x="2476622" y="1084922"/>
                </a:lnTo>
                <a:lnTo>
                  <a:pt x="2493767" y="1084922"/>
                </a:lnTo>
                <a:lnTo>
                  <a:pt x="2493767" y="17145"/>
                </a:lnTo>
                <a:close/>
              </a:path>
              <a:path w="2494280" h="1102360">
                <a:moveTo>
                  <a:pt x="2470907" y="22860"/>
                </a:moveTo>
                <a:lnTo>
                  <a:pt x="22860" y="22860"/>
                </a:lnTo>
                <a:lnTo>
                  <a:pt x="22860" y="1079207"/>
                </a:lnTo>
                <a:lnTo>
                  <a:pt x="2470907" y="1079207"/>
                </a:lnTo>
                <a:lnTo>
                  <a:pt x="2470907" y="1073492"/>
                </a:lnTo>
                <a:lnTo>
                  <a:pt x="28575" y="1073492"/>
                </a:lnTo>
                <a:lnTo>
                  <a:pt x="28575" y="28575"/>
                </a:lnTo>
                <a:lnTo>
                  <a:pt x="2470907" y="28575"/>
                </a:lnTo>
                <a:lnTo>
                  <a:pt x="2470907" y="22860"/>
                </a:lnTo>
                <a:close/>
              </a:path>
              <a:path w="2494280" h="1102360">
                <a:moveTo>
                  <a:pt x="2470907" y="28575"/>
                </a:moveTo>
                <a:lnTo>
                  <a:pt x="2465192" y="28575"/>
                </a:lnTo>
                <a:lnTo>
                  <a:pt x="2465192" y="1073492"/>
                </a:lnTo>
                <a:lnTo>
                  <a:pt x="2470907" y="1073492"/>
                </a:lnTo>
                <a:lnTo>
                  <a:pt x="2470907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79232" y="5771580"/>
            <a:ext cx="1108075" cy="776605"/>
          </a:xfrm>
          <a:custGeom>
            <a:avLst/>
            <a:gdLst/>
            <a:ahLst/>
            <a:cxnLst/>
            <a:rect l="l" t="t" r="r" b="b"/>
            <a:pathLst>
              <a:path w="1108075" h="776604">
                <a:moveTo>
                  <a:pt x="1101617" y="0"/>
                </a:moveTo>
                <a:lnTo>
                  <a:pt x="6396" y="0"/>
                </a:lnTo>
                <a:lnTo>
                  <a:pt x="0" y="6396"/>
                </a:lnTo>
                <a:lnTo>
                  <a:pt x="0" y="769817"/>
                </a:lnTo>
                <a:lnTo>
                  <a:pt x="6396" y="776213"/>
                </a:lnTo>
                <a:lnTo>
                  <a:pt x="1101617" y="776213"/>
                </a:lnTo>
                <a:lnTo>
                  <a:pt x="1108014" y="769817"/>
                </a:lnTo>
                <a:lnTo>
                  <a:pt x="1108014" y="759068"/>
                </a:lnTo>
                <a:lnTo>
                  <a:pt x="17144" y="759068"/>
                </a:lnTo>
                <a:lnTo>
                  <a:pt x="17144" y="17144"/>
                </a:lnTo>
                <a:lnTo>
                  <a:pt x="1108014" y="17144"/>
                </a:lnTo>
                <a:lnTo>
                  <a:pt x="1108014" y="6396"/>
                </a:lnTo>
                <a:lnTo>
                  <a:pt x="1101617" y="0"/>
                </a:lnTo>
                <a:close/>
              </a:path>
              <a:path w="1108075" h="776604">
                <a:moveTo>
                  <a:pt x="1108014" y="17144"/>
                </a:moveTo>
                <a:lnTo>
                  <a:pt x="1090869" y="17144"/>
                </a:lnTo>
                <a:lnTo>
                  <a:pt x="1090869" y="759068"/>
                </a:lnTo>
                <a:lnTo>
                  <a:pt x="1108014" y="759068"/>
                </a:lnTo>
                <a:lnTo>
                  <a:pt x="1108014" y="17144"/>
                </a:lnTo>
                <a:close/>
              </a:path>
              <a:path w="1108075" h="776604">
                <a:moveTo>
                  <a:pt x="1085154" y="22859"/>
                </a:moveTo>
                <a:lnTo>
                  <a:pt x="22859" y="22859"/>
                </a:lnTo>
                <a:lnTo>
                  <a:pt x="22859" y="753353"/>
                </a:lnTo>
                <a:lnTo>
                  <a:pt x="1085154" y="753353"/>
                </a:lnTo>
                <a:lnTo>
                  <a:pt x="1085154" y="747638"/>
                </a:lnTo>
                <a:lnTo>
                  <a:pt x="28575" y="747638"/>
                </a:lnTo>
                <a:lnTo>
                  <a:pt x="28575" y="28574"/>
                </a:lnTo>
                <a:lnTo>
                  <a:pt x="1085154" y="28574"/>
                </a:lnTo>
                <a:lnTo>
                  <a:pt x="1085154" y="22859"/>
                </a:lnTo>
                <a:close/>
              </a:path>
              <a:path w="1108075" h="776604">
                <a:moveTo>
                  <a:pt x="1085154" y="28574"/>
                </a:moveTo>
                <a:lnTo>
                  <a:pt x="1079439" y="28574"/>
                </a:lnTo>
                <a:lnTo>
                  <a:pt x="1079439" y="747638"/>
                </a:lnTo>
                <a:lnTo>
                  <a:pt x="1085154" y="747638"/>
                </a:lnTo>
                <a:lnTo>
                  <a:pt x="1085154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083333" y="4457557"/>
            <a:ext cx="468630" cy="1730375"/>
          </a:xfrm>
          <a:custGeom>
            <a:avLst/>
            <a:gdLst/>
            <a:ahLst/>
            <a:cxnLst/>
            <a:rect l="l" t="t" r="r" b="b"/>
            <a:pathLst>
              <a:path w="468630" h="1730375">
                <a:moveTo>
                  <a:pt x="462111" y="0"/>
                </a:moveTo>
                <a:lnTo>
                  <a:pt x="6396" y="0"/>
                </a:lnTo>
                <a:lnTo>
                  <a:pt x="0" y="6396"/>
                </a:lnTo>
                <a:lnTo>
                  <a:pt x="0" y="1723756"/>
                </a:lnTo>
                <a:lnTo>
                  <a:pt x="6396" y="1730153"/>
                </a:lnTo>
                <a:lnTo>
                  <a:pt x="462111" y="1730153"/>
                </a:lnTo>
                <a:lnTo>
                  <a:pt x="468508" y="1723756"/>
                </a:lnTo>
                <a:lnTo>
                  <a:pt x="468508" y="1713008"/>
                </a:lnTo>
                <a:lnTo>
                  <a:pt x="17144" y="1713008"/>
                </a:lnTo>
                <a:lnTo>
                  <a:pt x="17144" y="17145"/>
                </a:lnTo>
                <a:lnTo>
                  <a:pt x="468508" y="17145"/>
                </a:lnTo>
                <a:lnTo>
                  <a:pt x="468508" y="6396"/>
                </a:lnTo>
                <a:lnTo>
                  <a:pt x="462111" y="0"/>
                </a:lnTo>
                <a:close/>
              </a:path>
              <a:path w="468630" h="1730375">
                <a:moveTo>
                  <a:pt x="468508" y="17145"/>
                </a:moveTo>
                <a:lnTo>
                  <a:pt x="451363" y="17145"/>
                </a:lnTo>
                <a:lnTo>
                  <a:pt x="451363" y="1713008"/>
                </a:lnTo>
                <a:lnTo>
                  <a:pt x="468508" y="1713008"/>
                </a:lnTo>
                <a:lnTo>
                  <a:pt x="468508" y="17145"/>
                </a:lnTo>
                <a:close/>
              </a:path>
              <a:path w="468630" h="1730375">
                <a:moveTo>
                  <a:pt x="445648" y="22860"/>
                </a:moveTo>
                <a:lnTo>
                  <a:pt x="22860" y="22860"/>
                </a:lnTo>
                <a:lnTo>
                  <a:pt x="22860" y="1707293"/>
                </a:lnTo>
                <a:lnTo>
                  <a:pt x="445648" y="1707293"/>
                </a:lnTo>
                <a:lnTo>
                  <a:pt x="445648" y="1701578"/>
                </a:lnTo>
                <a:lnTo>
                  <a:pt x="28575" y="1701578"/>
                </a:lnTo>
                <a:lnTo>
                  <a:pt x="28575" y="28575"/>
                </a:lnTo>
                <a:lnTo>
                  <a:pt x="445648" y="28575"/>
                </a:lnTo>
                <a:lnTo>
                  <a:pt x="445648" y="22860"/>
                </a:lnTo>
                <a:close/>
              </a:path>
              <a:path w="468630" h="1730375">
                <a:moveTo>
                  <a:pt x="445648" y="28575"/>
                </a:moveTo>
                <a:lnTo>
                  <a:pt x="439933" y="28575"/>
                </a:lnTo>
                <a:lnTo>
                  <a:pt x="439933" y="1701578"/>
                </a:lnTo>
                <a:lnTo>
                  <a:pt x="445648" y="1701578"/>
                </a:lnTo>
                <a:lnTo>
                  <a:pt x="445648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10381" y="6154972"/>
            <a:ext cx="45720" cy="46355"/>
          </a:xfrm>
          <a:custGeom>
            <a:avLst/>
            <a:gdLst/>
            <a:ahLst/>
            <a:cxnLst/>
            <a:rect l="l" t="t" r="r" b="b"/>
            <a:pathLst>
              <a:path w="45719" h="46354">
                <a:moveTo>
                  <a:pt x="22858" y="0"/>
                </a:moveTo>
                <a:lnTo>
                  <a:pt x="13961" y="1810"/>
                </a:lnTo>
                <a:lnTo>
                  <a:pt x="6695" y="6747"/>
                </a:lnTo>
                <a:lnTo>
                  <a:pt x="1796" y="14070"/>
                </a:lnTo>
                <a:lnTo>
                  <a:pt x="0" y="23038"/>
                </a:lnTo>
                <a:lnTo>
                  <a:pt x="1796" y="32006"/>
                </a:lnTo>
                <a:lnTo>
                  <a:pt x="6695" y="39329"/>
                </a:lnTo>
                <a:lnTo>
                  <a:pt x="13961" y="44266"/>
                </a:lnTo>
                <a:lnTo>
                  <a:pt x="22858" y="46076"/>
                </a:lnTo>
                <a:lnTo>
                  <a:pt x="31756" y="44266"/>
                </a:lnTo>
                <a:lnTo>
                  <a:pt x="39023" y="39329"/>
                </a:lnTo>
                <a:lnTo>
                  <a:pt x="43922" y="32006"/>
                </a:lnTo>
                <a:lnTo>
                  <a:pt x="45718" y="23038"/>
                </a:lnTo>
                <a:lnTo>
                  <a:pt x="43922" y="14070"/>
                </a:lnTo>
                <a:lnTo>
                  <a:pt x="39023" y="6747"/>
                </a:lnTo>
                <a:lnTo>
                  <a:pt x="31756" y="1810"/>
                </a:lnTo>
                <a:lnTo>
                  <a:pt x="22858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796001" y="6140589"/>
            <a:ext cx="74930" cy="74930"/>
          </a:xfrm>
          <a:custGeom>
            <a:avLst/>
            <a:gdLst/>
            <a:ahLst/>
            <a:cxnLst/>
            <a:rect l="l" t="t" r="r" b="b"/>
            <a:pathLst>
              <a:path w="74930" h="74929">
                <a:moveTo>
                  <a:pt x="38207" y="0"/>
                </a:moveTo>
                <a:lnTo>
                  <a:pt x="36271" y="0"/>
                </a:lnTo>
                <a:lnTo>
                  <a:pt x="23638" y="2570"/>
                </a:lnTo>
                <a:lnTo>
                  <a:pt x="0" y="36467"/>
                </a:lnTo>
                <a:lnTo>
                  <a:pt x="0" y="38375"/>
                </a:lnTo>
                <a:lnTo>
                  <a:pt x="21877" y="71530"/>
                </a:lnTo>
                <a:lnTo>
                  <a:pt x="36271" y="74843"/>
                </a:lnTo>
                <a:lnTo>
                  <a:pt x="38207" y="74843"/>
                </a:lnTo>
                <a:lnTo>
                  <a:pt x="68030" y="57544"/>
                </a:lnTo>
                <a:lnTo>
                  <a:pt x="37238" y="57544"/>
                </a:lnTo>
                <a:lnTo>
                  <a:pt x="29472" y="55963"/>
                </a:lnTo>
                <a:lnTo>
                  <a:pt x="23140" y="51661"/>
                </a:lnTo>
                <a:lnTo>
                  <a:pt x="18867" y="45271"/>
                </a:lnTo>
                <a:lnTo>
                  <a:pt x="17294" y="37421"/>
                </a:lnTo>
                <a:lnTo>
                  <a:pt x="18867" y="29571"/>
                </a:lnTo>
                <a:lnTo>
                  <a:pt x="23140" y="23181"/>
                </a:lnTo>
                <a:lnTo>
                  <a:pt x="29472" y="18879"/>
                </a:lnTo>
                <a:lnTo>
                  <a:pt x="37238" y="17299"/>
                </a:lnTo>
                <a:lnTo>
                  <a:pt x="68030" y="17299"/>
                </a:lnTo>
                <a:lnTo>
                  <a:pt x="64258" y="11660"/>
                </a:lnTo>
                <a:lnTo>
                  <a:pt x="62952" y="10345"/>
                </a:lnTo>
                <a:lnTo>
                  <a:pt x="52602" y="3312"/>
                </a:lnTo>
                <a:lnTo>
                  <a:pt x="50840" y="2570"/>
                </a:lnTo>
                <a:lnTo>
                  <a:pt x="38207" y="0"/>
                </a:lnTo>
                <a:close/>
              </a:path>
              <a:path w="74930" h="74929">
                <a:moveTo>
                  <a:pt x="68030" y="17299"/>
                </a:moveTo>
                <a:lnTo>
                  <a:pt x="37238" y="17299"/>
                </a:lnTo>
                <a:lnTo>
                  <a:pt x="45006" y="18879"/>
                </a:lnTo>
                <a:lnTo>
                  <a:pt x="51337" y="23181"/>
                </a:lnTo>
                <a:lnTo>
                  <a:pt x="55612" y="29571"/>
                </a:lnTo>
                <a:lnTo>
                  <a:pt x="57184" y="37421"/>
                </a:lnTo>
                <a:lnTo>
                  <a:pt x="55612" y="45271"/>
                </a:lnTo>
                <a:lnTo>
                  <a:pt x="51337" y="51661"/>
                </a:lnTo>
                <a:lnTo>
                  <a:pt x="45006" y="55963"/>
                </a:lnTo>
                <a:lnTo>
                  <a:pt x="37238" y="57544"/>
                </a:lnTo>
                <a:lnTo>
                  <a:pt x="68030" y="57544"/>
                </a:lnTo>
                <a:lnTo>
                  <a:pt x="71219" y="52777"/>
                </a:lnTo>
                <a:lnTo>
                  <a:pt x="71944" y="51031"/>
                </a:lnTo>
                <a:lnTo>
                  <a:pt x="74479" y="38375"/>
                </a:lnTo>
                <a:lnTo>
                  <a:pt x="74479" y="36467"/>
                </a:lnTo>
                <a:lnTo>
                  <a:pt x="71944" y="23811"/>
                </a:lnTo>
                <a:lnTo>
                  <a:pt x="71219" y="22065"/>
                </a:lnTo>
                <a:lnTo>
                  <a:pt x="68030" y="17299"/>
                </a:lnTo>
                <a:close/>
              </a:path>
              <a:path w="74930" h="74929">
                <a:moveTo>
                  <a:pt x="37238" y="23131"/>
                </a:moveTo>
                <a:lnTo>
                  <a:pt x="31736" y="24250"/>
                </a:lnTo>
                <a:lnTo>
                  <a:pt x="27273" y="27283"/>
                </a:lnTo>
                <a:lnTo>
                  <a:pt x="24248" y="31806"/>
                </a:lnTo>
                <a:lnTo>
                  <a:pt x="23122" y="37421"/>
                </a:lnTo>
                <a:lnTo>
                  <a:pt x="24248" y="43036"/>
                </a:lnTo>
                <a:lnTo>
                  <a:pt x="27273" y="47559"/>
                </a:lnTo>
                <a:lnTo>
                  <a:pt x="31736" y="50592"/>
                </a:lnTo>
                <a:lnTo>
                  <a:pt x="37238" y="51711"/>
                </a:lnTo>
                <a:lnTo>
                  <a:pt x="42741" y="50592"/>
                </a:lnTo>
                <a:lnTo>
                  <a:pt x="47205" y="47559"/>
                </a:lnTo>
                <a:lnTo>
                  <a:pt x="48329" y="45879"/>
                </a:lnTo>
                <a:lnTo>
                  <a:pt x="37238" y="45879"/>
                </a:lnTo>
                <a:lnTo>
                  <a:pt x="34000" y="45220"/>
                </a:lnTo>
                <a:lnTo>
                  <a:pt x="31404" y="43457"/>
                </a:lnTo>
                <a:lnTo>
                  <a:pt x="29629" y="40802"/>
                </a:lnTo>
                <a:lnTo>
                  <a:pt x="28950" y="37421"/>
                </a:lnTo>
                <a:lnTo>
                  <a:pt x="29629" y="34041"/>
                </a:lnTo>
                <a:lnTo>
                  <a:pt x="31404" y="31385"/>
                </a:lnTo>
                <a:lnTo>
                  <a:pt x="34000" y="29622"/>
                </a:lnTo>
                <a:lnTo>
                  <a:pt x="37238" y="28963"/>
                </a:lnTo>
                <a:lnTo>
                  <a:pt x="48329" y="28963"/>
                </a:lnTo>
                <a:lnTo>
                  <a:pt x="47205" y="27283"/>
                </a:lnTo>
                <a:lnTo>
                  <a:pt x="42741" y="24250"/>
                </a:lnTo>
                <a:lnTo>
                  <a:pt x="37238" y="23131"/>
                </a:lnTo>
                <a:close/>
              </a:path>
              <a:path w="74930" h="74929">
                <a:moveTo>
                  <a:pt x="48329" y="28963"/>
                </a:moveTo>
                <a:lnTo>
                  <a:pt x="37238" y="28963"/>
                </a:lnTo>
                <a:lnTo>
                  <a:pt x="40478" y="29622"/>
                </a:lnTo>
                <a:lnTo>
                  <a:pt x="43074" y="31385"/>
                </a:lnTo>
                <a:lnTo>
                  <a:pt x="44850" y="34041"/>
                </a:lnTo>
                <a:lnTo>
                  <a:pt x="45528" y="37421"/>
                </a:lnTo>
                <a:lnTo>
                  <a:pt x="44850" y="40802"/>
                </a:lnTo>
                <a:lnTo>
                  <a:pt x="43074" y="43457"/>
                </a:lnTo>
                <a:lnTo>
                  <a:pt x="40478" y="45220"/>
                </a:lnTo>
                <a:lnTo>
                  <a:pt x="37238" y="45879"/>
                </a:lnTo>
                <a:lnTo>
                  <a:pt x="48329" y="45879"/>
                </a:lnTo>
                <a:lnTo>
                  <a:pt x="50231" y="43036"/>
                </a:lnTo>
                <a:lnTo>
                  <a:pt x="51356" y="37421"/>
                </a:lnTo>
                <a:lnTo>
                  <a:pt x="50231" y="31806"/>
                </a:lnTo>
                <a:lnTo>
                  <a:pt x="48329" y="289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294727" y="5344657"/>
            <a:ext cx="45720" cy="46355"/>
          </a:xfrm>
          <a:custGeom>
            <a:avLst/>
            <a:gdLst/>
            <a:ahLst/>
            <a:cxnLst/>
            <a:rect l="l" t="t" r="r" b="b"/>
            <a:pathLst>
              <a:path w="45719" h="46354">
                <a:moveTo>
                  <a:pt x="22858" y="0"/>
                </a:moveTo>
                <a:lnTo>
                  <a:pt x="13960" y="1810"/>
                </a:lnTo>
                <a:lnTo>
                  <a:pt x="6694" y="6747"/>
                </a:lnTo>
                <a:lnTo>
                  <a:pt x="1796" y="14071"/>
                </a:lnTo>
                <a:lnTo>
                  <a:pt x="0" y="23039"/>
                </a:lnTo>
                <a:lnTo>
                  <a:pt x="1796" y="32006"/>
                </a:lnTo>
                <a:lnTo>
                  <a:pt x="6694" y="39329"/>
                </a:lnTo>
                <a:lnTo>
                  <a:pt x="13960" y="44266"/>
                </a:lnTo>
                <a:lnTo>
                  <a:pt x="22858" y="46076"/>
                </a:lnTo>
                <a:lnTo>
                  <a:pt x="31756" y="44266"/>
                </a:lnTo>
                <a:lnTo>
                  <a:pt x="39023" y="39329"/>
                </a:lnTo>
                <a:lnTo>
                  <a:pt x="43922" y="32006"/>
                </a:lnTo>
                <a:lnTo>
                  <a:pt x="45718" y="23039"/>
                </a:lnTo>
                <a:lnTo>
                  <a:pt x="43922" y="14071"/>
                </a:lnTo>
                <a:lnTo>
                  <a:pt x="39023" y="6747"/>
                </a:lnTo>
                <a:lnTo>
                  <a:pt x="31756" y="1810"/>
                </a:lnTo>
                <a:lnTo>
                  <a:pt x="22858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280345" y="5330275"/>
            <a:ext cx="74930" cy="74930"/>
          </a:xfrm>
          <a:custGeom>
            <a:avLst/>
            <a:gdLst/>
            <a:ahLst/>
            <a:cxnLst/>
            <a:rect l="l" t="t" r="r" b="b"/>
            <a:pathLst>
              <a:path w="74930" h="74929">
                <a:moveTo>
                  <a:pt x="38209" y="0"/>
                </a:moveTo>
                <a:lnTo>
                  <a:pt x="36271" y="0"/>
                </a:lnTo>
                <a:lnTo>
                  <a:pt x="23638" y="2570"/>
                </a:lnTo>
                <a:lnTo>
                  <a:pt x="0" y="36468"/>
                </a:lnTo>
                <a:lnTo>
                  <a:pt x="0" y="38375"/>
                </a:lnTo>
                <a:lnTo>
                  <a:pt x="21878" y="71530"/>
                </a:lnTo>
                <a:lnTo>
                  <a:pt x="36271" y="74843"/>
                </a:lnTo>
                <a:lnTo>
                  <a:pt x="38209" y="74843"/>
                </a:lnTo>
                <a:lnTo>
                  <a:pt x="68031" y="57543"/>
                </a:lnTo>
                <a:lnTo>
                  <a:pt x="37240" y="57543"/>
                </a:lnTo>
                <a:lnTo>
                  <a:pt x="29474" y="55963"/>
                </a:lnTo>
                <a:lnTo>
                  <a:pt x="23141" y="51661"/>
                </a:lnTo>
                <a:lnTo>
                  <a:pt x="18867" y="45271"/>
                </a:lnTo>
                <a:lnTo>
                  <a:pt x="17294" y="37421"/>
                </a:lnTo>
                <a:lnTo>
                  <a:pt x="18867" y="29570"/>
                </a:lnTo>
                <a:lnTo>
                  <a:pt x="23141" y="23181"/>
                </a:lnTo>
                <a:lnTo>
                  <a:pt x="29474" y="18879"/>
                </a:lnTo>
                <a:lnTo>
                  <a:pt x="37240" y="17298"/>
                </a:lnTo>
                <a:lnTo>
                  <a:pt x="68030" y="17298"/>
                </a:lnTo>
                <a:lnTo>
                  <a:pt x="64258" y="11659"/>
                </a:lnTo>
                <a:lnTo>
                  <a:pt x="62952" y="10345"/>
                </a:lnTo>
                <a:lnTo>
                  <a:pt x="52603" y="3312"/>
                </a:lnTo>
                <a:lnTo>
                  <a:pt x="50841" y="2570"/>
                </a:lnTo>
                <a:lnTo>
                  <a:pt x="38209" y="0"/>
                </a:lnTo>
                <a:close/>
              </a:path>
              <a:path w="74930" h="74929">
                <a:moveTo>
                  <a:pt x="68030" y="17298"/>
                </a:moveTo>
                <a:lnTo>
                  <a:pt x="37240" y="17298"/>
                </a:lnTo>
                <a:lnTo>
                  <a:pt x="45006" y="18879"/>
                </a:lnTo>
                <a:lnTo>
                  <a:pt x="51338" y="23181"/>
                </a:lnTo>
                <a:lnTo>
                  <a:pt x="55613" y="29570"/>
                </a:lnTo>
                <a:lnTo>
                  <a:pt x="57185" y="37421"/>
                </a:lnTo>
                <a:lnTo>
                  <a:pt x="55613" y="45271"/>
                </a:lnTo>
                <a:lnTo>
                  <a:pt x="51338" y="51661"/>
                </a:lnTo>
                <a:lnTo>
                  <a:pt x="45006" y="55963"/>
                </a:lnTo>
                <a:lnTo>
                  <a:pt x="37240" y="57543"/>
                </a:lnTo>
                <a:lnTo>
                  <a:pt x="68031" y="57543"/>
                </a:lnTo>
                <a:lnTo>
                  <a:pt x="71220" y="52777"/>
                </a:lnTo>
                <a:lnTo>
                  <a:pt x="71945" y="51031"/>
                </a:lnTo>
                <a:lnTo>
                  <a:pt x="74480" y="38375"/>
                </a:lnTo>
                <a:lnTo>
                  <a:pt x="74480" y="36468"/>
                </a:lnTo>
                <a:lnTo>
                  <a:pt x="71945" y="23811"/>
                </a:lnTo>
                <a:lnTo>
                  <a:pt x="71220" y="22066"/>
                </a:lnTo>
                <a:lnTo>
                  <a:pt x="68030" y="17298"/>
                </a:lnTo>
                <a:close/>
              </a:path>
              <a:path w="74930" h="74929">
                <a:moveTo>
                  <a:pt x="37240" y="23130"/>
                </a:moveTo>
                <a:lnTo>
                  <a:pt x="31737" y="24250"/>
                </a:lnTo>
                <a:lnTo>
                  <a:pt x="27274" y="27283"/>
                </a:lnTo>
                <a:lnTo>
                  <a:pt x="24248" y="31805"/>
                </a:lnTo>
                <a:lnTo>
                  <a:pt x="23124" y="37421"/>
                </a:lnTo>
                <a:lnTo>
                  <a:pt x="24248" y="43036"/>
                </a:lnTo>
                <a:lnTo>
                  <a:pt x="27274" y="47558"/>
                </a:lnTo>
                <a:lnTo>
                  <a:pt x="31737" y="50591"/>
                </a:lnTo>
                <a:lnTo>
                  <a:pt x="37240" y="51711"/>
                </a:lnTo>
                <a:lnTo>
                  <a:pt x="42743" y="50591"/>
                </a:lnTo>
                <a:lnTo>
                  <a:pt x="47207" y="47558"/>
                </a:lnTo>
                <a:lnTo>
                  <a:pt x="48330" y="45880"/>
                </a:lnTo>
                <a:lnTo>
                  <a:pt x="37240" y="45880"/>
                </a:lnTo>
                <a:lnTo>
                  <a:pt x="34000" y="45220"/>
                </a:lnTo>
                <a:lnTo>
                  <a:pt x="31405" y="43456"/>
                </a:lnTo>
                <a:lnTo>
                  <a:pt x="29629" y="40802"/>
                </a:lnTo>
                <a:lnTo>
                  <a:pt x="28952" y="37421"/>
                </a:lnTo>
                <a:lnTo>
                  <a:pt x="29629" y="34041"/>
                </a:lnTo>
                <a:lnTo>
                  <a:pt x="31405" y="31385"/>
                </a:lnTo>
                <a:lnTo>
                  <a:pt x="34000" y="29622"/>
                </a:lnTo>
                <a:lnTo>
                  <a:pt x="37240" y="28963"/>
                </a:lnTo>
                <a:lnTo>
                  <a:pt x="48331" y="28963"/>
                </a:lnTo>
                <a:lnTo>
                  <a:pt x="47207" y="27283"/>
                </a:lnTo>
                <a:lnTo>
                  <a:pt x="42743" y="24250"/>
                </a:lnTo>
                <a:lnTo>
                  <a:pt x="37240" y="23130"/>
                </a:lnTo>
                <a:close/>
              </a:path>
              <a:path w="74930" h="74929">
                <a:moveTo>
                  <a:pt x="48331" y="28963"/>
                </a:moveTo>
                <a:lnTo>
                  <a:pt x="37240" y="28963"/>
                </a:lnTo>
                <a:lnTo>
                  <a:pt x="40479" y="29622"/>
                </a:lnTo>
                <a:lnTo>
                  <a:pt x="43074" y="31385"/>
                </a:lnTo>
                <a:lnTo>
                  <a:pt x="44851" y="34041"/>
                </a:lnTo>
                <a:lnTo>
                  <a:pt x="45528" y="37421"/>
                </a:lnTo>
                <a:lnTo>
                  <a:pt x="44851" y="40802"/>
                </a:lnTo>
                <a:lnTo>
                  <a:pt x="43074" y="43456"/>
                </a:lnTo>
                <a:lnTo>
                  <a:pt x="40479" y="45220"/>
                </a:lnTo>
                <a:lnTo>
                  <a:pt x="37240" y="45880"/>
                </a:lnTo>
                <a:lnTo>
                  <a:pt x="48330" y="45880"/>
                </a:lnTo>
                <a:lnTo>
                  <a:pt x="50232" y="43036"/>
                </a:lnTo>
                <a:lnTo>
                  <a:pt x="51357" y="37421"/>
                </a:lnTo>
                <a:lnTo>
                  <a:pt x="50232" y="31805"/>
                </a:lnTo>
                <a:lnTo>
                  <a:pt x="48331" y="289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46395" y="5530583"/>
            <a:ext cx="45720" cy="46355"/>
          </a:xfrm>
          <a:custGeom>
            <a:avLst/>
            <a:gdLst/>
            <a:ahLst/>
            <a:cxnLst/>
            <a:rect l="l" t="t" r="r" b="b"/>
            <a:pathLst>
              <a:path w="45719" h="46354">
                <a:moveTo>
                  <a:pt x="22858" y="0"/>
                </a:moveTo>
                <a:lnTo>
                  <a:pt x="13960" y="1810"/>
                </a:lnTo>
                <a:lnTo>
                  <a:pt x="6694" y="6747"/>
                </a:lnTo>
                <a:lnTo>
                  <a:pt x="1796" y="14071"/>
                </a:lnTo>
                <a:lnTo>
                  <a:pt x="0" y="23039"/>
                </a:lnTo>
                <a:lnTo>
                  <a:pt x="1796" y="32006"/>
                </a:lnTo>
                <a:lnTo>
                  <a:pt x="6694" y="39329"/>
                </a:lnTo>
                <a:lnTo>
                  <a:pt x="13960" y="44266"/>
                </a:lnTo>
                <a:lnTo>
                  <a:pt x="22858" y="46076"/>
                </a:lnTo>
                <a:lnTo>
                  <a:pt x="31756" y="44266"/>
                </a:lnTo>
                <a:lnTo>
                  <a:pt x="39023" y="39329"/>
                </a:lnTo>
                <a:lnTo>
                  <a:pt x="43922" y="32006"/>
                </a:lnTo>
                <a:lnTo>
                  <a:pt x="45718" y="23039"/>
                </a:lnTo>
                <a:lnTo>
                  <a:pt x="43922" y="14071"/>
                </a:lnTo>
                <a:lnTo>
                  <a:pt x="39023" y="6747"/>
                </a:lnTo>
                <a:lnTo>
                  <a:pt x="31756" y="1810"/>
                </a:lnTo>
                <a:lnTo>
                  <a:pt x="22858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332014" y="5516200"/>
            <a:ext cx="74930" cy="74930"/>
          </a:xfrm>
          <a:custGeom>
            <a:avLst/>
            <a:gdLst/>
            <a:ahLst/>
            <a:cxnLst/>
            <a:rect l="l" t="t" r="r" b="b"/>
            <a:pathLst>
              <a:path w="74930" h="74929">
                <a:moveTo>
                  <a:pt x="38209" y="0"/>
                </a:moveTo>
                <a:lnTo>
                  <a:pt x="36271" y="0"/>
                </a:lnTo>
                <a:lnTo>
                  <a:pt x="23638" y="2570"/>
                </a:lnTo>
                <a:lnTo>
                  <a:pt x="0" y="36468"/>
                </a:lnTo>
                <a:lnTo>
                  <a:pt x="0" y="38375"/>
                </a:lnTo>
                <a:lnTo>
                  <a:pt x="21878" y="71531"/>
                </a:lnTo>
                <a:lnTo>
                  <a:pt x="36271" y="74843"/>
                </a:lnTo>
                <a:lnTo>
                  <a:pt x="38209" y="74843"/>
                </a:lnTo>
                <a:lnTo>
                  <a:pt x="68031" y="57543"/>
                </a:lnTo>
                <a:lnTo>
                  <a:pt x="37240" y="57543"/>
                </a:lnTo>
                <a:lnTo>
                  <a:pt x="29474" y="55963"/>
                </a:lnTo>
                <a:lnTo>
                  <a:pt x="23141" y="51661"/>
                </a:lnTo>
                <a:lnTo>
                  <a:pt x="18867" y="45271"/>
                </a:lnTo>
                <a:lnTo>
                  <a:pt x="17294" y="37421"/>
                </a:lnTo>
                <a:lnTo>
                  <a:pt x="18867" y="29571"/>
                </a:lnTo>
                <a:lnTo>
                  <a:pt x="23141" y="23182"/>
                </a:lnTo>
                <a:lnTo>
                  <a:pt x="29474" y="18879"/>
                </a:lnTo>
                <a:lnTo>
                  <a:pt x="37240" y="17298"/>
                </a:lnTo>
                <a:lnTo>
                  <a:pt x="68030" y="17298"/>
                </a:lnTo>
                <a:lnTo>
                  <a:pt x="64258" y="11661"/>
                </a:lnTo>
                <a:lnTo>
                  <a:pt x="62952" y="10345"/>
                </a:lnTo>
                <a:lnTo>
                  <a:pt x="52603" y="3312"/>
                </a:lnTo>
                <a:lnTo>
                  <a:pt x="50841" y="2570"/>
                </a:lnTo>
                <a:lnTo>
                  <a:pt x="38209" y="0"/>
                </a:lnTo>
                <a:close/>
              </a:path>
              <a:path w="74930" h="74929">
                <a:moveTo>
                  <a:pt x="68030" y="17298"/>
                </a:moveTo>
                <a:lnTo>
                  <a:pt x="37240" y="17298"/>
                </a:lnTo>
                <a:lnTo>
                  <a:pt x="45006" y="18879"/>
                </a:lnTo>
                <a:lnTo>
                  <a:pt x="51338" y="23182"/>
                </a:lnTo>
                <a:lnTo>
                  <a:pt x="55613" y="29571"/>
                </a:lnTo>
                <a:lnTo>
                  <a:pt x="57185" y="37421"/>
                </a:lnTo>
                <a:lnTo>
                  <a:pt x="55613" y="45271"/>
                </a:lnTo>
                <a:lnTo>
                  <a:pt x="51338" y="51661"/>
                </a:lnTo>
                <a:lnTo>
                  <a:pt x="45006" y="55963"/>
                </a:lnTo>
                <a:lnTo>
                  <a:pt x="37240" y="57543"/>
                </a:lnTo>
                <a:lnTo>
                  <a:pt x="68031" y="57543"/>
                </a:lnTo>
                <a:lnTo>
                  <a:pt x="71220" y="52777"/>
                </a:lnTo>
                <a:lnTo>
                  <a:pt x="71945" y="51031"/>
                </a:lnTo>
                <a:lnTo>
                  <a:pt x="74480" y="38375"/>
                </a:lnTo>
                <a:lnTo>
                  <a:pt x="74480" y="36468"/>
                </a:lnTo>
                <a:lnTo>
                  <a:pt x="71945" y="23811"/>
                </a:lnTo>
                <a:lnTo>
                  <a:pt x="71220" y="22066"/>
                </a:lnTo>
                <a:lnTo>
                  <a:pt x="68030" y="17298"/>
                </a:lnTo>
                <a:close/>
              </a:path>
              <a:path w="74930" h="74929">
                <a:moveTo>
                  <a:pt x="37240" y="23131"/>
                </a:moveTo>
                <a:lnTo>
                  <a:pt x="31737" y="24250"/>
                </a:lnTo>
                <a:lnTo>
                  <a:pt x="27274" y="27284"/>
                </a:lnTo>
                <a:lnTo>
                  <a:pt x="24248" y="31805"/>
                </a:lnTo>
                <a:lnTo>
                  <a:pt x="23124" y="37421"/>
                </a:lnTo>
                <a:lnTo>
                  <a:pt x="24248" y="43036"/>
                </a:lnTo>
                <a:lnTo>
                  <a:pt x="27274" y="47558"/>
                </a:lnTo>
                <a:lnTo>
                  <a:pt x="31737" y="50592"/>
                </a:lnTo>
                <a:lnTo>
                  <a:pt x="37240" y="51711"/>
                </a:lnTo>
                <a:lnTo>
                  <a:pt x="42743" y="50592"/>
                </a:lnTo>
                <a:lnTo>
                  <a:pt x="47207" y="47558"/>
                </a:lnTo>
                <a:lnTo>
                  <a:pt x="48330" y="45880"/>
                </a:lnTo>
                <a:lnTo>
                  <a:pt x="37240" y="45880"/>
                </a:lnTo>
                <a:lnTo>
                  <a:pt x="34000" y="45220"/>
                </a:lnTo>
                <a:lnTo>
                  <a:pt x="31405" y="43456"/>
                </a:lnTo>
                <a:lnTo>
                  <a:pt x="29629" y="40802"/>
                </a:lnTo>
                <a:lnTo>
                  <a:pt x="28952" y="37421"/>
                </a:lnTo>
                <a:lnTo>
                  <a:pt x="29629" y="34041"/>
                </a:lnTo>
                <a:lnTo>
                  <a:pt x="31405" y="31385"/>
                </a:lnTo>
                <a:lnTo>
                  <a:pt x="34000" y="29622"/>
                </a:lnTo>
                <a:lnTo>
                  <a:pt x="37240" y="28963"/>
                </a:lnTo>
                <a:lnTo>
                  <a:pt x="48330" y="28963"/>
                </a:lnTo>
                <a:lnTo>
                  <a:pt x="47207" y="27284"/>
                </a:lnTo>
                <a:lnTo>
                  <a:pt x="42743" y="24250"/>
                </a:lnTo>
                <a:lnTo>
                  <a:pt x="37240" y="23131"/>
                </a:lnTo>
                <a:close/>
              </a:path>
              <a:path w="74930" h="74929">
                <a:moveTo>
                  <a:pt x="48330" y="28963"/>
                </a:moveTo>
                <a:lnTo>
                  <a:pt x="37240" y="28963"/>
                </a:lnTo>
                <a:lnTo>
                  <a:pt x="40479" y="29622"/>
                </a:lnTo>
                <a:lnTo>
                  <a:pt x="43074" y="31385"/>
                </a:lnTo>
                <a:lnTo>
                  <a:pt x="44851" y="34041"/>
                </a:lnTo>
                <a:lnTo>
                  <a:pt x="45528" y="37421"/>
                </a:lnTo>
                <a:lnTo>
                  <a:pt x="44851" y="40802"/>
                </a:lnTo>
                <a:lnTo>
                  <a:pt x="43074" y="43456"/>
                </a:lnTo>
                <a:lnTo>
                  <a:pt x="40479" y="45220"/>
                </a:lnTo>
                <a:lnTo>
                  <a:pt x="37240" y="45880"/>
                </a:lnTo>
                <a:lnTo>
                  <a:pt x="48330" y="45880"/>
                </a:lnTo>
                <a:lnTo>
                  <a:pt x="50232" y="43036"/>
                </a:lnTo>
                <a:lnTo>
                  <a:pt x="51357" y="37421"/>
                </a:lnTo>
                <a:lnTo>
                  <a:pt x="50232" y="31805"/>
                </a:lnTo>
                <a:lnTo>
                  <a:pt x="48330" y="289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356883" y="5330369"/>
            <a:ext cx="975360" cy="885190"/>
          </a:xfrm>
          <a:custGeom>
            <a:avLst/>
            <a:gdLst/>
            <a:ahLst/>
            <a:cxnLst/>
            <a:rect l="l" t="t" r="r" b="b"/>
            <a:pathLst>
              <a:path w="975360" h="885189">
                <a:moveTo>
                  <a:pt x="968631" y="0"/>
                </a:moveTo>
                <a:lnTo>
                  <a:pt x="6396" y="0"/>
                </a:lnTo>
                <a:lnTo>
                  <a:pt x="0" y="6396"/>
                </a:lnTo>
                <a:lnTo>
                  <a:pt x="0" y="878571"/>
                </a:lnTo>
                <a:lnTo>
                  <a:pt x="6396" y="884968"/>
                </a:lnTo>
                <a:lnTo>
                  <a:pt x="968631" y="884968"/>
                </a:lnTo>
                <a:lnTo>
                  <a:pt x="975028" y="878571"/>
                </a:lnTo>
                <a:lnTo>
                  <a:pt x="975028" y="867823"/>
                </a:lnTo>
                <a:lnTo>
                  <a:pt x="17144" y="867823"/>
                </a:lnTo>
                <a:lnTo>
                  <a:pt x="17144" y="17144"/>
                </a:lnTo>
                <a:lnTo>
                  <a:pt x="975028" y="17144"/>
                </a:lnTo>
                <a:lnTo>
                  <a:pt x="975028" y="6396"/>
                </a:lnTo>
                <a:lnTo>
                  <a:pt x="968631" y="0"/>
                </a:lnTo>
                <a:close/>
              </a:path>
              <a:path w="975360" h="885189">
                <a:moveTo>
                  <a:pt x="975028" y="17144"/>
                </a:moveTo>
                <a:lnTo>
                  <a:pt x="957883" y="17144"/>
                </a:lnTo>
                <a:lnTo>
                  <a:pt x="957883" y="867823"/>
                </a:lnTo>
                <a:lnTo>
                  <a:pt x="975028" y="867823"/>
                </a:lnTo>
                <a:lnTo>
                  <a:pt x="975028" y="17144"/>
                </a:lnTo>
                <a:close/>
              </a:path>
              <a:path w="975360" h="885189">
                <a:moveTo>
                  <a:pt x="952168" y="22859"/>
                </a:moveTo>
                <a:lnTo>
                  <a:pt x="22859" y="22859"/>
                </a:lnTo>
                <a:lnTo>
                  <a:pt x="22859" y="862108"/>
                </a:lnTo>
                <a:lnTo>
                  <a:pt x="952168" y="862108"/>
                </a:lnTo>
                <a:lnTo>
                  <a:pt x="952168" y="856393"/>
                </a:lnTo>
                <a:lnTo>
                  <a:pt x="28575" y="856393"/>
                </a:lnTo>
                <a:lnTo>
                  <a:pt x="28575" y="28574"/>
                </a:lnTo>
                <a:lnTo>
                  <a:pt x="952168" y="28574"/>
                </a:lnTo>
                <a:lnTo>
                  <a:pt x="952168" y="22859"/>
                </a:lnTo>
                <a:close/>
              </a:path>
              <a:path w="975360" h="885189">
                <a:moveTo>
                  <a:pt x="952168" y="28574"/>
                </a:moveTo>
                <a:lnTo>
                  <a:pt x="946453" y="28574"/>
                </a:lnTo>
                <a:lnTo>
                  <a:pt x="946453" y="856393"/>
                </a:lnTo>
                <a:lnTo>
                  <a:pt x="952168" y="856393"/>
                </a:lnTo>
                <a:lnTo>
                  <a:pt x="952168" y="2857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395802" y="3427535"/>
            <a:ext cx="475615" cy="294640"/>
          </a:xfrm>
          <a:custGeom>
            <a:avLst/>
            <a:gdLst/>
            <a:ahLst/>
            <a:cxnLst/>
            <a:rect l="l" t="t" r="r" b="b"/>
            <a:pathLst>
              <a:path w="475615" h="294639">
                <a:moveTo>
                  <a:pt x="381269" y="0"/>
                </a:moveTo>
                <a:lnTo>
                  <a:pt x="377083" y="11937"/>
                </a:lnTo>
                <a:lnTo>
                  <a:pt x="394107" y="19325"/>
                </a:lnTo>
                <a:lnTo>
                  <a:pt x="408747" y="29552"/>
                </a:lnTo>
                <a:lnTo>
                  <a:pt x="438474" y="76957"/>
                </a:lnTo>
                <a:lnTo>
                  <a:pt x="447156" y="120482"/>
                </a:lnTo>
                <a:lnTo>
                  <a:pt x="448241" y="145572"/>
                </a:lnTo>
                <a:lnTo>
                  <a:pt x="447151" y="171510"/>
                </a:lnTo>
                <a:lnTo>
                  <a:pt x="438430" y="216237"/>
                </a:lnTo>
                <a:lnTo>
                  <a:pt x="420932" y="251167"/>
                </a:lnTo>
                <a:lnTo>
                  <a:pt x="377548" y="282153"/>
                </a:lnTo>
                <a:lnTo>
                  <a:pt x="381269" y="294091"/>
                </a:lnTo>
                <a:lnTo>
                  <a:pt x="421382" y="275274"/>
                </a:lnTo>
                <a:lnTo>
                  <a:pt x="450876" y="242698"/>
                </a:lnTo>
                <a:lnTo>
                  <a:pt x="469015" y="199077"/>
                </a:lnTo>
                <a:lnTo>
                  <a:pt x="475061" y="147123"/>
                </a:lnTo>
                <a:lnTo>
                  <a:pt x="473544" y="120162"/>
                </a:lnTo>
                <a:lnTo>
                  <a:pt x="461413" y="72374"/>
                </a:lnTo>
                <a:lnTo>
                  <a:pt x="437355" y="33472"/>
                </a:lnTo>
                <a:lnTo>
                  <a:pt x="402590" y="7698"/>
                </a:lnTo>
                <a:lnTo>
                  <a:pt x="381269" y="0"/>
                </a:lnTo>
                <a:close/>
              </a:path>
              <a:path w="475615" h="294639">
                <a:moveTo>
                  <a:pt x="93792" y="0"/>
                </a:moveTo>
                <a:lnTo>
                  <a:pt x="53775" y="18856"/>
                </a:lnTo>
                <a:lnTo>
                  <a:pt x="24262" y="51548"/>
                </a:lnTo>
                <a:lnTo>
                  <a:pt x="6065" y="95246"/>
                </a:lnTo>
                <a:lnTo>
                  <a:pt x="0" y="147123"/>
                </a:lnTo>
                <a:lnTo>
                  <a:pt x="1511" y="174142"/>
                </a:lnTo>
                <a:lnTo>
                  <a:pt x="13604" y="221929"/>
                </a:lnTo>
                <a:lnTo>
                  <a:pt x="37604" y="260706"/>
                </a:lnTo>
                <a:lnTo>
                  <a:pt x="72407" y="286402"/>
                </a:lnTo>
                <a:lnTo>
                  <a:pt x="93792" y="294091"/>
                </a:lnTo>
                <a:lnTo>
                  <a:pt x="97513" y="282153"/>
                </a:lnTo>
                <a:lnTo>
                  <a:pt x="80755" y="274731"/>
                </a:lnTo>
                <a:lnTo>
                  <a:pt x="66294" y="264402"/>
                </a:lnTo>
                <a:lnTo>
                  <a:pt x="36630" y="216237"/>
                </a:lnTo>
                <a:lnTo>
                  <a:pt x="27909" y="171510"/>
                </a:lnTo>
                <a:lnTo>
                  <a:pt x="26819" y="145572"/>
                </a:lnTo>
                <a:lnTo>
                  <a:pt x="27909" y="120482"/>
                </a:lnTo>
                <a:lnTo>
                  <a:pt x="36630" y="76957"/>
                </a:lnTo>
                <a:lnTo>
                  <a:pt x="54158" y="42618"/>
                </a:lnTo>
                <a:lnTo>
                  <a:pt x="97977" y="11937"/>
                </a:lnTo>
                <a:lnTo>
                  <a:pt x="937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821162" y="3333495"/>
            <a:ext cx="184785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8180" algn="l"/>
                <a:tab pos="1165225" algn="l"/>
              </a:tabLst>
            </a:pPr>
            <a:r>
              <a:rPr dirty="0" sz="2500" spc="-5">
                <a:latin typeface="Cambria Math"/>
                <a:cs typeface="Cambria Math"/>
              </a:rPr>
              <a:t>𝐶𝑒𝑛	</a:t>
            </a:r>
            <a:r>
              <a:rPr dirty="0" sz="2500" spc="-85">
                <a:latin typeface="Cambria Math"/>
                <a:cs typeface="Cambria Math"/>
              </a:rPr>
              <a:t>𝑞</a:t>
            </a:r>
            <a:r>
              <a:rPr dirty="0" baseline="-16975" sz="2700" spc="-127">
                <a:latin typeface="Cambria Math"/>
                <a:cs typeface="Cambria Math"/>
              </a:rPr>
              <a:t>(	</a:t>
            </a:r>
            <a:r>
              <a:rPr dirty="0" sz="2500">
                <a:latin typeface="Cambria Math"/>
                <a:cs typeface="Cambria Math"/>
              </a:rPr>
              <a:t>∈</a:t>
            </a:r>
            <a:r>
              <a:rPr dirty="0" sz="2500" spc="40">
                <a:latin typeface="Cambria Math"/>
                <a:cs typeface="Cambria Math"/>
              </a:rPr>
              <a:t> </a:t>
            </a:r>
            <a:r>
              <a:rPr dirty="0" sz="2500" spc="200">
                <a:latin typeface="Cambria Math"/>
                <a:cs typeface="Cambria Math"/>
              </a:rPr>
              <a:t>ℝ</a:t>
            </a:r>
            <a:r>
              <a:rPr dirty="0" baseline="27777" sz="2700" spc="300">
                <a:latin typeface="Cambria Math"/>
                <a:cs typeface="Cambria Math"/>
              </a:rPr>
              <a:t>)</a:t>
            </a:r>
            <a:endParaRPr baseline="27777" sz="27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27968" y="3870452"/>
            <a:ext cx="1060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20">
                <a:latin typeface="Cambria Math"/>
                <a:cs typeface="Cambria Math"/>
              </a:rPr>
              <a:t>(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77143" y="3714495"/>
            <a:ext cx="113601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3390" algn="l"/>
              </a:tabLst>
            </a:pPr>
            <a:r>
              <a:rPr dirty="0" sz="2500">
                <a:latin typeface="Cambria Math"/>
                <a:cs typeface="Cambria Math"/>
              </a:rPr>
              <a:t>𝒘	∈</a:t>
            </a:r>
            <a:r>
              <a:rPr dirty="0" sz="2500" spc="40">
                <a:latin typeface="Cambria Math"/>
                <a:cs typeface="Cambria Math"/>
              </a:rPr>
              <a:t> </a:t>
            </a:r>
            <a:r>
              <a:rPr dirty="0" sz="2500" spc="200">
                <a:latin typeface="Cambria Math"/>
                <a:cs typeface="Cambria Math"/>
              </a:rPr>
              <a:t>ℝ</a:t>
            </a:r>
            <a:r>
              <a:rPr dirty="0" baseline="27777" sz="2700" spc="300">
                <a:latin typeface="Cambria Math"/>
                <a:cs typeface="Cambria Math"/>
              </a:rPr>
              <a:t>)</a:t>
            </a:r>
            <a:endParaRPr baseline="27777" sz="27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407950" y="3517465"/>
            <a:ext cx="475615" cy="294640"/>
          </a:xfrm>
          <a:custGeom>
            <a:avLst/>
            <a:gdLst/>
            <a:ahLst/>
            <a:cxnLst/>
            <a:rect l="l" t="t" r="r" b="b"/>
            <a:pathLst>
              <a:path w="475614" h="294639">
                <a:moveTo>
                  <a:pt x="381269" y="0"/>
                </a:moveTo>
                <a:lnTo>
                  <a:pt x="377083" y="11937"/>
                </a:lnTo>
                <a:lnTo>
                  <a:pt x="394107" y="19325"/>
                </a:lnTo>
                <a:lnTo>
                  <a:pt x="408748" y="29552"/>
                </a:lnTo>
                <a:lnTo>
                  <a:pt x="438475" y="76957"/>
                </a:lnTo>
                <a:lnTo>
                  <a:pt x="447156" y="120482"/>
                </a:lnTo>
                <a:lnTo>
                  <a:pt x="448241" y="145572"/>
                </a:lnTo>
                <a:lnTo>
                  <a:pt x="447151" y="171510"/>
                </a:lnTo>
                <a:lnTo>
                  <a:pt x="438431" y="216237"/>
                </a:lnTo>
                <a:lnTo>
                  <a:pt x="420932" y="251167"/>
                </a:lnTo>
                <a:lnTo>
                  <a:pt x="377548" y="282153"/>
                </a:lnTo>
                <a:lnTo>
                  <a:pt x="381269" y="294091"/>
                </a:lnTo>
                <a:lnTo>
                  <a:pt x="421382" y="275274"/>
                </a:lnTo>
                <a:lnTo>
                  <a:pt x="450877" y="242698"/>
                </a:lnTo>
                <a:lnTo>
                  <a:pt x="469016" y="199077"/>
                </a:lnTo>
                <a:lnTo>
                  <a:pt x="475062" y="147123"/>
                </a:lnTo>
                <a:lnTo>
                  <a:pt x="473545" y="120162"/>
                </a:lnTo>
                <a:lnTo>
                  <a:pt x="461414" y="72374"/>
                </a:lnTo>
                <a:lnTo>
                  <a:pt x="437356" y="33472"/>
                </a:lnTo>
                <a:lnTo>
                  <a:pt x="402590" y="7698"/>
                </a:lnTo>
                <a:lnTo>
                  <a:pt x="381269" y="0"/>
                </a:lnTo>
                <a:close/>
              </a:path>
              <a:path w="475614" h="294639">
                <a:moveTo>
                  <a:pt x="93793" y="0"/>
                </a:moveTo>
                <a:lnTo>
                  <a:pt x="53776" y="18856"/>
                </a:lnTo>
                <a:lnTo>
                  <a:pt x="24262" y="51548"/>
                </a:lnTo>
                <a:lnTo>
                  <a:pt x="6065" y="95246"/>
                </a:lnTo>
                <a:lnTo>
                  <a:pt x="0" y="147123"/>
                </a:lnTo>
                <a:lnTo>
                  <a:pt x="1511" y="174142"/>
                </a:lnTo>
                <a:lnTo>
                  <a:pt x="13604" y="221929"/>
                </a:lnTo>
                <a:lnTo>
                  <a:pt x="37604" y="260706"/>
                </a:lnTo>
                <a:lnTo>
                  <a:pt x="72408" y="286402"/>
                </a:lnTo>
                <a:lnTo>
                  <a:pt x="93793" y="294091"/>
                </a:lnTo>
                <a:lnTo>
                  <a:pt x="97513" y="282153"/>
                </a:lnTo>
                <a:lnTo>
                  <a:pt x="80755" y="274731"/>
                </a:lnTo>
                <a:lnTo>
                  <a:pt x="66293" y="264402"/>
                </a:lnTo>
                <a:lnTo>
                  <a:pt x="36630" y="216237"/>
                </a:lnTo>
                <a:lnTo>
                  <a:pt x="27909" y="171510"/>
                </a:lnTo>
                <a:lnTo>
                  <a:pt x="26819" y="145572"/>
                </a:lnTo>
                <a:lnTo>
                  <a:pt x="27909" y="120482"/>
                </a:lnTo>
                <a:lnTo>
                  <a:pt x="36630" y="76957"/>
                </a:lnTo>
                <a:lnTo>
                  <a:pt x="54158" y="42618"/>
                </a:lnTo>
                <a:lnTo>
                  <a:pt x="97979" y="11937"/>
                </a:lnTo>
                <a:lnTo>
                  <a:pt x="937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587570" y="3488944"/>
            <a:ext cx="380809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15770" algn="l"/>
                <a:tab pos="3089275" algn="l"/>
                <a:tab pos="3794760" algn="l"/>
              </a:tabLst>
            </a:pPr>
            <a:r>
              <a:rPr dirty="0" baseline="-31111" sz="3750" spc="-89">
                <a:latin typeface="Cambria Math"/>
                <a:cs typeface="Cambria Math"/>
              </a:rPr>
              <a:t>𝒘</a:t>
            </a:r>
            <a:r>
              <a:rPr dirty="0" baseline="-58641" sz="2700" spc="-89">
                <a:latin typeface="Cambria Math"/>
                <a:cs typeface="Cambria Math"/>
              </a:rPr>
              <a:t>(</a:t>
            </a:r>
            <a:r>
              <a:rPr dirty="0" baseline="-58641" sz="2700" spc="337">
                <a:latin typeface="Cambria Math"/>
                <a:cs typeface="Cambria Math"/>
              </a:rPr>
              <a:t> </a:t>
            </a:r>
            <a:r>
              <a:rPr dirty="0" baseline="-31111" sz="3750">
                <a:latin typeface="Cambria Math"/>
                <a:cs typeface="Cambria Math"/>
              </a:rPr>
              <a:t>=</a:t>
            </a:r>
            <a:r>
              <a:rPr dirty="0" sz="2500" u="heavy">
                <a:latin typeface="Cambria Math"/>
                <a:cs typeface="Cambria Math"/>
              </a:rPr>
              <a:t> 	</a:t>
            </a:r>
            <a:r>
              <a:rPr dirty="0" sz="1800" spc="190" u="heavy">
                <a:latin typeface="Cambria Math"/>
                <a:cs typeface="Cambria Math"/>
              </a:rPr>
              <a:t>*+,	</a:t>
            </a:r>
            <a:r>
              <a:rPr dirty="0" sz="1800" spc="-120" u="heavy">
                <a:latin typeface="Cambria Math"/>
                <a:cs typeface="Cambria Math"/>
              </a:rPr>
              <a:t>(	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44</a:t>
            </a:fld>
          </a:p>
        </p:txBody>
      </p:sp>
      <p:sp>
        <p:nvSpPr>
          <p:cNvPr id="27" name="object 27"/>
          <p:cNvSpPr txBox="1"/>
          <p:nvPr/>
        </p:nvSpPr>
        <p:spPr>
          <a:xfrm>
            <a:off x="3565342" y="3424935"/>
            <a:ext cx="262191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0755" algn="l"/>
                <a:tab pos="1946275" algn="l"/>
                <a:tab pos="2345055" algn="l"/>
              </a:tabLst>
            </a:pPr>
            <a:r>
              <a:rPr dirty="0" sz="2500" spc="-35">
                <a:latin typeface="Cambria Math"/>
                <a:cs typeface="Cambria Math"/>
              </a:rPr>
              <a:t>e</a:t>
            </a:r>
            <a:r>
              <a:rPr dirty="0" sz="2500" spc="0">
                <a:latin typeface="Cambria Math"/>
                <a:cs typeface="Cambria Math"/>
              </a:rPr>
              <a:t>x</a:t>
            </a:r>
            <a:r>
              <a:rPr dirty="0" sz="2500" spc="-5">
                <a:latin typeface="Cambria Math"/>
                <a:cs typeface="Cambria Math"/>
              </a:rPr>
              <a:t>p(</a:t>
            </a:r>
            <a:r>
              <a:rPr dirty="0" sz="2500">
                <a:latin typeface="Cambria Math"/>
                <a:cs typeface="Cambria Math"/>
              </a:rPr>
              <a:t>𝑓	</a:t>
            </a:r>
            <a:r>
              <a:rPr dirty="0" baseline="41062" sz="3450" spc="-1372">
                <a:latin typeface="Cambria Math"/>
                <a:cs typeface="Cambria Math"/>
              </a:rPr>
              <a:t>+</a:t>
            </a:r>
            <a:r>
              <a:rPr dirty="0" baseline="41062" sz="3450" spc="157">
                <a:latin typeface="Cambria Math"/>
                <a:cs typeface="Cambria Math"/>
              </a:rPr>
              <a:t> </a:t>
            </a:r>
            <a:r>
              <a:rPr dirty="0" sz="2500" spc="-5">
                <a:latin typeface="Cambria Math"/>
                <a:cs typeface="Cambria Math"/>
              </a:rPr>
              <a:t>(𝐶𝑒</a:t>
            </a:r>
            <a:r>
              <a:rPr dirty="0" sz="2500">
                <a:latin typeface="Cambria Math"/>
                <a:cs typeface="Cambria Math"/>
              </a:rPr>
              <a:t>𝑛	𝑞	</a:t>
            </a:r>
            <a:r>
              <a:rPr dirty="0" sz="2500" spc="-5">
                <a:latin typeface="Cambria Math"/>
                <a:cs typeface="Cambria Math"/>
              </a:rPr>
              <a:t>)</a:t>
            </a:r>
            <a:r>
              <a:rPr dirty="0" sz="2500">
                <a:latin typeface="Cambria Math"/>
                <a:cs typeface="Cambria Math"/>
              </a:rPr>
              <a:t>)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53443" y="3879088"/>
            <a:ext cx="304609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222" sz="3750" spc="172">
                <a:latin typeface="Cambria Math"/>
                <a:cs typeface="Cambria Math"/>
              </a:rPr>
              <a:t>∑</a:t>
            </a:r>
            <a:r>
              <a:rPr dirty="0" baseline="-20061" sz="2700" spc="172">
                <a:latin typeface="Cambria Math"/>
                <a:cs typeface="Cambria Math"/>
              </a:rPr>
              <a:t>-</a:t>
            </a:r>
            <a:r>
              <a:rPr dirty="0" baseline="-20061" sz="2700" spc="-120">
                <a:latin typeface="Cambria Math"/>
                <a:cs typeface="Cambria Math"/>
              </a:rPr>
              <a:t> </a:t>
            </a:r>
            <a:r>
              <a:rPr dirty="0" sz="2500" spc="25">
                <a:latin typeface="Cambria Math"/>
                <a:cs typeface="Cambria Math"/>
              </a:rPr>
              <a:t>exp(𝑓</a:t>
            </a:r>
            <a:r>
              <a:rPr dirty="0" baseline="-15432" sz="2700" spc="37">
                <a:latin typeface="Cambria Math"/>
                <a:cs typeface="Cambria Math"/>
              </a:rPr>
              <a:t>*+,</a:t>
            </a:r>
            <a:r>
              <a:rPr dirty="0" sz="2500" spc="25">
                <a:latin typeface="Cambria Math"/>
                <a:cs typeface="Cambria Math"/>
              </a:rPr>
              <a:t>(𝐶𝑒𝑛(𝑞</a:t>
            </a:r>
            <a:r>
              <a:rPr dirty="0" baseline="-15432" sz="2700" spc="37">
                <a:latin typeface="Cambria Math"/>
                <a:cs typeface="Cambria Math"/>
              </a:rPr>
              <a:t>-</a:t>
            </a:r>
            <a:r>
              <a:rPr dirty="0" sz="2500" spc="25">
                <a:latin typeface="Cambria Math"/>
                <a:cs typeface="Cambria Math"/>
              </a:rPr>
              <a:t>)))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11868" y="4617211"/>
            <a:ext cx="5190490" cy="2037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Intuition</a:t>
            </a:r>
            <a:r>
              <a:rPr dirty="0" sz="1800" spc="-5">
                <a:latin typeface="Arial"/>
                <a:cs typeface="Arial"/>
              </a:rPr>
              <a:t>: The center should be </a:t>
            </a:r>
            <a:r>
              <a:rPr dirty="0" sz="1800">
                <a:latin typeface="Arial"/>
                <a:cs typeface="Arial"/>
              </a:rPr>
              <a:t>in </a:t>
            </a:r>
            <a:r>
              <a:rPr dirty="0" sz="1800" spc="-5"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FF0000"/>
                </a:solidFill>
                <a:latin typeface="Arial"/>
                <a:cs typeface="Arial"/>
              </a:rPr>
              <a:t>red </a:t>
            </a:r>
            <a:r>
              <a:rPr dirty="0" sz="1800" spc="-5">
                <a:latin typeface="Arial"/>
                <a:cs typeface="Arial"/>
              </a:rPr>
              <a:t>region!  </a:t>
            </a:r>
            <a:r>
              <a:rPr dirty="0" sz="1800" spc="-5" b="1">
                <a:latin typeface="Arial"/>
                <a:cs typeface="Arial"/>
              </a:rPr>
              <a:t>Implementation</a:t>
            </a:r>
            <a:r>
              <a:rPr dirty="0" sz="1800" spc="-5">
                <a:latin typeface="Arial"/>
                <a:cs typeface="Arial"/>
              </a:rPr>
              <a:t>: The center </a:t>
            </a:r>
            <a:r>
              <a:rPr dirty="0" sz="1800">
                <a:latin typeface="Arial"/>
                <a:cs typeface="Arial"/>
              </a:rPr>
              <a:t>is a </a:t>
            </a:r>
            <a:r>
              <a:rPr dirty="0" sz="1800" spc="-5" b="1">
                <a:solidFill>
                  <a:srgbClr val="479249"/>
                </a:solidFill>
                <a:latin typeface="Arial"/>
                <a:cs typeface="Arial"/>
              </a:rPr>
              <a:t>weighted sum </a:t>
            </a:r>
            <a:r>
              <a:rPr dirty="0" sz="1800" spc="-5">
                <a:latin typeface="Arial"/>
                <a:cs typeface="Arial"/>
              </a:rPr>
              <a:t>of  the input box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centers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  <a:spcBef>
                <a:spcPts val="720"/>
              </a:spcBef>
            </a:pPr>
            <a:r>
              <a:rPr dirty="0" sz="1800" spc="-110">
                <a:latin typeface="Cambria Math"/>
                <a:cs typeface="Cambria Math"/>
              </a:rPr>
              <a:t>𝒘</a:t>
            </a:r>
            <a:r>
              <a:rPr dirty="0" baseline="-14957" sz="1950" spc="-165">
                <a:latin typeface="Cambria Math"/>
                <a:cs typeface="Cambria Math"/>
              </a:rPr>
              <a:t>$ </a:t>
            </a:r>
            <a:r>
              <a:rPr dirty="0" baseline="-14957" sz="1950" spc="89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∈ </a:t>
            </a:r>
            <a:r>
              <a:rPr dirty="0" sz="1800" spc="-170">
                <a:latin typeface="Cambria Math"/>
                <a:cs typeface="Cambria Math"/>
              </a:rPr>
              <a:t>ℝ</a:t>
            </a:r>
            <a:r>
              <a:rPr dirty="0" baseline="27777" sz="1950" spc="-254">
                <a:latin typeface="Cambria Math"/>
                <a:cs typeface="Cambria Math"/>
              </a:rPr>
              <a:t>%    </a:t>
            </a:r>
            <a:r>
              <a:rPr dirty="0" sz="1800">
                <a:latin typeface="Arial"/>
                <a:cs typeface="Arial"/>
              </a:rPr>
              <a:t>is </a:t>
            </a:r>
            <a:r>
              <a:rPr dirty="0" sz="1800" spc="-5">
                <a:latin typeface="Arial"/>
                <a:cs typeface="Arial"/>
              </a:rPr>
              <a:t>calculated by </a:t>
            </a:r>
            <a:r>
              <a:rPr dirty="0" sz="1800">
                <a:latin typeface="Arial"/>
                <a:cs typeface="Arial"/>
              </a:rPr>
              <a:t>a </a:t>
            </a:r>
            <a:r>
              <a:rPr dirty="0" sz="1800" spc="-5">
                <a:latin typeface="Arial"/>
                <a:cs typeface="Arial"/>
              </a:rPr>
              <a:t>neural network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25">
                <a:latin typeface="Cambria Math"/>
                <a:cs typeface="Cambria Math"/>
              </a:rPr>
              <a:t>𝑓</a:t>
            </a:r>
            <a:r>
              <a:rPr dirty="0" baseline="-14957" sz="1950" spc="37">
                <a:latin typeface="Cambria Math"/>
                <a:cs typeface="Cambria Math"/>
              </a:rPr>
              <a:t>&amp;'(</a:t>
            </a:r>
            <a:endParaRPr baseline="-14957" sz="1950">
              <a:latin typeface="Cambria Math"/>
              <a:cs typeface="Cambria Math"/>
            </a:endParaRPr>
          </a:p>
          <a:p>
            <a:pPr marL="12700">
              <a:lnSpc>
                <a:spcPts val="2125"/>
              </a:lnSpc>
            </a:pPr>
            <a:r>
              <a:rPr dirty="0" sz="1800" spc="-5">
                <a:latin typeface="Arial"/>
                <a:cs typeface="Arial"/>
              </a:rPr>
              <a:t>(with trainable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weights)</a:t>
            </a:r>
            <a:endParaRPr sz="1800">
              <a:latin typeface="Arial"/>
              <a:cs typeface="Arial"/>
            </a:endParaRPr>
          </a:p>
          <a:p>
            <a:pPr marL="12700" marR="331470">
              <a:lnSpc>
                <a:spcPct val="101099"/>
              </a:lnSpc>
              <a:spcBef>
                <a:spcPts val="25"/>
              </a:spcBef>
            </a:pPr>
            <a:r>
              <a:rPr dirty="0" sz="1800" spc="-110">
                <a:latin typeface="Cambria Math"/>
                <a:cs typeface="Cambria Math"/>
              </a:rPr>
              <a:t>𝒘</a:t>
            </a:r>
            <a:r>
              <a:rPr dirty="0" baseline="-14957" sz="1950" spc="-165">
                <a:latin typeface="Cambria Math"/>
                <a:cs typeface="Cambria Math"/>
              </a:rPr>
              <a:t>$ </a:t>
            </a:r>
            <a:r>
              <a:rPr dirty="0" sz="1800" spc="-5" b="1">
                <a:solidFill>
                  <a:srgbClr val="00B0F0"/>
                </a:solidFill>
                <a:latin typeface="Arial"/>
                <a:cs typeface="Arial"/>
              </a:rPr>
              <a:t>represents </a:t>
            </a:r>
            <a:r>
              <a:rPr dirty="0" sz="1800" b="1">
                <a:solidFill>
                  <a:srgbClr val="00B0F0"/>
                </a:solidFill>
                <a:latin typeface="Arial"/>
                <a:cs typeface="Arial"/>
              </a:rPr>
              <a:t>a </a:t>
            </a:r>
            <a:r>
              <a:rPr dirty="0" sz="1800" spc="-5" b="1">
                <a:solidFill>
                  <a:srgbClr val="00B0F0"/>
                </a:solidFill>
                <a:latin typeface="Arial"/>
                <a:cs typeface="Arial"/>
              </a:rPr>
              <a:t>“self-attention” score </a:t>
            </a:r>
            <a:r>
              <a:rPr dirty="0" sz="1800" b="1">
                <a:solidFill>
                  <a:srgbClr val="00B0F0"/>
                </a:solidFill>
                <a:latin typeface="Arial"/>
                <a:cs typeface="Arial"/>
              </a:rPr>
              <a:t>for the  </a:t>
            </a:r>
            <a:r>
              <a:rPr dirty="0" sz="1800" spc="-5" b="1">
                <a:solidFill>
                  <a:srgbClr val="00B0F0"/>
                </a:solidFill>
                <a:latin typeface="Arial"/>
                <a:cs typeface="Arial"/>
              </a:rPr>
              <a:t>center </a:t>
            </a:r>
            <a:r>
              <a:rPr dirty="0" sz="1800" b="1">
                <a:solidFill>
                  <a:srgbClr val="00B0F0"/>
                </a:solidFill>
                <a:latin typeface="Arial"/>
                <a:cs typeface="Arial"/>
              </a:rPr>
              <a:t>of </a:t>
            </a:r>
            <a:r>
              <a:rPr dirty="0" sz="1800" spc="-5" b="1">
                <a:solidFill>
                  <a:srgbClr val="00B0F0"/>
                </a:solidFill>
                <a:latin typeface="Arial"/>
                <a:cs typeface="Arial"/>
              </a:rPr>
              <a:t>each input</a:t>
            </a:r>
            <a:r>
              <a:rPr dirty="0" sz="1800" spc="-20" b="1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dirty="0" sz="1800" spc="-20">
                <a:latin typeface="Cambria Math"/>
                <a:cs typeface="Cambria Math"/>
              </a:rPr>
              <a:t>𝐶𝑒𝑛(𝑞</a:t>
            </a:r>
            <a:r>
              <a:rPr dirty="0" baseline="-17094" sz="1950" spc="-30">
                <a:latin typeface="Cambria Math"/>
                <a:cs typeface="Cambria Math"/>
              </a:rPr>
              <a:t>$</a:t>
            </a:r>
            <a:r>
              <a:rPr dirty="0" sz="1800" spc="-20">
                <a:latin typeface="Cambria Math"/>
                <a:cs typeface="Cambria Math"/>
              </a:rPr>
              <a:t>)</a:t>
            </a:r>
            <a:r>
              <a:rPr dirty="0" sz="1800" spc="-2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28523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14997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 i="0">
                <a:solidFill>
                  <a:srgbClr val="0000FF"/>
                </a:solidFill>
                <a:latin typeface="Calibri"/>
                <a:cs typeface="Calibri"/>
              </a:rPr>
              <a:t>Geometric </a:t>
            </a:r>
            <a:r>
              <a:rPr dirty="0" sz="3200" spc="-15" b="1" i="0">
                <a:solidFill>
                  <a:srgbClr val="0000FF"/>
                </a:solidFill>
                <a:latin typeface="Calibri"/>
                <a:cs typeface="Calibri"/>
              </a:rPr>
              <a:t>Intersection </a:t>
            </a:r>
            <a:r>
              <a:rPr dirty="0" sz="3200" spc="-20" b="1" i="0">
                <a:solidFill>
                  <a:srgbClr val="0000FF"/>
                </a:solidFill>
                <a:latin typeface="Calibri"/>
                <a:cs typeface="Calibri"/>
              </a:rPr>
              <a:t>Operator </a:t>
            </a:r>
            <a:r>
              <a:rPr dirty="0" sz="3200" i="0">
                <a:latin typeface="Cambria Math"/>
                <a:cs typeface="Cambria Math"/>
              </a:rPr>
              <a:t>𝓘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i="0">
                <a:latin typeface="Cambria Math"/>
                <a:cs typeface="Cambria Math"/>
              </a:rPr>
              <a:t>ℐ </a:t>
            </a:r>
            <a:r>
              <a:rPr dirty="0" sz="3200" i="0">
                <a:latin typeface="Calibri"/>
                <a:cs typeface="Calibri"/>
              </a:rPr>
              <a:t>: </a:t>
            </a:r>
            <a:r>
              <a:rPr dirty="0" sz="3200" spc="-25" i="0">
                <a:latin typeface="Calibri"/>
                <a:cs typeface="Calibri"/>
              </a:rPr>
              <a:t>Box </a:t>
            </a:r>
            <a:r>
              <a:rPr dirty="0" sz="3200" i="0">
                <a:latin typeface="Cambria Math"/>
                <a:cs typeface="Cambria Math"/>
              </a:rPr>
              <a:t>× </a:t>
            </a:r>
            <a:r>
              <a:rPr dirty="0" sz="3200" spc="-5" i="0">
                <a:latin typeface="Cambria Math"/>
                <a:cs typeface="Cambria Math"/>
              </a:rPr>
              <a:t>⋯× </a:t>
            </a:r>
            <a:r>
              <a:rPr dirty="0" sz="3200" spc="-25" i="0">
                <a:latin typeface="Calibri"/>
                <a:cs typeface="Calibri"/>
              </a:rPr>
              <a:t>Box </a:t>
            </a:r>
            <a:r>
              <a:rPr dirty="0" sz="3200" i="0">
                <a:latin typeface="Cambria Math"/>
                <a:cs typeface="Cambria Math"/>
              </a:rPr>
              <a:t>→</a:t>
            </a:r>
            <a:r>
              <a:rPr dirty="0" sz="3200" spc="-30" i="0">
                <a:latin typeface="Cambria Math"/>
                <a:cs typeface="Cambria Math"/>
              </a:rPr>
              <a:t> </a:t>
            </a:r>
            <a:r>
              <a:rPr dirty="0" sz="3200" spc="-25" i="0">
                <a:latin typeface="Calibri"/>
                <a:cs typeface="Calibri"/>
              </a:rPr>
              <a:t>Box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39765" y="2441472"/>
            <a:ext cx="1248410" cy="376555"/>
          </a:xfrm>
          <a:custGeom>
            <a:avLst/>
            <a:gdLst/>
            <a:ahLst/>
            <a:cxnLst/>
            <a:rect l="l" t="t" r="r" b="b"/>
            <a:pathLst>
              <a:path w="1248410" h="376555">
                <a:moveTo>
                  <a:pt x="1127799" y="0"/>
                </a:moveTo>
                <a:lnTo>
                  <a:pt x="1122441" y="15279"/>
                </a:lnTo>
                <a:lnTo>
                  <a:pt x="1144232" y="24736"/>
                </a:lnTo>
                <a:lnTo>
                  <a:pt x="1162972" y="37826"/>
                </a:lnTo>
                <a:lnTo>
                  <a:pt x="1191299" y="74909"/>
                </a:lnTo>
                <a:lnTo>
                  <a:pt x="1207968" y="124940"/>
                </a:lnTo>
                <a:lnTo>
                  <a:pt x="1213524" y="186331"/>
                </a:lnTo>
                <a:lnTo>
                  <a:pt x="1212129" y="219533"/>
                </a:lnTo>
                <a:lnTo>
                  <a:pt x="1200967" y="276782"/>
                </a:lnTo>
                <a:lnTo>
                  <a:pt x="1178568" y="321493"/>
                </a:lnTo>
                <a:lnTo>
                  <a:pt x="1144486" y="351655"/>
                </a:lnTo>
                <a:lnTo>
                  <a:pt x="1123036" y="361156"/>
                </a:lnTo>
                <a:lnTo>
                  <a:pt x="1127799" y="376435"/>
                </a:lnTo>
                <a:lnTo>
                  <a:pt x="1179144" y="352349"/>
                </a:lnTo>
                <a:lnTo>
                  <a:pt x="1216897" y="310653"/>
                </a:lnTo>
                <a:lnTo>
                  <a:pt x="1240114" y="254818"/>
                </a:lnTo>
                <a:lnTo>
                  <a:pt x="1247853" y="188316"/>
                </a:lnTo>
                <a:lnTo>
                  <a:pt x="1245912" y="153807"/>
                </a:lnTo>
                <a:lnTo>
                  <a:pt x="1230385" y="92638"/>
                </a:lnTo>
                <a:lnTo>
                  <a:pt x="1199590" y="42843"/>
                </a:lnTo>
                <a:lnTo>
                  <a:pt x="1155090" y="9853"/>
                </a:lnTo>
                <a:lnTo>
                  <a:pt x="1127799" y="0"/>
                </a:lnTo>
                <a:close/>
              </a:path>
              <a:path w="124841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57095" y="2409444"/>
            <a:ext cx="1882139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5035" algn="l"/>
              </a:tabLst>
            </a:pPr>
            <a:r>
              <a:rPr dirty="0" baseline="11284" sz="4800" spc="-7">
                <a:latin typeface="Cambria Math"/>
                <a:cs typeface="Cambria Math"/>
              </a:rPr>
              <a:t>𝑂𝑓𝑓	</a:t>
            </a:r>
            <a:r>
              <a:rPr dirty="0" baseline="11284" sz="4800" spc="322">
                <a:latin typeface="Cambria Math"/>
                <a:cs typeface="Cambria Math"/>
              </a:rPr>
              <a:t>𝑞</a:t>
            </a:r>
            <a:r>
              <a:rPr dirty="0" sz="2300" spc="215">
                <a:latin typeface="Cambria Math"/>
                <a:cs typeface="Cambria Math"/>
              </a:rPr>
              <a:t>+*,-.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99492" y="2892249"/>
            <a:ext cx="3930015" cy="491490"/>
          </a:xfrm>
          <a:custGeom>
            <a:avLst/>
            <a:gdLst/>
            <a:ahLst/>
            <a:cxnLst/>
            <a:rect l="l" t="t" r="r" b="b"/>
            <a:pathLst>
              <a:path w="3930015" h="491489">
                <a:moveTo>
                  <a:pt x="3801029" y="0"/>
                </a:moveTo>
                <a:lnTo>
                  <a:pt x="3796069" y="16272"/>
                </a:lnTo>
                <a:lnTo>
                  <a:pt x="3818622" y="27967"/>
                </a:lnTo>
                <a:lnTo>
                  <a:pt x="3838262" y="44996"/>
                </a:lnTo>
                <a:lnTo>
                  <a:pt x="3868797" y="95051"/>
                </a:lnTo>
                <a:lnTo>
                  <a:pt x="3887325" y="163066"/>
                </a:lnTo>
                <a:lnTo>
                  <a:pt x="3891958" y="202542"/>
                </a:lnTo>
                <a:lnTo>
                  <a:pt x="3893502" y="245666"/>
                </a:lnTo>
                <a:lnTo>
                  <a:pt x="3891958" y="288695"/>
                </a:lnTo>
                <a:lnTo>
                  <a:pt x="3887325" y="328091"/>
                </a:lnTo>
                <a:lnTo>
                  <a:pt x="3868797" y="395982"/>
                </a:lnTo>
                <a:lnTo>
                  <a:pt x="3838262" y="445963"/>
                </a:lnTo>
                <a:lnTo>
                  <a:pt x="3796069" y="474662"/>
                </a:lnTo>
                <a:lnTo>
                  <a:pt x="3801029" y="490935"/>
                </a:lnTo>
                <a:lnTo>
                  <a:pt x="3855848" y="461715"/>
                </a:lnTo>
                <a:lnTo>
                  <a:pt x="3896478" y="406599"/>
                </a:lnTo>
                <a:lnTo>
                  <a:pt x="3911150" y="371004"/>
                </a:lnTo>
                <a:lnTo>
                  <a:pt x="3921630" y="332284"/>
                </a:lnTo>
                <a:lnTo>
                  <a:pt x="3927919" y="290438"/>
                </a:lnTo>
                <a:lnTo>
                  <a:pt x="3930015" y="245468"/>
                </a:lnTo>
                <a:lnTo>
                  <a:pt x="3927919" y="200497"/>
                </a:lnTo>
                <a:lnTo>
                  <a:pt x="3921630" y="158651"/>
                </a:lnTo>
                <a:lnTo>
                  <a:pt x="3911150" y="119931"/>
                </a:lnTo>
                <a:lnTo>
                  <a:pt x="3896478" y="84336"/>
                </a:lnTo>
                <a:lnTo>
                  <a:pt x="3855848" y="29220"/>
                </a:lnTo>
                <a:lnTo>
                  <a:pt x="3830212" y="11373"/>
                </a:lnTo>
                <a:lnTo>
                  <a:pt x="3801029" y="0"/>
                </a:lnTo>
                <a:close/>
              </a:path>
              <a:path w="3930015" h="491489">
                <a:moveTo>
                  <a:pt x="128983" y="0"/>
                </a:moveTo>
                <a:lnTo>
                  <a:pt x="74165" y="29220"/>
                </a:lnTo>
                <a:lnTo>
                  <a:pt x="33535" y="84336"/>
                </a:lnTo>
                <a:lnTo>
                  <a:pt x="18863" y="119931"/>
                </a:lnTo>
                <a:lnTo>
                  <a:pt x="8383" y="158651"/>
                </a:lnTo>
                <a:lnTo>
                  <a:pt x="2095" y="200497"/>
                </a:lnTo>
                <a:lnTo>
                  <a:pt x="0" y="245468"/>
                </a:lnTo>
                <a:lnTo>
                  <a:pt x="2095" y="290438"/>
                </a:lnTo>
                <a:lnTo>
                  <a:pt x="8383" y="332284"/>
                </a:lnTo>
                <a:lnTo>
                  <a:pt x="18863" y="371004"/>
                </a:lnTo>
                <a:lnTo>
                  <a:pt x="33535" y="406599"/>
                </a:lnTo>
                <a:lnTo>
                  <a:pt x="74165" y="461715"/>
                </a:lnTo>
                <a:lnTo>
                  <a:pt x="128983" y="490935"/>
                </a:lnTo>
                <a:lnTo>
                  <a:pt x="133945" y="474662"/>
                </a:lnTo>
                <a:lnTo>
                  <a:pt x="111391" y="462973"/>
                </a:lnTo>
                <a:lnTo>
                  <a:pt x="91752" y="445963"/>
                </a:lnTo>
                <a:lnTo>
                  <a:pt x="61217" y="395982"/>
                </a:lnTo>
                <a:lnTo>
                  <a:pt x="42688" y="328091"/>
                </a:lnTo>
                <a:lnTo>
                  <a:pt x="38056" y="288695"/>
                </a:lnTo>
                <a:lnTo>
                  <a:pt x="36512" y="245666"/>
                </a:lnTo>
                <a:lnTo>
                  <a:pt x="38056" y="202542"/>
                </a:lnTo>
                <a:lnTo>
                  <a:pt x="42688" y="163066"/>
                </a:lnTo>
                <a:lnTo>
                  <a:pt x="61217" y="95051"/>
                </a:lnTo>
                <a:lnTo>
                  <a:pt x="91752" y="44996"/>
                </a:lnTo>
                <a:lnTo>
                  <a:pt x="133945" y="16272"/>
                </a:lnTo>
                <a:lnTo>
                  <a:pt x="1289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16305" y="2949472"/>
            <a:ext cx="656590" cy="376555"/>
          </a:xfrm>
          <a:custGeom>
            <a:avLst/>
            <a:gdLst/>
            <a:ahLst/>
            <a:cxnLst/>
            <a:rect l="l" t="t" r="r" b="b"/>
            <a:pathLst>
              <a:path w="656589" h="376554">
                <a:moveTo>
                  <a:pt x="535915" y="0"/>
                </a:moveTo>
                <a:lnTo>
                  <a:pt x="530557" y="15279"/>
                </a:lnTo>
                <a:lnTo>
                  <a:pt x="552349" y="24736"/>
                </a:lnTo>
                <a:lnTo>
                  <a:pt x="571088" y="37826"/>
                </a:lnTo>
                <a:lnTo>
                  <a:pt x="599415" y="74909"/>
                </a:lnTo>
                <a:lnTo>
                  <a:pt x="616084" y="124940"/>
                </a:lnTo>
                <a:lnTo>
                  <a:pt x="621640" y="186331"/>
                </a:lnTo>
                <a:lnTo>
                  <a:pt x="620245" y="219533"/>
                </a:lnTo>
                <a:lnTo>
                  <a:pt x="609083" y="276782"/>
                </a:lnTo>
                <a:lnTo>
                  <a:pt x="586684" y="321493"/>
                </a:lnTo>
                <a:lnTo>
                  <a:pt x="552602" y="351655"/>
                </a:lnTo>
                <a:lnTo>
                  <a:pt x="531153" y="361156"/>
                </a:lnTo>
                <a:lnTo>
                  <a:pt x="535915" y="376435"/>
                </a:lnTo>
                <a:lnTo>
                  <a:pt x="587261" y="352349"/>
                </a:lnTo>
                <a:lnTo>
                  <a:pt x="625013" y="310653"/>
                </a:lnTo>
                <a:lnTo>
                  <a:pt x="648231" y="254818"/>
                </a:lnTo>
                <a:lnTo>
                  <a:pt x="655970" y="188316"/>
                </a:lnTo>
                <a:lnTo>
                  <a:pt x="654029" y="153807"/>
                </a:lnTo>
                <a:lnTo>
                  <a:pt x="638501" y="92638"/>
                </a:lnTo>
                <a:lnTo>
                  <a:pt x="607706" y="42843"/>
                </a:lnTo>
                <a:lnTo>
                  <a:pt x="563207" y="9853"/>
                </a:lnTo>
                <a:lnTo>
                  <a:pt x="535915" y="0"/>
                </a:lnTo>
                <a:close/>
              </a:path>
              <a:path w="656589" h="376554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55874" y="2949472"/>
            <a:ext cx="691515" cy="376555"/>
          </a:xfrm>
          <a:custGeom>
            <a:avLst/>
            <a:gdLst/>
            <a:ahLst/>
            <a:cxnLst/>
            <a:rect l="l" t="t" r="r" b="b"/>
            <a:pathLst>
              <a:path w="691515" h="376554">
                <a:moveTo>
                  <a:pt x="571031" y="0"/>
                </a:moveTo>
                <a:lnTo>
                  <a:pt x="565673" y="15279"/>
                </a:lnTo>
                <a:lnTo>
                  <a:pt x="587464" y="24736"/>
                </a:lnTo>
                <a:lnTo>
                  <a:pt x="606204" y="37826"/>
                </a:lnTo>
                <a:lnTo>
                  <a:pt x="634531" y="74909"/>
                </a:lnTo>
                <a:lnTo>
                  <a:pt x="651200" y="124940"/>
                </a:lnTo>
                <a:lnTo>
                  <a:pt x="656756" y="186331"/>
                </a:lnTo>
                <a:lnTo>
                  <a:pt x="655361" y="219533"/>
                </a:lnTo>
                <a:lnTo>
                  <a:pt x="644199" y="276782"/>
                </a:lnTo>
                <a:lnTo>
                  <a:pt x="621800" y="321493"/>
                </a:lnTo>
                <a:lnTo>
                  <a:pt x="587718" y="351655"/>
                </a:lnTo>
                <a:lnTo>
                  <a:pt x="566268" y="361156"/>
                </a:lnTo>
                <a:lnTo>
                  <a:pt x="571031" y="376435"/>
                </a:lnTo>
                <a:lnTo>
                  <a:pt x="622376" y="352349"/>
                </a:lnTo>
                <a:lnTo>
                  <a:pt x="660129" y="310653"/>
                </a:lnTo>
                <a:lnTo>
                  <a:pt x="683346" y="254818"/>
                </a:lnTo>
                <a:lnTo>
                  <a:pt x="691085" y="188316"/>
                </a:lnTo>
                <a:lnTo>
                  <a:pt x="689144" y="153807"/>
                </a:lnTo>
                <a:lnTo>
                  <a:pt x="673617" y="92638"/>
                </a:lnTo>
                <a:lnTo>
                  <a:pt x="642822" y="42843"/>
                </a:lnTo>
                <a:lnTo>
                  <a:pt x="598322" y="9853"/>
                </a:lnTo>
                <a:lnTo>
                  <a:pt x="571031" y="0"/>
                </a:lnTo>
                <a:close/>
              </a:path>
              <a:path w="691515" h="376554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821692" y="2375916"/>
            <a:ext cx="21729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3B9D3B"/>
                </a:solidFill>
                <a:latin typeface="Calibri"/>
                <a:cs typeface="Calibri"/>
              </a:rPr>
              <a:t>guarantees</a:t>
            </a:r>
            <a:r>
              <a:rPr dirty="0" sz="2000" spc="-60">
                <a:solidFill>
                  <a:srgbClr val="3B9D3B"/>
                </a:solidFill>
                <a:latin typeface="Calibri"/>
                <a:cs typeface="Calibri"/>
              </a:rPr>
              <a:t> </a:t>
            </a:r>
            <a:r>
              <a:rPr dirty="0" sz="2000" spc="-5">
                <a:solidFill>
                  <a:srgbClr val="3B9D3B"/>
                </a:solidFill>
                <a:latin typeface="Calibri"/>
                <a:cs typeface="Calibri"/>
              </a:rPr>
              <a:t>shrinking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45924" y="2740498"/>
            <a:ext cx="908685" cy="362585"/>
          </a:xfrm>
          <a:custGeom>
            <a:avLst/>
            <a:gdLst/>
            <a:ahLst/>
            <a:cxnLst/>
            <a:rect l="l" t="t" r="r" b="b"/>
            <a:pathLst>
              <a:path w="908684" h="362585">
                <a:moveTo>
                  <a:pt x="65123" y="281847"/>
                </a:moveTo>
                <a:lnTo>
                  <a:pt x="0" y="352167"/>
                </a:lnTo>
                <a:lnTo>
                  <a:pt x="95330" y="362073"/>
                </a:lnTo>
                <a:lnTo>
                  <a:pt x="88203" y="343146"/>
                </a:lnTo>
                <a:lnTo>
                  <a:pt x="64504" y="343146"/>
                </a:lnTo>
                <a:lnTo>
                  <a:pt x="56264" y="339413"/>
                </a:lnTo>
                <a:lnTo>
                  <a:pt x="50703" y="324645"/>
                </a:lnTo>
                <a:lnTo>
                  <a:pt x="54436" y="316403"/>
                </a:lnTo>
                <a:lnTo>
                  <a:pt x="75191" y="308588"/>
                </a:lnTo>
                <a:lnTo>
                  <a:pt x="65123" y="281847"/>
                </a:lnTo>
                <a:close/>
              </a:path>
              <a:path w="908684" h="362585">
                <a:moveTo>
                  <a:pt x="75191" y="308588"/>
                </a:moveTo>
                <a:lnTo>
                  <a:pt x="54436" y="316403"/>
                </a:lnTo>
                <a:lnTo>
                  <a:pt x="50703" y="324645"/>
                </a:lnTo>
                <a:lnTo>
                  <a:pt x="56264" y="339413"/>
                </a:lnTo>
                <a:lnTo>
                  <a:pt x="64504" y="343146"/>
                </a:lnTo>
                <a:lnTo>
                  <a:pt x="85261" y="335331"/>
                </a:lnTo>
                <a:lnTo>
                  <a:pt x="75191" y="308588"/>
                </a:lnTo>
                <a:close/>
              </a:path>
              <a:path w="908684" h="362585">
                <a:moveTo>
                  <a:pt x="85261" y="335331"/>
                </a:moveTo>
                <a:lnTo>
                  <a:pt x="64504" y="343146"/>
                </a:lnTo>
                <a:lnTo>
                  <a:pt x="88203" y="343146"/>
                </a:lnTo>
                <a:lnTo>
                  <a:pt x="85261" y="335331"/>
                </a:lnTo>
                <a:close/>
              </a:path>
              <a:path w="908684" h="362585">
                <a:moveTo>
                  <a:pt x="894778" y="0"/>
                </a:moveTo>
                <a:lnTo>
                  <a:pt x="75191" y="308588"/>
                </a:lnTo>
                <a:lnTo>
                  <a:pt x="85261" y="335331"/>
                </a:lnTo>
                <a:lnTo>
                  <a:pt x="904847" y="26742"/>
                </a:lnTo>
                <a:lnTo>
                  <a:pt x="908579" y="18501"/>
                </a:lnTo>
                <a:lnTo>
                  <a:pt x="903019" y="3732"/>
                </a:lnTo>
                <a:lnTo>
                  <a:pt x="894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8739" y="2799587"/>
            <a:ext cx="7371080" cy="184658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590675">
              <a:lnSpc>
                <a:spcPct val="100000"/>
              </a:lnSpc>
              <a:spcBef>
                <a:spcPts val="365"/>
              </a:spcBef>
              <a:tabLst>
                <a:tab pos="2867025" algn="l"/>
                <a:tab pos="3769995" algn="l"/>
                <a:tab pos="4328795" algn="l"/>
                <a:tab pos="5909945" algn="l"/>
              </a:tabLst>
            </a:pP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75">
                <a:latin typeface="Cambria Math"/>
                <a:cs typeface="Cambria Math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min	𝑂𝑓𝑓	</a:t>
            </a:r>
            <a:r>
              <a:rPr dirty="0" sz="3200" spc="140">
                <a:latin typeface="Cambria Math"/>
                <a:cs typeface="Cambria Math"/>
              </a:rPr>
              <a:t>𝑞</a:t>
            </a:r>
            <a:r>
              <a:rPr dirty="0" baseline="-15700" sz="3450" spc="209">
                <a:latin typeface="Cambria Math"/>
                <a:cs typeface="Cambria Math"/>
              </a:rPr>
              <a:t>"	</a:t>
            </a:r>
            <a:r>
              <a:rPr dirty="0" sz="3200">
                <a:latin typeface="Cambria Math"/>
                <a:cs typeface="Cambria Math"/>
              </a:rPr>
              <a:t>, …</a:t>
            </a:r>
            <a:r>
              <a:rPr dirty="0" sz="3200" spc="-33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,</a:t>
            </a:r>
            <a:r>
              <a:rPr dirty="0" sz="3200" spc="-165">
                <a:latin typeface="Cambria Math"/>
                <a:cs typeface="Cambria Math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𝑂𝑓𝑓	</a:t>
            </a:r>
            <a:r>
              <a:rPr dirty="0" sz="3200" spc="215">
                <a:latin typeface="Cambria Math"/>
                <a:cs typeface="Cambria Math"/>
              </a:rPr>
              <a:t>𝑞</a:t>
            </a:r>
            <a:r>
              <a:rPr dirty="0" baseline="-15700" sz="3450" spc="322">
                <a:latin typeface="Cambria Math"/>
                <a:cs typeface="Cambria Math"/>
              </a:rPr>
              <a:t>*</a:t>
            </a:r>
            <a:endParaRPr baseline="-15700" sz="3450">
              <a:latin typeface="Cambria Math"/>
              <a:cs typeface="Cambria Math"/>
            </a:endParaRPr>
          </a:p>
          <a:p>
            <a:pPr marL="1590675">
              <a:lnSpc>
                <a:spcPct val="100000"/>
              </a:lnSpc>
              <a:spcBef>
                <a:spcPts val="265"/>
              </a:spcBef>
            </a:pPr>
            <a:r>
              <a:rPr dirty="0" sz="3200">
                <a:latin typeface="Cambria Math"/>
                <a:cs typeface="Cambria Math"/>
              </a:rPr>
              <a:t>⊙ </a:t>
            </a:r>
            <a:r>
              <a:rPr dirty="0" sz="3200" spc="35">
                <a:latin typeface="Cambria Math"/>
                <a:cs typeface="Cambria Math"/>
              </a:rPr>
              <a:t>𝜎(𝑓</a:t>
            </a:r>
            <a:r>
              <a:rPr dirty="0" baseline="-15700" sz="3450" spc="52">
                <a:latin typeface="Cambria Math"/>
                <a:cs typeface="Cambria Math"/>
              </a:rPr>
              <a:t>/00</a:t>
            </a:r>
            <a:r>
              <a:rPr dirty="0" sz="3200" spc="35">
                <a:latin typeface="Cambria Math"/>
                <a:cs typeface="Cambria Math"/>
              </a:rPr>
              <a:t>(𝑂𝑓𝑓(𝑞</a:t>
            </a:r>
            <a:r>
              <a:rPr dirty="0" baseline="-15700" sz="3450" spc="52">
                <a:latin typeface="Cambria Math"/>
                <a:cs typeface="Cambria Math"/>
              </a:rPr>
              <a:t>"</a:t>
            </a:r>
            <a:r>
              <a:rPr dirty="0" sz="3200" spc="35">
                <a:latin typeface="Cambria Math"/>
                <a:cs typeface="Cambria Math"/>
              </a:rPr>
              <a:t>), </a:t>
            </a:r>
            <a:r>
              <a:rPr dirty="0" sz="3200">
                <a:latin typeface="Cambria Math"/>
                <a:cs typeface="Cambria Math"/>
              </a:rPr>
              <a:t>… ,</a:t>
            </a:r>
            <a:r>
              <a:rPr dirty="0" sz="3200" spc="-520">
                <a:latin typeface="Cambria Math"/>
                <a:cs typeface="Cambria Math"/>
              </a:rPr>
              <a:t> </a:t>
            </a:r>
            <a:r>
              <a:rPr dirty="0" sz="3200" spc="65">
                <a:latin typeface="Cambria Math"/>
                <a:cs typeface="Cambria Math"/>
              </a:rPr>
              <a:t>𝑂𝑓𝑓(𝑞</a:t>
            </a:r>
            <a:r>
              <a:rPr dirty="0" baseline="-15700" sz="3450" spc="97">
                <a:latin typeface="Cambria Math"/>
                <a:cs typeface="Cambria Math"/>
              </a:rPr>
              <a:t>*</a:t>
            </a:r>
            <a:r>
              <a:rPr dirty="0" sz="3200" spc="65">
                <a:latin typeface="Cambria Math"/>
                <a:cs typeface="Cambria Math"/>
              </a:rPr>
              <a:t>)))</a:t>
            </a:r>
            <a:endParaRPr sz="3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3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5">
                <a:solidFill>
                  <a:srgbClr val="3B9D3B"/>
                </a:solidFill>
                <a:latin typeface="Calibri"/>
                <a:cs typeface="Calibri"/>
              </a:rPr>
              <a:t>Sigmoid</a:t>
            </a:r>
            <a:r>
              <a:rPr dirty="0" sz="1800" spc="-25">
                <a:solidFill>
                  <a:srgbClr val="3B9D3B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3B9D3B"/>
                </a:solidFill>
                <a:latin typeface="Calibri"/>
                <a:cs typeface="Calibri"/>
              </a:rPr>
              <a:t>function: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739" y="4614164"/>
            <a:ext cx="2271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3B9D3B"/>
                </a:solidFill>
                <a:latin typeface="Calibri"/>
                <a:cs typeface="Calibri"/>
              </a:rPr>
              <a:t>squashes output in</a:t>
            </a:r>
            <a:r>
              <a:rPr dirty="0" sz="1800" spc="-25">
                <a:solidFill>
                  <a:srgbClr val="3B9D3B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B9D3B"/>
                </a:solidFill>
                <a:latin typeface="Calibri"/>
                <a:cs typeface="Calibri"/>
              </a:rPr>
              <a:t>(0,1)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62112" y="3814010"/>
            <a:ext cx="847725" cy="528955"/>
          </a:xfrm>
          <a:custGeom>
            <a:avLst/>
            <a:gdLst/>
            <a:ahLst/>
            <a:cxnLst/>
            <a:rect l="l" t="t" r="r" b="b"/>
            <a:pathLst>
              <a:path w="847725" h="528954">
                <a:moveTo>
                  <a:pt x="766669" y="32844"/>
                </a:moveTo>
                <a:lnTo>
                  <a:pt x="2085" y="504470"/>
                </a:lnTo>
                <a:lnTo>
                  <a:pt x="0" y="513273"/>
                </a:lnTo>
                <a:lnTo>
                  <a:pt x="8284" y="526704"/>
                </a:lnTo>
                <a:lnTo>
                  <a:pt x="17086" y="528791"/>
                </a:lnTo>
                <a:lnTo>
                  <a:pt x="781671" y="57165"/>
                </a:lnTo>
                <a:lnTo>
                  <a:pt x="766669" y="32844"/>
                </a:lnTo>
                <a:close/>
              </a:path>
              <a:path w="847725" h="528954">
                <a:moveTo>
                  <a:pt x="834003" y="21201"/>
                </a:moveTo>
                <a:lnTo>
                  <a:pt x="785545" y="21201"/>
                </a:lnTo>
                <a:lnTo>
                  <a:pt x="794348" y="23287"/>
                </a:lnTo>
                <a:lnTo>
                  <a:pt x="802633" y="36719"/>
                </a:lnTo>
                <a:lnTo>
                  <a:pt x="800548" y="45521"/>
                </a:lnTo>
                <a:lnTo>
                  <a:pt x="781671" y="57165"/>
                </a:lnTo>
                <a:lnTo>
                  <a:pt x="796673" y="81485"/>
                </a:lnTo>
                <a:lnTo>
                  <a:pt x="834003" y="21201"/>
                </a:lnTo>
                <a:close/>
              </a:path>
              <a:path w="847725" h="528954">
                <a:moveTo>
                  <a:pt x="785545" y="21201"/>
                </a:moveTo>
                <a:lnTo>
                  <a:pt x="766669" y="32844"/>
                </a:lnTo>
                <a:lnTo>
                  <a:pt x="781671" y="57165"/>
                </a:lnTo>
                <a:lnTo>
                  <a:pt x="800548" y="45521"/>
                </a:lnTo>
                <a:lnTo>
                  <a:pt x="802633" y="36719"/>
                </a:lnTo>
                <a:lnTo>
                  <a:pt x="794348" y="23287"/>
                </a:lnTo>
                <a:lnTo>
                  <a:pt x="785545" y="21201"/>
                </a:lnTo>
                <a:close/>
              </a:path>
              <a:path w="847725" h="528954">
                <a:moveTo>
                  <a:pt x="847131" y="0"/>
                </a:moveTo>
                <a:lnTo>
                  <a:pt x="751668" y="8525"/>
                </a:lnTo>
                <a:lnTo>
                  <a:pt x="766669" y="32844"/>
                </a:lnTo>
                <a:lnTo>
                  <a:pt x="785545" y="21201"/>
                </a:lnTo>
                <a:lnTo>
                  <a:pt x="834003" y="21201"/>
                </a:lnTo>
                <a:lnTo>
                  <a:pt x="847131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235570" y="4586732"/>
            <a:ext cx="5720080" cy="196088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46990">
              <a:lnSpc>
                <a:spcPts val="2090"/>
              </a:lnSpc>
              <a:spcBef>
                <a:spcPts val="225"/>
              </a:spcBef>
            </a:pPr>
            <a:r>
              <a:rPr dirty="0" sz="1800" spc="-5" b="1">
                <a:latin typeface="Arial"/>
                <a:cs typeface="Arial"/>
              </a:rPr>
              <a:t>Intuition</a:t>
            </a:r>
            <a:r>
              <a:rPr dirty="0" sz="1800" spc="-5">
                <a:latin typeface="Arial"/>
                <a:cs typeface="Arial"/>
              </a:rPr>
              <a:t>: The </a:t>
            </a:r>
            <a:r>
              <a:rPr dirty="0" sz="1800" spc="-10">
                <a:latin typeface="Arial"/>
                <a:cs typeface="Arial"/>
              </a:rPr>
              <a:t>offset </a:t>
            </a:r>
            <a:r>
              <a:rPr dirty="0" sz="1800" spc="-5">
                <a:latin typeface="Arial"/>
                <a:cs typeface="Arial"/>
              </a:rPr>
              <a:t>should be smaller than the </a:t>
            </a:r>
            <a:r>
              <a:rPr dirty="0" sz="1800" spc="-10">
                <a:latin typeface="Arial"/>
                <a:cs typeface="Arial"/>
              </a:rPr>
              <a:t>offset </a:t>
            </a:r>
            <a:r>
              <a:rPr dirty="0" sz="1800" spc="-5">
                <a:latin typeface="Arial"/>
                <a:cs typeface="Arial"/>
              </a:rPr>
              <a:t>of  </a:t>
            </a: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>
                <a:latin typeface="Arial"/>
                <a:cs typeface="Arial"/>
              </a:rPr>
              <a:t>input</a:t>
            </a:r>
            <a:r>
              <a:rPr dirty="0" sz="1800" spc="-10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box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99400"/>
              </a:lnSpc>
            </a:pPr>
            <a:r>
              <a:rPr dirty="0" sz="1800" spc="-5" b="1">
                <a:latin typeface="Arial"/>
                <a:cs typeface="Arial"/>
              </a:rPr>
              <a:t>Implementation</a:t>
            </a:r>
            <a:r>
              <a:rPr dirty="0" sz="1800" spc="-5">
                <a:latin typeface="Arial"/>
                <a:cs typeface="Arial"/>
              </a:rPr>
              <a:t>: </a:t>
            </a:r>
            <a:r>
              <a:rPr dirty="0" sz="1800" spc="-20">
                <a:latin typeface="Arial"/>
                <a:cs typeface="Arial"/>
              </a:rPr>
              <a:t>We </a:t>
            </a:r>
            <a:r>
              <a:rPr dirty="0" sz="1800" spc="-5">
                <a:latin typeface="Arial"/>
                <a:cs typeface="Arial"/>
              </a:rPr>
              <a:t>first </a:t>
            </a:r>
            <a:r>
              <a:rPr dirty="0" sz="1800" spc="-5" b="1">
                <a:latin typeface="Arial"/>
                <a:cs typeface="Arial"/>
              </a:rPr>
              <a:t>take minimum </a:t>
            </a:r>
            <a:r>
              <a:rPr dirty="0" sz="1800" spc="-5">
                <a:latin typeface="Arial"/>
                <a:cs typeface="Arial"/>
              </a:rPr>
              <a:t>of the </a:t>
            </a:r>
            <a:r>
              <a:rPr dirty="0" sz="1800" spc="-10">
                <a:latin typeface="Arial"/>
                <a:cs typeface="Arial"/>
              </a:rPr>
              <a:t>offset </a:t>
            </a:r>
            <a:r>
              <a:rPr dirty="0" sz="1800" spc="-5">
                <a:latin typeface="Arial"/>
                <a:cs typeface="Arial"/>
              </a:rPr>
              <a:t>of  the input box, and then </a:t>
            </a:r>
            <a:r>
              <a:rPr dirty="0" sz="1800">
                <a:latin typeface="Arial"/>
                <a:cs typeface="Arial"/>
              </a:rPr>
              <a:t>we </a:t>
            </a:r>
            <a:r>
              <a:rPr dirty="0" sz="1800" spc="-5">
                <a:latin typeface="Arial"/>
                <a:cs typeface="Arial"/>
              </a:rPr>
              <a:t>make the model more  expressive by introducing </a:t>
            </a:r>
            <a:r>
              <a:rPr dirty="0" sz="1800">
                <a:latin typeface="Arial"/>
                <a:cs typeface="Arial"/>
              </a:rPr>
              <a:t>a </a:t>
            </a:r>
            <a:r>
              <a:rPr dirty="0" sz="1800" spc="-5">
                <a:latin typeface="Arial"/>
                <a:cs typeface="Arial"/>
              </a:rPr>
              <a:t>new function </a:t>
            </a:r>
            <a:r>
              <a:rPr dirty="0" sz="1800" spc="90">
                <a:latin typeface="Cambria Math"/>
                <a:cs typeface="Cambria Math"/>
              </a:rPr>
              <a:t>𝑓</a:t>
            </a:r>
            <a:r>
              <a:rPr dirty="0" baseline="-14957" sz="1950" spc="135">
                <a:latin typeface="Cambria Math"/>
                <a:cs typeface="Cambria Math"/>
              </a:rPr>
              <a:t>)** </a:t>
            </a:r>
            <a:r>
              <a:rPr dirty="0" sz="1800" spc="-5">
                <a:latin typeface="Arial"/>
                <a:cs typeface="Arial"/>
              </a:rPr>
              <a:t>to</a:t>
            </a:r>
            <a:r>
              <a:rPr dirty="0" sz="1800" spc="8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extract</a:t>
            </a:r>
            <a:endParaRPr sz="1800">
              <a:latin typeface="Arial"/>
              <a:cs typeface="Arial"/>
            </a:endParaRPr>
          </a:p>
          <a:p>
            <a:pPr marL="12700" marR="263525">
              <a:lnSpc>
                <a:spcPct val="101099"/>
              </a:lnSpc>
              <a:spcBef>
                <a:spcPts val="120"/>
              </a:spcBef>
            </a:pP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 b="1">
                <a:latin typeface="Arial"/>
                <a:cs typeface="Arial"/>
              </a:rPr>
              <a:t>representation </a:t>
            </a:r>
            <a:r>
              <a:rPr dirty="0" sz="1800" spc="-5">
                <a:latin typeface="Arial"/>
                <a:cs typeface="Arial"/>
              </a:rPr>
              <a:t>of the input boxes with </a:t>
            </a:r>
            <a:r>
              <a:rPr dirty="0" sz="1800">
                <a:latin typeface="Arial"/>
                <a:cs typeface="Arial"/>
              </a:rPr>
              <a:t>a </a:t>
            </a:r>
            <a:r>
              <a:rPr dirty="0" sz="1800" spc="-5" b="1">
                <a:latin typeface="Arial"/>
                <a:cs typeface="Arial"/>
              </a:rPr>
              <a:t>sigmoid  function </a:t>
            </a:r>
            <a:r>
              <a:rPr dirty="0" sz="1800">
                <a:latin typeface="Arial"/>
                <a:cs typeface="Arial"/>
              </a:rPr>
              <a:t>to </a:t>
            </a:r>
            <a:r>
              <a:rPr dirty="0" sz="1800" spc="-5" b="1">
                <a:solidFill>
                  <a:srgbClr val="FF0000"/>
                </a:solidFill>
                <a:latin typeface="Arial"/>
                <a:cs typeface="Arial"/>
              </a:rPr>
              <a:t>guarantee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0000"/>
                </a:solidFill>
                <a:latin typeface="Arial"/>
                <a:cs typeface="Arial"/>
              </a:rPr>
              <a:t>shrinking</a:t>
            </a:r>
            <a:r>
              <a:rPr dirty="0" sz="1800" spc="-5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38824" y="3922269"/>
            <a:ext cx="297180" cy="1235075"/>
          </a:xfrm>
          <a:custGeom>
            <a:avLst/>
            <a:gdLst/>
            <a:ahLst/>
            <a:cxnLst/>
            <a:rect l="l" t="t" r="r" b="b"/>
            <a:pathLst>
              <a:path w="297180" h="1235075">
                <a:moveTo>
                  <a:pt x="241145" y="80930"/>
                </a:moveTo>
                <a:lnTo>
                  <a:pt x="0" y="1224211"/>
                </a:lnTo>
                <a:lnTo>
                  <a:pt x="4937" y="1231789"/>
                </a:lnTo>
                <a:lnTo>
                  <a:pt x="20379" y="1235047"/>
                </a:lnTo>
                <a:lnTo>
                  <a:pt x="27959" y="1230108"/>
                </a:lnTo>
                <a:lnTo>
                  <a:pt x="269103" y="86827"/>
                </a:lnTo>
                <a:lnTo>
                  <a:pt x="241145" y="80930"/>
                </a:lnTo>
                <a:close/>
              </a:path>
              <a:path w="297180" h="1235075">
                <a:moveTo>
                  <a:pt x="287013" y="54291"/>
                </a:moveTo>
                <a:lnTo>
                  <a:pt x="253301" y="54291"/>
                </a:lnTo>
                <a:lnTo>
                  <a:pt x="268743" y="57547"/>
                </a:lnTo>
                <a:lnTo>
                  <a:pt x="273681" y="65126"/>
                </a:lnTo>
                <a:lnTo>
                  <a:pt x="269103" y="86827"/>
                </a:lnTo>
                <a:lnTo>
                  <a:pt x="297064" y="92725"/>
                </a:lnTo>
                <a:lnTo>
                  <a:pt x="287013" y="54291"/>
                </a:lnTo>
                <a:close/>
              </a:path>
              <a:path w="297180" h="1235075">
                <a:moveTo>
                  <a:pt x="253301" y="54291"/>
                </a:moveTo>
                <a:lnTo>
                  <a:pt x="245722" y="59230"/>
                </a:lnTo>
                <a:lnTo>
                  <a:pt x="241145" y="80930"/>
                </a:lnTo>
                <a:lnTo>
                  <a:pt x="269103" y="86827"/>
                </a:lnTo>
                <a:lnTo>
                  <a:pt x="273681" y="65126"/>
                </a:lnTo>
                <a:lnTo>
                  <a:pt x="268743" y="57547"/>
                </a:lnTo>
                <a:lnTo>
                  <a:pt x="253301" y="54291"/>
                </a:lnTo>
                <a:close/>
              </a:path>
              <a:path w="297180" h="1235075">
                <a:moveTo>
                  <a:pt x="272816" y="0"/>
                </a:moveTo>
                <a:lnTo>
                  <a:pt x="213184" y="75032"/>
                </a:lnTo>
                <a:lnTo>
                  <a:pt x="241145" y="80930"/>
                </a:lnTo>
                <a:lnTo>
                  <a:pt x="245722" y="59230"/>
                </a:lnTo>
                <a:lnTo>
                  <a:pt x="253301" y="54291"/>
                </a:lnTo>
                <a:lnTo>
                  <a:pt x="287013" y="54291"/>
                </a:lnTo>
                <a:lnTo>
                  <a:pt x="272816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8739" y="5144515"/>
            <a:ext cx="2791460" cy="143383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204"/>
              </a:spcBef>
            </a:pPr>
            <a:r>
              <a:rPr dirty="0" sz="1800" spc="90">
                <a:solidFill>
                  <a:srgbClr val="3B9D3B"/>
                </a:solidFill>
                <a:latin typeface="Cambria Math"/>
                <a:cs typeface="Cambria Math"/>
              </a:rPr>
              <a:t>𝑓</a:t>
            </a:r>
            <a:r>
              <a:rPr dirty="0" baseline="-14957" sz="1950" spc="135">
                <a:solidFill>
                  <a:srgbClr val="3B9D3B"/>
                </a:solidFill>
                <a:latin typeface="Cambria Math"/>
                <a:cs typeface="Cambria Math"/>
              </a:rPr>
              <a:t>)** </a:t>
            </a:r>
            <a:r>
              <a:rPr dirty="0" sz="1800" spc="-5">
                <a:solidFill>
                  <a:srgbClr val="3B9D3B"/>
                </a:solidFill>
                <a:latin typeface="Calibri"/>
                <a:cs typeface="Calibri"/>
              </a:rPr>
              <a:t>is </a:t>
            </a:r>
            <a:r>
              <a:rPr dirty="0" sz="1800">
                <a:solidFill>
                  <a:srgbClr val="3B9D3B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3B9D3B"/>
                </a:solidFill>
                <a:latin typeface="Calibri"/>
                <a:cs typeface="Calibri"/>
              </a:rPr>
              <a:t>neural network </a:t>
            </a:r>
            <a:r>
              <a:rPr dirty="0" sz="1800" spc="-5">
                <a:solidFill>
                  <a:srgbClr val="3B9D3B"/>
                </a:solidFill>
                <a:latin typeface="Calibri"/>
                <a:cs typeface="Calibri"/>
              </a:rPr>
              <a:t>(with  </a:t>
            </a:r>
            <a:r>
              <a:rPr dirty="0" sz="1800" spc="-10">
                <a:solidFill>
                  <a:srgbClr val="3B9D3B"/>
                </a:solidFill>
                <a:latin typeface="Calibri"/>
                <a:cs typeface="Calibri"/>
              </a:rPr>
              <a:t>trainable </a:t>
            </a:r>
            <a:r>
              <a:rPr dirty="0" sz="1800" spc="-15">
                <a:solidFill>
                  <a:srgbClr val="3B9D3B"/>
                </a:solidFill>
                <a:latin typeface="Calibri"/>
                <a:cs typeface="Calibri"/>
              </a:rPr>
              <a:t>parameters) </a:t>
            </a:r>
            <a:r>
              <a:rPr dirty="0" sz="1800" spc="-10">
                <a:solidFill>
                  <a:srgbClr val="3B9D3B"/>
                </a:solidFill>
                <a:latin typeface="Calibri"/>
                <a:cs typeface="Calibri"/>
              </a:rPr>
              <a:t>that  extracts </a:t>
            </a:r>
            <a:r>
              <a:rPr dirty="0" sz="1800" spc="-5">
                <a:solidFill>
                  <a:srgbClr val="3B9D3B"/>
                </a:solidFill>
                <a:latin typeface="Calibri"/>
                <a:cs typeface="Calibri"/>
              </a:rPr>
              <a:t>the </a:t>
            </a:r>
            <a:r>
              <a:rPr dirty="0" sz="1800" spc="-10">
                <a:solidFill>
                  <a:srgbClr val="3B9D3B"/>
                </a:solidFill>
                <a:latin typeface="Calibri"/>
                <a:cs typeface="Calibri"/>
              </a:rPr>
              <a:t>representation </a:t>
            </a:r>
            <a:r>
              <a:rPr dirty="0" sz="1800">
                <a:solidFill>
                  <a:srgbClr val="3B9D3B"/>
                </a:solidFill>
                <a:latin typeface="Calibri"/>
                <a:cs typeface="Calibri"/>
              </a:rPr>
              <a:t>of  </a:t>
            </a:r>
            <a:r>
              <a:rPr dirty="0" sz="1800" spc="-5">
                <a:solidFill>
                  <a:srgbClr val="3B9D3B"/>
                </a:solidFill>
                <a:latin typeface="Calibri"/>
                <a:cs typeface="Calibri"/>
              </a:rPr>
              <a:t>the input </a:t>
            </a:r>
            <a:r>
              <a:rPr dirty="0" sz="1800" spc="-20">
                <a:solidFill>
                  <a:srgbClr val="3B9D3B"/>
                </a:solidFill>
                <a:latin typeface="Calibri"/>
                <a:cs typeface="Calibri"/>
              </a:rPr>
              <a:t>boxes </a:t>
            </a:r>
            <a:r>
              <a:rPr dirty="0" sz="1800" spc="-15">
                <a:solidFill>
                  <a:srgbClr val="3B9D3B"/>
                </a:solidFill>
                <a:latin typeface="Calibri"/>
                <a:cs typeface="Calibri"/>
              </a:rPr>
              <a:t>to </a:t>
            </a:r>
            <a:r>
              <a:rPr dirty="0" sz="1800" spc="-10">
                <a:solidFill>
                  <a:srgbClr val="3B9D3B"/>
                </a:solidFill>
                <a:latin typeface="Calibri"/>
                <a:cs typeface="Calibri"/>
              </a:rPr>
              <a:t>increase  expressiveness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44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9342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865" rIns="0" bIns="0" rtlCol="0" vert="horz">
            <a:spAutoFit/>
          </a:bodyPr>
          <a:lstStyle/>
          <a:p>
            <a:pPr marL="12700" marR="5080">
              <a:lnSpc>
                <a:spcPts val="2880"/>
              </a:lnSpc>
              <a:spcBef>
                <a:spcPts val="495"/>
              </a:spcBef>
            </a:pPr>
            <a:r>
              <a:rPr dirty="0" spc="-5" i="0">
                <a:latin typeface="Calibri"/>
                <a:cs typeface="Calibri"/>
              </a:rPr>
              <a:t>“</a:t>
            </a:r>
            <a:r>
              <a:rPr dirty="0" spc="-5"/>
              <a:t>What </a:t>
            </a:r>
            <a:r>
              <a:rPr dirty="0"/>
              <a:t>is </a:t>
            </a:r>
            <a:r>
              <a:rPr dirty="0" spc="-5"/>
              <a:t>the drug that </a:t>
            </a:r>
            <a:r>
              <a:rPr dirty="0" spc="-10"/>
              <a:t>causes </a:t>
            </a:r>
            <a:r>
              <a:rPr dirty="0" spc="-5"/>
              <a:t>Short </a:t>
            </a:r>
            <a:r>
              <a:rPr dirty="0"/>
              <a:t>of </a:t>
            </a:r>
            <a:r>
              <a:rPr dirty="0" spc="-5"/>
              <a:t>Breath and treats  </a:t>
            </a:r>
            <a:r>
              <a:rPr dirty="0" spc="-5" i="1"/>
              <a:t>disease </a:t>
            </a:r>
            <a:r>
              <a:rPr dirty="0" spc="-10" i="1"/>
              <a:t>associated </a:t>
            </a:r>
            <a:r>
              <a:rPr dirty="0" spc="-5" i="1"/>
              <a:t>with </a:t>
            </a:r>
            <a:r>
              <a:rPr dirty="0" spc="-10" i="1"/>
              <a:t>protein</a:t>
            </a:r>
            <a:r>
              <a:rPr dirty="0" spc="0" i="1"/>
              <a:t> </a:t>
            </a:r>
            <a:r>
              <a:rPr dirty="0" i="1"/>
              <a:t>ESR2?”</a:t>
            </a:r>
          </a:p>
        </p:txBody>
      </p:sp>
      <p:sp>
        <p:nvSpPr>
          <p:cNvPr id="4" name="object 4"/>
          <p:cNvSpPr/>
          <p:nvPr/>
        </p:nvSpPr>
        <p:spPr>
          <a:xfrm>
            <a:off x="1746025" y="556361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46025" y="556361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85109" y="510232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85109" y="510232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46054" y="450032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46054" y="450032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02743" y="4458715"/>
            <a:ext cx="423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ESR</a:t>
            </a:r>
            <a:r>
              <a:rPr dirty="0" sz="120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55136" y="5446267"/>
            <a:ext cx="558800" cy="3886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55244" marR="5080" indent="-43180">
              <a:lnSpc>
                <a:spcPts val="1420"/>
              </a:lnSpc>
              <a:spcBef>
                <a:spcPts val="160"/>
              </a:spcBef>
            </a:pPr>
            <a:r>
              <a:rPr dirty="0" sz="1200" spc="-5">
                <a:latin typeface="Arial"/>
                <a:cs typeface="Arial"/>
              </a:rPr>
              <a:t>Short</a:t>
            </a:r>
            <a:r>
              <a:rPr dirty="0" sz="1200" spc="-85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of  Breath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6261" y="4619244"/>
            <a:ext cx="495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sso</a:t>
            </a:r>
            <a:r>
              <a:rPr dirty="0" sz="14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7776" y="448360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1"/>
                </a:lnTo>
                <a:lnTo>
                  <a:pt x="83516" y="162610"/>
                </a:lnTo>
                <a:lnTo>
                  <a:pt x="116024" y="156221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3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57776" y="448360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24769" y="4485128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4" h="161925">
                <a:moveTo>
                  <a:pt x="783077" y="107949"/>
                </a:moveTo>
                <a:lnTo>
                  <a:pt x="782996" y="161925"/>
                </a:lnTo>
                <a:lnTo>
                  <a:pt x="891272" y="107990"/>
                </a:lnTo>
                <a:lnTo>
                  <a:pt x="810064" y="107990"/>
                </a:lnTo>
                <a:lnTo>
                  <a:pt x="783077" y="107949"/>
                </a:lnTo>
                <a:close/>
              </a:path>
              <a:path w="945514" h="161925">
                <a:moveTo>
                  <a:pt x="783158" y="53974"/>
                </a:moveTo>
                <a:lnTo>
                  <a:pt x="783077" y="107949"/>
                </a:lnTo>
                <a:lnTo>
                  <a:pt x="810064" y="107990"/>
                </a:lnTo>
                <a:lnTo>
                  <a:pt x="810146" y="54015"/>
                </a:lnTo>
                <a:lnTo>
                  <a:pt x="783158" y="53974"/>
                </a:lnTo>
                <a:close/>
              </a:path>
              <a:path w="945514" h="161925">
                <a:moveTo>
                  <a:pt x="783239" y="0"/>
                </a:moveTo>
                <a:lnTo>
                  <a:pt x="783158" y="53974"/>
                </a:lnTo>
                <a:lnTo>
                  <a:pt x="810146" y="54015"/>
                </a:lnTo>
                <a:lnTo>
                  <a:pt x="810064" y="107990"/>
                </a:lnTo>
                <a:lnTo>
                  <a:pt x="891272" y="107990"/>
                </a:lnTo>
                <a:lnTo>
                  <a:pt x="945043" y="81206"/>
                </a:lnTo>
                <a:lnTo>
                  <a:pt x="783239" y="0"/>
                </a:lnTo>
                <a:close/>
              </a:path>
              <a:path w="945514" h="161925">
                <a:moveTo>
                  <a:pt x="81" y="52793"/>
                </a:moveTo>
                <a:lnTo>
                  <a:pt x="0" y="106767"/>
                </a:lnTo>
                <a:lnTo>
                  <a:pt x="783077" y="107949"/>
                </a:lnTo>
                <a:lnTo>
                  <a:pt x="783158" y="53974"/>
                </a:lnTo>
                <a:lnTo>
                  <a:pt x="81" y="5279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971971" y="4617890"/>
            <a:ext cx="638175" cy="508634"/>
          </a:xfrm>
          <a:custGeom>
            <a:avLst/>
            <a:gdLst/>
            <a:ahLst/>
            <a:cxnLst/>
            <a:rect l="l" t="t" r="r" b="b"/>
            <a:pathLst>
              <a:path w="638175" h="508635">
                <a:moveTo>
                  <a:pt x="33310" y="0"/>
                </a:moveTo>
                <a:lnTo>
                  <a:pt x="0" y="42470"/>
                </a:lnTo>
                <a:lnTo>
                  <a:pt x="42471" y="75779"/>
                </a:lnTo>
                <a:lnTo>
                  <a:pt x="75780" y="33309"/>
                </a:lnTo>
                <a:lnTo>
                  <a:pt x="33310" y="0"/>
                </a:lnTo>
                <a:close/>
              </a:path>
              <a:path w="638175" h="508635">
                <a:moveTo>
                  <a:pt x="118250" y="66620"/>
                </a:moveTo>
                <a:lnTo>
                  <a:pt x="84941" y="109090"/>
                </a:lnTo>
                <a:lnTo>
                  <a:pt x="127411" y="142400"/>
                </a:lnTo>
                <a:lnTo>
                  <a:pt x="160721" y="99929"/>
                </a:lnTo>
                <a:lnTo>
                  <a:pt x="118250" y="66620"/>
                </a:lnTo>
                <a:close/>
              </a:path>
              <a:path w="638175" h="508635">
                <a:moveTo>
                  <a:pt x="203192" y="133240"/>
                </a:moveTo>
                <a:lnTo>
                  <a:pt x="169881" y="175710"/>
                </a:lnTo>
                <a:lnTo>
                  <a:pt x="212351" y="209020"/>
                </a:lnTo>
                <a:lnTo>
                  <a:pt x="245662" y="166550"/>
                </a:lnTo>
                <a:lnTo>
                  <a:pt x="203192" y="133240"/>
                </a:lnTo>
                <a:close/>
              </a:path>
              <a:path w="638175" h="508635">
                <a:moveTo>
                  <a:pt x="288132" y="199861"/>
                </a:moveTo>
                <a:lnTo>
                  <a:pt x="254821" y="242331"/>
                </a:lnTo>
                <a:lnTo>
                  <a:pt x="297293" y="275642"/>
                </a:lnTo>
                <a:lnTo>
                  <a:pt x="330602" y="233170"/>
                </a:lnTo>
                <a:lnTo>
                  <a:pt x="288132" y="199861"/>
                </a:lnTo>
                <a:close/>
              </a:path>
              <a:path w="638175" h="508635">
                <a:moveTo>
                  <a:pt x="373072" y="266481"/>
                </a:moveTo>
                <a:lnTo>
                  <a:pt x="339763" y="308951"/>
                </a:lnTo>
                <a:lnTo>
                  <a:pt x="382233" y="342262"/>
                </a:lnTo>
                <a:lnTo>
                  <a:pt x="415544" y="299791"/>
                </a:lnTo>
                <a:lnTo>
                  <a:pt x="373072" y="266481"/>
                </a:lnTo>
                <a:close/>
              </a:path>
              <a:path w="638175" h="508635">
                <a:moveTo>
                  <a:pt x="560153" y="344615"/>
                </a:moveTo>
                <a:lnTo>
                  <a:pt x="460222" y="472027"/>
                </a:lnTo>
                <a:lnTo>
                  <a:pt x="637599" y="508252"/>
                </a:lnTo>
                <a:lnTo>
                  <a:pt x="608237" y="446211"/>
                </a:lnTo>
                <a:lnTo>
                  <a:pt x="514769" y="446211"/>
                </a:lnTo>
                <a:lnTo>
                  <a:pt x="509644" y="442192"/>
                </a:lnTo>
                <a:lnTo>
                  <a:pt x="542954" y="399722"/>
                </a:lnTo>
                <a:lnTo>
                  <a:pt x="586234" y="399722"/>
                </a:lnTo>
                <a:lnTo>
                  <a:pt x="560153" y="344615"/>
                </a:lnTo>
                <a:close/>
              </a:path>
              <a:path w="638175" h="508635">
                <a:moveTo>
                  <a:pt x="542954" y="399722"/>
                </a:moveTo>
                <a:lnTo>
                  <a:pt x="509644" y="442192"/>
                </a:lnTo>
                <a:lnTo>
                  <a:pt x="514769" y="446211"/>
                </a:lnTo>
                <a:lnTo>
                  <a:pt x="548078" y="403741"/>
                </a:lnTo>
                <a:lnTo>
                  <a:pt x="542954" y="399722"/>
                </a:lnTo>
                <a:close/>
              </a:path>
              <a:path w="638175" h="508635">
                <a:moveTo>
                  <a:pt x="586234" y="399722"/>
                </a:moveTo>
                <a:lnTo>
                  <a:pt x="542954" y="399722"/>
                </a:lnTo>
                <a:lnTo>
                  <a:pt x="548078" y="403741"/>
                </a:lnTo>
                <a:lnTo>
                  <a:pt x="514769" y="446211"/>
                </a:lnTo>
                <a:lnTo>
                  <a:pt x="608237" y="446211"/>
                </a:lnTo>
                <a:lnTo>
                  <a:pt x="586234" y="399722"/>
                </a:lnTo>
                <a:close/>
              </a:path>
              <a:path w="638175" h="508635">
                <a:moveTo>
                  <a:pt x="458014" y="333101"/>
                </a:moveTo>
                <a:lnTo>
                  <a:pt x="424703" y="375572"/>
                </a:lnTo>
                <a:lnTo>
                  <a:pt x="467173" y="408882"/>
                </a:lnTo>
                <a:lnTo>
                  <a:pt x="500484" y="366412"/>
                </a:lnTo>
                <a:lnTo>
                  <a:pt x="458014" y="3331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913058" y="5563957"/>
            <a:ext cx="955675" cy="161925"/>
          </a:xfrm>
          <a:custGeom>
            <a:avLst/>
            <a:gdLst/>
            <a:ahLst/>
            <a:cxnLst/>
            <a:rect l="l" t="t" r="r" b="b"/>
            <a:pathLst>
              <a:path w="955675" h="161925">
                <a:moveTo>
                  <a:pt x="793351" y="107949"/>
                </a:moveTo>
                <a:lnTo>
                  <a:pt x="793351" y="161924"/>
                </a:lnTo>
                <a:lnTo>
                  <a:pt x="901301" y="107949"/>
                </a:lnTo>
                <a:lnTo>
                  <a:pt x="793351" y="107949"/>
                </a:lnTo>
                <a:close/>
              </a:path>
              <a:path w="955675" h="161925">
                <a:moveTo>
                  <a:pt x="793351" y="53974"/>
                </a:moveTo>
                <a:lnTo>
                  <a:pt x="793351" y="107949"/>
                </a:lnTo>
                <a:lnTo>
                  <a:pt x="820338" y="107949"/>
                </a:lnTo>
                <a:lnTo>
                  <a:pt x="820338" y="53974"/>
                </a:lnTo>
                <a:lnTo>
                  <a:pt x="793351" y="53974"/>
                </a:lnTo>
                <a:close/>
              </a:path>
              <a:path w="955675" h="161925">
                <a:moveTo>
                  <a:pt x="793351" y="0"/>
                </a:moveTo>
                <a:lnTo>
                  <a:pt x="793351" y="53974"/>
                </a:lnTo>
                <a:lnTo>
                  <a:pt x="820338" y="53974"/>
                </a:lnTo>
                <a:lnTo>
                  <a:pt x="820338" y="107949"/>
                </a:lnTo>
                <a:lnTo>
                  <a:pt x="901303" y="107948"/>
                </a:lnTo>
                <a:lnTo>
                  <a:pt x="955276" y="80962"/>
                </a:lnTo>
                <a:lnTo>
                  <a:pt x="793351" y="0"/>
                </a:lnTo>
                <a:close/>
              </a:path>
              <a:path w="955675" h="161925">
                <a:moveTo>
                  <a:pt x="0" y="53973"/>
                </a:moveTo>
                <a:lnTo>
                  <a:pt x="0" y="107948"/>
                </a:lnTo>
                <a:lnTo>
                  <a:pt x="793351" y="107949"/>
                </a:lnTo>
                <a:lnTo>
                  <a:pt x="793351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868334" y="556361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868334" y="556361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997394" y="5241126"/>
            <a:ext cx="612775" cy="370205"/>
          </a:xfrm>
          <a:custGeom>
            <a:avLst/>
            <a:gdLst/>
            <a:ahLst/>
            <a:cxnLst/>
            <a:rect l="l" t="t" r="r" b="b"/>
            <a:pathLst>
              <a:path w="612775" h="370204">
                <a:moveTo>
                  <a:pt x="46720" y="295915"/>
                </a:moveTo>
                <a:lnTo>
                  <a:pt x="0" y="322940"/>
                </a:lnTo>
                <a:lnTo>
                  <a:pt x="27025" y="369662"/>
                </a:lnTo>
                <a:lnTo>
                  <a:pt x="73747" y="342635"/>
                </a:lnTo>
                <a:lnTo>
                  <a:pt x="46720" y="295915"/>
                </a:lnTo>
                <a:close/>
              </a:path>
              <a:path w="612775" h="370204">
                <a:moveTo>
                  <a:pt x="140163" y="241862"/>
                </a:moveTo>
                <a:lnTo>
                  <a:pt x="93442" y="268888"/>
                </a:lnTo>
                <a:lnTo>
                  <a:pt x="120468" y="315610"/>
                </a:lnTo>
                <a:lnTo>
                  <a:pt x="167189" y="288583"/>
                </a:lnTo>
                <a:lnTo>
                  <a:pt x="140163" y="241862"/>
                </a:lnTo>
                <a:close/>
              </a:path>
              <a:path w="612775" h="370204">
                <a:moveTo>
                  <a:pt x="233606" y="187810"/>
                </a:moveTo>
                <a:lnTo>
                  <a:pt x="186884" y="214835"/>
                </a:lnTo>
                <a:lnTo>
                  <a:pt x="213911" y="261557"/>
                </a:lnTo>
                <a:lnTo>
                  <a:pt x="260631" y="234530"/>
                </a:lnTo>
                <a:lnTo>
                  <a:pt x="233606" y="187810"/>
                </a:lnTo>
                <a:close/>
              </a:path>
              <a:path w="612775" h="370204">
                <a:moveTo>
                  <a:pt x="327049" y="133757"/>
                </a:moveTo>
                <a:lnTo>
                  <a:pt x="280327" y="160783"/>
                </a:lnTo>
                <a:lnTo>
                  <a:pt x="307353" y="207505"/>
                </a:lnTo>
                <a:lnTo>
                  <a:pt x="354074" y="180478"/>
                </a:lnTo>
                <a:lnTo>
                  <a:pt x="327049" y="133757"/>
                </a:lnTo>
                <a:close/>
              </a:path>
              <a:path w="612775" h="370204">
                <a:moveTo>
                  <a:pt x="420491" y="79705"/>
                </a:moveTo>
                <a:lnTo>
                  <a:pt x="373769" y="106730"/>
                </a:lnTo>
                <a:lnTo>
                  <a:pt x="400796" y="153452"/>
                </a:lnTo>
                <a:lnTo>
                  <a:pt x="447517" y="126425"/>
                </a:lnTo>
                <a:lnTo>
                  <a:pt x="420491" y="79705"/>
                </a:lnTo>
                <a:close/>
              </a:path>
              <a:path w="612775" h="370204">
                <a:moveTo>
                  <a:pt x="612176" y="0"/>
                </a:moveTo>
                <a:lnTo>
                  <a:pt x="431473" y="10996"/>
                </a:lnTo>
                <a:lnTo>
                  <a:pt x="512551" y="151161"/>
                </a:lnTo>
                <a:lnTo>
                  <a:pt x="546665" y="99400"/>
                </a:lnTo>
                <a:lnTo>
                  <a:pt x="494239" y="99400"/>
                </a:lnTo>
                <a:lnTo>
                  <a:pt x="467212" y="52678"/>
                </a:lnTo>
                <a:lnTo>
                  <a:pt x="481860" y="44204"/>
                </a:lnTo>
                <a:lnTo>
                  <a:pt x="583043" y="44204"/>
                </a:lnTo>
                <a:lnTo>
                  <a:pt x="612176" y="0"/>
                </a:lnTo>
                <a:close/>
              </a:path>
              <a:path w="612775" h="370204">
                <a:moveTo>
                  <a:pt x="481860" y="44204"/>
                </a:moveTo>
                <a:lnTo>
                  <a:pt x="467212" y="52678"/>
                </a:lnTo>
                <a:lnTo>
                  <a:pt x="494239" y="99400"/>
                </a:lnTo>
                <a:lnTo>
                  <a:pt x="508886" y="90926"/>
                </a:lnTo>
                <a:lnTo>
                  <a:pt x="481860" y="44204"/>
                </a:lnTo>
                <a:close/>
              </a:path>
              <a:path w="612775" h="370204">
                <a:moveTo>
                  <a:pt x="583043" y="44204"/>
                </a:moveTo>
                <a:lnTo>
                  <a:pt x="481860" y="44204"/>
                </a:lnTo>
                <a:lnTo>
                  <a:pt x="508886" y="90926"/>
                </a:lnTo>
                <a:lnTo>
                  <a:pt x="494239" y="99400"/>
                </a:lnTo>
                <a:lnTo>
                  <a:pt x="546665" y="99400"/>
                </a:lnTo>
                <a:lnTo>
                  <a:pt x="583043" y="44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004649" y="5384291"/>
            <a:ext cx="8191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">
                <a:solidFill>
                  <a:srgbClr val="BF9000"/>
                </a:solidFill>
                <a:latin typeface="Arial"/>
                <a:cs typeface="Arial"/>
              </a:rPr>
              <a:t>C</a:t>
            </a:r>
            <a:r>
              <a:rPr dirty="0" sz="1400" spc="-30">
                <a:solidFill>
                  <a:srgbClr val="BF9000"/>
                </a:solidFill>
                <a:latin typeface="Arial"/>
                <a:cs typeface="Arial"/>
              </a:rPr>
              <a:t>au</a:t>
            </a: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s</a:t>
            </a:r>
            <a:r>
              <a:rPr dirty="0" sz="1400" spc="-30">
                <a:solidFill>
                  <a:srgbClr val="BF9000"/>
                </a:solidFill>
                <a:latin typeface="Arial"/>
                <a:cs typeface="Arial"/>
              </a:rPr>
              <a:t>ed</a:t>
            </a:r>
            <a:r>
              <a:rPr dirty="0" sz="1400" spc="-35">
                <a:solidFill>
                  <a:srgbClr val="BF9000"/>
                </a:solidFill>
                <a:latin typeface="Arial"/>
                <a:cs typeface="Arial"/>
              </a:rPr>
              <a:t>B</a:t>
            </a:r>
            <a:r>
              <a:rPr dirty="0" sz="1400">
                <a:solidFill>
                  <a:srgbClr val="BF9000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41436" y="4649723"/>
            <a:ext cx="8128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85070" y="4637532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85070" y="5460491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628192" y="5150006"/>
            <a:ext cx="1048423" cy="4246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312086" y="4131564"/>
            <a:ext cx="8191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479249"/>
                </a:solidFill>
                <a:latin typeface="Arial"/>
                <a:cs typeface="Arial"/>
              </a:rPr>
              <a:t>T</a:t>
            </a:r>
            <a:r>
              <a:rPr dirty="0" sz="1400" spc="-20">
                <a:solidFill>
                  <a:srgbClr val="479249"/>
                </a:solidFill>
                <a:latin typeface="Arial"/>
                <a:cs typeface="Arial"/>
              </a:rPr>
              <a:t>r</a:t>
            </a:r>
            <a:r>
              <a:rPr dirty="0" sz="1400" spc="-30">
                <a:solidFill>
                  <a:srgbClr val="479249"/>
                </a:solidFill>
                <a:latin typeface="Arial"/>
                <a:cs typeface="Arial"/>
              </a:rPr>
              <a:t>ea</a:t>
            </a:r>
            <a:r>
              <a:rPr dirty="0" sz="1400" spc="-15">
                <a:solidFill>
                  <a:srgbClr val="479249"/>
                </a:solidFill>
                <a:latin typeface="Arial"/>
                <a:cs typeface="Arial"/>
              </a:rPr>
              <a:t>t</a:t>
            </a:r>
            <a:r>
              <a:rPr dirty="0" sz="1400" spc="-30">
                <a:solidFill>
                  <a:srgbClr val="479249"/>
                </a:solidFill>
                <a:latin typeface="Arial"/>
                <a:cs typeface="Arial"/>
              </a:rPr>
              <a:t>ed</a:t>
            </a:r>
            <a:r>
              <a:rPr dirty="0" sz="1400" spc="-35">
                <a:solidFill>
                  <a:srgbClr val="479249"/>
                </a:solidFill>
                <a:latin typeface="Arial"/>
                <a:cs typeface="Arial"/>
              </a:rPr>
              <a:t>B</a:t>
            </a:r>
            <a:r>
              <a:rPr dirty="0" sz="1400">
                <a:solidFill>
                  <a:srgbClr val="479249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911903" y="5016164"/>
            <a:ext cx="1680210" cy="567690"/>
          </a:xfrm>
          <a:custGeom>
            <a:avLst/>
            <a:gdLst/>
            <a:ahLst/>
            <a:cxnLst/>
            <a:rect l="l" t="t" r="r" b="b"/>
            <a:pathLst>
              <a:path w="1680209" h="567689">
                <a:moveTo>
                  <a:pt x="7825" y="0"/>
                </a:moveTo>
                <a:lnTo>
                  <a:pt x="0" y="24164"/>
                </a:lnTo>
                <a:lnTo>
                  <a:pt x="72494" y="47640"/>
                </a:lnTo>
                <a:lnTo>
                  <a:pt x="80318" y="23475"/>
                </a:lnTo>
                <a:lnTo>
                  <a:pt x="7825" y="0"/>
                </a:lnTo>
                <a:close/>
              </a:path>
              <a:path w="1680209" h="567689">
                <a:moveTo>
                  <a:pt x="104482" y="31300"/>
                </a:moveTo>
                <a:lnTo>
                  <a:pt x="96658" y="55464"/>
                </a:lnTo>
                <a:lnTo>
                  <a:pt x="169152" y="78940"/>
                </a:lnTo>
                <a:lnTo>
                  <a:pt x="176977" y="54776"/>
                </a:lnTo>
                <a:lnTo>
                  <a:pt x="104482" y="31300"/>
                </a:lnTo>
                <a:close/>
              </a:path>
              <a:path w="1680209" h="567689">
                <a:moveTo>
                  <a:pt x="201141" y="62602"/>
                </a:moveTo>
                <a:lnTo>
                  <a:pt x="193316" y="86766"/>
                </a:lnTo>
                <a:lnTo>
                  <a:pt x="265809" y="110241"/>
                </a:lnTo>
                <a:lnTo>
                  <a:pt x="273635" y="86076"/>
                </a:lnTo>
                <a:lnTo>
                  <a:pt x="201141" y="62602"/>
                </a:lnTo>
                <a:close/>
              </a:path>
              <a:path w="1680209" h="567689">
                <a:moveTo>
                  <a:pt x="297799" y="93902"/>
                </a:moveTo>
                <a:lnTo>
                  <a:pt x="289975" y="118066"/>
                </a:lnTo>
                <a:lnTo>
                  <a:pt x="362468" y="141542"/>
                </a:lnTo>
                <a:lnTo>
                  <a:pt x="370293" y="117377"/>
                </a:lnTo>
                <a:lnTo>
                  <a:pt x="297799" y="93902"/>
                </a:lnTo>
                <a:close/>
              </a:path>
              <a:path w="1680209" h="567689">
                <a:moveTo>
                  <a:pt x="394458" y="125202"/>
                </a:moveTo>
                <a:lnTo>
                  <a:pt x="386632" y="149367"/>
                </a:lnTo>
                <a:lnTo>
                  <a:pt x="459126" y="172843"/>
                </a:lnTo>
                <a:lnTo>
                  <a:pt x="466952" y="148678"/>
                </a:lnTo>
                <a:lnTo>
                  <a:pt x="394458" y="125202"/>
                </a:lnTo>
                <a:close/>
              </a:path>
              <a:path w="1680209" h="567689">
                <a:moveTo>
                  <a:pt x="491116" y="156503"/>
                </a:moveTo>
                <a:lnTo>
                  <a:pt x="483290" y="180667"/>
                </a:lnTo>
                <a:lnTo>
                  <a:pt x="555785" y="204143"/>
                </a:lnTo>
                <a:lnTo>
                  <a:pt x="563610" y="179979"/>
                </a:lnTo>
                <a:lnTo>
                  <a:pt x="491116" y="156503"/>
                </a:lnTo>
                <a:close/>
              </a:path>
              <a:path w="1680209" h="567689">
                <a:moveTo>
                  <a:pt x="587775" y="187805"/>
                </a:moveTo>
                <a:lnTo>
                  <a:pt x="579949" y="211969"/>
                </a:lnTo>
                <a:lnTo>
                  <a:pt x="652443" y="235444"/>
                </a:lnTo>
                <a:lnTo>
                  <a:pt x="660267" y="211279"/>
                </a:lnTo>
                <a:lnTo>
                  <a:pt x="587775" y="187805"/>
                </a:lnTo>
                <a:close/>
              </a:path>
              <a:path w="1680209" h="567689">
                <a:moveTo>
                  <a:pt x="684433" y="219105"/>
                </a:moveTo>
                <a:lnTo>
                  <a:pt x="676607" y="243269"/>
                </a:lnTo>
                <a:lnTo>
                  <a:pt x="749101" y="266745"/>
                </a:lnTo>
                <a:lnTo>
                  <a:pt x="756926" y="242580"/>
                </a:lnTo>
                <a:lnTo>
                  <a:pt x="684433" y="219105"/>
                </a:lnTo>
                <a:close/>
              </a:path>
              <a:path w="1680209" h="567689">
                <a:moveTo>
                  <a:pt x="781091" y="250405"/>
                </a:moveTo>
                <a:lnTo>
                  <a:pt x="773266" y="274570"/>
                </a:lnTo>
                <a:lnTo>
                  <a:pt x="845760" y="298046"/>
                </a:lnTo>
                <a:lnTo>
                  <a:pt x="853584" y="273881"/>
                </a:lnTo>
                <a:lnTo>
                  <a:pt x="781091" y="250405"/>
                </a:lnTo>
                <a:close/>
              </a:path>
              <a:path w="1680209" h="567689">
                <a:moveTo>
                  <a:pt x="877749" y="281706"/>
                </a:moveTo>
                <a:lnTo>
                  <a:pt x="869924" y="305870"/>
                </a:lnTo>
                <a:lnTo>
                  <a:pt x="942417" y="329346"/>
                </a:lnTo>
                <a:lnTo>
                  <a:pt x="950243" y="305182"/>
                </a:lnTo>
                <a:lnTo>
                  <a:pt x="877749" y="281706"/>
                </a:lnTo>
                <a:close/>
              </a:path>
              <a:path w="1680209" h="567689">
                <a:moveTo>
                  <a:pt x="974407" y="313008"/>
                </a:moveTo>
                <a:lnTo>
                  <a:pt x="966583" y="337172"/>
                </a:lnTo>
                <a:lnTo>
                  <a:pt x="1039075" y="360646"/>
                </a:lnTo>
                <a:lnTo>
                  <a:pt x="1046901" y="336482"/>
                </a:lnTo>
                <a:lnTo>
                  <a:pt x="974407" y="313008"/>
                </a:lnTo>
                <a:close/>
              </a:path>
              <a:path w="1680209" h="567689">
                <a:moveTo>
                  <a:pt x="1071065" y="344308"/>
                </a:moveTo>
                <a:lnTo>
                  <a:pt x="1063241" y="368472"/>
                </a:lnTo>
                <a:lnTo>
                  <a:pt x="1135734" y="391948"/>
                </a:lnTo>
                <a:lnTo>
                  <a:pt x="1143560" y="367783"/>
                </a:lnTo>
                <a:lnTo>
                  <a:pt x="1071065" y="344308"/>
                </a:lnTo>
                <a:close/>
              </a:path>
              <a:path w="1680209" h="567689">
                <a:moveTo>
                  <a:pt x="1167724" y="375608"/>
                </a:moveTo>
                <a:lnTo>
                  <a:pt x="1159899" y="399773"/>
                </a:lnTo>
                <a:lnTo>
                  <a:pt x="1232392" y="423249"/>
                </a:lnTo>
                <a:lnTo>
                  <a:pt x="1240218" y="399084"/>
                </a:lnTo>
                <a:lnTo>
                  <a:pt x="1167724" y="375608"/>
                </a:lnTo>
                <a:close/>
              </a:path>
              <a:path w="1680209" h="567689">
                <a:moveTo>
                  <a:pt x="1264382" y="406909"/>
                </a:moveTo>
                <a:lnTo>
                  <a:pt x="1256557" y="431073"/>
                </a:lnTo>
                <a:lnTo>
                  <a:pt x="1329051" y="454549"/>
                </a:lnTo>
                <a:lnTo>
                  <a:pt x="1336876" y="430385"/>
                </a:lnTo>
                <a:lnTo>
                  <a:pt x="1264382" y="406909"/>
                </a:lnTo>
                <a:close/>
              </a:path>
              <a:path w="1680209" h="567689">
                <a:moveTo>
                  <a:pt x="1361041" y="438210"/>
                </a:moveTo>
                <a:lnTo>
                  <a:pt x="1353215" y="462375"/>
                </a:lnTo>
                <a:lnTo>
                  <a:pt x="1425709" y="485849"/>
                </a:lnTo>
                <a:lnTo>
                  <a:pt x="1433535" y="461685"/>
                </a:lnTo>
                <a:lnTo>
                  <a:pt x="1361041" y="438210"/>
                </a:lnTo>
                <a:close/>
              </a:path>
              <a:path w="1680209" h="567689">
                <a:moveTo>
                  <a:pt x="1457699" y="469511"/>
                </a:moveTo>
                <a:lnTo>
                  <a:pt x="1449873" y="493675"/>
                </a:lnTo>
                <a:lnTo>
                  <a:pt x="1522368" y="517151"/>
                </a:lnTo>
                <a:lnTo>
                  <a:pt x="1530192" y="492986"/>
                </a:lnTo>
                <a:lnTo>
                  <a:pt x="1457699" y="469511"/>
                </a:lnTo>
                <a:close/>
              </a:path>
              <a:path w="1680209" h="567689">
                <a:moveTo>
                  <a:pt x="1603481" y="543418"/>
                </a:moveTo>
                <a:lnTo>
                  <a:pt x="1595655" y="567582"/>
                </a:lnTo>
                <a:lnTo>
                  <a:pt x="1679887" y="554810"/>
                </a:lnTo>
                <a:lnTo>
                  <a:pt x="1672277" y="547330"/>
                </a:lnTo>
                <a:lnTo>
                  <a:pt x="1615563" y="547330"/>
                </a:lnTo>
                <a:lnTo>
                  <a:pt x="1603481" y="543418"/>
                </a:lnTo>
                <a:close/>
              </a:path>
              <a:path w="1680209" h="567689">
                <a:moveTo>
                  <a:pt x="1611306" y="519253"/>
                </a:moveTo>
                <a:lnTo>
                  <a:pt x="1603481" y="543418"/>
                </a:lnTo>
                <a:lnTo>
                  <a:pt x="1615563" y="547330"/>
                </a:lnTo>
                <a:lnTo>
                  <a:pt x="1623388" y="523166"/>
                </a:lnTo>
                <a:lnTo>
                  <a:pt x="1611306" y="519253"/>
                </a:lnTo>
                <a:close/>
              </a:path>
              <a:path w="1680209" h="567689">
                <a:moveTo>
                  <a:pt x="1619131" y="495089"/>
                </a:moveTo>
                <a:lnTo>
                  <a:pt x="1611306" y="519253"/>
                </a:lnTo>
                <a:lnTo>
                  <a:pt x="1623388" y="523166"/>
                </a:lnTo>
                <a:lnTo>
                  <a:pt x="1615563" y="547330"/>
                </a:lnTo>
                <a:lnTo>
                  <a:pt x="1672277" y="547330"/>
                </a:lnTo>
                <a:lnTo>
                  <a:pt x="1619131" y="495089"/>
                </a:lnTo>
                <a:close/>
              </a:path>
              <a:path w="1680209" h="567689">
                <a:moveTo>
                  <a:pt x="1554358" y="500811"/>
                </a:moveTo>
                <a:lnTo>
                  <a:pt x="1546532" y="524976"/>
                </a:lnTo>
                <a:lnTo>
                  <a:pt x="1603481" y="543418"/>
                </a:lnTo>
                <a:lnTo>
                  <a:pt x="1611306" y="519253"/>
                </a:lnTo>
                <a:lnTo>
                  <a:pt x="1554358" y="500811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656123" y="4267771"/>
            <a:ext cx="2020570" cy="389890"/>
          </a:xfrm>
          <a:custGeom>
            <a:avLst/>
            <a:gdLst/>
            <a:ahLst/>
            <a:cxnLst/>
            <a:rect l="l" t="t" r="r" b="b"/>
            <a:pathLst>
              <a:path w="2020570" h="389889">
                <a:moveTo>
                  <a:pt x="4372" y="0"/>
                </a:moveTo>
                <a:lnTo>
                  <a:pt x="0" y="25020"/>
                </a:lnTo>
                <a:lnTo>
                  <a:pt x="75062" y="38139"/>
                </a:lnTo>
                <a:lnTo>
                  <a:pt x="79434" y="13117"/>
                </a:lnTo>
                <a:lnTo>
                  <a:pt x="4372" y="0"/>
                </a:lnTo>
                <a:close/>
              </a:path>
              <a:path w="2020570" h="389889">
                <a:moveTo>
                  <a:pt x="104456" y="17490"/>
                </a:moveTo>
                <a:lnTo>
                  <a:pt x="100083" y="42511"/>
                </a:lnTo>
                <a:lnTo>
                  <a:pt x="175145" y="55629"/>
                </a:lnTo>
                <a:lnTo>
                  <a:pt x="179518" y="30609"/>
                </a:lnTo>
                <a:lnTo>
                  <a:pt x="104456" y="17490"/>
                </a:lnTo>
                <a:close/>
              </a:path>
              <a:path w="2020570" h="389889">
                <a:moveTo>
                  <a:pt x="204538" y="34982"/>
                </a:moveTo>
                <a:lnTo>
                  <a:pt x="200165" y="60002"/>
                </a:lnTo>
                <a:lnTo>
                  <a:pt x="275228" y="73120"/>
                </a:lnTo>
                <a:lnTo>
                  <a:pt x="279600" y="48099"/>
                </a:lnTo>
                <a:lnTo>
                  <a:pt x="204538" y="34982"/>
                </a:lnTo>
                <a:close/>
              </a:path>
              <a:path w="2020570" h="389889">
                <a:moveTo>
                  <a:pt x="304622" y="52472"/>
                </a:moveTo>
                <a:lnTo>
                  <a:pt x="300249" y="77492"/>
                </a:lnTo>
                <a:lnTo>
                  <a:pt x="375311" y="90611"/>
                </a:lnTo>
                <a:lnTo>
                  <a:pt x="379684" y="65590"/>
                </a:lnTo>
                <a:lnTo>
                  <a:pt x="304622" y="52472"/>
                </a:lnTo>
                <a:close/>
              </a:path>
              <a:path w="2020570" h="389889">
                <a:moveTo>
                  <a:pt x="404704" y="69963"/>
                </a:moveTo>
                <a:lnTo>
                  <a:pt x="400331" y="94984"/>
                </a:lnTo>
                <a:lnTo>
                  <a:pt x="475395" y="108102"/>
                </a:lnTo>
                <a:lnTo>
                  <a:pt x="479767" y="83082"/>
                </a:lnTo>
                <a:lnTo>
                  <a:pt x="404704" y="69963"/>
                </a:lnTo>
                <a:close/>
              </a:path>
              <a:path w="2020570" h="389889">
                <a:moveTo>
                  <a:pt x="504788" y="87454"/>
                </a:moveTo>
                <a:lnTo>
                  <a:pt x="500415" y="112475"/>
                </a:lnTo>
                <a:lnTo>
                  <a:pt x="575477" y="125592"/>
                </a:lnTo>
                <a:lnTo>
                  <a:pt x="579850" y="100572"/>
                </a:lnTo>
                <a:lnTo>
                  <a:pt x="504788" y="87454"/>
                </a:lnTo>
                <a:close/>
              </a:path>
              <a:path w="2020570" h="389889">
                <a:moveTo>
                  <a:pt x="604871" y="104945"/>
                </a:moveTo>
                <a:lnTo>
                  <a:pt x="600499" y="129965"/>
                </a:lnTo>
                <a:lnTo>
                  <a:pt x="675561" y="143084"/>
                </a:lnTo>
                <a:lnTo>
                  <a:pt x="679933" y="118063"/>
                </a:lnTo>
                <a:lnTo>
                  <a:pt x="604871" y="104945"/>
                </a:lnTo>
                <a:close/>
              </a:path>
              <a:path w="2020570" h="389889">
                <a:moveTo>
                  <a:pt x="704954" y="122435"/>
                </a:moveTo>
                <a:lnTo>
                  <a:pt x="700581" y="147457"/>
                </a:lnTo>
                <a:lnTo>
                  <a:pt x="775643" y="160574"/>
                </a:lnTo>
                <a:lnTo>
                  <a:pt x="780016" y="135554"/>
                </a:lnTo>
                <a:lnTo>
                  <a:pt x="704954" y="122435"/>
                </a:lnTo>
                <a:close/>
              </a:path>
              <a:path w="2020570" h="389889">
                <a:moveTo>
                  <a:pt x="805037" y="139927"/>
                </a:moveTo>
                <a:lnTo>
                  <a:pt x="800665" y="164947"/>
                </a:lnTo>
                <a:lnTo>
                  <a:pt x="875727" y="178065"/>
                </a:lnTo>
                <a:lnTo>
                  <a:pt x="880099" y="153045"/>
                </a:lnTo>
                <a:lnTo>
                  <a:pt x="805037" y="139927"/>
                </a:lnTo>
                <a:close/>
              </a:path>
              <a:path w="2020570" h="389889">
                <a:moveTo>
                  <a:pt x="905120" y="157417"/>
                </a:moveTo>
                <a:lnTo>
                  <a:pt x="900747" y="182438"/>
                </a:lnTo>
                <a:lnTo>
                  <a:pt x="975810" y="195557"/>
                </a:lnTo>
                <a:lnTo>
                  <a:pt x="980183" y="170535"/>
                </a:lnTo>
                <a:lnTo>
                  <a:pt x="905120" y="157417"/>
                </a:lnTo>
                <a:close/>
              </a:path>
              <a:path w="2020570" h="389889">
                <a:moveTo>
                  <a:pt x="1005203" y="174908"/>
                </a:moveTo>
                <a:lnTo>
                  <a:pt x="1000831" y="199929"/>
                </a:lnTo>
                <a:lnTo>
                  <a:pt x="1075893" y="213047"/>
                </a:lnTo>
                <a:lnTo>
                  <a:pt x="1080265" y="188027"/>
                </a:lnTo>
                <a:lnTo>
                  <a:pt x="1005203" y="174908"/>
                </a:lnTo>
                <a:close/>
              </a:path>
              <a:path w="2020570" h="389889">
                <a:moveTo>
                  <a:pt x="1105287" y="192399"/>
                </a:moveTo>
                <a:lnTo>
                  <a:pt x="1100913" y="217420"/>
                </a:lnTo>
                <a:lnTo>
                  <a:pt x="1175976" y="230538"/>
                </a:lnTo>
                <a:lnTo>
                  <a:pt x="1180349" y="205517"/>
                </a:lnTo>
                <a:lnTo>
                  <a:pt x="1105287" y="192399"/>
                </a:lnTo>
                <a:close/>
              </a:path>
              <a:path w="2020570" h="389889">
                <a:moveTo>
                  <a:pt x="1205369" y="209890"/>
                </a:moveTo>
                <a:lnTo>
                  <a:pt x="1200997" y="234910"/>
                </a:lnTo>
                <a:lnTo>
                  <a:pt x="1276059" y="248029"/>
                </a:lnTo>
                <a:lnTo>
                  <a:pt x="1280431" y="223008"/>
                </a:lnTo>
                <a:lnTo>
                  <a:pt x="1205369" y="209890"/>
                </a:lnTo>
                <a:close/>
              </a:path>
              <a:path w="2020570" h="389889">
                <a:moveTo>
                  <a:pt x="1305453" y="227380"/>
                </a:moveTo>
                <a:lnTo>
                  <a:pt x="1301080" y="252402"/>
                </a:lnTo>
                <a:lnTo>
                  <a:pt x="1376142" y="265520"/>
                </a:lnTo>
                <a:lnTo>
                  <a:pt x="1380515" y="240499"/>
                </a:lnTo>
                <a:lnTo>
                  <a:pt x="1305453" y="227380"/>
                </a:lnTo>
                <a:close/>
              </a:path>
              <a:path w="2020570" h="389889">
                <a:moveTo>
                  <a:pt x="1405535" y="244872"/>
                </a:moveTo>
                <a:lnTo>
                  <a:pt x="1401163" y="269892"/>
                </a:lnTo>
                <a:lnTo>
                  <a:pt x="1476226" y="283010"/>
                </a:lnTo>
                <a:lnTo>
                  <a:pt x="1480599" y="257990"/>
                </a:lnTo>
                <a:lnTo>
                  <a:pt x="1405535" y="244872"/>
                </a:lnTo>
                <a:close/>
              </a:path>
              <a:path w="2020570" h="389889">
                <a:moveTo>
                  <a:pt x="1505619" y="262362"/>
                </a:moveTo>
                <a:lnTo>
                  <a:pt x="1501246" y="287383"/>
                </a:lnTo>
                <a:lnTo>
                  <a:pt x="1576308" y="300502"/>
                </a:lnTo>
                <a:lnTo>
                  <a:pt x="1580681" y="275480"/>
                </a:lnTo>
                <a:lnTo>
                  <a:pt x="1505619" y="262362"/>
                </a:lnTo>
                <a:close/>
              </a:path>
              <a:path w="2020570" h="389889">
                <a:moveTo>
                  <a:pt x="1605702" y="279853"/>
                </a:moveTo>
                <a:lnTo>
                  <a:pt x="1601330" y="304874"/>
                </a:lnTo>
                <a:lnTo>
                  <a:pt x="1676392" y="317992"/>
                </a:lnTo>
                <a:lnTo>
                  <a:pt x="1680764" y="292972"/>
                </a:lnTo>
                <a:lnTo>
                  <a:pt x="1605702" y="279853"/>
                </a:lnTo>
                <a:close/>
              </a:path>
              <a:path w="2020570" h="389889">
                <a:moveTo>
                  <a:pt x="1705785" y="297345"/>
                </a:moveTo>
                <a:lnTo>
                  <a:pt x="1701412" y="322365"/>
                </a:lnTo>
                <a:lnTo>
                  <a:pt x="1776474" y="335483"/>
                </a:lnTo>
                <a:lnTo>
                  <a:pt x="1780847" y="310462"/>
                </a:lnTo>
                <a:lnTo>
                  <a:pt x="1705785" y="297345"/>
                </a:lnTo>
                <a:close/>
              </a:path>
              <a:path w="2020570" h="389889">
                <a:moveTo>
                  <a:pt x="1805868" y="314835"/>
                </a:moveTo>
                <a:lnTo>
                  <a:pt x="1801496" y="339855"/>
                </a:lnTo>
                <a:lnTo>
                  <a:pt x="1876558" y="352974"/>
                </a:lnTo>
                <a:lnTo>
                  <a:pt x="1880930" y="327953"/>
                </a:lnTo>
                <a:lnTo>
                  <a:pt x="1805868" y="314835"/>
                </a:lnTo>
                <a:close/>
              </a:path>
              <a:path w="2020570" h="389889">
                <a:moveTo>
                  <a:pt x="1943243" y="364628"/>
                </a:moveTo>
                <a:lnTo>
                  <a:pt x="1938870" y="389649"/>
                </a:lnTo>
                <a:lnTo>
                  <a:pt x="2015214" y="366815"/>
                </a:lnTo>
                <a:lnTo>
                  <a:pt x="1955756" y="366815"/>
                </a:lnTo>
                <a:lnTo>
                  <a:pt x="1943243" y="364628"/>
                </a:lnTo>
                <a:close/>
              </a:path>
              <a:path w="2020570" h="389889">
                <a:moveTo>
                  <a:pt x="1947616" y="339608"/>
                </a:moveTo>
                <a:lnTo>
                  <a:pt x="1943243" y="364628"/>
                </a:lnTo>
                <a:lnTo>
                  <a:pt x="1955756" y="366815"/>
                </a:lnTo>
                <a:lnTo>
                  <a:pt x="1960129" y="341795"/>
                </a:lnTo>
                <a:lnTo>
                  <a:pt x="1947616" y="339608"/>
                </a:lnTo>
                <a:close/>
              </a:path>
              <a:path w="2020570" h="389889">
                <a:moveTo>
                  <a:pt x="1951988" y="314586"/>
                </a:moveTo>
                <a:lnTo>
                  <a:pt x="1947616" y="339608"/>
                </a:lnTo>
                <a:lnTo>
                  <a:pt x="1960129" y="341795"/>
                </a:lnTo>
                <a:lnTo>
                  <a:pt x="1955756" y="366815"/>
                </a:lnTo>
                <a:lnTo>
                  <a:pt x="2015214" y="366815"/>
                </a:lnTo>
                <a:lnTo>
                  <a:pt x="2020492" y="365236"/>
                </a:lnTo>
                <a:lnTo>
                  <a:pt x="1951988" y="314586"/>
                </a:lnTo>
                <a:close/>
              </a:path>
              <a:path w="2020570" h="389889">
                <a:moveTo>
                  <a:pt x="1905951" y="332325"/>
                </a:moveTo>
                <a:lnTo>
                  <a:pt x="1901578" y="357347"/>
                </a:lnTo>
                <a:lnTo>
                  <a:pt x="1943243" y="364628"/>
                </a:lnTo>
                <a:lnTo>
                  <a:pt x="1947616" y="339608"/>
                </a:lnTo>
                <a:lnTo>
                  <a:pt x="1905951" y="332325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6280242" y="6060947"/>
            <a:ext cx="8191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">
                <a:solidFill>
                  <a:srgbClr val="BF9000"/>
                </a:solidFill>
                <a:latin typeface="Arial"/>
                <a:cs typeface="Arial"/>
              </a:rPr>
              <a:t>C</a:t>
            </a:r>
            <a:r>
              <a:rPr dirty="0" sz="1400" spc="-30">
                <a:solidFill>
                  <a:srgbClr val="BF9000"/>
                </a:solidFill>
                <a:latin typeface="Arial"/>
                <a:cs typeface="Arial"/>
              </a:rPr>
              <a:t>au</a:t>
            </a: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s</a:t>
            </a:r>
            <a:r>
              <a:rPr dirty="0" sz="1400" spc="-30">
                <a:solidFill>
                  <a:srgbClr val="BF9000"/>
                </a:solidFill>
                <a:latin typeface="Arial"/>
                <a:cs typeface="Arial"/>
              </a:rPr>
              <a:t>ed</a:t>
            </a:r>
            <a:r>
              <a:rPr dirty="0" sz="1400" spc="-35">
                <a:solidFill>
                  <a:srgbClr val="BF9000"/>
                </a:solidFill>
                <a:latin typeface="Arial"/>
                <a:cs typeface="Arial"/>
              </a:rPr>
              <a:t>B</a:t>
            </a:r>
            <a:r>
              <a:rPr dirty="0" sz="1400">
                <a:solidFill>
                  <a:srgbClr val="BF9000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650614" y="5723852"/>
            <a:ext cx="808990" cy="620395"/>
          </a:xfrm>
          <a:custGeom>
            <a:avLst/>
            <a:gdLst/>
            <a:ahLst/>
            <a:cxnLst/>
            <a:rect l="l" t="t" r="r" b="b"/>
            <a:pathLst>
              <a:path w="808990" h="620395">
                <a:moveTo>
                  <a:pt x="15393" y="0"/>
                </a:moveTo>
                <a:lnTo>
                  <a:pt x="0" y="20204"/>
                </a:lnTo>
                <a:lnTo>
                  <a:pt x="60613" y="66383"/>
                </a:lnTo>
                <a:lnTo>
                  <a:pt x="76006" y="46179"/>
                </a:lnTo>
                <a:lnTo>
                  <a:pt x="15393" y="0"/>
                </a:lnTo>
                <a:close/>
              </a:path>
              <a:path w="808990" h="620395">
                <a:moveTo>
                  <a:pt x="96210" y="61572"/>
                </a:moveTo>
                <a:lnTo>
                  <a:pt x="80817" y="81776"/>
                </a:lnTo>
                <a:lnTo>
                  <a:pt x="141429" y="127956"/>
                </a:lnTo>
                <a:lnTo>
                  <a:pt x="156823" y="107751"/>
                </a:lnTo>
                <a:lnTo>
                  <a:pt x="96210" y="61572"/>
                </a:lnTo>
                <a:close/>
              </a:path>
              <a:path w="808990" h="620395">
                <a:moveTo>
                  <a:pt x="177027" y="123144"/>
                </a:moveTo>
                <a:lnTo>
                  <a:pt x="161634" y="143349"/>
                </a:lnTo>
                <a:lnTo>
                  <a:pt x="222247" y="189528"/>
                </a:lnTo>
                <a:lnTo>
                  <a:pt x="237639" y="169324"/>
                </a:lnTo>
                <a:lnTo>
                  <a:pt x="177027" y="123144"/>
                </a:lnTo>
                <a:close/>
              </a:path>
              <a:path w="808990" h="620395">
                <a:moveTo>
                  <a:pt x="257844" y="184717"/>
                </a:moveTo>
                <a:lnTo>
                  <a:pt x="242451" y="204921"/>
                </a:lnTo>
                <a:lnTo>
                  <a:pt x="303063" y="251100"/>
                </a:lnTo>
                <a:lnTo>
                  <a:pt x="318457" y="230896"/>
                </a:lnTo>
                <a:lnTo>
                  <a:pt x="257844" y="184717"/>
                </a:lnTo>
                <a:close/>
              </a:path>
              <a:path w="808990" h="620395">
                <a:moveTo>
                  <a:pt x="338662" y="246289"/>
                </a:moveTo>
                <a:lnTo>
                  <a:pt x="323268" y="266494"/>
                </a:lnTo>
                <a:lnTo>
                  <a:pt x="383881" y="312673"/>
                </a:lnTo>
                <a:lnTo>
                  <a:pt x="399274" y="292469"/>
                </a:lnTo>
                <a:lnTo>
                  <a:pt x="338662" y="246289"/>
                </a:lnTo>
                <a:close/>
              </a:path>
              <a:path w="808990" h="620395">
                <a:moveTo>
                  <a:pt x="419478" y="307862"/>
                </a:moveTo>
                <a:lnTo>
                  <a:pt x="404086" y="328066"/>
                </a:lnTo>
                <a:lnTo>
                  <a:pt x="464698" y="374245"/>
                </a:lnTo>
                <a:lnTo>
                  <a:pt x="480091" y="354041"/>
                </a:lnTo>
                <a:lnTo>
                  <a:pt x="419478" y="307862"/>
                </a:lnTo>
                <a:close/>
              </a:path>
              <a:path w="808990" h="620395">
                <a:moveTo>
                  <a:pt x="500296" y="369434"/>
                </a:moveTo>
                <a:lnTo>
                  <a:pt x="484902" y="389639"/>
                </a:lnTo>
                <a:lnTo>
                  <a:pt x="545515" y="435818"/>
                </a:lnTo>
                <a:lnTo>
                  <a:pt x="560908" y="415614"/>
                </a:lnTo>
                <a:lnTo>
                  <a:pt x="500296" y="369434"/>
                </a:lnTo>
                <a:close/>
              </a:path>
              <a:path w="808990" h="620395">
                <a:moveTo>
                  <a:pt x="581112" y="431007"/>
                </a:moveTo>
                <a:lnTo>
                  <a:pt x="565720" y="451211"/>
                </a:lnTo>
                <a:lnTo>
                  <a:pt x="626332" y="497390"/>
                </a:lnTo>
                <a:lnTo>
                  <a:pt x="641725" y="477186"/>
                </a:lnTo>
                <a:lnTo>
                  <a:pt x="581112" y="431007"/>
                </a:lnTo>
                <a:close/>
              </a:path>
              <a:path w="808990" h="620395">
                <a:moveTo>
                  <a:pt x="661930" y="492579"/>
                </a:moveTo>
                <a:lnTo>
                  <a:pt x="646536" y="512783"/>
                </a:lnTo>
                <a:lnTo>
                  <a:pt x="707149" y="558963"/>
                </a:lnTo>
                <a:lnTo>
                  <a:pt x="722542" y="538759"/>
                </a:lnTo>
                <a:lnTo>
                  <a:pt x="661930" y="492579"/>
                </a:lnTo>
                <a:close/>
              </a:path>
              <a:path w="808990" h="620395">
                <a:moveTo>
                  <a:pt x="740080" y="584052"/>
                </a:moveTo>
                <a:lnTo>
                  <a:pt x="724687" y="604257"/>
                </a:lnTo>
                <a:lnTo>
                  <a:pt x="808390" y="620130"/>
                </a:lnTo>
                <a:lnTo>
                  <a:pt x="794466" y="591749"/>
                </a:lnTo>
                <a:lnTo>
                  <a:pt x="750182" y="591749"/>
                </a:lnTo>
                <a:lnTo>
                  <a:pt x="740080" y="584052"/>
                </a:lnTo>
                <a:close/>
              </a:path>
              <a:path w="808990" h="620395">
                <a:moveTo>
                  <a:pt x="755473" y="563848"/>
                </a:moveTo>
                <a:lnTo>
                  <a:pt x="740080" y="584052"/>
                </a:lnTo>
                <a:lnTo>
                  <a:pt x="750182" y="591749"/>
                </a:lnTo>
                <a:lnTo>
                  <a:pt x="765575" y="571544"/>
                </a:lnTo>
                <a:lnTo>
                  <a:pt x="755473" y="563848"/>
                </a:lnTo>
                <a:close/>
              </a:path>
              <a:path w="808990" h="620395">
                <a:moveTo>
                  <a:pt x="770867" y="543644"/>
                </a:moveTo>
                <a:lnTo>
                  <a:pt x="755473" y="563848"/>
                </a:lnTo>
                <a:lnTo>
                  <a:pt x="765575" y="571544"/>
                </a:lnTo>
                <a:lnTo>
                  <a:pt x="750182" y="591749"/>
                </a:lnTo>
                <a:lnTo>
                  <a:pt x="794466" y="591749"/>
                </a:lnTo>
                <a:lnTo>
                  <a:pt x="770867" y="543644"/>
                </a:lnTo>
                <a:close/>
              </a:path>
              <a:path w="808990" h="620395">
                <a:moveTo>
                  <a:pt x="742746" y="554152"/>
                </a:moveTo>
                <a:lnTo>
                  <a:pt x="727353" y="574356"/>
                </a:lnTo>
                <a:lnTo>
                  <a:pt x="740080" y="584052"/>
                </a:lnTo>
                <a:lnTo>
                  <a:pt x="755473" y="563848"/>
                </a:lnTo>
                <a:lnTo>
                  <a:pt x="742746" y="554152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651219" y="5155291"/>
            <a:ext cx="810895" cy="551180"/>
          </a:xfrm>
          <a:custGeom>
            <a:avLst/>
            <a:gdLst/>
            <a:ahLst/>
            <a:cxnLst/>
            <a:rect l="l" t="t" r="r" b="b"/>
            <a:pathLst>
              <a:path w="810895" h="551179">
                <a:moveTo>
                  <a:pt x="63221" y="487404"/>
                </a:moveTo>
                <a:lnTo>
                  <a:pt x="0" y="529941"/>
                </a:lnTo>
                <a:lnTo>
                  <a:pt x="14179" y="551015"/>
                </a:lnTo>
                <a:lnTo>
                  <a:pt x="77401" y="508478"/>
                </a:lnTo>
                <a:lnTo>
                  <a:pt x="63221" y="487404"/>
                </a:lnTo>
                <a:close/>
              </a:path>
              <a:path w="810895" h="551179">
                <a:moveTo>
                  <a:pt x="147518" y="430688"/>
                </a:moveTo>
                <a:lnTo>
                  <a:pt x="84296" y="473225"/>
                </a:lnTo>
                <a:lnTo>
                  <a:pt x="98475" y="494299"/>
                </a:lnTo>
                <a:lnTo>
                  <a:pt x="161697" y="451762"/>
                </a:lnTo>
                <a:lnTo>
                  <a:pt x="147518" y="430688"/>
                </a:lnTo>
                <a:close/>
              </a:path>
              <a:path w="810895" h="551179">
                <a:moveTo>
                  <a:pt x="231814" y="373971"/>
                </a:moveTo>
                <a:lnTo>
                  <a:pt x="168592" y="416509"/>
                </a:lnTo>
                <a:lnTo>
                  <a:pt x="182770" y="437582"/>
                </a:lnTo>
                <a:lnTo>
                  <a:pt x="245992" y="395046"/>
                </a:lnTo>
                <a:lnTo>
                  <a:pt x="231814" y="373971"/>
                </a:lnTo>
                <a:close/>
              </a:path>
              <a:path w="810895" h="551179">
                <a:moveTo>
                  <a:pt x="316109" y="317254"/>
                </a:moveTo>
                <a:lnTo>
                  <a:pt x="252887" y="359792"/>
                </a:lnTo>
                <a:lnTo>
                  <a:pt x="267067" y="380866"/>
                </a:lnTo>
                <a:lnTo>
                  <a:pt x="330288" y="338329"/>
                </a:lnTo>
                <a:lnTo>
                  <a:pt x="316109" y="317254"/>
                </a:lnTo>
                <a:close/>
              </a:path>
              <a:path w="810895" h="551179">
                <a:moveTo>
                  <a:pt x="400405" y="260539"/>
                </a:moveTo>
                <a:lnTo>
                  <a:pt x="337183" y="303076"/>
                </a:lnTo>
                <a:lnTo>
                  <a:pt x="351363" y="324149"/>
                </a:lnTo>
                <a:lnTo>
                  <a:pt x="414585" y="281612"/>
                </a:lnTo>
                <a:lnTo>
                  <a:pt x="400405" y="260539"/>
                </a:lnTo>
                <a:close/>
              </a:path>
              <a:path w="810895" h="551179">
                <a:moveTo>
                  <a:pt x="484701" y="203822"/>
                </a:moveTo>
                <a:lnTo>
                  <a:pt x="421479" y="246359"/>
                </a:lnTo>
                <a:lnTo>
                  <a:pt x="435659" y="267434"/>
                </a:lnTo>
                <a:lnTo>
                  <a:pt x="498881" y="224896"/>
                </a:lnTo>
                <a:lnTo>
                  <a:pt x="484701" y="203822"/>
                </a:lnTo>
                <a:close/>
              </a:path>
              <a:path w="810895" h="551179">
                <a:moveTo>
                  <a:pt x="568998" y="147105"/>
                </a:moveTo>
                <a:lnTo>
                  <a:pt x="505776" y="189642"/>
                </a:lnTo>
                <a:lnTo>
                  <a:pt x="519954" y="210717"/>
                </a:lnTo>
                <a:lnTo>
                  <a:pt x="583176" y="168179"/>
                </a:lnTo>
                <a:lnTo>
                  <a:pt x="568998" y="147105"/>
                </a:lnTo>
                <a:close/>
              </a:path>
              <a:path w="810895" h="551179">
                <a:moveTo>
                  <a:pt x="653293" y="90389"/>
                </a:moveTo>
                <a:lnTo>
                  <a:pt x="590071" y="132927"/>
                </a:lnTo>
                <a:lnTo>
                  <a:pt x="604250" y="154000"/>
                </a:lnTo>
                <a:lnTo>
                  <a:pt x="667472" y="111462"/>
                </a:lnTo>
                <a:lnTo>
                  <a:pt x="653293" y="90389"/>
                </a:lnTo>
                <a:close/>
              </a:path>
              <a:path w="810895" h="551179">
                <a:moveTo>
                  <a:pt x="737589" y="33672"/>
                </a:moveTo>
                <a:lnTo>
                  <a:pt x="674367" y="76210"/>
                </a:lnTo>
                <a:lnTo>
                  <a:pt x="688547" y="97284"/>
                </a:lnTo>
                <a:lnTo>
                  <a:pt x="751768" y="54747"/>
                </a:lnTo>
                <a:lnTo>
                  <a:pt x="737589" y="33672"/>
                </a:lnTo>
                <a:close/>
              </a:path>
              <a:path w="810895" h="551179">
                <a:moveTo>
                  <a:pt x="810386" y="0"/>
                </a:moveTo>
                <a:lnTo>
                  <a:pt x="725896" y="10925"/>
                </a:lnTo>
                <a:lnTo>
                  <a:pt x="768433" y="74147"/>
                </a:lnTo>
                <a:lnTo>
                  <a:pt x="810386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612218" y="568786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6999"/>
                </a:lnTo>
                <a:lnTo>
                  <a:pt x="2121" y="37509"/>
                </a:lnTo>
                <a:lnTo>
                  <a:pt x="7907" y="46091"/>
                </a:lnTo>
                <a:lnTo>
                  <a:pt x="16489" y="51878"/>
                </a:lnTo>
                <a:lnTo>
                  <a:pt x="26998" y="53999"/>
                </a:lnTo>
                <a:lnTo>
                  <a:pt x="37508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6999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612218" y="568786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116321" y="4035044"/>
            <a:ext cx="4648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B</a:t>
            </a:r>
            <a:r>
              <a:rPr dirty="0" sz="1200">
                <a:latin typeface="Arial"/>
                <a:cs typeface="Arial"/>
              </a:rPr>
              <a:t>r</a:t>
            </a:r>
            <a:r>
              <a:rPr dirty="0" sz="1200" spc="-5">
                <a:latin typeface="Arial"/>
                <a:cs typeface="Arial"/>
              </a:rPr>
              <a:t>ea</a:t>
            </a:r>
            <a:r>
              <a:rPr dirty="0" sz="1200">
                <a:latin typeface="Arial"/>
                <a:cs typeface="Arial"/>
              </a:rPr>
              <a:t>st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450293" y="442559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2"/>
                </a:lnTo>
                <a:lnTo>
                  <a:pt x="51877" y="37510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450293" y="442559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320103" y="587201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6999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6999"/>
                </a:lnTo>
                <a:lnTo>
                  <a:pt x="51877" y="16490"/>
                </a:lnTo>
                <a:lnTo>
                  <a:pt x="46091" y="7908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320103" y="587201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830548" y="547715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6998" y="0"/>
                </a:moveTo>
                <a:lnTo>
                  <a:pt x="16489" y="2121"/>
                </a:lnTo>
                <a:lnTo>
                  <a:pt x="7907" y="7907"/>
                </a:lnTo>
                <a:lnTo>
                  <a:pt x="2121" y="16489"/>
                </a:lnTo>
                <a:lnTo>
                  <a:pt x="0" y="26998"/>
                </a:lnTo>
                <a:lnTo>
                  <a:pt x="2121" y="37508"/>
                </a:lnTo>
                <a:lnTo>
                  <a:pt x="7907" y="46091"/>
                </a:lnTo>
                <a:lnTo>
                  <a:pt x="16489" y="51877"/>
                </a:lnTo>
                <a:lnTo>
                  <a:pt x="26998" y="53999"/>
                </a:lnTo>
                <a:lnTo>
                  <a:pt x="37508" y="51877"/>
                </a:lnTo>
                <a:lnTo>
                  <a:pt x="46091" y="46091"/>
                </a:lnTo>
                <a:lnTo>
                  <a:pt x="51877" y="37508"/>
                </a:lnTo>
                <a:lnTo>
                  <a:pt x="53999" y="26998"/>
                </a:lnTo>
                <a:lnTo>
                  <a:pt x="51877" y="16489"/>
                </a:lnTo>
                <a:lnTo>
                  <a:pt x="46091" y="7907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830548" y="547715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395849" y="500427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8" y="46092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2"/>
                </a:lnTo>
                <a:lnTo>
                  <a:pt x="51878" y="37510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395849" y="500427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737592" y="450032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737592" y="450032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904626" y="4500670"/>
            <a:ext cx="941705" cy="161925"/>
          </a:xfrm>
          <a:custGeom>
            <a:avLst/>
            <a:gdLst/>
            <a:ahLst/>
            <a:cxnLst/>
            <a:rect l="l" t="t" r="r" b="b"/>
            <a:pathLst>
              <a:path w="941705" h="161925">
                <a:moveTo>
                  <a:pt x="779503" y="107949"/>
                </a:moveTo>
                <a:lnTo>
                  <a:pt x="779503" y="161924"/>
                </a:lnTo>
                <a:lnTo>
                  <a:pt x="887453" y="107949"/>
                </a:lnTo>
                <a:lnTo>
                  <a:pt x="779503" y="107949"/>
                </a:lnTo>
                <a:close/>
              </a:path>
              <a:path w="941705" h="161925">
                <a:moveTo>
                  <a:pt x="779503" y="53974"/>
                </a:moveTo>
                <a:lnTo>
                  <a:pt x="779503" y="107949"/>
                </a:lnTo>
                <a:lnTo>
                  <a:pt x="806490" y="107949"/>
                </a:lnTo>
                <a:lnTo>
                  <a:pt x="806490" y="53974"/>
                </a:lnTo>
                <a:lnTo>
                  <a:pt x="779503" y="53974"/>
                </a:lnTo>
                <a:close/>
              </a:path>
              <a:path w="941705" h="161925">
                <a:moveTo>
                  <a:pt x="779503" y="0"/>
                </a:moveTo>
                <a:lnTo>
                  <a:pt x="779503" y="53974"/>
                </a:lnTo>
                <a:lnTo>
                  <a:pt x="806490" y="53974"/>
                </a:lnTo>
                <a:lnTo>
                  <a:pt x="806490" y="107949"/>
                </a:lnTo>
                <a:lnTo>
                  <a:pt x="887455" y="107948"/>
                </a:lnTo>
                <a:lnTo>
                  <a:pt x="941428" y="80962"/>
                </a:lnTo>
                <a:lnTo>
                  <a:pt x="779503" y="0"/>
                </a:lnTo>
                <a:close/>
              </a:path>
              <a:path w="941705" h="161925">
                <a:moveTo>
                  <a:pt x="0" y="53973"/>
                </a:moveTo>
                <a:lnTo>
                  <a:pt x="0" y="107948"/>
                </a:lnTo>
                <a:lnTo>
                  <a:pt x="779503" y="107949"/>
                </a:lnTo>
                <a:lnTo>
                  <a:pt x="779503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5042867" y="4634484"/>
            <a:ext cx="495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sso</a:t>
            </a:r>
            <a:r>
              <a:rPr dirty="0" sz="14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186505" y="5011011"/>
            <a:ext cx="1502410" cy="605790"/>
          </a:xfrm>
          <a:custGeom>
            <a:avLst/>
            <a:gdLst/>
            <a:ahLst/>
            <a:cxnLst/>
            <a:rect l="l" t="t" r="r" b="b"/>
            <a:pathLst>
              <a:path w="1502409" h="605789">
                <a:moveTo>
                  <a:pt x="70965" y="553949"/>
                </a:moveTo>
                <a:lnTo>
                  <a:pt x="0" y="581708"/>
                </a:lnTo>
                <a:lnTo>
                  <a:pt x="9253" y="605363"/>
                </a:lnTo>
                <a:lnTo>
                  <a:pt x="80217" y="577604"/>
                </a:lnTo>
                <a:lnTo>
                  <a:pt x="70965" y="553949"/>
                </a:lnTo>
                <a:close/>
              </a:path>
              <a:path w="1502409" h="605789">
                <a:moveTo>
                  <a:pt x="165582" y="516936"/>
                </a:moveTo>
                <a:lnTo>
                  <a:pt x="94618" y="544696"/>
                </a:lnTo>
                <a:lnTo>
                  <a:pt x="103872" y="568351"/>
                </a:lnTo>
                <a:lnTo>
                  <a:pt x="174835" y="540592"/>
                </a:lnTo>
                <a:lnTo>
                  <a:pt x="165582" y="516936"/>
                </a:lnTo>
                <a:close/>
              </a:path>
              <a:path w="1502409" h="605789">
                <a:moveTo>
                  <a:pt x="260201" y="479925"/>
                </a:moveTo>
                <a:lnTo>
                  <a:pt x="189237" y="507685"/>
                </a:lnTo>
                <a:lnTo>
                  <a:pt x="198490" y="531338"/>
                </a:lnTo>
                <a:lnTo>
                  <a:pt x="269454" y="503580"/>
                </a:lnTo>
                <a:lnTo>
                  <a:pt x="260201" y="479925"/>
                </a:lnTo>
                <a:close/>
              </a:path>
              <a:path w="1502409" h="605789">
                <a:moveTo>
                  <a:pt x="354820" y="442913"/>
                </a:moveTo>
                <a:lnTo>
                  <a:pt x="283856" y="470672"/>
                </a:lnTo>
                <a:lnTo>
                  <a:pt x="293109" y="494327"/>
                </a:lnTo>
                <a:lnTo>
                  <a:pt x="364073" y="466568"/>
                </a:lnTo>
                <a:lnTo>
                  <a:pt x="354820" y="442913"/>
                </a:lnTo>
                <a:close/>
              </a:path>
              <a:path w="1502409" h="605789">
                <a:moveTo>
                  <a:pt x="449439" y="405902"/>
                </a:moveTo>
                <a:lnTo>
                  <a:pt x="378475" y="433660"/>
                </a:lnTo>
                <a:lnTo>
                  <a:pt x="387728" y="457315"/>
                </a:lnTo>
                <a:lnTo>
                  <a:pt x="458692" y="429557"/>
                </a:lnTo>
                <a:lnTo>
                  <a:pt x="449439" y="405902"/>
                </a:lnTo>
                <a:close/>
              </a:path>
              <a:path w="1502409" h="605789">
                <a:moveTo>
                  <a:pt x="544057" y="368890"/>
                </a:moveTo>
                <a:lnTo>
                  <a:pt x="473094" y="396648"/>
                </a:lnTo>
                <a:lnTo>
                  <a:pt x="482346" y="420303"/>
                </a:lnTo>
                <a:lnTo>
                  <a:pt x="553311" y="392544"/>
                </a:lnTo>
                <a:lnTo>
                  <a:pt x="544057" y="368890"/>
                </a:lnTo>
                <a:close/>
              </a:path>
              <a:path w="1502409" h="605789">
                <a:moveTo>
                  <a:pt x="638676" y="331877"/>
                </a:moveTo>
                <a:lnTo>
                  <a:pt x="567711" y="359637"/>
                </a:lnTo>
                <a:lnTo>
                  <a:pt x="576964" y="383292"/>
                </a:lnTo>
                <a:lnTo>
                  <a:pt x="647928" y="355532"/>
                </a:lnTo>
                <a:lnTo>
                  <a:pt x="638676" y="331877"/>
                </a:lnTo>
                <a:close/>
              </a:path>
              <a:path w="1502409" h="605789">
                <a:moveTo>
                  <a:pt x="733294" y="294866"/>
                </a:moveTo>
                <a:lnTo>
                  <a:pt x="662330" y="322625"/>
                </a:lnTo>
                <a:lnTo>
                  <a:pt x="671583" y="346279"/>
                </a:lnTo>
                <a:lnTo>
                  <a:pt x="742547" y="318521"/>
                </a:lnTo>
                <a:lnTo>
                  <a:pt x="733294" y="294866"/>
                </a:lnTo>
                <a:close/>
              </a:path>
              <a:path w="1502409" h="605789">
                <a:moveTo>
                  <a:pt x="827913" y="257854"/>
                </a:moveTo>
                <a:lnTo>
                  <a:pt x="756949" y="285612"/>
                </a:lnTo>
                <a:lnTo>
                  <a:pt x="766202" y="309267"/>
                </a:lnTo>
                <a:lnTo>
                  <a:pt x="837166" y="281509"/>
                </a:lnTo>
                <a:lnTo>
                  <a:pt x="827913" y="257854"/>
                </a:lnTo>
                <a:close/>
              </a:path>
              <a:path w="1502409" h="605789">
                <a:moveTo>
                  <a:pt x="922531" y="220842"/>
                </a:moveTo>
                <a:lnTo>
                  <a:pt x="851568" y="248601"/>
                </a:lnTo>
                <a:lnTo>
                  <a:pt x="860821" y="272256"/>
                </a:lnTo>
                <a:lnTo>
                  <a:pt x="931785" y="244497"/>
                </a:lnTo>
                <a:lnTo>
                  <a:pt x="922531" y="220842"/>
                </a:lnTo>
                <a:close/>
              </a:path>
              <a:path w="1502409" h="605789">
                <a:moveTo>
                  <a:pt x="1017150" y="183831"/>
                </a:moveTo>
                <a:lnTo>
                  <a:pt x="946186" y="211589"/>
                </a:lnTo>
                <a:lnTo>
                  <a:pt x="955440" y="235244"/>
                </a:lnTo>
                <a:lnTo>
                  <a:pt x="1026403" y="207484"/>
                </a:lnTo>
                <a:lnTo>
                  <a:pt x="1017150" y="183831"/>
                </a:lnTo>
                <a:close/>
              </a:path>
              <a:path w="1502409" h="605789">
                <a:moveTo>
                  <a:pt x="1111769" y="146818"/>
                </a:moveTo>
                <a:lnTo>
                  <a:pt x="1040805" y="174578"/>
                </a:lnTo>
                <a:lnTo>
                  <a:pt x="1050057" y="198233"/>
                </a:lnTo>
                <a:lnTo>
                  <a:pt x="1121022" y="170473"/>
                </a:lnTo>
                <a:lnTo>
                  <a:pt x="1111769" y="146818"/>
                </a:lnTo>
                <a:close/>
              </a:path>
              <a:path w="1502409" h="605789">
                <a:moveTo>
                  <a:pt x="1206388" y="109806"/>
                </a:moveTo>
                <a:lnTo>
                  <a:pt x="1135423" y="137566"/>
                </a:lnTo>
                <a:lnTo>
                  <a:pt x="1144676" y="161220"/>
                </a:lnTo>
                <a:lnTo>
                  <a:pt x="1215640" y="133461"/>
                </a:lnTo>
                <a:lnTo>
                  <a:pt x="1206388" y="109806"/>
                </a:lnTo>
                <a:close/>
              </a:path>
              <a:path w="1502409" h="605789">
                <a:moveTo>
                  <a:pt x="1301005" y="72795"/>
                </a:moveTo>
                <a:lnTo>
                  <a:pt x="1230041" y="100554"/>
                </a:lnTo>
                <a:lnTo>
                  <a:pt x="1239295" y="124208"/>
                </a:lnTo>
                <a:lnTo>
                  <a:pt x="1310259" y="96450"/>
                </a:lnTo>
                <a:lnTo>
                  <a:pt x="1301005" y="72795"/>
                </a:lnTo>
                <a:close/>
              </a:path>
              <a:path w="1502409" h="605789">
                <a:moveTo>
                  <a:pt x="1395624" y="35783"/>
                </a:moveTo>
                <a:lnTo>
                  <a:pt x="1324660" y="63541"/>
                </a:lnTo>
                <a:lnTo>
                  <a:pt x="1333914" y="87196"/>
                </a:lnTo>
                <a:lnTo>
                  <a:pt x="1404877" y="59438"/>
                </a:lnTo>
                <a:lnTo>
                  <a:pt x="1395624" y="35783"/>
                </a:lnTo>
                <a:close/>
              </a:path>
              <a:path w="1502409" h="605789">
                <a:moveTo>
                  <a:pt x="1492019" y="19027"/>
                </a:moveTo>
                <a:lnTo>
                  <a:pt x="1438460" y="19027"/>
                </a:lnTo>
                <a:lnTo>
                  <a:pt x="1447713" y="42682"/>
                </a:lnTo>
                <a:lnTo>
                  <a:pt x="1435885" y="47309"/>
                </a:lnTo>
                <a:lnTo>
                  <a:pt x="1445138" y="70963"/>
                </a:lnTo>
                <a:lnTo>
                  <a:pt x="1492019" y="19027"/>
                </a:lnTo>
                <a:close/>
              </a:path>
              <a:path w="1502409" h="605789">
                <a:moveTo>
                  <a:pt x="1426632" y="23654"/>
                </a:moveTo>
                <a:lnTo>
                  <a:pt x="1419279" y="26530"/>
                </a:lnTo>
                <a:lnTo>
                  <a:pt x="1428532" y="50185"/>
                </a:lnTo>
                <a:lnTo>
                  <a:pt x="1435885" y="47309"/>
                </a:lnTo>
                <a:lnTo>
                  <a:pt x="1426632" y="23654"/>
                </a:lnTo>
                <a:close/>
              </a:path>
              <a:path w="1502409" h="605789">
                <a:moveTo>
                  <a:pt x="1438460" y="19027"/>
                </a:moveTo>
                <a:lnTo>
                  <a:pt x="1426632" y="23654"/>
                </a:lnTo>
                <a:lnTo>
                  <a:pt x="1435885" y="47309"/>
                </a:lnTo>
                <a:lnTo>
                  <a:pt x="1447713" y="42682"/>
                </a:lnTo>
                <a:lnTo>
                  <a:pt x="1438460" y="19027"/>
                </a:lnTo>
                <a:close/>
              </a:path>
              <a:path w="1502409" h="605789">
                <a:moveTo>
                  <a:pt x="1417379" y="0"/>
                </a:moveTo>
                <a:lnTo>
                  <a:pt x="1426632" y="23654"/>
                </a:lnTo>
                <a:lnTo>
                  <a:pt x="1438460" y="19027"/>
                </a:lnTo>
                <a:lnTo>
                  <a:pt x="1492019" y="19027"/>
                </a:lnTo>
                <a:lnTo>
                  <a:pt x="1502223" y="7722"/>
                </a:lnTo>
                <a:lnTo>
                  <a:pt x="141737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179870" y="4236616"/>
            <a:ext cx="744220" cy="1412240"/>
          </a:xfrm>
          <a:custGeom>
            <a:avLst/>
            <a:gdLst/>
            <a:ahLst/>
            <a:cxnLst/>
            <a:rect l="l" t="t" r="r" b="b"/>
            <a:pathLst>
              <a:path w="744220" h="1412239">
                <a:moveTo>
                  <a:pt x="35208" y="1332666"/>
                </a:moveTo>
                <a:lnTo>
                  <a:pt x="0" y="1400245"/>
                </a:lnTo>
                <a:lnTo>
                  <a:pt x="22525" y="1411981"/>
                </a:lnTo>
                <a:lnTo>
                  <a:pt x="57734" y="1344404"/>
                </a:lnTo>
                <a:lnTo>
                  <a:pt x="35208" y="1332666"/>
                </a:lnTo>
                <a:close/>
              </a:path>
              <a:path w="744220" h="1412239">
                <a:moveTo>
                  <a:pt x="82152" y="1242562"/>
                </a:moveTo>
                <a:lnTo>
                  <a:pt x="46944" y="1310140"/>
                </a:lnTo>
                <a:lnTo>
                  <a:pt x="69470" y="1321876"/>
                </a:lnTo>
                <a:lnTo>
                  <a:pt x="104678" y="1254298"/>
                </a:lnTo>
                <a:lnTo>
                  <a:pt x="82152" y="1242562"/>
                </a:lnTo>
                <a:close/>
              </a:path>
              <a:path w="744220" h="1412239">
                <a:moveTo>
                  <a:pt x="129098" y="1152458"/>
                </a:moveTo>
                <a:lnTo>
                  <a:pt x="93888" y="1220036"/>
                </a:lnTo>
                <a:lnTo>
                  <a:pt x="116414" y="1231773"/>
                </a:lnTo>
                <a:lnTo>
                  <a:pt x="151624" y="1164195"/>
                </a:lnTo>
                <a:lnTo>
                  <a:pt x="129098" y="1152458"/>
                </a:lnTo>
                <a:close/>
              </a:path>
              <a:path w="744220" h="1412239">
                <a:moveTo>
                  <a:pt x="176042" y="1062355"/>
                </a:moveTo>
                <a:lnTo>
                  <a:pt x="140834" y="1129932"/>
                </a:lnTo>
                <a:lnTo>
                  <a:pt x="163360" y="1141669"/>
                </a:lnTo>
                <a:lnTo>
                  <a:pt x="198568" y="1074091"/>
                </a:lnTo>
                <a:lnTo>
                  <a:pt x="176042" y="1062355"/>
                </a:lnTo>
                <a:close/>
              </a:path>
              <a:path w="744220" h="1412239">
                <a:moveTo>
                  <a:pt x="222986" y="972251"/>
                </a:moveTo>
                <a:lnTo>
                  <a:pt x="187778" y="1039829"/>
                </a:lnTo>
                <a:lnTo>
                  <a:pt x="210304" y="1051565"/>
                </a:lnTo>
                <a:lnTo>
                  <a:pt x="245512" y="983987"/>
                </a:lnTo>
                <a:lnTo>
                  <a:pt x="222986" y="972251"/>
                </a:lnTo>
                <a:close/>
              </a:path>
              <a:path w="744220" h="1412239">
                <a:moveTo>
                  <a:pt x="269930" y="882147"/>
                </a:moveTo>
                <a:lnTo>
                  <a:pt x="234722" y="949725"/>
                </a:lnTo>
                <a:lnTo>
                  <a:pt x="257248" y="961461"/>
                </a:lnTo>
                <a:lnTo>
                  <a:pt x="292456" y="893883"/>
                </a:lnTo>
                <a:lnTo>
                  <a:pt x="269930" y="882147"/>
                </a:lnTo>
                <a:close/>
              </a:path>
              <a:path w="744220" h="1412239">
                <a:moveTo>
                  <a:pt x="316876" y="792043"/>
                </a:moveTo>
                <a:lnTo>
                  <a:pt x="281666" y="859621"/>
                </a:lnTo>
                <a:lnTo>
                  <a:pt x="304194" y="871357"/>
                </a:lnTo>
                <a:lnTo>
                  <a:pt x="339402" y="803779"/>
                </a:lnTo>
                <a:lnTo>
                  <a:pt x="316876" y="792043"/>
                </a:lnTo>
                <a:close/>
              </a:path>
              <a:path w="744220" h="1412239">
                <a:moveTo>
                  <a:pt x="363820" y="701937"/>
                </a:moveTo>
                <a:lnTo>
                  <a:pt x="328612" y="769515"/>
                </a:lnTo>
                <a:lnTo>
                  <a:pt x="351138" y="781251"/>
                </a:lnTo>
                <a:lnTo>
                  <a:pt x="386346" y="713673"/>
                </a:lnTo>
                <a:lnTo>
                  <a:pt x="363820" y="701937"/>
                </a:lnTo>
                <a:close/>
              </a:path>
              <a:path w="744220" h="1412239">
                <a:moveTo>
                  <a:pt x="410764" y="611833"/>
                </a:moveTo>
                <a:lnTo>
                  <a:pt x="375556" y="679411"/>
                </a:lnTo>
                <a:lnTo>
                  <a:pt x="398082" y="691147"/>
                </a:lnTo>
                <a:lnTo>
                  <a:pt x="433290" y="623569"/>
                </a:lnTo>
                <a:lnTo>
                  <a:pt x="410764" y="611833"/>
                </a:lnTo>
                <a:close/>
              </a:path>
              <a:path w="744220" h="1412239">
                <a:moveTo>
                  <a:pt x="457709" y="521729"/>
                </a:moveTo>
                <a:lnTo>
                  <a:pt x="422501" y="589307"/>
                </a:lnTo>
                <a:lnTo>
                  <a:pt x="445027" y="601044"/>
                </a:lnTo>
                <a:lnTo>
                  <a:pt x="480236" y="533466"/>
                </a:lnTo>
                <a:lnTo>
                  <a:pt x="457709" y="521729"/>
                </a:lnTo>
                <a:close/>
              </a:path>
              <a:path w="744220" h="1412239">
                <a:moveTo>
                  <a:pt x="504654" y="431626"/>
                </a:moveTo>
                <a:lnTo>
                  <a:pt x="469446" y="499203"/>
                </a:lnTo>
                <a:lnTo>
                  <a:pt x="491972" y="510940"/>
                </a:lnTo>
                <a:lnTo>
                  <a:pt x="527180" y="443362"/>
                </a:lnTo>
                <a:lnTo>
                  <a:pt x="504654" y="431626"/>
                </a:lnTo>
                <a:close/>
              </a:path>
              <a:path w="744220" h="1412239">
                <a:moveTo>
                  <a:pt x="551599" y="341522"/>
                </a:moveTo>
                <a:lnTo>
                  <a:pt x="516390" y="409100"/>
                </a:lnTo>
                <a:lnTo>
                  <a:pt x="538916" y="420836"/>
                </a:lnTo>
                <a:lnTo>
                  <a:pt x="574125" y="353258"/>
                </a:lnTo>
                <a:lnTo>
                  <a:pt x="551599" y="341522"/>
                </a:lnTo>
                <a:close/>
              </a:path>
              <a:path w="744220" h="1412239">
                <a:moveTo>
                  <a:pt x="598543" y="251416"/>
                </a:moveTo>
                <a:lnTo>
                  <a:pt x="563335" y="318996"/>
                </a:lnTo>
                <a:lnTo>
                  <a:pt x="585861" y="330732"/>
                </a:lnTo>
                <a:lnTo>
                  <a:pt x="621069" y="263154"/>
                </a:lnTo>
                <a:lnTo>
                  <a:pt x="598543" y="251416"/>
                </a:lnTo>
                <a:close/>
              </a:path>
              <a:path w="744220" h="1412239">
                <a:moveTo>
                  <a:pt x="645488" y="161312"/>
                </a:moveTo>
                <a:lnTo>
                  <a:pt x="610279" y="228890"/>
                </a:lnTo>
                <a:lnTo>
                  <a:pt x="632805" y="240628"/>
                </a:lnTo>
                <a:lnTo>
                  <a:pt x="668014" y="173050"/>
                </a:lnTo>
                <a:lnTo>
                  <a:pt x="645488" y="161312"/>
                </a:lnTo>
                <a:close/>
              </a:path>
              <a:path w="744220" h="1412239">
                <a:moveTo>
                  <a:pt x="692433" y="71208"/>
                </a:moveTo>
                <a:lnTo>
                  <a:pt x="657225" y="138786"/>
                </a:lnTo>
                <a:lnTo>
                  <a:pt x="679750" y="150522"/>
                </a:lnTo>
                <a:lnTo>
                  <a:pt x="714959" y="82944"/>
                </a:lnTo>
                <a:lnTo>
                  <a:pt x="692433" y="71208"/>
                </a:lnTo>
                <a:close/>
              </a:path>
              <a:path w="744220" h="1412239">
                <a:moveTo>
                  <a:pt x="743854" y="0"/>
                </a:moveTo>
                <a:lnTo>
                  <a:pt x="674856" y="49973"/>
                </a:lnTo>
                <a:lnTo>
                  <a:pt x="742434" y="85182"/>
                </a:lnTo>
                <a:lnTo>
                  <a:pt x="74385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4677514" y="5519420"/>
            <a:ext cx="423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ESR</a:t>
            </a:r>
            <a:r>
              <a:rPr dirty="0" sz="120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145040" y="559663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6999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6999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145040" y="559663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6003268" y="5531611"/>
            <a:ext cx="558800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55244" marR="5080" indent="-43180">
              <a:lnSpc>
                <a:spcPts val="1390"/>
              </a:lnSpc>
              <a:spcBef>
                <a:spcPts val="185"/>
              </a:spcBef>
            </a:pPr>
            <a:r>
              <a:rPr dirty="0" sz="1200" spc="-5">
                <a:latin typeface="Arial"/>
                <a:cs typeface="Arial"/>
              </a:rPr>
              <a:t>Short</a:t>
            </a:r>
            <a:r>
              <a:rPr dirty="0" sz="1200" spc="-85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of  Breath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204459" y="485437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2"/>
                </a:lnTo>
                <a:lnTo>
                  <a:pt x="51877" y="37510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204459" y="485437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5915816" y="4243535"/>
            <a:ext cx="737235" cy="747395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98755">
              <a:lnSpc>
                <a:spcPts val="1180"/>
              </a:lnSpc>
            </a:pPr>
            <a:r>
              <a:rPr dirty="0" sz="1200" spc="-5">
                <a:latin typeface="Arial"/>
                <a:cs typeface="Arial"/>
              </a:rPr>
              <a:t>Cancer</a:t>
            </a:r>
            <a:endParaRPr sz="1200">
              <a:latin typeface="Arial"/>
              <a:cs typeface="Arial"/>
            </a:endParaRPr>
          </a:p>
          <a:p>
            <a:pPr marL="16510" marR="194945">
              <a:lnSpc>
                <a:spcPts val="1420"/>
              </a:lnSpc>
              <a:spcBef>
                <a:spcPts val="495"/>
              </a:spcBef>
            </a:pPr>
            <a:r>
              <a:rPr dirty="0" sz="1200" spc="-5">
                <a:latin typeface="Arial"/>
                <a:cs typeface="Arial"/>
              </a:rPr>
              <a:t>Lung  Cancer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269766" y="5845555"/>
            <a:ext cx="2617470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b="1">
                <a:latin typeface="Arial"/>
                <a:cs typeface="Arial"/>
              </a:rPr>
              <a:t>The </a:t>
            </a:r>
            <a:r>
              <a:rPr dirty="0" sz="1800" spc="-5" b="1">
                <a:latin typeface="Arial"/>
                <a:cs typeface="Arial"/>
              </a:rPr>
              <a:t>shadow </a:t>
            </a:r>
            <a:r>
              <a:rPr dirty="0" sz="1800" b="1">
                <a:latin typeface="Arial"/>
                <a:cs typeface="Arial"/>
              </a:rPr>
              <a:t>box  </a:t>
            </a:r>
            <a:r>
              <a:rPr dirty="0" sz="1800" spc="-5" b="1">
                <a:latin typeface="Arial"/>
                <a:cs typeface="Arial"/>
              </a:rPr>
              <a:t>represents the final </a:t>
            </a:r>
            <a:r>
              <a:rPr dirty="0" sz="1800" b="1">
                <a:latin typeface="Arial"/>
                <a:cs typeface="Arial"/>
              </a:rPr>
              <a:t>box  </a:t>
            </a:r>
            <a:r>
              <a:rPr dirty="0" sz="1800" spc="-5" b="1">
                <a:latin typeface="Arial"/>
                <a:cs typeface="Arial"/>
              </a:rPr>
              <a:t>embedding </a:t>
            </a:r>
            <a:r>
              <a:rPr dirty="0" sz="1800" b="1">
                <a:latin typeface="Arial"/>
                <a:cs typeface="Arial"/>
              </a:rPr>
              <a:t>of the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query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7466510" y="4658528"/>
          <a:ext cx="1443990" cy="1699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958"/>
                <a:gridCol w="1054860"/>
                <a:gridCol w="205278"/>
              </a:tblGrid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479249"/>
                      </a:solidFill>
                      <a:prstDash val="solid"/>
                    </a:lnR>
                    <a:lnB w="38100">
                      <a:solidFill>
                        <a:srgbClr val="BF9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dirty="0" sz="1200" spc="-5">
                          <a:latin typeface="Arial"/>
                          <a:cs typeface="Arial"/>
                        </a:rPr>
                        <a:t>Arimidex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32715">
                    <a:lnL w="38100">
                      <a:solidFill>
                        <a:srgbClr val="479249"/>
                      </a:solidFill>
                      <a:prstDash val="solid"/>
                    </a:lnL>
                    <a:lnR w="38100">
                      <a:solidFill>
                        <a:srgbClr val="479249"/>
                      </a:solidFill>
                      <a:prstDash val="solid"/>
                    </a:lnR>
                    <a:lnT w="38100">
                      <a:solidFill>
                        <a:srgbClr val="479249"/>
                      </a:solidFill>
                      <a:prstDash val="solid"/>
                    </a:lnT>
                    <a:lnB w="38100">
                      <a:solidFill>
                        <a:srgbClr val="BF9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479249"/>
                      </a:solidFill>
                      <a:prstDash val="solid"/>
                    </a:lnL>
                    <a:lnB w="38100">
                      <a:solidFill>
                        <a:srgbClr val="BF9000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F9000"/>
                      </a:solidFill>
                      <a:prstDash val="solid"/>
                    </a:lnL>
                    <a:lnR w="38100">
                      <a:solidFill>
                        <a:srgbClr val="479249"/>
                      </a:solidFill>
                      <a:prstDash val="solid"/>
                    </a:lnR>
                    <a:lnT w="38100">
                      <a:solidFill>
                        <a:srgbClr val="BF9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6990" marR="22225" indent="289560">
                        <a:lnSpc>
                          <a:spcPct val="75000"/>
                        </a:lnSpc>
                        <a:spcBef>
                          <a:spcPts val="290"/>
                        </a:spcBef>
                      </a:pPr>
                      <a:r>
                        <a:rPr dirty="0" sz="1200" spc="-5">
                          <a:latin typeface="Arial"/>
                          <a:cs typeface="Arial"/>
                        </a:rPr>
                        <a:t>Pa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li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l  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Fulvestrant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6830">
                    <a:lnL w="38100">
                      <a:solidFill>
                        <a:srgbClr val="479249"/>
                      </a:solidFill>
                      <a:prstDash val="solid"/>
                    </a:lnL>
                    <a:lnR w="38100">
                      <a:solidFill>
                        <a:srgbClr val="479249"/>
                      </a:solidFill>
                      <a:prstDash val="solid"/>
                    </a:lnR>
                    <a:lnT w="38100">
                      <a:solidFill>
                        <a:srgbClr val="BF9000"/>
                      </a:solidFill>
                      <a:prstDash val="solid"/>
                    </a:lnT>
                    <a:lnB w="38100">
                      <a:solidFill>
                        <a:srgbClr val="47924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479249"/>
                      </a:solidFill>
                      <a:prstDash val="solid"/>
                    </a:lnL>
                    <a:lnR w="38100">
                      <a:solidFill>
                        <a:srgbClr val="BF9000"/>
                      </a:solidFill>
                      <a:prstDash val="solid"/>
                    </a:lnR>
                    <a:lnT w="38100">
                      <a:solidFill>
                        <a:srgbClr val="BF9000"/>
                      </a:solidFill>
                      <a:prstDash val="solid"/>
                    </a:lnT>
                  </a:tcPr>
                </a:tc>
              </a:tr>
              <a:tr h="749300">
                <a:tc gridSpan="3">
                  <a:txBody>
                    <a:bodyPr/>
                    <a:lstStyle/>
                    <a:p>
                      <a:pPr marL="65786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spc="-5">
                          <a:latin typeface="Arial"/>
                          <a:cs typeface="Arial"/>
                        </a:rPr>
                        <a:t>Ketamin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3505">
                    <a:lnL w="38100">
                      <a:solidFill>
                        <a:srgbClr val="BF9000"/>
                      </a:solidFill>
                      <a:prstDash val="solid"/>
                    </a:lnL>
                    <a:lnR w="38100">
                      <a:solidFill>
                        <a:srgbClr val="BF9000"/>
                      </a:solidFill>
                      <a:prstDash val="solid"/>
                    </a:lnR>
                    <a:lnB w="38100">
                      <a:solidFill>
                        <a:srgbClr val="BF9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8" name="object 58"/>
          <p:cNvSpPr/>
          <p:nvPr/>
        </p:nvSpPr>
        <p:spPr>
          <a:xfrm>
            <a:off x="8560372" y="536462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560372" y="536462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54000"/>
                </a:moveTo>
                <a:lnTo>
                  <a:pt x="16490" y="51878"/>
                </a:lnTo>
                <a:lnTo>
                  <a:pt x="7908" y="46091"/>
                </a:lnTo>
                <a:lnTo>
                  <a:pt x="2121" y="37509"/>
                </a:lnTo>
                <a:lnTo>
                  <a:pt x="0" y="27000"/>
                </a:lnTo>
                <a:lnTo>
                  <a:pt x="2121" y="16490"/>
                </a:lnTo>
                <a:lnTo>
                  <a:pt x="7908" y="7908"/>
                </a:lnTo>
                <a:lnTo>
                  <a:pt x="16490" y="2121"/>
                </a:lnTo>
                <a:lnTo>
                  <a:pt x="27000" y="0"/>
                </a:lnTo>
                <a:lnTo>
                  <a:pt x="37509" y="2121"/>
                </a:lnTo>
                <a:lnTo>
                  <a:pt x="46091" y="7908"/>
                </a:lnTo>
                <a:lnTo>
                  <a:pt x="51878" y="16490"/>
                </a:lnTo>
                <a:lnTo>
                  <a:pt x="54000" y="27000"/>
                </a:lnTo>
                <a:lnTo>
                  <a:pt x="51878" y="37509"/>
                </a:lnTo>
                <a:lnTo>
                  <a:pt x="46091" y="46091"/>
                </a:lnTo>
                <a:lnTo>
                  <a:pt x="37509" y="51878"/>
                </a:lnTo>
                <a:lnTo>
                  <a:pt x="27000" y="540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618108" y="1914397"/>
            <a:ext cx="8370570" cy="186499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87630">
              <a:lnSpc>
                <a:spcPct val="100000"/>
              </a:lnSpc>
              <a:spcBef>
                <a:spcPts val="1245"/>
              </a:spcBef>
            </a:pPr>
            <a:r>
              <a:rPr dirty="0" sz="2400" spc="-5" b="1">
                <a:latin typeface="Calibri"/>
                <a:cs typeface="Calibri"/>
              </a:rPr>
              <a:t>((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e:ESR2</a:t>
            </a:r>
            <a:r>
              <a:rPr dirty="0" sz="2400" spc="-5" b="1">
                <a:latin typeface="Calibri"/>
                <a:cs typeface="Calibri"/>
              </a:rPr>
              <a:t>, (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r:Assoc, </a:t>
            </a:r>
            <a:r>
              <a:rPr dirty="0" sz="2400" spc="-20" b="1">
                <a:solidFill>
                  <a:srgbClr val="479249"/>
                </a:solidFill>
                <a:latin typeface="Calibri"/>
                <a:cs typeface="Calibri"/>
              </a:rPr>
              <a:t>r:TreatedBy</a:t>
            </a:r>
            <a:r>
              <a:rPr dirty="0" sz="2400" spc="-20" b="1">
                <a:latin typeface="Calibri"/>
                <a:cs typeface="Calibri"/>
              </a:rPr>
              <a:t>)),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e:Short of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Breath</a:t>
            </a:r>
            <a:r>
              <a:rPr dirty="0" sz="2400" spc="-10" b="1">
                <a:latin typeface="Calibri"/>
                <a:cs typeface="Calibri"/>
              </a:rPr>
              <a:t>,</a:t>
            </a:r>
            <a:r>
              <a:rPr dirty="0" sz="2400" spc="10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(</a:t>
            </a:r>
            <a:r>
              <a:rPr dirty="0" sz="2400" spc="-5" b="1">
                <a:solidFill>
                  <a:srgbClr val="B48200"/>
                </a:solidFill>
                <a:latin typeface="Calibri"/>
                <a:cs typeface="Calibri"/>
              </a:rPr>
              <a:t>r:CausedBy</a:t>
            </a:r>
            <a:r>
              <a:rPr dirty="0" sz="2400" spc="-5" b="1">
                <a:latin typeface="Calibri"/>
                <a:cs typeface="Calibri"/>
              </a:rPr>
              <a:t>))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52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Use </a:t>
            </a:r>
            <a:r>
              <a:rPr dirty="0" sz="3200" spc="-25" b="1">
                <a:solidFill>
                  <a:srgbClr val="00B050"/>
                </a:solidFill>
                <a:latin typeface="Calibri"/>
                <a:cs typeface="Calibri"/>
              </a:rPr>
              <a:t>box </a:t>
            </a:r>
            <a:r>
              <a:rPr dirty="0" sz="3200" spc="-15" b="1">
                <a:solidFill>
                  <a:srgbClr val="00B050"/>
                </a:solidFill>
                <a:latin typeface="Calibri"/>
                <a:cs typeface="Calibri"/>
              </a:rPr>
              <a:t>intersection</a:t>
            </a:r>
            <a:r>
              <a:rPr dirty="0" sz="3200" spc="10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00B050"/>
                </a:solidFill>
                <a:latin typeface="Calibri"/>
                <a:cs typeface="Calibri"/>
              </a:rPr>
              <a:t>operator</a:t>
            </a:r>
            <a:endParaRPr sz="3200">
              <a:latin typeface="Calibri"/>
              <a:cs typeface="Calibri"/>
            </a:endParaRPr>
          </a:p>
          <a:p>
            <a:pPr marL="322580">
              <a:lnSpc>
                <a:spcPct val="100000"/>
              </a:lnSpc>
              <a:spcBef>
                <a:spcPts val="2685"/>
              </a:spcBef>
              <a:tabLst>
                <a:tab pos="5025390" algn="l"/>
              </a:tabLst>
            </a:pPr>
            <a:r>
              <a:rPr dirty="0" sz="2000" spc="-5" b="1">
                <a:latin typeface="Arial"/>
                <a:cs typeface="Arial"/>
              </a:rPr>
              <a:t>Query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Plan	Embedding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Space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44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60222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3309" y="1209547"/>
            <a:ext cx="8428990" cy="96456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28299"/>
              </a:lnSpc>
              <a:spcBef>
                <a:spcPts val="10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5" b="1" i="0">
                <a:solidFill>
                  <a:srgbClr val="C00000"/>
                </a:solidFill>
                <a:latin typeface="Calibri"/>
                <a:cs typeface="Calibri"/>
              </a:rPr>
              <a:t>How do </a:t>
            </a:r>
            <a:r>
              <a:rPr dirty="0" sz="2400" spc="-10" b="1" i="0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400" spc="-5" b="1" i="0">
                <a:solidFill>
                  <a:srgbClr val="C00000"/>
                </a:solidFill>
                <a:latin typeface="Calibri"/>
                <a:cs typeface="Calibri"/>
              </a:rPr>
              <a:t>define the </a:t>
            </a:r>
            <a:r>
              <a:rPr dirty="0" sz="2400" spc="-15" b="1" i="0">
                <a:solidFill>
                  <a:srgbClr val="C00000"/>
                </a:solidFill>
                <a:latin typeface="Calibri"/>
                <a:cs typeface="Calibri"/>
              </a:rPr>
              <a:t>score </a:t>
            </a:r>
            <a:r>
              <a:rPr dirty="0" sz="2400" spc="-5" b="1" i="0">
                <a:solidFill>
                  <a:srgbClr val="C00000"/>
                </a:solidFill>
                <a:latin typeface="Calibri"/>
                <a:cs typeface="Calibri"/>
              </a:rPr>
              <a:t>function </a:t>
            </a:r>
            <a:r>
              <a:rPr dirty="0" sz="2400" spc="0" i="0">
                <a:solidFill>
                  <a:srgbClr val="C00000"/>
                </a:solidFill>
                <a:latin typeface="Cambria Math"/>
                <a:cs typeface="Cambria Math"/>
              </a:rPr>
              <a:t>𝒇</a:t>
            </a:r>
            <a:r>
              <a:rPr dirty="0" baseline="-15432" sz="2700" spc="0" i="0">
                <a:solidFill>
                  <a:srgbClr val="C00000"/>
                </a:solidFill>
                <a:latin typeface="Cambria Math"/>
                <a:cs typeface="Cambria Math"/>
              </a:rPr>
              <a:t>𝒒</a:t>
            </a:r>
            <a:r>
              <a:rPr dirty="0" sz="2400" spc="0" i="0">
                <a:solidFill>
                  <a:srgbClr val="C00000"/>
                </a:solidFill>
                <a:latin typeface="Cambria Math"/>
                <a:cs typeface="Cambria Math"/>
              </a:rPr>
              <a:t>(𝒗) </a:t>
            </a:r>
            <a:r>
              <a:rPr dirty="0" sz="2400" spc="-15" b="1" i="0">
                <a:solidFill>
                  <a:srgbClr val="C00000"/>
                </a:solidFill>
                <a:latin typeface="Calibri"/>
                <a:cs typeface="Calibri"/>
              </a:rPr>
              <a:t>(negative </a:t>
            </a:r>
            <a:r>
              <a:rPr dirty="0" sz="2400" spc="-10" b="1" i="0">
                <a:solidFill>
                  <a:srgbClr val="C00000"/>
                </a:solidFill>
                <a:latin typeface="Calibri"/>
                <a:cs typeface="Calibri"/>
              </a:rPr>
              <a:t>distance)? </a:t>
            </a:r>
            <a:r>
              <a:rPr dirty="0" sz="2400" spc="-10" b="1" i="0">
                <a:latin typeface="Calibri"/>
                <a:cs typeface="Calibri"/>
              </a:rPr>
              <a:t> </a:t>
            </a:r>
            <a:r>
              <a:rPr dirty="0" sz="2400" spc="0" b="1" i="0">
                <a:latin typeface="Calibri"/>
                <a:cs typeface="Calibri"/>
              </a:rPr>
              <a:t>(</a:t>
            </a:r>
            <a:r>
              <a:rPr dirty="0" sz="2400" spc="0" i="0">
                <a:latin typeface="Cambria Math"/>
                <a:cs typeface="Cambria Math"/>
              </a:rPr>
              <a:t>𝒇</a:t>
            </a:r>
            <a:r>
              <a:rPr dirty="0" baseline="-15432" sz="2700" spc="0" i="0">
                <a:latin typeface="Cambria Math"/>
                <a:cs typeface="Cambria Math"/>
              </a:rPr>
              <a:t>𝒒</a:t>
            </a:r>
            <a:r>
              <a:rPr dirty="0" sz="2400" spc="0" i="0">
                <a:latin typeface="Cambria Math"/>
                <a:cs typeface="Cambria Math"/>
              </a:rPr>
              <a:t>(𝒗) </a:t>
            </a:r>
            <a:r>
              <a:rPr dirty="0" sz="2400" spc="-10" b="1" i="0">
                <a:latin typeface="Calibri"/>
                <a:cs typeface="Calibri"/>
              </a:rPr>
              <a:t>captures </a:t>
            </a:r>
            <a:r>
              <a:rPr dirty="0" sz="2400" spc="-15" b="1" i="0">
                <a:latin typeface="Calibri"/>
                <a:cs typeface="Calibri"/>
              </a:rPr>
              <a:t>inverse </a:t>
            </a:r>
            <a:r>
              <a:rPr dirty="0" sz="2400" spc="-10" b="1" i="0">
                <a:solidFill>
                  <a:srgbClr val="C00000"/>
                </a:solidFill>
                <a:latin typeface="Calibri"/>
                <a:cs typeface="Calibri"/>
              </a:rPr>
              <a:t>distance </a:t>
            </a:r>
            <a:r>
              <a:rPr dirty="0" sz="2400" spc="-5" b="1" i="0">
                <a:latin typeface="Calibri"/>
                <a:cs typeface="Calibri"/>
              </a:rPr>
              <a:t>of </a:t>
            </a:r>
            <a:r>
              <a:rPr dirty="0" sz="2400" b="1" i="0">
                <a:latin typeface="Calibri"/>
                <a:cs typeface="Calibri"/>
              </a:rPr>
              <a:t>a </a:t>
            </a:r>
            <a:r>
              <a:rPr dirty="0" sz="2400" spc="-5" b="1" i="0">
                <a:latin typeface="Calibri"/>
                <a:cs typeface="Calibri"/>
              </a:rPr>
              <a:t>node </a:t>
            </a:r>
            <a:r>
              <a:rPr dirty="0" sz="2400" i="0">
                <a:latin typeface="Cambria Math"/>
                <a:cs typeface="Cambria Math"/>
              </a:rPr>
              <a:t>𝒗 </a:t>
            </a:r>
            <a:r>
              <a:rPr dirty="0" sz="2400" b="1" i="0">
                <a:latin typeface="Calibri"/>
                <a:cs typeface="Calibri"/>
              </a:rPr>
              <a:t>as </a:t>
            </a:r>
            <a:r>
              <a:rPr dirty="0" sz="2400" spc="-5" b="1" i="0">
                <a:latin typeface="Calibri"/>
                <a:cs typeface="Calibri"/>
              </a:rPr>
              <a:t>answer </a:t>
            </a:r>
            <a:r>
              <a:rPr dirty="0" sz="2400" spc="-10" b="1" i="0">
                <a:latin typeface="Calibri"/>
                <a:cs typeface="Calibri"/>
              </a:rPr>
              <a:t>to </a:t>
            </a:r>
            <a:r>
              <a:rPr dirty="0" sz="2400" spc="-5" i="0">
                <a:latin typeface="Cambria Math"/>
                <a:cs typeface="Cambria Math"/>
              </a:rPr>
              <a:t>𝒒</a:t>
            </a:r>
            <a:r>
              <a:rPr dirty="0" sz="2400" spc="-5" b="1" i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00850" y="2774078"/>
            <a:ext cx="661670" cy="282575"/>
          </a:xfrm>
          <a:custGeom>
            <a:avLst/>
            <a:gdLst/>
            <a:ahLst/>
            <a:cxnLst/>
            <a:rect l="l" t="t" r="r" b="b"/>
            <a:pathLst>
              <a:path w="661670" h="282575">
                <a:moveTo>
                  <a:pt x="571338" y="0"/>
                </a:moveTo>
                <a:lnTo>
                  <a:pt x="567320" y="11459"/>
                </a:lnTo>
                <a:lnTo>
                  <a:pt x="583663" y="18552"/>
                </a:lnTo>
                <a:lnTo>
                  <a:pt x="597718" y="28370"/>
                </a:lnTo>
                <a:lnTo>
                  <a:pt x="626256" y="73878"/>
                </a:lnTo>
                <a:lnTo>
                  <a:pt x="634590" y="115662"/>
                </a:lnTo>
                <a:lnTo>
                  <a:pt x="635632" y="139749"/>
                </a:lnTo>
                <a:lnTo>
                  <a:pt x="634585" y="164650"/>
                </a:lnTo>
                <a:lnTo>
                  <a:pt x="626213" y="207587"/>
                </a:lnTo>
                <a:lnTo>
                  <a:pt x="597736" y="253826"/>
                </a:lnTo>
                <a:lnTo>
                  <a:pt x="567766" y="270866"/>
                </a:lnTo>
                <a:lnTo>
                  <a:pt x="571338" y="282327"/>
                </a:lnTo>
                <a:lnTo>
                  <a:pt x="609848" y="264263"/>
                </a:lnTo>
                <a:lnTo>
                  <a:pt x="638162" y="232990"/>
                </a:lnTo>
                <a:lnTo>
                  <a:pt x="655575" y="191113"/>
                </a:lnTo>
                <a:lnTo>
                  <a:pt x="661380" y="141237"/>
                </a:lnTo>
                <a:lnTo>
                  <a:pt x="659924" y="115355"/>
                </a:lnTo>
                <a:lnTo>
                  <a:pt x="648278" y="69479"/>
                </a:lnTo>
                <a:lnTo>
                  <a:pt x="625182" y="32133"/>
                </a:lnTo>
                <a:lnTo>
                  <a:pt x="591806" y="7390"/>
                </a:lnTo>
                <a:lnTo>
                  <a:pt x="571338" y="0"/>
                </a:lnTo>
                <a:close/>
              </a:path>
              <a:path w="661670" h="282575">
                <a:moveTo>
                  <a:pt x="90040" y="0"/>
                </a:moveTo>
                <a:lnTo>
                  <a:pt x="51624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81567" y="2774078"/>
            <a:ext cx="661670" cy="282575"/>
          </a:xfrm>
          <a:custGeom>
            <a:avLst/>
            <a:gdLst/>
            <a:ahLst/>
            <a:cxnLst/>
            <a:rect l="l" t="t" r="r" b="b"/>
            <a:pathLst>
              <a:path w="661670" h="282575">
                <a:moveTo>
                  <a:pt x="571339" y="0"/>
                </a:moveTo>
                <a:lnTo>
                  <a:pt x="567321" y="11459"/>
                </a:lnTo>
                <a:lnTo>
                  <a:pt x="583664" y="18552"/>
                </a:lnTo>
                <a:lnTo>
                  <a:pt x="597719" y="28370"/>
                </a:lnTo>
                <a:lnTo>
                  <a:pt x="626257" y="73878"/>
                </a:lnTo>
                <a:lnTo>
                  <a:pt x="634591" y="115662"/>
                </a:lnTo>
                <a:lnTo>
                  <a:pt x="635633" y="139749"/>
                </a:lnTo>
                <a:lnTo>
                  <a:pt x="634587" y="164650"/>
                </a:lnTo>
                <a:lnTo>
                  <a:pt x="626215" y="207587"/>
                </a:lnTo>
                <a:lnTo>
                  <a:pt x="597737" y="253826"/>
                </a:lnTo>
                <a:lnTo>
                  <a:pt x="567767" y="270866"/>
                </a:lnTo>
                <a:lnTo>
                  <a:pt x="571339" y="282327"/>
                </a:lnTo>
                <a:lnTo>
                  <a:pt x="609849" y="264263"/>
                </a:lnTo>
                <a:lnTo>
                  <a:pt x="638163" y="232990"/>
                </a:lnTo>
                <a:lnTo>
                  <a:pt x="655576" y="191113"/>
                </a:lnTo>
                <a:lnTo>
                  <a:pt x="661380" y="141237"/>
                </a:lnTo>
                <a:lnTo>
                  <a:pt x="659924" y="115355"/>
                </a:lnTo>
                <a:lnTo>
                  <a:pt x="648279" y="69479"/>
                </a:lnTo>
                <a:lnTo>
                  <a:pt x="625183" y="32133"/>
                </a:lnTo>
                <a:lnTo>
                  <a:pt x="591808" y="7390"/>
                </a:lnTo>
                <a:lnTo>
                  <a:pt x="571339" y="0"/>
                </a:lnTo>
                <a:close/>
              </a:path>
              <a:path w="661670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1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4563" y="2160523"/>
            <a:ext cx="8751570" cy="179070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451484" indent="-320040">
              <a:lnSpc>
                <a:spcPct val="100000"/>
              </a:lnSpc>
              <a:spcBef>
                <a:spcPts val="725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450850" algn="l"/>
                <a:tab pos="451484" algn="l"/>
              </a:tabLst>
            </a:pPr>
            <a:r>
              <a:rPr dirty="0" sz="2400" spc="-10">
                <a:latin typeface="Calibri"/>
                <a:cs typeface="Calibri"/>
              </a:rPr>
              <a:t>Given </a:t>
            </a:r>
            <a:r>
              <a:rPr dirty="0" sz="2400">
                <a:latin typeface="Calibri"/>
                <a:cs typeface="Calibri"/>
              </a:rPr>
              <a:t>a query </a:t>
            </a:r>
            <a:r>
              <a:rPr dirty="0" sz="2400" spc="-20">
                <a:latin typeface="Calibri"/>
                <a:cs typeface="Calibri"/>
              </a:rPr>
              <a:t>box </a:t>
            </a:r>
            <a:r>
              <a:rPr dirty="0" sz="2400">
                <a:latin typeface="Cambria Math"/>
                <a:cs typeface="Cambria Math"/>
              </a:rPr>
              <a:t>𝐪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10">
                <a:latin typeface="Calibri"/>
                <a:cs typeface="Calibri"/>
              </a:rPr>
              <a:t>entity </a:t>
            </a:r>
            <a:r>
              <a:rPr dirty="0" sz="2400" spc="-5">
                <a:latin typeface="Calibri"/>
                <a:cs typeface="Calibri"/>
              </a:rPr>
              <a:t>embedding </a:t>
            </a:r>
            <a:r>
              <a:rPr dirty="0" sz="2400" spc="-15">
                <a:latin typeface="Calibri"/>
                <a:cs typeface="Calibri"/>
              </a:rPr>
              <a:t>(box)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mbria Math"/>
                <a:cs typeface="Cambria Math"/>
              </a:rPr>
              <a:t>𝐯,</a:t>
            </a:r>
            <a:endParaRPr sz="2400">
              <a:latin typeface="Cambria Math"/>
              <a:cs typeface="Cambria Math"/>
            </a:endParaRPr>
          </a:p>
          <a:p>
            <a:pPr algn="ctr" marL="116839">
              <a:lnSpc>
                <a:spcPct val="100000"/>
              </a:lnSpc>
              <a:spcBef>
                <a:spcPts val="625"/>
              </a:spcBef>
              <a:tabLst>
                <a:tab pos="1508125" algn="l"/>
                <a:tab pos="3171825" algn="l"/>
              </a:tabLst>
            </a:pPr>
            <a:r>
              <a:rPr dirty="0" sz="2400" spc="30">
                <a:latin typeface="Cambria Math"/>
                <a:cs typeface="Cambria Math"/>
              </a:rPr>
              <a:t>𝑑</a:t>
            </a:r>
            <a:r>
              <a:rPr dirty="0" baseline="-15432" sz="2700" spc="44">
                <a:latin typeface="Cambria Math"/>
                <a:cs typeface="Cambria Math"/>
              </a:rPr>
              <a:t>678</a:t>
            </a:r>
            <a:r>
              <a:rPr dirty="0" baseline="-15432" sz="2700" spc="652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𝐪,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𝐯	= </a:t>
            </a:r>
            <a:r>
              <a:rPr dirty="0" sz="2400" spc="114">
                <a:latin typeface="Cambria Math"/>
                <a:cs typeface="Cambria Math"/>
              </a:rPr>
              <a:t>𝑑</a:t>
            </a:r>
            <a:r>
              <a:rPr dirty="0" baseline="-15432" sz="2700" spc="172">
                <a:latin typeface="Cambria Math"/>
                <a:cs typeface="Cambria Math"/>
              </a:rPr>
              <a:t>79:</a:t>
            </a:r>
            <a:r>
              <a:rPr dirty="0" baseline="-15432" sz="2700" spc="862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𝐪,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𝐯	+ 𝛼 ⋅ </a:t>
            </a:r>
            <a:r>
              <a:rPr dirty="0" sz="2400" spc="110">
                <a:latin typeface="Cambria Math"/>
                <a:cs typeface="Cambria Math"/>
              </a:rPr>
              <a:t>𝑑</a:t>
            </a:r>
            <a:r>
              <a:rPr dirty="0" baseline="-15432" sz="2700" spc="165">
                <a:latin typeface="Cambria Math"/>
                <a:cs typeface="Cambria Math"/>
              </a:rPr>
              <a:t>(,</a:t>
            </a:r>
            <a:r>
              <a:rPr dirty="0" sz="2400" spc="110">
                <a:latin typeface="Cambria Math"/>
                <a:cs typeface="Cambria Math"/>
              </a:rPr>
              <a:t>(𝐪,</a:t>
            </a:r>
            <a:r>
              <a:rPr dirty="0" sz="2400" spc="-14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𝐯)</a:t>
            </a:r>
            <a:endParaRPr sz="2400">
              <a:latin typeface="Cambria Math"/>
              <a:cs typeface="Cambria Math"/>
            </a:endParaRPr>
          </a:p>
          <a:p>
            <a:pPr marL="353695">
              <a:lnSpc>
                <a:spcPct val="100000"/>
              </a:lnSpc>
              <a:spcBef>
                <a:spcPts val="525"/>
              </a:spcBef>
            </a:pPr>
            <a:r>
              <a:rPr dirty="0" sz="2400" spc="-10">
                <a:latin typeface="Calibri"/>
                <a:cs typeface="Calibri"/>
              </a:rPr>
              <a:t>where </a:t>
            </a:r>
            <a:r>
              <a:rPr dirty="0" sz="2400">
                <a:latin typeface="Cambria Math"/>
                <a:cs typeface="Cambria Math"/>
              </a:rPr>
              <a:t>0 &lt; 𝛼  &lt;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1</a:t>
            </a:r>
            <a:r>
              <a:rPr dirty="0" sz="2400" spc="-5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595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456565" algn="l"/>
                <a:tab pos="469900" algn="l"/>
              </a:tabLst>
            </a:pPr>
            <a:r>
              <a:rPr dirty="0" sz="2400" spc="-5" b="1">
                <a:solidFill>
                  <a:srgbClr val="479249"/>
                </a:solidFill>
                <a:latin typeface="Calibri"/>
                <a:cs typeface="Calibri"/>
              </a:rPr>
              <a:t>Intuition</a:t>
            </a:r>
            <a:r>
              <a:rPr dirty="0" sz="2400" spc="-5">
                <a:latin typeface="Calibri"/>
                <a:cs typeface="Calibri"/>
              </a:rPr>
              <a:t>: if the </a:t>
            </a:r>
            <a:r>
              <a:rPr dirty="0" sz="2400" spc="-10">
                <a:latin typeface="Calibri"/>
                <a:cs typeface="Calibri"/>
              </a:rPr>
              <a:t>point </a:t>
            </a:r>
            <a:r>
              <a:rPr dirty="0" sz="2400" spc="-5">
                <a:latin typeface="Calibri"/>
                <a:cs typeface="Calibri"/>
              </a:rPr>
              <a:t>is enclosed in the </a:t>
            </a:r>
            <a:r>
              <a:rPr dirty="0" sz="2400" spc="-15">
                <a:latin typeface="Calibri"/>
                <a:cs typeface="Calibri"/>
              </a:rPr>
              <a:t>box,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distance </a:t>
            </a:r>
            <a:r>
              <a:rPr dirty="0" sz="2400" spc="-5">
                <a:latin typeface="Calibri"/>
                <a:cs typeface="Calibri"/>
              </a:rPr>
              <a:t>should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10276" y="4552078"/>
            <a:ext cx="382270" cy="282575"/>
          </a:xfrm>
          <a:custGeom>
            <a:avLst/>
            <a:gdLst/>
            <a:ahLst/>
            <a:cxnLst/>
            <a:rect l="l" t="t" r="r" b="b"/>
            <a:pathLst>
              <a:path w="382269" h="282575">
                <a:moveTo>
                  <a:pt x="291939" y="0"/>
                </a:moveTo>
                <a:lnTo>
                  <a:pt x="287920" y="11459"/>
                </a:lnTo>
                <a:lnTo>
                  <a:pt x="304263" y="18552"/>
                </a:lnTo>
                <a:lnTo>
                  <a:pt x="318318" y="28370"/>
                </a:lnTo>
                <a:lnTo>
                  <a:pt x="346856" y="73878"/>
                </a:lnTo>
                <a:lnTo>
                  <a:pt x="355191" y="115662"/>
                </a:lnTo>
                <a:lnTo>
                  <a:pt x="356232" y="139749"/>
                </a:lnTo>
                <a:lnTo>
                  <a:pt x="355186" y="164650"/>
                </a:lnTo>
                <a:lnTo>
                  <a:pt x="346815" y="207587"/>
                </a:lnTo>
                <a:lnTo>
                  <a:pt x="318337" y="253825"/>
                </a:lnTo>
                <a:lnTo>
                  <a:pt x="288367" y="270866"/>
                </a:lnTo>
                <a:lnTo>
                  <a:pt x="291939" y="282327"/>
                </a:lnTo>
                <a:lnTo>
                  <a:pt x="330448" y="264263"/>
                </a:lnTo>
                <a:lnTo>
                  <a:pt x="358762" y="232990"/>
                </a:lnTo>
                <a:lnTo>
                  <a:pt x="376176" y="191113"/>
                </a:lnTo>
                <a:lnTo>
                  <a:pt x="381980" y="141237"/>
                </a:lnTo>
                <a:lnTo>
                  <a:pt x="380524" y="115355"/>
                </a:lnTo>
                <a:lnTo>
                  <a:pt x="368878" y="69479"/>
                </a:lnTo>
                <a:lnTo>
                  <a:pt x="345782" y="32132"/>
                </a:lnTo>
                <a:lnTo>
                  <a:pt x="312407" y="7389"/>
                </a:lnTo>
                <a:lnTo>
                  <a:pt x="291939" y="0"/>
                </a:lnTo>
                <a:close/>
              </a:path>
              <a:path w="382269" h="282575">
                <a:moveTo>
                  <a:pt x="90040" y="0"/>
                </a:moveTo>
                <a:lnTo>
                  <a:pt x="51624" y="18100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59" y="213051"/>
                </a:lnTo>
                <a:lnTo>
                  <a:pt x="36100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5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7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9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94563" y="3913123"/>
            <a:ext cx="3178175" cy="93980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820"/>
              </a:spcBef>
            </a:pPr>
            <a:r>
              <a:rPr dirty="0" sz="2400" spc="-10" b="1">
                <a:latin typeface="Calibri"/>
                <a:cs typeface="Calibri"/>
              </a:rPr>
              <a:t>downweighted</a:t>
            </a:r>
            <a:r>
              <a:rPr dirty="0" sz="2400" spc="-1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2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469265" algn="l"/>
                <a:tab pos="469900" algn="l"/>
                <a:tab pos="1308735" algn="l"/>
              </a:tabLst>
            </a:pP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𝒇</a:t>
            </a:r>
            <a:r>
              <a:rPr dirty="0" baseline="-15432" sz="2700" spc="-7">
                <a:solidFill>
                  <a:srgbClr val="C00000"/>
                </a:solidFill>
                <a:latin typeface="Cambria Math"/>
                <a:cs typeface="Cambria Math"/>
              </a:rPr>
              <a:t>𝒒 </a:t>
            </a:r>
            <a:r>
              <a:rPr dirty="0" baseline="-15432" sz="2700" spc="7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𝒗	= −𝒅</a:t>
            </a:r>
            <a:r>
              <a:rPr dirty="0" baseline="-15432" sz="2700">
                <a:solidFill>
                  <a:srgbClr val="C00000"/>
                </a:solidFill>
                <a:latin typeface="Cambria Math"/>
                <a:cs typeface="Cambria Math"/>
              </a:rPr>
              <a:t>𝒃𝒐𝒙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(𝐪,</a:t>
            </a:r>
            <a:r>
              <a:rPr dirty="0" sz="2400" spc="-9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𝐯)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72931" y="5045392"/>
            <a:ext cx="2314575" cy="1552575"/>
          </a:xfrm>
          <a:custGeom>
            <a:avLst/>
            <a:gdLst/>
            <a:ahLst/>
            <a:cxnLst/>
            <a:rect l="l" t="t" r="r" b="b"/>
            <a:pathLst>
              <a:path w="2314575" h="1552575">
                <a:moveTo>
                  <a:pt x="17144" y="1535429"/>
                </a:moveTo>
                <a:lnTo>
                  <a:pt x="14287" y="1535429"/>
                </a:lnTo>
                <a:lnTo>
                  <a:pt x="14287" y="1552574"/>
                </a:lnTo>
                <a:lnTo>
                  <a:pt x="33337" y="1552574"/>
                </a:lnTo>
                <a:lnTo>
                  <a:pt x="33337" y="1538287"/>
                </a:lnTo>
                <a:lnTo>
                  <a:pt x="17144" y="1538287"/>
                </a:lnTo>
                <a:lnTo>
                  <a:pt x="17144" y="1535429"/>
                </a:lnTo>
                <a:close/>
              </a:path>
              <a:path w="2314575" h="1552575">
                <a:moveTo>
                  <a:pt x="17144" y="1423987"/>
                </a:moveTo>
                <a:lnTo>
                  <a:pt x="0" y="1423987"/>
                </a:lnTo>
                <a:lnTo>
                  <a:pt x="0" y="1538287"/>
                </a:lnTo>
                <a:lnTo>
                  <a:pt x="14287" y="1538287"/>
                </a:lnTo>
                <a:lnTo>
                  <a:pt x="14287" y="1535429"/>
                </a:lnTo>
                <a:lnTo>
                  <a:pt x="17144" y="1535429"/>
                </a:lnTo>
                <a:lnTo>
                  <a:pt x="17144" y="1529714"/>
                </a:lnTo>
                <a:lnTo>
                  <a:pt x="14287" y="1529714"/>
                </a:lnTo>
                <a:lnTo>
                  <a:pt x="14287" y="1523999"/>
                </a:lnTo>
                <a:lnTo>
                  <a:pt x="17144" y="1523999"/>
                </a:lnTo>
                <a:lnTo>
                  <a:pt x="17144" y="1423987"/>
                </a:lnTo>
                <a:close/>
              </a:path>
              <a:path w="2314575" h="1552575">
                <a:moveTo>
                  <a:pt x="22860" y="1535429"/>
                </a:moveTo>
                <a:lnTo>
                  <a:pt x="17144" y="1535429"/>
                </a:lnTo>
                <a:lnTo>
                  <a:pt x="17144" y="1538287"/>
                </a:lnTo>
                <a:lnTo>
                  <a:pt x="22860" y="1538287"/>
                </a:lnTo>
                <a:lnTo>
                  <a:pt x="22860" y="1535429"/>
                </a:lnTo>
                <a:close/>
              </a:path>
              <a:path w="2314575" h="1552575">
                <a:moveTo>
                  <a:pt x="28575" y="1423987"/>
                </a:moveTo>
                <a:lnTo>
                  <a:pt x="22860" y="1423987"/>
                </a:lnTo>
                <a:lnTo>
                  <a:pt x="22860" y="1538287"/>
                </a:lnTo>
                <a:lnTo>
                  <a:pt x="28575" y="1538287"/>
                </a:lnTo>
                <a:lnTo>
                  <a:pt x="28575" y="1423987"/>
                </a:lnTo>
                <a:close/>
              </a:path>
              <a:path w="2314575" h="1552575">
                <a:moveTo>
                  <a:pt x="33337" y="1535429"/>
                </a:moveTo>
                <a:lnTo>
                  <a:pt x="28575" y="1535429"/>
                </a:lnTo>
                <a:lnTo>
                  <a:pt x="28575" y="1538287"/>
                </a:lnTo>
                <a:lnTo>
                  <a:pt x="33337" y="1538287"/>
                </a:lnTo>
                <a:lnTo>
                  <a:pt x="33337" y="1535429"/>
                </a:lnTo>
                <a:close/>
              </a:path>
              <a:path w="2314575" h="1552575">
                <a:moveTo>
                  <a:pt x="17144" y="1523999"/>
                </a:moveTo>
                <a:lnTo>
                  <a:pt x="14287" y="1523999"/>
                </a:lnTo>
                <a:lnTo>
                  <a:pt x="14287" y="1529714"/>
                </a:lnTo>
                <a:lnTo>
                  <a:pt x="17144" y="1529714"/>
                </a:lnTo>
                <a:lnTo>
                  <a:pt x="17144" y="1523999"/>
                </a:lnTo>
                <a:close/>
              </a:path>
              <a:path w="2314575" h="1552575">
                <a:moveTo>
                  <a:pt x="22860" y="1523999"/>
                </a:moveTo>
                <a:lnTo>
                  <a:pt x="17144" y="1523999"/>
                </a:lnTo>
                <a:lnTo>
                  <a:pt x="17144" y="1529714"/>
                </a:lnTo>
                <a:lnTo>
                  <a:pt x="22860" y="1529714"/>
                </a:lnTo>
                <a:lnTo>
                  <a:pt x="22860" y="1523999"/>
                </a:lnTo>
                <a:close/>
              </a:path>
              <a:path w="2314575" h="1552575">
                <a:moveTo>
                  <a:pt x="33337" y="1523999"/>
                </a:moveTo>
                <a:lnTo>
                  <a:pt x="28575" y="1523999"/>
                </a:lnTo>
                <a:lnTo>
                  <a:pt x="28575" y="1529714"/>
                </a:lnTo>
                <a:lnTo>
                  <a:pt x="33337" y="1529714"/>
                </a:lnTo>
                <a:lnTo>
                  <a:pt x="33337" y="1523999"/>
                </a:lnTo>
                <a:close/>
              </a:path>
              <a:path w="2314575" h="1552575">
                <a:moveTo>
                  <a:pt x="17144" y="1223962"/>
                </a:moveTo>
                <a:lnTo>
                  <a:pt x="0" y="1223962"/>
                </a:lnTo>
                <a:lnTo>
                  <a:pt x="0" y="1338262"/>
                </a:lnTo>
                <a:lnTo>
                  <a:pt x="17144" y="1338262"/>
                </a:lnTo>
                <a:lnTo>
                  <a:pt x="17144" y="1223962"/>
                </a:lnTo>
                <a:close/>
              </a:path>
              <a:path w="2314575" h="1552575">
                <a:moveTo>
                  <a:pt x="28575" y="1223962"/>
                </a:moveTo>
                <a:lnTo>
                  <a:pt x="22860" y="1223962"/>
                </a:lnTo>
                <a:lnTo>
                  <a:pt x="22860" y="1338262"/>
                </a:lnTo>
                <a:lnTo>
                  <a:pt x="28575" y="1338262"/>
                </a:lnTo>
                <a:lnTo>
                  <a:pt x="28575" y="1223962"/>
                </a:lnTo>
                <a:close/>
              </a:path>
              <a:path w="2314575" h="1552575">
                <a:moveTo>
                  <a:pt x="17144" y="1023937"/>
                </a:moveTo>
                <a:lnTo>
                  <a:pt x="0" y="1023937"/>
                </a:lnTo>
                <a:lnTo>
                  <a:pt x="0" y="1138237"/>
                </a:lnTo>
                <a:lnTo>
                  <a:pt x="17144" y="1138237"/>
                </a:lnTo>
                <a:lnTo>
                  <a:pt x="17144" y="1023937"/>
                </a:lnTo>
                <a:close/>
              </a:path>
              <a:path w="2314575" h="1552575">
                <a:moveTo>
                  <a:pt x="28575" y="1023937"/>
                </a:moveTo>
                <a:lnTo>
                  <a:pt x="22860" y="1023937"/>
                </a:lnTo>
                <a:lnTo>
                  <a:pt x="22860" y="1138237"/>
                </a:lnTo>
                <a:lnTo>
                  <a:pt x="28575" y="1138237"/>
                </a:lnTo>
                <a:lnTo>
                  <a:pt x="28575" y="1023937"/>
                </a:lnTo>
                <a:close/>
              </a:path>
              <a:path w="2314575" h="1552575">
                <a:moveTo>
                  <a:pt x="17144" y="823912"/>
                </a:moveTo>
                <a:lnTo>
                  <a:pt x="0" y="823912"/>
                </a:lnTo>
                <a:lnTo>
                  <a:pt x="0" y="938212"/>
                </a:lnTo>
                <a:lnTo>
                  <a:pt x="17144" y="938212"/>
                </a:lnTo>
                <a:lnTo>
                  <a:pt x="17144" y="823912"/>
                </a:lnTo>
                <a:close/>
              </a:path>
              <a:path w="2314575" h="1552575">
                <a:moveTo>
                  <a:pt x="28575" y="823912"/>
                </a:moveTo>
                <a:lnTo>
                  <a:pt x="22860" y="823912"/>
                </a:lnTo>
                <a:lnTo>
                  <a:pt x="22860" y="938212"/>
                </a:lnTo>
                <a:lnTo>
                  <a:pt x="28575" y="938212"/>
                </a:lnTo>
                <a:lnTo>
                  <a:pt x="28575" y="823912"/>
                </a:lnTo>
                <a:close/>
              </a:path>
              <a:path w="2314575" h="1552575">
                <a:moveTo>
                  <a:pt x="17144" y="623887"/>
                </a:moveTo>
                <a:lnTo>
                  <a:pt x="0" y="623887"/>
                </a:lnTo>
                <a:lnTo>
                  <a:pt x="0" y="738187"/>
                </a:lnTo>
                <a:lnTo>
                  <a:pt x="17144" y="738187"/>
                </a:lnTo>
                <a:lnTo>
                  <a:pt x="17144" y="623887"/>
                </a:lnTo>
                <a:close/>
              </a:path>
              <a:path w="2314575" h="1552575">
                <a:moveTo>
                  <a:pt x="28575" y="623887"/>
                </a:moveTo>
                <a:lnTo>
                  <a:pt x="22860" y="623887"/>
                </a:lnTo>
                <a:lnTo>
                  <a:pt x="22860" y="738187"/>
                </a:lnTo>
                <a:lnTo>
                  <a:pt x="28575" y="738187"/>
                </a:lnTo>
                <a:lnTo>
                  <a:pt x="28575" y="623887"/>
                </a:lnTo>
                <a:close/>
              </a:path>
              <a:path w="2314575" h="1552575">
                <a:moveTo>
                  <a:pt x="17144" y="423862"/>
                </a:moveTo>
                <a:lnTo>
                  <a:pt x="0" y="423862"/>
                </a:lnTo>
                <a:lnTo>
                  <a:pt x="0" y="538162"/>
                </a:lnTo>
                <a:lnTo>
                  <a:pt x="17144" y="538162"/>
                </a:lnTo>
                <a:lnTo>
                  <a:pt x="17144" y="423862"/>
                </a:lnTo>
                <a:close/>
              </a:path>
              <a:path w="2314575" h="1552575">
                <a:moveTo>
                  <a:pt x="28575" y="423862"/>
                </a:moveTo>
                <a:lnTo>
                  <a:pt x="22860" y="423862"/>
                </a:lnTo>
                <a:lnTo>
                  <a:pt x="22860" y="538162"/>
                </a:lnTo>
                <a:lnTo>
                  <a:pt x="28575" y="538162"/>
                </a:lnTo>
                <a:lnTo>
                  <a:pt x="28575" y="423862"/>
                </a:lnTo>
                <a:close/>
              </a:path>
              <a:path w="2314575" h="1552575">
                <a:moveTo>
                  <a:pt x="17144" y="223837"/>
                </a:moveTo>
                <a:lnTo>
                  <a:pt x="0" y="223837"/>
                </a:lnTo>
                <a:lnTo>
                  <a:pt x="0" y="338137"/>
                </a:lnTo>
                <a:lnTo>
                  <a:pt x="17144" y="338137"/>
                </a:lnTo>
                <a:lnTo>
                  <a:pt x="17144" y="223837"/>
                </a:lnTo>
                <a:close/>
              </a:path>
              <a:path w="2314575" h="1552575">
                <a:moveTo>
                  <a:pt x="28575" y="223837"/>
                </a:moveTo>
                <a:lnTo>
                  <a:pt x="22860" y="223837"/>
                </a:lnTo>
                <a:lnTo>
                  <a:pt x="22860" y="338137"/>
                </a:lnTo>
                <a:lnTo>
                  <a:pt x="28575" y="338137"/>
                </a:lnTo>
                <a:lnTo>
                  <a:pt x="28575" y="223837"/>
                </a:lnTo>
                <a:close/>
              </a:path>
              <a:path w="2314575" h="1552575">
                <a:moveTo>
                  <a:pt x="17144" y="23812"/>
                </a:moveTo>
                <a:lnTo>
                  <a:pt x="0" y="23812"/>
                </a:lnTo>
                <a:lnTo>
                  <a:pt x="0" y="138112"/>
                </a:lnTo>
                <a:lnTo>
                  <a:pt x="17144" y="138112"/>
                </a:lnTo>
                <a:lnTo>
                  <a:pt x="17144" y="23812"/>
                </a:lnTo>
                <a:close/>
              </a:path>
              <a:path w="2314575" h="1552575">
                <a:moveTo>
                  <a:pt x="28575" y="23812"/>
                </a:moveTo>
                <a:lnTo>
                  <a:pt x="22860" y="23812"/>
                </a:lnTo>
                <a:lnTo>
                  <a:pt x="22860" y="138112"/>
                </a:lnTo>
                <a:lnTo>
                  <a:pt x="28575" y="138112"/>
                </a:lnTo>
                <a:lnTo>
                  <a:pt x="28575" y="23812"/>
                </a:lnTo>
                <a:close/>
              </a:path>
              <a:path w="2314575" h="1552575">
                <a:moveTo>
                  <a:pt x="204787" y="0"/>
                </a:moveTo>
                <a:lnTo>
                  <a:pt x="90487" y="0"/>
                </a:lnTo>
                <a:lnTo>
                  <a:pt x="90487" y="17145"/>
                </a:lnTo>
                <a:lnTo>
                  <a:pt x="204787" y="17145"/>
                </a:lnTo>
                <a:lnTo>
                  <a:pt x="204787" y="0"/>
                </a:lnTo>
                <a:close/>
              </a:path>
              <a:path w="2314575" h="1552575">
                <a:moveTo>
                  <a:pt x="204787" y="22860"/>
                </a:moveTo>
                <a:lnTo>
                  <a:pt x="90487" y="22860"/>
                </a:lnTo>
                <a:lnTo>
                  <a:pt x="90487" y="28575"/>
                </a:lnTo>
                <a:lnTo>
                  <a:pt x="204787" y="28575"/>
                </a:lnTo>
                <a:lnTo>
                  <a:pt x="204787" y="22860"/>
                </a:lnTo>
                <a:close/>
              </a:path>
              <a:path w="2314575" h="1552575">
                <a:moveTo>
                  <a:pt x="404812" y="0"/>
                </a:moveTo>
                <a:lnTo>
                  <a:pt x="290512" y="0"/>
                </a:lnTo>
                <a:lnTo>
                  <a:pt x="290512" y="17145"/>
                </a:lnTo>
                <a:lnTo>
                  <a:pt x="404812" y="17145"/>
                </a:lnTo>
                <a:lnTo>
                  <a:pt x="404812" y="0"/>
                </a:lnTo>
                <a:close/>
              </a:path>
              <a:path w="2314575" h="1552575">
                <a:moveTo>
                  <a:pt x="404812" y="22860"/>
                </a:moveTo>
                <a:lnTo>
                  <a:pt x="290512" y="22860"/>
                </a:lnTo>
                <a:lnTo>
                  <a:pt x="290512" y="28575"/>
                </a:lnTo>
                <a:lnTo>
                  <a:pt x="404812" y="28575"/>
                </a:lnTo>
                <a:lnTo>
                  <a:pt x="404812" y="22860"/>
                </a:lnTo>
                <a:close/>
              </a:path>
              <a:path w="2314575" h="1552575">
                <a:moveTo>
                  <a:pt x="604837" y="0"/>
                </a:moveTo>
                <a:lnTo>
                  <a:pt x="490537" y="0"/>
                </a:lnTo>
                <a:lnTo>
                  <a:pt x="490537" y="17145"/>
                </a:lnTo>
                <a:lnTo>
                  <a:pt x="604837" y="17145"/>
                </a:lnTo>
                <a:lnTo>
                  <a:pt x="604837" y="0"/>
                </a:lnTo>
                <a:close/>
              </a:path>
              <a:path w="2314575" h="1552575">
                <a:moveTo>
                  <a:pt x="604837" y="22860"/>
                </a:moveTo>
                <a:lnTo>
                  <a:pt x="490537" y="22860"/>
                </a:lnTo>
                <a:lnTo>
                  <a:pt x="490537" y="28575"/>
                </a:lnTo>
                <a:lnTo>
                  <a:pt x="604837" y="28575"/>
                </a:lnTo>
                <a:lnTo>
                  <a:pt x="604837" y="22860"/>
                </a:lnTo>
                <a:close/>
              </a:path>
              <a:path w="2314575" h="1552575">
                <a:moveTo>
                  <a:pt x="804862" y="0"/>
                </a:moveTo>
                <a:lnTo>
                  <a:pt x="690562" y="0"/>
                </a:lnTo>
                <a:lnTo>
                  <a:pt x="690562" y="17145"/>
                </a:lnTo>
                <a:lnTo>
                  <a:pt x="804862" y="17145"/>
                </a:lnTo>
                <a:lnTo>
                  <a:pt x="804862" y="0"/>
                </a:lnTo>
                <a:close/>
              </a:path>
              <a:path w="2314575" h="1552575">
                <a:moveTo>
                  <a:pt x="804862" y="22860"/>
                </a:moveTo>
                <a:lnTo>
                  <a:pt x="690562" y="22860"/>
                </a:lnTo>
                <a:lnTo>
                  <a:pt x="690562" y="28575"/>
                </a:lnTo>
                <a:lnTo>
                  <a:pt x="804862" y="28575"/>
                </a:lnTo>
                <a:lnTo>
                  <a:pt x="804862" y="22860"/>
                </a:lnTo>
                <a:close/>
              </a:path>
              <a:path w="2314575" h="1552575">
                <a:moveTo>
                  <a:pt x="1004887" y="0"/>
                </a:moveTo>
                <a:lnTo>
                  <a:pt x="890587" y="0"/>
                </a:lnTo>
                <a:lnTo>
                  <a:pt x="890587" y="17145"/>
                </a:lnTo>
                <a:lnTo>
                  <a:pt x="1004887" y="17145"/>
                </a:lnTo>
                <a:lnTo>
                  <a:pt x="1004887" y="0"/>
                </a:lnTo>
                <a:close/>
              </a:path>
              <a:path w="2314575" h="1552575">
                <a:moveTo>
                  <a:pt x="1004887" y="22860"/>
                </a:moveTo>
                <a:lnTo>
                  <a:pt x="890587" y="22860"/>
                </a:lnTo>
                <a:lnTo>
                  <a:pt x="890587" y="28575"/>
                </a:lnTo>
                <a:lnTo>
                  <a:pt x="1004887" y="28575"/>
                </a:lnTo>
                <a:lnTo>
                  <a:pt x="1004887" y="22860"/>
                </a:lnTo>
                <a:close/>
              </a:path>
              <a:path w="2314575" h="1552575">
                <a:moveTo>
                  <a:pt x="1204912" y="0"/>
                </a:moveTo>
                <a:lnTo>
                  <a:pt x="1090612" y="0"/>
                </a:lnTo>
                <a:lnTo>
                  <a:pt x="1090612" y="17145"/>
                </a:lnTo>
                <a:lnTo>
                  <a:pt x="1204912" y="17145"/>
                </a:lnTo>
                <a:lnTo>
                  <a:pt x="1204912" y="0"/>
                </a:lnTo>
                <a:close/>
              </a:path>
              <a:path w="2314575" h="1552575">
                <a:moveTo>
                  <a:pt x="1204912" y="22860"/>
                </a:moveTo>
                <a:lnTo>
                  <a:pt x="1090612" y="22860"/>
                </a:lnTo>
                <a:lnTo>
                  <a:pt x="1090612" y="28575"/>
                </a:lnTo>
                <a:lnTo>
                  <a:pt x="1204912" y="28575"/>
                </a:lnTo>
                <a:lnTo>
                  <a:pt x="1204912" y="22860"/>
                </a:lnTo>
                <a:close/>
              </a:path>
              <a:path w="2314575" h="1552575">
                <a:moveTo>
                  <a:pt x="1404937" y="0"/>
                </a:moveTo>
                <a:lnTo>
                  <a:pt x="1290637" y="0"/>
                </a:lnTo>
                <a:lnTo>
                  <a:pt x="1290637" y="17145"/>
                </a:lnTo>
                <a:lnTo>
                  <a:pt x="1404937" y="17145"/>
                </a:lnTo>
                <a:lnTo>
                  <a:pt x="1404937" y="0"/>
                </a:lnTo>
                <a:close/>
              </a:path>
              <a:path w="2314575" h="1552575">
                <a:moveTo>
                  <a:pt x="1404937" y="22860"/>
                </a:moveTo>
                <a:lnTo>
                  <a:pt x="1290637" y="22860"/>
                </a:lnTo>
                <a:lnTo>
                  <a:pt x="1290637" y="28575"/>
                </a:lnTo>
                <a:lnTo>
                  <a:pt x="1404937" y="28575"/>
                </a:lnTo>
                <a:lnTo>
                  <a:pt x="1404937" y="22860"/>
                </a:lnTo>
                <a:close/>
              </a:path>
              <a:path w="2314575" h="1552575">
                <a:moveTo>
                  <a:pt x="1604962" y="0"/>
                </a:moveTo>
                <a:lnTo>
                  <a:pt x="1490662" y="0"/>
                </a:lnTo>
                <a:lnTo>
                  <a:pt x="1490662" y="17145"/>
                </a:lnTo>
                <a:lnTo>
                  <a:pt x="1604962" y="17145"/>
                </a:lnTo>
                <a:lnTo>
                  <a:pt x="1604962" y="0"/>
                </a:lnTo>
                <a:close/>
              </a:path>
              <a:path w="2314575" h="1552575">
                <a:moveTo>
                  <a:pt x="1604962" y="22860"/>
                </a:moveTo>
                <a:lnTo>
                  <a:pt x="1490662" y="22860"/>
                </a:lnTo>
                <a:lnTo>
                  <a:pt x="1490662" y="28575"/>
                </a:lnTo>
                <a:lnTo>
                  <a:pt x="1604962" y="28575"/>
                </a:lnTo>
                <a:lnTo>
                  <a:pt x="1604962" y="22860"/>
                </a:lnTo>
                <a:close/>
              </a:path>
              <a:path w="2314575" h="1552575">
                <a:moveTo>
                  <a:pt x="1804987" y="0"/>
                </a:moveTo>
                <a:lnTo>
                  <a:pt x="1690687" y="0"/>
                </a:lnTo>
                <a:lnTo>
                  <a:pt x="1690687" y="17145"/>
                </a:lnTo>
                <a:lnTo>
                  <a:pt x="1804987" y="17145"/>
                </a:lnTo>
                <a:lnTo>
                  <a:pt x="1804987" y="0"/>
                </a:lnTo>
                <a:close/>
              </a:path>
              <a:path w="2314575" h="1552575">
                <a:moveTo>
                  <a:pt x="1804987" y="22860"/>
                </a:moveTo>
                <a:lnTo>
                  <a:pt x="1690687" y="22860"/>
                </a:lnTo>
                <a:lnTo>
                  <a:pt x="1690687" y="28575"/>
                </a:lnTo>
                <a:lnTo>
                  <a:pt x="1804987" y="28575"/>
                </a:lnTo>
                <a:lnTo>
                  <a:pt x="1804987" y="22860"/>
                </a:lnTo>
                <a:close/>
              </a:path>
              <a:path w="2314575" h="1552575">
                <a:moveTo>
                  <a:pt x="2005012" y="0"/>
                </a:moveTo>
                <a:lnTo>
                  <a:pt x="1890712" y="0"/>
                </a:lnTo>
                <a:lnTo>
                  <a:pt x="1890712" y="17145"/>
                </a:lnTo>
                <a:lnTo>
                  <a:pt x="2005012" y="17145"/>
                </a:lnTo>
                <a:lnTo>
                  <a:pt x="2005012" y="0"/>
                </a:lnTo>
                <a:close/>
              </a:path>
              <a:path w="2314575" h="1552575">
                <a:moveTo>
                  <a:pt x="2005012" y="22860"/>
                </a:moveTo>
                <a:lnTo>
                  <a:pt x="1890712" y="22860"/>
                </a:lnTo>
                <a:lnTo>
                  <a:pt x="1890712" y="28575"/>
                </a:lnTo>
                <a:lnTo>
                  <a:pt x="2005012" y="28575"/>
                </a:lnTo>
                <a:lnTo>
                  <a:pt x="2005012" y="22860"/>
                </a:lnTo>
                <a:close/>
              </a:path>
              <a:path w="2314575" h="1552575">
                <a:moveTo>
                  <a:pt x="2205037" y="0"/>
                </a:moveTo>
                <a:lnTo>
                  <a:pt x="2090737" y="0"/>
                </a:lnTo>
                <a:lnTo>
                  <a:pt x="2090737" y="17145"/>
                </a:lnTo>
                <a:lnTo>
                  <a:pt x="2205037" y="17145"/>
                </a:lnTo>
                <a:lnTo>
                  <a:pt x="2205037" y="0"/>
                </a:lnTo>
                <a:close/>
              </a:path>
              <a:path w="2314575" h="1552575">
                <a:moveTo>
                  <a:pt x="2205037" y="22860"/>
                </a:moveTo>
                <a:lnTo>
                  <a:pt x="2090737" y="22860"/>
                </a:lnTo>
                <a:lnTo>
                  <a:pt x="2090737" y="28575"/>
                </a:lnTo>
                <a:lnTo>
                  <a:pt x="2205037" y="28575"/>
                </a:lnTo>
                <a:lnTo>
                  <a:pt x="2205037" y="22860"/>
                </a:lnTo>
                <a:close/>
              </a:path>
              <a:path w="2314575" h="1552575">
                <a:moveTo>
                  <a:pt x="2291715" y="22860"/>
                </a:moveTo>
                <a:lnTo>
                  <a:pt x="2290762" y="22860"/>
                </a:lnTo>
                <a:lnTo>
                  <a:pt x="2286000" y="28575"/>
                </a:lnTo>
                <a:lnTo>
                  <a:pt x="2286000" y="119062"/>
                </a:lnTo>
                <a:lnTo>
                  <a:pt x="2291715" y="119062"/>
                </a:lnTo>
                <a:lnTo>
                  <a:pt x="2291715" y="22860"/>
                </a:lnTo>
                <a:close/>
              </a:path>
              <a:path w="2314575" h="1552575">
                <a:moveTo>
                  <a:pt x="2308178" y="0"/>
                </a:moveTo>
                <a:lnTo>
                  <a:pt x="2290762" y="0"/>
                </a:lnTo>
                <a:lnTo>
                  <a:pt x="2290762" y="17145"/>
                </a:lnTo>
                <a:lnTo>
                  <a:pt x="2297429" y="17145"/>
                </a:lnTo>
                <a:lnTo>
                  <a:pt x="2297429" y="119062"/>
                </a:lnTo>
                <a:lnTo>
                  <a:pt x="2314575" y="119062"/>
                </a:lnTo>
                <a:lnTo>
                  <a:pt x="2314575" y="6396"/>
                </a:lnTo>
                <a:lnTo>
                  <a:pt x="2308178" y="0"/>
                </a:lnTo>
                <a:close/>
              </a:path>
              <a:path w="2314575" h="1552575">
                <a:moveTo>
                  <a:pt x="2314575" y="204787"/>
                </a:moveTo>
                <a:lnTo>
                  <a:pt x="2297429" y="204787"/>
                </a:lnTo>
                <a:lnTo>
                  <a:pt x="2297429" y="319087"/>
                </a:lnTo>
                <a:lnTo>
                  <a:pt x="2314575" y="319087"/>
                </a:lnTo>
                <a:lnTo>
                  <a:pt x="2314575" y="204787"/>
                </a:lnTo>
                <a:close/>
              </a:path>
              <a:path w="2314575" h="1552575">
                <a:moveTo>
                  <a:pt x="2291715" y="204787"/>
                </a:moveTo>
                <a:lnTo>
                  <a:pt x="2286000" y="204787"/>
                </a:lnTo>
                <a:lnTo>
                  <a:pt x="2286000" y="319087"/>
                </a:lnTo>
                <a:lnTo>
                  <a:pt x="2291715" y="319087"/>
                </a:lnTo>
                <a:lnTo>
                  <a:pt x="2291715" y="204787"/>
                </a:lnTo>
                <a:close/>
              </a:path>
              <a:path w="2314575" h="1552575">
                <a:moveTo>
                  <a:pt x="2314575" y="404812"/>
                </a:moveTo>
                <a:lnTo>
                  <a:pt x="2297429" y="404812"/>
                </a:lnTo>
                <a:lnTo>
                  <a:pt x="2297429" y="519112"/>
                </a:lnTo>
                <a:lnTo>
                  <a:pt x="2314575" y="519112"/>
                </a:lnTo>
                <a:lnTo>
                  <a:pt x="2314575" y="404812"/>
                </a:lnTo>
                <a:close/>
              </a:path>
              <a:path w="2314575" h="1552575">
                <a:moveTo>
                  <a:pt x="2291715" y="404812"/>
                </a:moveTo>
                <a:lnTo>
                  <a:pt x="2286000" y="404812"/>
                </a:lnTo>
                <a:lnTo>
                  <a:pt x="2286000" y="519112"/>
                </a:lnTo>
                <a:lnTo>
                  <a:pt x="2291715" y="519112"/>
                </a:lnTo>
                <a:lnTo>
                  <a:pt x="2291715" y="404812"/>
                </a:lnTo>
                <a:close/>
              </a:path>
              <a:path w="2314575" h="1552575">
                <a:moveTo>
                  <a:pt x="2314575" y="604837"/>
                </a:moveTo>
                <a:lnTo>
                  <a:pt x="2297429" y="604837"/>
                </a:lnTo>
                <a:lnTo>
                  <a:pt x="2297429" y="719137"/>
                </a:lnTo>
                <a:lnTo>
                  <a:pt x="2314575" y="719137"/>
                </a:lnTo>
                <a:lnTo>
                  <a:pt x="2314575" y="604837"/>
                </a:lnTo>
                <a:close/>
              </a:path>
              <a:path w="2314575" h="1552575">
                <a:moveTo>
                  <a:pt x="2291715" y="604837"/>
                </a:moveTo>
                <a:lnTo>
                  <a:pt x="2286000" y="604837"/>
                </a:lnTo>
                <a:lnTo>
                  <a:pt x="2286000" y="719137"/>
                </a:lnTo>
                <a:lnTo>
                  <a:pt x="2291715" y="719137"/>
                </a:lnTo>
                <a:lnTo>
                  <a:pt x="2291715" y="604837"/>
                </a:lnTo>
                <a:close/>
              </a:path>
              <a:path w="2314575" h="1552575">
                <a:moveTo>
                  <a:pt x="2314575" y="804862"/>
                </a:moveTo>
                <a:lnTo>
                  <a:pt x="2297429" y="804862"/>
                </a:lnTo>
                <a:lnTo>
                  <a:pt x="2297429" y="919162"/>
                </a:lnTo>
                <a:lnTo>
                  <a:pt x="2314575" y="919162"/>
                </a:lnTo>
                <a:lnTo>
                  <a:pt x="2314575" y="804862"/>
                </a:lnTo>
                <a:close/>
              </a:path>
              <a:path w="2314575" h="1552575">
                <a:moveTo>
                  <a:pt x="2291715" y="804862"/>
                </a:moveTo>
                <a:lnTo>
                  <a:pt x="2286000" y="804862"/>
                </a:lnTo>
                <a:lnTo>
                  <a:pt x="2286000" y="919162"/>
                </a:lnTo>
                <a:lnTo>
                  <a:pt x="2291715" y="919162"/>
                </a:lnTo>
                <a:lnTo>
                  <a:pt x="2291715" y="804862"/>
                </a:lnTo>
                <a:close/>
              </a:path>
              <a:path w="2314575" h="1552575">
                <a:moveTo>
                  <a:pt x="2314575" y="1004887"/>
                </a:moveTo>
                <a:lnTo>
                  <a:pt x="2297429" y="1004887"/>
                </a:lnTo>
                <a:lnTo>
                  <a:pt x="2297429" y="1119187"/>
                </a:lnTo>
                <a:lnTo>
                  <a:pt x="2314575" y="1119187"/>
                </a:lnTo>
                <a:lnTo>
                  <a:pt x="2314575" y="1004887"/>
                </a:lnTo>
                <a:close/>
              </a:path>
              <a:path w="2314575" h="1552575">
                <a:moveTo>
                  <a:pt x="2291715" y="1004887"/>
                </a:moveTo>
                <a:lnTo>
                  <a:pt x="2286000" y="1004887"/>
                </a:lnTo>
                <a:lnTo>
                  <a:pt x="2286000" y="1119187"/>
                </a:lnTo>
                <a:lnTo>
                  <a:pt x="2291715" y="1119187"/>
                </a:lnTo>
                <a:lnTo>
                  <a:pt x="2291715" y="1004887"/>
                </a:lnTo>
                <a:close/>
              </a:path>
              <a:path w="2314575" h="1552575">
                <a:moveTo>
                  <a:pt x="2314575" y="1204912"/>
                </a:moveTo>
                <a:lnTo>
                  <a:pt x="2297429" y="1204912"/>
                </a:lnTo>
                <a:lnTo>
                  <a:pt x="2297429" y="1319212"/>
                </a:lnTo>
                <a:lnTo>
                  <a:pt x="2314575" y="1319212"/>
                </a:lnTo>
                <a:lnTo>
                  <a:pt x="2314575" y="1204912"/>
                </a:lnTo>
                <a:close/>
              </a:path>
              <a:path w="2314575" h="1552575">
                <a:moveTo>
                  <a:pt x="2291715" y="1204912"/>
                </a:moveTo>
                <a:lnTo>
                  <a:pt x="2286000" y="1204912"/>
                </a:lnTo>
                <a:lnTo>
                  <a:pt x="2286000" y="1319212"/>
                </a:lnTo>
                <a:lnTo>
                  <a:pt x="2291715" y="1319212"/>
                </a:lnTo>
                <a:lnTo>
                  <a:pt x="2291715" y="1204912"/>
                </a:lnTo>
                <a:close/>
              </a:path>
              <a:path w="2314575" h="1552575">
                <a:moveTo>
                  <a:pt x="2314575" y="1404937"/>
                </a:moveTo>
                <a:lnTo>
                  <a:pt x="2297429" y="1404937"/>
                </a:lnTo>
                <a:lnTo>
                  <a:pt x="2297429" y="1519237"/>
                </a:lnTo>
                <a:lnTo>
                  <a:pt x="2314575" y="1519237"/>
                </a:lnTo>
                <a:lnTo>
                  <a:pt x="2314575" y="1404937"/>
                </a:lnTo>
                <a:close/>
              </a:path>
              <a:path w="2314575" h="1552575">
                <a:moveTo>
                  <a:pt x="2291715" y="1404937"/>
                </a:moveTo>
                <a:lnTo>
                  <a:pt x="2286000" y="1404937"/>
                </a:lnTo>
                <a:lnTo>
                  <a:pt x="2286000" y="1519237"/>
                </a:lnTo>
                <a:lnTo>
                  <a:pt x="2291715" y="1519237"/>
                </a:lnTo>
                <a:lnTo>
                  <a:pt x="2291715" y="1404937"/>
                </a:lnTo>
                <a:close/>
              </a:path>
              <a:path w="2314575" h="1552575">
                <a:moveTo>
                  <a:pt x="2233612" y="1535429"/>
                </a:moveTo>
                <a:lnTo>
                  <a:pt x="2119312" y="1535429"/>
                </a:lnTo>
                <a:lnTo>
                  <a:pt x="2119312" y="1552574"/>
                </a:lnTo>
                <a:lnTo>
                  <a:pt x="2233612" y="1552574"/>
                </a:lnTo>
                <a:lnTo>
                  <a:pt x="2233612" y="1535429"/>
                </a:lnTo>
                <a:close/>
              </a:path>
              <a:path w="2314575" h="1552575">
                <a:moveTo>
                  <a:pt x="2233612" y="1523999"/>
                </a:moveTo>
                <a:lnTo>
                  <a:pt x="2119312" y="1523999"/>
                </a:lnTo>
                <a:lnTo>
                  <a:pt x="2119312" y="1529714"/>
                </a:lnTo>
                <a:lnTo>
                  <a:pt x="2233612" y="1529714"/>
                </a:lnTo>
                <a:lnTo>
                  <a:pt x="2233612" y="1523999"/>
                </a:lnTo>
                <a:close/>
              </a:path>
              <a:path w="2314575" h="1552575">
                <a:moveTo>
                  <a:pt x="2033587" y="1535429"/>
                </a:moveTo>
                <a:lnTo>
                  <a:pt x="1919287" y="1535429"/>
                </a:lnTo>
                <a:lnTo>
                  <a:pt x="1919287" y="1552574"/>
                </a:lnTo>
                <a:lnTo>
                  <a:pt x="2033587" y="1552574"/>
                </a:lnTo>
                <a:lnTo>
                  <a:pt x="2033587" y="1535429"/>
                </a:lnTo>
                <a:close/>
              </a:path>
              <a:path w="2314575" h="1552575">
                <a:moveTo>
                  <a:pt x="2033587" y="1523999"/>
                </a:moveTo>
                <a:lnTo>
                  <a:pt x="1919287" y="1523999"/>
                </a:lnTo>
                <a:lnTo>
                  <a:pt x="1919287" y="1529714"/>
                </a:lnTo>
                <a:lnTo>
                  <a:pt x="2033587" y="1529714"/>
                </a:lnTo>
                <a:lnTo>
                  <a:pt x="2033587" y="1523999"/>
                </a:lnTo>
                <a:close/>
              </a:path>
              <a:path w="2314575" h="1552575">
                <a:moveTo>
                  <a:pt x="1833562" y="1535429"/>
                </a:moveTo>
                <a:lnTo>
                  <a:pt x="1719262" y="1535429"/>
                </a:lnTo>
                <a:lnTo>
                  <a:pt x="1719262" y="1552574"/>
                </a:lnTo>
                <a:lnTo>
                  <a:pt x="1833562" y="1552574"/>
                </a:lnTo>
                <a:lnTo>
                  <a:pt x="1833562" y="1535429"/>
                </a:lnTo>
                <a:close/>
              </a:path>
              <a:path w="2314575" h="1552575">
                <a:moveTo>
                  <a:pt x="1833562" y="1523999"/>
                </a:moveTo>
                <a:lnTo>
                  <a:pt x="1719262" y="1523999"/>
                </a:lnTo>
                <a:lnTo>
                  <a:pt x="1719262" y="1529714"/>
                </a:lnTo>
                <a:lnTo>
                  <a:pt x="1833562" y="1529714"/>
                </a:lnTo>
                <a:lnTo>
                  <a:pt x="1833562" y="1523999"/>
                </a:lnTo>
                <a:close/>
              </a:path>
              <a:path w="2314575" h="1552575">
                <a:moveTo>
                  <a:pt x="1633537" y="1535429"/>
                </a:moveTo>
                <a:lnTo>
                  <a:pt x="1519237" y="1535429"/>
                </a:lnTo>
                <a:lnTo>
                  <a:pt x="1519237" y="1552574"/>
                </a:lnTo>
                <a:lnTo>
                  <a:pt x="1633537" y="1552574"/>
                </a:lnTo>
                <a:lnTo>
                  <a:pt x="1633537" y="1535429"/>
                </a:lnTo>
                <a:close/>
              </a:path>
              <a:path w="2314575" h="1552575">
                <a:moveTo>
                  <a:pt x="1633537" y="1523999"/>
                </a:moveTo>
                <a:lnTo>
                  <a:pt x="1519237" y="1523999"/>
                </a:lnTo>
                <a:lnTo>
                  <a:pt x="1519237" y="1529714"/>
                </a:lnTo>
                <a:lnTo>
                  <a:pt x="1633537" y="1529714"/>
                </a:lnTo>
                <a:lnTo>
                  <a:pt x="1633537" y="1523999"/>
                </a:lnTo>
                <a:close/>
              </a:path>
              <a:path w="2314575" h="1552575">
                <a:moveTo>
                  <a:pt x="1433512" y="1535429"/>
                </a:moveTo>
                <a:lnTo>
                  <a:pt x="1319212" y="1535429"/>
                </a:lnTo>
                <a:lnTo>
                  <a:pt x="1319212" y="1552574"/>
                </a:lnTo>
                <a:lnTo>
                  <a:pt x="1433512" y="1552574"/>
                </a:lnTo>
                <a:lnTo>
                  <a:pt x="1433512" y="1535429"/>
                </a:lnTo>
                <a:close/>
              </a:path>
              <a:path w="2314575" h="1552575">
                <a:moveTo>
                  <a:pt x="1433512" y="1523999"/>
                </a:moveTo>
                <a:lnTo>
                  <a:pt x="1319212" y="1523999"/>
                </a:lnTo>
                <a:lnTo>
                  <a:pt x="1319212" y="1529714"/>
                </a:lnTo>
                <a:lnTo>
                  <a:pt x="1433512" y="1529714"/>
                </a:lnTo>
                <a:lnTo>
                  <a:pt x="1433512" y="1523999"/>
                </a:lnTo>
                <a:close/>
              </a:path>
              <a:path w="2314575" h="1552575">
                <a:moveTo>
                  <a:pt x="1233487" y="1535429"/>
                </a:moveTo>
                <a:lnTo>
                  <a:pt x="1119187" y="1535429"/>
                </a:lnTo>
                <a:lnTo>
                  <a:pt x="1119187" y="1552574"/>
                </a:lnTo>
                <a:lnTo>
                  <a:pt x="1233487" y="1552574"/>
                </a:lnTo>
                <a:lnTo>
                  <a:pt x="1233487" y="1535429"/>
                </a:lnTo>
                <a:close/>
              </a:path>
              <a:path w="2314575" h="1552575">
                <a:moveTo>
                  <a:pt x="1233487" y="1523999"/>
                </a:moveTo>
                <a:lnTo>
                  <a:pt x="1119187" y="1523999"/>
                </a:lnTo>
                <a:lnTo>
                  <a:pt x="1119187" y="1529714"/>
                </a:lnTo>
                <a:lnTo>
                  <a:pt x="1233487" y="1529714"/>
                </a:lnTo>
                <a:lnTo>
                  <a:pt x="1233487" y="1523999"/>
                </a:lnTo>
                <a:close/>
              </a:path>
              <a:path w="2314575" h="1552575">
                <a:moveTo>
                  <a:pt x="1033462" y="1535429"/>
                </a:moveTo>
                <a:lnTo>
                  <a:pt x="919162" y="1535429"/>
                </a:lnTo>
                <a:lnTo>
                  <a:pt x="919162" y="1552574"/>
                </a:lnTo>
                <a:lnTo>
                  <a:pt x="1033462" y="1552574"/>
                </a:lnTo>
                <a:lnTo>
                  <a:pt x="1033462" y="1535429"/>
                </a:lnTo>
                <a:close/>
              </a:path>
              <a:path w="2314575" h="1552575">
                <a:moveTo>
                  <a:pt x="1033462" y="1523999"/>
                </a:moveTo>
                <a:lnTo>
                  <a:pt x="919162" y="1523999"/>
                </a:lnTo>
                <a:lnTo>
                  <a:pt x="919162" y="1529714"/>
                </a:lnTo>
                <a:lnTo>
                  <a:pt x="1033462" y="1529714"/>
                </a:lnTo>
                <a:lnTo>
                  <a:pt x="1033462" y="1523999"/>
                </a:lnTo>
                <a:close/>
              </a:path>
              <a:path w="2314575" h="1552575">
                <a:moveTo>
                  <a:pt x="833437" y="1535429"/>
                </a:moveTo>
                <a:lnTo>
                  <a:pt x="719137" y="1535429"/>
                </a:lnTo>
                <a:lnTo>
                  <a:pt x="719137" y="1552574"/>
                </a:lnTo>
                <a:lnTo>
                  <a:pt x="833437" y="1552574"/>
                </a:lnTo>
                <a:lnTo>
                  <a:pt x="833437" y="1535429"/>
                </a:lnTo>
                <a:close/>
              </a:path>
              <a:path w="2314575" h="1552575">
                <a:moveTo>
                  <a:pt x="833437" y="1523999"/>
                </a:moveTo>
                <a:lnTo>
                  <a:pt x="719137" y="1523999"/>
                </a:lnTo>
                <a:lnTo>
                  <a:pt x="719137" y="1529714"/>
                </a:lnTo>
                <a:lnTo>
                  <a:pt x="833437" y="1529714"/>
                </a:lnTo>
                <a:lnTo>
                  <a:pt x="833437" y="1523999"/>
                </a:lnTo>
                <a:close/>
              </a:path>
              <a:path w="2314575" h="1552575">
                <a:moveTo>
                  <a:pt x="633412" y="1535429"/>
                </a:moveTo>
                <a:lnTo>
                  <a:pt x="519112" y="1535429"/>
                </a:lnTo>
                <a:lnTo>
                  <a:pt x="519112" y="1552574"/>
                </a:lnTo>
                <a:lnTo>
                  <a:pt x="633412" y="1552574"/>
                </a:lnTo>
                <a:lnTo>
                  <a:pt x="633412" y="1535429"/>
                </a:lnTo>
                <a:close/>
              </a:path>
              <a:path w="2314575" h="1552575">
                <a:moveTo>
                  <a:pt x="633412" y="1523999"/>
                </a:moveTo>
                <a:lnTo>
                  <a:pt x="519112" y="1523999"/>
                </a:lnTo>
                <a:lnTo>
                  <a:pt x="519112" y="1529714"/>
                </a:lnTo>
                <a:lnTo>
                  <a:pt x="633412" y="1529714"/>
                </a:lnTo>
                <a:lnTo>
                  <a:pt x="633412" y="1523999"/>
                </a:lnTo>
                <a:close/>
              </a:path>
              <a:path w="2314575" h="1552575">
                <a:moveTo>
                  <a:pt x="433387" y="1535429"/>
                </a:moveTo>
                <a:lnTo>
                  <a:pt x="319087" y="1535429"/>
                </a:lnTo>
                <a:lnTo>
                  <a:pt x="319087" y="1552574"/>
                </a:lnTo>
                <a:lnTo>
                  <a:pt x="433387" y="1552574"/>
                </a:lnTo>
                <a:lnTo>
                  <a:pt x="433387" y="1535429"/>
                </a:lnTo>
                <a:close/>
              </a:path>
              <a:path w="2314575" h="1552575">
                <a:moveTo>
                  <a:pt x="433387" y="1523999"/>
                </a:moveTo>
                <a:lnTo>
                  <a:pt x="319087" y="1523999"/>
                </a:lnTo>
                <a:lnTo>
                  <a:pt x="319087" y="1529714"/>
                </a:lnTo>
                <a:lnTo>
                  <a:pt x="433387" y="1529714"/>
                </a:lnTo>
                <a:lnTo>
                  <a:pt x="433387" y="1523999"/>
                </a:lnTo>
                <a:close/>
              </a:path>
              <a:path w="2314575" h="1552575">
                <a:moveTo>
                  <a:pt x="233362" y="1535429"/>
                </a:moveTo>
                <a:lnTo>
                  <a:pt x="119062" y="1535429"/>
                </a:lnTo>
                <a:lnTo>
                  <a:pt x="119062" y="1552574"/>
                </a:lnTo>
                <a:lnTo>
                  <a:pt x="233362" y="1552574"/>
                </a:lnTo>
                <a:lnTo>
                  <a:pt x="233362" y="1535429"/>
                </a:lnTo>
                <a:close/>
              </a:path>
              <a:path w="2314575" h="1552575">
                <a:moveTo>
                  <a:pt x="233362" y="1523999"/>
                </a:moveTo>
                <a:lnTo>
                  <a:pt x="119062" y="1523999"/>
                </a:lnTo>
                <a:lnTo>
                  <a:pt x="119062" y="1529714"/>
                </a:lnTo>
                <a:lnTo>
                  <a:pt x="233362" y="1529714"/>
                </a:lnTo>
                <a:lnTo>
                  <a:pt x="233362" y="1523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30218" y="5746019"/>
            <a:ext cx="62230" cy="66040"/>
          </a:xfrm>
          <a:custGeom>
            <a:avLst/>
            <a:gdLst/>
            <a:ahLst/>
            <a:cxnLst/>
            <a:rect l="l" t="t" r="r" b="b"/>
            <a:pathLst>
              <a:path w="62229" h="66039">
                <a:moveTo>
                  <a:pt x="31099" y="0"/>
                </a:moveTo>
                <a:lnTo>
                  <a:pt x="18994" y="2570"/>
                </a:lnTo>
                <a:lnTo>
                  <a:pt x="9109" y="9579"/>
                </a:lnTo>
                <a:lnTo>
                  <a:pt x="2444" y="19976"/>
                </a:lnTo>
                <a:lnTo>
                  <a:pt x="0" y="32707"/>
                </a:lnTo>
                <a:lnTo>
                  <a:pt x="2444" y="45438"/>
                </a:lnTo>
                <a:lnTo>
                  <a:pt x="9109" y="55834"/>
                </a:lnTo>
                <a:lnTo>
                  <a:pt x="18994" y="62843"/>
                </a:lnTo>
                <a:lnTo>
                  <a:pt x="31099" y="65414"/>
                </a:lnTo>
                <a:lnTo>
                  <a:pt x="43205" y="62843"/>
                </a:lnTo>
                <a:lnTo>
                  <a:pt x="53091" y="55834"/>
                </a:lnTo>
                <a:lnTo>
                  <a:pt x="59756" y="45438"/>
                </a:lnTo>
                <a:lnTo>
                  <a:pt x="62200" y="32707"/>
                </a:lnTo>
                <a:lnTo>
                  <a:pt x="59756" y="19976"/>
                </a:lnTo>
                <a:lnTo>
                  <a:pt x="53091" y="9579"/>
                </a:lnTo>
                <a:lnTo>
                  <a:pt x="43205" y="2570"/>
                </a:lnTo>
                <a:lnTo>
                  <a:pt x="31099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15908" y="5731705"/>
            <a:ext cx="91440" cy="94615"/>
          </a:xfrm>
          <a:custGeom>
            <a:avLst/>
            <a:gdLst/>
            <a:ahLst/>
            <a:cxnLst/>
            <a:rect l="l" t="t" r="r" b="b"/>
            <a:pathLst>
              <a:path w="91439" h="94614">
                <a:moveTo>
                  <a:pt x="45915" y="0"/>
                </a:moveTo>
                <a:lnTo>
                  <a:pt x="44904" y="0"/>
                </a:lnTo>
                <a:lnTo>
                  <a:pt x="36642" y="876"/>
                </a:lnTo>
                <a:lnTo>
                  <a:pt x="3996" y="27715"/>
                </a:lnTo>
                <a:lnTo>
                  <a:pt x="0" y="46564"/>
                </a:lnTo>
                <a:lnTo>
                  <a:pt x="0" y="47477"/>
                </a:lnTo>
                <a:lnTo>
                  <a:pt x="26212" y="89644"/>
                </a:lnTo>
                <a:lnTo>
                  <a:pt x="44905" y="94042"/>
                </a:lnTo>
                <a:lnTo>
                  <a:pt x="45914" y="94042"/>
                </a:lnTo>
                <a:lnTo>
                  <a:pt x="80074" y="76854"/>
                </a:lnTo>
                <a:lnTo>
                  <a:pt x="45410" y="76854"/>
                </a:lnTo>
                <a:lnTo>
                  <a:pt x="39743" y="76253"/>
                </a:lnTo>
                <a:lnTo>
                  <a:pt x="17224" y="47477"/>
                </a:lnTo>
                <a:lnTo>
                  <a:pt x="17224" y="46564"/>
                </a:lnTo>
                <a:lnTo>
                  <a:pt x="45410" y="17187"/>
                </a:lnTo>
                <a:lnTo>
                  <a:pt x="80074" y="17187"/>
                </a:lnTo>
                <a:lnTo>
                  <a:pt x="78440" y="14638"/>
                </a:lnTo>
                <a:lnTo>
                  <a:pt x="54179" y="876"/>
                </a:lnTo>
                <a:lnTo>
                  <a:pt x="45915" y="0"/>
                </a:lnTo>
                <a:close/>
              </a:path>
              <a:path w="91439" h="94614">
                <a:moveTo>
                  <a:pt x="80074" y="17187"/>
                </a:moveTo>
                <a:lnTo>
                  <a:pt x="45410" y="17187"/>
                </a:lnTo>
                <a:lnTo>
                  <a:pt x="51078" y="17788"/>
                </a:lnTo>
                <a:lnTo>
                  <a:pt x="56216" y="19466"/>
                </a:lnTo>
                <a:lnTo>
                  <a:pt x="73595" y="47477"/>
                </a:lnTo>
                <a:lnTo>
                  <a:pt x="73060" y="53066"/>
                </a:lnTo>
                <a:lnTo>
                  <a:pt x="45410" y="76854"/>
                </a:lnTo>
                <a:lnTo>
                  <a:pt x="80074" y="76854"/>
                </a:lnTo>
                <a:lnTo>
                  <a:pt x="90820" y="47477"/>
                </a:lnTo>
                <a:lnTo>
                  <a:pt x="90820" y="46564"/>
                </a:lnTo>
                <a:lnTo>
                  <a:pt x="90013" y="38157"/>
                </a:lnTo>
                <a:lnTo>
                  <a:pt x="89839" y="37259"/>
                </a:lnTo>
                <a:lnTo>
                  <a:pt x="87387" y="28950"/>
                </a:lnTo>
                <a:lnTo>
                  <a:pt x="86823" y="27715"/>
                </a:lnTo>
                <a:lnTo>
                  <a:pt x="80074" y="17187"/>
                </a:lnTo>
                <a:close/>
              </a:path>
              <a:path w="91439" h="94614">
                <a:moveTo>
                  <a:pt x="45410" y="22934"/>
                </a:moveTo>
                <a:lnTo>
                  <a:pt x="22965" y="47477"/>
                </a:lnTo>
                <a:lnTo>
                  <a:pt x="23395" y="51975"/>
                </a:lnTo>
                <a:lnTo>
                  <a:pt x="45410" y="71107"/>
                </a:lnTo>
                <a:lnTo>
                  <a:pt x="49876" y="70633"/>
                </a:lnTo>
                <a:lnTo>
                  <a:pt x="53619" y="69412"/>
                </a:lnTo>
                <a:lnTo>
                  <a:pt x="59333" y="65360"/>
                </a:lnTo>
                <a:lnTo>
                  <a:pt x="45410" y="65360"/>
                </a:lnTo>
                <a:lnTo>
                  <a:pt x="42144" y="65014"/>
                </a:lnTo>
                <a:lnTo>
                  <a:pt x="28706" y="47477"/>
                </a:lnTo>
                <a:lnTo>
                  <a:pt x="28706" y="46564"/>
                </a:lnTo>
                <a:lnTo>
                  <a:pt x="45410" y="28681"/>
                </a:lnTo>
                <a:lnTo>
                  <a:pt x="59333" y="28681"/>
                </a:lnTo>
                <a:lnTo>
                  <a:pt x="53619" y="24629"/>
                </a:lnTo>
                <a:lnTo>
                  <a:pt x="49876" y="23408"/>
                </a:lnTo>
                <a:lnTo>
                  <a:pt x="45410" y="22934"/>
                </a:lnTo>
                <a:close/>
              </a:path>
              <a:path w="91439" h="94614">
                <a:moveTo>
                  <a:pt x="59333" y="28681"/>
                </a:moveTo>
                <a:lnTo>
                  <a:pt x="45410" y="28681"/>
                </a:lnTo>
                <a:lnTo>
                  <a:pt x="48675" y="29027"/>
                </a:lnTo>
                <a:lnTo>
                  <a:pt x="51020" y="29793"/>
                </a:lnTo>
                <a:lnTo>
                  <a:pt x="62113" y="47477"/>
                </a:lnTo>
                <a:lnTo>
                  <a:pt x="61788" y="50883"/>
                </a:lnTo>
                <a:lnTo>
                  <a:pt x="45410" y="65360"/>
                </a:lnTo>
                <a:lnTo>
                  <a:pt x="59333" y="65360"/>
                </a:lnTo>
                <a:lnTo>
                  <a:pt x="61084" y="64118"/>
                </a:lnTo>
                <a:lnTo>
                  <a:pt x="66191" y="56153"/>
                </a:lnTo>
                <a:lnTo>
                  <a:pt x="67424" y="51975"/>
                </a:lnTo>
                <a:lnTo>
                  <a:pt x="67855" y="47477"/>
                </a:lnTo>
                <a:lnTo>
                  <a:pt x="67855" y="46564"/>
                </a:lnTo>
                <a:lnTo>
                  <a:pt x="67424" y="42066"/>
                </a:lnTo>
                <a:lnTo>
                  <a:pt x="66191" y="37888"/>
                </a:lnTo>
                <a:lnTo>
                  <a:pt x="61084" y="29922"/>
                </a:lnTo>
                <a:lnTo>
                  <a:pt x="59333" y="286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79249" y="4410772"/>
            <a:ext cx="45720" cy="46355"/>
          </a:xfrm>
          <a:custGeom>
            <a:avLst/>
            <a:gdLst/>
            <a:ahLst/>
            <a:cxnLst/>
            <a:rect l="l" t="t" r="r" b="b"/>
            <a:pathLst>
              <a:path w="45720" h="46354">
                <a:moveTo>
                  <a:pt x="22858" y="0"/>
                </a:moveTo>
                <a:lnTo>
                  <a:pt x="13960" y="1810"/>
                </a:lnTo>
                <a:lnTo>
                  <a:pt x="6694" y="6747"/>
                </a:lnTo>
                <a:lnTo>
                  <a:pt x="1796" y="14070"/>
                </a:lnTo>
                <a:lnTo>
                  <a:pt x="0" y="23037"/>
                </a:lnTo>
                <a:lnTo>
                  <a:pt x="1796" y="32005"/>
                </a:lnTo>
                <a:lnTo>
                  <a:pt x="6694" y="39328"/>
                </a:lnTo>
                <a:lnTo>
                  <a:pt x="13960" y="44266"/>
                </a:lnTo>
                <a:lnTo>
                  <a:pt x="22858" y="46076"/>
                </a:lnTo>
                <a:lnTo>
                  <a:pt x="31756" y="44266"/>
                </a:lnTo>
                <a:lnTo>
                  <a:pt x="39023" y="39328"/>
                </a:lnTo>
                <a:lnTo>
                  <a:pt x="43922" y="32005"/>
                </a:lnTo>
                <a:lnTo>
                  <a:pt x="45718" y="23037"/>
                </a:lnTo>
                <a:lnTo>
                  <a:pt x="43922" y="14070"/>
                </a:lnTo>
                <a:lnTo>
                  <a:pt x="39023" y="6747"/>
                </a:lnTo>
                <a:lnTo>
                  <a:pt x="31756" y="1810"/>
                </a:lnTo>
                <a:lnTo>
                  <a:pt x="22858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764869" y="4396388"/>
            <a:ext cx="74930" cy="74930"/>
          </a:xfrm>
          <a:custGeom>
            <a:avLst/>
            <a:gdLst/>
            <a:ahLst/>
            <a:cxnLst/>
            <a:rect l="l" t="t" r="r" b="b"/>
            <a:pathLst>
              <a:path w="74929" h="74929">
                <a:moveTo>
                  <a:pt x="38207" y="0"/>
                </a:moveTo>
                <a:lnTo>
                  <a:pt x="36271" y="0"/>
                </a:lnTo>
                <a:lnTo>
                  <a:pt x="23638" y="2570"/>
                </a:lnTo>
                <a:lnTo>
                  <a:pt x="0" y="36468"/>
                </a:lnTo>
                <a:lnTo>
                  <a:pt x="0" y="38375"/>
                </a:lnTo>
                <a:lnTo>
                  <a:pt x="21877" y="71531"/>
                </a:lnTo>
                <a:lnTo>
                  <a:pt x="36271" y="74843"/>
                </a:lnTo>
                <a:lnTo>
                  <a:pt x="38207" y="74843"/>
                </a:lnTo>
                <a:lnTo>
                  <a:pt x="68030" y="57544"/>
                </a:lnTo>
                <a:lnTo>
                  <a:pt x="37238" y="57544"/>
                </a:lnTo>
                <a:lnTo>
                  <a:pt x="29472" y="55965"/>
                </a:lnTo>
                <a:lnTo>
                  <a:pt x="23140" y="51662"/>
                </a:lnTo>
                <a:lnTo>
                  <a:pt x="18867" y="45272"/>
                </a:lnTo>
                <a:lnTo>
                  <a:pt x="17293" y="37421"/>
                </a:lnTo>
                <a:lnTo>
                  <a:pt x="18867" y="29571"/>
                </a:lnTo>
                <a:lnTo>
                  <a:pt x="23140" y="23182"/>
                </a:lnTo>
                <a:lnTo>
                  <a:pt x="29472" y="18879"/>
                </a:lnTo>
                <a:lnTo>
                  <a:pt x="37238" y="17299"/>
                </a:lnTo>
                <a:lnTo>
                  <a:pt x="68030" y="17299"/>
                </a:lnTo>
                <a:lnTo>
                  <a:pt x="64258" y="11661"/>
                </a:lnTo>
                <a:lnTo>
                  <a:pt x="62952" y="10346"/>
                </a:lnTo>
                <a:lnTo>
                  <a:pt x="52602" y="3313"/>
                </a:lnTo>
                <a:lnTo>
                  <a:pt x="50840" y="2570"/>
                </a:lnTo>
                <a:lnTo>
                  <a:pt x="38207" y="0"/>
                </a:lnTo>
                <a:close/>
              </a:path>
              <a:path w="74929" h="74929">
                <a:moveTo>
                  <a:pt x="68030" y="17299"/>
                </a:moveTo>
                <a:lnTo>
                  <a:pt x="37238" y="17299"/>
                </a:lnTo>
                <a:lnTo>
                  <a:pt x="45006" y="18879"/>
                </a:lnTo>
                <a:lnTo>
                  <a:pt x="51337" y="23182"/>
                </a:lnTo>
                <a:lnTo>
                  <a:pt x="55612" y="29571"/>
                </a:lnTo>
                <a:lnTo>
                  <a:pt x="57184" y="37421"/>
                </a:lnTo>
                <a:lnTo>
                  <a:pt x="55612" y="45272"/>
                </a:lnTo>
                <a:lnTo>
                  <a:pt x="51337" y="51662"/>
                </a:lnTo>
                <a:lnTo>
                  <a:pt x="45006" y="55965"/>
                </a:lnTo>
                <a:lnTo>
                  <a:pt x="37238" y="57544"/>
                </a:lnTo>
                <a:lnTo>
                  <a:pt x="68030" y="57544"/>
                </a:lnTo>
                <a:lnTo>
                  <a:pt x="71219" y="52777"/>
                </a:lnTo>
                <a:lnTo>
                  <a:pt x="71944" y="51032"/>
                </a:lnTo>
                <a:lnTo>
                  <a:pt x="74479" y="38375"/>
                </a:lnTo>
                <a:lnTo>
                  <a:pt x="74479" y="36468"/>
                </a:lnTo>
                <a:lnTo>
                  <a:pt x="71944" y="23812"/>
                </a:lnTo>
                <a:lnTo>
                  <a:pt x="71219" y="22066"/>
                </a:lnTo>
                <a:lnTo>
                  <a:pt x="68030" y="17299"/>
                </a:lnTo>
                <a:close/>
              </a:path>
              <a:path w="74929" h="74929">
                <a:moveTo>
                  <a:pt x="37238" y="23131"/>
                </a:moveTo>
                <a:lnTo>
                  <a:pt x="31736" y="24251"/>
                </a:lnTo>
                <a:lnTo>
                  <a:pt x="27273" y="27284"/>
                </a:lnTo>
                <a:lnTo>
                  <a:pt x="24248" y="31807"/>
                </a:lnTo>
                <a:lnTo>
                  <a:pt x="23122" y="37421"/>
                </a:lnTo>
                <a:lnTo>
                  <a:pt x="24248" y="43037"/>
                </a:lnTo>
                <a:lnTo>
                  <a:pt x="27273" y="47560"/>
                </a:lnTo>
                <a:lnTo>
                  <a:pt x="31736" y="50592"/>
                </a:lnTo>
                <a:lnTo>
                  <a:pt x="37238" y="51713"/>
                </a:lnTo>
                <a:lnTo>
                  <a:pt x="42741" y="50592"/>
                </a:lnTo>
                <a:lnTo>
                  <a:pt x="47205" y="47560"/>
                </a:lnTo>
                <a:lnTo>
                  <a:pt x="48329" y="45880"/>
                </a:lnTo>
                <a:lnTo>
                  <a:pt x="37238" y="45880"/>
                </a:lnTo>
                <a:lnTo>
                  <a:pt x="34000" y="45220"/>
                </a:lnTo>
                <a:lnTo>
                  <a:pt x="31404" y="43458"/>
                </a:lnTo>
                <a:lnTo>
                  <a:pt x="29627" y="40802"/>
                </a:lnTo>
                <a:lnTo>
                  <a:pt x="28950" y="37421"/>
                </a:lnTo>
                <a:lnTo>
                  <a:pt x="29627" y="34042"/>
                </a:lnTo>
                <a:lnTo>
                  <a:pt x="31404" y="31386"/>
                </a:lnTo>
                <a:lnTo>
                  <a:pt x="34000" y="29622"/>
                </a:lnTo>
                <a:lnTo>
                  <a:pt x="37238" y="28963"/>
                </a:lnTo>
                <a:lnTo>
                  <a:pt x="48328" y="28963"/>
                </a:lnTo>
                <a:lnTo>
                  <a:pt x="47205" y="27284"/>
                </a:lnTo>
                <a:lnTo>
                  <a:pt x="42741" y="24251"/>
                </a:lnTo>
                <a:lnTo>
                  <a:pt x="37238" y="23131"/>
                </a:lnTo>
                <a:close/>
              </a:path>
              <a:path w="74929" h="74929">
                <a:moveTo>
                  <a:pt x="48328" y="28963"/>
                </a:moveTo>
                <a:lnTo>
                  <a:pt x="37238" y="28963"/>
                </a:lnTo>
                <a:lnTo>
                  <a:pt x="40478" y="29622"/>
                </a:lnTo>
                <a:lnTo>
                  <a:pt x="43074" y="31386"/>
                </a:lnTo>
                <a:lnTo>
                  <a:pt x="44850" y="34042"/>
                </a:lnTo>
                <a:lnTo>
                  <a:pt x="45526" y="37421"/>
                </a:lnTo>
                <a:lnTo>
                  <a:pt x="44850" y="40802"/>
                </a:lnTo>
                <a:lnTo>
                  <a:pt x="43074" y="43458"/>
                </a:lnTo>
                <a:lnTo>
                  <a:pt x="40478" y="45220"/>
                </a:lnTo>
                <a:lnTo>
                  <a:pt x="37238" y="45880"/>
                </a:lnTo>
                <a:lnTo>
                  <a:pt x="48329" y="45880"/>
                </a:lnTo>
                <a:lnTo>
                  <a:pt x="50231" y="43037"/>
                </a:lnTo>
                <a:lnTo>
                  <a:pt x="51356" y="37421"/>
                </a:lnTo>
                <a:lnTo>
                  <a:pt x="50231" y="31807"/>
                </a:lnTo>
                <a:lnTo>
                  <a:pt x="48328" y="289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336626" y="4421525"/>
            <a:ext cx="510540" cy="717550"/>
          </a:xfrm>
          <a:custGeom>
            <a:avLst/>
            <a:gdLst/>
            <a:ahLst/>
            <a:cxnLst/>
            <a:rect l="l" t="t" r="r" b="b"/>
            <a:pathLst>
              <a:path w="510539" h="717550">
                <a:moveTo>
                  <a:pt x="167881" y="545633"/>
                </a:moveTo>
                <a:lnTo>
                  <a:pt x="0" y="638154"/>
                </a:lnTo>
                <a:lnTo>
                  <a:pt x="174744" y="716946"/>
                </a:lnTo>
                <a:lnTo>
                  <a:pt x="172503" y="661009"/>
                </a:lnTo>
                <a:lnTo>
                  <a:pt x="142862" y="661009"/>
                </a:lnTo>
                <a:lnTo>
                  <a:pt x="131731" y="658803"/>
                </a:lnTo>
                <a:lnTo>
                  <a:pt x="122626" y="652711"/>
                </a:lnTo>
                <a:lnTo>
                  <a:pt x="116470" y="643650"/>
                </a:lnTo>
                <a:lnTo>
                  <a:pt x="114185" y="632536"/>
                </a:lnTo>
                <a:lnTo>
                  <a:pt x="116391" y="621405"/>
                </a:lnTo>
                <a:lnTo>
                  <a:pt x="122483" y="612300"/>
                </a:lnTo>
                <a:lnTo>
                  <a:pt x="131545" y="606144"/>
                </a:lnTo>
                <a:lnTo>
                  <a:pt x="142660" y="603859"/>
                </a:lnTo>
                <a:lnTo>
                  <a:pt x="170210" y="603762"/>
                </a:lnTo>
                <a:lnTo>
                  <a:pt x="167881" y="545633"/>
                </a:lnTo>
                <a:close/>
              </a:path>
              <a:path w="510539" h="717550">
                <a:moveTo>
                  <a:pt x="170210" y="603762"/>
                </a:moveTo>
                <a:lnTo>
                  <a:pt x="131545" y="606144"/>
                </a:lnTo>
                <a:lnTo>
                  <a:pt x="114185" y="632536"/>
                </a:lnTo>
                <a:lnTo>
                  <a:pt x="116470" y="643650"/>
                </a:lnTo>
                <a:lnTo>
                  <a:pt x="122626" y="652711"/>
                </a:lnTo>
                <a:lnTo>
                  <a:pt x="131731" y="658803"/>
                </a:lnTo>
                <a:lnTo>
                  <a:pt x="142862" y="661009"/>
                </a:lnTo>
                <a:lnTo>
                  <a:pt x="172499" y="660904"/>
                </a:lnTo>
                <a:lnTo>
                  <a:pt x="170210" y="603762"/>
                </a:lnTo>
                <a:close/>
              </a:path>
              <a:path w="510539" h="717550">
                <a:moveTo>
                  <a:pt x="172499" y="660904"/>
                </a:moveTo>
                <a:lnTo>
                  <a:pt x="142862" y="661009"/>
                </a:lnTo>
                <a:lnTo>
                  <a:pt x="172503" y="661009"/>
                </a:lnTo>
                <a:close/>
              </a:path>
              <a:path w="510539" h="717550">
                <a:moveTo>
                  <a:pt x="437832" y="602815"/>
                </a:moveTo>
                <a:lnTo>
                  <a:pt x="170210" y="603762"/>
                </a:lnTo>
                <a:lnTo>
                  <a:pt x="172499" y="660904"/>
                </a:lnTo>
                <a:lnTo>
                  <a:pt x="466507" y="659865"/>
                </a:lnTo>
                <a:lnTo>
                  <a:pt x="477598" y="657590"/>
                </a:lnTo>
                <a:lnTo>
                  <a:pt x="486648" y="651460"/>
                </a:lnTo>
                <a:lnTo>
                  <a:pt x="492747" y="642388"/>
                </a:lnTo>
                <a:lnTo>
                  <a:pt x="494982" y="631290"/>
                </a:lnTo>
                <a:lnTo>
                  <a:pt x="437832" y="631290"/>
                </a:lnTo>
                <a:lnTo>
                  <a:pt x="437832" y="602815"/>
                </a:lnTo>
                <a:close/>
              </a:path>
              <a:path w="510539" h="717550">
                <a:moveTo>
                  <a:pt x="466305" y="602715"/>
                </a:moveTo>
                <a:lnTo>
                  <a:pt x="437832" y="602815"/>
                </a:lnTo>
                <a:lnTo>
                  <a:pt x="437832" y="631290"/>
                </a:lnTo>
                <a:lnTo>
                  <a:pt x="466305" y="602715"/>
                </a:lnTo>
                <a:close/>
              </a:path>
              <a:path w="510539" h="717550">
                <a:moveTo>
                  <a:pt x="494982" y="602715"/>
                </a:moveTo>
                <a:lnTo>
                  <a:pt x="466305" y="602715"/>
                </a:lnTo>
                <a:lnTo>
                  <a:pt x="437832" y="631290"/>
                </a:lnTo>
                <a:lnTo>
                  <a:pt x="494982" y="631290"/>
                </a:lnTo>
                <a:lnTo>
                  <a:pt x="494982" y="602715"/>
                </a:lnTo>
                <a:close/>
              </a:path>
              <a:path w="510539" h="717550">
                <a:moveTo>
                  <a:pt x="481646" y="0"/>
                </a:moveTo>
                <a:lnTo>
                  <a:pt x="466407" y="0"/>
                </a:lnTo>
                <a:lnTo>
                  <a:pt x="455284" y="2245"/>
                </a:lnTo>
                <a:lnTo>
                  <a:pt x="446201" y="8369"/>
                </a:lnTo>
                <a:lnTo>
                  <a:pt x="440077" y="17452"/>
                </a:lnTo>
                <a:lnTo>
                  <a:pt x="437832" y="28574"/>
                </a:lnTo>
                <a:lnTo>
                  <a:pt x="437832" y="602815"/>
                </a:lnTo>
                <a:lnTo>
                  <a:pt x="494982" y="602715"/>
                </a:lnTo>
                <a:lnTo>
                  <a:pt x="494982" y="57149"/>
                </a:lnTo>
                <a:lnTo>
                  <a:pt x="466407" y="57149"/>
                </a:lnTo>
                <a:lnTo>
                  <a:pt x="494982" y="28574"/>
                </a:lnTo>
                <a:lnTo>
                  <a:pt x="510221" y="28574"/>
                </a:lnTo>
                <a:lnTo>
                  <a:pt x="507975" y="17452"/>
                </a:lnTo>
                <a:lnTo>
                  <a:pt x="501852" y="8369"/>
                </a:lnTo>
                <a:lnTo>
                  <a:pt x="492769" y="2245"/>
                </a:lnTo>
                <a:lnTo>
                  <a:pt x="481646" y="0"/>
                </a:lnTo>
                <a:close/>
              </a:path>
              <a:path w="510539" h="717550">
                <a:moveTo>
                  <a:pt x="494982" y="28574"/>
                </a:moveTo>
                <a:lnTo>
                  <a:pt x="466407" y="57149"/>
                </a:lnTo>
                <a:lnTo>
                  <a:pt x="481646" y="57149"/>
                </a:lnTo>
                <a:lnTo>
                  <a:pt x="492769" y="54904"/>
                </a:lnTo>
                <a:lnTo>
                  <a:pt x="494982" y="53412"/>
                </a:lnTo>
                <a:lnTo>
                  <a:pt x="494982" y="28574"/>
                </a:lnTo>
                <a:close/>
              </a:path>
              <a:path w="510539" h="717550">
                <a:moveTo>
                  <a:pt x="494982" y="53412"/>
                </a:moveTo>
                <a:lnTo>
                  <a:pt x="492769" y="54904"/>
                </a:lnTo>
                <a:lnTo>
                  <a:pt x="481646" y="57149"/>
                </a:lnTo>
                <a:lnTo>
                  <a:pt x="494982" y="57149"/>
                </a:lnTo>
                <a:lnTo>
                  <a:pt x="494982" y="53412"/>
                </a:lnTo>
                <a:close/>
              </a:path>
              <a:path w="510539" h="717550">
                <a:moveTo>
                  <a:pt x="510221" y="28574"/>
                </a:moveTo>
                <a:lnTo>
                  <a:pt x="494982" y="28574"/>
                </a:lnTo>
                <a:lnTo>
                  <a:pt x="494982" y="53412"/>
                </a:lnTo>
                <a:lnTo>
                  <a:pt x="501852" y="48780"/>
                </a:lnTo>
                <a:lnTo>
                  <a:pt x="507975" y="39697"/>
                </a:lnTo>
                <a:lnTo>
                  <a:pt x="510221" y="285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283312" y="5045392"/>
            <a:ext cx="1087755" cy="799465"/>
          </a:xfrm>
          <a:custGeom>
            <a:avLst/>
            <a:gdLst/>
            <a:ahLst/>
            <a:cxnLst/>
            <a:rect l="l" t="t" r="r" b="b"/>
            <a:pathLst>
              <a:path w="1087754" h="799464">
                <a:moveTo>
                  <a:pt x="85725" y="713598"/>
                </a:moveTo>
                <a:lnTo>
                  <a:pt x="0" y="756461"/>
                </a:lnTo>
                <a:lnTo>
                  <a:pt x="85725" y="799323"/>
                </a:lnTo>
                <a:lnTo>
                  <a:pt x="85725" y="770748"/>
                </a:lnTo>
                <a:lnTo>
                  <a:pt x="63546" y="770748"/>
                </a:lnTo>
                <a:lnTo>
                  <a:pt x="57150" y="764352"/>
                </a:lnTo>
                <a:lnTo>
                  <a:pt x="57150" y="748570"/>
                </a:lnTo>
                <a:lnTo>
                  <a:pt x="63546" y="742173"/>
                </a:lnTo>
                <a:lnTo>
                  <a:pt x="85725" y="742173"/>
                </a:lnTo>
                <a:lnTo>
                  <a:pt x="85725" y="713598"/>
                </a:lnTo>
                <a:close/>
              </a:path>
              <a:path w="1087754" h="799464">
                <a:moveTo>
                  <a:pt x="85725" y="742173"/>
                </a:moveTo>
                <a:lnTo>
                  <a:pt x="63546" y="742173"/>
                </a:lnTo>
                <a:lnTo>
                  <a:pt x="57150" y="748570"/>
                </a:lnTo>
                <a:lnTo>
                  <a:pt x="57150" y="764352"/>
                </a:lnTo>
                <a:lnTo>
                  <a:pt x="63546" y="770748"/>
                </a:lnTo>
                <a:lnTo>
                  <a:pt x="85725" y="770748"/>
                </a:lnTo>
                <a:lnTo>
                  <a:pt x="85725" y="742173"/>
                </a:lnTo>
                <a:close/>
              </a:path>
              <a:path w="1087754" h="799464">
                <a:moveTo>
                  <a:pt x="1059022" y="742173"/>
                </a:moveTo>
                <a:lnTo>
                  <a:pt x="85725" y="742173"/>
                </a:lnTo>
                <a:lnTo>
                  <a:pt x="85725" y="770748"/>
                </a:lnTo>
                <a:lnTo>
                  <a:pt x="1081200" y="770748"/>
                </a:lnTo>
                <a:lnTo>
                  <a:pt x="1087597" y="764352"/>
                </a:lnTo>
                <a:lnTo>
                  <a:pt x="1087597" y="756461"/>
                </a:lnTo>
                <a:lnTo>
                  <a:pt x="1059022" y="756461"/>
                </a:lnTo>
                <a:lnTo>
                  <a:pt x="1059022" y="742173"/>
                </a:lnTo>
                <a:close/>
              </a:path>
              <a:path w="1087754" h="799464">
                <a:moveTo>
                  <a:pt x="1059022" y="23293"/>
                </a:moveTo>
                <a:lnTo>
                  <a:pt x="1059022" y="756461"/>
                </a:lnTo>
                <a:lnTo>
                  <a:pt x="1073310" y="742173"/>
                </a:lnTo>
                <a:lnTo>
                  <a:pt x="1087597" y="742173"/>
                </a:lnTo>
                <a:lnTo>
                  <a:pt x="1087597" y="28575"/>
                </a:lnTo>
                <a:lnTo>
                  <a:pt x="1064303" y="28575"/>
                </a:lnTo>
                <a:lnTo>
                  <a:pt x="1059022" y="23293"/>
                </a:lnTo>
                <a:close/>
              </a:path>
              <a:path w="1087754" h="799464">
                <a:moveTo>
                  <a:pt x="1087597" y="742173"/>
                </a:moveTo>
                <a:lnTo>
                  <a:pt x="1073310" y="742173"/>
                </a:lnTo>
                <a:lnTo>
                  <a:pt x="1059022" y="756461"/>
                </a:lnTo>
                <a:lnTo>
                  <a:pt x="1087597" y="756461"/>
                </a:lnTo>
                <a:lnTo>
                  <a:pt x="1087597" y="742173"/>
                </a:lnTo>
                <a:close/>
              </a:path>
              <a:path w="1087754" h="799464">
                <a:moveTo>
                  <a:pt x="1059022" y="14287"/>
                </a:moveTo>
                <a:lnTo>
                  <a:pt x="1059022" y="23293"/>
                </a:lnTo>
                <a:lnTo>
                  <a:pt x="1064303" y="28575"/>
                </a:lnTo>
                <a:lnTo>
                  <a:pt x="1073310" y="28575"/>
                </a:lnTo>
                <a:lnTo>
                  <a:pt x="1059022" y="14287"/>
                </a:lnTo>
                <a:close/>
              </a:path>
              <a:path w="1087754" h="799464">
                <a:moveTo>
                  <a:pt x="1087597" y="14287"/>
                </a:moveTo>
                <a:lnTo>
                  <a:pt x="1059022" y="14287"/>
                </a:lnTo>
                <a:lnTo>
                  <a:pt x="1073310" y="28575"/>
                </a:lnTo>
                <a:lnTo>
                  <a:pt x="1087597" y="28575"/>
                </a:lnTo>
                <a:lnTo>
                  <a:pt x="1087597" y="14287"/>
                </a:lnTo>
                <a:close/>
              </a:path>
              <a:path w="1087754" h="799464">
                <a:moveTo>
                  <a:pt x="1081200" y="0"/>
                </a:moveTo>
                <a:lnTo>
                  <a:pt x="1064303" y="0"/>
                </a:lnTo>
                <a:lnTo>
                  <a:pt x="1057907" y="6396"/>
                </a:lnTo>
                <a:lnTo>
                  <a:pt x="1057907" y="22178"/>
                </a:lnTo>
                <a:lnTo>
                  <a:pt x="1059022" y="23293"/>
                </a:lnTo>
                <a:lnTo>
                  <a:pt x="1059022" y="14287"/>
                </a:lnTo>
                <a:lnTo>
                  <a:pt x="1087597" y="14287"/>
                </a:lnTo>
                <a:lnTo>
                  <a:pt x="1087597" y="6396"/>
                </a:lnTo>
                <a:lnTo>
                  <a:pt x="1081200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255537" y="4808220"/>
            <a:ext cx="4584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70">
                <a:solidFill>
                  <a:srgbClr val="FF0000"/>
                </a:solidFill>
                <a:latin typeface="Cambria Math"/>
                <a:cs typeface="Cambria Math"/>
              </a:rPr>
              <a:t>%</a:t>
            </a:r>
            <a:r>
              <a:rPr dirty="0" sz="2000" spc="-275">
                <a:solidFill>
                  <a:srgbClr val="FF0000"/>
                </a:solidFill>
                <a:latin typeface="Cambria Math"/>
                <a:cs typeface="Cambria Math"/>
              </a:rPr>
              <a:t>&amp;</a:t>
            </a:r>
            <a:r>
              <a:rPr dirty="0" sz="2000" spc="400">
                <a:solidFill>
                  <a:srgbClr val="FF0000"/>
                </a:solidFill>
                <a:latin typeface="Cambria Math"/>
                <a:cs typeface="Cambria Math"/>
              </a:rPr>
              <a:t>'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44</a:t>
            </a:fld>
          </a:p>
        </p:txBody>
      </p:sp>
      <p:sp>
        <p:nvSpPr>
          <p:cNvPr id="17" name="object 17"/>
          <p:cNvSpPr txBox="1"/>
          <p:nvPr/>
        </p:nvSpPr>
        <p:spPr>
          <a:xfrm>
            <a:off x="5986136" y="4039108"/>
            <a:ext cx="1587500" cy="10496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>
                <a:latin typeface="Cambria Math"/>
                <a:cs typeface="Cambria Math"/>
              </a:rPr>
              <a:t>𝑣</a:t>
            </a:r>
            <a:endParaRPr sz="2800">
              <a:latin typeface="Cambria Math"/>
              <a:cs typeface="Cambria Math"/>
            </a:endParaRPr>
          </a:p>
          <a:p>
            <a:pPr marL="75565">
              <a:lnSpc>
                <a:spcPct val="100000"/>
              </a:lnSpc>
              <a:spcBef>
                <a:spcPts val="670"/>
              </a:spcBef>
              <a:tabLst>
                <a:tab pos="738505" algn="l"/>
              </a:tabLst>
            </a:pPr>
            <a:r>
              <a:rPr dirty="0" sz="2800">
                <a:solidFill>
                  <a:srgbClr val="FF0000"/>
                </a:solidFill>
                <a:latin typeface="Cambria Math"/>
                <a:cs typeface="Cambria Math"/>
              </a:rPr>
              <a:t>𝑑	(𝐪,</a:t>
            </a:r>
            <a:r>
              <a:rPr dirty="0" sz="2800" spc="-24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2800" spc="-5">
                <a:solidFill>
                  <a:srgbClr val="FF0000"/>
                </a:solidFill>
                <a:latin typeface="Cambria Math"/>
                <a:cs typeface="Cambria Math"/>
              </a:rPr>
              <a:t>𝐯)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99358" y="5172964"/>
            <a:ext cx="3241040" cy="1183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7539">
              <a:lnSpc>
                <a:spcPct val="100000"/>
              </a:lnSpc>
              <a:spcBef>
                <a:spcPts val="100"/>
              </a:spcBef>
            </a:pPr>
            <a:r>
              <a:rPr dirty="0" sz="2800" spc="40">
                <a:solidFill>
                  <a:srgbClr val="B48200"/>
                </a:solidFill>
                <a:latin typeface="Cambria Math"/>
                <a:cs typeface="Cambria Math"/>
              </a:rPr>
              <a:t>𝑑</a:t>
            </a:r>
            <a:r>
              <a:rPr dirty="0" baseline="-15277" sz="3000" spc="60">
                <a:solidFill>
                  <a:srgbClr val="B48200"/>
                </a:solidFill>
                <a:latin typeface="Cambria Math"/>
                <a:cs typeface="Cambria Math"/>
              </a:rPr>
              <a:t>($</a:t>
            </a:r>
            <a:r>
              <a:rPr dirty="0" sz="2800" spc="40">
                <a:solidFill>
                  <a:srgbClr val="B48200"/>
                </a:solidFill>
                <a:latin typeface="Cambria Math"/>
                <a:cs typeface="Cambria Math"/>
              </a:rPr>
              <a:t>(𝐪,</a:t>
            </a:r>
            <a:r>
              <a:rPr dirty="0" sz="2800" spc="-225">
                <a:solidFill>
                  <a:srgbClr val="B48200"/>
                </a:solidFill>
                <a:latin typeface="Cambria Math"/>
                <a:cs typeface="Cambria Math"/>
              </a:rPr>
              <a:t> </a:t>
            </a:r>
            <a:r>
              <a:rPr dirty="0" sz="2800" spc="-5">
                <a:solidFill>
                  <a:srgbClr val="B48200"/>
                </a:solidFill>
                <a:latin typeface="Cambria Math"/>
                <a:cs typeface="Cambria Math"/>
              </a:rPr>
              <a:t>𝐯)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dirty="0" sz="2800" spc="10">
                <a:latin typeface="Cambria Math"/>
                <a:cs typeface="Cambria Math"/>
              </a:rPr>
              <a:t>𝐶𝑒𝑛(𝑞)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3304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8078470" cy="5225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Can </a:t>
            </a:r>
            <a:r>
              <a:rPr dirty="0" sz="3200" spc="-15" b="1">
                <a:latin typeface="Calibri"/>
                <a:cs typeface="Calibri"/>
              </a:rPr>
              <a:t>we </a:t>
            </a:r>
            <a:r>
              <a:rPr dirty="0" sz="3200" spc="-5" b="1">
                <a:latin typeface="Calibri"/>
                <a:cs typeface="Calibri"/>
              </a:rPr>
              <a:t>embed </a:t>
            </a:r>
            <a:r>
              <a:rPr dirty="0" sz="3200" spc="-15" b="1">
                <a:latin typeface="Calibri"/>
                <a:cs typeface="Calibri"/>
              </a:rPr>
              <a:t>complex </a:t>
            </a:r>
            <a:r>
              <a:rPr dirty="0" sz="3200" spc="-5" b="1">
                <a:latin typeface="Calibri"/>
                <a:cs typeface="Calibri"/>
              </a:rPr>
              <a:t>queries </a:t>
            </a:r>
            <a:r>
              <a:rPr dirty="0" sz="3200" b="1">
                <a:latin typeface="Calibri"/>
                <a:cs typeface="Calibri"/>
              </a:rPr>
              <a:t>with</a:t>
            </a:r>
            <a:r>
              <a:rPr dirty="0" sz="3200" spc="25" b="1"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FF0000"/>
                </a:solidFill>
                <a:latin typeface="Calibri"/>
                <a:cs typeface="Calibri"/>
              </a:rPr>
              <a:t>union</a:t>
            </a:r>
            <a:r>
              <a:rPr dirty="0" sz="3200" spc="-5" b="1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815"/>
              </a:lnSpc>
            </a:pPr>
            <a:r>
              <a:rPr dirty="0" sz="3200" b="1">
                <a:latin typeface="Calibri"/>
                <a:cs typeface="Calibri"/>
              </a:rPr>
              <a:t>E.g.: </a:t>
            </a:r>
            <a:r>
              <a:rPr dirty="0" sz="3200" spc="-5" b="1">
                <a:latin typeface="Calibri"/>
                <a:cs typeface="Calibri"/>
              </a:rPr>
              <a:t>“</a:t>
            </a:r>
            <a:r>
              <a:rPr dirty="0" sz="3200" spc="-5" i="1">
                <a:latin typeface="Calibri"/>
                <a:cs typeface="Calibri"/>
              </a:rPr>
              <a:t>What </a:t>
            </a:r>
            <a:r>
              <a:rPr dirty="0" sz="3200" i="1">
                <a:latin typeface="Calibri"/>
                <a:cs typeface="Calibri"/>
              </a:rPr>
              <a:t>drug </a:t>
            </a:r>
            <a:r>
              <a:rPr dirty="0" sz="3200" spc="-5" i="1">
                <a:latin typeface="Calibri"/>
                <a:cs typeface="Calibri"/>
              </a:rPr>
              <a:t>can treat </a:t>
            </a:r>
            <a:r>
              <a:rPr dirty="0" sz="3200" spc="-10" i="1">
                <a:latin typeface="Calibri"/>
                <a:cs typeface="Calibri"/>
              </a:rPr>
              <a:t>breast cancer</a:t>
            </a:r>
            <a:r>
              <a:rPr dirty="0" sz="3200" spc="50" i="1">
                <a:latin typeface="Calibri"/>
                <a:cs typeface="Calibri"/>
              </a:rPr>
              <a:t> </a:t>
            </a:r>
            <a:r>
              <a:rPr dirty="0" sz="3200" spc="-5" b="1" i="1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70"/>
              </a:spcBef>
            </a:pPr>
            <a:r>
              <a:rPr dirty="0" sz="3200" i="1">
                <a:latin typeface="Calibri"/>
                <a:cs typeface="Calibri"/>
              </a:rPr>
              <a:t>lung</a:t>
            </a:r>
            <a:r>
              <a:rPr dirty="0" sz="3200" spc="-80" i="1">
                <a:latin typeface="Calibri"/>
                <a:cs typeface="Calibri"/>
              </a:rPr>
              <a:t> </a:t>
            </a:r>
            <a:r>
              <a:rPr dirty="0" sz="3200" spc="-5" i="1">
                <a:latin typeface="Calibri"/>
                <a:cs typeface="Calibri"/>
              </a:rPr>
              <a:t>cancer?</a:t>
            </a:r>
            <a:r>
              <a:rPr dirty="0" sz="3200" spc="-5">
                <a:latin typeface="Calibri"/>
                <a:cs typeface="Calibri"/>
              </a:rPr>
              <a:t>”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Times New Roman"/>
              <a:cs typeface="Times New Roman"/>
            </a:endParaRPr>
          </a:p>
          <a:p>
            <a:pPr marL="332740" marR="210185" indent="-320040">
              <a:lnSpc>
                <a:spcPts val="37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Conjunctive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queries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+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disjunction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10">
                <a:latin typeface="Calibri"/>
                <a:cs typeface="Calibri"/>
              </a:rPr>
              <a:t>called  </a:t>
            </a:r>
            <a:r>
              <a:rPr dirty="0" sz="3200" spc="-10" b="1">
                <a:latin typeface="Calibri"/>
                <a:cs typeface="Calibri"/>
              </a:rPr>
              <a:t>E</a:t>
            </a:r>
            <a:r>
              <a:rPr dirty="0" sz="3200" spc="-10">
                <a:latin typeface="Calibri"/>
                <a:cs typeface="Calibri"/>
              </a:rPr>
              <a:t>xistential </a:t>
            </a:r>
            <a:r>
              <a:rPr dirty="0" sz="3200" spc="-10" b="1">
                <a:latin typeface="Calibri"/>
                <a:cs typeface="Calibri"/>
              </a:rPr>
              <a:t>P</a:t>
            </a:r>
            <a:r>
              <a:rPr dirty="0" sz="3200" spc="-10">
                <a:latin typeface="Calibri"/>
                <a:cs typeface="Calibri"/>
              </a:rPr>
              <a:t>ositive </a:t>
            </a:r>
            <a:r>
              <a:rPr dirty="0" sz="3200" spc="-25" b="1">
                <a:latin typeface="Calibri"/>
                <a:cs typeface="Calibri"/>
              </a:rPr>
              <a:t>F</a:t>
            </a:r>
            <a:r>
              <a:rPr dirty="0" sz="3200" spc="-25">
                <a:latin typeface="Calibri"/>
                <a:cs typeface="Calibri"/>
              </a:rPr>
              <a:t>irst-</a:t>
            </a:r>
            <a:r>
              <a:rPr dirty="0" sz="3200" spc="-25" b="1">
                <a:latin typeface="Calibri"/>
                <a:cs typeface="Calibri"/>
              </a:rPr>
              <a:t>o</a:t>
            </a:r>
            <a:r>
              <a:rPr dirty="0" sz="3200" spc="-25">
                <a:latin typeface="Calibri"/>
                <a:cs typeface="Calibri"/>
              </a:rPr>
              <a:t>rder </a:t>
            </a:r>
            <a:r>
              <a:rPr dirty="0" sz="3200" spc="-5">
                <a:latin typeface="Calibri"/>
                <a:cs typeface="Calibri"/>
              </a:rPr>
              <a:t>(</a:t>
            </a:r>
            <a:r>
              <a:rPr dirty="0" sz="3200" spc="-5" b="1">
                <a:latin typeface="Calibri"/>
                <a:cs typeface="Calibri"/>
              </a:rPr>
              <a:t>EPFO</a:t>
            </a:r>
            <a:r>
              <a:rPr dirty="0" sz="3200" spc="-5">
                <a:latin typeface="Calibri"/>
                <a:cs typeface="Calibri"/>
              </a:rPr>
              <a:t>) queries.  </a:t>
            </a:r>
            <a:r>
              <a:rPr dirty="0" sz="3200" spc="-25">
                <a:latin typeface="Calibri"/>
                <a:cs typeface="Calibri"/>
              </a:rPr>
              <a:t>We’ll </a:t>
            </a:r>
            <a:r>
              <a:rPr dirty="0" sz="3200" spc="-35">
                <a:latin typeface="Calibri"/>
                <a:cs typeface="Calibri"/>
              </a:rPr>
              <a:t>refer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5">
                <a:latin typeface="Calibri"/>
                <a:cs typeface="Calibri"/>
              </a:rPr>
              <a:t>them </a:t>
            </a:r>
            <a:r>
              <a:rPr dirty="0" sz="3200">
                <a:latin typeface="Calibri"/>
                <a:cs typeface="Calibri"/>
              </a:rPr>
              <a:t>as </a:t>
            </a:r>
            <a:r>
              <a:rPr dirty="0" sz="3200" spc="-5" b="1">
                <a:latin typeface="Calibri"/>
                <a:cs typeface="Calibri"/>
              </a:rPr>
              <a:t>AND-OR</a:t>
            </a:r>
            <a:r>
              <a:rPr dirty="0" sz="3200" spc="30" b="1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queries.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ct val="99100"/>
              </a:lnSpc>
              <a:spcBef>
                <a:spcPts val="258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Can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also design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disjunction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operator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and  embed AND-OR queries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low-dimensional 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vector</a:t>
            </a:r>
            <a:r>
              <a:rPr dirty="0" sz="32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space?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44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439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311515" cy="19735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110807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 i="0">
                <a:solidFill>
                  <a:srgbClr val="C00000"/>
                </a:solidFill>
                <a:latin typeface="Calibri"/>
                <a:cs typeface="Calibri"/>
              </a:rPr>
              <a:t>Can </a:t>
            </a:r>
            <a:r>
              <a:rPr dirty="0" sz="3200" spc="-15" b="1" i="0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3200" spc="-5" b="1" i="0">
                <a:solidFill>
                  <a:srgbClr val="C00000"/>
                </a:solidFill>
                <a:latin typeface="Calibri"/>
                <a:cs typeface="Calibri"/>
              </a:rPr>
              <a:t>embed AND-OR queries </a:t>
            </a:r>
            <a:r>
              <a:rPr dirty="0" sz="3200" b="1" i="0">
                <a:solidFill>
                  <a:srgbClr val="C00000"/>
                </a:solidFill>
                <a:latin typeface="Calibri"/>
                <a:cs typeface="Calibri"/>
              </a:rPr>
              <a:t>in a </a:t>
            </a:r>
            <a:r>
              <a:rPr dirty="0" sz="3200" spc="-15" b="1" i="0">
                <a:solidFill>
                  <a:srgbClr val="C00000"/>
                </a:solidFill>
                <a:latin typeface="Calibri"/>
                <a:cs typeface="Calibri"/>
              </a:rPr>
              <a:t>low-  </a:t>
            </a:r>
            <a:r>
              <a:rPr dirty="0" sz="3200" spc="-5" b="1" i="0">
                <a:solidFill>
                  <a:srgbClr val="C00000"/>
                </a:solidFill>
                <a:latin typeface="Calibri"/>
                <a:cs typeface="Calibri"/>
              </a:rPr>
              <a:t>dimensional </a:t>
            </a:r>
            <a:r>
              <a:rPr dirty="0" sz="3200" spc="-15" b="1" i="0">
                <a:solidFill>
                  <a:srgbClr val="C00000"/>
                </a:solidFill>
                <a:latin typeface="Calibri"/>
                <a:cs typeface="Calibri"/>
              </a:rPr>
              <a:t>vector</a:t>
            </a:r>
            <a:r>
              <a:rPr dirty="0" sz="3200" spc="-45" b="1" i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 i="0">
                <a:solidFill>
                  <a:srgbClr val="C00000"/>
                </a:solidFill>
                <a:latin typeface="Calibri"/>
                <a:cs typeface="Calibri"/>
              </a:rPr>
              <a:t>space?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 i="0">
                <a:latin typeface="Calibri"/>
                <a:cs typeface="Calibri"/>
              </a:rPr>
              <a:t>No! </a:t>
            </a:r>
            <a:r>
              <a:rPr dirty="0" sz="3200" spc="-5" b="1" i="0">
                <a:latin typeface="Calibri"/>
                <a:cs typeface="Calibri"/>
              </a:rPr>
              <a:t>Intuition</a:t>
            </a:r>
            <a:r>
              <a:rPr dirty="0" sz="3200" spc="-5" i="0">
                <a:latin typeface="Calibri"/>
                <a:cs typeface="Calibri"/>
              </a:rPr>
              <a:t>: Allowing </a:t>
            </a:r>
            <a:r>
              <a:rPr dirty="0" sz="3200" spc="-5" b="1" i="0">
                <a:solidFill>
                  <a:srgbClr val="0070C0"/>
                </a:solidFill>
                <a:latin typeface="Calibri"/>
                <a:cs typeface="Calibri"/>
              </a:rPr>
              <a:t>union </a:t>
            </a:r>
            <a:r>
              <a:rPr dirty="0" sz="3200" spc="-15" i="0">
                <a:latin typeface="Calibri"/>
                <a:cs typeface="Calibri"/>
              </a:rPr>
              <a:t>over </a:t>
            </a:r>
            <a:r>
              <a:rPr dirty="0" sz="3200" spc="-10" b="1" i="0">
                <a:solidFill>
                  <a:srgbClr val="00B050"/>
                </a:solidFill>
                <a:latin typeface="Calibri"/>
                <a:cs typeface="Calibri"/>
              </a:rPr>
              <a:t>arbitrary  </a:t>
            </a:r>
            <a:r>
              <a:rPr dirty="0" sz="3200" spc="-5" b="1" i="0">
                <a:solidFill>
                  <a:srgbClr val="00B050"/>
                </a:solidFill>
                <a:latin typeface="Calibri"/>
                <a:cs typeface="Calibri"/>
              </a:rPr>
              <a:t>queries </a:t>
            </a:r>
            <a:r>
              <a:rPr dirty="0" sz="3200" spc="-15" i="0">
                <a:latin typeface="Calibri"/>
                <a:cs typeface="Calibri"/>
              </a:rPr>
              <a:t>requires </a:t>
            </a:r>
            <a:r>
              <a:rPr dirty="0" sz="3200" spc="-5" b="1" i="0">
                <a:solidFill>
                  <a:srgbClr val="C00000"/>
                </a:solidFill>
                <a:latin typeface="Calibri"/>
                <a:cs typeface="Calibri"/>
              </a:rPr>
              <a:t>high-dimensional</a:t>
            </a:r>
            <a:r>
              <a:rPr dirty="0" sz="3200" spc="50" b="1" i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i="0">
                <a:latin typeface="Calibri"/>
                <a:cs typeface="Calibri"/>
              </a:rPr>
              <a:t>embeddings!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0033" y="5298440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49785" y="50025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20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50033" y="4993640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01341" y="50022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83172" y="5298440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92809" y="50025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20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83172" y="4993640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44724" y="50022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78250" y="4980487"/>
            <a:ext cx="589915" cy="331470"/>
          </a:xfrm>
          <a:custGeom>
            <a:avLst/>
            <a:gdLst/>
            <a:ahLst/>
            <a:cxnLst/>
            <a:rect l="l" t="t" r="r" b="b"/>
            <a:pathLst>
              <a:path w="589914" h="331470">
                <a:moveTo>
                  <a:pt x="483641" y="0"/>
                </a:moveTo>
                <a:lnTo>
                  <a:pt x="479126" y="0"/>
                </a:lnTo>
                <a:lnTo>
                  <a:pt x="479126" y="13196"/>
                </a:lnTo>
                <a:lnTo>
                  <a:pt x="481731" y="13196"/>
                </a:lnTo>
                <a:lnTo>
                  <a:pt x="493635" y="14015"/>
                </a:lnTo>
                <a:lnTo>
                  <a:pt x="527374" y="33929"/>
                </a:lnTo>
                <a:lnTo>
                  <a:pt x="535383" y="69627"/>
                </a:lnTo>
                <a:lnTo>
                  <a:pt x="535166" y="76062"/>
                </a:lnTo>
                <a:lnTo>
                  <a:pt x="534515" y="83214"/>
                </a:lnTo>
                <a:lnTo>
                  <a:pt x="533429" y="91081"/>
                </a:lnTo>
                <a:lnTo>
                  <a:pt x="531910" y="99665"/>
                </a:lnTo>
                <a:lnTo>
                  <a:pt x="530391" y="107967"/>
                </a:lnTo>
                <a:lnTo>
                  <a:pt x="529306" y="114988"/>
                </a:lnTo>
                <a:lnTo>
                  <a:pt x="528655" y="120729"/>
                </a:lnTo>
                <a:lnTo>
                  <a:pt x="528438" y="125190"/>
                </a:lnTo>
                <a:lnTo>
                  <a:pt x="528980" y="132238"/>
                </a:lnTo>
                <a:lnTo>
                  <a:pt x="557782" y="163389"/>
                </a:lnTo>
                <a:lnTo>
                  <a:pt x="557782" y="166514"/>
                </a:lnTo>
                <a:lnTo>
                  <a:pt x="528980" y="197665"/>
                </a:lnTo>
                <a:lnTo>
                  <a:pt x="528438" y="204713"/>
                </a:lnTo>
                <a:lnTo>
                  <a:pt x="528655" y="209173"/>
                </a:lnTo>
                <a:lnTo>
                  <a:pt x="529306" y="214914"/>
                </a:lnTo>
                <a:lnTo>
                  <a:pt x="530391" y="221935"/>
                </a:lnTo>
                <a:lnTo>
                  <a:pt x="531910" y="230237"/>
                </a:lnTo>
                <a:lnTo>
                  <a:pt x="533429" y="238821"/>
                </a:lnTo>
                <a:lnTo>
                  <a:pt x="534515" y="246689"/>
                </a:lnTo>
                <a:lnTo>
                  <a:pt x="535166" y="253841"/>
                </a:lnTo>
                <a:lnTo>
                  <a:pt x="535383" y="260276"/>
                </a:lnTo>
                <a:lnTo>
                  <a:pt x="534493" y="274845"/>
                </a:lnTo>
                <a:lnTo>
                  <a:pt x="513343" y="310548"/>
                </a:lnTo>
                <a:lnTo>
                  <a:pt x="481731" y="317921"/>
                </a:lnTo>
                <a:lnTo>
                  <a:pt x="479126" y="317921"/>
                </a:lnTo>
                <a:lnTo>
                  <a:pt x="479126" y="331118"/>
                </a:lnTo>
                <a:lnTo>
                  <a:pt x="483641" y="331118"/>
                </a:lnTo>
                <a:lnTo>
                  <a:pt x="502757" y="329690"/>
                </a:lnTo>
                <a:lnTo>
                  <a:pt x="544672" y="312453"/>
                </a:lnTo>
                <a:lnTo>
                  <a:pt x="563636" y="274606"/>
                </a:lnTo>
                <a:lnTo>
                  <a:pt x="564901" y="257150"/>
                </a:lnTo>
                <a:lnTo>
                  <a:pt x="564646" y="249695"/>
                </a:lnTo>
                <a:lnTo>
                  <a:pt x="563880" y="241740"/>
                </a:lnTo>
                <a:lnTo>
                  <a:pt x="562605" y="233286"/>
                </a:lnTo>
                <a:lnTo>
                  <a:pt x="560820" y="224334"/>
                </a:lnTo>
                <a:lnTo>
                  <a:pt x="558100" y="212063"/>
                </a:lnTo>
                <a:lnTo>
                  <a:pt x="556740" y="203845"/>
                </a:lnTo>
                <a:lnTo>
                  <a:pt x="556740" y="191691"/>
                </a:lnTo>
                <a:lnTo>
                  <a:pt x="559489" y="185179"/>
                </a:lnTo>
                <a:lnTo>
                  <a:pt x="589903" y="172071"/>
                </a:lnTo>
                <a:lnTo>
                  <a:pt x="589903" y="157833"/>
                </a:lnTo>
                <a:lnTo>
                  <a:pt x="556740" y="138211"/>
                </a:lnTo>
                <a:lnTo>
                  <a:pt x="556740" y="126057"/>
                </a:lnTo>
                <a:lnTo>
                  <a:pt x="558100" y="117839"/>
                </a:lnTo>
                <a:lnTo>
                  <a:pt x="560820" y="105568"/>
                </a:lnTo>
                <a:lnTo>
                  <a:pt x="562605" y="96616"/>
                </a:lnTo>
                <a:lnTo>
                  <a:pt x="563880" y="88162"/>
                </a:lnTo>
                <a:lnTo>
                  <a:pt x="564646" y="80208"/>
                </a:lnTo>
                <a:lnTo>
                  <a:pt x="564901" y="72753"/>
                </a:lnTo>
                <a:lnTo>
                  <a:pt x="563636" y="55828"/>
                </a:lnTo>
                <a:lnTo>
                  <a:pt x="544672" y="18666"/>
                </a:lnTo>
                <a:lnTo>
                  <a:pt x="502757" y="1427"/>
                </a:lnTo>
                <a:lnTo>
                  <a:pt x="483641" y="0"/>
                </a:lnTo>
                <a:close/>
              </a:path>
              <a:path w="589914" h="331470">
                <a:moveTo>
                  <a:pt x="110778" y="0"/>
                </a:moveTo>
                <a:lnTo>
                  <a:pt x="106263" y="0"/>
                </a:lnTo>
                <a:lnTo>
                  <a:pt x="87147" y="1427"/>
                </a:lnTo>
                <a:lnTo>
                  <a:pt x="45231" y="18666"/>
                </a:lnTo>
                <a:lnTo>
                  <a:pt x="26267" y="55731"/>
                </a:lnTo>
                <a:lnTo>
                  <a:pt x="25116" y="75888"/>
                </a:lnTo>
                <a:lnTo>
                  <a:pt x="25258" y="80034"/>
                </a:lnTo>
                <a:lnTo>
                  <a:pt x="26023" y="87988"/>
                </a:lnTo>
                <a:lnTo>
                  <a:pt x="27298" y="96442"/>
                </a:lnTo>
                <a:lnTo>
                  <a:pt x="29082" y="105396"/>
                </a:lnTo>
                <a:lnTo>
                  <a:pt x="31803" y="117665"/>
                </a:lnTo>
                <a:lnTo>
                  <a:pt x="33164" y="125883"/>
                </a:lnTo>
                <a:lnTo>
                  <a:pt x="33164" y="138038"/>
                </a:lnTo>
                <a:lnTo>
                  <a:pt x="30415" y="144550"/>
                </a:lnTo>
                <a:lnTo>
                  <a:pt x="0" y="157659"/>
                </a:lnTo>
                <a:lnTo>
                  <a:pt x="0" y="171897"/>
                </a:lnTo>
                <a:lnTo>
                  <a:pt x="33164" y="191517"/>
                </a:lnTo>
                <a:lnTo>
                  <a:pt x="33164" y="203671"/>
                </a:lnTo>
                <a:lnTo>
                  <a:pt x="31803" y="211890"/>
                </a:lnTo>
                <a:lnTo>
                  <a:pt x="29082" y="224160"/>
                </a:lnTo>
                <a:lnTo>
                  <a:pt x="27298" y="233113"/>
                </a:lnTo>
                <a:lnTo>
                  <a:pt x="26023" y="241567"/>
                </a:lnTo>
                <a:lnTo>
                  <a:pt x="25258" y="249521"/>
                </a:lnTo>
                <a:lnTo>
                  <a:pt x="25003" y="256976"/>
                </a:lnTo>
                <a:lnTo>
                  <a:pt x="26267" y="274508"/>
                </a:lnTo>
                <a:lnTo>
                  <a:pt x="45231" y="312453"/>
                </a:lnTo>
                <a:lnTo>
                  <a:pt x="87147" y="329690"/>
                </a:lnTo>
                <a:lnTo>
                  <a:pt x="106263" y="331118"/>
                </a:lnTo>
                <a:lnTo>
                  <a:pt x="110778" y="331118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2"/>
                </a:lnTo>
                <a:lnTo>
                  <a:pt x="54521" y="260102"/>
                </a:lnTo>
                <a:lnTo>
                  <a:pt x="54738" y="253667"/>
                </a:lnTo>
                <a:lnTo>
                  <a:pt x="55388" y="246515"/>
                </a:lnTo>
                <a:lnTo>
                  <a:pt x="56474" y="238648"/>
                </a:lnTo>
                <a:lnTo>
                  <a:pt x="57993" y="230064"/>
                </a:lnTo>
                <a:lnTo>
                  <a:pt x="59512" y="221762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9"/>
                </a:lnTo>
                <a:lnTo>
                  <a:pt x="60924" y="197491"/>
                </a:lnTo>
                <a:lnTo>
                  <a:pt x="32122" y="166340"/>
                </a:lnTo>
                <a:lnTo>
                  <a:pt x="32122" y="163215"/>
                </a:lnTo>
                <a:lnTo>
                  <a:pt x="60924" y="132064"/>
                </a:lnTo>
                <a:lnTo>
                  <a:pt x="61466" y="125016"/>
                </a:lnTo>
                <a:lnTo>
                  <a:pt x="61249" y="120555"/>
                </a:lnTo>
                <a:lnTo>
                  <a:pt x="60598" y="114814"/>
                </a:lnTo>
                <a:lnTo>
                  <a:pt x="59512" y="107793"/>
                </a:lnTo>
                <a:lnTo>
                  <a:pt x="57993" y="99491"/>
                </a:lnTo>
                <a:lnTo>
                  <a:pt x="56474" y="90907"/>
                </a:lnTo>
                <a:lnTo>
                  <a:pt x="55388" y="83040"/>
                </a:lnTo>
                <a:lnTo>
                  <a:pt x="54738" y="75888"/>
                </a:lnTo>
                <a:lnTo>
                  <a:pt x="54521" y="69453"/>
                </a:lnTo>
                <a:lnTo>
                  <a:pt x="55410" y="55492"/>
                </a:lnTo>
                <a:lnTo>
                  <a:pt x="76561" y="20570"/>
                </a:lnTo>
                <a:lnTo>
                  <a:pt x="108173" y="13196"/>
                </a:lnTo>
                <a:lnTo>
                  <a:pt x="110778" y="13196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53255" y="5298440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53007" y="50025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20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53255" y="4993640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04563" y="50022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178202" y="5298440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87839" y="50025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20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78202" y="4993640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39755" y="50022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81472" y="4980487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70">
                <a:moveTo>
                  <a:pt x="491831" y="0"/>
                </a:moveTo>
                <a:lnTo>
                  <a:pt x="487318" y="0"/>
                </a:lnTo>
                <a:lnTo>
                  <a:pt x="487318" y="13196"/>
                </a:lnTo>
                <a:lnTo>
                  <a:pt x="489921" y="13196"/>
                </a:lnTo>
                <a:lnTo>
                  <a:pt x="501826" y="14015"/>
                </a:lnTo>
                <a:lnTo>
                  <a:pt x="535566" y="33929"/>
                </a:lnTo>
                <a:lnTo>
                  <a:pt x="543575" y="69627"/>
                </a:lnTo>
                <a:lnTo>
                  <a:pt x="543358" y="76062"/>
                </a:lnTo>
                <a:lnTo>
                  <a:pt x="542706" y="83214"/>
                </a:lnTo>
                <a:lnTo>
                  <a:pt x="541621" y="91081"/>
                </a:lnTo>
                <a:lnTo>
                  <a:pt x="540101" y="99665"/>
                </a:lnTo>
                <a:lnTo>
                  <a:pt x="538582" y="107967"/>
                </a:lnTo>
                <a:lnTo>
                  <a:pt x="537497" y="114988"/>
                </a:lnTo>
                <a:lnTo>
                  <a:pt x="536846" y="120729"/>
                </a:lnTo>
                <a:lnTo>
                  <a:pt x="536629" y="125190"/>
                </a:lnTo>
                <a:lnTo>
                  <a:pt x="537172" y="132238"/>
                </a:lnTo>
                <a:lnTo>
                  <a:pt x="565972" y="163389"/>
                </a:lnTo>
                <a:lnTo>
                  <a:pt x="565972" y="166514"/>
                </a:lnTo>
                <a:lnTo>
                  <a:pt x="537172" y="197665"/>
                </a:lnTo>
                <a:lnTo>
                  <a:pt x="536629" y="204713"/>
                </a:lnTo>
                <a:lnTo>
                  <a:pt x="536846" y="209173"/>
                </a:lnTo>
                <a:lnTo>
                  <a:pt x="537497" y="214914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1"/>
                </a:lnTo>
                <a:lnTo>
                  <a:pt x="542706" y="246689"/>
                </a:lnTo>
                <a:lnTo>
                  <a:pt x="543358" y="253841"/>
                </a:lnTo>
                <a:lnTo>
                  <a:pt x="543575" y="260276"/>
                </a:lnTo>
                <a:lnTo>
                  <a:pt x="542685" y="274845"/>
                </a:lnTo>
                <a:lnTo>
                  <a:pt x="521534" y="310548"/>
                </a:lnTo>
                <a:lnTo>
                  <a:pt x="489921" y="317921"/>
                </a:lnTo>
                <a:lnTo>
                  <a:pt x="487318" y="317921"/>
                </a:lnTo>
                <a:lnTo>
                  <a:pt x="487318" y="331118"/>
                </a:lnTo>
                <a:lnTo>
                  <a:pt x="491831" y="331118"/>
                </a:lnTo>
                <a:lnTo>
                  <a:pt x="510948" y="329690"/>
                </a:lnTo>
                <a:lnTo>
                  <a:pt x="552864" y="312453"/>
                </a:lnTo>
                <a:lnTo>
                  <a:pt x="571828" y="274606"/>
                </a:lnTo>
                <a:lnTo>
                  <a:pt x="573092" y="257150"/>
                </a:lnTo>
                <a:lnTo>
                  <a:pt x="572837" y="249695"/>
                </a:lnTo>
                <a:lnTo>
                  <a:pt x="572072" y="241740"/>
                </a:lnTo>
                <a:lnTo>
                  <a:pt x="570797" y="233286"/>
                </a:lnTo>
                <a:lnTo>
                  <a:pt x="569012" y="224334"/>
                </a:lnTo>
                <a:lnTo>
                  <a:pt x="566291" y="212063"/>
                </a:lnTo>
                <a:lnTo>
                  <a:pt x="564931" y="203845"/>
                </a:lnTo>
                <a:lnTo>
                  <a:pt x="564931" y="191691"/>
                </a:lnTo>
                <a:lnTo>
                  <a:pt x="567681" y="185179"/>
                </a:lnTo>
                <a:lnTo>
                  <a:pt x="598095" y="172071"/>
                </a:lnTo>
                <a:lnTo>
                  <a:pt x="598095" y="157833"/>
                </a:lnTo>
                <a:lnTo>
                  <a:pt x="564931" y="138211"/>
                </a:lnTo>
                <a:lnTo>
                  <a:pt x="564931" y="126057"/>
                </a:lnTo>
                <a:lnTo>
                  <a:pt x="566291" y="117839"/>
                </a:lnTo>
                <a:lnTo>
                  <a:pt x="569012" y="105568"/>
                </a:lnTo>
                <a:lnTo>
                  <a:pt x="570797" y="96616"/>
                </a:lnTo>
                <a:lnTo>
                  <a:pt x="572072" y="88162"/>
                </a:lnTo>
                <a:lnTo>
                  <a:pt x="572837" y="80208"/>
                </a:lnTo>
                <a:lnTo>
                  <a:pt x="573092" y="72753"/>
                </a:lnTo>
                <a:lnTo>
                  <a:pt x="571828" y="55828"/>
                </a:lnTo>
                <a:lnTo>
                  <a:pt x="552864" y="18666"/>
                </a:lnTo>
                <a:lnTo>
                  <a:pt x="510948" y="1427"/>
                </a:lnTo>
                <a:lnTo>
                  <a:pt x="491831" y="0"/>
                </a:lnTo>
                <a:close/>
              </a:path>
              <a:path w="598170" h="331470">
                <a:moveTo>
                  <a:pt x="110778" y="0"/>
                </a:moveTo>
                <a:lnTo>
                  <a:pt x="106263" y="0"/>
                </a:lnTo>
                <a:lnTo>
                  <a:pt x="87147" y="1427"/>
                </a:lnTo>
                <a:lnTo>
                  <a:pt x="45231" y="18666"/>
                </a:lnTo>
                <a:lnTo>
                  <a:pt x="26267" y="55731"/>
                </a:lnTo>
                <a:lnTo>
                  <a:pt x="25116" y="75888"/>
                </a:lnTo>
                <a:lnTo>
                  <a:pt x="25258" y="80034"/>
                </a:lnTo>
                <a:lnTo>
                  <a:pt x="26023" y="87988"/>
                </a:lnTo>
                <a:lnTo>
                  <a:pt x="27299" y="96442"/>
                </a:lnTo>
                <a:lnTo>
                  <a:pt x="29084" y="105396"/>
                </a:lnTo>
                <a:lnTo>
                  <a:pt x="31803" y="117665"/>
                </a:lnTo>
                <a:lnTo>
                  <a:pt x="33163" y="125883"/>
                </a:lnTo>
                <a:lnTo>
                  <a:pt x="33163" y="138038"/>
                </a:lnTo>
                <a:lnTo>
                  <a:pt x="30415" y="144550"/>
                </a:lnTo>
                <a:lnTo>
                  <a:pt x="0" y="157659"/>
                </a:lnTo>
                <a:lnTo>
                  <a:pt x="0" y="171897"/>
                </a:lnTo>
                <a:lnTo>
                  <a:pt x="33163" y="191517"/>
                </a:lnTo>
                <a:lnTo>
                  <a:pt x="33163" y="203671"/>
                </a:lnTo>
                <a:lnTo>
                  <a:pt x="31803" y="211890"/>
                </a:lnTo>
                <a:lnTo>
                  <a:pt x="29084" y="224160"/>
                </a:lnTo>
                <a:lnTo>
                  <a:pt x="27299" y="233113"/>
                </a:lnTo>
                <a:lnTo>
                  <a:pt x="26023" y="241567"/>
                </a:lnTo>
                <a:lnTo>
                  <a:pt x="25258" y="249521"/>
                </a:lnTo>
                <a:lnTo>
                  <a:pt x="25003" y="256976"/>
                </a:lnTo>
                <a:lnTo>
                  <a:pt x="26267" y="274508"/>
                </a:lnTo>
                <a:lnTo>
                  <a:pt x="45231" y="312453"/>
                </a:lnTo>
                <a:lnTo>
                  <a:pt x="87147" y="329690"/>
                </a:lnTo>
                <a:lnTo>
                  <a:pt x="106263" y="331118"/>
                </a:lnTo>
                <a:lnTo>
                  <a:pt x="110778" y="331118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2"/>
                </a:lnTo>
                <a:lnTo>
                  <a:pt x="54521" y="260102"/>
                </a:lnTo>
                <a:lnTo>
                  <a:pt x="54738" y="253667"/>
                </a:lnTo>
                <a:lnTo>
                  <a:pt x="55388" y="246515"/>
                </a:lnTo>
                <a:lnTo>
                  <a:pt x="56474" y="238648"/>
                </a:lnTo>
                <a:lnTo>
                  <a:pt x="57993" y="230064"/>
                </a:lnTo>
                <a:lnTo>
                  <a:pt x="59512" y="221762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9"/>
                </a:lnTo>
                <a:lnTo>
                  <a:pt x="60924" y="197491"/>
                </a:lnTo>
                <a:lnTo>
                  <a:pt x="32122" y="166340"/>
                </a:lnTo>
                <a:lnTo>
                  <a:pt x="32122" y="163215"/>
                </a:lnTo>
                <a:lnTo>
                  <a:pt x="60924" y="132064"/>
                </a:lnTo>
                <a:lnTo>
                  <a:pt x="61466" y="125016"/>
                </a:lnTo>
                <a:lnTo>
                  <a:pt x="61249" y="120555"/>
                </a:lnTo>
                <a:lnTo>
                  <a:pt x="60598" y="114814"/>
                </a:lnTo>
                <a:lnTo>
                  <a:pt x="59512" y="107793"/>
                </a:lnTo>
                <a:lnTo>
                  <a:pt x="57993" y="99491"/>
                </a:lnTo>
                <a:lnTo>
                  <a:pt x="56474" y="90907"/>
                </a:lnTo>
                <a:lnTo>
                  <a:pt x="55388" y="83040"/>
                </a:lnTo>
                <a:lnTo>
                  <a:pt x="54738" y="75888"/>
                </a:lnTo>
                <a:lnTo>
                  <a:pt x="54521" y="69453"/>
                </a:lnTo>
                <a:lnTo>
                  <a:pt x="55410" y="55492"/>
                </a:lnTo>
                <a:lnTo>
                  <a:pt x="76561" y="20570"/>
                </a:lnTo>
                <a:lnTo>
                  <a:pt x="108173" y="13196"/>
                </a:lnTo>
                <a:lnTo>
                  <a:pt x="110778" y="13196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64668" y="5298440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664420" y="50025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20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64668" y="4993640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615976" y="50022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089615" y="5298440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99251" y="50025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20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89615" y="4993640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51168" y="50022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192885" y="4980487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70">
                <a:moveTo>
                  <a:pt x="491831" y="0"/>
                </a:moveTo>
                <a:lnTo>
                  <a:pt x="487318" y="0"/>
                </a:lnTo>
                <a:lnTo>
                  <a:pt x="487318" y="13196"/>
                </a:lnTo>
                <a:lnTo>
                  <a:pt x="489921" y="13196"/>
                </a:lnTo>
                <a:lnTo>
                  <a:pt x="501826" y="14015"/>
                </a:lnTo>
                <a:lnTo>
                  <a:pt x="535566" y="33929"/>
                </a:lnTo>
                <a:lnTo>
                  <a:pt x="543575" y="69627"/>
                </a:lnTo>
                <a:lnTo>
                  <a:pt x="543358" y="76062"/>
                </a:lnTo>
                <a:lnTo>
                  <a:pt x="542706" y="83214"/>
                </a:lnTo>
                <a:lnTo>
                  <a:pt x="541621" y="91081"/>
                </a:lnTo>
                <a:lnTo>
                  <a:pt x="540101" y="99665"/>
                </a:lnTo>
                <a:lnTo>
                  <a:pt x="538582" y="107967"/>
                </a:lnTo>
                <a:lnTo>
                  <a:pt x="537497" y="114988"/>
                </a:lnTo>
                <a:lnTo>
                  <a:pt x="536846" y="120729"/>
                </a:lnTo>
                <a:lnTo>
                  <a:pt x="536629" y="125190"/>
                </a:lnTo>
                <a:lnTo>
                  <a:pt x="537172" y="132238"/>
                </a:lnTo>
                <a:lnTo>
                  <a:pt x="565972" y="163389"/>
                </a:lnTo>
                <a:lnTo>
                  <a:pt x="565972" y="166514"/>
                </a:lnTo>
                <a:lnTo>
                  <a:pt x="537172" y="197665"/>
                </a:lnTo>
                <a:lnTo>
                  <a:pt x="536629" y="204713"/>
                </a:lnTo>
                <a:lnTo>
                  <a:pt x="536846" y="209173"/>
                </a:lnTo>
                <a:lnTo>
                  <a:pt x="537497" y="214914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1"/>
                </a:lnTo>
                <a:lnTo>
                  <a:pt x="542706" y="246689"/>
                </a:lnTo>
                <a:lnTo>
                  <a:pt x="543358" y="253841"/>
                </a:lnTo>
                <a:lnTo>
                  <a:pt x="543575" y="260276"/>
                </a:lnTo>
                <a:lnTo>
                  <a:pt x="542685" y="274845"/>
                </a:lnTo>
                <a:lnTo>
                  <a:pt x="521534" y="310548"/>
                </a:lnTo>
                <a:lnTo>
                  <a:pt x="489921" y="317921"/>
                </a:lnTo>
                <a:lnTo>
                  <a:pt x="487318" y="317921"/>
                </a:lnTo>
                <a:lnTo>
                  <a:pt x="487318" y="331118"/>
                </a:lnTo>
                <a:lnTo>
                  <a:pt x="491831" y="331118"/>
                </a:lnTo>
                <a:lnTo>
                  <a:pt x="510947" y="329690"/>
                </a:lnTo>
                <a:lnTo>
                  <a:pt x="552864" y="312453"/>
                </a:lnTo>
                <a:lnTo>
                  <a:pt x="571828" y="274606"/>
                </a:lnTo>
                <a:lnTo>
                  <a:pt x="573092" y="257150"/>
                </a:lnTo>
                <a:lnTo>
                  <a:pt x="572837" y="249695"/>
                </a:lnTo>
                <a:lnTo>
                  <a:pt x="572072" y="241740"/>
                </a:lnTo>
                <a:lnTo>
                  <a:pt x="570797" y="233286"/>
                </a:lnTo>
                <a:lnTo>
                  <a:pt x="569012" y="224334"/>
                </a:lnTo>
                <a:lnTo>
                  <a:pt x="566291" y="212063"/>
                </a:lnTo>
                <a:lnTo>
                  <a:pt x="564931" y="203845"/>
                </a:lnTo>
                <a:lnTo>
                  <a:pt x="564931" y="191691"/>
                </a:lnTo>
                <a:lnTo>
                  <a:pt x="567681" y="185179"/>
                </a:lnTo>
                <a:lnTo>
                  <a:pt x="598095" y="172071"/>
                </a:lnTo>
                <a:lnTo>
                  <a:pt x="598095" y="157833"/>
                </a:lnTo>
                <a:lnTo>
                  <a:pt x="564931" y="138211"/>
                </a:lnTo>
                <a:lnTo>
                  <a:pt x="564931" y="126057"/>
                </a:lnTo>
                <a:lnTo>
                  <a:pt x="566291" y="117839"/>
                </a:lnTo>
                <a:lnTo>
                  <a:pt x="569012" y="105568"/>
                </a:lnTo>
                <a:lnTo>
                  <a:pt x="570797" y="96616"/>
                </a:lnTo>
                <a:lnTo>
                  <a:pt x="572072" y="88162"/>
                </a:lnTo>
                <a:lnTo>
                  <a:pt x="572837" y="80208"/>
                </a:lnTo>
                <a:lnTo>
                  <a:pt x="573092" y="72753"/>
                </a:lnTo>
                <a:lnTo>
                  <a:pt x="571828" y="55828"/>
                </a:lnTo>
                <a:lnTo>
                  <a:pt x="552864" y="18666"/>
                </a:lnTo>
                <a:lnTo>
                  <a:pt x="510947" y="1427"/>
                </a:lnTo>
                <a:lnTo>
                  <a:pt x="491831" y="0"/>
                </a:lnTo>
                <a:close/>
              </a:path>
              <a:path w="598170" h="331470">
                <a:moveTo>
                  <a:pt x="110777" y="0"/>
                </a:moveTo>
                <a:lnTo>
                  <a:pt x="106263" y="0"/>
                </a:lnTo>
                <a:lnTo>
                  <a:pt x="87147" y="1427"/>
                </a:lnTo>
                <a:lnTo>
                  <a:pt x="45231" y="18666"/>
                </a:lnTo>
                <a:lnTo>
                  <a:pt x="26266" y="55731"/>
                </a:lnTo>
                <a:lnTo>
                  <a:pt x="25115" y="75888"/>
                </a:lnTo>
                <a:lnTo>
                  <a:pt x="25257" y="80034"/>
                </a:lnTo>
                <a:lnTo>
                  <a:pt x="26022" y="87988"/>
                </a:lnTo>
                <a:lnTo>
                  <a:pt x="27297" y="96442"/>
                </a:lnTo>
                <a:lnTo>
                  <a:pt x="29082" y="105396"/>
                </a:lnTo>
                <a:lnTo>
                  <a:pt x="31803" y="117665"/>
                </a:lnTo>
                <a:lnTo>
                  <a:pt x="33163" y="125883"/>
                </a:lnTo>
                <a:lnTo>
                  <a:pt x="33163" y="138038"/>
                </a:lnTo>
                <a:lnTo>
                  <a:pt x="30413" y="144550"/>
                </a:lnTo>
                <a:lnTo>
                  <a:pt x="0" y="157659"/>
                </a:lnTo>
                <a:lnTo>
                  <a:pt x="0" y="171897"/>
                </a:lnTo>
                <a:lnTo>
                  <a:pt x="33163" y="191517"/>
                </a:lnTo>
                <a:lnTo>
                  <a:pt x="33163" y="203671"/>
                </a:lnTo>
                <a:lnTo>
                  <a:pt x="31803" y="211890"/>
                </a:lnTo>
                <a:lnTo>
                  <a:pt x="29082" y="224160"/>
                </a:lnTo>
                <a:lnTo>
                  <a:pt x="27297" y="233113"/>
                </a:lnTo>
                <a:lnTo>
                  <a:pt x="26022" y="241567"/>
                </a:lnTo>
                <a:lnTo>
                  <a:pt x="25257" y="249521"/>
                </a:lnTo>
                <a:lnTo>
                  <a:pt x="25002" y="256976"/>
                </a:lnTo>
                <a:lnTo>
                  <a:pt x="26266" y="274508"/>
                </a:lnTo>
                <a:lnTo>
                  <a:pt x="45231" y="312453"/>
                </a:lnTo>
                <a:lnTo>
                  <a:pt x="87147" y="329690"/>
                </a:lnTo>
                <a:lnTo>
                  <a:pt x="106263" y="331118"/>
                </a:lnTo>
                <a:lnTo>
                  <a:pt x="110777" y="331118"/>
                </a:lnTo>
                <a:lnTo>
                  <a:pt x="110777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2"/>
                </a:lnTo>
                <a:lnTo>
                  <a:pt x="54519" y="260102"/>
                </a:lnTo>
                <a:lnTo>
                  <a:pt x="54736" y="253667"/>
                </a:lnTo>
                <a:lnTo>
                  <a:pt x="55388" y="246515"/>
                </a:lnTo>
                <a:lnTo>
                  <a:pt x="56473" y="238648"/>
                </a:lnTo>
                <a:lnTo>
                  <a:pt x="57993" y="230064"/>
                </a:lnTo>
                <a:lnTo>
                  <a:pt x="59512" y="221762"/>
                </a:lnTo>
                <a:lnTo>
                  <a:pt x="60597" y="214740"/>
                </a:lnTo>
                <a:lnTo>
                  <a:pt x="61248" y="208999"/>
                </a:lnTo>
                <a:lnTo>
                  <a:pt x="61465" y="204539"/>
                </a:lnTo>
                <a:lnTo>
                  <a:pt x="60922" y="197491"/>
                </a:lnTo>
                <a:lnTo>
                  <a:pt x="32122" y="166340"/>
                </a:lnTo>
                <a:lnTo>
                  <a:pt x="32122" y="163215"/>
                </a:lnTo>
                <a:lnTo>
                  <a:pt x="60922" y="132064"/>
                </a:lnTo>
                <a:lnTo>
                  <a:pt x="61465" y="125016"/>
                </a:lnTo>
                <a:lnTo>
                  <a:pt x="61248" y="120555"/>
                </a:lnTo>
                <a:lnTo>
                  <a:pt x="60597" y="114814"/>
                </a:lnTo>
                <a:lnTo>
                  <a:pt x="59512" y="107793"/>
                </a:lnTo>
                <a:lnTo>
                  <a:pt x="57993" y="99491"/>
                </a:lnTo>
                <a:lnTo>
                  <a:pt x="56473" y="90907"/>
                </a:lnTo>
                <a:lnTo>
                  <a:pt x="55388" y="83040"/>
                </a:lnTo>
                <a:lnTo>
                  <a:pt x="54736" y="75888"/>
                </a:lnTo>
                <a:lnTo>
                  <a:pt x="54519" y="69453"/>
                </a:lnTo>
                <a:lnTo>
                  <a:pt x="55409" y="55492"/>
                </a:lnTo>
                <a:lnTo>
                  <a:pt x="76560" y="20570"/>
                </a:lnTo>
                <a:lnTo>
                  <a:pt x="108173" y="13196"/>
                </a:lnTo>
                <a:lnTo>
                  <a:pt x="110777" y="13196"/>
                </a:lnTo>
                <a:lnTo>
                  <a:pt x="110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18108" y="3690765"/>
            <a:ext cx="8320405" cy="258064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Example: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Given </a:t>
            </a:r>
            <a:r>
              <a:rPr dirty="0" sz="2800">
                <a:latin typeface="Calibri"/>
                <a:cs typeface="Calibri"/>
              </a:rPr>
              <a:t>3 </a:t>
            </a:r>
            <a:r>
              <a:rPr dirty="0" sz="2800" spc="-5">
                <a:latin typeface="Calibri"/>
                <a:cs typeface="Calibri"/>
              </a:rPr>
              <a:t>queries </a:t>
            </a:r>
            <a:r>
              <a:rPr dirty="0" sz="2800" spc="110">
                <a:latin typeface="Cambria Math"/>
                <a:cs typeface="Cambria Math"/>
              </a:rPr>
              <a:t>𝑞</a:t>
            </a:r>
            <a:r>
              <a:rPr dirty="0" baseline="-16666" sz="3000" spc="165">
                <a:latin typeface="Cambria Math"/>
                <a:cs typeface="Cambria Math"/>
              </a:rPr>
              <a:t>"</a:t>
            </a:r>
            <a:r>
              <a:rPr dirty="0" sz="2800" spc="110">
                <a:latin typeface="Cambria Math"/>
                <a:cs typeface="Cambria Math"/>
              </a:rPr>
              <a:t>, </a:t>
            </a:r>
            <a:r>
              <a:rPr dirty="0" sz="2800" spc="-15">
                <a:latin typeface="Cambria Math"/>
                <a:cs typeface="Cambria Math"/>
              </a:rPr>
              <a:t>𝑞</a:t>
            </a:r>
            <a:r>
              <a:rPr dirty="0" baseline="-16666" sz="3000" spc="-22">
                <a:latin typeface="Cambria Math"/>
                <a:cs typeface="Cambria Math"/>
              </a:rPr>
              <a:t>#</a:t>
            </a:r>
            <a:r>
              <a:rPr dirty="0" sz="2800" spc="-15">
                <a:latin typeface="Cambria Math"/>
                <a:cs typeface="Cambria Math"/>
              </a:rPr>
              <a:t>, </a:t>
            </a: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6666" sz="3000" spc="187">
                <a:latin typeface="Cambria Math"/>
                <a:cs typeface="Cambria Math"/>
              </a:rPr>
              <a:t>)</a:t>
            </a:r>
            <a:r>
              <a:rPr dirty="0" sz="2800" spc="125">
                <a:latin typeface="Calibri"/>
                <a:cs typeface="Calibri"/>
              </a:rPr>
              <a:t>,</a:t>
            </a:r>
            <a:r>
              <a:rPr dirty="0" sz="2800" spc="-38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10">
                <a:latin typeface="Calibri"/>
                <a:cs typeface="Calibri"/>
              </a:rPr>
              <a:t>answer sets:</a:t>
            </a:r>
            <a:endParaRPr sz="2800">
              <a:latin typeface="Calibri"/>
              <a:cs typeface="Calibri"/>
            </a:endParaRPr>
          </a:p>
          <a:p>
            <a:pPr lvl="1" marL="781685" indent="-43053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781685" algn="l"/>
                <a:tab pos="782320" algn="l"/>
                <a:tab pos="1379220" algn="l"/>
                <a:tab pos="1880870" algn="l"/>
                <a:tab pos="2676525" algn="l"/>
                <a:tab pos="3282315" algn="l"/>
                <a:tab pos="3783965" algn="l"/>
                <a:tab pos="4587875" algn="l"/>
                <a:tab pos="5194300" algn="l"/>
                <a:tab pos="5695315" algn="l"/>
              </a:tabLst>
            </a:pP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5277" sz="3000" spc="187">
                <a:latin typeface="Cambria Math"/>
                <a:cs typeface="Cambria Math"/>
              </a:rPr>
              <a:t>"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30">
                <a:latin typeface="Cambria Math"/>
                <a:cs typeface="Cambria Math"/>
              </a:rPr>
              <a:t>𝑣</a:t>
            </a:r>
            <a:r>
              <a:rPr dirty="0" baseline="-15277" sz="3000" spc="195">
                <a:latin typeface="Cambria Math"/>
                <a:cs typeface="Cambria Math"/>
              </a:rPr>
              <a:t>"</a:t>
            </a:r>
            <a:r>
              <a:rPr dirty="0" baseline="-15277" sz="3000" spc="64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-70">
                <a:latin typeface="Cambria Math"/>
                <a:cs typeface="Cambria Math"/>
              </a:rPr>
              <a:t>𝑞</a:t>
            </a:r>
            <a:r>
              <a:rPr dirty="0" baseline="-15277" sz="3000" spc="-104">
                <a:latin typeface="Cambria Math"/>
                <a:cs typeface="Cambria Math"/>
              </a:rPr>
              <a:t>#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-60">
                <a:latin typeface="Cambria Math"/>
                <a:cs typeface="Cambria Math"/>
              </a:rPr>
              <a:t>𝑣</a:t>
            </a:r>
            <a:r>
              <a:rPr dirty="0" baseline="-15277" sz="3000" spc="-89">
                <a:latin typeface="Cambria Math"/>
                <a:cs typeface="Cambria Math"/>
              </a:rPr>
              <a:t># </a:t>
            </a:r>
            <a:r>
              <a:rPr dirty="0" baseline="-15277" sz="3000" spc="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130">
                <a:latin typeface="Cambria Math"/>
                <a:cs typeface="Cambria Math"/>
              </a:rPr>
              <a:t>𝑞</a:t>
            </a:r>
            <a:r>
              <a:rPr dirty="0" baseline="-15277" sz="3000" spc="195">
                <a:latin typeface="Cambria Math"/>
                <a:cs typeface="Cambria Math"/>
              </a:rPr>
              <a:t>)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40">
                <a:latin typeface="Cambria Math"/>
                <a:cs typeface="Cambria Math"/>
              </a:rPr>
              <a:t>𝑣</a:t>
            </a:r>
            <a:r>
              <a:rPr dirty="0" baseline="-15277" sz="3000" spc="209">
                <a:latin typeface="Cambria Math"/>
                <a:cs typeface="Cambria Math"/>
              </a:rPr>
              <a:t>)</a:t>
            </a:r>
            <a:endParaRPr baseline="-15277" sz="300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If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allow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union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operation,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can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embed them in</a:t>
            </a:r>
            <a:r>
              <a:rPr dirty="0" sz="28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465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625475">
              <a:lnSpc>
                <a:spcPct val="100000"/>
              </a:lnSpc>
              <a:spcBef>
                <a:spcPts val="45"/>
              </a:spcBef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two-dimensional</a:t>
            </a:r>
            <a:r>
              <a:rPr dirty="0" sz="28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plane?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44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439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18903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 i="0">
                <a:latin typeface="Calibri"/>
                <a:cs typeface="Calibri"/>
              </a:rPr>
              <a:t>E</a:t>
            </a:r>
            <a:r>
              <a:rPr dirty="0" sz="3200" spc="-45" b="1" i="0">
                <a:latin typeface="Calibri"/>
                <a:cs typeface="Calibri"/>
              </a:rPr>
              <a:t>x</a:t>
            </a:r>
            <a:r>
              <a:rPr dirty="0" sz="3200" spc="-5" b="1" i="0">
                <a:latin typeface="Calibri"/>
                <a:cs typeface="Calibri"/>
              </a:rPr>
              <a:t>amp</a:t>
            </a:r>
            <a:r>
              <a:rPr dirty="0" sz="3200" b="1" i="0">
                <a:latin typeface="Calibri"/>
                <a:cs typeface="Calibri"/>
              </a:rPr>
              <a:t>l</a:t>
            </a:r>
            <a:r>
              <a:rPr dirty="0" sz="3200" spc="0" b="1" i="0">
                <a:latin typeface="Calibri"/>
                <a:cs typeface="Calibri"/>
              </a:rPr>
              <a:t>e</a:t>
            </a:r>
            <a:r>
              <a:rPr dirty="0" sz="3200" b="1" i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0033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49785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50033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01341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83172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92809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83172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44724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78250" y="2542089"/>
            <a:ext cx="589915" cy="331470"/>
          </a:xfrm>
          <a:custGeom>
            <a:avLst/>
            <a:gdLst/>
            <a:ahLst/>
            <a:cxnLst/>
            <a:rect l="l" t="t" r="r" b="b"/>
            <a:pathLst>
              <a:path w="589914" h="331469">
                <a:moveTo>
                  <a:pt x="483641" y="0"/>
                </a:moveTo>
                <a:lnTo>
                  <a:pt x="479126" y="0"/>
                </a:lnTo>
                <a:lnTo>
                  <a:pt x="479126" y="13195"/>
                </a:lnTo>
                <a:lnTo>
                  <a:pt x="481731" y="13195"/>
                </a:lnTo>
                <a:lnTo>
                  <a:pt x="493635" y="14014"/>
                </a:lnTo>
                <a:lnTo>
                  <a:pt x="527374" y="33928"/>
                </a:lnTo>
                <a:lnTo>
                  <a:pt x="535383" y="69626"/>
                </a:lnTo>
                <a:lnTo>
                  <a:pt x="535166" y="76061"/>
                </a:lnTo>
                <a:lnTo>
                  <a:pt x="534515" y="83212"/>
                </a:lnTo>
                <a:lnTo>
                  <a:pt x="533429" y="91080"/>
                </a:lnTo>
                <a:lnTo>
                  <a:pt x="531910" y="99664"/>
                </a:lnTo>
                <a:lnTo>
                  <a:pt x="530391" y="107966"/>
                </a:lnTo>
                <a:lnTo>
                  <a:pt x="529306" y="114987"/>
                </a:lnTo>
                <a:lnTo>
                  <a:pt x="528655" y="120728"/>
                </a:lnTo>
                <a:lnTo>
                  <a:pt x="528438" y="125188"/>
                </a:lnTo>
                <a:lnTo>
                  <a:pt x="528980" y="132237"/>
                </a:lnTo>
                <a:lnTo>
                  <a:pt x="557782" y="163388"/>
                </a:lnTo>
                <a:lnTo>
                  <a:pt x="557782" y="166513"/>
                </a:lnTo>
                <a:lnTo>
                  <a:pt x="528980" y="197664"/>
                </a:lnTo>
                <a:lnTo>
                  <a:pt x="528438" y="204712"/>
                </a:lnTo>
                <a:lnTo>
                  <a:pt x="528655" y="209172"/>
                </a:lnTo>
                <a:lnTo>
                  <a:pt x="529306" y="214913"/>
                </a:lnTo>
                <a:lnTo>
                  <a:pt x="530391" y="221935"/>
                </a:lnTo>
                <a:lnTo>
                  <a:pt x="531910" y="230237"/>
                </a:lnTo>
                <a:lnTo>
                  <a:pt x="533429" y="238820"/>
                </a:lnTo>
                <a:lnTo>
                  <a:pt x="534515" y="246688"/>
                </a:lnTo>
                <a:lnTo>
                  <a:pt x="535166" y="253839"/>
                </a:lnTo>
                <a:lnTo>
                  <a:pt x="535383" y="260275"/>
                </a:lnTo>
                <a:lnTo>
                  <a:pt x="534493" y="274843"/>
                </a:lnTo>
                <a:lnTo>
                  <a:pt x="513343" y="310547"/>
                </a:lnTo>
                <a:lnTo>
                  <a:pt x="481731" y="317921"/>
                </a:lnTo>
                <a:lnTo>
                  <a:pt x="479126" y="317921"/>
                </a:lnTo>
                <a:lnTo>
                  <a:pt x="479126" y="331116"/>
                </a:lnTo>
                <a:lnTo>
                  <a:pt x="483641" y="331116"/>
                </a:lnTo>
                <a:lnTo>
                  <a:pt x="502757" y="329690"/>
                </a:lnTo>
                <a:lnTo>
                  <a:pt x="544672" y="312451"/>
                </a:lnTo>
                <a:lnTo>
                  <a:pt x="563636" y="274604"/>
                </a:lnTo>
                <a:lnTo>
                  <a:pt x="564901" y="257149"/>
                </a:lnTo>
                <a:lnTo>
                  <a:pt x="564646" y="249694"/>
                </a:lnTo>
                <a:lnTo>
                  <a:pt x="563880" y="241739"/>
                </a:lnTo>
                <a:lnTo>
                  <a:pt x="562605" y="233286"/>
                </a:lnTo>
                <a:lnTo>
                  <a:pt x="560820" y="224332"/>
                </a:lnTo>
                <a:lnTo>
                  <a:pt x="558100" y="212063"/>
                </a:lnTo>
                <a:lnTo>
                  <a:pt x="556740" y="203843"/>
                </a:lnTo>
                <a:lnTo>
                  <a:pt x="556740" y="191689"/>
                </a:lnTo>
                <a:lnTo>
                  <a:pt x="559489" y="185178"/>
                </a:lnTo>
                <a:lnTo>
                  <a:pt x="589903" y="172069"/>
                </a:lnTo>
                <a:lnTo>
                  <a:pt x="589903" y="157831"/>
                </a:lnTo>
                <a:lnTo>
                  <a:pt x="556740" y="138211"/>
                </a:lnTo>
                <a:lnTo>
                  <a:pt x="556740" y="126056"/>
                </a:lnTo>
                <a:lnTo>
                  <a:pt x="558100" y="117838"/>
                </a:lnTo>
                <a:lnTo>
                  <a:pt x="560820" y="105568"/>
                </a:lnTo>
                <a:lnTo>
                  <a:pt x="562605" y="96615"/>
                </a:lnTo>
                <a:lnTo>
                  <a:pt x="563880" y="88161"/>
                </a:lnTo>
                <a:lnTo>
                  <a:pt x="564646" y="80207"/>
                </a:lnTo>
                <a:lnTo>
                  <a:pt x="564901" y="72751"/>
                </a:lnTo>
                <a:lnTo>
                  <a:pt x="563636" y="55827"/>
                </a:lnTo>
                <a:lnTo>
                  <a:pt x="544672" y="18665"/>
                </a:lnTo>
                <a:lnTo>
                  <a:pt x="502757" y="1426"/>
                </a:lnTo>
                <a:lnTo>
                  <a:pt x="483641" y="0"/>
                </a:lnTo>
                <a:close/>
              </a:path>
              <a:path w="589914" h="331469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8" y="96441"/>
                </a:lnTo>
                <a:lnTo>
                  <a:pt x="29082" y="105394"/>
                </a:lnTo>
                <a:lnTo>
                  <a:pt x="31803" y="117664"/>
                </a:lnTo>
                <a:lnTo>
                  <a:pt x="33164" y="125883"/>
                </a:lnTo>
                <a:lnTo>
                  <a:pt x="33164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4" y="191516"/>
                </a:lnTo>
                <a:lnTo>
                  <a:pt x="33164" y="203671"/>
                </a:lnTo>
                <a:lnTo>
                  <a:pt x="31803" y="211889"/>
                </a:lnTo>
                <a:lnTo>
                  <a:pt x="29082" y="224158"/>
                </a:lnTo>
                <a:lnTo>
                  <a:pt x="27298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53255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53007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53255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04563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178202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87839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78202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39755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81472" y="2542089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69">
                <a:moveTo>
                  <a:pt x="491831" y="0"/>
                </a:moveTo>
                <a:lnTo>
                  <a:pt x="487318" y="0"/>
                </a:lnTo>
                <a:lnTo>
                  <a:pt x="487318" y="13195"/>
                </a:lnTo>
                <a:lnTo>
                  <a:pt x="489921" y="13195"/>
                </a:lnTo>
                <a:lnTo>
                  <a:pt x="501826" y="14014"/>
                </a:lnTo>
                <a:lnTo>
                  <a:pt x="535566" y="33928"/>
                </a:lnTo>
                <a:lnTo>
                  <a:pt x="543575" y="69626"/>
                </a:lnTo>
                <a:lnTo>
                  <a:pt x="543358" y="76061"/>
                </a:lnTo>
                <a:lnTo>
                  <a:pt x="542706" y="83212"/>
                </a:lnTo>
                <a:lnTo>
                  <a:pt x="541621" y="91080"/>
                </a:lnTo>
                <a:lnTo>
                  <a:pt x="540101" y="99664"/>
                </a:lnTo>
                <a:lnTo>
                  <a:pt x="538582" y="107966"/>
                </a:lnTo>
                <a:lnTo>
                  <a:pt x="537497" y="114987"/>
                </a:lnTo>
                <a:lnTo>
                  <a:pt x="536846" y="120728"/>
                </a:lnTo>
                <a:lnTo>
                  <a:pt x="536629" y="125188"/>
                </a:lnTo>
                <a:lnTo>
                  <a:pt x="537172" y="132237"/>
                </a:lnTo>
                <a:lnTo>
                  <a:pt x="565972" y="163388"/>
                </a:lnTo>
                <a:lnTo>
                  <a:pt x="565972" y="166513"/>
                </a:lnTo>
                <a:lnTo>
                  <a:pt x="537172" y="197664"/>
                </a:lnTo>
                <a:lnTo>
                  <a:pt x="536629" y="204712"/>
                </a:lnTo>
                <a:lnTo>
                  <a:pt x="536846" y="209172"/>
                </a:lnTo>
                <a:lnTo>
                  <a:pt x="537497" y="214913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0"/>
                </a:lnTo>
                <a:lnTo>
                  <a:pt x="542706" y="246688"/>
                </a:lnTo>
                <a:lnTo>
                  <a:pt x="543358" y="253839"/>
                </a:lnTo>
                <a:lnTo>
                  <a:pt x="543575" y="260275"/>
                </a:lnTo>
                <a:lnTo>
                  <a:pt x="542685" y="274843"/>
                </a:lnTo>
                <a:lnTo>
                  <a:pt x="521534" y="310547"/>
                </a:lnTo>
                <a:lnTo>
                  <a:pt x="489921" y="317921"/>
                </a:lnTo>
                <a:lnTo>
                  <a:pt x="487318" y="317921"/>
                </a:lnTo>
                <a:lnTo>
                  <a:pt x="487318" y="331116"/>
                </a:lnTo>
                <a:lnTo>
                  <a:pt x="491831" y="331116"/>
                </a:lnTo>
                <a:lnTo>
                  <a:pt x="510948" y="329690"/>
                </a:lnTo>
                <a:lnTo>
                  <a:pt x="552864" y="312451"/>
                </a:lnTo>
                <a:lnTo>
                  <a:pt x="571828" y="274604"/>
                </a:lnTo>
                <a:lnTo>
                  <a:pt x="573092" y="257149"/>
                </a:lnTo>
                <a:lnTo>
                  <a:pt x="572837" y="249694"/>
                </a:lnTo>
                <a:lnTo>
                  <a:pt x="572072" y="241739"/>
                </a:lnTo>
                <a:lnTo>
                  <a:pt x="570797" y="233286"/>
                </a:lnTo>
                <a:lnTo>
                  <a:pt x="569012" y="224332"/>
                </a:lnTo>
                <a:lnTo>
                  <a:pt x="566291" y="212063"/>
                </a:lnTo>
                <a:lnTo>
                  <a:pt x="564931" y="203843"/>
                </a:lnTo>
                <a:lnTo>
                  <a:pt x="564931" y="191689"/>
                </a:lnTo>
                <a:lnTo>
                  <a:pt x="567681" y="185178"/>
                </a:lnTo>
                <a:lnTo>
                  <a:pt x="598095" y="172069"/>
                </a:lnTo>
                <a:lnTo>
                  <a:pt x="598095" y="157831"/>
                </a:lnTo>
                <a:lnTo>
                  <a:pt x="564931" y="138211"/>
                </a:lnTo>
                <a:lnTo>
                  <a:pt x="564931" y="126056"/>
                </a:lnTo>
                <a:lnTo>
                  <a:pt x="566291" y="117838"/>
                </a:lnTo>
                <a:lnTo>
                  <a:pt x="569012" y="105568"/>
                </a:lnTo>
                <a:lnTo>
                  <a:pt x="570797" y="96615"/>
                </a:lnTo>
                <a:lnTo>
                  <a:pt x="572072" y="88161"/>
                </a:lnTo>
                <a:lnTo>
                  <a:pt x="572837" y="80207"/>
                </a:lnTo>
                <a:lnTo>
                  <a:pt x="573092" y="72751"/>
                </a:lnTo>
                <a:lnTo>
                  <a:pt x="571828" y="55827"/>
                </a:lnTo>
                <a:lnTo>
                  <a:pt x="552864" y="18665"/>
                </a:lnTo>
                <a:lnTo>
                  <a:pt x="510948" y="1426"/>
                </a:lnTo>
                <a:lnTo>
                  <a:pt x="491831" y="0"/>
                </a:lnTo>
                <a:close/>
              </a:path>
              <a:path w="598170" h="331469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9" y="96441"/>
                </a:lnTo>
                <a:lnTo>
                  <a:pt x="29084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4" y="224158"/>
                </a:lnTo>
                <a:lnTo>
                  <a:pt x="27299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64668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664420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64668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615976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089615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99251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89615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51168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192885" y="2542089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69">
                <a:moveTo>
                  <a:pt x="491831" y="0"/>
                </a:moveTo>
                <a:lnTo>
                  <a:pt x="487318" y="0"/>
                </a:lnTo>
                <a:lnTo>
                  <a:pt x="487318" y="13195"/>
                </a:lnTo>
                <a:lnTo>
                  <a:pt x="489921" y="13195"/>
                </a:lnTo>
                <a:lnTo>
                  <a:pt x="501826" y="14014"/>
                </a:lnTo>
                <a:lnTo>
                  <a:pt x="535566" y="33928"/>
                </a:lnTo>
                <a:lnTo>
                  <a:pt x="543575" y="69626"/>
                </a:lnTo>
                <a:lnTo>
                  <a:pt x="543358" y="76061"/>
                </a:lnTo>
                <a:lnTo>
                  <a:pt x="542706" y="83212"/>
                </a:lnTo>
                <a:lnTo>
                  <a:pt x="541621" y="91080"/>
                </a:lnTo>
                <a:lnTo>
                  <a:pt x="540101" y="99664"/>
                </a:lnTo>
                <a:lnTo>
                  <a:pt x="538582" y="107966"/>
                </a:lnTo>
                <a:lnTo>
                  <a:pt x="537497" y="114987"/>
                </a:lnTo>
                <a:lnTo>
                  <a:pt x="536846" y="120728"/>
                </a:lnTo>
                <a:lnTo>
                  <a:pt x="536629" y="125188"/>
                </a:lnTo>
                <a:lnTo>
                  <a:pt x="537172" y="132237"/>
                </a:lnTo>
                <a:lnTo>
                  <a:pt x="565972" y="163388"/>
                </a:lnTo>
                <a:lnTo>
                  <a:pt x="565972" y="166513"/>
                </a:lnTo>
                <a:lnTo>
                  <a:pt x="537172" y="197664"/>
                </a:lnTo>
                <a:lnTo>
                  <a:pt x="536629" y="204712"/>
                </a:lnTo>
                <a:lnTo>
                  <a:pt x="536846" y="209172"/>
                </a:lnTo>
                <a:lnTo>
                  <a:pt x="537497" y="214913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0"/>
                </a:lnTo>
                <a:lnTo>
                  <a:pt x="542706" y="246688"/>
                </a:lnTo>
                <a:lnTo>
                  <a:pt x="543358" y="253839"/>
                </a:lnTo>
                <a:lnTo>
                  <a:pt x="543575" y="260275"/>
                </a:lnTo>
                <a:lnTo>
                  <a:pt x="542685" y="274843"/>
                </a:lnTo>
                <a:lnTo>
                  <a:pt x="521534" y="310547"/>
                </a:lnTo>
                <a:lnTo>
                  <a:pt x="489921" y="317921"/>
                </a:lnTo>
                <a:lnTo>
                  <a:pt x="487318" y="317921"/>
                </a:lnTo>
                <a:lnTo>
                  <a:pt x="487318" y="331116"/>
                </a:lnTo>
                <a:lnTo>
                  <a:pt x="491831" y="331116"/>
                </a:lnTo>
                <a:lnTo>
                  <a:pt x="510947" y="329690"/>
                </a:lnTo>
                <a:lnTo>
                  <a:pt x="552864" y="312451"/>
                </a:lnTo>
                <a:lnTo>
                  <a:pt x="571828" y="274604"/>
                </a:lnTo>
                <a:lnTo>
                  <a:pt x="573092" y="257149"/>
                </a:lnTo>
                <a:lnTo>
                  <a:pt x="572837" y="249694"/>
                </a:lnTo>
                <a:lnTo>
                  <a:pt x="572072" y="241739"/>
                </a:lnTo>
                <a:lnTo>
                  <a:pt x="570797" y="233286"/>
                </a:lnTo>
                <a:lnTo>
                  <a:pt x="569012" y="224332"/>
                </a:lnTo>
                <a:lnTo>
                  <a:pt x="566291" y="212063"/>
                </a:lnTo>
                <a:lnTo>
                  <a:pt x="564931" y="203843"/>
                </a:lnTo>
                <a:lnTo>
                  <a:pt x="564931" y="191689"/>
                </a:lnTo>
                <a:lnTo>
                  <a:pt x="567681" y="185178"/>
                </a:lnTo>
                <a:lnTo>
                  <a:pt x="598095" y="172069"/>
                </a:lnTo>
                <a:lnTo>
                  <a:pt x="598095" y="157831"/>
                </a:lnTo>
                <a:lnTo>
                  <a:pt x="564931" y="138211"/>
                </a:lnTo>
                <a:lnTo>
                  <a:pt x="564931" y="126056"/>
                </a:lnTo>
                <a:lnTo>
                  <a:pt x="566291" y="117838"/>
                </a:lnTo>
                <a:lnTo>
                  <a:pt x="569012" y="105568"/>
                </a:lnTo>
                <a:lnTo>
                  <a:pt x="570797" y="96615"/>
                </a:lnTo>
                <a:lnTo>
                  <a:pt x="572072" y="88161"/>
                </a:lnTo>
                <a:lnTo>
                  <a:pt x="572837" y="80207"/>
                </a:lnTo>
                <a:lnTo>
                  <a:pt x="573092" y="72751"/>
                </a:lnTo>
                <a:lnTo>
                  <a:pt x="571828" y="55827"/>
                </a:lnTo>
                <a:lnTo>
                  <a:pt x="552864" y="18665"/>
                </a:lnTo>
                <a:lnTo>
                  <a:pt x="510947" y="1426"/>
                </a:lnTo>
                <a:lnTo>
                  <a:pt x="491831" y="0"/>
                </a:lnTo>
                <a:close/>
              </a:path>
              <a:path w="598170" h="331469">
                <a:moveTo>
                  <a:pt x="110777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6" y="55730"/>
                </a:lnTo>
                <a:lnTo>
                  <a:pt x="25115" y="75887"/>
                </a:lnTo>
                <a:lnTo>
                  <a:pt x="25257" y="80033"/>
                </a:lnTo>
                <a:lnTo>
                  <a:pt x="26022" y="87987"/>
                </a:lnTo>
                <a:lnTo>
                  <a:pt x="27297" y="96441"/>
                </a:lnTo>
                <a:lnTo>
                  <a:pt x="29082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3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2" y="224158"/>
                </a:lnTo>
                <a:lnTo>
                  <a:pt x="27297" y="233112"/>
                </a:lnTo>
                <a:lnTo>
                  <a:pt x="26022" y="241565"/>
                </a:lnTo>
                <a:lnTo>
                  <a:pt x="25257" y="249520"/>
                </a:lnTo>
                <a:lnTo>
                  <a:pt x="25002" y="256975"/>
                </a:lnTo>
                <a:lnTo>
                  <a:pt x="26266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7" y="331116"/>
                </a:lnTo>
                <a:lnTo>
                  <a:pt x="110777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19" y="260101"/>
                </a:lnTo>
                <a:lnTo>
                  <a:pt x="54736" y="253665"/>
                </a:lnTo>
                <a:lnTo>
                  <a:pt x="55388" y="246514"/>
                </a:lnTo>
                <a:lnTo>
                  <a:pt x="56473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7" y="214740"/>
                </a:lnTo>
                <a:lnTo>
                  <a:pt x="61248" y="208999"/>
                </a:lnTo>
                <a:lnTo>
                  <a:pt x="61465" y="204538"/>
                </a:lnTo>
                <a:lnTo>
                  <a:pt x="60922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2" y="132063"/>
                </a:lnTo>
                <a:lnTo>
                  <a:pt x="61465" y="125014"/>
                </a:lnTo>
                <a:lnTo>
                  <a:pt x="61248" y="120554"/>
                </a:lnTo>
                <a:lnTo>
                  <a:pt x="60597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3" y="90906"/>
                </a:lnTo>
                <a:lnTo>
                  <a:pt x="55388" y="83038"/>
                </a:lnTo>
                <a:lnTo>
                  <a:pt x="54736" y="75887"/>
                </a:lnTo>
                <a:lnTo>
                  <a:pt x="54519" y="69452"/>
                </a:lnTo>
                <a:lnTo>
                  <a:pt x="55409" y="55491"/>
                </a:lnTo>
                <a:lnTo>
                  <a:pt x="76560" y="20569"/>
                </a:lnTo>
                <a:lnTo>
                  <a:pt x="108173" y="13195"/>
                </a:lnTo>
                <a:lnTo>
                  <a:pt x="110777" y="13195"/>
                </a:lnTo>
                <a:lnTo>
                  <a:pt x="110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10"/>
              <a:t>Given </a:t>
            </a:r>
            <a:r>
              <a:rPr dirty="0"/>
              <a:t>3 </a:t>
            </a:r>
            <a:r>
              <a:rPr dirty="0" spc="-5"/>
              <a:t>queries </a:t>
            </a:r>
            <a:r>
              <a:rPr dirty="0" spc="110">
                <a:latin typeface="Cambria Math"/>
                <a:cs typeface="Cambria Math"/>
              </a:rPr>
              <a:t>𝑞</a:t>
            </a:r>
            <a:r>
              <a:rPr dirty="0" baseline="-16666" sz="3000" spc="165">
                <a:latin typeface="Cambria Math"/>
                <a:cs typeface="Cambria Math"/>
              </a:rPr>
              <a:t>"</a:t>
            </a:r>
            <a:r>
              <a:rPr dirty="0" sz="2800" spc="110">
                <a:latin typeface="Cambria Math"/>
                <a:cs typeface="Cambria Math"/>
              </a:rPr>
              <a:t>, </a:t>
            </a:r>
            <a:r>
              <a:rPr dirty="0" sz="2800" spc="-15">
                <a:latin typeface="Cambria Math"/>
                <a:cs typeface="Cambria Math"/>
              </a:rPr>
              <a:t>𝑞</a:t>
            </a:r>
            <a:r>
              <a:rPr dirty="0" baseline="-16666" sz="3000" spc="-22">
                <a:latin typeface="Cambria Math"/>
                <a:cs typeface="Cambria Math"/>
              </a:rPr>
              <a:t>#</a:t>
            </a:r>
            <a:r>
              <a:rPr dirty="0" sz="2800" spc="-15">
                <a:latin typeface="Cambria Math"/>
                <a:cs typeface="Cambria Math"/>
              </a:rPr>
              <a:t>, </a:t>
            </a: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6666" sz="3000" spc="187">
                <a:latin typeface="Cambria Math"/>
                <a:cs typeface="Cambria Math"/>
              </a:rPr>
              <a:t>)</a:t>
            </a:r>
            <a:r>
              <a:rPr dirty="0" sz="2800" spc="125"/>
              <a:t>,</a:t>
            </a:r>
            <a:r>
              <a:rPr dirty="0" sz="2800" spc="-380"/>
              <a:t> </a:t>
            </a:r>
            <a:r>
              <a:rPr dirty="0" sz="2800" spc="-5"/>
              <a:t>with </a:t>
            </a:r>
            <a:r>
              <a:rPr dirty="0" sz="2800" spc="-10"/>
              <a:t>answer sets:</a:t>
            </a:r>
            <a:endParaRPr sz="2800">
              <a:latin typeface="Cambria Math"/>
              <a:cs typeface="Cambria Math"/>
            </a:endParaRPr>
          </a:p>
          <a:p>
            <a:pPr marL="443230" indent="-43053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443230" algn="l"/>
                <a:tab pos="443865" algn="l"/>
                <a:tab pos="1040765" algn="l"/>
                <a:tab pos="1542415" algn="l"/>
                <a:tab pos="2338070" algn="l"/>
                <a:tab pos="2943860" algn="l"/>
                <a:tab pos="3445510" algn="l"/>
                <a:tab pos="4249420" algn="l"/>
                <a:tab pos="4855845" algn="l"/>
                <a:tab pos="5356860" algn="l"/>
              </a:tabLst>
            </a:pPr>
            <a:r>
              <a:rPr dirty="0" spc="125">
                <a:latin typeface="Cambria Math"/>
                <a:cs typeface="Cambria Math"/>
              </a:rPr>
              <a:t>𝑞</a:t>
            </a:r>
            <a:r>
              <a:rPr dirty="0" baseline="-15277" sz="3000" spc="187">
                <a:latin typeface="Cambria Math"/>
                <a:cs typeface="Cambria Math"/>
              </a:rPr>
              <a:t>"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30">
                <a:latin typeface="Cambria Math"/>
                <a:cs typeface="Cambria Math"/>
              </a:rPr>
              <a:t>𝑣</a:t>
            </a:r>
            <a:r>
              <a:rPr dirty="0" baseline="-15277" sz="3000" spc="195">
                <a:latin typeface="Cambria Math"/>
                <a:cs typeface="Cambria Math"/>
              </a:rPr>
              <a:t>"</a:t>
            </a:r>
            <a:r>
              <a:rPr dirty="0" baseline="-15277" sz="3000" spc="64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-70">
                <a:latin typeface="Cambria Math"/>
                <a:cs typeface="Cambria Math"/>
              </a:rPr>
              <a:t>𝑞</a:t>
            </a:r>
            <a:r>
              <a:rPr dirty="0" baseline="-15277" sz="3000" spc="-104">
                <a:latin typeface="Cambria Math"/>
                <a:cs typeface="Cambria Math"/>
              </a:rPr>
              <a:t>#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-60">
                <a:latin typeface="Cambria Math"/>
                <a:cs typeface="Cambria Math"/>
              </a:rPr>
              <a:t>𝑣</a:t>
            </a:r>
            <a:r>
              <a:rPr dirty="0" baseline="-15277" sz="3000" spc="-89">
                <a:latin typeface="Cambria Math"/>
                <a:cs typeface="Cambria Math"/>
              </a:rPr>
              <a:t># </a:t>
            </a:r>
            <a:r>
              <a:rPr dirty="0" baseline="-15277" sz="3000" spc="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130">
                <a:latin typeface="Cambria Math"/>
                <a:cs typeface="Cambria Math"/>
              </a:rPr>
              <a:t>𝑞</a:t>
            </a:r>
            <a:r>
              <a:rPr dirty="0" baseline="-15277" sz="3000" spc="195">
                <a:latin typeface="Cambria Math"/>
                <a:cs typeface="Cambria Math"/>
              </a:rPr>
              <a:t>)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40">
                <a:latin typeface="Cambria Math"/>
                <a:cs typeface="Cambria Math"/>
              </a:rPr>
              <a:t>𝑣</a:t>
            </a:r>
            <a:r>
              <a:rPr dirty="0" baseline="-15277" sz="3000" spc="209">
                <a:latin typeface="Cambria Math"/>
                <a:cs typeface="Cambria Math"/>
              </a:rPr>
              <a:t>)</a:t>
            </a:r>
            <a:endParaRPr baseline="-15277" sz="3000">
              <a:latin typeface="Cambria Math"/>
              <a:cs typeface="Cambria Math"/>
            </a:endParaRPr>
          </a:p>
          <a:p>
            <a:pPr marL="287020" marR="5080" indent="-274320">
              <a:lnSpc>
                <a:spcPct val="101400"/>
              </a:lnSpc>
              <a:spcBef>
                <a:spcPts val="5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5">
                <a:solidFill>
                  <a:srgbClr val="C00000"/>
                </a:solidFill>
              </a:rPr>
              <a:t>If </a:t>
            </a:r>
            <a:r>
              <a:rPr dirty="0" spc="-15">
                <a:solidFill>
                  <a:srgbClr val="C00000"/>
                </a:solidFill>
              </a:rPr>
              <a:t>we </a:t>
            </a:r>
            <a:r>
              <a:rPr dirty="0" spc="-10">
                <a:solidFill>
                  <a:srgbClr val="C00000"/>
                </a:solidFill>
              </a:rPr>
              <a:t>allow </a:t>
            </a:r>
            <a:r>
              <a:rPr dirty="0" spc="-5">
                <a:solidFill>
                  <a:srgbClr val="C00000"/>
                </a:solidFill>
              </a:rPr>
              <a:t>union </a:t>
            </a:r>
            <a:r>
              <a:rPr dirty="0" spc="-15">
                <a:solidFill>
                  <a:srgbClr val="C00000"/>
                </a:solidFill>
              </a:rPr>
              <a:t>operation, </a:t>
            </a:r>
            <a:r>
              <a:rPr dirty="0" spc="-10">
                <a:solidFill>
                  <a:srgbClr val="C00000"/>
                </a:solidFill>
              </a:rPr>
              <a:t>can </a:t>
            </a:r>
            <a:r>
              <a:rPr dirty="0" spc="-15">
                <a:solidFill>
                  <a:srgbClr val="C00000"/>
                </a:solidFill>
              </a:rPr>
              <a:t>we </a:t>
            </a:r>
            <a:r>
              <a:rPr dirty="0" spc="-5">
                <a:solidFill>
                  <a:srgbClr val="C00000"/>
                </a:solidFill>
              </a:rPr>
              <a:t>embed them </a:t>
            </a:r>
            <a:r>
              <a:rPr dirty="0" spc="-285">
                <a:solidFill>
                  <a:srgbClr val="C00000"/>
                </a:solidFill>
              </a:rPr>
              <a:t>in  </a:t>
            </a:r>
            <a:r>
              <a:rPr dirty="0" spc="-5">
                <a:solidFill>
                  <a:srgbClr val="C00000"/>
                </a:solidFill>
              </a:rPr>
              <a:t>two-dimensional</a:t>
            </a:r>
            <a:r>
              <a:rPr dirty="0" spc="-80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plane?</a:t>
            </a:r>
          </a:p>
        </p:txBody>
      </p:sp>
      <p:sp>
        <p:nvSpPr>
          <p:cNvPr id="32" name="object 32"/>
          <p:cNvSpPr/>
          <p:nvPr/>
        </p:nvSpPr>
        <p:spPr>
          <a:xfrm>
            <a:off x="1660443" y="4081802"/>
            <a:ext cx="85725" cy="2028189"/>
          </a:xfrm>
          <a:custGeom>
            <a:avLst/>
            <a:gdLst/>
            <a:ahLst/>
            <a:cxnLst/>
            <a:rect l="l" t="t" r="r" b="b"/>
            <a:pathLst>
              <a:path w="85725" h="2028189">
                <a:moveTo>
                  <a:pt x="50753" y="57150"/>
                </a:moveTo>
                <a:lnTo>
                  <a:pt x="34971" y="57150"/>
                </a:lnTo>
                <a:lnTo>
                  <a:pt x="28575" y="63545"/>
                </a:lnTo>
                <a:lnTo>
                  <a:pt x="28576" y="2021625"/>
                </a:lnTo>
                <a:lnTo>
                  <a:pt x="34971" y="2028022"/>
                </a:lnTo>
                <a:lnTo>
                  <a:pt x="50754" y="2028022"/>
                </a:lnTo>
                <a:lnTo>
                  <a:pt x="57151" y="2021625"/>
                </a:lnTo>
                <a:lnTo>
                  <a:pt x="57150" y="63545"/>
                </a:lnTo>
                <a:lnTo>
                  <a:pt x="50753" y="57150"/>
                </a:lnTo>
                <a:close/>
              </a:path>
              <a:path w="85725" h="2028189">
                <a:moveTo>
                  <a:pt x="42862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63545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2028189">
                <a:moveTo>
                  <a:pt x="71437" y="57150"/>
                </a:moveTo>
                <a:lnTo>
                  <a:pt x="50753" y="57150"/>
                </a:lnTo>
                <a:lnTo>
                  <a:pt x="57150" y="63545"/>
                </a:lnTo>
                <a:lnTo>
                  <a:pt x="57150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669963" y="6052623"/>
            <a:ext cx="2225040" cy="85725"/>
          </a:xfrm>
          <a:custGeom>
            <a:avLst/>
            <a:gdLst/>
            <a:ahLst/>
            <a:cxnLst/>
            <a:rect l="l" t="t" r="r" b="b"/>
            <a:pathLst>
              <a:path w="2225040" h="85725">
                <a:moveTo>
                  <a:pt x="2139084" y="57149"/>
                </a:moveTo>
                <a:lnTo>
                  <a:pt x="2139067" y="85725"/>
                </a:lnTo>
                <a:lnTo>
                  <a:pt x="2196277" y="57163"/>
                </a:lnTo>
                <a:lnTo>
                  <a:pt x="2139084" y="57149"/>
                </a:lnTo>
                <a:close/>
              </a:path>
              <a:path w="2225040" h="85725">
                <a:moveTo>
                  <a:pt x="2139102" y="28574"/>
                </a:moveTo>
                <a:lnTo>
                  <a:pt x="2139084" y="57149"/>
                </a:lnTo>
                <a:lnTo>
                  <a:pt x="2161258" y="57163"/>
                </a:lnTo>
                <a:lnTo>
                  <a:pt x="2167657" y="50770"/>
                </a:lnTo>
                <a:lnTo>
                  <a:pt x="2167667" y="34989"/>
                </a:lnTo>
                <a:lnTo>
                  <a:pt x="2161274" y="28588"/>
                </a:lnTo>
                <a:lnTo>
                  <a:pt x="2139102" y="28574"/>
                </a:lnTo>
                <a:close/>
              </a:path>
              <a:path w="2225040" h="85725">
                <a:moveTo>
                  <a:pt x="2139119" y="0"/>
                </a:moveTo>
                <a:lnTo>
                  <a:pt x="2139102" y="28574"/>
                </a:lnTo>
                <a:lnTo>
                  <a:pt x="2161274" y="28588"/>
                </a:lnTo>
                <a:lnTo>
                  <a:pt x="2167667" y="34989"/>
                </a:lnTo>
                <a:lnTo>
                  <a:pt x="2167657" y="50770"/>
                </a:lnTo>
                <a:lnTo>
                  <a:pt x="2161258" y="57163"/>
                </a:lnTo>
                <a:lnTo>
                  <a:pt x="2196277" y="57163"/>
                </a:lnTo>
                <a:lnTo>
                  <a:pt x="2224819" y="42914"/>
                </a:lnTo>
                <a:lnTo>
                  <a:pt x="2139119" y="0"/>
                </a:lnTo>
                <a:close/>
              </a:path>
              <a:path w="2225040" h="85725">
                <a:moveTo>
                  <a:pt x="6410" y="27284"/>
                </a:moveTo>
                <a:lnTo>
                  <a:pt x="10" y="33676"/>
                </a:lnTo>
                <a:lnTo>
                  <a:pt x="0" y="49458"/>
                </a:lnTo>
                <a:lnTo>
                  <a:pt x="6393" y="55859"/>
                </a:lnTo>
                <a:lnTo>
                  <a:pt x="2139084" y="57149"/>
                </a:lnTo>
                <a:lnTo>
                  <a:pt x="2139102" y="28574"/>
                </a:lnTo>
                <a:lnTo>
                  <a:pt x="6410" y="27284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736421" y="476010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736421" y="476010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55856" y="52108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055856" y="52108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293854" y="53125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293854" y="53125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D9253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905000" y="5002317"/>
            <a:ext cx="914400" cy="76073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30480">
              <a:lnSpc>
                <a:spcPts val="2105"/>
              </a:lnSpc>
            </a:pPr>
            <a:r>
              <a:rPr dirty="0" sz="1800" spc="-175">
                <a:latin typeface="Cambria Math"/>
                <a:cs typeface="Cambria Math"/>
              </a:rPr>
              <a:t>𝐯</a:t>
            </a:r>
            <a:r>
              <a:rPr dirty="0" baseline="-14957" sz="1950" spc="-262">
                <a:latin typeface="Cambria Math"/>
                <a:cs typeface="Cambria Math"/>
              </a:rPr>
              <a:t>+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6640" y="4422140"/>
            <a:ext cx="2336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0">
                <a:latin typeface="Cambria Math"/>
                <a:cs typeface="Cambria Math"/>
              </a:rPr>
              <a:t>𝐯</a:t>
            </a:r>
            <a:r>
              <a:rPr dirty="0" baseline="-14957" sz="1950" spc="719">
                <a:latin typeface="Cambria Math"/>
                <a:cs typeface="Cambria Math"/>
              </a:rPr>
              <a:t>,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85291" y="5159755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𝐯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397941" y="5268976"/>
            <a:ext cx="1212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315">
                <a:latin typeface="Cambria Math"/>
                <a:cs typeface="Cambria Math"/>
              </a:rPr>
              <a:t>-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241265" y="4422140"/>
            <a:ext cx="404304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35">
                <a:solidFill>
                  <a:srgbClr val="479249"/>
                </a:solidFill>
                <a:latin typeface="Calibri"/>
                <a:cs typeface="Calibri"/>
              </a:rPr>
              <a:t>We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want </a:t>
            </a:r>
            <a:r>
              <a:rPr dirty="0" sz="1800" spc="-15" b="1">
                <a:solidFill>
                  <a:srgbClr val="D9253E"/>
                </a:solidFill>
                <a:latin typeface="Calibri"/>
                <a:cs typeface="Calibri"/>
              </a:rPr>
              <a:t>red </a:t>
            </a:r>
            <a:r>
              <a:rPr dirty="0" sz="1800" spc="-5" b="1">
                <a:solidFill>
                  <a:srgbClr val="D9253E"/>
                </a:solidFill>
                <a:latin typeface="Calibri"/>
                <a:cs typeface="Calibri"/>
              </a:rPr>
              <a:t>dots </a:t>
            </a:r>
            <a:r>
              <a:rPr dirty="0" sz="1800" spc="-10" b="1">
                <a:solidFill>
                  <a:srgbClr val="D9253E"/>
                </a:solidFill>
                <a:latin typeface="Calibri"/>
                <a:cs typeface="Calibri"/>
              </a:rPr>
              <a:t>(answers)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be in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the 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box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while the </a:t>
            </a:r>
            <a:r>
              <a:rPr dirty="0" sz="1800" spc="-5" b="1">
                <a:solidFill>
                  <a:srgbClr val="0070C0"/>
                </a:solidFill>
                <a:latin typeface="Calibri"/>
                <a:cs typeface="Calibri"/>
              </a:rPr>
              <a:t>blue dots </a:t>
            </a:r>
            <a:r>
              <a:rPr dirty="0" sz="1800" spc="-15" b="1">
                <a:solidFill>
                  <a:srgbClr val="0070C0"/>
                </a:solidFill>
                <a:latin typeface="Calibri"/>
                <a:cs typeface="Calibri"/>
              </a:rPr>
              <a:t>(negative answers) 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be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outside the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box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858038" y="5519420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latin typeface="Cambria Math"/>
                <a:cs typeface="Cambria Math"/>
              </a:rPr>
              <a:t>𝐪</a:t>
            </a:r>
            <a:r>
              <a:rPr dirty="0" baseline="-14957" sz="1950" spc="-330">
                <a:latin typeface="Cambria Math"/>
                <a:cs typeface="Cambria Math"/>
              </a:rPr>
              <a:t>+</a:t>
            </a:r>
            <a:endParaRPr baseline="-14957" sz="19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439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18903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 i="0">
                <a:latin typeface="Calibri"/>
                <a:cs typeface="Calibri"/>
              </a:rPr>
              <a:t>E</a:t>
            </a:r>
            <a:r>
              <a:rPr dirty="0" sz="3200" spc="-45" b="1" i="0">
                <a:latin typeface="Calibri"/>
                <a:cs typeface="Calibri"/>
              </a:rPr>
              <a:t>x</a:t>
            </a:r>
            <a:r>
              <a:rPr dirty="0" sz="3200" spc="-5" b="1" i="0">
                <a:latin typeface="Calibri"/>
                <a:cs typeface="Calibri"/>
              </a:rPr>
              <a:t>amp</a:t>
            </a:r>
            <a:r>
              <a:rPr dirty="0" sz="3200" b="1" i="0">
                <a:latin typeface="Calibri"/>
                <a:cs typeface="Calibri"/>
              </a:rPr>
              <a:t>l</a:t>
            </a:r>
            <a:r>
              <a:rPr dirty="0" sz="3200" spc="0" b="1" i="0">
                <a:latin typeface="Calibri"/>
                <a:cs typeface="Calibri"/>
              </a:rPr>
              <a:t>e</a:t>
            </a:r>
            <a:r>
              <a:rPr dirty="0" sz="3200" b="1" i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0033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49785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50033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01341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83172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92809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83172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44724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78250" y="2542089"/>
            <a:ext cx="589915" cy="331470"/>
          </a:xfrm>
          <a:custGeom>
            <a:avLst/>
            <a:gdLst/>
            <a:ahLst/>
            <a:cxnLst/>
            <a:rect l="l" t="t" r="r" b="b"/>
            <a:pathLst>
              <a:path w="589914" h="331469">
                <a:moveTo>
                  <a:pt x="483641" y="0"/>
                </a:moveTo>
                <a:lnTo>
                  <a:pt x="479126" y="0"/>
                </a:lnTo>
                <a:lnTo>
                  <a:pt x="479126" y="13195"/>
                </a:lnTo>
                <a:lnTo>
                  <a:pt x="481731" y="13195"/>
                </a:lnTo>
                <a:lnTo>
                  <a:pt x="493635" y="14014"/>
                </a:lnTo>
                <a:lnTo>
                  <a:pt x="527374" y="33928"/>
                </a:lnTo>
                <a:lnTo>
                  <a:pt x="535383" y="69626"/>
                </a:lnTo>
                <a:lnTo>
                  <a:pt x="535166" y="76061"/>
                </a:lnTo>
                <a:lnTo>
                  <a:pt x="534515" y="83212"/>
                </a:lnTo>
                <a:lnTo>
                  <a:pt x="533429" y="91080"/>
                </a:lnTo>
                <a:lnTo>
                  <a:pt x="531910" y="99664"/>
                </a:lnTo>
                <a:lnTo>
                  <a:pt x="530391" y="107966"/>
                </a:lnTo>
                <a:lnTo>
                  <a:pt x="529306" y="114987"/>
                </a:lnTo>
                <a:lnTo>
                  <a:pt x="528655" y="120728"/>
                </a:lnTo>
                <a:lnTo>
                  <a:pt x="528438" y="125188"/>
                </a:lnTo>
                <a:lnTo>
                  <a:pt x="528980" y="132237"/>
                </a:lnTo>
                <a:lnTo>
                  <a:pt x="557782" y="163388"/>
                </a:lnTo>
                <a:lnTo>
                  <a:pt x="557782" y="166513"/>
                </a:lnTo>
                <a:lnTo>
                  <a:pt x="528980" y="197664"/>
                </a:lnTo>
                <a:lnTo>
                  <a:pt x="528438" y="204712"/>
                </a:lnTo>
                <a:lnTo>
                  <a:pt x="528655" y="209172"/>
                </a:lnTo>
                <a:lnTo>
                  <a:pt x="529306" y="214913"/>
                </a:lnTo>
                <a:lnTo>
                  <a:pt x="530391" y="221935"/>
                </a:lnTo>
                <a:lnTo>
                  <a:pt x="531910" y="230237"/>
                </a:lnTo>
                <a:lnTo>
                  <a:pt x="533429" y="238820"/>
                </a:lnTo>
                <a:lnTo>
                  <a:pt x="534515" y="246688"/>
                </a:lnTo>
                <a:lnTo>
                  <a:pt x="535166" y="253839"/>
                </a:lnTo>
                <a:lnTo>
                  <a:pt x="535383" y="260275"/>
                </a:lnTo>
                <a:lnTo>
                  <a:pt x="534493" y="274843"/>
                </a:lnTo>
                <a:lnTo>
                  <a:pt x="513343" y="310547"/>
                </a:lnTo>
                <a:lnTo>
                  <a:pt x="481731" y="317921"/>
                </a:lnTo>
                <a:lnTo>
                  <a:pt x="479126" y="317921"/>
                </a:lnTo>
                <a:lnTo>
                  <a:pt x="479126" y="331116"/>
                </a:lnTo>
                <a:lnTo>
                  <a:pt x="483641" y="331116"/>
                </a:lnTo>
                <a:lnTo>
                  <a:pt x="502757" y="329690"/>
                </a:lnTo>
                <a:lnTo>
                  <a:pt x="544672" y="312451"/>
                </a:lnTo>
                <a:lnTo>
                  <a:pt x="563636" y="274604"/>
                </a:lnTo>
                <a:lnTo>
                  <a:pt x="564901" y="257149"/>
                </a:lnTo>
                <a:lnTo>
                  <a:pt x="564646" y="249694"/>
                </a:lnTo>
                <a:lnTo>
                  <a:pt x="563880" y="241739"/>
                </a:lnTo>
                <a:lnTo>
                  <a:pt x="562605" y="233286"/>
                </a:lnTo>
                <a:lnTo>
                  <a:pt x="560820" y="224332"/>
                </a:lnTo>
                <a:lnTo>
                  <a:pt x="558100" y="212063"/>
                </a:lnTo>
                <a:lnTo>
                  <a:pt x="556740" y="203843"/>
                </a:lnTo>
                <a:lnTo>
                  <a:pt x="556740" y="191689"/>
                </a:lnTo>
                <a:lnTo>
                  <a:pt x="559489" y="185178"/>
                </a:lnTo>
                <a:lnTo>
                  <a:pt x="589903" y="172069"/>
                </a:lnTo>
                <a:lnTo>
                  <a:pt x="589903" y="157831"/>
                </a:lnTo>
                <a:lnTo>
                  <a:pt x="556740" y="138211"/>
                </a:lnTo>
                <a:lnTo>
                  <a:pt x="556740" y="126056"/>
                </a:lnTo>
                <a:lnTo>
                  <a:pt x="558100" y="117838"/>
                </a:lnTo>
                <a:lnTo>
                  <a:pt x="560820" y="105568"/>
                </a:lnTo>
                <a:lnTo>
                  <a:pt x="562605" y="96615"/>
                </a:lnTo>
                <a:lnTo>
                  <a:pt x="563880" y="88161"/>
                </a:lnTo>
                <a:lnTo>
                  <a:pt x="564646" y="80207"/>
                </a:lnTo>
                <a:lnTo>
                  <a:pt x="564901" y="72751"/>
                </a:lnTo>
                <a:lnTo>
                  <a:pt x="563636" y="55827"/>
                </a:lnTo>
                <a:lnTo>
                  <a:pt x="544672" y="18665"/>
                </a:lnTo>
                <a:lnTo>
                  <a:pt x="502757" y="1426"/>
                </a:lnTo>
                <a:lnTo>
                  <a:pt x="483641" y="0"/>
                </a:lnTo>
                <a:close/>
              </a:path>
              <a:path w="589914" h="331469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8" y="96441"/>
                </a:lnTo>
                <a:lnTo>
                  <a:pt x="29082" y="105394"/>
                </a:lnTo>
                <a:lnTo>
                  <a:pt x="31803" y="117664"/>
                </a:lnTo>
                <a:lnTo>
                  <a:pt x="33164" y="125883"/>
                </a:lnTo>
                <a:lnTo>
                  <a:pt x="33164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4" y="191516"/>
                </a:lnTo>
                <a:lnTo>
                  <a:pt x="33164" y="203671"/>
                </a:lnTo>
                <a:lnTo>
                  <a:pt x="31803" y="211889"/>
                </a:lnTo>
                <a:lnTo>
                  <a:pt x="29082" y="224158"/>
                </a:lnTo>
                <a:lnTo>
                  <a:pt x="27298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53255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53007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53255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04563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178202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87839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78202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39755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81472" y="2542089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69">
                <a:moveTo>
                  <a:pt x="491831" y="0"/>
                </a:moveTo>
                <a:lnTo>
                  <a:pt x="487318" y="0"/>
                </a:lnTo>
                <a:lnTo>
                  <a:pt x="487318" y="13195"/>
                </a:lnTo>
                <a:lnTo>
                  <a:pt x="489921" y="13195"/>
                </a:lnTo>
                <a:lnTo>
                  <a:pt x="501826" y="14014"/>
                </a:lnTo>
                <a:lnTo>
                  <a:pt x="535566" y="33928"/>
                </a:lnTo>
                <a:lnTo>
                  <a:pt x="543575" y="69626"/>
                </a:lnTo>
                <a:lnTo>
                  <a:pt x="543358" y="76061"/>
                </a:lnTo>
                <a:lnTo>
                  <a:pt x="542706" y="83212"/>
                </a:lnTo>
                <a:lnTo>
                  <a:pt x="541621" y="91080"/>
                </a:lnTo>
                <a:lnTo>
                  <a:pt x="540101" y="99664"/>
                </a:lnTo>
                <a:lnTo>
                  <a:pt x="538582" y="107966"/>
                </a:lnTo>
                <a:lnTo>
                  <a:pt x="537497" y="114987"/>
                </a:lnTo>
                <a:lnTo>
                  <a:pt x="536846" y="120728"/>
                </a:lnTo>
                <a:lnTo>
                  <a:pt x="536629" y="125188"/>
                </a:lnTo>
                <a:lnTo>
                  <a:pt x="537172" y="132237"/>
                </a:lnTo>
                <a:lnTo>
                  <a:pt x="565972" y="163388"/>
                </a:lnTo>
                <a:lnTo>
                  <a:pt x="565972" y="166513"/>
                </a:lnTo>
                <a:lnTo>
                  <a:pt x="537172" y="197664"/>
                </a:lnTo>
                <a:lnTo>
                  <a:pt x="536629" y="204712"/>
                </a:lnTo>
                <a:lnTo>
                  <a:pt x="536846" y="209172"/>
                </a:lnTo>
                <a:lnTo>
                  <a:pt x="537497" y="214913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0"/>
                </a:lnTo>
                <a:lnTo>
                  <a:pt x="542706" y="246688"/>
                </a:lnTo>
                <a:lnTo>
                  <a:pt x="543358" y="253839"/>
                </a:lnTo>
                <a:lnTo>
                  <a:pt x="543575" y="260275"/>
                </a:lnTo>
                <a:lnTo>
                  <a:pt x="542685" y="274843"/>
                </a:lnTo>
                <a:lnTo>
                  <a:pt x="521534" y="310547"/>
                </a:lnTo>
                <a:lnTo>
                  <a:pt x="489921" y="317921"/>
                </a:lnTo>
                <a:lnTo>
                  <a:pt x="487318" y="317921"/>
                </a:lnTo>
                <a:lnTo>
                  <a:pt x="487318" y="331116"/>
                </a:lnTo>
                <a:lnTo>
                  <a:pt x="491831" y="331116"/>
                </a:lnTo>
                <a:lnTo>
                  <a:pt x="510948" y="329690"/>
                </a:lnTo>
                <a:lnTo>
                  <a:pt x="552864" y="312451"/>
                </a:lnTo>
                <a:lnTo>
                  <a:pt x="571828" y="274604"/>
                </a:lnTo>
                <a:lnTo>
                  <a:pt x="573092" y="257149"/>
                </a:lnTo>
                <a:lnTo>
                  <a:pt x="572837" y="249694"/>
                </a:lnTo>
                <a:lnTo>
                  <a:pt x="572072" y="241739"/>
                </a:lnTo>
                <a:lnTo>
                  <a:pt x="570797" y="233286"/>
                </a:lnTo>
                <a:lnTo>
                  <a:pt x="569012" y="224332"/>
                </a:lnTo>
                <a:lnTo>
                  <a:pt x="566291" y="212063"/>
                </a:lnTo>
                <a:lnTo>
                  <a:pt x="564931" y="203843"/>
                </a:lnTo>
                <a:lnTo>
                  <a:pt x="564931" y="191689"/>
                </a:lnTo>
                <a:lnTo>
                  <a:pt x="567681" y="185178"/>
                </a:lnTo>
                <a:lnTo>
                  <a:pt x="598095" y="172069"/>
                </a:lnTo>
                <a:lnTo>
                  <a:pt x="598095" y="157831"/>
                </a:lnTo>
                <a:lnTo>
                  <a:pt x="564931" y="138211"/>
                </a:lnTo>
                <a:lnTo>
                  <a:pt x="564931" y="126056"/>
                </a:lnTo>
                <a:lnTo>
                  <a:pt x="566291" y="117838"/>
                </a:lnTo>
                <a:lnTo>
                  <a:pt x="569012" y="105568"/>
                </a:lnTo>
                <a:lnTo>
                  <a:pt x="570797" y="96615"/>
                </a:lnTo>
                <a:lnTo>
                  <a:pt x="572072" y="88161"/>
                </a:lnTo>
                <a:lnTo>
                  <a:pt x="572837" y="80207"/>
                </a:lnTo>
                <a:lnTo>
                  <a:pt x="573092" y="72751"/>
                </a:lnTo>
                <a:lnTo>
                  <a:pt x="571828" y="55827"/>
                </a:lnTo>
                <a:lnTo>
                  <a:pt x="552864" y="18665"/>
                </a:lnTo>
                <a:lnTo>
                  <a:pt x="510948" y="1426"/>
                </a:lnTo>
                <a:lnTo>
                  <a:pt x="491831" y="0"/>
                </a:lnTo>
                <a:close/>
              </a:path>
              <a:path w="598170" h="331469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9" y="96441"/>
                </a:lnTo>
                <a:lnTo>
                  <a:pt x="29084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4" y="224158"/>
                </a:lnTo>
                <a:lnTo>
                  <a:pt x="27299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64668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664420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64668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615976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089615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99251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89615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51168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192885" y="2542089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69">
                <a:moveTo>
                  <a:pt x="491831" y="0"/>
                </a:moveTo>
                <a:lnTo>
                  <a:pt x="487318" y="0"/>
                </a:lnTo>
                <a:lnTo>
                  <a:pt x="487318" y="13195"/>
                </a:lnTo>
                <a:lnTo>
                  <a:pt x="489921" y="13195"/>
                </a:lnTo>
                <a:lnTo>
                  <a:pt x="501826" y="14014"/>
                </a:lnTo>
                <a:lnTo>
                  <a:pt x="535566" y="33928"/>
                </a:lnTo>
                <a:lnTo>
                  <a:pt x="543575" y="69626"/>
                </a:lnTo>
                <a:lnTo>
                  <a:pt x="543358" y="76061"/>
                </a:lnTo>
                <a:lnTo>
                  <a:pt x="542706" y="83212"/>
                </a:lnTo>
                <a:lnTo>
                  <a:pt x="541621" y="91080"/>
                </a:lnTo>
                <a:lnTo>
                  <a:pt x="540101" y="99664"/>
                </a:lnTo>
                <a:lnTo>
                  <a:pt x="538582" y="107966"/>
                </a:lnTo>
                <a:lnTo>
                  <a:pt x="537497" y="114987"/>
                </a:lnTo>
                <a:lnTo>
                  <a:pt x="536846" y="120728"/>
                </a:lnTo>
                <a:lnTo>
                  <a:pt x="536629" y="125188"/>
                </a:lnTo>
                <a:lnTo>
                  <a:pt x="537172" y="132237"/>
                </a:lnTo>
                <a:lnTo>
                  <a:pt x="565972" y="163388"/>
                </a:lnTo>
                <a:lnTo>
                  <a:pt x="565972" y="166513"/>
                </a:lnTo>
                <a:lnTo>
                  <a:pt x="537172" y="197664"/>
                </a:lnTo>
                <a:lnTo>
                  <a:pt x="536629" y="204712"/>
                </a:lnTo>
                <a:lnTo>
                  <a:pt x="536846" y="209172"/>
                </a:lnTo>
                <a:lnTo>
                  <a:pt x="537497" y="214913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0"/>
                </a:lnTo>
                <a:lnTo>
                  <a:pt x="542706" y="246688"/>
                </a:lnTo>
                <a:lnTo>
                  <a:pt x="543358" y="253839"/>
                </a:lnTo>
                <a:lnTo>
                  <a:pt x="543575" y="260275"/>
                </a:lnTo>
                <a:lnTo>
                  <a:pt x="542685" y="274843"/>
                </a:lnTo>
                <a:lnTo>
                  <a:pt x="521534" y="310547"/>
                </a:lnTo>
                <a:lnTo>
                  <a:pt x="489921" y="317921"/>
                </a:lnTo>
                <a:lnTo>
                  <a:pt x="487318" y="317921"/>
                </a:lnTo>
                <a:lnTo>
                  <a:pt x="487318" y="331116"/>
                </a:lnTo>
                <a:lnTo>
                  <a:pt x="491831" y="331116"/>
                </a:lnTo>
                <a:lnTo>
                  <a:pt x="510947" y="329690"/>
                </a:lnTo>
                <a:lnTo>
                  <a:pt x="552864" y="312451"/>
                </a:lnTo>
                <a:lnTo>
                  <a:pt x="571828" y="274604"/>
                </a:lnTo>
                <a:lnTo>
                  <a:pt x="573092" y="257149"/>
                </a:lnTo>
                <a:lnTo>
                  <a:pt x="572837" y="249694"/>
                </a:lnTo>
                <a:lnTo>
                  <a:pt x="572072" y="241739"/>
                </a:lnTo>
                <a:lnTo>
                  <a:pt x="570797" y="233286"/>
                </a:lnTo>
                <a:lnTo>
                  <a:pt x="569012" y="224332"/>
                </a:lnTo>
                <a:lnTo>
                  <a:pt x="566291" y="212063"/>
                </a:lnTo>
                <a:lnTo>
                  <a:pt x="564931" y="203843"/>
                </a:lnTo>
                <a:lnTo>
                  <a:pt x="564931" y="191689"/>
                </a:lnTo>
                <a:lnTo>
                  <a:pt x="567681" y="185178"/>
                </a:lnTo>
                <a:lnTo>
                  <a:pt x="598095" y="172069"/>
                </a:lnTo>
                <a:lnTo>
                  <a:pt x="598095" y="157831"/>
                </a:lnTo>
                <a:lnTo>
                  <a:pt x="564931" y="138211"/>
                </a:lnTo>
                <a:lnTo>
                  <a:pt x="564931" y="126056"/>
                </a:lnTo>
                <a:lnTo>
                  <a:pt x="566291" y="117838"/>
                </a:lnTo>
                <a:lnTo>
                  <a:pt x="569012" y="105568"/>
                </a:lnTo>
                <a:lnTo>
                  <a:pt x="570797" y="96615"/>
                </a:lnTo>
                <a:lnTo>
                  <a:pt x="572072" y="88161"/>
                </a:lnTo>
                <a:lnTo>
                  <a:pt x="572837" y="80207"/>
                </a:lnTo>
                <a:lnTo>
                  <a:pt x="573092" y="72751"/>
                </a:lnTo>
                <a:lnTo>
                  <a:pt x="571828" y="55827"/>
                </a:lnTo>
                <a:lnTo>
                  <a:pt x="552864" y="18665"/>
                </a:lnTo>
                <a:lnTo>
                  <a:pt x="510947" y="1426"/>
                </a:lnTo>
                <a:lnTo>
                  <a:pt x="491831" y="0"/>
                </a:lnTo>
                <a:close/>
              </a:path>
              <a:path w="598170" h="331469">
                <a:moveTo>
                  <a:pt x="110777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6" y="55730"/>
                </a:lnTo>
                <a:lnTo>
                  <a:pt x="25115" y="75887"/>
                </a:lnTo>
                <a:lnTo>
                  <a:pt x="25257" y="80033"/>
                </a:lnTo>
                <a:lnTo>
                  <a:pt x="26022" y="87987"/>
                </a:lnTo>
                <a:lnTo>
                  <a:pt x="27297" y="96441"/>
                </a:lnTo>
                <a:lnTo>
                  <a:pt x="29082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3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2" y="224158"/>
                </a:lnTo>
                <a:lnTo>
                  <a:pt x="27297" y="233112"/>
                </a:lnTo>
                <a:lnTo>
                  <a:pt x="26022" y="241565"/>
                </a:lnTo>
                <a:lnTo>
                  <a:pt x="25257" y="249520"/>
                </a:lnTo>
                <a:lnTo>
                  <a:pt x="25002" y="256975"/>
                </a:lnTo>
                <a:lnTo>
                  <a:pt x="26266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7" y="331116"/>
                </a:lnTo>
                <a:lnTo>
                  <a:pt x="110777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19" y="260101"/>
                </a:lnTo>
                <a:lnTo>
                  <a:pt x="54736" y="253665"/>
                </a:lnTo>
                <a:lnTo>
                  <a:pt x="55388" y="246514"/>
                </a:lnTo>
                <a:lnTo>
                  <a:pt x="56473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7" y="214740"/>
                </a:lnTo>
                <a:lnTo>
                  <a:pt x="61248" y="208999"/>
                </a:lnTo>
                <a:lnTo>
                  <a:pt x="61465" y="204538"/>
                </a:lnTo>
                <a:lnTo>
                  <a:pt x="60922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2" y="132063"/>
                </a:lnTo>
                <a:lnTo>
                  <a:pt x="61465" y="125014"/>
                </a:lnTo>
                <a:lnTo>
                  <a:pt x="61248" y="120554"/>
                </a:lnTo>
                <a:lnTo>
                  <a:pt x="60597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3" y="90906"/>
                </a:lnTo>
                <a:lnTo>
                  <a:pt x="55388" y="83038"/>
                </a:lnTo>
                <a:lnTo>
                  <a:pt x="54736" y="75887"/>
                </a:lnTo>
                <a:lnTo>
                  <a:pt x="54519" y="69452"/>
                </a:lnTo>
                <a:lnTo>
                  <a:pt x="55409" y="55491"/>
                </a:lnTo>
                <a:lnTo>
                  <a:pt x="76560" y="20569"/>
                </a:lnTo>
                <a:lnTo>
                  <a:pt x="108173" y="13195"/>
                </a:lnTo>
                <a:lnTo>
                  <a:pt x="110777" y="13195"/>
                </a:lnTo>
                <a:lnTo>
                  <a:pt x="110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10"/>
              <a:t>Given </a:t>
            </a:r>
            <a:r>
              <a:rPr dirty="0"/>
              <a:t>3 </a:t>
            </a:r>
            <a:r>
              <a:rPr dirty="0" spc="-5"/>
              <a:t>queries </a:t>
            </a:r>
            <a:r>
              <a:rPr dirty="0" spc="110">
                <a:latin typeface="Cambria Math"/>
                <a:cs typeface="Cambria Math"/>
              </a:rPr>
              <a:t>𝑞</a:t>
            </a:r>
            <a:r>
              <a:rPr dirty="0" baseline="-16666" sz="3000" spc="165">
                <a:latin typeface="Cambria Math"/>
                <a:cs typeface="Cambria Math"/>
              </a:rPr>
              <a:t>"</a:t>
            </a:r>
            <a:r>
              <a:rPr dirty="0" sz="2800" spc="110">
                <a:latin typeface="Cambria Math"/>
                <a:cs typeface="Cambria Math"/>
              </a:rPr>
              <a:t>, </a:t>
            </a:r>
            <a:r>
              <a:rPr dirty="0" sz="2800" spc="-15">
                <a:latin typeface="Cambria Math"/>
                <a:cs typeface="Cambria Math"/>
              </a:rPr>
              <a:t>𝑞</a:t>
            </a:r>
            <a:r>
              <a:rPr dirty="0" baseline="-16666" sz="3000" spc="-22">
                <a:latin typeface="Cambria Math"/>
                <a:cs typeface="Cambria Math"/>
              </a:rPr>
              <a:t>#</a:t>
            </a:r>
            <a:r>
              <a:rPr dirty="0" sz="2800" spc="-15">
                <a:latin typeface="Cambria Math"/>
                <a:cs typeface="Cambria Math"/>
              </a:rPr>
              <a:t>, </a:t>
            </a: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6666" sz="3000" spc="187">
                <a:latin typeface="Cambria Math"/>
                <a:cs typeface="Cambria Math"/>
              </a:rPr>
              <a:t>)</a:t>
            </a:r>
            <a:r>
              <a:rPr dirty="0" sz="2800" spc="125"/>
              <a:t>,</a:t>
            </a:r>
            <a:r>
              <a:rPr dirty="0" sz="2800" spc="-380"/>
              <a:t> </a:t>
            </a:r>
            <a:r>
              <a:rPr dirty="0" sz="2800" spc="-5"/>
              <a:t>with </a:t>
            </a:r>
            <a:r>
              <a:rPr dirty="0" sz="2800" spc="-10"/>
              <a:t>answer sets:</a:t>
            </a:r>
            <a:endParaRPr sz="2800">
              <a:latin typeface="Cambria Math"/>
              <a:cs typeface="Cambria Math"/>
            </a:endParaRPr>
          </a:p>
          <a:p>
            <a:pPr marL="443230" indent="-43053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443230" algn="l"/>
                <a:tab pos="443865" algn="l"/>
                <a:tab pos="1040765" algn="l"/>
                <a:tab pos="1542415" algn="l"/>
                <a:tab pos="2338070" algn="l"/>
                <a:tab pos="2943860" algn="l"/>
                <a:tab pos="3445510" algn="l"/>
                <a:tab pos="4249420" algn="l"/>
                <a:tab pos="4855845" algn="l"/>
                <a:tab pos="5356860" algn="l"/>
              </a:tabLst>
            </a:pPr>
            <a:r>
              <a:rPr dirty="0" spc="125">
                <a:latin typeface="Cambria Math"/>
                <a:cs typeface="Cambria Math"/>
              </a:rPr>
              <a:t>𝑞</a:t>
            </a:r>
            <a:r>
              <a:rPr dirty="0" baseline="-15277" sz="3000" spc="187">
                <a:latin typeface="Cambria Math"/>
                <a:cs typeface="Cambria Math"/>
              </a:rPr>
              <a:t>"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30">
                <a:latin typeface="Cambria Math"/>
                <a:cs typeface="Cambria Math"/>
              </a:rPr>
              <a:t>𝑣</a:t>
            </a:r>
            <a:r>
              <a:rPr dirty="0" baseline="-15277" sz="3000" spc="195">
                <a:latin typeface="Cambria Math"/>
                <a:cs typeface="Cambria Math"/>
              </a:rPr>
              <a:t>"</a:t>
            </a:r>
            <a:r>
              <a:rPr dirty="0" baseline="-15277" sz="3000" spc="64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-70">
                <a:latin typeface="Cambria Math"/>
                <a:cs typeface="Cambria Math"/>
              </a:rPr>
              <a:t>𝑞</a:t>
            </a:r>
            <a:r>
              <a:rPr dirty="0" baseline="-15277" sz="3000" spc="-104">
                <a:latin typeface="Cambria Math"/>
                <a:cs typeface="Cambria Math"/>
              </a:rPr>
              <a:t>#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-60">
                <a:latin typeface="Cambria Math"/>
                <a:cs typeface="Cambria Math"/>
              </a:rPr>
              <a:t>𝑣</a:t>
            </a:r>
            <a:r>
              <a:rPr dirty="0" baseline="-15277" sz="3000" spc="-89">
                <a:latin typeface="Cambria Math"/>
                <a:cs typeface="Cambria Math"/>
              </a:rPr>
              <a:t># </a:t>
            </a:r>
            <a:r>
              <a:rPr dirty="0" baseline="-15277" sz="3000" spc="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130">
                <a:latin typeface="Cambria Math"/>
                <a:cs typeface="Cambria Math"/>
              </a:rPr>
              <a:t>𝑞</a:t>
            </a:r>
            <a:r>
              <a:rPr dirty="0" baseline="-15277" sz="3000" spc="195">
                <a:latin typeface="Cambria Math"/>
                <a:cs typeface="Cambria Math"/>
              </a:rPr>
              <a:t>)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40">
                <a:latin typeface="Cambria Math"/>
                <a:cs typeface="Cambria Math"/>
              </a:rPr>
              <a:t>𝑣</a:t>
            </a:r>
            <a:r>
              <a:rPr dirty="0" baseline="-15277" sz="3000" spc="209">
                <a:latin typeface="Cambria Math"/>
                <a:cs typeface="Cambria Math"/>
              </a:rPr>
              <a:t>)</a:t>
            </a:r>
            <a:endParaRPr baseline="-15277" sz="3000">
              <a:latin typeface="Cambria Math"/>
              <a:cs typeface="Cambria Math"/>
            </a:endParaRPr>
          </a:p>
          <a:p>
            <a:pPr marL="287020" marR="5080" indent="-274320">
              <a:lnSpc>
                <a:spcPct val="101400"/>
              </a:lnSpc>
              <a:spcBef>
                <a:spcPts val="5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5">
                <a:solidFill>
                  <a:srgbClr val="C00000"/>
                </a:solidFill>
              </a:rPr>
              <a:t>If </a:t>
            </a:r>
            <a:r>
              <a:rPr dirty="0" spc="-15">
                <a:solidFill>
                  <a:srgbClr val="C00000"/>
                </a:solidFill>
              </a:rPr>
              <a:t>we </a:t>
            </a:r>
            <a:r>
              <a:rPr dirty="0" spc="-10">
                <a:solidFill>
                  <a:srgbClr val="C00000"/>
                </a:solidFill>
              </a:rPr>
              <a:t>allow </a:t>
            </a:r>
            <a:r>
              <a:rPr dirty="0" spc="-5">
                <a:solidFill>
                  <a:srgbClr val="C00000"/>
                </a:solidFill>
              </a:rPr>
              <a:t>union </a:t>
            </a:r>
            <a:r>
              <a:rPr dirty="0" spc="-15">
                <a:solidFill>
                  <a:srgbClr val="C00000"/>
                </a:solidFill>
              </a:rPr>
              <a:t>operation, </a:t>
            </a:r>
            <a:r>
              <a:rPr dirty="0" spc="-10">
                <a:solidFill>
                  <a:srgbClr val="C00000"/>
                </a:solidFill>
              </a:rPr>
              <a:t>can </a:t>
            </a:r>
            <a:r>
              <a:rPr dirty="0" spc="-15">
                <a:solidFill>
                  <a:srgbClr val="C00000"/>
                </a:solidFill>
              </a:rPr>
              <a:t>we </a:t>
            </a:r>
            <a:r>
              <a:rPr dirty="0" spc="-5">
                <a:solidFill>
                  <a:srgbClr val="C00000"/>
                </a:solidFill>
              </a:rPr>
              <a:t>embed them </a:t>
            </a:r>
            <a:r>
              <a:rPr dirty="0" spc="-285">
                <a:solidFill>
                  <a:srgbClr val="C00000"/>
                </a:solidFill>
              </a:rPr>
              <a:t>in  </a:t>
            </a:r>
            <a:r>
              <a:rPr dirty="0" spc="-5">
                <a:solidFill>
                  <a:srgbClr val="C00000"/>
                </a:solidFill>
              </a:rPr>
              <a:t>two-dimensional</a:t>
            </a:r>
            <a:r>
              <a:rPr dirty="0" spc="-80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plane?</a:t>
            </a:r>
          </a:p>
        </p:txBody>
      </p:sp>
      <p:sp>
        <p:nvSpPr>
          <p:cNvPr id="32" name="object 32"/>
          <p:cNvSpPr/>
          <p:nvPr/>
        </p:nvSpPr>
        <p:spPr>
          <a:xfrm>
            <a:off x="1660443" y="4081802"/>
            <a:ext cx="85725" cy="2028189"/>
          </a:xfrm>
          <a:custGeom>
            <a:avLst/>
            <a:gdLst/>
            <a:ahLst/>
            <a:cxnLst/>
            <a:rect l="l" t="t" r="r" b="b"/>
            <a:pathLst>
              <a:path w="85725" h="2028189">
                <a:moveTo>
                  <a:pt x="50753" y="57150"/>
                </a:moveTo>
                <a:lnTo>
                  <a:pt x="34971" y="57150"/>
                </a:lnTo>
                <a:lnTo>
                  <a:pt x="28575" y="63545"/>
                </a:lnTo>
                <a:lnTo>
                  <a:pt x="28576" y="2021625"/>
                </a:lnTo>
                <a:lnTo>
                  <a:pt x="34971" y="2028022"/>
                </a:lnTo>
                <a:lnTo>
                  <a:pt x="50754" y="2028022"/>
                </a:lnTo>
                <a:lnTo>
                  <a:pt x="57151" y="2021625"/>
                </a:lnTo>
                <a:lnTo>
                  <a:pt x="57150" y="63545"/>
                </a:lnTo>
                <a:lnTo>
                  <a:pt x="50753" y="57150"/>
                </a:lnTo>
                <a:close/>
              </a:path>
              <a:path w="85725" h="2028189">
                <a:moveTo>
                  <a:pt x="42862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63545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2028189">
                <a:moveTo>
                  <a:pt x="71437" y="57150"/>
                </a:moveTo>
                <a:lnTo>
                  <a:pt x="50753" y="57150"/>
                </a:lnTo>
                <a:lnTo>
                  <a:pt x="57150" y="63545"/>
                </a:lnTo>
                <a:lnTo>
                  <a:pt x="57150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669963" y="6052623"/>
            <a:ext cx="2225040" cy="85725"/>
          </a:xfrm>
          <a:custGeom>
            <a:avLst/>
            <a:gdLst/>
            <a:ahLst/>
            <a:cxnLst/>
            <a:rect l="l" t="t" r="r" b="b"/>
            <a:pathLst>
              <a:path w="2225040" h="85725">
                <a:moveTo>
                  <a:pt x="2139084" y="57149"/>
                </a:moveTo>
                <a:lnTo>
                  <a:pt x="2139067" y="85725"/>
                </a:lnTo>
                <a:lnTo>
                  <a:pt x="2196277" y="57163"/>
                </a:lnTo>
                <a:lnTo>
                  <a:pt x="2139084" y="57149"/>
                </a:lnTo>
                <a:close/>
              </a:path>
              <a:path w="2225040" h="85725">
                <a:moveTo>
                  <a:pt x="2139102" y="28574"/>
                </a:moveTo>
                <a:lnTo>
                  <a:pt x="2139084" y="57149"/>
                </a:lnTo>
                <a:lnTo>
                  <a:pt x="2161258" y="57163"/>
                </a:lnTo>
                <a:lnTo>
                  <a:pt x="2167657" y="50770"/>
                </a:lnTo>
                <a:lnTo>
                  <a:pt x="2167667" y="34989"/>
                </a:lnTo>
                <a:lnTo>
                  <a:pt x="2161274" y="28588"/>
                </a:lnTo>
                <a:lnTo>
                  <a:pt x="2139102" y="28574"/>
                </a:lnTo>
                <a:close/>
              </a:path>
              <a:path w="2225040" h="85725">
                <a:moveTo>
                  <a:pt x="2139119" y="0"/>
                </a:moveTo>
                <a:lnTo>
                  <a:pt x="2139102" y="28574"/>
                </a:lnTo>
                <a:lnTo>
                  <a:pt x="2161274" y="28588"/>
                </a:lnTo>
                <a:lnTo>
                  <a:pt x="2167667" y="34989"/>
                </a:lnTo>
                <a:lnTo>
                  <a:pt x="2167657" y="50770"/>
                </a:lnTo>
                <a:lnTo>
                  <a:pt x="2161258" y="57163"/>
                </a:lnTo>
                <a:lnTo>
                  <a:pt x="2196277" y="57163"/>
                </a:lnTo>
                <a:lnTo>
                  <a:pt x="2224819" y="42914"/>
                </a:lnTo>
                <a:lnTo>
                  <a:pt x="2139119" y="0"/>
                </a:lnTo>
                <a:close/>
              </a:path>
              <a:path w="2225040" h="85725">
                <a:moveTo>
                  <a:pt x="6410" y="27284"/>
                </a:moveTo>
                <a:lnTo>
                  <a:pt x="10" y="33676"/>
                </a:lnTo>
                <a:lnTo>
                  <a:pt x="0" y="49458"/>
                </a:lnTo>
                <a:lnTo>
                  <a:pt x="6393" y="55859"/>
                </a:lnTo>
                <a:lnTo>
                  <a:pt x="2139084" y="57149"/>
                </a:lnTo>
                <a:lnTo>
                  <a:pt x="2139102" y="28574"/>
                </a:lnTo>
                <a:lnTo>
                  <a:pt x="6410" y="27284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736421" y="476010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736421" y="476010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D9253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55856" y="52108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055856" y="52108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293854" y="53125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293854" y="53125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2263529" y="4995164"/>
            <a:ext cx="228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30">
                <a:latin typeface="Cambria Math"/>
                <a:cs typeface="Cambria Math"/>
              </a:rPr>
              <a:t>𝐯</a:t>
            </a:r>
            <a:r>
              <a:rPr dirty="0" baseline="-14957" sz="1950" spc="-330">
                <a:latin typeface="Cambria Math"/>
                <a:cs typeface="Cambria Math"/>
              </a:rPr>
              <a:t>+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51</a:t>
            </a:fld>
          </a:p>
        </p:txBody>
      </p:sp>
      <p:sp>
        <p:nvSpPr>
          <p:cNvPr id="41" name="object 41"/>
          <p:cNvSpPr txBox="1"/>
          <p:nvPr/>
        </p:nvSpPr>
        <p:spPr>
          <a:xfrm>
            <a:off x="2640595" y="4301407"/>
            <a:ext cx="914400" cy="76073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2065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950"/>
              </a:spcBef>
            </a:pPr>
            <a:r>
              <a:rPr dirty="0" sz="1800" spc="190">
                <a:latin typeface="Cambria Math"/>
                <a:cs typeface="Cambria Math"/>
              </a:rPr>
              <a:t>𝐯</a:t>
            </a:r>
            <a:r>
              <a:rPr dirty="0" baseline="-14957" sz="1950" spc="284">
                <a:latin typeface="Cambria Math"/>
                <a:cs typeface="Cambria Math"/>
              </a:rPr>
              <a:t>,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85291" y="5159755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𝐯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397941" y="5268976"/>
            <a:ext cx="1212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315">
                <a:latin typeface="Cambria Math"/>
                <a:cs typeface="Cambria Math"/>
              </a:rPr>
              <a:t>-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89047" y="4769611"/>
            <a:ext cx="2590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mbria Math"/>
                <a:cs typeface="Cambria Math"/>
              </a:rPr>
              <a:t>𝐪</a:t>
            </a:r>
            <a:r>
              <a:rPr dirty="0" baseline="-14957" sz="1950" spc="719">
                <a:latin typeface="Cambria Math"/>
                <a:cs typeface="Cambria Math"/>
              </a:rPr>
              <a:t>,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241265" y="4422140"/>
            <a:ext cx="404304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35">
                <a:solidFill>
                  <a:srgbClr val="479249"/>
                </a:solidFill>
                <a:latin typeface="Calibri"/>
                <a:cs typeface="Calibri"/>
              </a:rPr>
              <a:t>We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want </a:t>
            </a:r>
            <a:r>
              <a:rPr dirty="0" sz="1800" spc="-15" b="1">
                <a:solidFill>
                  <a:srgbClr val="D9253E"/>
                </a:solidFill>
                <a:latin typeface="Calibri"/>
                <a:cs typeface="Calibri"/>
              </a:rPr>
              <a:t>red </a:t>
            </a:r>
            <a:r>
              <a:rPr dirty="0" sz="1800" spc="-5" b="1">
                <a:solidFill>
                  <a:srgbClr val="D9253E"/>
                </a:solidFill>
                <a:latin typeface="Calibri"/>
                <a:cs typeface="Calibri"/>
              </a:rPr>
              <a:t>dots </a:t>
            </a:r>
            <a:r>
              <a:rPr dirty="0" sz="1800" spc="-10" b="1">
                <a:solidFill>
                  <a:srgbClr val="D9253E"/>
                </a:solidFill>
                <a:latin typeface="Calibri"/>
                <a:cs typeface="Calibri"/>
              </a:rPr>
              <a:t>(answers)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be in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the 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box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while the </a:t>
            </a:r>
            <a:r>
              <a:rPr dirty="0" sz="1800" spc="-5" b="1">
                <a:solidFill>
                  <a:srgbClr val="0070C0"/>
                </a:solidFill>
                <a:latin typeface="Calibri"/>
                <a:cs typeface="Calibri"/>
              </a:rPr>
              <a:t>blue dots </a:t>
            </a:r>
            <a:r>
              <a:rPr dirty="0" sz="1800" spc="-15" b="1">
                <a:solidFill>
                  <a:srgbClr val="0070C0"/>
                </a:solidFill>
                <a:latin typeface="Calibri"/>
                <a:cs typeface="Calibri"/>
              </a:rPr>
              <a:t>(negative answers) 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be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outside the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box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439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18903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 i="0">
                <a:latin typeface="Calibri"/>
                <a:cs typeface="Calibri"/>
              </a:rPr>
              <a:t>E</a:t>
            </a:r>
            <a:r>
              <a:rPr dirty="0" sz="3200" spc="-45" b="1" i="0">
                <a:latin typeface="Calibri"/>
                <a:cs typeface="Calibri"/>
              </a:rPr>
              <a:t>x</a:t>
            </a:r>
            <a:r>
              <a:rPr dirty="0" sz="3200" spc="-5" b="1" i="0">
                <a:latin typeface="Calibri"/>
                <a:cs typeface="Calibri"/>
              </a:rPr>
              <a:t>amp</a:t>
            </a:r>
            <a:r>
              <a:rPr dirty="0" sz="3200" b="1" i="0">
                <a:latin typeface="Calibri"/>
                <a:cs typeface="Calibri"/>
              </a:rPr>
              <a:t>l</a:t>
            </a:r>
            <a:r>
              <a:rPr dirty="0" sz="3200" spc="0" b="1" i="0">
                <a:latin typeface="Calibri"/>
                <a:cs typeface="Calibri"/>
              </a:rPr>
              <a:t>e</a:t>
            </a:r>
            <a:r>
              <a:rPr dirty="0" sz="3200" b="1" i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0033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49785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50033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01341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83172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92809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83172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44724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78250" y="2542089"/>
            <a:ext cx="589915" cy="331470"/>
          </a:xfrm>
          <a:custGeom>
            <a:avLst/>
            <a:gdLst/>
            <a:ahLst/>
            <a:cxnLst/>
            <a:rect l="l" t="t" r="r" b="b"/>
            <a:pathLst>
              <a:path w="589914" h="331469">
                <a:moveTo>
                  <a:pt x="483641" y="0"/>
                </a:moveTo>
                <a:lnTo>
                  <a:pt x="479126" y="0"/>
                </a:lnTo>
                <a:lnTo>
                  <a:pt x="479126" y="13195"/>
                </a:lnTo>
                <a:lnTo>
                  <a:pt x="481731" y="13195"/>
                </a:lnTo>
                <a:lnTo>
                  <a:pt x="493635" y="14014"/>
                </a:lnTo>
                <a:lnTo>
                  <a:pt x="527374" y="33928"/>
                </a:lnTo>
                <a:lnTo>
                  <a:pt x="535383" y="69626"/>
                </a:lnTo>
                <a:lnTo>
                  <a:pt x="535166" y="76061"/>
                </a:lnTo>
                <a:lnTo>
                  <a:pt x="534515" y="83212"/>
                </a:lnTo>
                <a:lnTo>
                  <a:pt x="533429" y="91080"/>
                </a:lnTo>
                <a:lnTo>
                  <a:pt x="531910" y="99664"/>
                </a:lnTo>
                <a:lnTo>
                  <a:pt x="530391" y="107966"/>
                </a:lnTo>
                <a:lnTo>
                  <a:pt x="529306" y="114987"/>
                </a:lnTo>
                <a:lnTo>
                  <a:pt x="528655" y="120728"/>
                </a:lnTo>
                <a:lnTo>
                  <a:pt x="528438" y="125188"/>
                </a:lnTo>
                <a:lnTo>
                  <a:pt x="528980" y="132237"/>
                </a:lnTo>
                <a:lnTo>
                  <a:pt x="557782" y="163388"/>
                </a:lnTo>
                <a:lnTo>
                  <a:pt x="557782" y="166513"/>
                </a:lnTo>
                <a:lnTo>
                  <a:pt x="528980" y="197664"/>
                </a:lnTo>
                <a:lnTo>
                  <a:pt x="528438" y="204712"/>
                </a:lnTo>
                <a:lnTo>
                  <a:pt x="528655" y="209172"/>
                </a:lnTo>
                <a:lnTo>
                  <a:pt x="529306" y="214913"/>
                </a:lnTo>
                <a:lnTo>
                  <a:pt x="530391" y="221935"/>
                </a:lnTo>
                <a:lnTo>
                  <a:pt x="531910" y="230237"/>
                </a:lnTo>
                <a:lnTo>
                  <a:pt x="533429" y="238820"/>
                </a:lnTo>
                <a:lnTo>
                  <a:pt x="534515" y="246688"/>
                </a:lnTo>
                <a:lnTo>
                  <a:pt x="535166" y="253839"/>
                </a:lnTo>
                <a:lnTo>
                  <a:pt x="535383" y="260275"/>
                </a:lnTo>
                <a:lnTo>
                  <a:pt x="534493" y="274843"/>
                </a:lnTo>
                <a:lnTo>
                  <a:pt x="513343" y="310547"/>
                </a:lnTo>
                <a:lnTo>
                  <a:pt x="481731" y="317921"/>
                </a:lnTo>
                <a:lnTo>
                  <a:pt x="479126" y="317921"/>
                </a:lnTo>
                <a:lnTo>
                  <a:pt x="479126" y="331116"/>
                </a:lnTo>
                <a:lnTo>
                  <a:pt x="483641" y="331116"/>
                </a:lnTo>
                <a:lnTo>
                  <a:pt x="502757" y="329690"/>
                </a:lnTo>
                <a:lnTo>
                  <a:pt x="544672" y="312451"/>
                </a:lnTo>
                <a:lnTo>
                  <a:pt x="563636" y="274604"/>
                </a:lnTo>
                <a:lnTo>
                  <a:pt x="564901" y="257149"/>
                </a:lnTo>
                <a:lnTo>
                  <a:pt x="564646" y="249694"/>
                </a:lnTo>
                <a:lnTo>
                  <a:pt x="563880" y="241739"/>
                </a:lnTo>
                <a:lnTo>
                  <a:pt x="562605" y="233286"/>
                </a:lnTo>
                <a:lnTo>
                  <a:pt x="560820" y="224332"/>
                </a:lnTo>
                <a:lnTo>
                  <a:pt x="558100" y="212063"/>
                </a:lnTo>
                <a:lnTo>
                  <a:pt x="556740" y="203843"/>
                </a:lnTo>
                <a:lnTo>
                  <a:pt x="556740" y="191689"/>
                </a:lnTo>
                <a:lnTo>
                  <a:pt x="559489" y="185178"/>
                </a:lnTo>
                <a:lnTo>
                  <a:pt x="589903" y="172069"/>
                </a:lnTo>
                <a:lnTo>
                  <a:pt x="589903" y="157831"/>
                </a:lnTo>
                <a:lnTo>
                  <a:pt x="556740" y="138211"/>
                </a:lnTo>
                <a:lnTo>
                  <a:pt x="556740" y="126056"/>
                </a:lnTo>
                <a:lnTo>
                  <a:pt x="558100" y="117838"/>
                </a:lnTo>
                <a:lnTo>
                  <a:pt x="560820" y="105568"/>
                </a:lnTo>
                <a:lnTo>
                  <a:pt x="562605" y="96615"/>
                </a:lnTo>
                <a:lnTo>
                  <a:pt x="563880" y="88161"/>
                </a:lnTo>
                <a:lnTo>
                  <a:pt x="564646" y="80207"/>
                </a:lnTo>
                <a:lnTo>
                  <a:pt x="564901" y="72751"/>
                </a:lnTo>
                <a:lnTo>
                  <a:pt x="563636" y="55827"/>
                </a:lnTo>
                <a:lnTo>
                  <a:pt x="544672" y="18665"/>
                </a:lnTo>
                <a:lnTo>
                  <a:pt x="502757" y="1426"/>
                </a:lnTo>
                <a:lnTo>
                  <a:pt x="483641" y="0"/>
                </a:lnTo>
                <a:close/>
              </a:path>
              <a:path w="589914" h="331469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8" y="96441"/>
                </a:lnTo>
                <a:lnTo>
                  <a:pt x="29082" y="105394"/>
                </a:lnTo>
                <a:lnTo>
                  <a:pt x="31803" y="117664"/>
                </a:lnTo>
                <a:lnTo>
                  <a:pt x="33164" y="125883"/>
                </a:lnTo>
                <a:lnTo>
                  <a:pt x="33164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4" y="191516"/>
                </a:lnTo>
                <a:lnTo>
                  <a:pt x="33164" y="203671"/>
                </a:lnTo>
                <a:lnTo>
                  <a:pt x="31803" y="211889"/>
                </a:lnTo>
                <a:lnTo>
                  <a:pt x="29082" y="224158"/>
                </a:lnTo>
                <a:lnTo>
                  <a:pt x="27298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53255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53007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53255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04563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178202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87839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78202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39755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81472" y="2542089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69">
                <a:moveTo>
                  <a:pt x="491831" y="0"/>
                </a:moveTo>
                <a:lnTo>
                  <a:pt x="487318" y="0"/>
                </a:lnTo>
                <a:lnTo>
                  <a:pt x="487318" y="13195"/>
                </a:lnTo>
                <a:lnTo>
                  <a:pt x="489921" y="13195"/>
                </a:lnTo>
                <a:lnTo>
                  <a:pt x="501826" y="14014"/>
                </a:lnTo>
                <a:lnTo>
                  <a:pt x="535566" y="33928"/>
                </a:lnTo>
                <a:lnTo>
                  <a:pt x="543575" y="69626"/>
                </a:lnTo>
                <a:lnTo>
                  <a:pt x="543358" y="76061"/>
                </a:lnTo>
                <a:lnTo>
                  <a:pt x="542706" y="83212"/>
                </a:lnTo>
                <a:lnTo>
                  <a:pt x="541621" y="91080"/>
                </a:lnTo>
                <a:lnTo>
                  <a:pt x="540101" y="99664"/>
                </a:lnTo>
                <a:lnTo>
                  <a:pt x="538582" y="107966"/>
                </a:lnTo>
                <a:lnTo>
                  <a:pt x="537497" y="114987"/>
                </a:lnTo>
                <a:lnTo>
                  <a:pt x="536846" y="120728"/>
                </a:lnTo>
                <a:lnTo>
                  <a:pt x="536629" y="125188"/>
                </a:lnTo>
                <a:lnTo>
                  <a:pt x="537172" y="132237"/>
                </a:lnTo>
                <a:lnTo>
                  <a:pt x="565972" y="163388"/>
                </a:lnTo>
                <a:lnTo>
                  <a:pt x="565972" y="166513"/>
                </a:lnTo>
                <a:lnTo>
                  <a:pt x="537172" y="197664"/>
                </a:lnTo>
                <a:lnTo>
                  <a:pt x="536629" y="204712"/>
                </a:lnTo>
                <a:lnTo>
                  <a:pt x="536846" y="209172"/>
                </a:lnTo>
                <a:lnTo>
                  <a:pt x="537497" y="214913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0"/>
                </a:lnTo>
                <a:lnTo>
                  <a:pt x="542706" y="246688"/>
                </a:lnTo>
                <a:lnTo>
                  <a:pt x="543358" y="253839"/>
                </a:lnTo>
                <a:lnTo>
                  <a:pt x="543575" y="260275"/>
                </a:lnTo>
                <a:lnTo>
                  <a:pt x="542685" y="274843"/>
                </a:lnTo>
                <a:lnTo>
                  <a:pt x="521534" y="310547"/>
                </a:lnTo>
                <a:lnTo>
                  <a:pt x="489921" y="317921"/>
                </a:lnTo>
                <a:lnTo>
                  <a:pt x="487318" y="317921"/>
                </a:lnTo>
                <a:lnTo>
                  <a:pt x="487318" y="331116"/>
                </a:lnTo>
                <a:lnTo>
                  <a:pt x="491831" y="331116"/>
                </a:lnTo>
                <a:lnTo>
                  <a:pt x="510948" y="329690"/>
                </a:lnTo>
                <a:lnTo>
                  <a:pt x="552864" y="312451"/>
                </a:lnTo>
                <a:lnTo>
                  <a:pt x="571828" y="274604"/>
                </a:lnTo>
                <a:lnTo>
                  <a:pt x="573092" y="257149"/>
                </a:lnTo>
                <a:lnTo>
                  <a:pt x="572837" y="249694"/>
                </a:lnTo>
                <a:lnTo>
                  <a:pt x="572072" y="241739"/>
                </a:lnTo>
                <a:lnTo>
                  <a:pt x="570797" y="233286"/>
                </a:lnTo>
                <a:lnTo>
                  <a:pt x="569012" y="224332"/>
                </a:lnTo>
                <a:lnTo>
                  <a:pt x="566291" y="212063"/>
                </a:lnTo>
                <a:lnTo>
                  <a:pt x="564931" y="203843"/>
                </a:lnTo>
                <a:lnTo>
                  <a:pt x="564931" y="191689"/>
                </a:lnTo>
                <a:lnTo>
                  <a:pt x="567681" y="185178"/>
                </a:lnTo>
                <a:lnTo>
                  <a:pt x="598095" y="172069"/>
                </a:lnTo>
                <a:lnTo>
                  <a:pt x="598095" y="157831"/>
                </a:lnTo>
                <a:lnTo>
                  <a:pt x="564931" y="138211"/>
                </a:lnTo>
                <a:lnTo>
                  <a:pt x="564931" y="126056"/>
                </a:lnTo>
                <a:lnTo>
                  <a:pt x="566291" y="117838"/>
                </a:lnTo>
                <a:lnTo>
                  <a:pt x="569012" y="105568"/>
                </a:lnTo>
                <a:lnTo>
                  <a:pt x="570797" y="96615"/>
                </a:lnTo>
                <a:lnTo>
                  <a:pt x="572072" y="88161"/>
                </a:lnTo>
                <a:lnTo>
                  <a:pt x="572837" y="80207"/>
                </a:lnTo>
                <a:lnTo>
                  <a:pt x="573092" y="72751"/>
                </a:lnTo>
                <a:lnTo>
                  <a:pt x="571828" y="55827"/>
                </a:lnTo>
                <a:lnTo>
                  <a:pt x="552864" y="18665"/>
                </a:lnTo>
                <a:lnTo>
                  <a:pt x="510948" y="1426"/>
                </a:lnTo>
                <a:lnTo>
                  <a:pt x="491831" y="0"/>
                </a:lnTo>
                <a:close/>
              </a:path>
              <a:path w="598170" h="331469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9" y="96441"/>
                </a:lnTo>
                <a:lnTo>
                  <a:pt x="29084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4" y="224158"/>
                </a:lnTo>
                <a:lnTo>
                  <a:pt x="27299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64668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664420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64668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615976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089615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99251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89615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51168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192885" y="2542089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69">
                <a:moveTo>
                  <a:pt x="491831" y="0"/>
                </a:moveTo>
                <a:lnTo>
                  <a:pt x="487318" y="0"/>
                </a:lnTo>
                <a:lnTo>
                  <a:pt x="487318" y="13195"/>
                </a:lnTo>
                <a:lnTo>
                  <a:pt x="489921" y="13195"/>
                </a:lnTo>
                <a:lnTo>
                  <a:pt x="501826" y="14014"/>
                </a:lnTo>
                <a:lnTo>
                  <a:pt x="535566" y="33928"/>
                </a:lnTo>
                <a:lnTo>
                  <a:pt x="543575" y="69626"/>
                </a:lnTo>
                <a:lnTo>
                  <a:pt x="543358" y="76061"/>
                </a:lnTo>
                <a:lnTo>
                  <a:pt x="542706" y="83212"/>
                </a:lnTo>
                <a:lnTo>
                  <a:pt x="541621" y="91080"/>
                </a:lnTo>
                <a:lnTo>
                  <a:pt x="540101" y="99664"/>
                </a:lnTo>
                <a:lnTo>
                  <a:pt x="538582" y="107966"/>
                </a:lnTo>
                <a:lnTo>
                  <a:pt x="537497" y="114987"/>
                </a:lnTo>
                <a:lnTo>
                  <a:pt x="536846" y="120728"/>
                </a:lnTo>
                <a:lnTo>
                  <a:pt x="536629" y="125188"/>
                </a:lnTo>
                <a:lnTo>
                  <a:pt x="537172" y="132237"/>
                </a:lnTo>
                <a:lnTo>
                  <a:pt x="565972" y="163388"/>
                </a:lnTo>
                <a:lnTo>
                  <a:pt x="565972" y="166513"/>
                </a:lnTo>
                <a:lnTo>
                  <a:pt x="537172" y="197664"/>
                </a:lnTo>
                <a:lnTo>
                  <a:pt x="536629" y="204712"/>
                </a:lnTo>
                <a:lnTo>
                  <a:pt x="536846" y="209172"/>
                </a:lnTo>
                <a:lnTo>
                  <a:pt x="537497" y="214913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0"/>
                </a:lnTo>
                <a:lnTo>
                  <a:pt x="542706" y="246688"/>
                </a:lnTo>
                <a:lnTo>
                  <a:pt x="543358" y="253839"/>
                </a:lnTo>
                <a:lnTo>
                  <a:pt x="543575" y="260275"/>
                </a:lnTo>
                <a:lnTo>
                  <a:pt x="542685" y="274843"/>
                </a:lnTo>
                <a:lnTo>
                  <a:pt x="521534" y="310547"/>
                </a:lnTo>
                <a:lnTo>
                  <a:pt x="489921" y="317921"/>
                </a:lnTo>
                <a:lnTo>
                  <a:pt x="487318" y="317921"/>
                </a:lnTo>
                <a:lnTo>
                  <a:pt x="487318" y="331116"/>
                </a:lnTo>
                <a:lnTo>
                  <a:pt x="491831" y="331116"/>
                </a:lnTo>
                <a:lnTo>
                  <a:pt x="510947" y="329690"/>
                </a:lnTo>
                <a:lnTo>
                  <a:pt x="552864" y="312451"/>
                </a:lnTo>
                <a:lnTo>
                  <a:pt x="571828" y="274604"/>
                </a:lnTo>
                <a:lnTo>
                  <a:pt x="573092" y="257149"/>
                </a:lnTo>
                <a:lnTo>
                  <a:pt x="572837" y="249694"/>
                </a:lnTo>
                <a:lnTo>
                  <a:pt x="572072" y="241739"/>
                </a:lnTo>
                <a:lnTo>
                  <a:pt x="570797" y="233286"/>
                </a:lnTo>
                <a:lnTo>
                  <a:pt x="569012" y="224332"/>
                </a:lnTo>
                <a:lnTo>
                  <a:pt x="566291" y="212063"/>
                </a:lnTo>
                <a:lnTo>
                  <a:pt x="564931" y="203843"/>
                </a:lnTo>
                <a:lnTo>
                  <a:pt x="564931" y="191689"/>
                </a:lnTo>
                <a:lnTo>
                  <a:pt x="567681" y="185178"/>
                </a:lnTo>
                <a:lnTo>
                  <a:pt x="598095" y="172069"/>
                </a:lnTo>
                <a:lnTo>
                  <a:pt x="598095" y="157831"/>
                </a:lnTo>
                <a:lnTo>
                  <a:pt x="564931" y="138211"/>
                </a:lnTo>
                <a:lnTo>
                  <a:pt x="564931" y="126056"/>
                </a:lnTo>
                <a:lnTo>
                  <a:pt x="566291" y="117838"/>
                </a:lnTo>
                <a:lnTo>
                  <a:pt x="569012" y="105568"/>
                </a:lnTo>
                <a:lnTo>
                  <a:pt x="570797" y="96615"/>
                </a:lnTo>
                <a:lnTo>
                  <a:pt x="572072" y="88161"/>
                </a:lnTo>
                <a:lnTo>
                  <a:pt x="572837" y="80207"/>
                </a:lnTo>
                <a:lnTo>
                  <a:pt x="573092" y="72751"/>
                </a:lnTo>
                <a:lnTo>
                  <a:pt x="571828" y="55827"/>
                </a:lnTo>
                <a:lnTo>
                  <a:pt x="552864" y="18665"/>
                </a:lnTo>
                <a:lnTo>
                  <a:pt x="510947" y="1426"/>
                </a:lnTo>
                <a:lnTo>
                  <a:pt x="491831" y="0"/>
                </a:lnTo>
                <a:close/>
              </a:path>
              <a:path w="598170" h="331469">
                <a:moveTo>
                  <a:pt x="110777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6" y="55730"/>
                </a:lnTo>
                <a:lnTo>
                  <a:pt x="25115" y="75887"/>
                </a:lnTo>
                <a:lnTo>
                  <a:pt x="25257" y="80033"/>
                </a:lnTo>
                <a:lnTo>
                  <a:pt x="26022" y="87987"/>
                </a:lnTo>
                <a:lnTo>
                  <a:pt x="27297" y="96441"/>
                </a:lnTo>
                <a:lnTo>
                  <a:pt x="29082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3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2" y="224158"/>
                </a:lnTo>
                <a:lnTo>
                  <a:pt x="27297" y="233112"/>
                </a:lnTo>
                <a:lnTo>
                  <a:pt x="26022" y="241565"/>
                </a:lnTo>
                <a:lnTo>
                  <a:pt x="25257" y="249520"/>
                </a:lnTo>
                <a:lnTo>
                  <a:pt x="25002" y="256975"/>
                </a:lnTo>
                <a:lnTo>
                  <a:pt x="26266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7" y="331116"/>
                </a:lnTo>
                <a:lnTo>
                  <a:pt x="110777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19" y="260101"/>
                </a:lnTo>
                <a:lnTo>
                  <a:pt x="54736" y="253665"/>
                </a:lnTo>
                <a:lnTo>
                  <a:pt x="55388" y="246514"/>
                </a:lnTo>
                <a:lnTo>
                  <a:pt x="56473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7" y="214740"/>
                </a:lnTo>
                <a:lnTo>
                  <a:pt x="61248" y="208999"/>
                </a:lnTo>
                <a:lnTo>
                  <a:pt x="61465" y="204538"/>
                </a:lnTo>
                <a:lnTo>
                  <a:pt x="60922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2" y="132063"/>
                </a:lnTo>
                <a:lnTo>
                  <a:pt x="61465" y="125014"/>
                </a:lnTo>
                <a:lnTo>
                  <a:pt x="61248" y="120554"/>
                </a:lnTo>
                <a:lnTo>
                  <a:pt x="60597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3" y="90906"/>
                </a:lnTo>
                <a:lnTo>
                  <a:pt x="55388" y="83038"/>
                </a:lnTo>
                <a:lnTo>
                  <a:pt x="54736" y="75887"/>
                </a:lnTo>
                <a:lnTo>
                  <a:pt x="54519" y="69452"/>
                </a:lnTo>
                <a:lnTo>
                  <a:pt x="55409" y="55491"/>
                </a:lnTo>
                <a:lnTo>
                  <a:pt x="76560" y="20569"/>
                </a:lnTo>
                <a:lnTo>
                  <a:pt x="108173" y="13195"/>
                </a:lnTo>
                <a:lnTo>
                  <a:pt x="110777" y="13195"/>
                </a:lnTo>
                <a:lnTo>
                  <a:pt x="110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10"/>
              <a:t>Given </a:t>
            </a:r>
            <a:r>
              <a:rPr dirty="0"/>
              <a:t>3 </a:t>
            </a:r>
            <a:r>
              <a:rPr dirty="0" spc="-5"/>
              <a:t>queries </a:t>
            </a:r>
            <a:r>
              <a:rPr dirty="0" spc="110">
                <a:latin typeface="Cambria Math"/>
                <a:cs typeface="Cambria Math"/>
              </a:rPr>
              <a:t>𝑞</a:t>
            </a:r>
            <a:r>
              <a:rPr dirty="0" baseline="-16666" sz="3000" spc="165">
                <a:latin typeface="Cambria Math"/>
                <a:cs typeface="Cambria Math"/>
              </a:rPr>
              <a:t>"</a:t>
            </a:r>
            <a:r>
              <a:rPr dirty="0" sz="2800" spc="110">
                <a:latin typeface="Cambria Math"/>
                <a:cs typeface="Cambria Math"/>
              </a:rPr>
              <a:t>, </a:t>
            </a:r>
            <a:r>
              <a:rPr dirty="0" sz="2800" spc="-15">
                <a:latin typeface="Cambria Math"/>
                <a:cs typeface="Cambria Math"/>
              </a:rPr>
              <a:t>𝑞</a:t>
            </a:r>
            <a:r>
              <a:rPr dirty="0" baseline="-16666" sz="3000" spc="-22">
                <a:latin typeface="Cambria Math"/>
                <a:cs typeface="Cambria Math"/>
              </a:rPr>
              <a:t>#</a:t>
            </a:r>
            <a:r>
              <a:rPr dirty="0" sz="2800" spc="-15">
                <a:latin typeface="Cambria Math"/>
                <a:cs typeface="Cambria Math"/>
              </a:rPr>
              <a:t>, </a:t>
            </a: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6666" sz="3000" spc="187">
                <a:latin typeface="Cambria Math"/>
                <a:cs typeface="Cambria Math"/>
              </a:rPr>
              <a:t>)</a:t>
            </a:r>
            <a:r>
              <a:rPr dirty="0" sz="2800" spc="125"/>
              <a:t>,</a:t>
            </a:r>
            <a:r>
              <a:rPr dirty="0" sz="2800" spc="-380"/>
              <a:t> </a:t>
            </a:r>
            <a:r>
              <a:rPr dirty="0" sz="2800" spc="-5"/>
              <a:t>with </a:t>
            </a:r>
            <a:r>
              <a:rPr dirty="0" sz="2800" spc="-10"/>
              <a:t>answer sets:</a:t>
            </a:r>
            <a:endParaRPr sz="2800">
              <a:latin typeface="Cambria Math"/>
              <a:cs typeface="Cambria Math"/>
            </a:endParaRPr>
          </a:p>
          <a:p>
            <a:pPr marL="443230" indent="-43053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443230" algn="l"/>
                <a:tab pos="443865" algn="l"/>
                <a:tab pos="1040765" algn="l"/>
                <a:tab pos="1542415" algn="l"/>
                <a:tab pos="2338070" algn="l"/>
                <a:tab pos="2943860" algn="l"/>
                <a:tab pos="3445510" algn="l"/>
                <a:tab pos="4249420" algn="l"/>
                <a:tab pos="4855845" algn="l"/>
                <a:tab pos="5356860" algn="l"/>
              </a:tabLst>
            </a:pPr>
            <a:r>
              <a:rPr dirty="0" spc="125">
                <a:latin typeface="Cambria Math"/>
                <a:cs typeface="Cambria Math"/>
              </a:rPr>
              <a:t>𝑞</a:t>
            </a:r>
            <a:r>
              <a:rPr dirty="0" baseline="-15277" sz="3000" spc="187">
                <a:latin typeface="Cambria Math"/>
                <a:cs typeface="Cambria Math"/>
              </a:rPr>
              <a:t>"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30">
                <a:latin typeface="Cambria Math"/>
                <a:cs typeface="Cambria Math"/>
              </a:rPr>
              <a:t>𝑣</a:t>
            </a:r>
            <a:r>
              <a:rPr dirty="0" baseline="-15277" sz="3000" spc="195">
                <a:latin typeface="Cambria Math"/>
                <a:cs typeface="Cambria Math"/>
              </a:rPr>
              <a:t>"</a:t>
            </a:r>
            <a:r>
              <a:rPr dirty="0" baseline="-15277" sz="3000" spc="64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-70">
                <a:latin typeface="Cambria Math"/>
                <a:cs typeface="Cambria Math"/>
              </a:rPr>
              <a:t>𝑞</a:t>
            </a:r>
            <a:r>
              <a:rPr dirty="0" baseline="-15277" sz="3000" spc="-104">
                <a:latin typeface="Cambria Math"/>
                <a:cs typeface="Cambria Math"/>
              </a:rPr>
              <a:t>#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-60">
                <a:latin typeface="Cambria Math"/>
                <a:cs typeface="Cambria Math"/>
              </a:rPr>
              <a:t>𝑣</a:t>
            </a:r>
            <a:r>
              <a:rPr dirty="0" baseline="-15277" sz="3000" spc="-89">
                <a:latin typeface="Cambria Math"/>
                <a:cs typeface="Cambria Math"/>
              </a:rPr>
              <a:t># </a:t>
            </a:r>
            <a:r>
              <a:rPr dirty="0" baseline="-15277" sz="3000" spc="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130">
                <a:latin typeface="Cambria Math"/>
                <a:cs typeface="Cambria Math"/>
              </a:rPr>
              <a:t>𝑞</a:t>
            </a:r>
            <a:r>
              <a:rPr dirty="0" baseline="-15277" sz="3000" spc="195">
                <a:latin typeface="Cambria Math"/>
                <a:cs typeface="Cambria Math"/>
              </a:rPr>
              <a:t>)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40">
                <a:latin typeface="Cambria Math"/>
                <a:cs typeface="Cambria Math"/>
              </a:rPr>
              <a:t>𝑣</a:t>
            </a:r>
            <a:r>
              <a:rPr dirty="0" baseline="-15277" sz="3000" spc="209">
                <a:latin typeface="Cambria Math"/>
                <a:cs typeface="Cambria Math"/>
              </a:rPr>
              <a:t>)</a:t>
            </a:r>
            <a:endParaRPr baseline="-15277" sz="3000">
              <a:latin typeface="Cambria Math"/>
              <a:cs typeface="Cambria Math"/>
            </a:endParaRPr>
          </a:p>
          <a:p>
            <a:pPr marL="287020" marR="5080" indent="-274320">
              <a:lnSpc>
                <a:spcPct val="101400"/>
              </a:lnSpc>
              <a:spcBef>
                <a:spcPts val="5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5">
                <a:solidFill>
                  <a:srgbClr val="C00000"/>
                </a:solidFill>
              </a:rPr>
              <a:t>If </a:t>
            </a:r>
            <a:r>
              <a:rPr dirty="0" spc="-15">
                <a:solidFill>
                  <a:srgbClr val="C00000"/>
                </a:solidFill>
              </a:rPr>
              <a:t>we </a:t>
            </a:r>
            <a:r>
              <a:rPr dirty="0" spc="-10">
                <a:solidFill>
                  <a:srgbClr val="C00000"/>
                </a:solidFill>
              </a:rPr>
              <a:t>allow </a:t>
            </a:r>
            <a:r>
              <a:rPr dirty="0" spc="-5">
                <a:solidFill>
                  <a:srgbClr val="C00000"/>
                </a:solidFill>
              </a:rPr>
              <a:t>union </a:t>
            </a:r>
            <a:r>
              <a:rPr dirty="0" spc="-15">
                <a:solidFill>
                  <a:srgbClr val="C00000"/>
                </a:solidFill>
              </a:rPr>
              <a:t>operation, </a:t>
            </a:r>
            <a:r>
              <a:rPr dirty="0" spc="-10">
                <a:solidFill>
                  <a:srgbClr val="C00000"/>
                </a:solidFill>
              </a:rPr>
              <a:t>can </a:t>
            </a:r>
            <a:r>
              <a:rPr dirty="0" spc="-15">
                <a:solidFill>
                  <a:srgbClr val="C00000"/>
                </a:solidFill>
              </a:rPr>
              <a:t>we </a:t>
            </a:r>
            <a:r>
              <a:rPr dirty="0" spc="-5">
                <a:solidFill>
                  <a:srgbClr val="C00000"/>
                </a:solidFill>
              </a:rPr>
              <a:t>embed them </a:t>
            </a:r>
            <a:r>
              <a:rPr dirty="0" spc="-285">
                <a:solidFill>
                  <a:srgbClr val="C00000"/>
                </a:solidFill>
              </a:rPr>
              <a:t>in  </a:t>
            </a:r>
            <a:r>
              <a:rPr dirty="0" spc="-5">
                <a:solidFill>
                  <a:srgbClr val="C00000"/>
                </a:solidFill>
              </a:rPr>
              <a:t>two-dimensional</a:t>
            </a:r>
            <a:r>
              <a:rPr dirty="0" spc="-80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plane?</a:t>
            </a:r>
          </a:p>
        </p:txBody>
      </p:sp>
      <p:sp>
        <p:nvSpPr>
          <p:cNvPr id="32" name="object 32"/>
          <p:cNvSpPr/>
          <p:nvPr/>
        </p:nvSpPr>
        <p:spPr>
          <a:xfrm>
            <a:off x="1660443" y="4081802"/>
            <a:ext cx="85725" cy="2028189"/>
          </a:xfrm>
          <a:custGeom>
            <a:avLst/>
            <a:gdLst/>
            <a:ahLst/>
            <a:cxnLst/>
            <a:rect l="l" t="t" r="r" b="b"/>
            <a:pathLst>
              <a:path w="85725" h="2028189">
                <a:moveTo>
                  <a:pt x="50753" y="57150"/>
                </a:moveTo>
                <a:lnTo>
                  <a:pt x="34971" y="57150"/>
                </a:lnTo>
                <a:lnTo>
                  <a:pt x="28575" y="63545"/>
                </a:lnTo>
                <a:lnTo>
                  <a:pt x="28576" y="2021625"/>
                </a:lnTo>
                <a:lnTo>
                  <a:pt x="34971" y="2028022"/>
                </a:lnTo>
                <a:lnTo>
                  <a:pt x="50754" y="2028022"/>
                </a:lnTo>
                <a:lnTo>
                  <a:pt x="57151" y="2021625"/>
                </a:lnTo>
                <a:lnTo>
                  <a:pt x="57150" y="63545"/>
                </a:lnTo>
                <a:lnTo>
                  <a:pt x="50753" y="57150"/>
                </a:lnTo>
                <a:close/>
              </a:path>
              <a:path w="85725" h="2028189">
                <a:moveTo>
                  <a:pt x="42862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63545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2028189">
                <a:moveTo>
                  <a:pt x="71437" y="57150"/>
                </a:moveTo>
                <a:lnTo>
                  <a:pt x="50753" y="57150"/>
                </a:lnTo>
                <a:lnTo>
                  <a:pt x="57150" y="63545"/>
                </a:lnTo>
                <a:lnTo>
                  <a:pt x="57150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669963" y="6052623"/>
            <a:ext cx="2225040" cy="85725"/>
          </a:xfrm>
          <a:custGeom>
            <a:avLst/>
            <a:gdLst/>
            <a:ahLst/>
            <a:cxnLst/>
            <a:rect l="l" t="t" r="r" b="b"/>
            <a:pathLst>
              <a:path w="2225040" h="85725">
                <a:moveTo>
                  <a:pt x="2139084" y="57149"/>
                </a:moveTo>
                <a:lnTo>
                  <a:pt x="2139067" y="85725"/>
                </a:lnTo>
                <a:lnTo>
                  <a:pt x="2196277" y="57163"/>
                </a:lnTo>
                <a:lnTo>
                  <a:pt x="2139084" y="57149"/>
                </a:lnTo>
                <a:close/>
              </a:path>
              <a:path w="2225040" h="85725">
                <a:moveTo>
                  <a:pt x="2139102" y="28574"/>
                </a:moveTo>
                <a:lnTo>
                  <a:pt x="2139084" y="57149"/>
                </a:lnTo>
                <a:lnTo>
                  <a:pt x="2161258" y="57163"/>
                </a:lnTo>
                <a:lnTo>
                  <a:pt x="2167657" y="50770"/>
                </a:lnTo>
                <a:lnTo>
                  <a:pt x="2167667" y="34989"/>
                </a:lnTo>
                <a:lnTo>
                  <a:pt x="2161274" y="28588"/>
                </a:lnTo>
                <a:lnTo>
                  <a:pt x="2139102" y="28574"/>
                </a:lnTo>
                <a:close/>
              </a:path>
              <a:path w="2225040" h="85725">
                <a:moveTo>
                  <a:pt x="2139119" y="0"/>
                </a:moveTo>
                <a:lnTo>
                  <a:pt x="2139102" y="28574"/>
                </a:lnTo>
                <a:lnTo>
                  <a:pt x="2161274" y="28588"/>
                </a:lnTo>
                <a:lnTo>
                  <a:pt x="2167667" y="34989"/>
                </a:lnTo>
                <a:lnTo>
                  <a:pt x="2167657" y="50770"/>
                </a:lnTo>
                <a:lnTo>
                  <a:pt x="2161258" y="57163"/>
                </a:lnTo>
                <a:lnTo>
                  <a:pt x="2196277" y="57163"/>
                </a:lnTo>
                <a:lnTo>
                  <a:pt x="2224819" y="42914"/>
                </a:lnTo>
                <a:lnTo>
                  <a:pt x="2139119" y="0"/>
                </a:lnTo>
                <a:close/>
              </a:path>
              <a:path w="2225040" h="85725">
                <a:moveTo>
                  <a:pt x="6410" y="27284"/>
                </a:moveTo>
                <a:lnTo>
                  <a:pt x="10" y="33676"/>
                </a:lnTo>
                <a:lnTo>
                  <a:pt x="0" y="49458"/>
                </a:lnTo>
                <a:lnTo>
                  <a:pt x="6393" y="55859"/>
                </a:lnTo>
                <a:lnTo>
                  <a:pt x="2139084" y="57149"/>
                </a:lnTo>
                <a:lnTo>
                  <a:pt x="2139102" y="28574"/>
                </a:lnTo>
                <a:lnTo>
                  <a:pt x="6410" y="27284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736421" y="476010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736421" y="476010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55856" y="52108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055856" y="52108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D9253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293854" y="53125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293854" y="53125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2263529" y="4995164"/>
            <a:ext cx="228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30">
                <a:latin typeface="Cambria Math"/>
                <a:cs typeface="Cambria Math"/>
              </a:rPr>
              <a:t>𝐯</a:t>
            </a:r>
            <a:r>
              <a:rPr dirty="0" baseline="-14957" sz="1950" spc="-330">
                <a:latin typeface="Cambria Math"/>
                <a:cs typeface="Cambria Math"/>
              </a:rPr>
              <a:t>+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51</a:t>
            </a:fld>
          </a:p>
        </p:txBody>
      </p:sp>
      <p:sp>
        <p:nvSpPr>
          <p:cNvPr id="41" name="object 41"/>
          <p:cNvSpPr txBox="1"/>
          <p:nvPr/>
        </p:nvSpPr>
        <p:spPr>
          <a:xfrm>
            <a:off x="2826640" y="4422140"/>
            <a:ext cx="2336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0">
                <a:latin typeface="Cambria Math"/>
                <a:cs typeface="Cambria Math"/>
              </a:rPr>
              <a:t>𝐯</a:t>
            </a:r>
            <a:r>
              <a:rPr dirty="0" baseline="-14957" sz="1950" spc="719">
                <a:latin typeface="Cambria Math"/>
                <a:cs typeface="Cambria Math"/>
              </a:rPr>
              <a:t>,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928603" y="5095104"/>
            <a:ext cx="914400" cy="76073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64769" rIns="0" bIns="0" rtlCol="0" vert="horz">
            <a:spAutoFit/>
          </a:bodyPr>
          <a:lstStyle/>
          <a:p>
            <a:pPr algn="ctr" marL="32384">
              <a:lnSpc>
                <a:spcPct val="100000"/>
              </a:lnSpc>
              <a:spcBef>
                <a:spcPts val="509"/>
              </a:spcBef>
            </a:pPr>
            <a:r>
              <a:rPr dirty="0" sz="1800" spc="110">
                <a:latin typeface="Cambria Math"/>
                <a:cs typeface="Cambria Math"/>
              </a:rPr>
              <a:t>𝐯</a:t>
            </a:r>
            <a:r>
              <a:rPr dirty="0" baseline="-14957" sz="1950" spc="165">
                <a:latin typeface="Cambria Math"/>
                <a:cs typeface="Cambria Math"/>
              </a:rPr>
              <a:t>-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873125" y="5616955"/>
            <a:ext cx="2590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mbria Math"/>
                <a:cs typeface="Cambria Math"/>
              </a:rPr>
              <a:t>𝐪</a:t>
            </a:r>
            <a:r>
              <a:rPr dirty="0" baseline="-14957" sz="1950" spc="472">
                <a:latin typeface="Cambria Math"/>
                <a:cs typeface="Cambria Math"/>
              </a:rPr>
              <a:t>-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241265" y="4422140"/>
            <a:ext cx="404304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35">
                <a:solidFill>
                  <a:srgbClr val="479249"/>
                </a:solidFill>
                <a:latin typeface="Calibri"/>
                <a:cs typeface="Calibri"/>
              </a:rPr>
              <a:t>We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want </a:t>
            </a:r>
            <a:r>
              <a:rPr dirty="0" sz="1800" spc="-15" b="1">
                <a:solidFill>
                  <a:srgbClr val="D9253E"/>
                </a:solidFill>
                <a:latin typeface="Calibri"/>
                <a:cs typeface="Calibri"/>
              </a:rPr>
              <a:t>red </a:t>
            </a:r>
            <a:r>
              <a:rPr dirty="0" sz="1800" spc="-5" b="1">
                <a:solidFill>
                  <a:srgbClr val="D9253E"/>
                </a:solidFill>
                <a:latin typeface="Calibri"/>
                <a:cs typeface="Calibri"/>
              </a:rPr>
              <a:t>dots </a:t>
            </a:r>
            <a:r>
              <a:rPr dirty="0" sz="1800" spc="-10" b="1">
                <a:solidFill>
                  <a:srgbClr val="D9253E"/>
                </a:solidFill>
                <a:latin typeface="Calibri"/>
                <a:cs typeface="Calibri"/>
              </a:rPr>
              <a:t>(answers)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be in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the 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box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while the </a:t>
            </a:r>
            <a:r>
              <a:rPr dirty="0" sz="1800" spc="-5" b="1">
                <a:solidFill>
                  <a:srgbClr val="0070C0"/>
                </a:solidFill>
                <a:latin typeface="Calibri"/>
                <a:cs typeface="Calibri"/>
              </a:rPr>
              <a:t>blue dots </a:t>
            </a:r>
            <a:r>
              <a:rPr dirty="0" sz="1800" spc="-15" b="1">
                <a:solidFill>
                  <a:srgbClr val="0070C0"/>
                </a:solidFill>
                <a:latin typeface="Calibri"/>
                <a:cs typeface="Calibri"/>
              </a:rPr>
              <a:t>(negative answers) 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be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outside the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box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439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18903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 i="0">
                <a:latin typeface="Calibri"/>
                <a:cs typeface="Calibri"/>
              </a:rPr>
              <a:t>E</a:t>
            </a:r>
            <a:r>
              <a:rPr dirty="0" sz="3200" spc="-45" b="1" i="0">
                <a:latin typeface="Calibri"/>
                <a:cs typeface="Calibri"/>
              </a:rPr>
              <a:t>x</a:t>
            </a:r>
            <a:r>
              <a:rPr dirty="0" sz="3200" spc="-5" b="1" i="0">
                <a:latin typeface="Calibri"/>
                <a:cs typeface="Calibri"/>
              </a:rPr>
              <a:t>amp</a:t>
            </a:r>
            <a:r>
              <a:rPr dirty="0" sz="3200" b="1" i="0">
                <a:latin typeface="Calibri"/>
                <a:cs typeface="Calibri"/>
              </a:rPr>
              <a:t>l</a:t>
            </a:r>
            <a:r>
              <a:rPr dirty="0" sz="3200" spc="0" b="1" i="0">
                <a:latin typeface="Calibri"/>
                <a:cs typeface="Calibri"/>
              </a:rPr>
              <a:t>e</a:t>
            </a:r>
            <a:r>
              <a:rPr dirty="0" sz="3200" b="1" i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0033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49785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50033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01341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83172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92809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83172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44724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78250" y="2542089"/>
            <a:ext cx="589915" cy="331470"/>
          </a:xfrm>
          <a:custGeom>
            <a:avLst/>
            <a:gdLst/>
            <a:ahLst/>
            <a:cxnLst/>
            <a:rect l="l" t="t" r="r" b="b"/>
            <a:pathLst>
              <a:path w="589914" h="331469">
                <a:moveTo>
                  <a:pt x="483641" y="0"/>
                </a:moveTo>
                <a:lnTo>
                  <a:pt x="479126" y="0"/>
                </a:lnTo>
                <a:lnTo>
                  <a:pt x="479126" y="13195"/>
                </a:lnTo>
                <a:lnTo>
                  <a:pt x="481731" y="13195"/>
                </a:lnTo>
                <a:lnTo>
                  <a:pt x="493635" y="14014"/>
                </a:lnTo>
                <a:lnTo>
                  <a:pt x="527374" y="33928"/>
                </a:lnTo>
                <a:lnTo>
                  <a:pt x="535383" y="69626"/>
                </a:lnTo>
                <a:lnTo>
                  <a:pt x="535166" y="76061"/>
                </a:lnTo>
                <a:lnTo>
                  <a:pt x="534515" y="83212"/>
                </a:lnTo>
                <a:lnTo>
                  <a:pt x="533429" y="91080"/>
                </a:lnTo>
                <a:lnTo>
                  <a:pt x="531910" y="99664"/>
                </a:lnTo>
                <a:lnTo>
                  <a:pt x="530391" y="107966"/>
                </a:lnTo>
                <a:lnTo>
                  <a:pt x="529306" y="114987"/>
                </a:lnTo>
                <a:lnTo>
                  <a:pt x="528655" y="120728"/>
                </a:lnTo>
                <a:lnTo>
                  <a:pt x="528438" y="125188"/>
                </a:lnTo>
                <a:lnTo>
                  <a:pt x="528980" y="132237"/>
                </a:lnTo>
                <a:lnTo>
                  <a:pt x="557782" y="163388"/>
                </a:lnTo>
                <a:lnTo>
                  <a:pt x="557782" y="166513"/>
                </a:lnTo>
                <a:lnTo>
                  <a:pt x="528980" y="197664"/>
                </a:lnTo>
                <a:lnTo>
                  <a:pt x="528438" y="204712"/>
                </a:lnTo>
                <a:lnTo>
                  <a:pt x="528655" y="209172"/>
                </a:lnTo>
                <a:lnTo>
                  <a:pt x="529306" y="214913"/>
                </a:lnTo>
                <a:lnTo>
                  <a:pt x="530391" y="221935"/>
                </a:lnTo>
                <a:lnTo>
                  <a:pt x="531910" y="230237"/>
                </a:lnTo>
                <a:lnTo>
                  <a:pt x="533429" y="238820"/>
                </a:lnTo>
                <a:lnTo>
                  <a:pt x="534515" y="246688"/>
                </a:lnTo>
                <a:lnTo>
                  <a:pt x="535166" y="253839"/>
                </a:lnTo>
                <a:lnTo>
                  <a:pt x="535383" y="260275"/>
                </a:lnTo>
                <a:lnTo>
                  <a:pt x="534493" y="274843"/>
                </a:lnTo>
                <a:lnTo>
                  <a:pt x="513343" y="310547"/>
                </a:lnTo>
                <a:lnTo>
                  <a:pt x="481731" y="317921"/>
                </a:lnTo>
                <a:lnTo>
                  <a:pt x="479126" y="317921"/>
                </a:lnTo>
                <a:lnTo>
                  <a:pt x="479126" y="331116"/>
                </a:lnTo>
                <a:lnTo>
                  <a:pt x="483641" y="331116"/>
                </a:lnTo>
                <a:lnTo>
                  <a:pt x="502757" y="329690"/>
                </a:lnTo>
                <a:lnTo>
                  <a:pt x="544672" y="312451"/>
                </a:lnTo>
                <a:lnTo>
                  <a:pt x="563636" y="274604"/>
                </a:lnTo>
                <a:lnTo>
                  <a:pt x="564901" y="257149"/>
                </a:lnTo>
                <a:lnTo>
                  <a:pt x="564646" y="249694"/>
                </a:lnTo>
                <a:lnTo>
                  <a:pt x="563880" y="241739"/>
                </a:lnTo>
                <a:lnTo>
                  <a:pt x="562605" y="233286"/>
                </a:lnTo>
                <a:lnTo>
                  <a:pt x="560820" y="224332"/>
                </a:lnTo>
                <a:lnTo>
                  <a:pt x="558100" y="212063"/>
                </a:lnTo>
                <a:lnTo>
                  <a:pt x="556740" y="203843"/>
                </a:lnTo>
                <a:lnTo>
                  <a:pt x="556740" y="191689"/>
                </a:lnTo>
                <a:lnTo>
                  <a:pt x="559489" y="185178"/>
                </a:lnTo>
                <a:lnTo>
                  <a:pt x="589903" y="172069"/>
                </a:lnTo>
                <a:lnTo>
                  <a:pt x="589903" y="157831"/>
                </a:lnTo>
                <a:lnTo>
                  <a:pt x="556740" y="138211"/>
                </a:lnTo>
                <a:lnTo>
                  <a:pt x="556740" y="126056"/>
                </a:lnTo>
                <a:lnTo>
                  <a:pt x="558100" y="117838"/>
                </a:lnTo>
                <a:lnTo>
                  <a:pt x="560820" y="105568"/>
                </a:lnTo>
                <a:lnTo>
                  <a:pt x="562605" y="96615"/>
                </a:lnTo>
                <a:lnTo>
                  <a:pt x="563880" y="88161"/>
                </a:lnTo>
                <a:lnTo>
                  <a:pt x="564646" y="80207"/>
                </a:lnTo>
                <a:lnTo>
                  <a:pt x="564901" y="72751"/>
                </a:lnTo>
                <a:lnTo>
                  <a:pt x="563636" y="55827"/>
                </a:lnTo>
                <a:lnTo>
                  <a:pt x="544672" y="18665"/>
                </a:lnTo>
                <a:lnTo>
                  <a:pt x="502757" y="1426"/>
                </a:lnTo>
                <a:lnTo>
                  <a:pt x="483641" y="0"/>
                </a:lnTo>
                <a:close/>
              </a:path>
              <a:path w="589914" h="331469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8" y="96441"/>
                </a:lnTo>
                <a:lnTo>
                  <a:pt x="29082" y="105394"/>
                </a:lnTo>
                <a:lnTo>
                  <a:pt x="31803" y="117664"/>
                </a:lnTo>
                <a:lnTo>
                  <a:pt x="33164" y="125883"/>
                </a:lnTo>
                <a:lnTo>
                  <a:pt x="33164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4" y="191516"/>
                </a:lnTo>
                <a:lnTo>
                  <a:pt x="33164" y="203671"/>
                </a:lnTo>
                <a:lnTo>
                  <a:pt x="31803" y="211889"/>
                </a:lnTo>
                <a:lnTo>
                  <a:pt x="29082" y="224158"/>
                </a:lnTo>
                <a:lnTo>
                  <a:pt x="27298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53255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53007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53255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04563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178202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87839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78202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39755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81472" y="2542089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69">
                <a:moveTo>
                  <a:pt x="491831" y="0"/>
                </a:moveTo>
                <a:lnTo>
                  <a:pt x="487318" y="0"/>
                </a:lnTo>
                <a:lnTo>
                  <a:pt x="487318" y="13195"/>
                </a:lnTo>
                <a:lnTo>
                  <a:pt x="489921" y="13195"/>
                </a:lnTo>
                <a:lnTo>
                  <a:pt x="501826" y="14014"/>
                </a:lnTo>
                <a:lnTo>
                  <a:pt x="535566" y="33928"/>
                </a:lnTo>
                <a:lnTo>
                  <a:pt x="543575" y="69626"/>
                </a:lnTo>
                <a:lnTo>
                  <a:pt x="543358" y="76061"/>
                </a:lnTo>
                <a:lnTo>
                  <a:pt x="542706" y="83212"/>
                </a:lnTo>
                <a:lnTo>
                  <a:pt x="541621" y="91080"/>
                </a:lnTo>
                <a:lnTo>
                  <a:pt x="540101" y="99664"/>
                </a:lnTo>
                <a:lnTo>
                  <a:pt x="538582" y="107966"/>
                </a:lnTo>
                <a:lnTo>
                  <a:pt x="537497" y="114987"/>
                </a:lnTo>
                <a:lnTo>
                  <a:pt x="536846" y="120728"/>
                </a:lnTo>
                <a:lnTo>
                  <a:pt x="536629" y="125188"/>
                </a:lnTo>
                <a:lnTo>
                  <a:pt x="537172" y="132237"/>
                </a:lnTo>
                <a:lnTo>
                  <a:pt x="565972" y="163388"/>
                </a:lnTo>
                <a:lnTo>
                  <a:pt x="565972" y="166513"/>
                </a:lnTo>
                <a:lnTo>
                  <a:pt x="537172" y="197664"/>
                </a:lnTo>
                <a:lnTo>
                  <a:pt x="536629" y="204712"/>
                </a:lnTo>
                <a:lnTo>
                  <a:pt x="536846" y="209172"/>
                </a:lnTo>
                <a:lnTo>
                  <a:pt x="537497" y="214913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0"/>
                </a:lnTo>
                <a:lnTo>
                  <a:pt x="542706" y="246688"/>
                </a:lnTo>
                <a:lnTo>
                  <a:pt x="543358" y="253839"/>
                </a:lnTo>
                <a:lnTo>
                  <a:pt x="543575" y="260275"/>
                </a:lnTo>
                <a:lnTo>
                  <a:pt x="542685" y="274843"/>
                </a:lnTo>
                <a:lnTo>
                  <a:pt x="521534" y="310547"/>
                </a:lnTo>
                <a:lnTo>
                  <a:pt x="489921" y="317921"/>
                </a:lnTo>
                <a:lnTo>
                  <a:pt x="487318" y="317921"/>
                </a:lnTo>
                <a:lnTo>
                  <a:pt x="487318" y="331116"/>
                </a:lnTo>
                <a:lnTo>
                  <a:pt x="491831" y="331116"/>
                </a:lnTo>
                <a:lnTo>
                  <a:pt x="510948" y="329690"/>
                </a:lnTo>
                <a:lnTo>
                  <a:pt x="552864" y="312451"/>
                </a:lnTo>
                <a:lnTo>
                  <a:pt x="571828" y="274604"/>
                </a:lnTo>
                <a:lnTo>
                  <a:pt x="573092" y="257149"/>
                </a:lnTo>
                <a:lnTo>
                  <a:pt x="572837" y="249694"/>
                </a:lnTo>
                <a:lnTo>
                  <a:pt x="572072" y="241739"/>
                </a:lnTo>
                <a:lnTo>
                  <a:pt x="570797" y="233286"/>
                </a:lnTo>
                <a:lnTo>
                  <a:pt x="569012" y="224332"/>
                </a:lnTo>
                <a:lnTo>
                  <a:pt x="566291" y="212063"/>
                </a:lnTo>
                <a:lnTo>
                  <a:pt x="564931" y="203843"/>
                </a:lnTo>
                <a:lnTo>
                  <a:pt x="564931" y="191689"/>
                </a:lnTo>
                <a:lnTo>
                  <a:pt x="567681" y="185178"/>
                </a:lnTo>
                <a:lnTo>
                  <a:pt x="598095" y="172069"/>
                </a:lnTo>
                <a:lnTo>
                  <a:pt x="598095" y="157831"/>
                </a:lnTo>
                <a:lnTo>
                  <a:pt x="564931" y="138211"/>
                </a:lnTo>
                <a:lnTo>
                  <a:pt x="564931" y="126056"/>
                </a:lnTo>
                <a:lnTo>
                  <a:pt x="566291" y="117838"/>
                </a:lnTo>
                <a:lnTo>
                  <a:pt x="569012" y="105568"/>
                </a:lnTo>
                <a:lnTo>
                  <a:pt x="570797" y="96615"/>
                </a:lnTo>
                <a:lnTo>
                  <a:pt x="572072" y="88161"/>
                </a:lnTo>
                <a:lnTo>
                  <a:pt x="572837" y="80207"/>
                </a:lnTo>
                <a:lnTo>
                  <a:pt x="573092" y="72751"/>
                </a:lnTo>
                <a:lnTo>
                  <a:pt x="571828" y="55827"/>
                </a:lnTo>
                <a:lnTo>
                  <a:pt x="552864" y="18665"/>
                </a:lnTo>
                <a:lnTo>
                  <a:pt x="510948" y="1426"/>
                </a:lnTo>
                <a:lnTo>
                  <a:pt x="491831" y="0"/>
                </a:lnTo>
                <a:close/>
              </a:path>
              <a:path w="598170" h="331469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9" y="96441"/>
                </a:lnTo>
                <a:lnTo>
                  <a:pt x="29084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4" y="224158"/>
                </a:lnTo>
                <a:lnTo>
                  <a:pt x="27299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64668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664420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64668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615976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089615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99251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89615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51168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192885" y="2542089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69">
                <a:moveTo>
                  <a:pt x="491831" y="0"/>
                </a:moveTo>
                <a:lnTo>
                  <a:pt x="487318" y="0"/>
                </a:lnTo>
                <a:lnTo>
                  <a:pt x="487318" y="13195"/>
                </a:lnTo>
                <a:lnTo>
                  <a:pt x="489921" y="13195"/>
                </a:lnTo>
                <a:lnTo>
                  <a:pt x="501826" y="14014"/>
                </a:lnTo>
                <a:lnTo>
                  <a:pt x="535566" y="33928"/>
                </a:lnTo>
                <a:lnTo>
                  <a:pt x="543575" y="69626"/>
                </a:lnTo>
                <a:lnTo>
                  <a:pt x="543358" y="76061"/>
                </a:lnTo>
                <a:lnTo>
                  <a:pt x="542706" y="83212"/>
                </a:lnTo>
                <a:lnTo>
                  <a:pt x="541621" y="91080"/>
                </a:lnTo>
                <a:lnTo>
                  <a:pt x="540101" y="99664"/>
                </a:lnTo>
                <a:lnTo>
                  <a:pt x="538582" y="107966"/>
                </a:lnTo>
                <a:lnTo>
                  <a:pt x="537497" y="114987"/>
                </a:lnTo>
                <a:lnTo>
                  <a:pt x="536846" y="120728"/>
                </a:lnTo>
                <a:lnTo>
                  <a:pt x="536629" y="125188"/>
                </a:lnTo>
                <a:lnTo>
                  <a:pt x="537172" y="132237"/>
                </a:lnTo>
                <a:lnTo>
                  <a:pt x="565972" y="163388"/>
                </a:lnTo>
                <a:lnTo>
                  <a:pt x="565972" y="166513"/>
                </a:lnTo>
                <a:lnTo>
                  <a:pt x="537172" y="197664"/>
                </a:lnTo>
                <a:lnTo>
                  <a:pt x="536629" y="204712"/>
                </a:lnTo>
                <a:lnTo>
                  <a:pt x="536846" y="209172"/>
                </a:lnTo>
                <a:lnTo>
                  <a:pt x="537497" y="214913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0"/>
                </a:lnTo>
                <a:lnTo>
                  <a:pt x="542706" y="246688"/>
                </a:lnTo>
                <a:lnTo>
                  <a:pt x="543358" y="253839"/>
                </a:lnTo>
                <a:lnTo>
                  <a:pt x="543575" y="260275"/>
                </a:lnTo>
                <a:lnTo>
                  <a:pt x="542685" y="274843"/>
                </a:lnTo>
                <a:lnTo>
                  <a:pt x="521534" y="310547"/>
                </a:lnTo>
                <a:lnTo>
                  <a:pt x="489921" y="317921"/>
                </a:lnTo>
                <a:lnTo>
                  <a:pt x="487318" y="317921"/>
                </a:lnTo>
                <a:lnTo>
                  <a:pt x="487318" y="331116"/>
                </a:lnTo>
                <a:lnTo>
                  <a:pt x="491831" y="331116"/>
                </a:lnTo>
                <a:lnTo>
                  <a:pt x="510947" y="329690"/>
                </a:lnTo>
                <a:lnTo>
                  <a:pt x="552864" y="312451"/>
                </a:lnTo>
                <a:lnTo>
                  <a:pt x="571828" y="274604"/>
                </a:lnTo>
                <a:lnTo>
                  <a:pt x="573092" y="257149"/>
                </a:lnTo>
                <a:lnTo>
                  <a:pt x="572837" y="249694"/>
                </a:lnTo>
                <a:lnTo>
                  <a:pt x="572072" y="241739"/>
                </a:lnTo>
                <a:lnTo>
                  <a:pt x="570797" y="233286"/>
                </a:lnTo>
                <a:lnTo>
                  <a:pt x="569012" y="224332"/>
                </a:lnTo>
                <a:lnTo>
                  <a:pt x="566291" y="212063"/>
                </a:lnTo>
                <a:lnTo>
                  <a:pt x="564931" y="203843"/>
                </a:lnTo>
                <a:lnTo>
                  <a:pt x="564931" y="191689"/>
                </a:lnTo>
                <a:lnTo>
                  <a:pt x="567681" y="185178"/>
                </a:lnTo>
                <a:lnTo>
                  <a:pt x="598095" y="172069"/>
                </a:lnTo>
                <a:lnTo>
                  <a:pt x="598095" y="157831"/>
                </a:lnTo>
                <a:lnTo>
                  <a:pt x="564931" y="138211"/>
                </a:lnTo>
                <a:lnTo>
                  <a:pt x="564931" y="126056"/>
                </a:lnTo>
                <a:lnTo>
                  <a:pt x="566291" y="117838"/>
                </a:lnTo>
                <a:lnTo>
                  <a:pt x="569012" y="105568"/>
                </a:lnTo>
                <a:lnTo>
                  <a:pt x="570797" y="96615"/>
                </a:lnTo>
                <a:lnTo>
                  <a:pt x="572072" y="88161"/>
                </a:lnTo>
                <a:lnTo>
                  <a:pt x="572837" y="80207"/>
                </a:lnTo>
                <a:lnTo>
                  <a:pt x="573092" y="72751"/>
                </a:lnTo>
                <a:lnTo>
                  <a:pt x="571828" y="55827"/>
                </a:lnTo>
                <a:lnTo>
                  <a:pt x="552864" y="18665"/>
                </a:lnTo>
                <a:lnTo>
                  <a:pt x="510947" y="1426"/>
                </a:lnTo>
                <a:lnTo>
                  <a:pt x="491831" y="0"/>
                </a:lnTo>
                <a:close/>
              </a:path>
              <a:path w="598170" h="331469">
                <a:moveTo>
                  <a:pt x="110777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6" y="55730"/>
                </a:lnTo>
                <a:lnTo>
                  <a:pt x="25115" y="75887"/>
                </a:lnTo>
                <a:lnTo>
                  <a:pt x="25257" y="80033"/>
                </a:lnTo>
                <a:lnTo>
                  <a:pt x="26022" y="87987"/>
                </a:lnTo>
                <a:lnTo>
                  <a:pt x="27297" y="96441"/>
                </a:lnTo>
                <a:lnTo>
                  <a:pt x="29082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3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2" y="224158"/>
                </a:lnTo>
                <a:lnTo>
                  <a:pt x="27297" y="233112"/>
                </a:lnTo>
                <a:lnTo>
                  <a:pt x="26022" y="241565"/>
                </a:lnTo>
                <a:lnTo>
                  <a:pt x="25257" y="249520"/>
                </a:lnTo>
                <a:lnTo>
                  <a:pt x="25002" y="256975"/>
                </a:lnTo>
                <a:lnTo>
                  <a:pt x="26266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7" y="331116"/>
                </a:lnTo>
                <a:lnTo>
                  <a:pt x="110777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19" y="260101"/>
                </a:lnTo>
                <a:lnTo>
                  <a:pt x="54736" y="253665"/>
                </a:lnTo>
                <a:lnTo>
                  <a:pt x="55388" y="246514"/>
                </a:lnTo>
                <a:lnTo>
                  <a:pt x="56473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7" y="214740"/>
                </a:lnTo>
                <a:lnTo>
                  <a:pt x="61248" y="208999"/>
                </a:lnTo>
                <a:lnTo>
                  <a:pt x="61465" y="204538"/>
                </a:lnTo>
                <a:lnTo>
                  <a:pt x="60922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2" y="132063"/>
                </a:lnTo>
                <a:lnTo>
                  <a:pt x="61465" y="125014"/>
                </a:lnTo>
                <a:lnTo>
                  <a:pt x="61248" y="120554"/>
                </a:lnTo>
                <a:lnTo>
                  <a:pt x="60597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3" y="90906"/>
                </a:lnTo>
                <a:lnTo>
                  <a:pt x="55388" y="83038"/>
                </a:lnTo>
                <a:lnTo>
                  <a:pt x="54736" y="75887"/>
                </a:lnTo>
                <a:lnTo>
                  <a:pt x="54519" y="69452"/>
                </a:lnTo>
                <a:lnTo>
                  <a:pt x="55409" y="55491"/>
                </a:lnTo>
                <a:lnTo>
                  <a:pt x="76560" y="20569"/>
                </a:lnTo>
                <a:lnTo>
                  <a:pt x="108173" y="13195"/>
                </a:lnTo>
                <a:lnTo>
                  <a:pt x="110777" y="13195"/>
                </a:lnTo>
                <a:lnTo>
                  <a:pt x="110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660443" y="4081802"/>
            <a:ext cx="85725" cy="2028189"/>
          </a:xfrm>
          <a:custGeom>
            <a:avLst/>
            <a:gdLst/>
            <a:ahLst/>
            <a:cxnLst/>
            <a:rect l="l" t="t" r="r" b="b"/>
            <a:pathLst>
              <a:path w="85725" h="2028189">
                <a:moveTo>
                  <a:pt x="50753" y="57150"/>
                </a:moveTo>
                <a:lnTo>
                  <a:pt x="34971" y="57150"/>
                </a:lnTo>
                <a:lnTo>
                  <a:pt x="28575" y="63545"/>
                </a:lnTo>
                <a:lnTo>
                  <a:pt x="28576" y="2021625"/>
                </a:lnTo>
                <a:lnTo>
                  <a:pt x="34971" y="2028022"/>
                </a:lnTo>
                <a:lnTo>
                  <a:pt x="50754" y="2028022"/>
                </a:lnTo>
                <a:lnTo>
                  <a:pt x="57151" y="2021625"/>
                </a:lnTo>
                <a:lnTo>
                  <a:pt x="57150" y="63545"/>
                </a:lnTo>
                <a:lnTo>
                  <a:pt x="50753" y="57150"/>
                </a:lnTo>
                <a:close/>
              </a:path>
              <a:path w="85725" h="2028189">
                <a:moveTo>
                  <a:pt x="42862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63545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2028189">
                <a:moveTo>
                  <a:pt x="71437" y="57150"/>
                </a:moveTo>
                <a:lnTo>
                  <a:pt x="50753" y="57150"/>
                </a:lnTo>
                <a:lnTo>
                  <a:pt x="57150" y="63545"/>
                </a:lnTo>
                <a:lnTo>
                  <a:pt x="57150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669963" y="6052623"/>
            <a:ext cx="2225040" cy="85725"/>
          </a:xfrm>
          <a:custGeom>
            <a:avLst/>
            <a:gdLst/>
            <a:ahLst/>
            <a:cxnLst/>
            <a:rect l="l" t="t" r="r" b="b"/>
            <a:pathLst>
              <a:path w="2225040" h="85725">
                <a:moveTo>
                  <a:pt x="2139084" y="57149"/>
                </a:moveTo>
                <a:lnTo>
                  <a:pt x="2139067" y="85725"/>
                </a:lnTo>
                <a:lnTo>
                  <a:pt x="2196277" y="57163"/>
                </a:lnTo>
                <a:lnTo>
                  <a:pt x="2139084" y="57149"/>
                </a:lnTo>
                <a:close/>
              </a:path>
              <a:path w="2225040" h="85725">
                <a:moveTo>
                  <a:pt x="2139102" y="28574"/>
                </a:moveTo>
                <a:lnTo>
                  <a:pt x="2139084" y="57149"/>
                </a:lnTo>
                <a:lnTo>
                  <a:pt x="2161258" y="57163"/>
                </a:lnTo>
                <a:lnTo>
                  <a:pt x="2167657" y="50770"/>
                </a:lnTo>
                <a:lnTo>
                  <a:pt x="2167667" y="34989"/>
                </a:lnTo>
                <a:lnTo>
                  <a:pt x="2161274" y="28588"/>
                </a:lnTo>
                <a:lnTo>
                  <a:pt x="2139102" y="28574"/>
                </a:lnTo>
                <a:close/>
              </a:path>
              <a:path w="2225040" h="85725">
                <a:moveTo>
                  <a:pt x="2139119" y="0"/>
                </a:moveTo>
                <a:lnTo>
                  <a:pt x="2139102" y="28574"/>
                </a:lnTo>
                <a:lnTo>
                  <a:pt x="2161274" y="28588"/>
                </a:lnTo>
                <a:lnTo>
                  <a:pt x="2167667" y="34989"/>
                </a:lnTo>
                <a:lnTo>
                  <a:pt x="2167657" y="50770"/>
                </a:lnTo>
                <a:lnTo>
                  <a:pt x="2161258" y="57163"/>
                </a:lnTo>
                <a:lnTo>
                  <a:pt x="2196277" y="57163"/>
                </a:lnTo>
                <a:lnTo>
                  <a:pt x="2224819" y="42914"/>
                </a:lnTo>
                <a:lnTo>
                  <a:pt x="2139119" y="0"/>
                </a:lnTo>
                <a:close/>
              </a:path>
              <a:path w="2225040" h="85725">
                <a:moveTo>
                  <a:pt x="6410" y="27284"/>
                </a:moveTo>
                <a:lnTo>
                  <a:pt x="10" y="33676"/>
                </a:lnTo>
                <a:lnTo>
                  <a:pt x="0" y="49458"/>
                </a:lnTo>
                <a:lnTo>
                  <a:pt x="6393" y="55859"/>
                </a:lnTo>
                <a:lnTo>
                  <a:pt x="2139084" y="57149"/>
                </a:lnTo>
                <a:lnTo>
                  <a:pt x="2139102" y="28574"/>
                </a:lnTo>
                <a:lnTo>
                  <a:pt x="6410" y="27284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736421" y="476010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736421" y="476010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D9253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055856" y="52108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55856" y="52108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293854" y="53125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293854" y="53125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D9253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263529" y="4995164"/>
            <a:ext cx="228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30">
                <a:latin typeface="Cambria Math"/>
                <a:cs typeface="Cambria Math"/>
              </a:rPr>
              <a:t>𝐯</a:t>
            </a:r>
            <a:r>
              <a:rPr dirty="0" baseline="-14957" sz="1950" spc="-330">
                <a:latin typeface="Cambria Math"/>
                <a:cs typeface="Cambria Math"/>
              </a:rPr>
              <a:t>+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570960" y="4449571"/>
            <a:ext cx="2336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0">
                <a:latin typeface="Cambria Math"/>
                <a:cs typeface="Cambria Math"/>
              </a:rPr>
              <a:t>𝐯</a:t>
            </a:r>
            <a:r>
              <a:rPr dirty="0" baseline="-14957" sz="1950" spc="719">
                <a:latin typeface="Cambria Math"/>
                <a:cs typeface="Cambria Math"/>
              </a:rPr>
              <a:t>,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85291" y="5159755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𝐯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97941" y="5268976"/>
            <a:ext cx="1212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315">
                <a:latin typeface="Cambria Math"/>
                <a:cs typeface="Cambria Math"/>
              </a:rPr>
              <a:t>-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151960" y="4401337"/>
            <a:ext cx="797560" cy="1306195"/>
          </a:xfrm>
          <a:custGeom>
            <a:avLst/>
            <a:gdLst/>
            <a:ahLst/>
            <a:cxnLst/>
            <a:rect l="l" t="t" r="r" b="b"/>
            <a:pathLst>
              <a:path w="797560" h="1306195">
                <a:moveTo>
                  <a:pt x="0" y="0"/>
                </a:moveTo>
                <a:lnTo>
                  <a:pt x="797453" y="0"/>
                </a:lnTo>
                <a:lnTo>
                  <a:pt x="797453" y="1305634"/>
                </a:lnTo>
                <a:lnTo>
                  <a:pt x="0" y="130563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10"/>
              <a:t>Given </a:t>
            </a:r>
            <a:r>
              <a:rPr dirty="0"/>
              <a:t>3 </a:t>
            </a:r>
            <a:r>
              <a:rPr dirty="0" spc="-5"/>
              <a:t>queries </a:t>
            </a:r>
            <a:r>
              <a:rPr dirty="0" spc="110">
                <a:latin typeface="Cambria Math"/>
                <a:cs typeface="Cambria Math"/>
              </a:rPr>
              <a:t>𝑞</a:t>
            </a:r>
            <a:r>
              <a:rPr dirty="0" baseline="-16666" sz="3000" spc="165">
                <a:latin typeface="Cambria Math"/>
                <a:cs typeface="Cambria Math"/>
              </a:rPr>
              <a:t>"</a:t>
            </a:r>
            <a:r>
              <a:rPr dirty="0" sz="2800" spc="110">
                <a:latin typeface="Cambria Math"/>
                <a:cs typeface="Cambria Math"/>
              </a:rPr>
              <a:t>, </a:t>
            </a:r>
            <a:r>
              <a:rPr dirty="0" sz="2800" spc="-15">
                <a:latin typeface="Cambria Math"/>
                <a:cs typeface="Cambria Math"/>
              </a:rPr>
              <a:t>𝑞</a:t>
            </a:r>
            <a:r>
              <a:rPr dirty="0" baseline="-16666" sz="3000" spc="-22">
                <a:latin typeface="Cambria Math"/>
                <a:cs typeface="Cambria Math"/>
              </a:rPr>
              <a:t>#</a:t>
            </a:r>
            <a:r>
              <a:rPr dirty="0" sz="2800" spc="-15">
                <a:latin typeface="Cambria Math"/>
                <a:cs typeface="Cambria Math"/>
              </a:rPr>
              <a:t>, </a:t>
            </a: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6666" sz="3000" spc="187">
                <a:latin typeface="Cambria Math"/>
                <a:cs typeface="Cambria Math"/>
              </a:rPr>
              <a:t>)</a:t>
            </a:r>
            <a:r>
              <a:rPr dirty="0" sz="2800" spc="125"/>
              <a:t>,</a:t>
            </a:r>
            <a:r>
              <a:rPr dirty="0" sz="2800" spc="-380"/>
              <a:t> </a:t>
            </a:r>
            <a:r>
              <a:rPr dirty="0" sz="2800" spc="-5"/>
              <a:t>with </a:t>
            </a:r>
            <a:r>
              <a:rPr dirty="0" sz="2800" spc="-10"/>
              <a:t>answer sets:</a:t>
            </a:r>
            <a:endParaRPr sz="2800">
              <a:latin typeface="Cambria Math"/>
              <a:cs typeface="Cambria Math"/>
            </a:endParaRPr>
          </a:p>
          <a:p>
            <a:pPr marL="443230" indent="-43053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443230" algn="l"/>
                <a:tab pos="443865" algn="l"/>
                <a:tab pos="1040765" algn="l"/>
                <a:tab pos="1542415" algn="l"/>
                <a:tab pos="2338070" algn="l"/>
                <a:tab pos="2943860" algn="l"/>
                <a:tab pos="3445510" algn="l"/>
                <a:tab pos="4249420" algn="l"/>
                <a:tab pos="4855845" algn="l"/>
                <a:tab pos="5356860" algn="l"/>
              </a:tabLst>
            </a:pPr>
            <a:r>
              <a:rPr dirty="0" spc="125">
                <a:latin typeface="Cambria Math"/>
                <a:cs typeface="Cambria Math"/>
              </a:rPr>
              <a:t>𝑞</a:t>
            </a:r>
            <a:r>
              <a:rPr dirty="0" baseline="-15277" sz="3000" spc="187">
                <a:latin typeface="Cambria Math"/>
                <a:cs typeface="Cambria Math"/>
              </a:rPr>
              <a:t>"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30">
                <a:latin typeface="Cambria Math"/>
                <a:cs typeface="Cambria Math"/>
              </a:rPr>
              <a:t>𝑣</a:t>
            </a:r>
            <a:r>
              <a:rPr dirty="0" baseline="-15277" sz="3000" spc="195">
                <a:latin typeface="Cambria Math"/>
                <a:cs typeface="Cambria Math"/>
              </a:rPr>
              <a:t>"</a:t>
            </a:r>
            <a:r>
              <a:rPr dirty="0" baseline="-15277" sz="3000" spc="64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-70">
                <a:latin typeface="Cambria Math"/>
                <a:cs typeface="Cambria Math"/>
              </a:rPr>
              <a:t>𝑞</a:t>
            </a:r>
            <a:r>
              <a:rPr dirty="0" baseline="-15277" sz="3000" spc="-104">
                <a:latin typeface="Cambria Math"/>
                <a:cs typeface="Cambria Math"/>
              </a:rPr>
              <a:t>#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-60">
                <a:latin typeface="Cambria Math"/>
                <a:cs typeface="Cambria Math"/>
              </a:rPr>
              <a:t>𝑣</a:t>
            </a:r>
            <a:r>
              <a:rPr dirty="0" baseline="-15277" sz="3000" spc="-89">
                <a:latin typeface="Cambria Math"/>
                <a:cs typeface="Cambria Math"/>
              </a:rPr>
              <a:t># </a:t>
            </a:r>
            <a:r>
              <a:rPr dirty="0" baseline="-15277" sz="3000" spc="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130">
                <a:latin typeface="Cambria Math"/>
                <a:cs typeface="Cambria Math"/>
              </a:rPr>
              <a:t>𝑞</a:t>
            </a:r>
            <a:r>
              <a:rPr dirty="0" baseline="-15277" sz="3000" spc="195">
                <a:latin typeface="Cambria Math"/>
                <a:cs typeface="Cambria Math"/>
              </a:rPr>
              <a:t>)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40">
                <a:latin typeface="Cambria Math"/>
                <a:cs typeface="Cambria Math"/>
              </a:rPr>
              <a:t>𝑣</a:t>
            </a:r>
            <a:r>
              <a:rPr dirty="0" baseline="-15277" sz="3000" spc="209">
                <a:latin typeface="Cambria Math"/>
                <a:cs typeface="Cambria Math"/>
              </a:rPr>
              <a:t>)</a:t>
            </a:r>
            <a:endParaRPr baseline="-15277" sz="3000">
              <a:latin typeface="Cambria Math"/>
              <a:cs typeface="Cambria Math"/>
            </a:endParaRPr>
          </a:p>
          <a:p>
            <a:pPr marL="287020" marR="5080" indent="-274320">
              <a:lnSpc>
                <a:spcPct val="101400"/>
              </a:lnSpc>
              <a:spcBef>
                <a:spcPts val="5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5">
                <a:solidFill>
                  <a:srgbClr val="C00000"/>
                </a:solidFill>
              </a:rPr>
              <a:t>If </a:t>
            </a:r>
            <a:r>
              <a:rPr dirty="0" spc="-15">
                <a:solidFill>
                  <a:srgbClr val="C00000"/>
                </a:solidFill>
              </a:rPr>
              <a:t>we </a:t>
            </a:r>
            <a:r>
              <a:rPr dirty="0" spc="-10">
                <a:solidFill>
                  <a:srgbClr val="C00000"/>
                </a:solidFill>
              </a:rPr>
              <a:t>allow </a:t>
            </a:r>
            <a:r>
              <a:rPr dirty="0" spc="-5">
                <a:solidFill>
                  <a:srgbClr val="C00000"/>
                </a:solidFill>
              </a:rPr>
              <a:t>union </a:t>
            </a:r>
            <a:r>
              <a:rPr dirty="0" spc="-15">
                <a:solidFill>
                  <a:srgbClr val="C00000"/>
                </a:solidFill>
              </a:rPr>
              <a:t>operation, </a:t>
            </a:r>
            <a:r>
              <a:rPr dirty="0" spc="-10">
                <a:solidFill>
                  <a:srgbClr val="C00000"/>
                </a:solidFill>
              </a:rPr>
              <a:t>can </a:t>
            </a:r>
            <a:r>
              <a:rPr dirty="0" spc="-15">
                <a:solidFill>
                  <a:srgbClr val="C00000"/>
                </a:solidFill>
              </a:rPr>
              <a:t>we </a:t>
            </a:r>
            <a:r>
              <a:rPr dirty="0" spc="-5">
                <a:solidFill>
                  <a:srgbClr val="C00000"/>
                </a:solidFill>
              </a:rPr>
              <a:t>embed them </a:t>
            </a:r>
            <a:r>
              <a:rPr dirty="0" spc="-285">
                <a:solidFill>
                  <a:srgbClr val="C00000"/>
                </a:solidFill>
              </a:rPr>
              <a:t>in  </a:t>
            </a:r>
            <a:r>
              <a:rPr dirty="0" spc="-5">
                <a:solidFill>
                  <a:srgbClr val="C00000"/>
                </a:solidFill>
              </a:rPr>
              <a:t>two-dimensional</a:t>
            </a:r>
            <a:r>
              <a:rPr dirty="0" spc="-80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plane?</a:t>
            </a:r>
          </a:p>
          <a:p>
            <a:pPr marL="1297305">
              <a:lnSpc>
                <a:spcPct val="100000"/>
              </a:lnSpc>
              <a:spcBef>
                <a:spcPts val="2030"/>
              </a:spcBef>
            </a:pPr>
            <a:r>
              <a:rPr dirty="0" sz="1800" spc="-135">
                <a:latin typeface="Cambria Math"/>
                <a:cs typeface="Cambria Math"/>
              </a:rPr>
              <a:t>𝐪</a:t>
            </a:r>
            <a:r>
              <a:rPr dirty="0" baseline="-14957" sz="1950" spc="-202">
                <a:latin typeface="Cambria Math"/>
                <a:cs typeface="Cambria Math"/>
              </a:rPr>
              <a:t>+  </a:t>
            </a:r>
            <a:r>
              <a:rPr dirty="0" sz="1800">
                <a:latin typeface="Cambria Math"/>
                <a:cs typeface="Cambria Math"/>
              </a:rPr>
              <a:t>∨</a:t>
            </a:r>
            <a:r>
              <a:rPr dirty="0" sz="1800" spc="-50">
                <a:latin typeface="Cambria Math"/>
                <a:cs typeface="Cambria Math"/>
              </a:rPr>
              <a:t> </a:t>
            </a:r>
            <a:r>
              <a:rPr dirty="0" sz="1800" spc="235">
                <a:latin typeface="Cambria Math"/>
                <a:cs typeface="Cambria Math"/>
              </a:rPr>
              <a:t>𝐪</a:t>
            </a:r>
            <a:r>
              <a:rPr dirty="0" baseline="-14957" sz="1950" spc="352">
                <a:latin typeface="Cambria Math"/>
                <a:cs typeface="Cambria Math"/>
              </a:rPr>
              <a:t>,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51</a:t>
            </a:fld>
          </a:p>
        </p:txBody>
      </p:sp>
      <p:sp>
        <p:nvSpPr>
          <p:cNvPr id="45" name="object 45"/>
          <p:cNvSpPr txBox="1"/>
          <p:nvPr/>
        </p:nvSpPr>
        <p:spPr>
          <a:xfrm>
            <a:off x="4241265" y="4422140"/>
            <a:ext cx="404304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35">
                <a:solidFill>
                  <a:srgbClr val="479249"/>
                </a:solidFill>
                <a:latin typeface="Calibri"/>
                <a:cs typeface="Calibri"/>
              </a:rPr>
              <a:t>We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want </a:t>
            </a:r>
            <a:r>
              <a:rPr dirty="0" sz="1800" spc="-15" b="1">
                <a:solidFill>
                  <a:srgbClr val="D9253E"/>
                </a:solidFill>
                <a:latin typeface="Calibri"/>
                <a:cs typeface="Calibri"/>
              </a:rPr>
              <a:t>red </a:t>
            </a:r>
            <a:r>
              <a:rPr dirty="0" sz="1800" spc="-5" b="1">
                <a:solidFill>
                  <a:srgbClr val="D9253E"/>
                </a:solidFill>
                <a:latin typeface="Calibri"/>
                <a:cs typeface="Calibri"/>
              </a:rPr>
              <a:t>dots </a:t>
            </a:r>
            <a:r>
              <a:rPr dirty="0" sz="1800" spc="-10" b="1">
                <a:solidFill>
                  <a:srgbClr val="D9253E"/>
                </a:solidFill>
                <a:latin typeface="Calibri"/>
                <a:cs typeface="Calibri"/>
              </a:rPr>
              <a:t>(answers)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be in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the 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box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while the </a:t>
            </a:r>
            <a:r>
              <a:rPr dirty="0" sz="1800" spc="-5" b="1">
                <a:solidFill>
                  <a:srgbClr val="0070C0"/>
                </a:solidFill>
                <a:latin typeface="Calibri"/>
                <a:cs typeface="Calibri"/>
              </a:rPr>
              <a:t>blue dots </a:t>
            </a:r>
            <a:r>
              <a:rPr dirty="0" sz="1800" spc="-15" b="1">
                <a:solidFill>
                  <a:srgbClr val="0070C0"/>
                </a:solidFill>
                <a:latin typeface="Calibri"/>
                <a:cs typeface="Calibri"/>
              </a:rPr>
              <a:t>(negative answers) 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be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outside the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box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439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18903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 i="0">
                <a:latin typeface="Calibri"/>
                <a:cs typeface="Calibri"/>
              </a:rPr>
              <a:t>E</a:t>
            </a:r>
            <a:r>
              <a:rPr dirty="0" sz="3200" spc="-45" b="1" i="0">
                <a:latin typeface="Calibri"/>
                <a:cs typeface="Calibri"/>
              </a:rPr>
              <a:t>x</a:t>
            </a:r>
            <a:r>
              <a:rPr dirty="0" sz="3200" spc="-5" b="1" i="0">
                <a:latin typeface="Calibri"/>
                <a:cs typeface="Calibri"/>
              </a:rPr>
              <a:t>amp</a:t>
            </a:r>
            <a:r>
              <a:rPr dirty="0" sz="3200" b="1" i="0">
                <a:latin typeface="Calibri"/>
                <a:cs typeface="Calibri"/>
              </a:rPr>
              <a:t>l</a:t>
            </a:r>
            <a:r>
              <a:rPr dirty="0" sz="3200" spc="0" b="1" i="0">
                <a:latin typeface="Calibri"/>
                <a:cs typeface="Calibri"/>
              </a:rPr>
              <a:t>e</a:t>
            </a:r>
            <a:r>
              <a:rPr dirty="0" sz="3200" b="1" i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0033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49785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50033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01341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83172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92809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83172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44724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78250" y="2542089"/>
            <a:ext cx="589915" cy="331470"/>
          </a:xfrm>
          <a:custGeom>
            <a:avLst/>
            <a:gdLst/>
            <a:ahLst/>
            <a:cxnLst/>
            <a:rect l="l" t="t" r="r" b="b"/>
            <a:pathLst>
              <a:path w="589914" h="331469">
                <a:moveTo>
                  <a:pt x="483641" y="0"/>
                </a:moveTo>
                <a:lnTo>
                  <a:pt x="479126" y="0"/>
                </a:lnTo>
                <a:lnTo>
                  <a:pt x="479126" y="13195"/>
                </a:lnTo>
                <a:lnTo>
                  <a:pt x="481731" y="13195"/>
                </a:lnTo>
                <a:lnTo>
                  <a:pt x="493635" y="14014"/>
                </a:lnTo>
                <a:lnTo>
                  <a:pt x="527374" y="33928"/>
                </a:lnTo>
                <a:lnTo>
                  <a:pt x="535383" y="69626"/>
                </a:lnTo>
                <a:lnTo>
                  <a:pt x="535166" y="76061"/>
                </a:lnTo>
                <a:lnTo>
                  <a:pt x="534515" y="83212"/>
                </a:lnTo>
                <a:lnTo>
                  <a:pt x="533429" y="91080"/>
                </a:lnTo>
                <a:lnTo>
                  <a:pt x="531910" y="99664"/>
                </a:lnTo>
                <a:lnTo>
                  <a:pt x="530391" y="107966"/>
                </a:lnTo>
                <a:lnTo>
                  <a:pt x="529306" y="114987"/>
                </a:lnTo>
                <a:lnTo>
                  <a:pt x="528655" y="120728"/>
                </a:lnTo>
                <a:lnTo>
                  <a:pt x="528438" y="125188"/>
                </a:lnTo>
                <a:lnTo>
                  <a:pt x="528980" y="132237"/>
                </a:lnTo>
                <a:lnTo>
                  <a:pt x="557782" y="163388"/>
                </a:lnTo>
                <a:lnTo>
                  <a:pt x="557782" y="166513"/>
                </a:lnTo>
                <a:lnTo>
                  <a:pt x="528980" y="197664"/>
                </a:lnTo>
                <a:lnTo>
                  <a:pt x="528438" y="204712"/>
                </a:lnTo>
                <a:lnTo>
                  <a:pt x="528655" y="209172"/>
                </a:lnTo>
                <a:lnTo>
                  <a:pt x="529306" y="214913"/>
                </a:lnTo>
                <a:lnTo>
                  <a:pt x="530391" y="221935"/>
                </a:lnTo>
                <a:lnTo>
                  <a:pt x="531910" y="230237"/>
                </a:lnTo>
                <a:lnTo>
                  <a:pt x="533429" y="238820"/>
                </a:lnTo>
                <a:lnTo>
                  <a:pt x="534515" y="246688"/>
                </a:lnTo>
                <a:lnTo>
                  <a:pt x="535166" y="253839"/>
                </a:lnTo>
                <a:lnTo>
                  <a:pt x="535383" y="260275"/>
                </a:lnTo>
                <a:lnTo>
                  <a:pt x="534493" y="274843"/>
                </a:lnTo>
                <a:lnTo>
                  <a:pt x="513343" y="310547"/>
                </a:lnTo>
                <a:lnTo>
                  <a:pt x="481731" y="317921"/>
                </a:lnTo>
                <a:lnTo>
                  <a:pt x="479126" y="317921"/>
                </a:lnTo>
                <a:lnTo>
                  <a:pt x="479126" y="331116"/>
                </a:lnTo>
                <a:lnTo>
                  <a:pt x="483641" y="331116"/>
                </a:lnTo>
                <a:lnTo>
                  <a:pt x="502757" y="329690"/>
                </a:lnTo>
                <a:lnTo>
                  <a:pt x="544672" y="312451"/>
                </a:lnTo>
                <a:lnTo>
                  <a:pt x="563636" y="274604"/>
                </a:lnTo>
                <a:lnTo>
                  <a:pt x="564901" y="257149"/>
                </a:lnTo>
                <a:lnTo>
                  <a:pt x="564646" y="249694"/>
                </a:lnTo>
                <a:lnTo>
                  <a:pt x="563880" y="241739"/>
                </a:lnTo>
                <a:lnTo>
                  <a:pt x="562605" y="233286"/>
                </a:lnTo>
                <a:lnTo>
                  <a:pt x="560820" y="224332"/>
                </a:lnTo>
                <a:lnTo>
                  <a:pt x="558100" y="212063"/>
                </a:lnTo>
                <a:lnTo>
                  <a:pt x="556740" y="203843"/>
                </a:lnTo>
                <a:lnTo>
                  <a:pt x="556740" y="191689"/>
                </a:lnTo>
                <a:lnTo>
                  <a:pt x="559489" y="185178"/>
                </a:lnTo>
                <a:lnTo>
                  <a:pt x="589903" y="172069"/>
                </a:lnTo>
                <a:lnTo>
                  <a:pt x="589903" y="157831"/>
                </a:lnTo>
                <a:lnTo>
                  <a:pt x="556740" y="138211"/>
                </a:lnTo>
                <a:lnTo>
                  <a:pt x="556740" y="126056"/>
                </a:lnTo>
                <a:lnTo>
                  <a:pt x="558100" y="117838"/>
                </a:lnTo>
                <a:lnTo>
                  <a:pt x="560820" y="105568"/>
                </a:lnTo>
                <a:lnTo>
                  <a:pt x="562605" y="96615"/>
                </a:lnTo>
                <a:lnTo>
                  <a:pt x="563880" y="88161"/>
                </a:lnTo>
                <a:lnTo>
                  <a:pt x="564646" y="80207"/>
                </a:lnTo>
                <a:lnTo>
                  <a:pt x="564901" y="72751"/>
                </a:lnTo>
                <a:lnTo>
                  <a:pt x="563636" y="55827"/>
                </a:lnTo>
                <a:lnTo>
                  <a:pt x="544672" y="18665"/>
                </a:lnTo>
                <a:lnTo>
                  <a:pt x="502757" y="1426"/>
                </a:lnTo>
                <a:lnTo>
                  <a:pt x="483641" y="0"/>
                </a:lnTo>
                <a:close/>
              </a:path>
              <a:path w="589914" h="331469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8" y="96441"/>
                </a:lnTo>
                <a:lnTo>
                  <a:pt x="29082" y="105394"/>
                </a:lnTo>
                <a:lnTo>
                  <a:pt x="31803" y="117664"/>
                </a:lnTo>
                <a:lnTo>
                  <a:pt x="33164" y="125883"/>
                </a:lnTo>
                <a:lnTo>
                  <a:pt x="33164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4" y="191516"/>
                </a:lnTo>
                <a:lnTo>
                  <a:pt x="33164" y="203671"/>
                </a:lnTo>
                <a:lnTo>
                  <a:pt x="31803" y="211889"/>
                </a:lnTo>
                <a:lnTo>
                  <a:pt x="29082" y="224158"/>
                </a:lnTo>
                <a:lnTo>
                  <a:pt x="27298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53255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53007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53255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04563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178202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87839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78202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39755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81472" y="2542089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69">
                <a:moveTo>
                  <a:pt x="491831" y="0"/>
                </a:moveTo>
                <a:lnTo>
                  <a:pt x="487318" y="0"/>
                </a:lnTo>
                <a:lnTo>
                  <a:pt x="487318" y="13195"/>
                </a:lnTo>
                <a:lnTo>
                  <a:pt x="489921" y="13195"/>
                </a:lnTo>
                <a:lnTo>
                  <a:pt x="501826" y="14014"/>
                </a:lnTo>
                <a:lnTo>
                  <a:pt x="535566" y="33928"/>
                </a:lnTo>
                <a:lnTo>
                  <a:pt x="543575" y="69626"/>
                </a:lnTo>
                <a:lnTo>
                  <a:pt x="543358" y="76061"/>
                </a:lnTo>
                <a:lnTo>
                  <a:pt x="542706" y="83212"/>
                </a:lnTo>
                <a:lnTo>
                  <a:pt x="541621" y="91080"/>
                </a:lnTo>
                <a:lnTo>
                  <a:pt x="540101" y="99664"/>
                </a:lnTo>
                <a:lnTo>
                  <a:pt x="538582" y="107966"/>
                </a:lnTo>
                <a:lnTo>
                  <a:pt x="537497" y="114987"/>
                </a:lnTo>
                <a:lnTo>
                  <a:pt x="536846" y="120728"/>
                </a:lnTo>
                <a:lnTo>
                  <a:pt x="536629" y="125188"/>
                </a:lnTo>
                <a:lnTo>
                  <a:pt x="537172" y="132237"/>
                </a:lnTo>
                <a:lnTo>
                  <a:pt x="565972" y="163388"/>
                </a:lnTo>
                <a:lnTo>
                  <a:pt x="565972" y="166513"/>
                </a:lnTo>
                <a:lnTo>
                  <a:pt x="537172" y="197664"/>
                </a:lnTo>
                <a:lnTo>
                  <a:pt x="536629" y="204712"/>
                </a:lnTo>
                <a:lnTo>
                  <a:pt x="536846" y="209172"/>
                </a:lnTo>
                <a:lnTo>
                  <a:pt x="537497" y="214913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0"/>
                </a:lnTo>
                <a:lnTo>
                  <a:pt x="542706" y="246688"/>
                </a:lnTo>
                <a:lnTo>
                  <a:pt x="543358" y="253839"/>
                </a:lnTo>
                <a:lnTo>
                  <a:pt x="543575" y="260275"/>
                </a:lnTo>
                <a:lnTo>
                  <a:pt x="542685" y="274843"/>
                </a:lnTo>
                <a:lnTo>
                  <a:pt x="521534" y="310547"/>
                </a:lnTo>
                <a:lnTo>
                  <a:pt x="489921" y="317921"/>
                </a:lnTo>
                <a:lnTo>
                  <a:pt x="487318" y="317921"/>
                </a:lnTo>
                <a:lnTo>
                  <a:pt x="487318" y="331116"/>
                </a:lnTo>
                <a:lnTo>
                  <a:pt x="491831" y="331116"/>
                </a:lnTo>
                <a:lnTo>
                  <a:pt x="510948" y="329690"/>
                </a:lnTo>
                <a:lnTo>
                  <a:pt x="552864" y="312451"/>
                </a:lnTo>
                <a:lnTo>
                  <a:pt x="571828" y="274604"/>
                </a:lnTo>
                <a:lnTo>
                  <a:pt x="573092" y="257149"/>
                </a:lnTo>
                <a:lnTo>
                  <a:pt x="572837" y="249694"/>
                </a:lnTo>
                <a:lnTo>
                  <a:pt x="572072" y="241739"/>
                </a:lnTo>
                <a:lnTo>
                  <a:pt x="570797" y="233286"/>
                </a:lnTo>
                <a:lnTo>
                  <a:pt x="569012" y="224332"/>
                </a:lnTo>
                <a:lnTo>
                  <a:pt x="566291" y="212063"/>
                </a:lnTo>
                <a:lnTo>
                  <a:pt x="564931" y="203843"/>
                </a:lnTo>
                <a:lnTo>
                  <a:pt x="564931" y="191689"/>
                </a:lnTo>
                <a:lnTo>
                  <a:pt x="567681" y="185178"/>
                </a:lnTo>
                <a:lnTo>
                  <a:pt x="598095" y="172069"/>
                </a:lnTo>
                <a:lnTo>
                  <a:pt x="598095" y="157831"/>
                </a:lnTo>
                <a:lnTo>
                  <a:pt x="564931" y="138211"/>
                </a:lnTo>
                <a:lnTo>
                  <a:pt x="564931" y="126056"/>
                </a:lnTo>
                <a:lnTo>
                  <a:pt x="566291" y="117838"/>
                </a:lnTo>
                <a:lnTo>
                  <a:pt x="569012" y="105568"/>
                </a:lnTo>
                <a:lnTo>
                  <a:pt x="570797" y="96615"/>
                </a:lnTo>
                <a:lnTo>
                  <a:pt x="572072" y="88161"/>
                </a:lnTo>
                <a:lnTo>
                  <a:pt x="572837" y="80207"/>
                </a:lnTo>
                <a:lnTo>
                  <a:pt x="573092" y="72751"/>
                </a:lnTo>
                <a:lnTo>
                  <a:pt x="571828" y="55827"/>
                </a:lnTo>
                <a:lnTo>
                  <a:pt x="552864" y="18665"/>
                </a:lnTo>
                <a:lnTo>
                  <a:pt x="510948" y="1426"/>
                </a:lnTo>
                <a:lnTo>
                  <a:pt x="491831" y="0"/>
                </a:lnTo>
                <a:close/>
              </a:path>
              <a:path w="598170" h="331469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9" y="96441"/>
                </a:lnTo>
                <a:lnTo>
                  <a:pt x="29084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4" y="224158"/>
                </a:lnTo>
                <a:lnTo>
                  <a:pt x="27299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64668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664420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64668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615976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089615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99251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89615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51168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192885" y="2542089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69">
                <a:moveTo>
                  <a:pt x="491831" y="0"/>
                </a:moveTo>
                <a:lnTo>
                  <a:pt x="487318" y="0"/>
                </a:lnTo>
                <a:lnTo>
                  <a:pt x="487318" y="13195"/>
                </a:lnTo>
                <a:lnTo>
                  <a:pt x="489921" y="13195"/>
                </a:lnTo>
                <a:lnTo>
                  <a:pt x="501826" y="14014"/>
                </a:lnTo>
                <a:lnTo>
                  <a:pt x="535566" y="33928"/>
                </a:lnTo>
                <a:lnTo>
                  <a:pt x="543575" y="69626"/>
                </a:lnTo>
                <a:lnTo>
                  <a:pt x="543358" y="76061"/>
                </a:lnTo>
                <a:lnTo>
                  <a:pt x="542706" y="83212"/>
                </a:lnTo>
                <a:lnTo>
                  <a:pt x="541621" y="91080"/>
                </a:lnTo>
                <a:lnTo>
                  <a:pt x="540101" y="99664"/>
                </a:lnTo>
                <a:lnTo>
                  <a:pt x="538582" y="107966"/>
                </a:lnTo>
                <a:lnTo>
                  <a:pt x="537497" y="114987"/>
                </a:lnTo>
                <a:lnTo>
                  <a:pt x="536846" y="120728"/>
                </a:lnTo>
                <a:lnTo>
                  <a:pt x="536629" y="125188"/>
                </a:lnTo>
                <a:lnTo>
                  <a:pt x="537172" y="132237"/>
                </a:lnTo>
                <a:lnTo>
                  <a:pt x="565972" y="163388"/>
                </a:lnTo>
                <a:lnTo>
                  <a:pt x="565972" y="166513"/>
                </a:lnTo>
                <a:lnTo>
                  <a:pt x="537172" y="197664"/>
                </a:lnTo>
                <a:lnTo>
                  <a:pt x="536629" y="204712"/>
                </a:lnTo>
                <a:lnTo>
                  <a:pt x="536846" y="209172"/>
                </a:lnTo>
                <a:lnTo>
                  <a:pt x="537497" y="214913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0"/>
                </a:lnTo>
                <a:lnTo>
                  <a:pt x="542706" y="246688"/>
                </a:lnTo>
                <a:lnTo>
                  <a:pt x="543358" y="253839"/>
                </a:lnTo>
                <a:lnTo>
                  <a:pt x="543575" y="260275"/>
                </a:lnTo>
                <a:lnTo>
                  <a:pt x="542685" y="274843"/>
                </a:lnTo>
                <a:lnTo>
                  <a:pt x="521534" y="310547"/>
                </a:lnTo>
                <a:lnTo>
                  <a:pt x="489921" y="317921"/>
                </a:lnTo>
                <a:lnTo>
                  <a:pt x="487318" y="317921"/>
                </a:lnTo>
                <a:lnTo>
                  <a:pt x="487318" y="331116"/>
                </a:lnTo>
                <a:lnTo>
                  <a:pt x="491831" y="331116"/>
                </a:lnTo>
                <a:lnTo>
                  <a:pt x="510947" y="329690"/>
                </a:lnTo>
                <a:lnTo>
                  <a:pt x="552864" y="312451"/>
                </a:lnTo>
                <a:lnTo>
                  <a:pt x="571828" y="274604"/>
                </a:lnTo>
                <a:lnTo>
                  <a:pt x="573092" y="257149"/>
                </a:lnTo>
                <a:lnTo>
                  <a:pt x="572837" y="249694"/>
                </a:lnTo>
                <a:lnTo>
                  <a:pt x="572072" y="241739"/>
                </a:lnTo>
                <a:lnTo>
                  <a:pt x="570797" y="233286"/>
                </a:lnTo>
                <a:lnTo>
                  <a:pt x="569012" y="224332"/>
                </a:lnTo>
                <a:lnTo>
                  <a:pt x="566291" y="212063"/>
                </a:lnTo>
                <a:lnTo>
                  <a:pt x="564931" y="203843"/>
                </a:lnTo>
                <a:lnTo>
                  <a:pt x="564931" y="191689"/>
                </a:lnTo>
                <a:lnTo>
                  <a:pt x="567681" y="185178"/>
                </a:lnTo>
                <a:lnTo>
                  <a:pt x="598095" y="172069"/>
                </a:lnTo>
                <a:lnTo>
                  <a:pt x="598095" y="157831"/>
                </a:lnTo>
                <a:lnTo>
                  <a:pt x="564931" y="138211"/>
                </a:lnTo>
                <a:lnTo>
                  <a:pt x="564931" y="126056"/>
                </a:lnTo>
                <a:lnTo>
                  <a:pt x="566291" y="117838"/>
                </a:lnTo>
                <a:lnTo>
                  <a:pt x="569012" y="105568"/>
                </a:lnTo>
                <a:lnTo>
                  <a:pt x="570797" y="96615"/>
                </a:lnTo>
                <a:lnTo>
                  <a:pt x="572072" y="88161"/>
                </a:lnTo>
                <a:lnTo>
                  <a:pt x="572837" y="80207"/>
                </a:lnTo>
                <a:lnTo>
                  <a:pt x="573092" y="72751"/>
                </a:lnTo>
                <a:lnTo>
                  <a:pt x="571828" y="55827"/>
                </a:lnTo>
                <a:lnTo>
                  <a:pt x="552864" y="18665"/>
                </a:lnTo>
                <a:lnTo>
                  <a:pt x="510947" y="1426"/>
                </a:lnTo>
                <a:lnTo>
                  <a:pt x="491831" y="0"/>
                </a:lnTo>
                <a:close/>
              </a:path>
              <a:path w="598170" h="331469">
                <a:moveTo>
                  <a:pt x="110777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6" y="55730"/>
                </a:lnTo>
                <a:lnTo>
                  <a:pt x="25115" y="75887"/>
                </a:lnTo>
                <a:lnTo>
                  <a:pt x="25257" y="80033"/>
                </a:lnTo>
                <a:lnTo>
                  <a:pt x="26022" y="87987"/>
                </a:lnTo>
                <a:lnTo>
                  <a:pt x="27297" y="96441"/>
                </a:lnTo>
                <a:lnTo>
                  <a:pt x="29082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3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2" y="224158"/>
                </a:lnTo>
                <a:lnTo>
                  <a:pt x="27297" y="233112"/>
                </a:lnTo>
                <a:lnTo>
                  <a:pt x="26022" y="241565"/>
                </a:lnTo>
                <a:lnTo>
                  <a:pt x="25257" y="249520"/>
                </a:lnTo>
                <a:lnTo>
                  <a:pt x="25002" y="256975"/>
                </a:lnTo>
                <a:lnTo>
                  <a:pt x="26266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7" y="331116"/>
                </a:lnTo>
                <a:lnTo>
                  <a:pt x="110777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19" y="260101"/>
                </a:lnTo>
                <a:lnTo>
                  <a:pt x="54736" y="253665"/>
                </a:lnTo>
                <a:lnTo>
                  <a:pt x="55388" y="246514"/>
                </a:lnTo>
                <a:lnTo>
                  <a:pt x="56473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7" y="214740"/>
                </a:lnTo>
                <a:lnTo>
                  <a:pt x="61248" y="208999"/>
                </a:lnTo>
                <a:lnTo>
                  <a:pt x="61465" y="204538"/>
                </a:lnTo>
                <a:lnTo>
                  <a:pt x="60922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2" y="132063"/>
                </a:lnTo>
                <a:lnTo>
                  <a:pt x="61465" y="125014"/>
                </a:lnTo>
                <a:lnTo>
                  <a:pt x="61248" y="120554"/>
                </a:lnTo>
                <a:lnTo>
                  <a:pt x="60597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3" y="90906"/>
                </a:lnTo>
                <a:lnTo>
                  <a:pt x="55388" y="83038"/>
                </a:lnTo>
                <a:lnTo>
                  <a:pt x="54736" y="75887"/>
                </a:lnTo>
                <a:lnTo>
                  <a:pt x="54519" y="69452"/>
                </a:lnTo>
                <a:lnTo>
                  <a:pt x="55409" y="55491"/>
                </a:lnTo>
                <a:lnTo>
                  <a:pt x="76560" y="20569"/>
                </a:lnTo>
                <a:lnTo>
                  <a:pt x="108173" y="13195"/>
                </a:lnTo>
                <a:lnTo>
                  <a:pt x="110777" y="13195"/>
                </a:lnTo>
                <a:lnTo>
                  <a:pt x="110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10"/>
              <a:t>Given </a:t>
            </a:r>
            <a:r>
              <a:rPr dirty="0"/>
              <a:t>3 </a:t>
            </a:r>
            <a:r>
              <a:rPr dirty="0" spc="-5"/>
              <a:t>queries </a:t>
            </a:r>
            <a:r>
              <a:rPr dirty="0" spc="110">
                <a:latin typeface="Cambria Math"/>
                <a:cs typeface="Cambria Math"/>
              </a:rPr>
              <a:t>𝑞</a:t>
            </a:r>
            <a:r>
              <a:rPr dirty="0" baseline="-16666" sz="3000" spc="165">
                <a:latin typeface="Cambria Math"/>
                <a:cs typeface="Cambria Math"/>
              </a:rPr>
              <a:t>"</a:t>
            </a:r>
            <a:r>
              <a:rPr dirty="0" sz="2800" spc="110">
                <a:latin typeface="Cambria Math"/>
                <a:cs typeface="Cambria Math"/>
              </a:rPr>
              <a:t>, </a:t>
            </a:r>
            <a:r>
              <a:rPr dirty="0" sz="2800" spc="-15">
                <a:latin typeface="Cambria Math"/>
                <a:cs typeface="Cambria Math"/>
              </a:rPr>
              <a:t>𝑞</a:t>
            </a:r>
            <a:r>
              <a:rPr dirty="0" baseline="-16666" sz="3000" spc="-22">
                <a:latin typeface="Cambria Math"/>
                <a:cs typeface="Cambria Math"/>
              </a:rPr>
              <a:t>#</a:t>
            </a:r>
            <a:r>
              <a:rPr dirty="0" sz="2800" spc="-15">
                <a:latin typeface="Cambria Math"/>
                <a:cs typeface="Cambria Math"/>
              </a:rPr>
              <a:t>, </a:t>
            </a: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6666" sz="3000" spc="187">
                <a:latin typeface="Cambria Math"/>
                <a:cs typeface="Cambria Math"/>
              </a:rPr>
              <a:t>)</a:t>
            </a:r>
            <a:r>
              <a:rPr dirty="0" sz="2800" spc="125"/>
              <a:t>,</a:t>
            </a:r>
            <a:r>
              <a:rPr dirty="0" sz="2800" spc="-380"/>
              <a:t> </a:t>
            </a:r>
            <a:r>
              <a:rPr dirty="0" sz="2800" spc="-5"/>
              <a:t>with </a:t>
            </a:r>
            <a:r>
              <a:rPr dirty="0" sz="2800" spc="-10"/>
              <a:t>answer sets:</a:t>
            </a:r>
            <a:endParaRPr sz="2800">
              <a:latin typeface="Cambria Math"/>
              <a:cs typeface="Cambria Math"/>
            </a:endParaRPr>
          </a:p>
          <a:p>
            <a:pPr marL="443230" indent="-43053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443230" algn="l"/>
                <a:tab pos="443865" algn="l"/>
                <a:tab pos="1040765" algn="l"/>
                <a:tab pos="1542415" algn="l"/>
                <a:tab pos="2338070" algn="l"/>
                <a:tab pos="2943860" algn="l"/>
                <a:tab pos="3445510" algn="l"/>
                <a:tab pos="4249420" algn="l"/>
                <a:tab pos="4855845" algn="l"/>
                <a:tab pos="5356860" algn="l"/>
              </a:tabLst>
            </a:pPr>
            <a:r>
              <a:rPr dirty="0" spc="125">
                <a:latin typeface="Cambria Math"/>
                <a:cs typeface="Cambria Math"/>
              </a:rPr>
              <a:t>𝑞</a:t>
            </a:r>
            <a:r>
              <a:rPr dirty="0" baseline="-15277" sz="3000" spc="187">
                <a:latin typeface="Cambria Math"/>
                <a:cs typeface="Cambria Math"/>
              </a:rPr>
              <a:t>"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30">
                <a:latin typeface="Cambria Math"/>
                <a:cs typeface="Cambria Math"/>
              </a:rPr>
              <a:t>𝑣</a:t>
            </a:r>
            <a:r>
              <a:rPr dirty="0" baseline="-15277" sz="3000" spc="195">
                <a:latin typeface="Cambria Math"/>
                <a:cs typeface="Cambria Math"/>
              </a:rPr>
              <a:t>"</a:t>
            </a:r>
            <a:r>
              <a:rPr dirty="0" baseline="-15277" sz="3000" spc="64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-70">
                <a:latin typeface="Cambria Math"/>
                <a:cs typeface="Cambria Math"/>
              </a:rPr>
              <a:t>𝑞</a:t>
            </a:r>
            <a:r>
              <a:rPr dirty="0" baseline="-15277" sz="3000" spc="-104">
                <a:latin typeface="Cambria Math"/>
                <a:cs typeface="Cambria Math"/>
              </a:rPr>
              <a:t>#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-60">
                <a:latin typeface="Cambria Math"/>
                <a:cs typeface="Cambria Math"/>
              </a:rPr>
              <a:t>𝑣</a:t>
            </a:r>
            <a:r>
              <a:rPr dirty="0" baseline="-15277" sz="3000" spc="-89">
                <a:latin typeface="Cambria Math"/>
                <a:cs typeface="Cambria Math"/>
              </a:rPr>
              <a:t># </a:t>
            </a:r>
            <a:r>
              <a:rPr dirty="0" baseline="-15277" sz="3000" spc="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130">
                <a:latin typeface="Cambria Math"/>
                <a:cs typeface="Cambria Math"/>
              </a:rPr>
              <a:t>𝑞</a:t>
            </a:r>
            <a:r>
              <a:rPr dirty="0" baseline="-15277" sz="3000" spc="195">
                <a:latin typeface="Cambria Math"/>
                <a:cs typeface="Cambria Math"/>
              </a:rPr>
              <a:t>)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40">
                <a:latin typeface="Cambria Math"/>
                <a:cs typeface="Cambria Math"/>
              </a:rPr>
              <a:t>𝑣</a:t>
            </a:r>
            <a:r>
              <a:rPr dirty="0" baseline="-15277" sz="3000" spc="209">
                <a:latin typeface="Cambria Math"/>
                <a:cs typeface="Cambria Math"/>
              </a:rPr>
              <a:t>)</a:t>
            </a:r>
            <a:endParaRPr baseline="-15277" sz="3000">
              <a:latin typeface="Cambria Math"/>
              <a:cs typeface="Cambria Math"/>
            </a:endParaRPr>
          </a:p>
          <a:p>
            <a:pPr marL="287020" marR="5080" indent="-274320">
              <a:lnSpc>
                <a:spcPct val="101400"/>
              </a:lnSpc>
              <a:spcBef>
                <a:spcPts val="5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5">
                <a:solidFill>
                  <a:srgbClr val="C00000"/>
                </a:solidFill>
              </a:rPr>
              <a:t>If </a:t>
            </a:r>
            <a:r>
              <a:rPr dirty="0" spc="-15">
                <a:solidFill>
                  <a:srgbClr val="C00000"/>
                </a:solidFill>
              </a:rPr>
              <a:t>we </a:t>
            </a:r>
            <a:r>
              <a:rPr dirty="0" spc="-10">
                <a:solidFill>
                  <a:srgbClr val="C00000"/>
                </a:solidFill>
              </a:rPr>
              <a:t>allow </a:t>
            </a:r>
            <a:r>
              <a:rPr dirty="0" spc="-5">
                <a:solidFill>
                  <a:srgbClr val="C00000"/>
                </a:solidFill>
              </a:rPr>
              <a:t>union </a:t>
            </a:r>
            <a:r>
              <a:rPr dirty="0" spc="-15">
                <a:solidFill>
                  <a:srgbClr val="C00000"/>
                </a:solidFill>
              </a:rPr>
              <a:t>operation, </a:t>
            </a:r>
            <a:r>
              <a:rPr dirty="0" spc="-10">
                <a:solidFill>
                  <a:srgbClr val="C00000"/>
                </a:solidFill>
              </a:rPr>
              <a:t>can </a:t>
            </a:r>
            <a:r>
              <a:rPr dirty="0" spc="-15">
                <a:solidFill>
                  <a:srgbClr val="C00000"/>
                </a:solidFill>
              </a:rPr>
              <a:t>we </a:t>
            </a:r>
            <a:r>
              <a:rPr dirty="0" spc="-5">
                <a:solidFill>
                  <a:srgbClr val="C00000"/>
                </a:solidFill>
              </a:rPr>
              <a:t>embed them </a:t>
            </a:r>
            <a:r>
              <a:rPr dirty="0" spc="-285">
                <a:solidFill>
                  <a:srgbClr val="C00000"/>
                </a:solidFill>
              </a:rPr>
              <a:t>in  </a:t>
            </a:r>
            <a:r>
              <a:rPr dirty="0" spc="-5">
                <a:solidFill>
                  <a:srgbClr val="C00000"/>
                </a:solidFill>
              </a:rPr>
              <a:t>two-dimensional</a:t>
            </a:r>
            <a:r>
              <a:rPr dirty="0" spc="-80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plane?</a:t>
            </a:r>
          </a:p>
        </p:txBody>
      </p:sp>
      <p:sp>
        <p:nvSpPr>
          <p:cNvPr id="32" name="object 32"/>
          <p:cNvSpPr/>
          <p:nvPr/>
        </p:nvSpPr>
        <p:spPr>
          <a:xfrm>
            <a:off x="1660443" y="4081802"/>
            <a:ext cx="85725" cy="2028189"/>
          </a:xfrm>
          <a:custGeom>
            <a:avLst/>
            <a:gdLst/>
            <a:ahLst/>
            <a:cxnLst/>
            <a:rect l="l" t="t" r="r" b="b"/>
            <a:pathLst>
              <a:path w="85725" h="2028189">
                <a:moveTo>
                  <a:pt x="50753" y="57150"/>
                </a:moveTo>
                <a:lnTo>
                  <a:pt x="34971" y="57150"/>
                </a:lnTo>
                <a:lnTo>
                  <a:pt x="28575" y="63545"/>
                </a:lnTo>
                <a:lnTo>
                  <a:pt x="28576" y="2021625"/>
                </a:lnTo>
                <a:lnTo>
                  <a:pt x="34971" y="2028022"/>
                </a:lnTo>
                <a:lnTo>
                  <a:pt x="50754" y="2028022"/>
                </a:lnTo>
                <a:lnTo>
                  <a:pt x="57151" y="2021625"/>
                </a:lnTo>
                <a:lnTo>
                  <a:pt x="57150" y="63545"/>
                </a:lnTo>
                <a:lnTo>
                  <a:pt x="50753" y="57150"/>
                </a:lnTo>
                <a:close/>
              </a:path>
              <a:path w="85725" h="2028189">
                <a:moveTo>
                  <a:pt x="42862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63545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2028189">
                <a:moveTo>
                  <a:pt x="71437" y="57150"/>
                </a:moveTo>
                <a:lnTo>
                  <a:pt x="50753" y="57150"/>
                </a:lnTo>
                <a:lnTo>
                  <a:pt x="57150" y="63545"/>
                </a:lnTo>
                <a:lnTo>
                  <a:pt x="57150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669963" y="6052623"/>
            <a:ext cx="2225040" cy="85725"/>
          </a:xfrm>
          <a:custGeom>
            <a:avLst/>
            <a:gdLst/>
            <a:ahLst/>
            <a:cxnLst/>
            <a:rect l="l" t="t" r="r" b="b"/>
            <a:pathLst>
              <a:path w="2225040" h="85725">
                <a:moveTo>
                  <a:pt x="2139084" y="57149"/>
                </a:moveTo>
                <a:lnTo>
                  <a:pt x="2139067" y="85725"/>
                </a:lnTo>
                <a:lnTo>
                  <a:pt x="2196277" y="57163"/>
                </a:lnTo>
                <a:lnTo>
                  <a:pt x="2139084" y="57149"/>
                </a:lnTo>
                <a:close/>
              </a:path>
              <a:path w="2225040" h="85725">
                <a:moveTo>
                  <a:pt x="2139102" y="28574"/>
                </a:moveTo>
                <a:lnTo>
                  <a:pt x="2139084" y="57149"/>
                </a:lnTo>
                <a:lnTo>
                  <a:pt x="2161258" y="57163"/>
                </a:lnTo>
                <a:lnTo>
                  <a:pt x="2167657" y="50770"/>
                </a:lnTo>
                <a:lnTo>
                  <a:pt x="2167667" y="34989"/>
                </a:lnTo>
                <a:lnTo>
                  <a:pt x="2161274" y="28588"/>
                </a:lnTo>
                <a:lnTo>
                  <a:pt x="2139102" y="28574"/>
                </a:lnTo>
                <a:close/>
              </a:path>
              <a:path w="2225040" h="85725">
                <a:moveTo>
                  <a:pt x="2139119" y="0"/>
                </a:moveTo>
                <a:lnTo>
                  <a:pt x="2139102" y="28574"/>
                </a:lnTo>
                <a:lnTo>
                  <a:pt x="2161274" y="28588"/>
                </a:lnTo>
                <a:lnTo>
                  <a:pt x="2167667" y="34989"/>
                </a:lnTo>
                <a:lnTo>
                  <a:pt x="2167657" y="50770"/>
                </a:lnTo>
                <a:lnTo>
                  <a:pt x="2161258" y="57163"/>
                </a:lnTo>
                <a:lnTo>
                  <a:pt x="2196277" y="57163"/>
                </a:lnTo>
                <a:lnTo>
                  <a:pt x="2224819" y="42914"/>
                </a:lnTo>
                <a:lnTo>
                  <a:pt x="2139119" y="0"/>
                </a:lnTo>
                <a:close/>
              </a:path>
              <a:path w="2225040" h="85725">
                <a:moveTo>
                  <a:pt x="6410" y="27284"/>
                </a:moveTo>
                <a:lnTo>
                  <a:pt x="10" y="33676"/>
                </a:lnTo>
                <a:lnTo>
                  <a:pt x="0" y="49458"/>
                </a:lnTo>
                <a:lnTo>
                  <a:pt x="6393" y="55859"/>
                </a:lnTo>
                <a:lnTo>
                  <a:pt x="2139084" y="57149"/>
                </a:lnTo>
                <a:lnTo>
                  <a:pt x="2139102" y="28574"/>
                </a:lnTo>
                <a:lnTo>
                  <a:pt x="6410" y="27284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736421" y="476010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736421" y="476010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D9253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55856" y="52108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055856" y="52108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D9253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293854" y="53125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293854" y="53125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2263529" y="4995164"/>
            <a:ext cx="228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30">
                <a:latin typeface="Cambria Math"/>
                <a:cs typeface="Cambria Math"/>
              </a:rPr>
              <a:t>𝐯</a:t>
            </a:r>
            <a:r>
              <a:rPr dirty="0" baseline="-14957" sz="1950" spc="-330">
                <a:latin typeface="Cambria Math"/>
                <a:cs typeface="Cambria Math"/>
              </a:rPr>
              <a:t>+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51</a:t>
            </a:fld>
          </a:p>
        </p:txBody>
      </p:sp>
      <p:sp>
        <p:nvSpPr>
          <p:cNvPr id="41" name="object 41"/>
          <p:cNvSpPr txBox="1"/>
          <p:nvPr/>
        </p:nvSpPr>
        <p:spPr>
          <a:xfrm>
            <a:off x="2633388" y="4423030"/>
            <a:ext cx="914400" cy="12839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93040">
              <a:lnSpc>
                <a:spcPts val="2155"/>
              </a:lnSpc>
            </a:pPr>
            <a:r>
              <a:rPr dirty="0" sz="1800" spc="190">
                <a:latin typeface="Cambria Math"/>
                <a:cs typeface="Cambria Math"/>
              </a:rPr>
              <a:t>𝐯</a:t>
            </a:r>
            <a:r>
              <a:rPr dirty="0" baseline="-14957" sz="1950" spc="284">
                <a:latin typeface="Cambria Math"/>
                <a:cs typeface="Cambria Math"/>
              </a:rPr>
              <a:t>,</a:t>
            </a:r>
            <a:endParaRPr baseline="-14957" sz="19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150">
              <a:latin typeface="Times New Roman"/>
              <a:cs typeface="Times New Roman"/>
            </a:endParaRPr>
          </a:p>
          <a:p>
            <a:pPr algn="r" marR="20955">
              <a:lnSpc>
                <a:spcPct val="100000"/>
              </a:lnSpc>
            </a:pPr>
            <a:r>
              <a:rPr dirty="0" sz="1800" spc="-90">
                <a:latin typeface="Cambria Math"/>
                <a:cs typeface="Cambria Math"/>
              </a:rPr>
              <a:t>𝐯</a:t>
            </a:r>
            <a:r>
              <a:rPr dirty="0" baseline="-14957" sz="1950" spc="472">
                <a:latin typeface="Cambria Math"/>
                <a:cs typeface="Cambria Math"/>
              </a:rPr>
              <a:t>-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575720" y="5562091"/>
            <a:ext cx="7404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35">
                <a:latin typeface="Cambria Math"/>
                <a:cs typeface="Cambria Math"/>
              </a:rPr>
              <a:t>𝐪</a:t>
            </a:r>
            <a:r>
              <a:rPr dirty="0" baseline="-14957" sz="1950" spc="352">
                <a:latin typeface="Cambria Math"/>
                <a:cs typeface="Cambria Math"/>
              </a:rPr>
              <a:t>, </a:t>
            </a:r>
            <a:r>
              <a:rPr dirty="0" sz="1800">
                <a:latin typeface="Cambria Math"/>
                <a:cs typeface="Cambria Math"/>
              </a:rPr>
              <a:t>∨</a:t>
            </a:r>
            <a:r>
              <a:rPr dirty="0" sz="1800" spc="-275">
                <a:latin typeface="Cambria Math"/>
                <a:cs typeface="Cambria Math"/>
              </a:rPr>
              <a:t> </a:t>
            </a:r>
            <a:r>
              <a:rPr dirty="0" sz="1800" spc="150">
                <a:latin typeface="Cambria Math"/>
                <a:cs typeface="Cambria Math"/>
              </a:rPr>
              <a:t>𝐪</a:t>
            </a:r>
            <a:r>
              <a:rPr dirty="0" baseline="-14957" sz="1950" spc="225">
                <a:latin typeface="Cambria Math"/>
                <a:cs typeface="Cambria Math"/>
              </a:rPr>
              <a:t>-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241265" y="4422140"/>
            <a:ext cx="404304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35">
                <a:solidFill>
                  <a:srgbClr val="479249"/>
                </a:solidFill>
                <a:latin typeface="Calibri"/>
                <a:cs typeface="Calibri"/>
              </a:rPr>
              <a:t>We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want </a:t>
            </a:r>
            <a:r>
              <a:rPr dirty="0" sz="1800" spc="-15" b="1">
                <a:solidFill>
                  <a:srgbClr val="D9253E"/>
                </a:solidFill>
                <a:latin typeface="Calibri"/>
                <a:cs typeface="Calibri"/>
              </a:rPr>
              <a:t>red </a:t>
            </a:r>
            <a:r>
              <a:rPr dirty="0" sz="1800" spc="-5" b="1">
                <a:solidFill>
                  <a:srgbClr val="D9253E"/>
                </a:solidFill>
                <a:latin typeface="Calibri"/>
                <a:cs typeface="Calibri"/>
              </a:rPr>
              <a:t>dots </a:t>
            </a:r>
            <a:r>
              <a:rPr dirty="0" sz="1800" spc="-10" b="1">
                <a:solidFill>
                  <a:srgbClr val="D9253E"/>
                </a:solidFill>
                <a:latin typeface="Calibri"/>
                <a:cs typeface="Calibri"/>
              </a:rPr>
              <a:t>(answers)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be in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the 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box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while the </a:t>
            </a:r>
            <a:r>
              <a:rPr dirty="0" sz="1800" spc="-5" b="1">
                <a:solidFill>
                  <a:srgbClr val="0070C0"/>
                </a:solidFill>
                <a:latin typeface="Calibri"/>
                <a:cs typeface="Calibri"/>
              </a:rPr>
              <a:t>blue dots </a:t>
            </a:r>
            <a:r>
              <a:rPr dirty="0" sz="1800" spc="-15" b="1">
                <a:solidFill>
                  <a:srgbClr val="0070C0"/>
                </a:solidFill>
                <a:latin typeface="Calibri"/>
                <a:cs typeface="Calibri"/>
              </a:rPr>
              <a:t>(negative answers) 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be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outside the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box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439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18903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 i="0">
                <a:latin typeface="Calibri"/>
                <a:cs typeface="Calibri"/>
              </a:rPr>
              <a:t>E</a:t>
            </a:r>
            <a:r>
              <a:rPr dirty="0" sz="3200" spc="-45" b="1" i="0">
                <a:latin typeface="Calibri"/>
                <a:cs typeface="Calibri"/>
              </a:rPr>
              <a:t>x</a:t>
            </a:r>
            <a:r>
              <a:rPr dirty="0" sz="3200" spc="-5" b="1" i="0">
                <a:latin typeface="Calibri"/>
                <a:cs typeface="Calibri"/>
              </a:rPr>
              <a:t>amp</a:t>
            </a:r>
            <a:r>
              <a:rPr dirty="0" sz="3200" b="1" i="0">
                <a:latin typeface="Calibri"/>
                <a:cs typeface="Calibri"/>
              </a:rPr>
              <a:t>l</a:t>
            </a:r>
            <a:r>
              <a:rPr dirty="0" sz="3200" spc="0" b="1" i="0">
                <a:latin typeface="Calibri"/>
                <a:cs typeface="Calibri"/>
              </a:rPr>
              <a:t>e</a:t>
            </a:r>
            <a:r>
              <a:rPr dirty="0" sz="3200" b="1" i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0033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49785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50033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01341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83172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92809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83172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44724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78250" y="2542089"/>
            <a:ext cx="589915" cy="331470"/>
          </a:xfrm>
          <a:custGeom>
            <a:avLst/>
            <a:gdLst/>
            <a:ahLst/>
            <a:cxnLst/>
            <a:rect l="l" t="t" r="r" b="b"/>
            <a:pathLst>
              <a:path w="589914" h="331469">
                <a:moveTo>
                  <a:pt x="483641" y="0"/>
                </a:moveTo>
                <a:lnTo>
                  <a:pt x="479126" y="0"/>
                </a:lnTo>
                <a:lnTo>
                  <a:pt x="479126" y="13195"/>
                </a:lnTo>
                <a:lnTo>
                  <a:pt x="481731" y="13195"/>
                </a:lnTo>
                <a:lnTo>
                  <a:pt x="493635" y="14014"/>
                </a:lnTo>
                <a:lnTo>
                  <a:pt x="527374" y="33928"/>
                </a:lnTo>
                <a:lnTo>
                  <a:pt x="535383" y="69626"/>
                </a:lnTo>
                <a:lnTo>
                  <a:pt x="535166" y="76061"/>
                </a:lnTo>
                <a:lnTo>
                  <a:pt x="534515" y="83212"/>
                </a:lnTo>
                <a:lnTo>
                  <a:pt x="533429" y="91080"/>
                </a:lnTo>
                <a:lnTo>
                  <a:pt x="531910" y="99664"/>
                </a:lnTo>
                <a:lnTo>
                  <a:pt x="530391" y="107966"/>
                </a:lnTo>
                <a:lnTo>
                  <a:pt x="529306" y="114987"/>
                </a:lnTo>
                <a:lnTo>
                  <a:pt x="528655" y="120728"/>
                </a:lnTo>
                <a:lnTo>
                  <a:pt x="528438" y="125188"/>
                </a:lnTo>
                <a:lnTo>
                  <a:pt x="528980" y="132237"/>
                </a:lnTo>
                <a:lnTo>
                  <a:pt x="557782" y="163388"/>
                </a:lnTo>
                <a:lnTo>
                  <a:pt x="557782" y="166513"/>
                </a:lnTo>
                <a:lnTo>
                  <a:pt x="528980" y="197664"/>
                </a:lnTo>
                <a:lnTo>
                  <a:pt x="528438" y="204712"/>
                </a:lnTo>
                <a:lnTo>
                  <a:pt x="528655" y="209172"/>
                </a:lnTo>
                <a:lnTo>
                  <a:pt x="529306" y="214913"/>
                </a:lnTo>
                <a:lnTo>
                  <a:pt x="530391" y="221935"/>
                </a:lnTo>
                <a:lnTo>
                  <a:pt x="531910" y="230237"/>
                </a:lnTo>
                <a:lnTo>
                  <a:pt x="533429" y="238820"/>
                </a:lnTo>
                <a:lnTo>
                  <a:pt x="534515" y="246688"/>
                </a:lnTo>
                <a:lnTo>
                  <a:pt x="535166" y="253839"/>
                </a:lnTo>
                <a:lnTo>
                  <a:pt x="535383" y="260275"/>
                </a:lnTo>
                <a:lnTo>
                  <a:pt x="534493" y="274843"/>
                </a:lnTo>
                <a:lnTo>
                  <a:pt x="513343" y="310547"/>
                </a:lnTo>
                <a:lnTo>
                  <a:pt x="481731" y="317921"/>
                </a:lnTo>
                <a:lnTo>
                  <a:pt x="479126" y="317921"/>
                </a:lnTo>
                <a:lnTo>
                  <a:pt x="479126" y="331116"/>
                </a:lnTo>
                <a:lnTo>
                  <a:pt x="483641" y="331116"/>
                </a:lnTo>
                <a:lnTo>
                  <a:pt x="502757" y="329690"/>
                </a:lnTo>
                <a:lnTo>
                  <a:pt x="544672" y="312451"/>
                </a:lnTo>
                <a:lnTo>
                  <a:pt x="563636" y="274604"/>
                </a:lnTo>
                <a:lnTo>
                  <a:pt x="564901" y="257149"/>
                </a:lnTo>
                <a:lnTo>
                  <a:pt x="564646" y="249694"/>
                </a:lnTo>
                <a:lnTo>
                  <a:pt x="563880" y="241739"/>
                </a:lnTo>
                <a:lnTo>
                  <a:pt x="562605" y="233286"/>
                </a:lnTo>
                <a:lnTo>
                  <a:pt x="560820" y="224332"/>
                </a:lnTo>
                <a:lnTo>
                  <a:pt x="558100" y="212063"/>
                </a:lnTo>
                <a:lnTo>
                  <a:pt x="556740" y="203843"/>
                </a:lnTo>
                <a:lnTo>
                  <a:pt x="556740" y="191689"/>
                </a:lnTo>
                <a:lnTo>
                  <a:pt x="559489" y="185178"/>
                </a:lnTo>
                <a:lnTo>
                  <a:pt x="589903" y="172069"/>
                </a:lnTo>
                <a:lnTo>
                  <a:pt x="589903" y="157831"/>
                </a:lnTo>
                <a:lnTo>
                  <a:pt x="556740" y="138211"/>
                </a:lnTo>
                <a:lnTo>
                  <a:pt x="556740" y="126056"/>
                </a:lnTo>
                <a:lnTo>
                  <a:pt x="558100" y="117838"/>
                </a:lnTo>
                <a:lnTo>
                  <a:pt x="560820" y="105568"/>
                </a:lnTo>
                <a:lnTo>
                  <a:pt x="562605" y="96615"/>
                </a:lnTo>
                <a:lnTo>
                  <a:pt x="563880" y="88161"/>
                </a:lnTo>
                <a:lnTo>
                  <a:pt x="564646" y="80207"/>
                </a:lnTo>
                <a:lnTo>
                  <a:pt x="564901" y="72751"/>
                </a:lnTo>
                <a:lnTo>
                  <a:pt x="563636" y="55827"/>
                </a:lnTo>
                <a:lnTo>
                  <a:pt x="544672" y="18665"/>
                </a:lnTo>
                <a:lnTo>
                  <a:pt x="502757" y="1426"/>
                </a:lnTo>
                <a:lnTo>
                  <a:pt x="483641" y="0"/>
                </a:lnTo>
                <a:close/>
              </a:path>
              <a:path w="589914" h="331469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8" y="96441"/>
                </a:lnTo>
                <a:lnTo>
                  <a:pt x="29082" y="105394"/>
                </a:lnTo>
                <a:lnTo>
                  <a:pt x="31803" y="117664"/>
                </a:lnTo>
                <a:lnTo>
                  <a:pt x="33164" y="125883"/>
                </a:lnTo>
                <a:lnTo>
                  <a:pt x="33164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4" y="191516"/>
                </a:lnTo>
                <a:lnTo>
                  <a:pt x="33164" y="203671"/>
                </a:lnTo>
                <a:lnTo>
                  <a:pt x="31803" y="211889"/>
                </a:lnTo>
                <a:lnTo>
                  <a:pt x="29082" y="224158"/>
                </a:lnTo>
                <a:lnTo>
                  <a:pt x="27298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53255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53007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53255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04563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178202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87839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78202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39755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81472" y="2542089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69">
                <a:moveTo>
                  <a:pt x="491831" y="0"/>
                </a:moveTo>
                <a:lnTo>
                  <a:pt x="487318" y="0"/>
                </a:lnTo>
                <a:lnTo>
                  <a:pt x="487318" y="13195"/>
                </a:lnTo>
                <a:lnTo>
                  <a:pt x="489921" y="13195"/>
                </a:lnTo>
                <a:lnTo>
                  <a:pt x="501826" y="14014"/>
                </a:lnTo>
                <a:lnTo>
                  <a:pt x="535566" y="33928"/>
                </a:lnTo>
                <a:lnTo>
                  <a:pt x="543575" y="69626"/>
                </a:lnTo>
                <a:lnTo>
                  <a:pt x="543358" y="76061"/>
                </a:lnTo>
                <a:lnTo>
                  <a:pt x="542706" y="83212"/>
                </a:lnTo>
                <a:lnTo>
                  <a:pt x="541621" y="91080"/>
                </a:lnTo>
                <a:lnTo>
                  <a:pt x="540101" y="99664"/>
                </a:lnTo>
                <a:lnTo>
                  <a:pt x="538582" y="107966"/>
                </a:lnTo>
                <a:lnTo>
                  <a:pt x="537497" y="114987"/>
                </a:lnTo>
                <a:lnTo>
                  <a:pt x="536846" y="120728"/>
                </a:lnTo>
                <a:lnTo>
                  <a:pt x="536629" y="125188"/>
                </a:lnTo>
                <a:lnTo>
                  <a:pt x="537172" y="132237"/>
                </a:lnTo>
                <a:lnTo>
                  <a:pt x="565972" y="163388"/>
                </a:lnTo>
                <a:lnTo>
                  <a:pt x="565972" y="166513"/>
                </a:lnTo>
                <a:lnTo>
                  <a:pt x="537172" y="197664"/>
                </a:lnTo>
                <a:lnTo>
                  <a:pt x="536629" y="204712"/>
                </a:lnTo>
                <a:lnTo>
                  <a:pt x="536846" y="209172"/>
                </a:lnTo>
                <a:lnTo>
                  <a:pt x="537497" y="214913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0"/>
                </a:lnTo>
                <a:lnTo>
                  <a:pt x="542706" y="246688"/>
                </a:lnTo>
                <a:lnTo>
                  <a:pt x="543358" y="253839"/>
                </a:lnTo>
                <a:lnTo>
                  <a:pt x="543575" y="260275"/>
                </a:lnTo>
                <a:lnTo>
                  <a:pt x="542685" y="274843"/>
                </a:lnTo>
                <a:lnTo>
                  <a:pt x="521534" y="310547"/>
                </a:lnTo>
                <a:lnTo>
                  <a:pt x="489921" y="317921"/>
                </a:lnTo>
                <a:lnTo>
                  <a:pt x="487318" y="317921"/>
                </a:lnTo>
                <a:lnTo>
                  <a:pt x="487318" y="331116"/>
                </a:lnTo>
                <a:lnTo>
                  <a:pt x="491831" y="331116"/>
                </a:lnTo>
                <a:lnTo>
                  <a:pt x="510948" y="329690"/>
                </a:lnTo>
                <a:lnTo>
                  <a:pt x="552864" y="312451"/>
                </a:lnTo>
                <a:lnTo>
                  <a:pt x="571828" y="274604"/>
                </a:lnTo>
                <a:lnTo>
                  <a:pt x="573092" y="257149"/>
                </a:lnTo>
                <a:lnTo>
                  <a:pt x="572837" y="249694"/>
                </a:lnTo>
                <a:lnTo>
                  <a:pt x="572072" y="241739"/>
                </a:lnTo>
                <a:lnTo>
                  <a:pt x="570797" y="233286"/>
                </a:lnTo>
                <a:lnTo>
                  <a:pt x="569012" y="224332"/>
                </a:lnTo>
                <a:lnTo>
                  <a:pt x="566291" y="212063"/>
                </a:lnTo>
                <a:lnTo>
                  <a:pt x="564931" y="203843"/>
                </a:lnTo>
                <a:lnTo>
                  <a:pt x="564931" y="191689"/>
                </a:lnTo>
                <a:lnTo>
                  <a:pt x="567681" y="185178"/>
                </a:lnTo>
                <a:lnTo>
                  <a:pt x="598095" y="172069"/>
                </a:lnTo>
                <a:lnTo>
                  <a:pt x="598095" y="157831"/>
                </a:lnTo>
                <a:lnTo>
                  <a:pt x="564931" y="138211"/>
                </a:lnTo>
                <a:lnTo>
                  <a:pt x="564931" y="126056"/>
                </a:lnTo>
                <a:lnTo>
                  <a:pt x="566291" y="117838"/>
                </a:lnTo>
                <a:lnTo>
                  <a:pt x="569012" y="105568"/>
                </a:lnTo>
                <a:lnTo>
                  <a:pt x="570797" y="96615"/>
                </a:lnTo>
                <a:lnTo>
                  <a:pt x="572072" y="88161"/>
                </a:lnTo>
                <a:lnTo>
                  <a:pt x="572837" y="80207"/>
                </a:lnTo>
                <a:lnTo>
                  <a:pt x="573092" y="72751"/>
                </a:lnTo>
                <a:lnTo>
                  <a:pt x="571828" y="55827"/>
                </a:lnTo>
                <a:lnTo>
                  <a:pt x="552864" y="18665"/>
                </a:lnTo>
                <a:lnTo>
                  <a:pt x="510948" y="1426"/>
                </a:lnTo>
                <a:lnTo>
                  <a:pt x="491831" y="0"/>
                </a:lnTo>
                <a:close/>
              </a:path>
              <a:path w="598170" h="331469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9" y="96441"/>
                </a:lnTo>
                <a:lnTo>
                  <a:pt x="29084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4" y="224158"/>
                </a:lnTo>
                <a:lnTo>
                  <a:pt x="27299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64668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664420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64668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615976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089615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99251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89615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51168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192885" y="2542089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69">
                <a:moveTo>
                  <a:pt x="491831" y="0"/>
                </a:moveTo>
                <a:lnTo>
                  <a:pt x="487318" y="0"/>
                </a:lnTo>
                <a:lnTo>
                  <a:pt x="487318" y="13195"/>
                </a:lnTo>
                <a:lnTo>
                  <a:pt x="489921" y="13195"/>
                </a:lnTo>
                <a:lnTo>
                  <a:pt x="501826" y="14014"/>
                </a:lnTo>
                <a:lnTo>
                  <a:pt x="535566" y="33928"/>
                </a:lnTo>
                <a:lnTo>
                  <a:pt x="543575" y="69626"/>
                </a:lnTo>
                <a:lnTo>
                  <a:pt x="543358" y="76061"/>
                </a:lnTo>
                <a:lnTo>
                  <a:pt x="542706" y="83212"/>
                </a:lnTo>
                <a:lnTo>
                  <a:pt x="541621" y="91080"/>
                </a:lnTo>
                <a:lnTo>
                  <a:pt x="540101" y="99664"/>
                </a:lnTo>
                <a:lnTo>
                  <a:pt x="538582" y="107966"/>
                </a:lnTo>
                <a:lnTo>
                  <a:pt x="537497" y="114987"/>
                </a:lnTo>
                <a:lnTo>
                  <a:pt x="536846" y="120728"/>
                </a:lnTo>
                <a:lnTo>
                  <a:pt x="536629" y="125188"/>
                </a:lnTo>
                <a:lnTo>
                  <a:pt x="537172" y="132237"/>
                </a:lnTo>
                <a:lnTo>
                  <a:pt x="565972" y="163388"/>
                </a:lnTo>
                <a:lnTo>
                  <a:pt x="565972" y="166513"/>
                </a:lnTo>
                <a:lnTo>
                  <a:pt x="537172" y="197664"/>
                </a:lnTo>
                <a:lnTo>
                  <a:pt x="536629" y="204712"/>
                </a:lnTo>
                <a:lnTo>
                  <a:pt x="536846" y="209172"/>
                </a:lnTo>
                <a:lnTo>
                  <a:pt x="537497" y="214913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0"/>
                </a:lnTo>
                <a:lnTo>
                  <a:pt x="542706" y="246688"/>
                </a:lnTo>
                <a:lnTo>
                  <a:pt x="543358" y="253839"/>
                </a:lnTo>
                <a:lnTo>
                  <a:pt x="543575" y="260275"/>
                </a:lnTo>
                <a:lnTo>
                  <a:pt x="542685" y="274843"/>
                </a:lnTo>
                <a:lnTo>
                  <a:pt x="521534" y="310547"/>
                </a:lnTo>
                <a:lnTo>
                  <a:pt x="489921" y="317921"/>
                </a:lnTo>
                <a:lnTo>
                  <a:pt x="487318" y="317921"/>
                </a:lnTo>
                <a:lnTo>
                  <a:pt x="487318" y="331116"/>
                </a:lnTo>
                <a:lnTo>
                  <a:pt x="491831" y="331116"/>
                </a:lnTo>
                <a:lnTo>
                  <a:pt x="510947" y="329690"/>
                </a:lnTo>
                <a:lnTo>
                  <a:pt x="552864" y="312451"/>
                </a:lnTo>
                <a:lnTo>
                  <a:pt x="571828" y="274604"/>
                </a:lnTo>
                <a:lnTo>
                  <a:pt x="573092" y="257149"/>
                </a:lnTo>
                <a:lnTo>
                  <a:pt x="572837" y="249694"/>
                </a:lnTo>
                <a:lnTo>
                  <a:pt x="572072" y="241739"/>
                </a:lnTo>
                <a:lnTo>
                  <a:pt x="570797" y="233286"/>
                </a:lnTo>
                <a:lnTo>
                  <a:pt x="569012" y="224332"/>
                </a:lnTo>
                <a:lnTo>
                  <a:pt x="566291" y="212063"/>
                </a:lnTo>
                <a:lnTo>
                  <a:pt x="564931" y="203843"/>
                </a:lnTo>
                <a:lnTo>
                  <a:pt x="564931" y="191689"/>
                </a:lnTo>
                <a:lnTo>
                  <a:pt x="567681" y="185178"/>
                </a:lnTo>
                <a:lnTo>
                  <a:pt x="598095" y="172069"/>
                </a:lnTo>
                <a:lnTo>
                  <a:pt x="598095" y="157831"/>
                </a:lnTo>
                <a:lnTo>
                  <a:pt x="564931" y="138211"/>
                </a:lnTo>
                <a:lnTo>
                  <a:pt x="564931" y="126056"/>
                </a:lnTo>
                <a:lnTo>
                  <a:pt x="566291" y="117838"/>
                </a:lnTo>
                <a:lnTo>
                  <a:pt x="569012" y="105568"/>
                </a:lnTo>
                <a:lnTo>
                  <a:pt x="570797" y="96615"/>
                </a:lnTo>
                <a:lnTo>
                  <a:pt x="572072" y="88161"/>
                </a:lnTo>
                <a:lnTo>
                  <a:pt x="572837" y="80207"/>
                </a:lnTo>
                <a:lnTo>
                  <a:pt x="573092" y="72751"/>
                </a:lnTo>
                <a:lnTo>
                  <a:pt x="571828" y="55827"/>
                </a:lnTo>
                <a:lnTo>
                  <a:pt x="552864" y="18665"/>
                </a:lnTo>
                <a:lnTo>
                  <a:pt x="510947" y="1426"/>
                </a:lnTo>
                <a:lnTo>
                  <a:pt x="491831" y="0"/>
                </a:lnTo>
                <a:close/>
              </a:path>
              <a:path w="598170" h="331469">
                <a:moveTo>
                  <a:pt x="110777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6" y="55730"/>
                </a:lnTo>
                <a:lnTo>
                  <a:pt x="25115" y="75887"/>
                </a:lnTo>
                <a:lnTo>
                  <a:pt x="25257" y="80033"/>
                </a:lnTo>
                <a:lnTo>
                  <a:pt x="26022" y="87987"/>
                </a:lnTo>
                <a:lnTo>
                  <a:pt x="27297" y="96441"/>
                </a:lnTo>
                <a:lnTo>
                  <a:pt x="29082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3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2" y="224158"/>
                </a:lnTo>
                <a:lnTo>
                  <a:pt x="27297" y="233112"/>
                </a:lnTo>
                <a:lnTo>
                  <a:pt x="26022" y="241565"/>
                </a:lnTo>
                <a:lnTo>
                  <a:pt x="25257" y="249520"/>
                </a:lnTo>
                <a:lnTo>
                  <a:pt x="25002" y="256975"/>
                </a:lnTo>
                <a:lnTo>
                  <a:pt x="26266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7" y="331116"/>
                </a:lnTo>
                <a:lnTo>
                  <a:pt x="110777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19" y="260101"/>
                </a:lnTo>
                <a:lnTo>
                  <a:pt x="54736" y="253665"/>
                </a:lnTo>
                <a:lnTo>
                  <a:pt x="55388" y="246514"/>
                </a:lnTo>
                <a:lnTo>
                  <a:pt x="56473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7" y="214740"/>
                </a:lnTo>
                <a:lnTo>
                  <a:pt x="61248" y="208999"/>
                </a:lnTo>
                <a:lnTo>
                  <a:pt x="61465" y="204538"/>
                </a:lnTo>
                <a:lnTo>
                  <a:pt x="60922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2" y="132063"/>
                </a:lnTo>
                <a:lnTo>
                  <a:pt x="61465" y="125014"/>
                </a:lnTo>
                <a:lnTo>
                  <a:pt x="61248" y="120554"/>
                </a:lnTo>
                <a:lnTo>
                  <a:pt x="60597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3" y="90906"/>
                </a:lnTo>
                <a:lnTo>
                  <a:pt x="55388" y="83038"/>
                </a:lnTo>
                <a:lnTo>
                  <a:pt x="54736" y="75887"/>
                </a:lnTo>
                <a:lnTo>
                  <a:pt x="54519" y="69452"/>
                </a:lnTo>
                <a:lnTo>
                  <a:pt x="55409" y="55491"/>
                </a:lnTo>
                <a:lnTo>
                  <a:pt x="76560" y="20569"/>
                </a:lnTo>
                <a:lnTo>
                  <a:pt x="108173" y="13195"/>
                </a:lnTo>
                <a:lnTo>
                  <a:pt x="110777" y="13195"/>
                </a:lnTo>
                <a:lnTo>
                  <a:pt x="110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10"/>
              <a:t>Given </a:t>
            </a:r>
            <a:r>
              <a:rPr dirty="0"/>
              <a:t>3 </a:t>
            </a:r>
            <a:r>
              <a:rPr dirty="0" spc="-5"/>
              <a:t>queries </a:t>
            </a:r>
            <a:r>
              <a:rPr dirty="0" spc="110">
                <a:latin typeface="Cambria Math"/>
                <a:cs typeface="Cambria Math"/>
              </a:rPr>
              <a:t>𝑞</a:t>
            </a:r>
            <a:r>
              <a:rPr dirty="0" baseline="-16666" sz="3000" spc="165">
                <a:latin typeface="Cambria Math"/>
                <a:cs typeface="Cambria Math"/>
              </a:rPr>
              <a:t>"</a:t>
            </a:r>
            <a:r>
              <a:rPr dirty="0" sz="2800" spc="110">
                <a:latin typeface="Cambria Math"/>
                <a:cs typeface="Cambria Math"/>
              </a:rPr>
              <a:t>, </a:t>
            </a:r>
            <a:r>
              <a:rPr dirty="0" sz="2800" spc="-15">
                <a:latin typeface="Cambria Math"/>
                <a:cs typeface="Cambria Math"/>
              </a:rPr>
              <a:t>𝑞</a:t>
            </a:r>
            <a:r>
              <a:rPr dirty="0" baseline="-16666" sz="3000" spc="-22">
                <a:latin typeface="Cambria Math"/>
                <a:cs typeface="Cambria Math"/>
              </a:rPr>
              <a:t>#</a:t>
            </a:r>
            <a:r>
              <a:rPr dirty="0" sz="2800" spc="-15">
                <a:latin typeface="Cambria Math"/>
                <a:cs typeface="Cambria Math"/>
              </a:rPr>
              <a:t>, </a:t>
            </a: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6666" sz="3000" spc="187">
                <a:latin typeface="Cambria Math"/>
                <a:cs typeface="Cambria Math"/>
              </a:rPr>
              <a:t>)</a:t>
            </a:r>
            <a:r>
              <a:rPr dirty="0" sz="2800" spc="125"/>
              <a:t>,</a:t>
            </a:r>
            <a:r>
              <a:rPr dirty="0" sz="2800" spc="-380"/>
              <a:t> </a:t>
            </a:r>
            <a:r>
              <a:rPr dirty="0" sz="2800" spc="-5"/>
              <a:t>with </a:t>
            </a:r>
            <a:r>
              <a:rPr dirty="0" sz="2800" spc="-10"/>
              <a:t>answer sets:</a:t>
            </a:r>
            <a:endParaRPr sz="2800">
              <a:latin typeface="Cambria Math"/>
              <a:cs typeface="Cambria Math"/>
            </a:endParaRPr>
          </a:p>
          <a:p>
            <a:pPr marL="443230" indent="-43053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443230" algn="l"/>
                <a:tab pos="443865" algn="l"/>
                <a:tab pos="1040765" algn="l"/>
                <a:tab pos="1542415" algn="l"/>
                <a:tab pos="2338070" algn="l"/>
                <a:tab pos="2943860" algn="l"/>
                <a:tab pos="3445510" algn="l"/>
                <a:tab pos="4249420" algn="l"/>
                <a:tab pos="4855845" algn="l"/>
                <a:tab pos="5356860" algn="l"/>
              </a:tabLst>
            </a:pPr>
            <a:r>
              <a:rPr dirty="0" spc="125">
                <a:latin typeface="Cambria Math"/>
                <a:cs typeface="Cambria Math"/>
              </a:rPr>
              <a:t>𝑞</a:t>
            </a:r>
            <a:r>
              <a:rPr dirty="0" baseline="-15277" sz="3000" spc="187">
                <a:latin typeface="Cambria Math"/>
                <a:cs typeface="Cambria Math"/>
              </a:rPr>
              <a:t>"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30">
                <a:latin typeface="Cambria Math"/>
                <a:cs typeface="Cambria Math"/>
              </a:rPr>
              <a:t>𝑣</a:t>
            </a:r>
            <a:r>
              <a:rPr dirty="0" baseline="-15277" sz="3000" spc="195">
                <a:latin typeface="Cambria Math"/>
                <a:cs typeface="Cambria Math"/>
              </a:rPr>
              <a:t>"</a:t>
            </a:r>
            <a:r>
              <a:rPr dirty="0" baseline="-15277" sz="3000" spc="64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-70">
                <a:latin typeface="Cambria Math"/>
                <a:cs typeface="Cambria Math"/>
              </a:rPr>
              <a:t>𝑞</a:t>
            </a:r>
            <a:r>
              <a:rPr dirty="0" baseline="-15277" sz="3000" spc="-104">
                <a:latin typeface="Cambria Math"/>
                <a:cs typeface="Cambria Math"/>
              </a:rPr>
              <a:t>#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-60">
                <a:latin typeface="Cambria Math"/>
                <a:cs typeface="Cambria Math"/>
              </a:rPr>
              <a:t>𝑣</a:t>
            </a:r>
            <a:r>
              <a:rPr dirty="0" baseline="-15277" sz="3000" spc="-89">
                <a:latin typeface="Cambria Math"/>
                <a:cs typeface="Cambria Math"/>
              </a:rPr>
              <a:t># </a:t>
            </a:r>
            <a:r>
              <a:rPr dirty="0" baseline="-15277" sz="3000" spc="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130">
                <a:latin typeface="Cambria Math"/>
                <a:cs typeface="Cambria Math"/>
              </a:rPr>
              <a:t>𝑞</a:t>
            </a:r>
            <a:r>
              <a:rPr dirty="0" baseline="-15277" sz="3000" spc="195">
                <a:latin typeface="Cambria Math"/>
                <a:cs typeface="Cambria Math"/>
              </a:rPr>
              <a:t>)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40">
                <a:latin typeface="Cambria Math"/>
                <a:cs typeface="Cambria Math"/>
              </a:rPr>
              <a:t>𝑣</a:t>
            </a:r>
            <a:r>
              <a:rPr dirty="0" baseline="-15277" sz="3000" spc="209">
                <a:latin typeface="Cambria Math"/>
                <a:cs typeface="Cambria Math"/>
              </a:rPr>
              <a:t>)</a:t>
            </a:r>
            <a:endParaRPr baseline="-15277" sz="3000">
              <a:latin typeface="Cambria Math"/>
              <a:cs typeface="Cambria Math"/>
            </a:endParaRPr>
          </a:p>
          <a:p>
            <a:pPr marL="287020" marR="5080" indent="-274320">
              <a:lnSpc>
                <a:spcPct val="101400"/>
              </a:lnSpc>
              <a:spcBef>
                <a:spcPts val="5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5">
                <a:solidFill>
                  <a:srgbClr val="C00000"/>
                </a:solidFill>
              </a:rPr>
              <a:t>If </a:t>
            </a:r>
            <a:r>
              <a:rPr dirty="0" spc="-15">
                <a:solidFill>
                  <a:srgbClr val="C00000"/>
                </a:solidFill>
              </a:rPr>
              <a:t>we </a:t>
            </a:r>
            <a:r>
              <a:rPr dirty="0" spc="-10">
                <a:solidFill>
                  <a:srgbClr val="C00000"/>
                </a:solidFill>
              </a:rPr>
              <a:t>allow </a:t>
            </a:r>
            <a:r>
              <a:rPr dirty="0" spc="-5">
                <a:solidFill>
                  <a:srgbClr val="C00000"/>
                </a:solidFill>
              </a:rPr>
              <a:t>union </a:t>
            </a:r>
            <a:r>
              <a:rPr dirty="0" spc="-15">
                <a:solidFill>
                  <a:srgbClr val="C00000"/>
                </a:solidFill>
              </a:rPr>
              <a:t>operation, </a:t>
            </a:r>
            <a:r>
              <a:rPr dirty="0" spc="-10">
                <a:solidFill>
                  <a:srgbClr val="C00000"/>
                </a:solidFill>
              </a:rPr>
              <a:t>can </a:t>
            </a:r>
            <a:r>
              <a:rPr dirty="0" spc="-15">
                <a:solidFill>
                  <a:srgbClr val="C00000"/>
                </a:solidFill>
              </a:rPr>
              <a:t>we </a:t>
            </a:r>
            <a:r>
              <a:rPr dirty="0" spc="-5">
                <a:solidFill>
                  <a:srgbClr val="C00000"/>
                </a:solidFill>
              </a:rPr>
              <a:t>embed them </a:t>
            </a:r>
            <a:r>
              <a:rPr dirty="0" spc="-285">
                <a:solidFill>
                  <a:srgbClr val="C00000"/>
                </a:solidFill>
              </a:rPr>
              <a:t>in  </a:t>
            </a:r>
            <a:r>
              <a:rPr dirty="0" spc="-5">
                <a:solidFill>
                  <a:srgbClr val="C00000"/>
                </a:solidFill>
              </a:rPr>
              <a:t>two-dimensional</a:t>
            </a:r>
            <a:r>
              <a:rPr dirty="0" spc="-80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plane?</a:t>
            </a:r>
          </a:p>
        </p:txBody>
      </p:sp>
      <p:sp>
        <p:nvSpPr>
          <p:cNvPr id="32" name="object 32"/>
          <p:cNvSpPr/>
          <p:nvPr/>
        </p:nvSpPr>
        <p:spPr>
          <a:xfrm>
            <a:off x="1660443" y="4081802"/>
            <a:ext cx="85725" cy="2028189"/>
          </a:xfrm>
          <a:custGeom>
            <a:avLst/>
            <a:gdLst/>
            <a:ahLst/>
            <a:cxnLst/>
            <a:rect l="l" t="t" r="r" b="b"/>
            <a:pathLst>
              <a:path w="85725" h="2028189">
                <a:moveTo>
                  <a:pt x="50753" y="57150"/>
                </a:moveTo>
                <a:lnTo>
                  <a:pt x="34971" y="57150"/>
                </a:lnTo>
                <a:lnTo>
                  <a:pt x="28575" y="63545"/>
                </a:lnTo>
                <a:lnTo>
                  <a:pt x="28576" y="2021625"/>
                </a:lnTo>
                <a:lnTo>
                  <a:pt x="34971" y="2028022"/>
                </a:lnTo>
                <a:lnTo>
                  <a:pt x="50754" y="2028022"/>
                </a:lnTo>
                <a:lnTo>
                  <a:pt x="57151" y="2021625"/>
                </a:lnTo>
                <a:lnTo>
                  <a:pt x="57150" y="63545"/>
                </a:lnTo>
                <a:lnTo>
                  <a:pt x="50753" y="57150"/>
                </a:lnTo>
                <a:close/>
              </a:path>
              <a:path w="85725" h="2028189">
                <a:moveTo>
                  <a:pt x="42862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63545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2028189">
                <a:moveTo>
                  <a:pt x="71437" y="57150"/>
                </a:moveTo>
                <a:lnTo>
                  <a:pt x="50753" y="57150"/>
                </a:lnTo>
                <a:lnTo>
                  <a:pt x="57150" y="63545"/>
                </a:lnTo>
                <a:lnTo>
                  <a:pt x="57150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669963" y="6052623"/>
            <a:ext cx="2225040" cy="85725"/>
          </a:xfrm>
          <a:custGeom>
            <a:avLst/>
            <a:gdLst/>
            <a:ahLst/>
            <a:cxnLst/>
            <a:rect l="l" t="t" r="r" b="b"/>
            <a:pathLst>
              <a:path w="2225040" h="85725">
                <a:moveTo>
                  <a:pt x="2139084" y="57149"/>
                </a:moveTo>
                <a:lnTo>
                  <a:pt x="2139067" y="85725"/>
                </a:lnTo>
                <a:lnTo>
                  <a:pt x="2196277" y="57163"/>
                </a:lnTo>
                <a:lnTo>
                  <a:pt x="2139084" y="57149"/>
                </a:lnTo>
                <a:close/>
              </a:path>
              <a:path w="2225040" h="85725">
                <a:moveTo>
                  <a:pt x="2139102" y="28574"/>
                </a:moveTo>
                <a:lnTo>
                  <a:pt x="2139084" y="57149"/>
                </a:lnTo>
                <a:lnTo>
                  <a:pt x="2161258" y="57163"/>
                </a:lnTo>
                <a:lnTo>
                  <a:pt x="2167657" y="50770"/>
                </a:lnTo>
                <a:lnTo>
                  <a:pt x="2167667" y="34989"/>
                </a:lnTo>
                <a:lnTo>
                  <a:pt x="2161274" y="28588"/>
                </a:lnTo>
                <a:lnTo>
                  <a:pt x="2139102" y="28574"/>
                </a:lnTo>
                <a:close/>
              </a:path>
              <a:path w="2225040" h="85725">
                <a:moveTo>
                  <a:pt x="2139119" y="0"/>
                </a:moveTo>
                <a:lnTo>
                  <a:pt x="2139102" y="28574"/>
                </a:lnTo>
                <a:lnTo>
                  <a:pt x="2161274" y="28588"/>
                </a:lnTo>
                <a:lnTo>
                  <a:pt x="2167667" y="34989"/>
                </a:lnTo>
                <a:lnTo>
                  <a:pt x="2167657" y="50770"/>
                </a:lnTo>
                <a:lnTo>
                  <a:pt x="2161258" y="57163"/>
                </a:lnTo>
                <a:lnTo>
                  <a:pt x="2196277" y="57163"/>
                </a:lnTo>
                <a:lnTo>
                  <a:pt x="2224819" y="42914"/>
                </a:lnTo>
                <a:lnTo>
                  <a:pt x="2139119" y="0"/>
                </a:lnTo>
                <a:close/>
              </a:path>
              <a:path w="2225040" h="85725">
                <a:moveTo>
                  <a:pt x="6410" y="27284"/>
                </a:moveTo>
                <a:lnTo>
                  <a:pt x="10" y="33676"/>
                </a:lnTo>
                <a:lnTo>
                  <a:pt x="0" y="49458"/>
                </a:lnTo>
                <a:lnTo>
                  <a:pt x="6393" y="55859"/>
                </a:lnTo>
                <a:lnTo>
                  <a:pt x="2139084" y="57149"/>
                </a:lnTo>
                <a:lnTo>
                  <a:pt x="2139102" y="28574"/>
                </a:lnTo>
                <a:lnTo>
                  <a:pt x="6410" y="27284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736421" y="476010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736421" y="476010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55856" y="52108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055856" y="52108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D9253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293854" y="53125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293854" y="53125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D9253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2276229" y="4995164"/>
            <a:ext cx="215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30">
                <a:latin typeface="Cambria Math"/>
                <a:cs typeface="Cambria Math"/>
              </a:rPr>
              <a:t>𝐯</a:t>
            </a:r>
            <a:r>
              <a:rPr dirty="0" baseline="-14957" sz="1950" spc="-330">
                <a:latin typeface="Cambria Math"/>
                <a:cs typeface="Cambria Math"/>
              </a:rPr>
              <a:t>+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6640" y="4422140"/>
            <a:ext cx="2336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0">
                <a:latin typeface="Cambria Math"/>
                <a:cs typeface="Cambria Math"/>
              </a:rPr>
              <a:t>𝐯</a:t>
            </a:r>
            <a:r>
              <a:rPr dirty="0" baseline="-14957" sz="1950" spc="719">
                <a:latin typeface="Cambria Math"/>
                <a:cs typeface="Cambria Math"/>
              </a:rPr>
              <a:t>,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97991" y="5159755"/>
            <a:ext cx="1365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𝐯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410641" y="5268976"/>
            <a:ext cx="1085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00" spc="315">
                <a:latin typeface="Cambria Math"/>
                <a:cs typeface="Cambria Math"/>
              </a:rPr>
              <a:t>-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151960" y="5002317"/>
            <a:ext cx="1396365" cy="704850"/>
          </a:xfrm>
          <a:custGeom>
            <a:avLst/>
            <a:gdLst/>
            <a:ahLst/>
            <a:cxnLst/>
            <a:rect l="l" t="t" r="r" b="b"/>
            <a:pathLst>
              <a:path w="1396364" h="704850">
                <a:moveTo>
                  <a:pt x="0" y="0"/>
                </a:moveTo>
                <a:lnTo>
                  <a:pt x="1395827" y="0"/>
                </a:lnTo>
                <a:lnTo>
                  <a:pt x="1395827" y="704654"/>
                </a:lnTo>
                <a:lnTo>
                  <a:pt x="0" y="70465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579149" y="5562091"/>
            <a:ext cx="7353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35">
                <a:latin typeface="Cambria Math"/>
                <a:cs typeface="Cambria Math"/>
              </a:rPr>
              <a:t>𝐪</a:t>
            </a:r>
            <a:r>
              <a:rPr dirty="0" baseline="-14957" sz="1950" spc="-202">
                <a:latin typeface="Cambria Math"/>
                <a:cs typeface="Cambria Math"/>
              </a:rPr>
              <a:t>+  </a:t>
            </a:r>
            <a:r>
              <a:rPr dirty="0" sz="1800">
                <a:latin typeface="Cambria Math"/>
                <a:cs typeface="Cambria Math"/>
              </a:rPr>
              <a:t>∨</a:t>
            </a:r>
            <a:r>
              <a:rPr dirty="0" sz="1800" spc="-45">
                <a:latin typeface="Cambria Math"/>
                <a:cs typeface="Cambria Math"/>
              </a:rPr>
              <a:t> </a:t>
            </a:r>
            <a:r>
              <a:rPr dirty="0" sz="1800" spc="150">
                <a:latin typeface="Cambria Math"/>
                <a:cs typeface="Cambria Math"/>
              </a:rPr>
              <a:t>𝐪</a:t>
            </a:r>
            <a:r>
              <a:rPr dirty="0" baseline="-14957" sz="1950" spc="225">
                <a:latin typeface="Cambria Math"/>
                <a:cs typeface="Cambria Math"/>
              </a:rPr>
              <a:t>-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51</a:t>
            </a:fld>
          </a:p>
        </p:txBody>
      </p:sp>
      <p:sp>
        <p:nvSpPr>
          <p:cNvPr id="46" name="object 46"/>
          <p:cNvSpPr txBox="1"/>
          <p:nvPr/>
        </p:nvSpPr>
        <p:spPr>
          <a:xfrm>
            <a:off x="4241265" y="4422140"/>
            <a:ext cx="404304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35">
                <a:solidFill>
                  <a:srgbClr val="479249"/>
                </a:solidFill>
                <a:latin typeface="Calibri"/>
                <a:cs typeface="Calibri"/>
              </a:rPr>
              <a:t>We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want </a:t>
            </a:r>
            <a:r>
              <a:rPr dirty="0" sz="1800" spc="-15" b="1">
                <a:solidFill>
                  <a:srgbClr val="D9253E"/>
                </a:solidFill>
                <a:latin typeface="Calibri"/>
                <a:cs typeface="Calibri"/>
              </a:rPr>
              <a:t>red </a:t>
            </a:r>
            <a:r>
              <a:rPr dirty="0" sz="1800" spc="-5" b="1">
                <a:solidFill>
                  <a:srgbClr val="D9253E"/>
                </a:solidFill>
                <a:latin typeface="Calibri"/>
                <a:cs typeface="Calibri"/>
              </a:rPr>
              <a:t>dots </a:t>
            </a:r>
            <a:r>
              <a:rPr dirty="0" sz="1800" spc="-10" b="1">
                <a:solidFill>
                  <a:srgbClr val="D9253E"/>
                </a:solidFill>
                <a:latin typeface="Calibri"/>
                <a:cs typeface="Calibri"/>
              </a:rPr>
              <a:t>(answers)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be in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the 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box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while the </a:t>
            </a:r>
            <a:r>
              <a:rPr dirty="0" sz="1800" spc="-5" b="1">
                <a:solidFill>
                  <a:srgbClr val="0070C0"/>
                </a:solidFill>
                <a:latin typeface="Calibri"/>
                <a:cs typeface="Calibri"/>
              </a:rPr>
              <a:t>blue dots </a:t>
            </a:r>
            <a:r>
              <a:rPr dirty="0" sz="1800" spc="-15" b="1">
                <a:solidFill>
                  <a:srgbClr val="0070C0"/>
                </a:solidFill>
                <a:latin typeface="Calibri"/>
                <a:cs typeface="Calibri"/>
              </a:rPr>
              <a:t>(negative answers) 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be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outside the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box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439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18903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 i="0">
                <a:latin typeface="Calibri"/>
                <a:cs typeface="Calibri"/>
              </a:rPr>
              <a:t>E</a:t>
            </a:r>
            <a:r>
              <a:rPr dirty="0" sz="3200" spc="-45" b="1" i="0">
                <a:latin typeface="Calibri"/>
                <a:cs typeface="Calibri"/>
              </a:rPr>
              <a:t>x</a:t>
            </a:r>
            <a:r>
              <a:rPr dirty="0" sz="3200" spc="-5" b="1" i="0">
                <a:latin typeface="Calibri"/>
                <a:cs typeface="Calibri"/>
              </a:rPr>
              <a:t>amp</a:t>
            </a:r>
            <a:r>
              <a:rPr dirty="0" sz="3200" b="1" i="0">
                <a:latin typeface="Calibri"/>
                <a:cs typeface="Calibri"/>
              </a:rPr>
              <a:t>l</a:t>
            </a:r>
            <a:r>
              <a:rPr dirty="0" sz="3200" spc="0" b="1" i="0">
                <a:latin typeface="Calibri"/>
                <a:cs typeface="Calibri"/>
              </a:rPr>
              <a:t>e</a:t>
            </a:r>
            <a:r>
              <a:rPr dirty="0" sz="3200" b="1" i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0033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49785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50033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01341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83172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92809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83172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44724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78250" y="2542089"/>
            <a:ext cx="589915" cy="331470"/>
          </a:xfrm>
          <a:custGeom>
            <a:avLst/>
            <a:gdLst/>
            <a:ahLst/>
            <a:cxnLst/>
            <a:rect l="l" t="t" r="r" b="b"/>
            <a:pathLst>
              <a:path w="589914" h="331469">
                <a:moveTo>
                  <a:pt x="483641" y="0"/>
                </a:moveTo>
                <a:lnTo>
                  <a:pt x="479126" y="0"/>
                </a:lnTo>
                <a:lnTo>
                  <a:pt x="479126" y="13195"/>
                </a:lnTo>
                <a:lnTo>
                  <a:pt x="481731" y="13195"/>
                </a:lnTo>
                <a:lnTo>
                  <a:pt x="493635" y="14014"/>
                </a:lnTo>
                <a:lnTo>
                  <a:pt x="527374" y="33928"/>
                </a:lnTo>
                <a:lnTo>
                  <a:pt x="535383" y="69626"/>
                </a:lnTo>
                <a:lnTo>
                  <a:pt x="535166" y="76061"/>
                </a:lnTo>
                <a:lnTo>
                  <a:pt x="534515" y="83212"/>
                </a:lnTo>
                <a:lnTo>
                  <a:pt x="533429" y="91080"/>
                </a:lnTo>
                <a:lnTo>
                  <a:pt x="531910" y="99664"/>
                </a:lnTo>
                <a:lnTo>
                  <a:pt x="530391" y="107966"/>
                </a:lnTo>
                <a:lnTo>
                  <a:pt x="529306" y="114987"/>
                </a:lnTo>
                <a:lnTo>
                  <a:pt x="528655" y="120728"/>
                </a:lnTo>
                <a:lnTo>
                  <a:pt x="528438" y="125188"/>
                </a:lnTo>
                <a:lnTo>
                  <a:pt x="528980" y="132237"/>
                </a:lnTo>
                <a:lnTo>
                  <a:pt x="557782" y="163388"/>
                </a:lnTo>
                <a:lnTo>
                  <a:pt x="557782" y="166513"/>
                </a:lnTo>
                <a:lnTo>
                  <a:pt x="528980" y="197664"/>
                </a:lnTo>
                <a:lnTo>
                  <a:pt x="528438" y="204712"/>
                </a:lnTo>
                <a:lnTo>
                  <a:pt x="528655" y="209172"/>
                </a:lnTo>
                <a:lnTo>
                  <a:pt x="529306" y="214913"/>
                </a:lnTo>
                <a:lnTo>
                  <a:pt x="530391" y="221935"/>
                </a:lnTo>
                <a:lnTo>
                  <a:pt x="531910" y="230237"/>
                </a:lnTo>
                <a:lnTo>
                  <a:pt x="533429" y="238820"/>
                </a:lnTo>
                <a:lnTo>
                  <a:pt x="534515" y="246688"/>
                </a:lnTo>
                <a:lnTo>
                  <a:pt x="535166" y="253839"/>
                </a:lnTo>
                <a:lnTo>
                  <a:pt x="535383" y="260275"/>
                </a:lnTo>
                <a:lnTo>
                  <a:pt x="534493" y="274843"/>
                </a:lnTo>
                <a:lnTo>
                  <a:pt x="513343" y="310547"/>
                </a:lnTo>
                <a:lnTo>
                  <a:pt x="481731" y="317921"/>
                </a:lnTo>
                <a:lnTo>
                  <a:pt x="479126" y="317921"/>
                </a:lnTo>
                <a:lnTo>
                  <a:pt x="479126" y="331116"/>
                </a:lnTo>
                <a:lnTo>
                  <a:pt x="483641" y="331116"/>
                </a:lnTo>
                <a:lnTo>
                  <a:pt x="502757" y="329690"/>
                </a:lnTo>
                <a:lnTo>
                  <a:pt x="544672" y="312451"/>
                </a:lnTo>
                <a:lnTo>
                  <a:pt x="563636" y="274604"/>
                </a:lnTo>
                <a:lnTo>
                  <a:pt x="564901" y="257149"/>
                </a:lnTo>
                <a:lnTo>
                  <a:pt x="564646" y="249694"/>
                </a:lnTo>
                <a:lnTo>
                  <a:pt x="563880" y="241739"/>
                </a:lnTo>
                <a:lnTo>
                  <a:pt x="562605" y="233286"/>
                </a:lnTo>
                <a:lnTo>
                  <a:pt x="560820" y="224332"/>
                </a:lnTo>
                <a:lnTo>
                  <a:pt x="558100" y="212063"/>
                </a:lnTo>
                <a:lnTo>
                  <a:pt x="556740" y="203843"/>
                </a:lnTo>
                <a:lnTo>
                  <a:pt x="556740" y="191689"/>
                </a:lnTo>
                <a:lnTo>
                  <a:pt x="559489" y="185178"/>
                </a:lnTo>
                <a:lnTo>
                  <a:pt x="589903" y="172069"/>
                </a:lnTo>
                <a:lnTo>
                  <a:pt x="589903" y="157831"/>
                </a:lnTo>
                <a:lnTo>
                  <a:pt x="556740" y="138211"/>
                </a:lnTo>
                <a:lnTo>
                  <a:pt x="556740" y="126056"/>
                </a:lnTo>
                <a:lnTo>
                  <a:pt x="558100" y="117838"/>
                </a:lnTo>
                <a:lnTo>
                  <a:pt x="560820" y="105568"/>
                </a:lnTo>
                <a:lnTo>
                  <a:pt x="562605" y="96615"/>
                </a:lnTo>
                <a:lnTo>
                  <a:pt x="563880" y="88161"/>
                </a:lnTo>
                <a:lnTo>
                  <a:pt x="564646" y="80207"/>
                </a:lnTo>
                <a:lnTo>
                  <a:pt x="564901" y="72751"/>
                </a:lnTo>
                <a:lnTo>
                  <a:pt x="563636" y="55827"/>
                </a:lnTo>
                <a:lnTo>
                  <a:pt x="544672" y="18665"/>
                </a:lnTo>
                <a:lnTo>
                  <a:pt x="502757" y="1426"/>
                </a:lnTo>
                <a:lnTo>
                  <a:pt x="483641" y="0"/>
                </a:lnTo>
                <a:close/>
              </a:path>
              <a:path w="589914" h="331469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8" y="96441"/>
                </a:lnTo>
                <a:lnTo>
                  <a:pt x="29082" y="105394"/>
                </a:lnTo>
                <a:lnTo>
                  <a:pt x="31803" y="117664"/>
                </a:lnTo>
                <a:lnTo>
                  <a:pt x="33164" y="125883"/>
                </a:lnTo>
                <a:lnTo>
                  <a:pt x="33164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4" y="191516"/>
                </a:lnTo>
                <a:lnTo>
                  <a:pt x="33164" y="203671"/>
                </a:lnTo>
                <a:lnTo>
                  <a:pt x="31803" y="211889"/>
                </a:lnTo>
                <a:lnTo>
                  <a:pt x="29082" y="224158"/>
                </a:lnTo>
                <a:lnTo>
                  <a:pt x="27298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53255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53007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53255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04563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178202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87839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78202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39755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81472" y="2542089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69">
                <a:moveTo>
                  <a:pt x="491831" y="0"/>
                </a:moveTo>
                <a:lnTo>
                  <a:pt x="487318" y="0"/>
                </a:lnTo>
                <a:lnTo>
                  <a:pt x="487318" y="13195"/>
                </a:lnTo>
                <a:lnTo>
                  <a:pt x="489921" y="13195"/>
                </a:lnTo>
                <a:lnTo>
                  <a:pt x="501826" y="14014"/>
                </a:lnTo>
                <a:lnTo>
                  <a:pt x="535566" y="33928"/>
                </a:lnTo>
                <a:lnTo>
                  <a:pt x="543575" y="69626"/>
                </a:lnTo>
                <a:lnTo>
                  <a:pt x="543358" y="76061"/>
                </a:lnTo>
                <a:lnTo>
                  <a:pt x="542706" y="83212"/>
                </a:lnTo>
                <a:lnTo>
                  <a:pt x="541621" y="91080"/>
                </a:lnTo>
                <a:lnTo>
                  <a:pt x="540101" y="99664"/>
                </a:lnTo>
                <a:lnTo>
                  <a:pt x="538582" y="107966"/>
                </a:lnTo>
                <a:lnTo>
                  <a:pt x="537497" y="114987"/>
                </a:lnTo>
                <a:lnTo>
                  <a:pt x="536846" y="120728"/>
                </a:lnTo>
                <a:lnTo>
                  <a:pt x="536629" y="125188"/>
                </a:lnTo>
                <a:lnTo>
                  <a:pt x="537172" y="132237"/>
                </a:lnTo>
                <a:lnTo>
                  <a:pt x="565972" y="163388"/>
                </a:lnTo>
                <a:lnTo>
                  <a:pt x="565972" y="166513"/>
                </a:lnTo>
                <a:lnTo>
                  <a:pt x="537172" y="197664"/>
                </a:lnTo>
                <a:lnTo>
                  <a:pt x="536629" y="204712"/>
                </a:lnTo>
                <a:lnTo>
                  <a:pt x="536846" y="209172"/>
                </a:lnTo>
                <a:lnTo>
                  <a:pt x="537497" y="214913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0"/>
                </a:lnTo>
                <a:lnTo>
                  <a:pt x="542706" y="246688"/>
                </a:lnTo>
                <a:lnTo>
                  <a:pt x="543358" y="253839"/>
                </a:lnTo>
                <a:lnTo>
                  <a:pt x="543575" y="260275"/>
                </a:lnTo>
                <a:lnTo>
                  <a:pt x="542685" y="274843"/>
                </a:lnTo>
                <a:lnTo>
                  <a:pt x="521534" y="310547"/>
                </a:lnTo>
                <a:lnTo>
                  <a:pt x="489921" y="317921"/>
                </a:lnTo>
                <a:lnTo>
                  <a:pt x="487318" y="317921"/>
                </a:lnTo>
                <a:lnTo>
                  <a:pt x="487318" y="331116"/>
                </a:lnTo>
                <a:lnTo>
                  <a:pt x="491831" y="331116"/>
                </a:lnTo>
                <a:lnTo>
                  <a:pt x="510948" y="329690"/>
                </a:lnTo>
                <a:lnTo>
                  <a:pt x="552864" y="312451"/>
                </a:lnTo>
                <a:lnTo>
                  <a:pt x="571828" y="274604"/>
                </a:lnTo>
                <a:lnTo>
                  <a:pt x="573092" y="257149"/>
                </a:lnTo>
                <a:lnTo>
                  <a:pt x="572837" y="249694"/>
                </a:lnTo>
                <a:lnTo>
                  <a:pt x="572072" y="241739"/>
                </a:lnTo>
                <a:lnTo>
                  <a:pt x="570797" y="233286"/>
                </a:lnTo>
                <a:lnTo>
                  <a:pt x="569012" y="224332"/>
                </a:lnTo>
                <a:lnTo>
                  <a:pt x="566291" y="212063"/>
                </a:lnTo>
                <a:lnTo>
                  <a:pt x="564931" y="203843"/>
                </a:lnTo>
                <a:lnTo>
                  <a:pt x="564931" y="191689"/>
                </a:lnTo>
                <a:lnTo>
                  <a:pt x="567681" y="185178"/>
                </a:lnTo>
                <a:lnTo>
                  <a:pt x="598095" y="172069"/>
                </a:lnTo>
                <a:lnTo>
                  <a:pt x="598095" y="157831"/>
                </a:lnTo>
                <a:lnTo>
                  <a:pt x="564931" y="138211"/>
                </a:lnTo>
                <a:lnTo>
                  <a:pt x="564931" y="126056"/>
                </a:lnTo>
                <a:lnTo>
                  <a:pt x="566291" y="117838"/>
                </a:lnTo>
                <a:lnTo>
                  <a:pt x="569012" y="105568"/>
                </a:lnTo>
                <a:lnTo>
                  <a:pt x="570797" y="96615"/>
                </a:lnTo>
                <a:lnTo>
                  <a:pt x="572072" y="88161"/>
                </a:lnTo>
                <a:lnTo>
                  <a:pt x="572837" y="80207"/>
                </a:lnTo>
                <a:lnTo>
                  <a:pt x="573092" y="72751"/>
                </a:lnTo>
                <a:lnTo>
                  <a:pt x="571828" y="55827"/>
                </a:lnTo>
                <a:lnTo>
                  <a:pt x="552864" y="18665"/>
                </a:lnTo>
                <a:lnTo>
                  <a:pt x="510948" y="1426"/>
                </a:lnTo>
                <a:lnTo>
                  <a:pt x="491831" y="0"/>
                </a:lnTo>
                <a:close/>
              </a:path>
              <a:path w="598170" h="331469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9" y="96441"/>
                </a:lnTo>
                <a:lnTo>
                  <a:pt x="29084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4" y="224158"/>
                </a:lnTo>
                <a:lnTo>
                  <a:pt x="27299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64668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664420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64668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615976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089615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99251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89615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51168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192885" y="2542089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69">
                <a:moveTo>
                  <a:pt x="491831" y="0"/>
                </a:moveTo>
                <a:lnTo>
                  <a:pt x="487318" y="0"/>
                </a:lnTo>
                <a:lnTo>
                  <a:pt x="487318" y="13195"/>
                </a:lnTo>
                <a:lnTo>
                  <a:pt x="489921" y="13195"/>
                </a:lnTo>
                <a:lnTo>
                  <a:pt x="501826" y="14014"/>
                </a:lnTo>
                <a:lnTo>
                  <a:pt x="535566" y="33928"/>
                </a:lnTo>
                <a:lnTo>
                  <a:pt x="543575" y="69626"/>
                </a:lnTo>
                <a:lnTo>
                  <a:pt x="543358" y="76061"/>
                </a:lnTo>
                <a:lnTo>
                  <a:pt x="542706" y="83212"/>
                </a:lnTo>
                <a:lnTo>
                  <a:pt x="541621" y="91080"/>
                </a:lnTo>
                <a:lnTo>
                  <a:pt x="540101" y="99664"/>
                </a:lnTo>
                <a:lnTo>
                  <a:pt x="538582" y="107966"/>
                </a:lnTo>
                <a:lnTo>
                  <a:pt x="537497" y="114987"/>
                </a:lnTo>
                <a:lnTo>
                  <a:pt x="536846" y="120728"/>
                </a:lnTo>
                <a:lnTo>
                  <a:pt x="536629" y="125188"/>
                </a:lnTo>
                <a:lnTo>
                  <a:pt x="537172" y="132237"/>
                </a:lnTo>
                <a:lnTo>
                  <a:pt x="565972" y="163388"/>
                </a:lnTo>
                <a:lnTo>
                  <a:pt x="565972" y="166513"/>
                </a:lnTo>
                <a:lnTo>
                  <a:pt x="537172" y="197664"/>
                </a:lnTo>
                <a:lnTo>
                  <a:pt x="536629" y="204712"/>
                </a:lnTo>
                <a:lnTo>
                  <a:pt x="536846" y="209172"/>
                </a:lnTo>
                <a:lnTo>
                  <a:pt x="537497" y="214913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0"/>
                </a:lnTo>
                <a:lnTo>
                  <a:pt x="542706" y="246688"/>
                </a:lnTo>
                <a:lnTo>
                  <a:pt x="543358" y="253839"/>
                </a:lnTo>
                <a:lnTo>
                  <a:pt x="543575" y="260275"/>
                </a:lnTo>
                <a:lnTo>
                  <a:pt x="542685" y="274843"/>
                </a:lnTo>
                <a:lnTo>
                  <a:pt x="521534" y="310547"/>
                </a:lnTo>
                <a:lnTo>
                  <a:pt x="489921" y="317921"/>
                </a:lnTo>
                <a:lnTo>
                  <a:pt x="487318" y="317921"/>
                </a:lnTo>
                <a:lnTo>
                  <a:pt x="487318" y="331116"/>
                </a:lnTo>
                <a:lnTo>
                  <a:pt x="491831" y="331116"/>
                </a:lnTo>
                <a:lnTo>
                  <a:pt x="510947" y="329690"/>
                </a:lnTo>
                <a:lnTo>
                  <a:pt x="552864" y="312451"/>
                </a:lnTo>
                <a:lnTo>
                  <a:pt x="571828" y="274604"/>
                </a:lnTo>
                <a:lnTo>
                  <a:pt x="573092" y="257149"/>
                </a:lnTo>
                <a:lnTo>
                  <a:pt x="572837" y="249694"/>
                </a:lnTo>
                <a:lnTo>
                  <a:pt x="572072" y="241739"/>
                </a:lnTo>
                <a:lnTo>
                  <a:pt x="570797" y="233286"/>
                </a:lnTo>
                <a:lnTo>
                  <a:pt x="569012" y="224332"/>
                </a:lnTo>
                <a:lnTo>
                  <a:pt x="566291" y="212063"/>
                </a:lnTo>
                <a:lnTo>
                  <a:pt x="564931" y="203843"/>
                </a:lnTo>
                <a:lnTo>
                  <a:pt x="564931" y="191689"/>
                </a:lnTo>
                <a:lnTo>
                  <a:pt x="567681" y="185178"/>
                </a:lnTo>
                <a:lnTo>
                  <a:pt x="598095" y="172069"/>
                </a:lnTo>
                <a:lnTo>
                  <a:pt x="598095" y="157831"/>
                </a:lnTo>
                <a:lnTo>
                  <a:pt x="564931" y="138211"/>
                </a:lnTo>
                <a:lnTo>
                  <a:pt x="564931" y="126056"/>
                </a:lnTo>
                <a:lnTo>
                  <a:pt x="566291" y="117838"/>
                </a:lnTo>
                <a:lnTo>
                  <a:pt x="569012" y="105568"/>
                </a:lnTo>
                <a:lnTo>
                  <a:pt x="570797" y="96615"/>
                </a:lnTo>
                <a:lnTo>
                  <a:pt x="572072" y="88161"/>
                </a:lnTo>
                <a:lnTo>
                  <a:pt x="572837" y="80207"/>
                </a:lnTo>
                <a:lnTo>
                  <a:pt x="573092" y="72751"/>
                </a:lnTo>
                <a:lnTo>
                  <a:pt x="571828" y="55827"/>
                </a:lnTo>
                <a:lnTo>
                  <a:pt x="552864" y="18665"/>
                </a:lnTo>
                <a:lnTo>
                  <a:pt x="510947" y="1426"/>
                </a:lnTo>
                <a:lnTo>
                  <a:pt x="491831" y="0"/>
                </a:lnTo>
                <a:close/>
              </a:path>
              <a:path w="598170" h="331469">
                <a:moveTo>
                  <a:pt x="110777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6" y="55730"/>
                </a:lnTo>
                <a:lnTo>
                  <a:pt x="25115" y="75887"/>
                </a:lnTo>
                <a:lnTo>
                  <a:pt x="25257" y="80033"/>
                </a:lnTo>
                <a:lnTo>
                  <a:pt x="26022" y="87987"/>
                </a:lnTo>
                <a:lnTo>
                  <a:pt x="27297" y="96441"/>
                </a:lnTo>
                <a:lnTo>
                  <a:pt x="29082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3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2" y="224158"/>
                </a:lnTo>
                <a:lnTo>
                  <a:pt x="27297" y="233112"/>
                </a:lnTo>
                <a:lnTo>
                  <a:pt x="26022" y="241565"/>
                </a:lnTo>
                <a:lnTo>
                  <a:pt x="25257" y="249520"/>
                </a:lnTo>
                <a:lnTo>
                  <a:pt x="25002" y="256975"/>
                </a:lnTo>
                <a:lnTo>
                  <a:pt x="26266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7" y="331116"/>
                </a:lnTo>
                <a:lnTo>
                  <a:pt x="110777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19" y="260101"/>
                </a:lnTo>
                <a:lnTo>
                  <a:pt x="54736" y="253665"/>
                </a:lnTo>
                <a:lnTo>
                  <a:pt x="55388" y="246514"/>
                </a:lnTo>
                <a:lnTo>
                  <a:pt x="56473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7" y="214740"/>
                </a:lnTo>
                <a:lnTo>
                  <a:pt x="61248" y="208999"/>
                </a:lnTo>
                <a:lnTo>
                  <a:pt x="61465" y="204538"/>
                </a:lnTo>
                <a:lnTo>
                  <a:pt x="60922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2" y="132063"/>
                </a:lnTo>
                <a:lnTo>
                  <a:pt x="61465" y="125014"/>
                </a:lnTo>
                <a:lnTo>
                  <a:pt x="61248" y="120554"/>
                </a:lnTo>
                <a:lnTo>
                  <a:pt x="60597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3" y="90906"/>
                </a:lnTo>
                <a:lnTo>
                  <a:pt x="55388" y="83038"/>
                </a:lnTo>
                <a:lnTo>
                  <a:pt x="54736" y="75887"/>
                </a:lnTo>
                <a:lnTo>
                  <a:pt x="54519" y="69452"/>
                </a:lnTo>
                <a:lnTo>
                  <a:pt x="55409" y="55491"/>
                </a:lnTo>
                <a:lnTo>
                  <a:pt x="76560" y="20569"/>
                </a:lnTo>
                <a:lnTo>
                  <a:pt x="108173" y="13195"/>
                </a:lnTo>
                <a:lnTo>
                  <a:pt x="110777" y="13195"/>
                </a:lnTo>
                <a:lnTo>
                  <a:pt x="110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660443" y="4081802"/>
            <a:ext cx="85725" cy="2028189"/>
          </a:xfrm>
          <a:custGeom>
            <a:avLst/>
            <a:gdLst/>
            <a:ahLst/>
            <a:cxnLst/>
            <a:rect l="l" t="t" r="r" b="b"/>
            <a:pathLst>
              <a:path w="85725" h="2028189">
                <a:moveTo>
                  <a:pt x="50753" y="57150"/>
                </a:moveTo>
                <a:lnTo>
                  <a:pt x="34971" y="57150"/>
                </a:lnTo>
                <a:lnTo>
                  <a:pt x="28575" y="63545"/>
                </a:lnTo>
                <a:lnTo>
                  <a:pt x="28576" y="2021625"/>
                </a:lnTo>
                <a:lnTo>
                  <a:pt x="34971" y="2028022"/>
                </a:lnTo>
                <a:lnTo>
                  <a:pt x="50754" y="2028022"/>
                </a:lnTo>
                <a:lnTo>
                  <a:pt x="57151" y="2021625"/>
                </a:lnTo>
                <a:lnTo>
                  <a:pt x="57150" y="63545"/>
                </a:lnTo>
                <a:lnTo>
                  <a:pt x="50753" y="57150"/>
                </a:lnTo>
                <a:close/>
              </a:path>
              <a:path w="85725" h="2028189">
                <a:moveTo>
                  <a:pt x="42862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63545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2028189">
                <a:moveTo>
                  <a:pt x="71437" y="57150"/>
                </a:moveTo>
                <a:lnTo>
                  <a:pt x="50753" y="57150"/>
                </a:lnTo>
                <a:lnTo>
                  <a:pt x="57150" y="63545"/>
                </a:lnTo>
                <a:lnTo>
                  <a:pt x="57150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669963" y="6052623"/>
            <a:ext cx="2225040" cy="85725"/>
          </a:xfrm>
          <a:custGeom>
            <a:avLst/>
            <a:gdLst/>
            <a:ahLst/>
            <a:cxnLst/>
            <a:rect l="l" t="t" r="r" b="b"/>
            <a:pathLst>
              <a:path w="2225040" h="85725">
                <a:moveTo>
                  <a:pt x="2139084" y="57149"/>
                </a:moveTo>
                <a:lnTo>
                  <a:pt x="2139067" y="85725"/>
                </a:lnTo>
                <a:lnTo>
                  <a:pt x="2196277" y="57163"/>
                </a:lnTo>
                <a:lnTo>
                  <a:pt x="2139084" y="57149"/>
                </a:lnTo>
                <a:close/>
              </a:path>
              <a:path w="2225040" h="85725">
                <a:moveTo>
                  <a:pt x="2139102" y="28574"/>
                </a:moveTo>
                <a:lnTo>
                  <a:pt x="2139084" y="57149"/>
                </a:lnTo>
                <a:lnTo>
                  <a:pt x="2161258" y="57163"/>
                </a:lnTo>
                <a:lnTo>
                  <a:pt x="2167657" y="50770"/>
                </a:lnTo>
                <a:lnTo>
                  <a:pt x="2167667" y="34989"/>
                </a:lnTo>
                <a:lnTo>
                  <a:pt x="2161274" y="28588"/>
                </a:lnTo>
                <a:lnTo>
                  <a:pt x="2139102" y="28574"/>
                </a:lnTo>
                <a:close/>
              </a:path>
              <a:path w="2225040" h="85725">
                <a:moveTo>
                  <a:pt x="2139119" y="0"/>
                </a:moveTo>
                <a:lnTo>
                  <a:pt x="2139102" y="28574"/>
                </a:lnTo>
                <a:lnTo>
                  <a:pt x="2161274" y="28588"/>
                </a:lnTo>
                <a:lnTo>
                  <a:pt x="2167667" y="34989"/>
                </a:lnTo>
                <a:lnTo>
                  <a:pt x="2167657" y="50770"/>
                </a:lnTo>
                <a:lnTo>
                  <a:pt x="2161258" y="57163"/>
                </a:lnTo>
                <a:lnTo>
                  <a:pt x="2196277" y="57163"/>
                </a:lnTo>
                <a:lnTo>
                  <a:pt x="2224819" y="42914"/>
                </a:lnTo>
                <a:lnTo>
                  <a:pt x="2139119" y="0"/>
                </a:lnTo>
                <a:close/>
              </a:path>
              <a:path w="2225040" h="85725">
                <a:moveTo>
                  <a:pt x="6410" y="27284"/>
                </a:moveTo>
                <a:lnTo>
                  <a:pt x="10" y="33676"/>
                </a:lnTo>
                <a:lnTo>
                  <a:pt x="0" y="49458"/>
                </a:lnTo>
                <a:lnTo>
                  <a:pt x="6393" y="55859"/>
                </a:lnTo>
                <a:lnTo>
                  <a:pt x="2139084" y="57149"/>
                </a:lnTo>
                <a:lnTo>
                  <a:pt x="2139102" y="28574"/>
                </a:lnTo>
                <a:lnTo>
                  <a:pt x="6410" y="27284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736421" y="476010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736421" y="476010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055856" y="52108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55856" y="52108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293854" y="53125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293854" y="53125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263529" y="4995164"/>
            <a:ext cx="228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30">
                <a:latin typeface="Cambria Math"/>
                <a:cs typeface="Cambria Math"/>
              </a:rPr>
              <a:t>𝐯</a:t>
            </a:r>
            <a:r>
              <a:rPr dirty="0" baseline="-14957" sz="1950" spc="-330">
                <a:latin typeface="Cambria Math"/>
                <a:cs typeface="Cambria Math"/>
              </a:rPr>
              <a:t>+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51</a:t>
            </a:fld>
          </a:p>
        </p:txBody>
      </p:sp>
      <p:sp>
        <p:nvSpPr>
          <p:cNvPr id="40" name="object 40"/>
          <p:cNvSpPr txBox="1"/>
          <p:nvPr/>
        </p:nvSpPr>
        <p:spPr>
          <a:xfrm>
            <a:off x="2826640" y="4422140"/>
            <a:ext cx="2336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0">
                <a:latin typeface="Cambria Math"/>
                <a:cs typeface="Cambria Math"/>
              </a:rPr>
              <a:t>𝐯</a:t>
            </a:r>
            <a:r>
              <a:rPr dirty="0" baseline="-14957" sz="1950" spc="719">
                <a:latin typeface="Cambria Math"/>
                <a:cs typeface="Cambria Math"/>
              </a:rPr>
              <a:t>,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85291" y="5159755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𝐯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97941" y="5268976"/>
            <a:ext cx="1212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315">
                <a:latin typeface="Cambria Math"/>
                <a:cs typeface="Cambria Math"/>
              </a:rPr>
              <a:t>-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10"/>
              <a:t>Given </a:t>
            </a:r>
            <a:r>
              <a:rPr dirty="0"/>
              <a:t>3 </a:t>
            </a:r>
            <a:r>
              <a:rPr dirty="0" spc="-5"/>
              <a:t>queries </a:t>
            </a:r>
            <a:r>
              <a:rPr dirty="0" spc="110">
                <a:latin typeface="Cambria Math"/>
                <a:cs typeface="Cambria Math"/>
              </a:rPr>
              <a:t>𝑞</a:t>
            </a:r>
            <a:r>
              <a:rPr dirty="0" baseline="-16666" sz="3000" spc="165">
                <a:latin typeface="Cambria Math"/>
                <a:cs typeface="Cambria Math"/>
              </a:rPr>
              <a:t>"</a:t>
            </a:r>
            <a:r>
              <a:rPr dirty="0" sz="2800" spc="110">
                <a:latin typeface="Cambria Math"/>
                <a:cs typeface="Cambria Math"/>
              </a:rPr>
              <a:t>, </a:t>
            </a:r>
            <a:r>
              <a:rPr dirty="0" sz="2800" spc="-15">
                <a:latin typeface="Cambria Math"/>
                <a:cs typeface="Cambria Math"/>
              </a:rPr>
              <a:t>𝑞</a:t>
            </a:r>
            <a:r>
              <a:rPr dirty="0" baseline="-16666" sz="3000" spc="-22">
                <a:latin typeface="Cambria Math"/>
                <a:cs typeface="Cambria Math"/>
              </a:rPr>
              <a:t>#</a:t>
            </a:r>
            <a:r>
              <a:rPr dirty="0" sz="2800" spc="-15">
                <a:latin typeface="Cambria Math"/>
                <a:cs typeface="Cambria Math"/>
              </a:rPr>
              <a:t>, </a:t>
            </a: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6666" sz="3000" spc="187">
                <a:latin typeface="Cambria Math"/>
                <a:cs typeface="Cambria Math"/>
              </a:rPr>
              <a:t>)</a:t>
            </a:r>
            <a:r>
              <a:rPr dirty="0" sz="2800" spc="125"/>
              <a:t>,</a:t>
            </a:r>
            <a:r>
              <a:rPr dirty="0" sz="2800" spc="-380"/>
              <a:t> </a:t>
            </a:r>
            <a:r>
              <a:rPr dirty="0" sz="2800" spc="-5"/>
              <a:t>with </a:t>
            </a:r>
            <a:r>
              <a:rPr dirty="0" sz="2800" spc="-10"/>
              <a:t>answer sets:</a:t>
            </a:r>
            <a:endParaRPr sz="2800">
              <a:latin typeface="Cambria Math"/>
              <a:cs typeface="Cambria Math"/>
            </a:endParaRPr>
          </a:p>
          <a:p>
            <a:pPr marL="443230" indent="-43053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443230" algn="l"/>
                <a:tab pos="443865" algn="l"/>
                <a:tab pos="1040765" algn="l"/>
                <a:tab pos="1542415" algn="l"/>
                <a:tab pos="2338070" algn="l"/>
                <a:tab pos="2943860" algn="l"/>
                <a:tab pos="3445510" algn="l"/>
                <a:tab pos="4249420" algn="l"/>
                <a:tab pos="4855845" algn="l"/>
                <a:tab pos="5356860" algn="l"/>
              </a:tabLst>
            </a:pPr>
            <a:r>
              <a:rPr dirty="0" spc="125">
                <a:latin typeface="Cambria Math"/>
                <a:cs typeface="Cambria Math"/>
              </a:rPr>
              <a:t>𝑞</a:t>
            </a:r>
            <a:r>
              <a:rPr dirty="0" baseline="-15277" sz="3000" spc="187">
                <a:latin typeface="Cambria Math"/>
                <a:cs typeface="Cambria Math"/>
              </a:rPr>
              <a:t>"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30">
                <a:latin typeface="Cambria Math"/>
                <a:cs typeface="Cambria Math"/>
              </a:rPr>
              <a:t>𝑣</a:t>
            </a:r>
            <a:r>
              <a:rPr dirty="0" baseline="-15277" sz="3000" spc="195">
                <a:latin typeface="Cambria Math"/>
                <a:cs typeface="Cambria Math"/>
              </a:rPr>
              <a:t>"</a:t>
            </a:r>
            <a:r>
              <a:rPr dirty="0" baseline="-15277" sz="3000" spc="64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-70">
                <a:latin typeface="Cambria Math"/>
                <a:cs typeface="Cambria Math"/>
              </a:rPr>
              <a:t>𝑞</a:t>
            </a:r>
            <a:r>
              <a:rPr dirty="0" baseline="-15277" sz="3000" spc="-104">
                <a:latin typeface="Cambria Math"/>
                <a:cs typeface="Cambria Math"/>
              </a:rPr>
              <a:t>#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-60">
                <a:latin typeface="Cambria Math"/>
                <a:cs typeface="Cambria Math"/>
              </a:rPr>
              <a:t>𝑣</a:t>
            </a:r>
            <a:r>
              <a:rPr dirty="0" baseline="-15277" sz="3000" spc="-89">
                <a:latin typeface="Cambria Math"/>
                <a:cs typeface="Cambria Math"/>
              </a:rPr>
              <a:t># </a:t>
            </a:r>
            <a:r>
              <a:rPr dirty="0" baseline="-15277" sz="3000" spc="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130">
                <a:latin typeface="Cambria Math"/>
                <a:cs typeface="Cambria Math"/>
              </a:rPr>
              <a:t>𝑞</a:t>
            </a:r>
            <a:r>
              <a:rPr dirty="0" baseline="-15277" sz="3000" spc="195">
                <a:latin typeface="Cambria Math"/>
                <a:cs typeface="Cambria Math"/>
              </a:rPr>
              <a:t>)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40">
                <a:latin typeface="Cambria Math"/>
                <a:cs typeface="Cambria Math"/>
              </a:rPr>
              <a:t>𝑣</a:t>
            </a:r>
            <a:r>
              <a:rPr dirty="0" baseline="-15277" sz="3000" spc="209">
                <a:latin typeface="Cambria Math"/>
                <a:cs typeface="Cambria Math"/>
              </a:rPr>
              <a:t>)</a:t>
            </a:r>
            <a:endParaRPr baseline="-15277" sz="3000">
              <a:latin typeface="Cambria Math"/>
              <a:cs typeface="Cambria Math"/>
            </a:endParaRPr>
          </a:p>
          <a:p>
            <a:pPr marL="287020" marR="5080" indent="-274320">
              <a:lnSpc>
                <a:spcPct val="101400"/>
              </a:lnSpc>
              <a:spcBef>
                <a:spcPts val="5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5">
                <a:solidFill>
                  <a:srgbClr val="C00000"/>
                </a:solidFill>
              </a:rPr>
              <a:t>If </a:t>
            </a:r>
            <a:r>
              <a:rPr dirty="0" spc="-15">
                <a:solidFill>
                  <a:srgbClr val="C00000"/>
                </a:solidFill>
              </a:rPr>
              <a:t>we </a:t>
            </a:r>
            <a:r>
              <a:rPr dirty="0" spc="-10">
                <a:solidFill>
                  <a:srgbClr val="C00000"/>
                </a:solidFill>
              </a:rPr>
              <a:t>allow </a:t>
            </a:r>
            <a:r>
              <a:rPr dirty="0" spc="-5">
                <a:solidFill>
                  <a:srgbClr val="C00000"/>
                </a:solidFill>
              </a:rPr>
              <a:t>union </a:t>
            </a:r>
            <a:r>
              <a:rPr dirty="0" spc="-15">
                <a:solidFill>
                  <a:srgbClr val="C00000"/>
                </a:solidFill>
              </a:rPr>
              <a:t>operation, </a:t>
            </a:r>
            <a:r>
              <a:rPr dirty="0" spc="-10">
                <a:solidFill>
                  <a:srgbClr val="C00000"/>
                </a:solidFill>
              </a:rPr>
              <a:t>can </a:t>
            </a:r>
            <a:r>
              <a:rPr dirty="0" spc="-15">
                <a:solidFill>
                  <a:srgbClr val="C00000"/>
                </a:solidFill>
              </a:rPr>
              <a:t>we </a:t>
            </a:r>
            <a:r>
              <a:rPr dirty="0" spc="-5">
                <a:solidFill>
                  <a:srgbClr val="C00000"/>
                </a:solidFill>
              </a:rPr>
              <a:t>embed them </a:t>
            </a:r>
            <a:r>
              <a:rPr dirty="0" spc="-285">
                <a:solidFill>
                  <a:srgbClr val="C00000"/>
                </a:solidFill>
              </a:rPr>
              <a:t>in  </a:t>
            </a:r>
            <a:r>
              <a:rPr dirty="0" spc="-5">
                <a:solidFill>
                  <a:srgbClr val="C00000"/>
                </a:solidFill>
              </a:rPr>
              <a:t>two-dimensional</a:t>
            </a:r>
            <a:r>
              <a:rPr dirty="0" spc="-80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plane?</a:t>
            </a:r>
          </a:p>
          <a:p>
            <a:pPr marL="3433445">
              <a:lnSpc>
                <a:spcPct val="100000"/>
              </a:lnSpc>
              <a:spcBef>
                <a:spcPts val="2555"/>
              </a:spcBef>
            </a:pPr>
            <a:r>
              <a:rPr dirty="0" sz="1800" spc="-10">
                <a:solidFill>
                  <a:srgbClr val="479249"/>
                </a:solidFill>
              </a:rPr>
              <a:t>For </a:t>
            </a:r>
            <a:r>
              <a:rPr dirty="0" sz="1800">
                <a:solidFill>
                  <a:srgbClr val="479249"/>
                </a:solidFill>
              </a:rPr>
              <a:t>3 </a:t>
            </a:r>
            <a:r>
              <a:rPr dirty="0" sz="1800" spc="-5">
                <a:solidFill>
                  <a:srgbClr val="479249"/>
                </a:solidFill>
              </a:rPr>
              <a:t>points, 2-dimension is</a:t>
            </a:r>
            <a:r>
              <a:rPr dirty="0" sz="1800" spc="-10">
                <a:solidFill>
                  <a:srgbClr val="479249"/>
                </a:solidFill>
              </a:rPr>
              <a:t> </a:t>
            </a:r>
            <a:r>
              <a:rPr dirty="0" sz="1800" spc="-20">
                <a:solidFill>
                  <a:srgbClr val="479249"/>
                </a:solidFill>
              </a:rPr>
              <a:t>okay!</a:t>
            </a:r>
            <a:endParaRPr sz="1800"/>
          </a:p>
        </p:txBody>
      </p:sp>
      <p:sp>
        <p:nvSpPr>
          <p:cNvPr id="44" name="object 44"/>
          <p:cNvSpPr txBox="1"/>
          <p:nvPr/>
        </p:nvSpPr>
        <p:spPr>
          <a:xfrm>
            <a:off x="4377872" y="4400803"/>
            <a:ext cx="19894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479249"/>
                </a:solidFill>
                <a:latin typeface="Calibri"/>
                <a:cs typeface="Calibri"/>
              </a:rPr>
              <a:t>How about </a:t>
            </a:r>
            <a:r>
              <a:rPr dirty="0" sz="1800" b="1">
                <a:solidFill>
                  <a:srgbClr val="479249"/>
                </a:solidFill>
                <a:latin typeface="Calibri"/>
                <a:cs typeface="Calibri"/>
              </a:rPr>
              <a:t>4</a:t>
            </a:r>
            <a:r>
              <a:rPr dirty="0" sz="1800" spc="-45" b="1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479249"/>
                </a:solidFill>
                <a:latin typeface="Calibri"/>
                <a:cs typeface="Calibri"/>
              </a:rPr>
              <a:t>points?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79068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18948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 i="0">
                <a:latin typeface="Calibri"/>
                <a:cs typeface="Calibri"/>
              </a:rPr>
              <a:t>Example</a:t>
            </a:r>
            <a:r>
              <a:rPr dirty="0" sz="3200" spc="-85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2: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0033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49785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50033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01341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83172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92809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83172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44724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78250" y="2542089"/>
            <a:ext cx="589915" cy="331470"/>
          </a:xfrm>
          <a:custGeom>
            <a:avLst/>
            <a:gdLst/>
            <a:ahLst/>
            <a:cxnLst/>
            <a:rect l="l" t="t" r="r" b="b"/>
            <a:pathLst>
              <a:path w="589914" h="331469">
                <a:moveTo>
                  <a:pt x="483641" y="0"/>
                </a:moveTo>
                <a:lnTo>
                  <a:pt x="479126" y="0"/>
                </a:lnTo>
                <a:lnTo>
                  <a:pt x="479126" y="13195"/>
                </a:lnTo>
                <a:lnTo>
                  <a:pt x="481731" y="13195"/>
                </a:lnTo>
                <a:lnTo>
                  <a:pt x="493635" y="14014"/>
                </a:lnTo>
                <a:lnTo>
                  <a:pt x="527374" y="33928"/>
                </a:lnTo>
                <a:lnTo>
                  <a:pt x="535383" y="69626"/>
                </a:lnTo>
                <a:lnTo>
                  <a:pt x="535166" y="76061"/>
                </a:lnTo>
                <a:lnTo>
                  <a:pt x="534515" y="83212"/>
                </a:lnTo>
                <a:lnTo>
                  <a:pt x="533429" y="91080"/>
                </a:lnTo>
                <a:lnTo>
                  <a:pt x="531910" y="99664"/>
                </a:lnTo>
                <a:lnTo>
                  <a:pt x="530391" y="107966"/>
                </a:lnTo>
                <a:lnTo>
                  <a:pt x="529306" y="114987"/>
                </a:lnTo>
                <a:lnTo>
                  <a:pt x="528655" y="120728"/>
                </a:lnTo>
                <a:lnTo>
                  <a:pt x="528438" y="125188"/>
                </a:lnTo>
                <a:lnTo>
                  <a:pt x="528980" y="132237"/>
                </a:lnTo>
                <a:lnTo>
                  <a:pt x="557782" y="163388"/>
                </a:lnTo>
                <a:lnTo>
                  <a:pt x="557782" y="166513"/>
                </a:lnTo>
                <a:lnTo>
                  <a:pt x="528980" y="197664"/>
                </a:lnTo>
                <a:lnTo>
                  <a:pt x="528438" y="204712"/>
                </a:lnTo>
                <a:lnTo>
                  <a:pt x="528655" y="209172"/>
                </a:lnTo>
                <a:lnTo>
                  <a:pt x="529306" y="214913"/>
                </a:lnTo>
                <a:lnTo>
                  <a:pt x="530391" y="221935"/>
                </a:lnTo>
                <a:lnTo>
                  <a:pt x="531910" y="230237"/>
                </a:lnTo>
                <a:lnTo>
                  <a:pt x="533429" y="238820"/>
                </a:lnTo>
                <a:lnTo>
                  <a:pt x="534515" y="246688"/>
                </a:lnTo>
                <a:lnTo>
                  <a:pt x="535166" y="253839"/>
                </a:lnTo>
                <a:lnTo>
                  <a:pt x="535383" y="260275"/>
                </a:lnTo>
                <a:lnTo>
                  <a:pt x="534493" y="274843"/>
                </a:lnTo>
                <a:lnTo>
                  <a:pt x="513343" y="310547"/>
                </a:lnTo>
                <a:lnTo>
                  <a:pt x="481731" y="317921"/>
                </a:lnTo>
                <a:lnTo>
                  <a:pt x="479126" y="317921"/>
                </a:lnTo>
                <a:lnTo>
                  <a:pt x="479126" y="331116"/>
                </a:lnTo>
                <a:lnTo>
                  <a:pt x="483641" y="331116"/>
                </a:lnTo>
                <a:lnTo>
                  <a:pt x="502757" y="329690"/>
                </a:lnTo>
                <a:lnTo>
                  <a:pt x="544672" y="312451"/>
                </a:lnTo>
                <a:lnTo>
                  <a:pt x="563636" y="274604"/>
                </a:lnTo>
                <a:lnTo>
                  <a:pt x="564901" y="257149"/>
                </a:lnTo>
                <a:lnTo>
                  <a:pt x="564646" y="249694"/>
                </a:lnTo>
                <a:lnTo>
                  <a:pt x="563880" y="241739"/>
                </a:lnTo>
                <a:lnTo>
                  <a:pt x="562605" y="233286"/>
                </a:lnTo>
                <a:lnTo>
                  <a:pt x="560820" y="224332"/>
                </a:lnTo>
                <a:lnTo>
                  <a:pt x="558100" y="212063"/>
                </a:lnTo>
                <a:lnTo>
                  <a:pt x="556740" y="203843"/>
                </a:lnTo>
                <a:lnTo>
                  <a:pt x="556740" y="191689"/>
                </a:lnTo>
                <a:lnTo>
                  <a:pt x="559489" y="185178"/>
                </a:lnTo>
                <a:lnTo>
                  <a:pt x="589903" y="172069"/>
                </a:lnTo>
                <a:lnTo>
                  <a:pt x="589903" y="157831"/>
                </a:lnTo>
                <a:lnTo>
                  <a:pt x="556740" y="138211"/>
                </a:lnTo>
                <a:lnTo>
                  <a:pt x="556740" y="126056"/>
                </a:lnTo>
                <a:lnTo>
                  <a:pt x="558100" y="117838"/>
                </a:lnTo>
                <a:lnTo>
                  <a:pt x="560820" y="105568"/>
                </a:lnTo>
                <a:lnTo>
                  <a:pt x="562605" y="96615"/>
                </a:lnTo>
                <a:lnTo>
                  <a:pt x="563880" y="88161"/>
                </a:lnTo>
                <a:lnTo>
                  <a:pt x="564646" y="80207"/>
                </a:lnTo>
                <a:lnTo>
                  <a:pt x="564901" y="72751"/>
                </a:lnTo>
                <a:lnTo>
                  <a:pt x="563636" y="55827"/>
                </a:lnTo>
                <a:lnTo>
                  <a:pt x="544672" y="18665"/>
                </a:lnTo>
                <a:lnTo>
                  <a:pt x="502757" y="1426"/>
                </a:lnTo>
                <a:lnTo>
                  <a:pt x="483641" y="0"/>
                </a:lnTo>
                <a:close/>
              </a:path>
              <a:path w="589914" h="331469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8" y="96441"/>
                </a:lnTo>
                <a:lnTo>
                  <a:pt x="29082" y="105394"/>
                </a:lnTo>
                <a:lnTo>
                  <a:pt x="31803" y="117664"/>
                </a:lnTo>
                <a:lnTo>
                  <a:pt x="33164" y="125883"/>
                </a:lnTo>
                <a:lnTo>
                  <a:pt x="33164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4" y="191516"/>
                </a:lnTo>
                <a:lnTo>
                  <a:pt x="33164" y="203671"/>
                </a:lnTo>
                <a:lnTo>
                  <a:pt x="31803" y="211889"/>
                </a:lnTo>
                <a:lnTo>
                  <a:pt x="29082" y="224158"/>
                </a:lnTo>
                <a:lnTo>
                  <a:pt x="27298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53255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53007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53255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04563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178202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87839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78202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39755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81472" y="2542089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69">
                <a:moveTo>
                  <a:pt x="491831" y="0"/>
                </a:moveTo>
                <a:lnTo>
                  <a:pt x="487318" y="0"/>
                </a:lnTo>
                <a:lnTo>
                  <a:pt x="487318" y="13195"/>
                </a:lnTo>
                <a:lnTo>
                  <a:pt x="489921" y="13195"/>
                </a:lnTo>
                <a:lnTo>
                  <a:pt x="501826" y="14014"/>
                </a:lnTo>
                <a:lnTo>
                  <a:pt x="535566" y="33928"/>
                </a:lnTo>
                <a:lnTo>
                  <a:pt x="543575" y="69626"/>
                </a:lnTo>
                <a:lnTo>
                  <a:pt x="543358" y="76061"/>
                </a:lnTo>
                <a:lnTo>
                  <a:pt x="542706" y="83212"/>
                </a:lnTo>
                <a:lnTo>
                  <a:pt x="541621" y="91080"/>
                </a:lnTo>
                <a:lnTo>
                  <a:pt x="540101" y="99664"/>
                </a:lnTo>
                <a:lnTo>
                  <a:pt x="538582" y="107966"/>
                </a:lnTo>
                <a:lnTo>
                  <a:pt x="537497" y="114987"/>
                </a:lnTo>
                <a:lnTo>
                  <a:pt x="536846" y="120728"/>
                </a:lnTo>
                <a:lnTo>
                  <a:pt x="536629" y="125188"/>
                </a:lnTo>
                <a:lnTo>
                  <a:pt x="537172" y="132237"/>
                </a:lnTo>
                <a:lnTo>
                  <a:pt x="565972" y="163388"/>
                </a:lnTo>
                <a:lnTo>
                  <a:pt x="565972" y="166513"/>
                </a:lnTo>
                <a:lnTo>
                  <a:pt x="537172" y="197664"/>
                </a:lnTo>
                <a:lnTo>
                  <a:pt x="536629" y="204712"/>
                </a:lnTo>
                <a:lnTo>
                  <a:pt x="536846" y="209172"/>
                </a:lnTo>
                <a:lnTo>
                  <a:pt x="537497" y="214913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0"/>
                </a:lnTo>
                <a:lnTo>
                  <a:pt x="542706" y="246688"/>
                </a:lnTo>
                <a:lnTo>
                  <a:pt x="543358" y="253839"/>
                </a:lnTo>
                <a:lnTo>
                  <a:pt x="543575" y="260275"/>
                </a:lnTo>
                <a:lnTo>
                  <a:pt x="542685" y="274843"/>
                </a:lnTo>
                <a:lnTo>
                  <a:pt x="521534" y="310547"/>
                </a:lnTo>
                <a:lnTo>
                  <a:pt x="489921" y="317921"/>
                </a:lnTo>
                <a:lnTo>
                  <a:pt x="487318" y="317921"/>
                </a:lnTo>
                <a:lnTo>
                  <a:pt x="487318" y="331116"/>
                </a:lnTo>
                <a:lnTo>
                  <a:pt x="491831" y="331116"/>
                </a:lnTo>
                <a:lnTo>
                  <a:pt x="510948" y="329690"/>
                </a:lnTo>
                <a:lnTo>
                  <a:pt x="552864" y="312451"/>
                </a:lnTo>
                <a:lnTo>
                  <a:pt x="571828" y="274604"/>
                </a:lnTo>
                <a:lnTo>
                  <a:pt x="573092" y="257149"/>
                </a:lnTo>
                <a:lnTo>
                  <a:pt x="572837" y="249694"/>
                </a:lnTo>
                <a:lnTo>
                  <a:pt x="572072" y="241739"/>
                </a:lnTo>
                <a:lnTo>
                  <a:pt x="570797" y="233286"/>
                </a:lnTo>
                <a:lnTo>
                  <a:pt x="569012" y="224332"/>
                </a:lnTo>
                <a:lnTo>
                  <a:pt x="566291" y="212063"/>
                </a:lnTo>
                <a:lnTo>
                  <a:pt x="564931" y="203843"/>
                </a:lnTo>
                <a:lnTo>
                  <a:pt x="564931" y="191689"/>
                </a:lnTo>
                <a:lnTo>
                  <a:pt x="567681" y="185178"/>
                </a:lnTo>
                <a:lnTo>
                  <a:pt x="598095" y="172069"/>
                </a:lnTo>
                <a:lnTo>
                  <a:pt x="598095" y="157831"/>
                </a:lnTo>
                <a:lnTo>
                  <a:pt x="564931" y="138211"/>
                </a:lnTo>
                <a:lnTo>
                  <a:pt x="564931" y="126056"/>
                </a:lnTo>
                <a:lnTo>
                  <a:pt x="566291" y="117838"/>
                </a:lnTo>
                <a:lnTo>
                  <a:pt x="569012" y="105568"/>
                </a:lnTo>
                <a:lnTo>
                  <a:pt x="570797" y="96615"/>
                </a:lnTo>
                <a:lnTo>
                  <a:pt x="572072" y="88161"/>
                </a:lnTo>
                <a:lnTo>
                  <a:pt x="572837" y="80207"/>
                </a:lnTo>
                <a:lnTo>
                  <a:pt x="573092" y="72751"/>
                </a:lnTo>
                <a:lnTo>
                  <a:pt x="571828" y="55827"/>
                </a:lnTo>
                <a:lnTo>
                  <a:pt x="552864" y="18665"/>
                </a:lnTo>
                <a:lnTo>
                  <a:pt x="510948" y="1426"/>
                </a:lnTo>
                <a:lnTo>
                  <a:pt x="491831" y="0"/>
                </a:lnTo>
                <a:close/>
              </a:path>
              <a:path w="598170" h="331469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9" y="96441"/>
                </a:lnTo>
                <a:lnTo>
                  <a:pt x="29084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4" y="224158"/>
                </a:lnTo>
                <a:lnTo>
                  <a:pt x="27299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42950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642703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42950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594259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067899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77535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67899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29451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171168" y="2542089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69">
                <a:moveTo>
                  <a:pt x="491831" y="0"/>
                </a:moveTo>
                <a:lnTo>
                  <a:pt x="487318" y="0"/>
                </a:lnTo>
                <a:lnTo>
                  <a:pt x="487318" y="13195"/>
                </a:lnTo>
                <a:lnTo>
                  <a:pt x="489922" y="13195"/>
                </a:lnTo>
                <a:lnTo>
                  <a:pt x="501827" y="14014"/>
                </a:lnTo>
                <a:lnTo>
                  <a:pt x="535566" y="33928"/>
                </a:lnTo>
                <a:lnTo>
                  <a:pt x="543575" y="69626"/>
                </a:lnTo>
                <a:lnTo>
                  <a:pt x="543358" y="76061"/>
                </a:lnTo>
                <a:lnTo>
                  <a:pt x="542706" y="83212"/>
                </a:lnTo>
                <a:lnTo>
                  <a:pt x="541621" y="91080"/>
                </a:lnTo>
                <a:lnTo>
                  <a:pt x="540101" y="99664"/>
                </a:lnTo>
                <a:lnTo>
                  <a:pt x="538582" y="107966"/>
                </a:lnTo>
                <a:lnTo>
                  <a:pt x="537497" y="114987"/>
                </a:lnTo>
                <a:lnTo>
                  <a:pt x="536846" y="120728"/>
                </a:lnTo>
                <a:lnTo>
                  <a:pt x="536629" y="125188"/>
                </a:lnTo>
                <a:lnTo>
                  <a:pt x="537172" y="132237"/>
                </a:lnTo>
                <a:lnTo>
                  <a:pt x="565972" y="163388"/>
                </a:lnTo>
                <a:lnTo>
                  <a:pt x="565972" y="166513"/>
                </a:lnTo>
                <a:lnTo>
                  <a:pt x="537172" y="197664"/>
                </a:lnTo>
                <a:lnTo>
                  <a:pt x="536629" y="204712"/>
                </a:lnTo>
                <a:lnTo>
                  <a:pt x="536846" y="209172"/>
                </a:lnTo>
                <a:lnTo>
                  <a:pt x="537497" y="214913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0"/>
                </a:lnTo>
                <a:lnTo>
                  <a:pt x="542706" y="246688"/>
                </a:lnTo>
                <a:lnTo>
                  <a:pt x="543358" y="253839"/>
                </a:lnTo>
                <a:lnTo>
                  <a:pt x="543575" y="260275"/>
                </a:lnTo>
                <a:lnTo>
                  <a:pt x="542685" y="274843"/>
                </a:lnTo>
                <a:lnTo>
                  <a:pt x="521534" y="310547"/>
                </a:lnTo>
                <a:lnTo>
                  <a:pt x="489922" y="317921"/>
                </a:lnTo>
                <a:lnTo>
                  <a:pt x="487318" y="317921"/>
                </a:lnTo>
                <a:lnTo>
                  <a:pt x="487318" y="331116"/>
                </a:lnTo>
                <a:lnTo>
                  <a:pt x="491831" y="331116"/>
                </a:lnTo>
                <a:lnTo>
                  <a:pt x="510947" y="329690"/>
                </a:lnTo>
                <a:lnTo>
                  <a:pt x="552864" y="312451"/>
                </a:lnTo>
                <a:lnTo>
                  <a:pt x="571828" y="274604"/>
                </a:lnTo>
                <a:lnTo>
                  <a:pt x="573092" y="257149"/>
                </a:lnTo>
                <a:lnTo>
                  <a:pt x="572837" y="249694"/>
                </a:lnTo>
                <a:lnTo>
                  <a:pt x="572072" y="241739"/>
                </a:lnTo>
                <a:lnTo>
                  <a:pt x="570797" y="233286"/>
                </a:lnTo>
                <a:lnTo>
                  <a:pt x="569012" y="224332"/>
                </a:lnTo>
                <a:lnTo>
                  <a:pt x="566291" y="212063"/>
                </a:lnTo>
                <a:lnTo>
                  <a:pt x="564931" y="203843"/>
                </a:lnTo>
                <a:lnTo>
                  <a:pt x="564931" y="191689"/>
                </a:lnTo>
                <a:lnTo>
                  <a:pt x="567681" y="185178"/>
                </a:lnTo>
                <a:lnTo>
                  <a:pt x="598095" y="172069"/>
                </a:lnTo>
                <a:lnTo>
                  <a:pt x="598095" y="157831"/>
                </a:lnTo>
                <a:lnTo>
                  <a:pt x="564931" y="138211"/>
                </a:lnTo>
                <a:lnTo>
                  <a:pt x="564931" y="126056"/>
                </a:lnTo>
                <a:lnTo>
                  <a:pt x="566291" y="117838"/>
                </a:lnTo>
                <a:lnTo>
                  <a:pt x="569012" y="105568"/>
                </a:lnTo>
                <a:lnTo>
                  <a:pt x="570797" y="96615"/>
                </a:lnTo>
                <a:lnTo>
                  <a:pt x="572072" y="88161"/>
                </a:lnTo>
                <a:lnTo>
                  <a:pt x="572837" y="80207"/>
                </a:lnTo>
                <a:lnTo>
                  <a:pt x="573092" y="72751"/>
                </a:lnTo>
                <a:lnTo>
                  <a:pt x="571828" y="55827"/>
                </a:lnTo>
                <a:lnTo>
                  <a:pt x="552864" y="18665"/>
                </a:lnTo>
                <a:lnTo>
                  <a:pt x="510947" y="1426"/>
                </a:lnTo>
                <a:lnTo>
                  <a:pt x="491831" y="0"/>
                </a:lnTo>
                <a:close/>
              </a:path>
              <a:path w="598170" h="331469">
                <a:moveTo>
                  <a:pt x="110777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6" y="55730"/>
                </a:lnTo>
                <a:lnTo>
                  <a:pt x="25115" y="75887"/>
                </a:lnTo>
                <a:lnTo>
                  <a:pt x="25257" y="80033"/>
                </a:lnTo>
                <a:lnTo>
                  <a:pt x="26022" y="87987"/>
                </a:lnTo>
                <a:lnTo>
                  <a:pt x="27297" y="96441"/>
                </a:lnTo>
                <a:lnTo>
                  <a:pt x="29083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3" y="224158"/>
                </a:lnTo>
                <a:lnTo>
                  <a:pt x="27297" y="233112"/>
                </a:lnTo>
                <a:lnTo>
                  <a:pt x="26022" y="241565"/>
                </a:lnTo>
                <a:lnTo>
                  <a:pt x="25257" y="249520"/>
                </a:lnTo>
                <a:lnTo>
                  <a:pt x="25002" y="256975"/>
                </a:lnTo>
                <a:lnTo>
                  <a:pt x="26266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7" y="331116"/>
                </a:lnTo>
                <a:lnTo>
                  <a:pt x="110777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7" y="214740"/>
                </a:lnTo>
                <a:lnTo>
                  <a:pt x="61248" y="208999"/>
                </a:lnTo>
                <a:lnTo>
                  <a:pt x="61465" y="204538"/>
                </a:lnTo>
                <a:lnTo>
                  <a:pt x="60922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2" y="132063"/>
                </a:lnTo>
                <a:lnTo>
                  <a:pt x="61465" y="125014"/>
                </a:lnTo>
                <a:lnTo>
                  <a:pt x="61248" y="120554"/>
                </a:lnTo>
                <a:lnTo>
                  <a:pt x="60597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7" y="13195"/>
                </a:lnTo>
                <a:lnTo>
                  <a:pt x="110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454364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554116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454364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505673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979311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988948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979311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040864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082582" y="2542089"/>
            <a:ext cx="582930" cy="331470"/>
          </a:xfrm>
          <a:custGeom>
            <a:avLst/>
            <a:gdLst/>
            <a:ahLst/>
            <a:cxnLst/>
            <a:rect l="l" t="t" r="r" b="b"/>
            <a:pathLst>
              <a:path w="582929" h="331469">
                <a:moveTo>
                  <a:pt x="476655" y="0"/>
                </a:moveTo>
                <a:lnTo>
                  <a:pt x="472140" y="0"/>
                </a:lnTo>
                <a:lnTo>
                  <a:pt x="472140" y="13195"/>
                </a:lnTo>
                <a:lnTo>
                  <a:pt x="474745" y="13195"/>
                </a:lnTo>
                <a:lnTo>
                  <a:pt x="486650" y="14014"/>
                </a:lnTo>
                <a:lnTo>
                  <a:pt x="520389" y="33928"/>
                </a:lnTo>
                <a:lnTo>
                  <a:pt x="528397" y="69626"/>
                </a:lnTo>
                <a:lnTo>
                  <a:pt x="528180" y="76061"/>
                </a:lnTo>
                <a:lnTo>
                  <a:pt x="527529" y="83212"/>
                </a:lnTo>
                <a:lnTo>
                  <a:pt x="526444" y="91080"/>
                </a:lnTo>
                <a:lnTo>
                  <a:pt x="524925" y="99664"/>
                </a:lnTo>
                <a:lnTo>
                  <a:pt x="523405" y="107966"/>
                </a:lnTo>
                <a:lnTo>
                  <a:pt x="522320" y="114987"/>
                </a:lnTo>
                <a:lnTo>
                  <a:pt x="521668" y="120728"/>
                </a:lnTo>
                <a:lnTo>
                  <a:pt x="521451" y="125188"/>
                </a:lnTo>
                <a:lnTo>
                  <a:pt x="521994" y="132237"/>
                </a:lnTo>
                <a:lnTo>
                  <a:pt x="550796" y="163388"/>
                </a:lnTo>
                <a:lnTo>
                  <a:pt x="550796" y="166513"/>
                </a:lnTo>
                <a:lnTo>
                  <a:pt x="521994" y="197664"/>
                </a:lnTo>
                <a:lnTo>
                  <a:pt x="521451" y="204712"/>
                </a:lnTo>
                <a:lnTo>
                  <a:pt x="521668" y="209172"/>
                </a:lnTo>
                <a:lnTo>
                  <a:pt x="522320" y="214913"/>
                </a:lnTo>
                <a:lnTo>
                  <a:pt x="523405" y="221935"/>
                </a:lnTo>
                <a:lnTo>
                  <a:pt x="524925" y="230237"/>
                </a:lnTo>
                <a:lnTo>
                  <a:pt x="526444" y="238820"/>
                </a:lnTo>
                <a:lnTo>
                  <a:pt x="527529" y="246688"/>
                </a:lnTo>
                <a:lnTo>
                  <a:pt x="528180" y="253839"/>
                </a:lnTo>
                <a:lnTo>
                  <a:pt x="528397" y="260275"/>
                </a:lnTo>
                <a:lnTo>
                  <a:pt x="527507" y="274843"/>
                </a:lnTo>
                <a:lnTo>
                  <a:pt x="506357" y="310547"/>
                </a:lnTo>
                <a:lnTo>
                  <a:pt x="474745" y="317921"/>
                </a:lnTo>
                <a:lnTo>
                  <a:pt x="472140" y="317921"/>
                </a:lnTo>
                <a:lnTo>
                  <a:pt x="472140" y="331116"/>
                </a:lnTo>
                <a:lnTo>
                  <a:pt x="476655" y="331116"/>
                </a:lnTo>
                <a:lnTo>
                  <a:pt x="495771" y="329690"/>
                </a:lnTo>
                <a:lnTo>
                  <a:pt x="537687" y="312451"/>
                </a:lnTo>
                <a:lnTo>
                  <a:pt x="556650" y="274604"/>
                </a:lnTo>
                <a:lnTo>
                  <a:pt x="557914" y="257149"/>
                </a:lnTo>
                <a:lnTo>
                  <a:pt x="557659" y="249694"/>
                </a:lnTo>
                <a:lnTo>
                  <a:pt x="556895" y="241739"/>
                </a:lnTo>
                <a:lnTo>
                  <a:pt x="555620" y="233286"/>
                </a:lnTo>
                <a:lnTo>
                  <a:pt x="553835" y="224332"/>
                </a:lnTo>
                <a:lnTo>
                  <a:pt x="551115" y="212063"/>
                </a:lnTo>
                <a:lnTo>
                  <a:pt x="549755" y="203843"/>
                </a:lnTo>
                <a:lnTo>
                  <a:pt x="549755" y="191689"/>
                </a:lnTo>
                <a:lnTo>
                  <a:pt x="552504" y="185178"/>
                </a:lnTo>
                <a:lnTo>
                  <a:pt x="582918" y="172069"/>
                </a:lnTo>
                <a:lnTo>
                  <a:pt x="582918" y="157831"/>
                </a:lnTo>
                <a:lnTo>
                  <a:pt x="549755" y="138211"/>
                </a:lnTo>
                <a:lnTo>
                  <a:pt x="549755" y="126056"/>
                </a:lnTo>
                <a:lnTo>
                  <a:pt x="551115" y="117838"/>
                </a:lnTo>
                <a:lnTo>
                  <a:pt x="553835" y="105568"/>
                </a:lnTo>
                <a:lnTo>
                  <a:pt x="555620" y="96615"/>
                </a:lnTo>
                <a:lnTo>
                  <a:pt x="556895" y="88161"/>
                </a:lnTo>
                <a:lnTo>
                  <a:pt x="557659" y="80207"/>
                </a:lnTo>
                <a:lnTo>
                  <a:pt x="557914" y="72751"/>
                </a:lnTo>
                <a:lnTo>
                  <a:pt x="556650" y="55827"/>
                </a:lnTo>
                <a:lnTo>
                  <a:pt x="537687" y="18665"/>
                </a:lnTo>
                <a:lnTo>
                  <a:pt x="495771" y="1426"/>
                </a:lnTo>
                <a:lnTo>
                  <a:pt x="476655" y="0"/>
                </a:lnTo>
                <a:close/>
              </a:path>
              <a:path w="582929" h="331469">
                <a:moveTo>
                  <a:pt x="110777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6" y="55730"/>
                </a:lnTo>
                <a:lnTo>
                  <a:pt x="25115" y="75887"/>
                </a:lnTo>
                <a:lnTo>
                  <a:pt x="25257" y="80033"/>
                </a:lnTo>
                <a:lnTo>
                  <a:pt x="26023" y="87987"/>
                </a:lnTo>
                <a:lnTo>
                  <a:pt x="27298" y="96441"/>
                </a:lnTo>
                <a:lnTo>
                  <a:pt x="29082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3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2" y="224158"/>
                </a:lnTo>
                <a:lnTo>
                  <a:pt x="27298" y="233112"/>
                </a:lnTo>
                <a:lnTo>
                  <a:pt x="26023" y="241565"/>
                </a:lnTo>
                <a:lnTo>
                  <a:pt x="25257" y="249520"/>
                </a:lnTo>
                <a:lnTo>
                  <a:pt x="25002" y="256975"/>
                </a:lnTo>
                <a:lnTo>
                  <a:pt x="26266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7" y="331116"/>
                </a:lnTo>
                <a:lnTo>
                  <a:pt x="110777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7" y="214740"/>
                </a:lnTo>
                <a:lnTo>
                  <a:pt x="61248" y="208999"/>
                </a:lnTo>
                <a:lnTo>
                  <a:pt x="61465" y="204538"/>
                </a:lnTo>
                <a:lnTo>
                  <a:pt x="60922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2" y="132063"/>
                </a:lnTo>
                <a:lnTo>
                  <a:pt x="61465" y="125014"/>
                </a:lnTo>
                <a:lnTo>
                  <a:pt x="61248" y="120554"/>
                </a:lnTo>
                <a:lnTo>
                  <a:pt x="60597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0" y="20569"/>
                </a:lnTo>
                <a:lnTo>
                  <a:pt x="108173" y="13195"/>
                </a:lnTo>
                <a:lnTo>
                  <a:pt x="110777" y="13195"/>
                </a:lnTo>
                <a:lnTo>
                  <a:pt x="110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956563" y="1826259"/>
            <a:ext cx="7811134" cy="200660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Given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4</a:t>
            </a:r>
            <a:r>
              <a:rPr dirty="0" sz="2800" spc="-5">
                <a:latin typeface="Calibri"/>
                <a:cs typeface="Calibri"/>
              </a:rPr>
              <a:t> queries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110">
                <a:latin typeface="Cambria Math"/>
                <a:cs typeface="Cambria Math"/>
              </a:rPr>
              <a:t>𝑞</a:t>
            </a:r>
            <a:r>
              <a:rPr dirty="0" baseline="-16666" sz="3000" spc="165">
                <a:latin typeface="Cambria Math"/>
                <a:cs typeface="Cambria Math"/>
              </a:rPr>
              <a:t>"</a:t>
            </a:r>
            <a:r>
              <a:rPr dirty="0" sz="2800" spc="110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 spc="-15">
                <a:latin typeface="Cambria Math"/>
                <a:cs typeface="Cambria Math"/>
              </a:rPr>
              <a:t>𝑞</a:t>
            </a:r>
            <a:r>
              <a:rPr dirty="0" baseline="-16666" sz="3000" spc="-22">
                <a:latin typeface="Cambria Math"/>
                <a:cs typeface="Cambria Math"/>
              </a:rPr>
              <a:t>#</a:t>
            </a:r>
            <a:r>
              <a:rPr dirty="0" sz="2800" spc="-15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6666" sz="3000" spc="187">
                <a:latin typeface="Cambria Math"/>
                <a:cs typeface="Cambria Math"/>
              </a:rPr>
              <a:t>)</a:t>
            </a:r>
            <a:r>
              <a:rPr dirty="0" sz="2800" spc="125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6666" sz="3000" spc="187">
                <a:latin typeface="Cambria Math"/>
                <a:cs typeface="Cambria Math"/>
              </a:rPr>
              <a:t>*</a:t>
            </a:r>
            <a:r>
              <a:rPr dirty="0" baseline="-16666" sz="3000" spc="157">
                <a:latin typeface="Cambria Math"/>
                <a:cs typeface="Cambria Math"/>
              </a:rPr>
              <a:t>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15">
                <a:latin typeface="Calibri"/>
                <a:cs typeface="Calibri"/>
              </a:rPr>
              <a:t>answers:</a:t>
            </a:r>
            <a:endParaRPr sz="2800">
              <a:latin typeface="Calibri"/>
              <a:cs typeface="Calibri"/>
            </a:endParaRPr>
          </a:p>
          <a:p>
            <a:pPr marL="443230" indent="-43053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443230" algn="l"/>
                <a:tab pos="443865" algn="l"/>
                <a:tab pos="1040765" algn="l"/>
                <a:tab pos="1542415" algn="l"/>
                <a:tab pos="2338070" algn="l"/>
                <a:tab pos="2943860" algn="l"/>
                <a:tab pos="3445510" algn="l"/>
                <a:tab pos="4227830" algn="l"/>
                <a:tab pos="4833620" algn="l"/>
                <a:tab pos="5335270" algn="l"/>
                <a:tab pos="6139180" algn="l"/>
                <a:tab pos="6744970" algn="l"/>
                <a:tab pos="7246620" algn="l"/>
              </a:tabLst>
            </a:pP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5277" sz="3000" spc="187">
                <a:latin typeface="Cambria Math"/>
                <a:cs typeface="Cambria Math"/>
              </a:rPr>
              <a:t>"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30">
                <a:latin typeface="Cambria Math"/>
                <a:cs typeface="Cambria Math"/>
              </a:rPr>
              <a:t>𝑣</a:t>
            </a:r>
            <a:r>
              <a:rPr dirty="0" baseline="-15277" sz="3000" spc="195">
                <a:latin typeface="Cambria Math"/>
                <a:cs typeface="Cambria Math"/>
              </a:rPr>
              <a:t>"</a:t>
            </a:r>
            <a:r>
              <a:rPr dirty="0" baseline="-15277" sz="3000" spc="64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-70">
                <a:latin typeface="Cambria Math"/>
                <a:cs typeface="Cambria Math"/>
              </a:rPr>
              <a:t>𝑞</a:t>
            </a:r>
            <a:r>
              <a:rPr dirty="0" baseline="-15277" sz="3000" spc="-104">
                <a:latin typeface="Cambria Math"/>
                <a:cs typeface="Cambria Math"/>
              </a:rPr>
              <a:t>#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-60">
                <a:latin typeface="Cambria Math"/>
                <a:cs typeface="Cambria Math"/>
              </a:rPr>
              <a:t>𝑣</a:t>
            </a:r>
            <a:r>
              <a:rPr dirty="0" baseline="-15277" sz="3000" spc="-89">
                <a:latin typeface="Cambria Math"/>
                <a:cs typeface="Cambria Math"/>
              </a:rPr>
              <a:t># </a:t>
            </a:r>
            <a:r>
              <a:rPr dirty="0" baseline="-15277" sz="3000" spc="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130">
                <a:latin typeface="Cambria Math"/>
                <a:cs typeface="Cambria Math"/>
              </a:rPr>
              <a:t>𝑞</a:t>
            </a:r>
            <a:r>
              <a:rPr dirty="0" baseline="-15277" sz="3000" spc="195">
                <a:latin typeface="Cambria Math"/>
                <a:cs typeface="Cambria Math"/>
              </a:rPr>
              <a:t>)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40">
                <a:latin typeface="Cambria Math"/>
                <a:cs typeface="Cambria Math"/>
              </a:rPr>
              <a:t>𝑣</a:t>
            </a:r>
            <a:r>
              <a:rPr dirty="0" baseline="-15277" sz="3000" spc="209">
                <a:latin typeface="Cambria Math"/>
                <a:cs typeface="Cambria Math"/>
              </a:rPr>
              <a:t>)</a:t>
            </a:r>
            <a:r>
              <a:rPr dirty="0" baseline="-15277" sz="3000" spc="64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5277" sz="3000" spc="187">
                <a:latin typeface="Cambria Math"/>
                <a:cs typeface="Cambria Math"/>
              </a:rPr>
              <a:t>*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75">
                <a:latin typeface="Cambria Math"/>
                <a:cs typeface="Cambria Math"/>
              </a:rPr>
              <a:t>𝑣</a:t>
            </a:r>
            <a:r>
              <a:rPr dirty="0" baseline="-15277" sz="3000" spc="112">
                <a:latin typeface="Cambria Math"/>
                <a:cs typeface="Cambria Math"/>
              </a:rPr>
              <a:t>*</a:t>
            </a:r>
            <a:r>
              <a:rPr dirty="0" baseline="-15277" sz="3000" spc="49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</a:t>
            </a:r>
            <a:endParaRPr sz="2800">
              <a:latin typeface="Cambria Math"/>
              <a:cs typeface="Cambria Math"/>
            </a:endParaRPr>
          </a:p>
          <a:p>
            <a:pPr marL="287020" marR="85725" indent="-274320">
              <a:lnSpc>
                <a:spcPct val="101400"/>
              </a:lnSpc>
              <a:spcBef>
                <a:spcPts val="5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If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allow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union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operation,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can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embed them </a:t>
            </a:r>
            <a:r>
              <a:rPr dirty="0" sz="2800" spc="-285">
                <a:solidFill>
                  <a:srgbClr val="C00000"/>
                </a:solidFill>
                <a:latin typeface="Calibri"/>
                <a:cs typeface="Calibri"/>
              </a:rPr>
              <a:t>in 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two-dimensional</a:t>
            </a:r>
            <a:r>
              <a:rPr dirty="0" sz="2800" spc="-8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plane?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660443" y="4081802"/>
            <a:ext cx="85725" cy="2028189"/>
          </a:xfrm>
          <a:custGeom>
            <a:avLst/>
            <a:gdLst/>
            <a:ahLst/>
            <a:cxnLst/>
            <a:rect l="l" t="t" r="r" b="b"/>
            <a:pathLst>
              <a:path w="85725" h="2028189">
                <a:moveTo>
                  <a:pt x="50753" y="57150"/>
                </a:moveTo>
                <a:lnTo>
                  <a:pt x="34971" y="57150"/>
                </a:lnTo>
                <a:lnTo>
                  <a:pt x="28575" y="63545"/>
                </a:lnTo>
                <a:lnTo>
                  <a:pt x="28576" y="2021625"/>
                </a:lnTo>
                <a:lnTo>
                  <a:pt x="34971" y="2028022"/>
                </a:lnTo>
                <a:lnTo>
                  <a:pt x="50754" y="2028022"/>
                </a:lnTo>
                <a:lnTo>
                  <a:pt x="57151" y="2021625"/>
                </a:lnTo>
                <a:lnTo>
                  <a:pt x="57150" y="63545"/>
                </a:lnTo>
                <a:lnTo>
                  <a:pt x="50753" y="57150"/>
                </a:lnTo>
                <a:close/>
              </a:path>
              <a:path w="85725" h="2028189">
                <a:moveTo>
                  <a:pt x="42862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63545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2028189">
                <a:moveTo>
                  <a:pt x="71437" y="57150"/>
                </a:moveTo>
                <a:lnTo>
                  <a:pt x="50753" y="57150"/>
                </a:lnTo>
                <a:lnTo>
                  <a:pt x="57150" y="63545"/>
                </a:lnTo>
                <a:lnTo>
                  <a:pt x="57150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669963" y="6052623"/>
            <a:ext cx="2225040" cy="85725"/>
          </a:xfrm>
          <a:custGeom>
            <a:avLst/>
            <a:gdLst/>
            <a:ahLst/>
            <a:cxnLst/>
            <a:rect l="l" t="t" r="r" b="b"/>
            <a:pathLst>
              <a:path w="2225040" h="85725">
                <a:moveTo>
                  <a:pt x="2139084" y="57149"/>
                </a:moveTo>
                <a:lnTo>
                  <a:pt x="2139067" y="85725"/>
                </a:lnTo>
                <a:lnTo>
                  <a:pt x="2196277" y="57163"/>
                </a:lnTo>
                <a:lnTo>
                  <a:pt x="2139084" y="57149"/>
                </a:lnTo>
                <a:close/>
              </a:path>
              <a:path w="2225040" h="85725">
                <a:moveTo>
                  <a:pt x="2139102" y="28574"/>
                </a:moveTo>
                <a:lnTo>
                  <a:pt x="2139084" y="57149"/>
                </a:lnTo>
                <a:lnTo>
                  <a:pt x="2161258" y="57163"/>
                </a:lnTo>
                <a:lnTo>
                  <a:pt x="2167657" y="50770"/>
                </a:lnTo>
                <a:lnTo>
                  <a:pt x="2167667" y="34989"/>
                </a:lnTo>
                <a:lnTo>
                  <a:pt x="2161274" y="28588"/>
                </a:lnTo>
                <a:lnTo>
                  <a:pt x="2139102" y="28574"/>
                </a:lnTo>
                <a:close/>
              </a:path>
              <a:path w="2225040" h="85725">
                <a:moveTo>
                  <a:pt x="2139119" y="0"/>
                </a:moveTo>
                <a:lnTo>
                  <a:pt x="2139102" y="28574"/>
                </a:lnTo>
                <a:lnTo>
                  <a:pt x="2161274" y="28588"/>
                </a:lnTo>
                <a:lnTo>
                  <a:pt x="2167667" y="34989"/>
                </a:lnTo>
                <a:lnTo>
                  <a:pt x="2167657" y="50770"/>
                </a:lnTo>
                <a:lnTo>
                  <a:pt x="2161258" y="57163"/>
                </a:lnTo>
                <a:lnTo>
                  <a:pt x="2196277" y="57163"/>
                </a:lnTo>
                <a:lnTo>
                  <a:pt x="2224819" y="42914"/>
                </a:lnTo>
                <a:lnTo>
                  <a:pt x="2139119" y="0"/>
                </a:lnTo>
                <a:close/>
              </a:path>
              <a:path w="2225040" h="85725">
                <a:moveTo>
                  <a:pt x="6410" y="27284"/>
                </a:moveTo>
                <a:lnTo>
                  <a:pt x="10" y="33676"/>
                </a:lnTo>
                <a:lnTo>
                  <a:pt x="0" y="49458"/>
                </a:lnTo>
                <a:lnTo>
                  <a:pt x="6393" y="55859"/>
                </a:lnTo>
                <a:lnTo>
                  <a:pt x="2139084" y="57149"/>
                </a:lnTo>
                <a:lnTo>
                  <a:pt x="2139102" y="28574"/>
                </a:lnTo>
                <a:lnTo>
                  <a:pt x="6410" y="27284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736421" y="476010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736421" y="476010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055856" y="52108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055856" y="52108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293854" y="53125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293854" y="53125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2263529" y="4995164"/>
            <a:ext cx="228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30">
                <a:latin typeface="Cambria Math"/>
                <a:cs typeface="Cambria Math"/>
              </a:rPr>
              <a:t>𝐯</a:t>
            </a:r>
            <a:r>
              <a:rPr dirty="0" baseline="-14957" sz="1950" spc="-330">
                <a:latin typeface="Cambria Math"/>
                <a:cs typeface="Cambria Math"/>
              </a:rPr>
              <a:t>+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826640" y="4422140"/>
            <a:ext cx="2336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0">
                <a:latin typeface="Cambria Math"/>
                <a:cs typeface="Cambria Math"/>
              </a:rPr>
              <a:t>𝐯</a:t>
            </a:r>
            <a:r>
              <a:rPr dirty="0" baseline="-14957" sz="1950" spc="719">
                <a:latin typeface="Cambria Math"/>
                <a:cs typeface="Cambria Math"/>
              </a:rPr>
              <a:t>,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285291" y="5159755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𝐯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397941" y="5268976"/>
            <a:ext cx="1212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315">
                <a:latin typeface="Cambria Math"/>
                <a:cs typeface="Cambria Math"/>
              </a:rPr>
              <a:t>-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204036" y="557443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204036" y="557443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3302731" y="5644388"/>
            <a:ext cx="2336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0">
                <a:latin typeface="Cambria Math"/>
                <a:cs typeface="Cambria Math"/>
              </a:rPr>
              <a:t>𝐯</a:t>
            </a:r>
            <a:r>
              <a:rPr dirty="0" baseline="-14957" sz="1950" spc="719">
                <a:latin typeface="Cambria Math"/>
                <a:cs typeface="Cambria Math"/>
              </a:rPr>
              <a:t>.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51</a:t>
            </a:fld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79068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18948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 i="0">
                <a:latin typeface="Calibri"/>
                <a:cs typeface="Calibri"/>
              </a:rPr>
              <a:t>Example</a:t>
            </a:r>
            <a:r>
              <a:rPr dirty="0" sz="3200" spc="-85" b="1" i="0">
                <a:latin typeface="Calibri"/>
                <a:cs typeface="Calibri"/>
              </a:rPr>
              <a:t> </a:t>
            </a:r>
            <a:r>
              <a:rPr dirty="0" sz="3200" b="1" i="0">
                <a:latin typeface="Calibri"/>
                <a:cs typeface="Calibri"/>
              </a:rPr>
              <a:t>2: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0033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49785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50033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01341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83172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92809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83172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44724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78250" y="2542089"/>
            <a:ext cx="589915" cy="331470"/>
          </a:xfrm>
          <a:custGeom>
            <a:avLst/>
            <a:gdLst/>
            <a:ahLst/>
            <a:cxnLst/>
            <a:rect l="l" t="t" r="r" b="b"/>
            <a:pathLst>
              <a:path w="589914" h="331469">
                <a:moveTo>
                  <a:pt x="483641" y="0"/>
                </a:moveTo>
                <a:lnTo>
                  <a:pt x="479126" y="0"/>
                </a:lnTo>
                <a:lnTo>
                  <a:pt x="479126" y="13195"/>
                </a:lnTo>
                <a:lnTo>
                  <a:pt x="481731" y="13195"/>
                </a:lnTo>
                <a:lnTo>
                  <a:pt x="493635" y="14014"/>
                </a:lnTo>
                <a:lnTo>
                  <a:pt x="527374" y="33928"/>
                </a:lnTo>
                <a:lnTo>
                  <a:pt x="535383" y="69626"/>
                </a:lnTo>
                <a:lnTo>
                  <a:pt x="535166" y="76061"/>
                </a:lnTo>
                <a:lnTo>
                  <a:pt x="534515" y="83212"/>
                </a:lnTo>
                <a:lnTo>
                  <a:pt x="533429" y="91080"/>
                </a:lnTo>
                <a:lnTo>
                  <a:pt x="531910" y="99664"/>
                </a:lnTo>
                <a:lnTo>
                  <a:pt x="530391" y="107966"/>
                </a:lnTo>
                <a:lnTo>
                  <a:pt x="529306" y="114987"/>
                </a:lnTo>
                <a:lnTo>
                  <a:pt x="528655" y="120728"/>
                </a:lnTo>
                <a:lnTo>
                  <a:pt x="528438" y="125188"/>
                </a:lnTo>
                <a:lnTo>
                  <a:pt x="528980" y="132237"/>
                </a:lnTo>
                <a:lnTo>
                  <a:pt x="557782" y="163388"/>
                </a:lnTo>
                <a:lnTo>
                  <a:pt x="557782" y="166513"/>
                </a:lnTo>
                <a:lnTo>
                  <a:pt x="528980" y="197664"/>
                </a:lnTo>
                <a:lnTo>
                  <a:pt x="528438" y="204712"/>
                </a:lnTo>
                <a:lnTo>
                  <a:pt x="528655" y="209172"/>
                </a:lnTo>
                <a:lnTo>
                  <a:pt x="529306" y="214913"/>
                </a:lnTo>
                <a:lnTo>
                  <a:pt x="530391" y="221935"/>
                </a:lnTo>
                <a:lnTo>
                  <a:pt x="531910" y="230237"/>
                </a:lnTo>
                <a:lnTo>
                  <a:pt x="533429" y="238820"/>
                </a:lnTo>
                <a:lnTo>
                  <a:pt x="534515" y="246688"/>
                </a:lnTo>
                <a:lnTo>
                  <a:pt x="535166" y="253839"/>
                </a:lnTo>
                <a:lnTo>
                  <a:pt x="535383" y="260275"/>
                </a:lnTo>
                <a:lnTo>
                  <a:pt x="534493" y="274843"/>
                </a:lnTo>
                <a:lnTo>
                  <a:pt x="513343" y="310547"/>
                </a:lnTo>
                <a:lnTo>
                  <a:pt x="481731" y="317921"/>
                </a:lnTo>
                <a:lnTo>
                  <a:pt x="479126" y="317921"/>
                </a:lnTo>
                <a:lnTo>
                  <a:pt x="479126" y="331116"/>
                </a:lnTo>
                <a:lnTo>
                  <a:pt x="483641" y="331116"/>
                </a:lnTo>
                <a:lnTo>
                  <a:pt x="502757" y="329690"/>
                </a:lnTo>
                <a:lnTo>
                  <a:pt x="544672" y="312451"/>
                </a:lnTo>
                <a:lnTo>
                  <a:pt x="563636" y="274604"/>
                </a:lnTo>
                <a:lnTo>
                  <a:pt x="564901" y="257149"/>
                </a:lnTo>
                <a:lnTo>
                  <a:pt x="564646" y="249694"/>
                </a:lnTo>
                <a:lnTo>
                  <a:pt x="563880" y="241739"/>
                </a:lnTo>
                <a:lnTo>
                  <a:pt x="562605" y="233286"/>
                </a:lnTo>
                <a:lnTo>
                  <a:pt x="560820" y="224332"/>
                </a:lnTo>
                <a:lnTo>
                  <a:pt x="558100" y="212063"/>
                </a:lnTo>
                <a:lnTo>
                  <a:pt x="556740" y="203843"/>
                </a:lnTo>
                <a:lnTo>
                  <a:pt x="556740" y="191689"/>
                </a:lnTo>
                <a:lnTo>
                  <a:pt x="559489" y="185178"/>
                </a:lnTo>
                <a:lnTo>
                  <a:pt x="589903" y="172069"/>
                </a:lnTo>
                <a:lnTo>
                  <a:pt x="589903" y="157831"/>
                </a:lnTo>
                <a:lnTo>
                  <a:pt x="556740" y="138211"/>
                </a:lnTo>
                <a:lnTo>
                  <a:pt x="556740" y="126056"/>
                </a:lnTo>
                <a:lnTo>
                  <a:pt x="558100" y="117838"/>
                </a:lnTo>
                <a:lnTo>
                  <a:pt x="560820" y="105568"/>
                </a:lnTo>
                <a:lnTo>
                  <a:pt x="562605" y="96615"/>
                </a:lnTo>
                <a:lnTo>
                  <a:pt x="563880" y="88161"/>
                </a:lnTo>
                <a:lnTo>
                  <a:pt x="564646" y="80207"/>
                </a:lnTo>
                <a:lnTo>
                  <a:pt x="564901" y="72751"/>
                </a:lnTo>
                <a:lnTo>
                  <a:pt x="563636" y="55827"/>
                </a:lnTo>
                <a:lnTo>
                  <a:pt x="544672" y="18665"/>
                </a:lnTo>
                <a:lnTo>
                  <a:pt x="502757" y="1426"/>
                </a:lnTo>
                <a:lnTo>
                  <a:pt x="483641" y="0"/>
                </a:lnTo>
                <a:close/>
              </a:path>
              <a:path w="589914" h="331469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8" y="96441"/>
                </a:lnTo>
                <a:lnTo>
                  <a:pt x="29082" y="105394"/>
                </a:lnTo>
                <a:lnTo>
                  <a:pt x="31803" y="117664"/>
                </a:lnTo>
                <a:lnTo>
                  <a:pt x="33164" y="125883"/>
                </a:lnTo>
                <a:lnTo>
                  <a:pt x="33164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4" y="191516"/>
                </a:lnTo>
                <a:lnTo>
                  <a:pt x="33164" y="203671"/>
                </a:lnTo>
                <a:lnTo>
                  <a:pt x="31803" y="211889"/>
                </a:lnTo>
                <a:lnTo>
                  <a:pt x="29082" y="224158"/>
                </a:lnTo>
                <a:lnTo>
                  <a:pt x="27298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53255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53007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53255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04563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178202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87839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78202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39755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81472" y="2542089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69">
                <a:moveTo>
                  <a:pt x="491831" y="0"/>
                </a:moveTo>
                <a:lnTo>
                  <a:pt x="487318" y="0"/>
                </a:lnTo>
                <a:lnTo>
                  <a:pt x="487318" y="13195"/>
                </a:lnTo>
                <a:lnTo>
                  <a:pt x="489921" y="13195"/>
                </a:lnTo>
                <a:lnTo>
                  <a:pt x="501826" y="14014"/>
                </a:lnTo>
                <a:lnTo>
                  <a:pt x="535566" y="33928"/>
                </a:lnTo>
                <a:lnTo>
                  <a:pt x="543575" y="69626"/>
                </a:lnTo>
                <a:lnTo>
                  <a:pt x="543358" y="76061"/>
                </a:lnTo>
                <a:lnTo>
                  <a:pt x="542706" y="83212"/>
                </a:lnTo>
                <a:lnTo>
                  <a:pt x="541621" y="91080"/>
                </a:lnTo>
                <a:lnTo>
                  <a:pt x="540101" y="99664"/>
                </a:lnTo>
                <a:lnTo>
                  <a:pt x="538582" y="107966"/>
                </a:lnTo>
                <a:lnTo>
                  <a:pt x="537497" y="114987"/>
                </a:lnTo>
                <a:lnTo>
                  <a:pt x="536846" y="120728"/>
                </a:lnTo>
                <a:lnTo>
                  <a:pt x="536629" y="125188"/>
                </a:lnTo>
                <a:lnTo>
                  <a:pt x="537172" y="132237"/>
                </a:lnTo>
                <a:lnTo>
                  <a:pt x="565972" y="163388"/>
                </a:lnTo>
                <a:lnTo>
                  <a:pt x="565972" y="166513"/>
                </a:lnTo>
                <a:lnTo>
                  <a:pt x="537172" y="197664"/>
                </a:lnTo>
                <a:lnTo>
                  <a:pt x="536629" y="204712"/>
                </a:lnTo>
                <a:lnTo>
                  <a:pt x="536846" y="209172"/>
                </a:lnTo>
                <a:lnTo>
                  <a:pt x="537497" y="214913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0"/>
                </a:lnTo>
                <a:lnTo>
                  <a:pt x="542706" y="246688"/>
                </a:lnTo>
                <a:lnTo>
                  <a:pt x="543358" y="253839"/>
                </a:lnTo>
                <a:lnTo>
                  <a:pt x="543575" y="260275"/>
                </a:lnTo>
                <a:lnTo>
                  <a:pt x="542685" y="274843"/>
                </a:lnTo>
                <a:lnTo>
                  <a:pt x="521534" y="310547"/>
                </a:lnTo>
                <a:lnTo>
                  <a:pt x="489921" y="317921"/>
                </a:lnTo>
                <a:lnTo>
                  <a:pt x="487318" y="317921"/>
                </a:lnTo>
                <a:lnTo>
                  <a:pt x="487318" y="331116"/>
                </a:lnTo>
                <a:lnTo>
                  <a:pt x="491831" y="331116"/>
                </a:lnTo>
                <a:lnTo>
                  <a:pt x="510948" y="329690"/>
                </a:lnTo>
                <a:lnTo>
                  <a:pt x="552864" y="312451"/>
                </a:lnTo>
                <a:lnTo>
                  <a:pt x="571828" y="274604"/>
                </a:lnTo>
                <a:lnTo>
                  <a:pt x="573092" y="257149"/>
                </a:lnTo>
                <a:lnTo>
                  <a:pt x="572837" y="249694"/>
                </a:lnTo>
                <a:lnTo>
                  <a:pt x="572072" y="241739"/>
                </a:lnTo>
                <a:lnTo>
                  <a:pt x="570797" y="233286"/>
                </a:lnTo>
                <a:lnTo>
                  <a:pt x="569012" y="224332"/>
                </a:lnTo>
                <a:lnTo>
                  <a:pt x="566291" y="212063"/>
                </a:lnTo>
                <a:lnTo>
                  <a:pt x="564931" y="203843"/>
                </a:lnTo>
                <a:lnTo>
                  <a:pt x="564931" y="191689"/>
                </a:lnTo>
                <a:lnTo>
                  <a:pt x="567681" y="185178"/>
                </a:lnTo>
                <a:lnTo>
                  <a:pt x="598095" y="172069"/>
                </a:lnTo>
                <a:lnTo>
                  <a:pt x="598095" y="157831"/>
                </a:lnTo>
                <a:lnTo>
                  <a:pt x="564931" y="138211"/>
                </a:lnTo>
                <a:lnTo>
                  <a:pt x="564931" y="126056"/>
                </a:lnTo>
                <a:lnTo>
                  <a:pt x="566291" y="117838"/>
                </a:lnTo>
                <a:lnTo>
                  <a:pt x="569012" y="105568"/>
                </a:lnTo>
                <a:lnTo>
                  <a:pt x="570797" y="96615"/>
                </a:lnTo>
                <a:lnTo>
                  <a:pt x="572072" y="88161"/>
                </a:lnTo>
                <a:lnTo>
                  <a:pt x="572837" y="80207"/>
                </a:lnTo>
                <a:lnTo>
                  <a:pt x="573092" y="72751"/>
                </a:lnTo>
                <a:lnTo>
                  <a:pt x="571828" y="55827"/>
                </a:lnTo>
                <a:lnTo>
                  <a:pt x="552864" y="18665"/>
                </a:lnTo>
                <a:lnTo>
                  <a:pt x="510948" y="1426"/>
                </a:lnTo>
                <a:lnTo>
                  <a:pt x="491831" y="0"/>
                </a:lnTo>
                <a:close/>
              </a:path>
              <a:path w="598170" h="331469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9" y="96441"/>
                </a:lnTo>
                <a:lnTo>
                  <a:pt x="29084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4" y="224158"/>
                </a:lnTo>
                <a:lnTo>
                  <a:pt x="27299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42950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642703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42950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594259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067899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77535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67899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29451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171168" y="2542089"/>
            <a:ext cx="598170" cy="331470"/>
          </a:xfrm>
          <a:custGeom>
            <a:avLst/>
            <a:gdLst/>
            <a:ahLst/>
            <a:cxnLst/>
            <a:rect l="l" t="t" r="r" b="b"/>
            <a:pathLst>
              <a:path w="598170" h="331469">
                <a:moveTo>
                  <a:pt x="491831" y="0"/>
                </a:moveTo>
                <a:lnTo>
                  <a:pt x="487318" y="0"/>
                </a:lnTo>
                <a:lnTo>
                  <a:pt x="487318" y="13195"/>
                </a:lnTo>
                <a:lnTo>
                  <a:pt x="489922" y="13195"/>
                </a:lnTo>
                <a:lnTo>
                  <a:pt x="501827" y="14014"/>
                </a:lnTo>
                <a:lnTo>
                  <a:pt x="535566" y="33928"/>
                </a:lnTo>
                <a:lnTo>
                  <a:pt x="543575" y="69626"/>
                </a:lnTo>
                <a:lnTo>
                  <a:pt x="543358" y="76061"/>
                </a:lnTo>
                <a:lnTo>
                  <a:pt x="542706" y="83212"/>
                </a:lnTo>
                <a:lnTo>
                  <a:pt x="541621" y="91080"/>
                </a:lnTo>
                <a:lnTo>
                  <a:pt x="540101" y="99664"/>
                </a:lnTo>
                <a:lnTo>
                  <a:pt x="538582" y="107966"/>
                </a:lnTo>
                <a:lnTo>
                  <a:pt x="537497" y="114987"/>
                </a:lnTo>
                <a:lnTo>
                  <a:pt x="536846" y="120728"/>
                </a:lnTo>
                <a:lnTo>
                  <a:pt x="536629" y="125188"/>
                </a:lnTo>
                <a:lnTo>
                  <a:pt x="537172" y="132237"/>
                </a:lnTo>
                <a:lnTo>
                  <a:pt x="565972" y="163388"/>
                </a:lnTo>
                <a:lnTo>
                  <a:pt x="565972" y="166513"/>
                </a:lnTo>
                <a:lnTo>
                  <a:pt x="537172" y="197664"/>
                </a:lnTo>
                <a:lnTo>
                  <a:pt x="536629" y="204712"/>
                </a:lnTo>
                <a:lnTo>
                  <a:pt x="536846" y="209172"/>
                </a:lnTo>
                <a:lnTo>
                  <a:pt x="537497" y="214913"/>
                </a:lnTo>
                <a:lnTo>
                  <a:pt x="538582" y="221935"/>
                </a:lnTo>
                <a:lnTo>
                  <a:pt x="540101" y="230237"/>
                </a:lnTo>
                <a:lnTo>
                  <a:pt x="541621" y="238820"/>
                </a:lnTo>
                <a:lnTo>
                  <a:pt x="542706" y="246688"/>
                </a:lnTo>
                <a:lnTo>
                  <a:pt x="543358" y="253839"/>
                </a:lnTo>
                <a:lnTo>
                  <a:pt x="543575" y="260275"/>
                </a:lnTo>
                <a:lnTo>
                  <a:pt x="542685" y="274843"/>
                </a:lnTo>
                <a:lnTo>
                  <a:pt x="521534" y="310547"/>
                </a:lnTo>
                <a:lnTo>
                  <a:pt x="489922" y="317921"/>
                </a:lnTo>
                <a:lnTo>
                  <a:pt x="487318" y="317921"/>
                </a:lnTo>
                <a:lnTo>
                  <a:pt x="487318" y="331116"/>
                </a:lnTo>
                <a:lnTo>
                  <a:pt x="491831" y="331116"/>
                </a:lnTo>
                <a:lnTo>
                  <a:pt x="510947" y="329690"/>
                </a:lnTo>
                <a:lnTo>
                  <a:pt x="552864" y="312451"/>
                </a:lnTo>
                <a:lnTo>
                  <a:pt x="571828" y="274604"/>
                </a:lnTo>
                <a:lnTo>
                  <a:pt x="573092" y="257149"/>
                </a:lnTo>
                <a:lnTo>
                  <a:pt x="572837" y="249694"/>
                </a:lnTo>
                <a:lnTo>
                  <a:pt x="572072" y="241739"/>
                </a:lnTo>
                <a:lnTo>
                  <a:pt x="570797" y="233286"/>
                </a:lnTo>
                <a:lnTo>
                  <a:pt x="569012" y="224332"/>
                </a:lnTo>
                <a:lnTo>
                  <a:pt x="566291" y="212063"/>
                </a:lnTo>
                <a:lnTo>
                  <a:pt x="564931" y="203843"/>
                </a:lnTo>
                <a:lnTo>
                  <a:pt x="564931" y="191689"/>
                </a:lnTo>
                <a:lnTo>
                  <a:pt x="567681" y="185178"/>
                </a:lnTo>
                <a:lnTo>
                  <a:pt x="598095" y="172069"/>
                </a:lnTo>
                <a:lnTo>
                  <a:pt x="598095" y="157831"/>
                </a:lnTo>
                <a:lnTo>
                  <a:pt x="564931" y="138211"/>
                </a:lnTo>
                <a:lnTo>
                  <a:pt x="564931" y="126056"/>
                </a:lnTo>
                <a:lnTo>
                  <a:pt x="566291" y="117838"/>
                </a:lnTo>
                <a:lnTo>
                  <a:pt x="569012" y="105568"/>
                </a:lnTo>
                <a:lnTo>
                  <a:pt x="570797" y="96615"/>
                </a:lnTo>
                <a:lnTo>
                  <a:pt x="572072" y="88161"/>
                </a:lnTo>
                <a:lnTo>
                  <a:pt x="572837" y="80207"/>
                </a:lnTo>
                <a:lnTo>
                  <a:pt x="573092" y="72751"/>
                </a:lnTo>
                <a:lnTo>
                  <a:pt x="571828" y="55827"/>
                </a:lnTo>
                <a:lnTo>
                  <a:pt x="552864" y="18665"/>
                </a:lnTo>
                <a:lnTo>
                  <a:pt x="510947" y="1426"/>
                </a:lnTo>
                <a:lnTo>
                  <a:pt x="491831" y="0"/>
                </a:lnTo>
                <a:close/>
              </a:path>
              <a:path w="598170" h="331469">
                <a:moveTo>
                  <a:pt x="110777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6" y="55730"/>
                </a:lnTo>
                <a:lnTo>
                  <a:pt x="25115" y="75887"/>
                </a:lnTo>
                <a:lnTo>
                  <a:pt x="25257" y="80033"/>
                </a:lnTo>
                <a:lnTo>
                  <a:pt x="26022" y="87987"/>
                </a:lnTo>
                <a:lnTo>
                  <a:pt x="27297" y="96441"/>
                </a:lnTo>
                <a:lnTo>
                  <a:pt x="29083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3" y="224158"/>
                </a:lnTo>
                <a:lnTo>
                  <a:pt x="27297" y="233112"/>
                </a:lnTo>
                <a:lnTo>
                  <a:pt x="26022" y="241565"/>
                </a:lnTo>
                <a:lnTo>
                  <a:pt x="25257" y="249520"/>
                </a:lnTo>
                <a:lnTo>
                  <a:pt x="25002" y="256975"/>
                </a:lnTo>
                <a:lnTo>
                  <a:pt x="26266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7" y="331116"/>
                </a:lnTo>
                <a:lnTo>
                  <a:pt x="110777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7" y="214740"/>
                </a:lnTo>
                <a:lnTo>
                  <a:pt x="61248" y="208999"/>
                </a:lnTo>
                <a:lnTo>
                  <a:pt x="61465" y="204538"/>
                </a:lnTo>
                <a:lnTo>
                  <a:pt x="60922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2" y="132063"/>
                </a:lnTo>
                <a:lnTo>
                  <a:pt x="61465" y="125014"/>
                </a:lnTo>
                <a:lnTo>
                  <a:pt x="61248" y="120554"/>
                </a:lnTo>
                <a:lnTo>
                  <a:pt x="60597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7" y="13195"/>
                </a:lnTo>
                <a:lnTo>
                  <a:pt x="110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454364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554116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454364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505673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979311" y="2860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988948" y="2564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979311" y="2555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040864" y="2563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082582" y="2542089"/>
            <a:ext cx="582930" cy="331470"/>
          </a:xfrm>
          <a:custGeom>
            <a:avLst/>
            <a:gdLst/>
            <a:ahLst/>
            <a:cxnLst/>
            <a:rect l="l" t="t" r="r" b="b"/>
            <a:pathLst>
              <a:path w="582929" h="331469">
                <a:moveTo>
                  <a:pt x="476655" y="0"/>
                </a:moveTo>
                <a:lnTo>
                  <a:pt x="472140" y="0"/>
                </a:lnTo>
                <a:lnTo>
                  <a:pt x="472140" y="13195"/>
                </a:lnTo>
                <a:lnTo>
                  <a:pt x="474745" y="13195"/>
                </a:lnTo>
                <a:lnTo>
                  <a:pt x="486650" y="14014"/>
                </a:lnTo>
                <a:lnTo>
                  <a:pt x="520389" y="33928"/>
                </a:lnTo>
                <a:lnTo>
                  <a:pt x="528397" y="69626"/>
                </a:lnTo>
                <a:lnTo>
                  <a:pt x="528180" y="76061"/>
                </a:lnTo>
                <a:lnTo>
                  <a:pt x="527529" y="83212"/>
                </a:lnTo>
                <a:lnTo>
                  <a:pt x="526444" y="91080"/>
                </a:lnTo>
                <a:lnTo>
                  <a:pt x="524925" y="99664"/>
                </a:lnTo>
                <a:lnTo>
                  <a:pt x="523405" y="107966"/>
                </a:lnTo>
                <a:lnTo>
                  <a:pt x="522320" y="114987"/>
                </a:lnTo>
                <a:lnTo>
                  <a:pt x="521668" y="120728"/>
                </a:lnTo>
                <a:lnTo>
                  <a:pt x="521451" y="125188"/>
                </a:lnTo>
                <a:lnTo>
                  <a:pt x="521994" y="132237"/>
                </a:lnTo>
                <a:lnTo>
                  <a:pt x="550796" y="163388"/>
                </a:lnTo>
                <a:lnTo>
                  <a:pt x="550796" y="166513"/>
                </a:lnTo>
                <a:lnTo>
                  <a:pt x="521994" y="197664"/>
                </a:lnTo>
                <a:lnTo>
                  <a:pt x="521451" y="204712"/>
                </a:lnTo>
                <a:lnTo>
                  <a:pt x="521668" y="209172"/>
                </a:lnTo>
                <a:lnTo>
                  <a:pt x="522320" y="214913"/>
                </a:lnTo>
                <a:lnTo>
                  <a:pt x="523405" y="221935"/>
                </a:lnTo>
                <a:lnTo>
                  <a:pt x="524925" y="230237"/>
                </a:lnTo>
                <a:lnTo>
                  <a:pt x="526444" y="238820"/>
                </a:lnTo>
                <a:lnTo>
                  <a:pt x="527529" y="246688"/>
                </a:lnTo>
                <a:lnTo>
                  <a:pt x="528180" y="253839"/>
                </a:lnTo>
                <a:lnTo>
                  <a:pt x="528397" y="260275"/>
                </a:lnTo>
                <a:lnTo>
                  <a:pt x="527507" y="274843"/>
                </a:lnTo>
                <a:lnTo>
                  <a:pt x="506357" y="310547"/>
                </a:lnTo>
                <a:lnTo>
                  <a:pt x="474745" y="317921"/>
                </a:lnTo>
                <a:lnTo>
                  <a:pt x="472140" y="317921"/>
                </a:lnTo>
                <a:lnTo>
                  <a:pt x="472140" y="331116"/>
                </a:lnTo>
                <a:lnTo>
                  <a:pt x="476655" y="331116"/>
                </a:lnTo>
                <a:lnTo>
                  <a:pt x="495771" y="329690"/>
                </a:lnTo>
                <a:lnTo>
                  <a:pt x="537687" y="312451"/>
                </a:lnTo>
                <a:lnTo>
                  <a:pt x="556650" y="274604"/>
                </a:lnTo>
                <a:lnTo>
                  <a:pt x="557914" y="257149"/>
                </a:lnTo>
                <a:lnTo>
                  <a:pt x="557659" y="249694"/>
                </a:lnTo>
                <a:lnTo>
                  <a:pt x="556895" y="241739"/>
                </a:lnTo>
                <a:lnTo>
                  <a:pt x="555620" y="233286"/>
                </a:lnTo>
                <a:lnTo>
                  <a:pt x="553835" y="224332"/>
                </a:lnTo>
                <a:lnTo>
                  <a:pt x="551115" y="212063"/>
                </a:lnTo>
                <a:lnTo>
                  <a:pt x="549755" y="203843"/>
                </a:lnTo>
                <a:lnTo>
                  <a:pt x="549755" y="191689"/>
                </a:lnTo>
                <a:lnTo>
                  <a:pt x="552504" y="185178"/>
                </a:lnTo>
                <a:lnTo>
                  <a:pt x="582918" y="172069"/>
                </a:lnTo>
                <a:lnTo>
                  <a:pt x="582918" y="157831"/>
                </a:lnTo>
                <a:lnTo>
                  <a:pt x="549755" y="138211"/>
                </a:lnTo>
                <a:lnTo>
                  <a:pt x="549755" y="126056"/>
                </a:lnTo>
                <a:lnTo>
                  <a:pt x="551115" y="117838"/>
                </a:lnTo>
                <a:lnTo>
                  <a:pt x="553835" y="105568"/>
                </a:lnTo>
                <a:lnTo>
                  <a:pt x="555620" y="96615"/>
                </a:lnTo>
                <a:lnTo>
                  <a:pt x="556895" y="88161"/>
                </a:lnTo>
                <a:lnTo>
                  <a:pt x="557659" y="80207"/>
                </a:lnTo>
                <a:lnTo>
                  <a:pt x="557914" y="72751"/>
                </a:lnTo>
                <a:lnTo>
                  <a:pt x="556650" y="55827"/>
                </a:lnTo>
                <a:lnTo>
                  <a:pt x="537687" y="18665"/>
                </a:lnTo>
                <a:lnTo>
                  <a:pt x="495771" y="1426"/>
                </a:lnTo>
                <a:lnTo>
                  <a:pt x="476655" y="0"/>
                </a:lnTo>
                <a:close/>
              </a:path>
              <a:path w="582929" h="331469">
                <a:moveTo>
                  <a:pt x="110777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6" y="55730"/>
                </a:lnTo>
                <a:lnTo>
                  <a:pt x="25115" y="75887"/>
                </a:lnTo>
                <a:lnTo>
                  <a:pt x="25257" y="80033"/>
                </a:lnTo>
                <a:lnTo>
                  <a:pt x="26023" y="87987"/>
                </a:lnTo>
                <a:lnTo>
                  <a:pt x="27298" y="96441"/>
                </a:lnTo>
                <a:lnTo>
                  <a:pt x="29082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3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2" y="224158"/>
                </a:lnTo>
                <a:lnTo>
                  <a:pt x="27298" y="233112"/>
                </a:lnTo>
                <a:lnTo>
                  <a:pt x="26023" y="241565"/>
                </a:lnTo>
                <a:lnTo>
                  <a:pt x="25257" y="249520"/>
                </a:lnTo>
                <a:lnTo>
                  <a:pt x="25002" y="256975"/>
                </a:lnTo>
                <a:lnTo>
                  <a:pt x="26266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7" y="331116"/>
                </a:lnTo>
                <a:lnTo>
                  <a:pt x="110777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7" y="214740"/>
                </a:lnTo>
                <a:lnTo>
                  <a:pt x="61248" y="208999"/>
                </a:lnTo>
                <a:lnTo>
                  <a:pt x="61465" y="204538"/>
                </a:lnTo>
                <a:lnTo>
                  <a:pt x="60922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2" y="132063"/>
                </a:lnTo>
                <a:lnTo>
                  <a:pt x="61465" y="125014"/>
                </a:lnTo>
                <a:lnTo>
                  <a:pt x="61248" y="120554"/>
                </a:lnTo>
                <a:lnTo>
                  <a:pt x="60597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0" y="20569"/>
                </a:lnTo>
                <a:lnTo>
                  <a:pt x="108173" y="13195"/>
                </a:lnTo>
                <a:lnTo>
                  <a:pt x="110777" y="13195"/>
                </a:lnTo>
                <a:lnTo>
                  <a:pt x="110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956563" y="1826259"/>
            <a:ext cx="7811134" cy="106807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Given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4</a:t>
            </a:r>
            <a:r>
              <a:rPr dirty="0" sz="2800" spc="-5">
                <a:latin typeface="Calibri"/>
                <a:cs typeface="Calibri"/>
              </a:rPr>
              <a:t> queries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110">
                <a:latin typeface="Cambria Math"/>
                <a:cs typeface="Cambria Math"/>
              </a:rPr>
              <a:t>𝑞</a:t>
            </a:r>
            <a:r>
              <a:rPr dirty="0" baseline="-16666" sz="3000" spc="165">
                <a:latin typeface="Cambria Math"/>
                <a:cs typeface="Cambria Math"/>
              </a:rPr>
              <a:t>"</a:t>
            </a:r>
            <a:r>
              <a:rPr dirty="0" sz="2800" spc="110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 spc="-15">
                <a:latin typeface="Cambria Math"/>
                <a:cs typeface="Cambria Math"/>
              </a:rPr>
              <a:t>𝑞</a:t>
            </a:r>
            <a:r>
              <a:rPr dirty="0" baseline="-16666" sz="3000" spc="-22">
                <a:latin typeface="Cambria Math"/>
                <a:cs typeface="Cambria Math"/>
              </a:rPr>
              <a:t>#</a:t>
            </a:r>
            <a:r>
              <a:rPr dirty="0" sz="2800" spc="-15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6666" sz="3000" spc="187">
                <a:latin typeface="Cambria Math"/>
                <a:cs typeface="Cambria Math"/>
              </a:rPr>
              <a:t>)</a:t>
            </a:r>
            <a:r>
              <a:rPr dirty="0" sz="2800" spc="125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6666" sz="3000" spc="187">
                <a:latin typeface="Cambria Math"/>
                <a:cs typeface="Cambria Math"/>
              </a:rPr>
              <a:t>*</a:t>
            </a:r>
            <a:r>
              <a:rPr dirty="0" baseline="-16666" sz="3000" spc="157">
                <a:latin typeface="Cambria Math"/>
                <a:cs typeface="Cambria Math"/>
              </a:rPr>
              <a:t>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15">
                <a:latin typeface="Calibri"/>
                <a:cs typeface="Calibri"/>
              </a:rPr>
              <a:t>answers:</a:t>
            </a:r>
            <a:endParaRPr sz="2800">
              <a:latin typeface="Calibri"/>
              <a:cs typeface="Calibri"/>
            </a:endParaRPr>
          </a:p>
          <a:p>
            <a:pPr marL="443230" indent="-43053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443230" algn="l"/>
                <a:tab pos="443865" algn="l"/>
                <a:tab pos="1040765" algn="l"/>
                <a:tab pos="1542415" algn="l"/>
                <a:tab pos="2338070" algn="l"/>
                <a:tab pos="2943860" algn="l"/>
                <a:tab pos="3445510" algn="l"/>
                <a:tab pos="4227830" algn="l"/>
                <a:tab pos="4833620" algn="l"/>
                <a:tab pos="5335270" algn="l"/>
                <a:tab pos="6139180" algn="l"/>
                <a:tab pos="6744970" algn="l"/>
                <a:tab pos="7246620" algn="l"/>
              </a:tabLst>
            </a:pP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5277" sz="3000" spc="187">
                <a:latin typeface="Cambria Math"/>
                <a:cs typeface="Cambria Math"/>
              </a:rPr>
              <a:t>"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30">
                <a:latin typeface="Cambria Math"/>
                <a:cs typeface="Cambria Math"/>
              </a:rPr>
              <a:t>𝑣</a:t>
            </a:r>
            <a:r>
              <a:rPr dirty="0" baseline="-15277" sz="3000" spc="195">
                <a:latin typeface="Cambria Math"/>
                <a:cs typeface="Cambria Math"/>
              </a:rPr>
              <a:t>"</a:t>
            </a:r>
            <a:r>
              <a:rPr dirty="0" baseline="-15277" sz="3000" spc="64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-70">
                <a:latin typeface="Cambria Math"/>
                <a:cs typeface="Cambria Math"/>
              </a:rPr>
              <a:t>𝑞</a:t>
            </a:r>
            <a:r>
              <a:rPr dirty="0" baseline="-15277" sz="3000" spc="-104">
                <a:latin typeface="Cambria Math"/>
                <a:cs typeface="Cambria Math"/>
              </a:rPr>
              <a:t>#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-60">
                <a:latin typeface="Cambria Math"/>
                <a:cs typeface="Cambria Math"/>
              </a:rPr>
              <a:t>𝑣</a:t>
            </a:r>
            <a:r>
              <a:rPr dirty="0" baseline="-15277" sz="3000" spc="-89">
                <a:latin typeface="Cambria Math"/>
                <a:cs typeface="Cambria Math"/>
              </a:rPr>
              <a:t># </a:t>
            </a:r>
            <a:r>
              <a:rPr dirty="0" baseline="-15277" sz="3000" spc="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130">
                <a:latin typeface="Cambria Math"/>
                <a:cs typeface="Cambria Math"/>
              </a:rPr>
              <a:t>𝑞</a:t>
            </a:r>
            <a:r>
              <a:rPr dirty="0" baseline="-15277" sz="3000" spc="195">
                <a:latin typeface="Cambria Math"/>
                <a:cs typeface="Cambria Math"/>
              </a:rPr>
              <a:t>)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140">
                <a:latin typeface="Cambria Math"/>
                <a:cs typeface="Cambria Math"/>
              </a:rPr>
              <a:t>𝑣</a:t>
            </a:r>
            <a:r>
              <a:rPr dirty="0" baseline="-15277" sz="3000" spc="209">
                <a:latin typeface="Cambria Math"/>
                <a:cs typeface="Cambria Math"/>
              </a:rPr>
              <a:t>)</a:t>
            </a:r>
            <a:r>
              <a:rPr dirty="0" baseline="-15277" sz="3000" spc="64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	</a:t>
            </a: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5277" sz="3000" spc="187">
                <a:latin typeface="Cambria Math"/>
                <a:cs typeface="Cambria Math"/>
              </a:rPr>
              <a:t>*	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75">
                <a:latin typeface="Cambria Math"/>
                <a:cs typeface="Cambria Math"/>
              </a:rPr>
              <a:t>𝑣</a:t>
            </a:r>
            <a:r>
              <a:rPr dirty="0" baseline="-15277" sz="3000" spc="112">
                <a:latin typeface="Cambria Math"/>
                <a:cs typeface="Cambria Math"/>
              </a:rPr>
              <a:t>*</a:t>
            </a:r>
            <a:r>
              <a:rPr dirty="0" baseline="-15277" sz="3000" spc="49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660443" y="4081802"/>
            <a:ext cx="85725" cy="2028189"/>
          </a:xfrm>
          <a:custGeom>
            <a:avLst/>
            <a:gdLst/>
            <a:ahLst/>
            <a:cxnLst/>
            <a:rect l="l" t="t" r="r" b="b"/>
            <a:pathLst>
              <a:path w="85725" h="2028189">
                <a:moveTo>
                  <a:pt x="50753" y="57150"/>
                </a:moveTo>
                <a:lnTo>
                  <a:pt x="34971" y="57150"/>
                </a:lnTo>
                <a:lnTo>
                  <a:pt x="28575" y="63545"/>
                </a:lnTo>
                <a:lnTo>
                  <a:pt x="28576" y="2021625"/>
                </a:lnTo>
                <a:lnTo>
                  <a:pt x="34971" y="2028022"/>
                </a:lnTo>
                <a:lnTo>
                  <a:pt x="50754" y="2028022"/>
                </a:lnTo>
                <a:lnTo>
                  <a:pt x="57151" y="2021625"/>
                </a:lnTo>
                <a:lnTo>
                  <a:pt x="57150" y="63545"/>
                </a:lnTo>
                <a:lnTo>
                  <a:pt x="50753" y="57150"/>
                </a:lnTo>
                <a:close/>
              </a:path>
              <a:path w="85725" h="2028189">
                <a:moveTo>
                  <a:pt x="42862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63545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2028189">
                <a:moveTo>
                  <a:pt x="71437" y="57150"/>
                </a:moveTo>
                <a:lnTo>
                  <a:pt x="50753" y="57150"/>
                </a:lnTo>
                <a:lnTo>
                  <a:pt x="57150" y="63545"/>
                </a:lnTo>
                <a:lnTo>
                  <a:pt x="57150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669963" y="6052623"/>
            <a:ext cx="2225040" cy="85725"/>
          </a:xfrm>
          <a:custGeom>
            <a:avLst/>
            <a:gdLst/>
            <a:ahLst/>
            <a:cxnLst/>
            <a:rect l="l" t="t" r="r" b="b"/>
            <a:pathLst>
              <a:path w="2225040" h="85725">
                <a:moveTo>
                  <a:pt x="2139084" y="57149"/>
                </a:moveTo>
                <a:lnTo>
                  <a:pt x="2139067" y="85725"/>
                </a:lnTo>
                <a:lnTo>
                  <a:pt x="2196277" y="57163"/>
                </a:lnTo>
                <a:lnTo>
                  <a:pt x="2139084" y="57149"/>
                </a:lnTo>
                <a:close/>
              </a:path>
              <a:path w="2225040" h="85725">
                <a:moveTo>
                  <a:pt x="2139102" y="28574"/>
                </a:moveTo>
                <a:lnTo>
                  <a:pt x="2139084" y="57149"/>
                </a:lnTo>
                <a:lnTo>
                  <a:pt x="2161258" y="57163"/>
                </a:lnTo>
                <a:lnTo>
                  <a:pt x="2167657" y="50770"/>
                </a:lnTo>
                <a:lnTo>
                  <a:pt x="2167667" y="34989"/>
                </a:lnTo>
                <a:lnTo>
                  <a:pt x="2161274" y="28588"/>
                </a:lnTo>
                <a:lnTo>
                  <a:pt x="2139102" y="28574"/>
                </a:lnTo>
                <a:close/>
              </a:path>
              <a:path w="2225040" h="85725">
                <a:moveTo>
                  <a:pt x="2139119" y="0"/>
                </a:moveTo>
                <a:lnTo>
                  <a:pt x="2139102" y="28574"/>
                </a:lnTo>
                <a:lnTo>
                  <a:pt x="2161274" y="28588"/>
                </a:lnTo>
                <a:lnTo>
                  <a:pt x="2167667" y="34989"/>
                </a:lnTo>
                <a:lnTo>
                  <a:pt x="2167657" y="50770"/>
                </a:lnTo>
                <a:lnTo>
                  <a:pt x="2161258" y="57163"/>
                </a:lnTo>
                <a:lnTo>
                  <a:pt x="2196277" y="57163"/>
                </a:lnTo>
                <a:lnTo>
                  <a:pt x="2224819" y="42914"/>
                </a:lnTo>
                <a:lnTo>
                  <a:pt x="2139119" y="0"/>
                </a:lnTo>
                <a:close/>
              </a:path>
              <a:path w="2225040" h="85725">
                <a:moveTo>
                  <a:pt x="6410" y="27284"/>
                </a:moveTo>
                <a:lnTo>
                  <a:pt x="10" y="33676"/>
                </a:lnTo>
                <a:lnTo>
                  <a:pt x="0" y="49458"/>
                </a:lnTo>
                <a:lnTo>
                  <a:pt x="6393" y="55859"/>
                </a:lnTo>
                <a:lnTo>
                  <a:pt x="2139084" y="57149"/>
                </a:lnTo>
                <a:lnTo>
                  <a:pt x="2139102" y="28574"/>
                </a:lnTo>
                <a:lnTo>
                  <a:pt x="6410" y="27284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736421" y="476010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736421" y="476010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D9253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055856" y="52108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055856" y="52108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293854" y="53125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293854" y="53125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2263529" y="4995164"/>
            <a:ext cx="228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30">
                <a:latin typeface="Cambria Math"/>
                <a:cs typeface="Cambria Math"/>
              </a:rPr>
              <a:t>𝐯</a:t>
            </a:r>
            <a:r>
              <a:rPr dirty="0" baseline="-14957" sz="1950" spc="-330">
                <a:latin typeface="Cambria Math"/>
                <a:cs typeface="Cambria Math"/>
              </a:rPr>
              <a:t>+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826640" y="4422140"/>
            <a:ext cx="2336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0">
                <a:latin typeface="Cambria Math"/>
                <a:cs typeface="Cambria Math"/>
              </a:rPr>
              <a:t>𝐯</a:t>
            </a:r>
            <a:r>
              <a:rPr dirty="0" baseline="-14957" sz="1950" spc="719">
                <a:latin typeface="Cambria Math"/>
                <a:cs typeface="Cambria Math"/>
              </a:rPr>
              <a:t>,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285291" y="5159755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𝐯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397941" y="5268976"/>
            <a:ext cx="1212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315">
                <a:latin typeface="Cambria Math"/>
                <a:cs typeface="Cambria Math"/>
              </a:rPr>
              <a:t>-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56563" y="2947923"/>
            <a:ext cx="7730490" cy="164592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87020" marR="5080" indent="-27432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If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allow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union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operation,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can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embed them </a:t>
            </a:r>
            <a:r>
              <a:rPr dirty="0" sz="2800" spc="-285">
                <a:solidFill>
                  <a:srgbClr val="C00000"/>
                </a:solidFill>
                <a:latin typeface="Calibri"/>
                <a:cs typeface="Calibri"/>
              </a:rPr>
              <a:t>in 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two-dimensional</a:t>
            </a:r>
            <a:r>
              <a:rPr dirty="0" sz="2800" spc="-8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plane?</a:t>
            </a:r>
            <a:endParaRPr sz="2800">
              <a:latin typeface="Calibri"/>
              <a:cs typeface="Calibri"/>
            </a:endParaRPr>
          </a:p>
          <a:p>
            <a:pPr marL="3477895">
              <a:lnSpc>
                <a:spcPct val="100000"/>
              </a:lnSpc>
              <a:spcBef>
                <a:spcPts val="1620"/>
              </a:spcBef>
            </a:pPr>
            <a:r>
              <a:rPr dirty="0" sz="1800" spc="-35">
                <a:solidFill>
                  <a:srgbClr val="479249"/>
                </a:solidFill>
                <a:latin typeface="Calibri"/>
                <a:cs typeface="Calibri"/>
              </a:rPr>
              <a:t>We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cannot design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a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box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embedding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for </a:t>
            </a:r>
            <a:r>
              <a:rPr dirty="0" sz="1800" spc="-5">
                <a:solidFill>
                  <a:srgbClr val="479249"/>
                </a:solidFill>
                <a:latin typeface="Cambria Math"/>
                <a:cs typeface="Cambria Math"/>
              </a:rPr>
              <a:t>𝒒</a:t>
            </a:r>
            <a:r>
              <a:rPr dirty="0" baseline="-14957" sz="1950" spc="-7">
                <a:solidFill>
                  <a:srgbClr val="479249"/>
                </a:solidFill>
                <a:latin typeface="Cambria Math"/>
                <a:cs typeface="Cambria Math"/>
              </a:rPr>
              <a:t>𝟐</a:t>
            </a:r>
            <a:r>
              <a:rPr dirty="0" baseline="-14957" sz="1950" spc="277">
                <a:solidFill>
                  <a:srgbClr val="479249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479249"/>
                </a:solidFill>
                <a:latin typeface="Cambria Math"/>
                <a:cs typeface="Cambria Math"/>
              </a:rPr>
              <a:t>∨</a:t>
            </a:r>
            <a:endParaRPr sz="1800">
              <a:latin typeface="Cambria Math"/>
              <a:cs typeface="Cambria Math"/>
            </a:endParaRPr>
          </a:p>
          <a:p>
            <a:pPr marL="3477895">
              <a:lnSpc>
                <a:spcPct val="100000"/>
              </a:lnSpc>
              <a:spcBef>
                <a:spcPts val="45"/>
              </a:spcBef>
            </a:pPr>
            <a:r>
              <a:rPr dirty="0" sz="1800" spc="10">
                <a:solidFill>
                  <a:srgbClr val="479249"/>
                </a:solidFill>
                <a:latin typeface="Cambria Math"/>
                <a:cs typeface="Cambria Math"/>
              </a:rPr>
              <a:t>𝒒</a:t>
            </a:r>
            <a:r>
              <a:rPr dirty="0" baseline="-14957" sz="1950" spc="15">
                <a:solidFill>
                  <a:srgbClr val="479249"/>
                </a:solidFill>
                <a:latin typeface="Cambria Math"/>
                <a:cs typeface="Cambria Math"/>
              </a:rPr>
              <a:t>𝟒</a:t>
            </a:r>
            <a:r>
              <a:rPr dirty="0" sz="1800" spc="10">
                <a:solidFill>
                  <a:srgbClr val="479249"/>
                </a:solidFill>
                <a:latin typeface="Calibri"/>
                <a:cs typeface="Calibri"/>
              </a:rPr>
              <a:t>,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that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only </a:t>
            </a:r>
            <a:r>
              <a:rPr dirty="0" sz="1800" spc="225">
                <a:solidFill>
                  <a:srgbClr val="D9253E"/>
                </a:solidFill>
                <a:latin typeface="Cambria Math"/>
                <a:cs typeface="Cambria Math"/>
              </a:rPr>
              <a:t>𝑣</a:t>
            </a:r>
            <a:r>
              <a:rPr dirty="0" baseline="-14957" sz="1950" spc="337">
                <a:solidFill>
                  <a:srgbClr val="D9253E"/>
                </a:solidFill>
                <a:latin typeface="Cambria Math"/>
                <a:cs typeface="Cambria Math"/>
              </a:rPr>
              <a:t>,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and </a:t>
            </a:r>
            <a:r>
              <a:rPr dirty="0" sz="1800" spc="185">
                <a:solidFill>
                  <a:srgbClr val="D9253E"/>
                </a:solidFill>
                <a:latin typeface="Cambria Math"/>
                <a:cs typeface="Cambria Math"/>
              </a:rPr>
              <a:t>𝑣</a:t>
            </a:r>
            <a:r>
              <a:rPr dirty="0" baseline="-14957" sz="1950" spc="277">
                <a:solidFill>
                  <a:srgbClr val="D9253E"/>
                </a:solidFill>
                <a:latin typeface="Cambria Math"/>
                <a:cs typeface="Cambria Math"/>
              </a:rPr>
              <a:t>.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are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in the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box </a:t>
            </a: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but</a:t>
            </a:r>
            <a:r>
              <a:rPr dirty="0" sz="1800" spc="-210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1800" spc="-145">
                <a:solidFill>
                  <a:srgbClr val="3F629F"/>
                </a:solidFill>
                <a:latin typeface="Cambria Math"/>
                <a:cs typeface="Cambria Math"/>
              </a:rPr>
              <a:t>𝑣</a:t>
            </a:r>
            <a:r>
              <a:rPr dirty="0" baseline="-14957" sz="1950" spc="-217">
                <a:solidFill>
                  <a:srgbClr val="3F629F"/>
                </a:solidFill>
                <a:latin typeface="Cambria Math"/>
                <a:cs typeface="Cambria Math"/>
              </a:rPr>
              <a:t>+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422140" y="4559300"/>
            <a:ext cx="2564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479249"/>
                </a:solidFill>
                <a:latin typeface="Calibri"/>
                <a:cs typeface="Calibri"/>
              </a:rPr>
              <a:t>and </a:t>
            </a:r>
            <a:r>
              <a:rPr dirty="0" sz="1800" spc="140">
                <a:solidFill>
                  <a:srgbClr val="3F629F"/>
                </a:solidFill>
                <a:latin typeface="Cambria Math"/>
                <a:cs typeface="Cambria Math"/>
              </a:rPr>
              <a:t>𝑣</a:t>
            </a:r>
            <a:r>
              <a:rPr dirty="0" baseline="-14957" sz="1950" spc="209">
                <a:solidFill>
                  <a:srgbClr val="3F629F"/>
                </a:solidFill>
                <a:latin typeface="Cambria Math"/>
                <a:cs typeface="Cambria Math"/>
              </a:rPr>
              <a:t>- </a:t>
            </a:r>
            <a:r>
              <a:rPr dirty="0" sz="1800" spc="-10">
                <a:solidFill>
                  <a:srgbClr val="479249"/>
                </a:solidFill>
                <a:latin typeface="Calibri"/>
                <a:cs typeface="Calibri"/>
              </a:rPr>
              <a:t>are </a:t>
            </a:r>
            <a:r>
              <a:rPr dirty="0" sz="1800" spc="-5">
                <a:solidFill>
                  <a:srgbClr val="479249"/>
                </a:solidFill>
                <a:latin typeface="Calibri"/>
                <a:cs typeface="Calibri"/>
              </a:rPr>
              <a:t>outside the</a:t>
            </a:r>
            <a:r>
              <a:rPr dirty="0" sz="1800" spc="-55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1800" spc="-15">
                <a:solidFill>
                  <a:srgbClr val="479249"/>
                </a:solidFill>
                <a:latin typeface="Calibri"/>
                <a:cs typeface="Calibri"/>
              </a:rPr>
              <a:t>box.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204036" y="557443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204036" y="557443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D9253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3302731" y="5644388"/>
            <a:ext cx="2336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0">
                <a:latin typeface="Cambria Math"/>
                <a:cs typeface="Cambria Math"/>
              </a:rPr>
              <a:t>𝐯</a:t>
            </a:r>
            <a:r>
              <a:rPr dirty="0" baseline="-14957" sz="1950" spc="719">
                <a:latin typeface="Cambria Math"/>
                <a:cs typeface="Cambria Math"/>
              </a:rPr>
              <a:t>.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51</a:t>
            </a:fld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79068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76209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1184275">
              <a:lnSpc>
                <a:spcPts val="3790"/>
              </a:lnSpc>
              <a:spcBef>
                <a:spcPts val="265"/>
              </a:spcBef>
            </a:pPr>
            <a:r>
              <a:rPr dirty="0" sz="3200" spc="-5" b="1" i="0">
                <a:solidFill>
                  <a:srgbClr val="C00000"/>
                </a:solidFill>
                <a:latin typeface="Calibri"/>
                <a:cs typeface="Calibri"/>
              </a:rPr>
              <a:t>Can </a:t>
            </a:r>
            <a:r>
              <a:rPr dirty="0" sz="3200" spc="-15" b="1" i="0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3200" spc="-5" b="1" i="0">
                <a:solidFill>
                  <a:srgbClr val="C00000"/>
                </a:solidFill>
                <a:latin typeface="Calibri"/>
                <a:cs typeface="Calibri"/>
              </a:rPr>
              <a:t>embed AND-OR queries </a:t>
            </a:r>
            <a:r>
              <a:rPr dirty="0" sz="3200" b="1" i="0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dirty="0" sz="3200" spc="-15" b="1" i="0">
                <a:solidFill>
                  <a:srgbClr val="C00000"/>
                </a:solidFill>
                <a:latin typeface="Calibri"/>
                <a:cs typeface="Calibri"/>
              </a:rPr>
              <a:t>low-  </a:t>
            </a:r>
            <a:r>
              <a:rPr dirty="0" sz="3200" spc="-5" b="1" i="0">
                <a:solidFill>
                  <a:srgbClr val="C00000"/>
                </a:solidFill>
                <a:latin typeface="Calibri"/>
                <a:cs typeface="Calibri"/>
              </a:rPr>
              <a:t>dimensional </a:t>
            </a:r>
            <a:r>
              <a:rPr dirty="0" sz="3200" spc="-15" b="1" i="0">
                <a:solidFill>
                  <a:srgbClr val="C00000"/>
                </a:solidFill>
                <a:latin typeface="Calibri"/>
                <a:cs typeface="Calibri"/>
              </a:rPr>
              <a:t>vector</a:t>
            </a:r>
            <a:r>
              <a:rPr dirty="0" sz="3200" spc="-45" b="1" i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 i="0">
                <a:solidFill>
                  <a:srgbClr val="C00000"/>
                </a:solidFill>
                <a:latin typeface="Calibri"/>
                <a:cs typeface="Calibri"/>
              </a:rPr>
              <a:t>space?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 i="0">
                <a:latin typeface="Calibri"/>
                <a:cs typeface="Calibri"/>
              </a:rPr>
              <a:t>Conclusion</a:t>
            </a:r>
            <a:r>
              <a:rPr dirty="0" sz="3200" spc="-5" i="0">
                <a:latin typeface="Calibri"/>
                <a:cs typeface="Calibri"/>
              </a:rPr>
              <a:t>: </a:t>
            </a:r>
            <a:r>
              <a:rPr dirty="0" sz="3200" spc="-10" i="0">
                <a:latin typeface="Calibri"/>
                <a:cs typeface="Calibri"/>
              </a:rPr>
              <a:t>Given </a:t>
            </a:r>
            <a:r>
              <a:rPr dirty="0" sz="3200" spc="-20" i="0">
                <a:latin typeface="Calibri"/>
                <a:cs typeface="Calibri"/>
              </a:rPr>
              <a:t>any </a:t>
            </a:r>
            <a:r>
              <a:rPr dirty="0" sz="3200" i="0">
                <a:solidFill>
                  <a:srgbClr val="D9253E"/>
                </a:solidFill>
                <a:latin typeface="Cambria Math"/>
                <a:cs typeface="Cambria Math"/>
              </a:rPr>
              <a:t>𝑀 </a:t>
            </a:r>
            <a:r>
              <a:rPr dirty="0" sz="3200" spc="-10" i="0">
                <a:latin typeface="Calibri"/>
                <a:cs typeface="Calibri"/>
              </a:rPr>
              <a:t>conjunctive</a:t>
            </a:r>
            <a:r>
              <a:rPr dirty="0" sz="3200" spc="175" i="0">
                <a:latin typeface="Calibri"/>
                <a:cs typeface="Calibri"/>
              </a:rPr>
              <a:t> </a:t>
            </a:r>
            <a:r>
              <a:rPr dirty="0" sz="3200" spc="-5" i="0">
                <a:latin typeface="Calibri"/>
                <a:cs typeface="Calibri"/>
              </a:rPr>
              <a:t>queries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66891" y="4895602"/>
            <a:ext cx="0" cy="323215"/>
          </a:xfrm>
          <a:custGeom>
            <a:avLst/>
            <a:gdLst/>
            <a:ahLst/>
            <a:cxnLst/>
            <a:rect l="l" t="t" r="r" b="b"/>
            <a:pathLst>
              <a:path w="0" h="323214">
                <a:moveTo>
                  <a:pt x="0" y="0"/>
                </a:moveTo>
                <a:lnTo>
                  <a:pt x="0" y="323131"/>
                </a:lnTo>
              </a:path>
            </a:pathLst>
          </a:custGeom>
          <a:ln w="267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20816" y="4895602"/>
            <a:ext cx="0" cy="323215"/>
          </a:xfrm>
          <a:custGeom>
            <a:avLst/>
            <a:gdLst/>
            <a:ahLst/>
            <a:cxnLst/>
            <a:rect l="l" t="t" r="r" b="b"/>
            <a:pathLst>
              <a:path w="0" h="323214">
                <a:moveTo>
                  <a:pt x="0" y="0"/>
                </a:moveTo>
                <a:lnTo>
                  <a:pt x="0" y="323131"/>
                </a:lnTo>
              </a:path>
            </a:pathLst>
          </a:custGeom>
          <a:ln w="267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38149" y="2808732"/>
            <a:ext cx="7585075" cy="294132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85"/>
              </a:spcBef>
            </a:pPr>
            <a:r>
              <a:rPr dirty="0" sz="3200" spc="125">
                <a:latin typeface="Cambria Math"/>
                <a:cs typeface="Cambria Math"/>
              </a:rPr>
              <a:t>𝑞</a:t>
            </a:r>
            <a:r>
              <a:rPr dirty="0" baseline="-15700" sz="3450" spc="187">
                <a:latin typeface="Cambria Math"/>
                <a:cs typeface="Cambria Math"/>
              </a:rPr>
              <a:t>"</a:t>
            </a:r>
            <a:r>
              <a:rPr dirty="0" sz="3200" spc="125">
                <a:latin typeface="Cambria Math"/>
                <a:cs typeface="Cambria Math"/>
              </a:rPr>
              <a:t>, </a:t>
            </a:r>
            <a:r>
              <a:rPr dirty="0" sz="3200">
                <a:latin typeface="Cambria Math"/>
                <a:cs typeface="Cambria Math"/>
              </a:rPr>
              <a:t>… , </a:t>
            </a:r>
            <a:r>
              <a:rPr dirty="0" sz="3200" spc="335">
                <a:latin typeface="Cambria Math"/>
                <a:cs typeface="Cambria Math"/>
              </a:rPr>
              <a:t>𝑞</a:t>
            </a:r>
            <a:r>
              <a:rPr dirty="0" baseline="-15700" sz="3450" spc="502">
                <a:latin typeface="Cambria Math"/>
                <a:cs typeface="Cambria Math"/>
              </a:rPr>
              <a:t>1 </a:t>
            </a:r>
            <a:r>
              <a:rPr dirty="0" sz="3200" spc="-5">
                <a:latin typeface="Calibri"/>
                <a:cs typeface="Calibri"/>
              </a:rPr>
              <a:t>with </a:t>
            </a:r>
            <a:r>
              <a:rPr dirty="0" sz="3200" spc="-5">
                <a:solidFill>
                  <a:srgbClr val="D9253E"/>
                </a:solidFill>
                <a:latin typeface="Calibri"/>
                <a:cs typeface="Calibri"/>
              </a:rPr>
              <a:t>non-overlapping </a:t>
            </a:r>
            <a:r>
              <a:rPr dirty="0" sz="3200" spc="-15">
                <a:latin typeface="Calibri"/>
                <a:cs typeface="Calibri"/>
              </a:rPr>
              <a:t>answers, we  </a:t>
            </a:r>
            <a:r>
              <a:rPr dirty="0" sz="3200" spc="-5">
                <a:latin typeface="Calibri"/>
                <a:cs typeface="Calibri"/>
              </a:rPr>
              <a:t>need dimensionality of </a:t>
            </a:r>
            <a:r>
              <a:rPr dirty="0" sz="3200" spc="10">
                <a:solidFill>
                  <a:srgbClr val="D9253E"/>
                </a:solidFill>
                <a:latin typeface="Cambria Math"/>
                <a:cs typeface="Cambria Math"/>
              </a:rPr>
              <a:t>Θ(𝑀)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handle all OR  </a:t>
            </a:r>
            <a:r>
              <a:rPr dirty="0" sz="3200" spc="-5">
                <a:latin typeface="Calibri"/>
                <a:cs typeface="Calibri"/>
              </a:rPr>
              <a:t>queries.</a:t>
            </a:r>
            <a:endParaRPr sz="3200">
              <a:latin typeface="Calibri"/>
              <a:cs typeface="Calibri"/>
            </a:endParaRPr>
          </a:p>
          <a:p>
            <a:pPr marL="305435" marR="572770" indent="-274320">
              <a:lnSpc>
                <a:spcPct val="100699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  <a:tab pos="2638425" algn="l"/>
                <a:tab pos="3083560" algn="l"/>
              </a:tabLst>
            </a:pPr>
            <a:r>
              <a:rPr dirty="0" sz="2800" spc="-15">
                <a:latin typeface="Calibri"/>
                <a:cs typeface="Calibri"/>
              </a:rPr>
              <a:t>For real-world </a:t>
            </a:r>
            <a:r>
              <a:rPr dirty="0" sz="2800" spc="-40">
                <a:latin typeface="Calibri"/>
                <a:cs typeface="Calibri"/>
              </a:rPr>
              <a:t>KG, </a:t>
            </a:r>
            <a:r>
              <a:rPr dirty="0" sz="2800">
                <a:latin typeface="Calibri"/>
                <a:cs typeface="Calibri"/>
              </a:rPr>
              <a:t>such </a:t>
            </a:r>
            <a:r>
              <a:rPr dirty="0" sz="2800" spc="-5">
                <a:latin typeface="Calibri"/>
                <a:cs typeface="Calibri"/>
              </a:rPr>
              <a:t>as </a:t>
            </a:r>
            <a:r>
              <a:rPr dirty="0" sz="2800">
                <a:latin typeface="Calibri"/>
                <a:cs typeface="Calibri"/>
              </a:rPr>
              <a:t>FB15k,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find </a:t>
            </a:r>
            <a:r>
              <a:rPr dirty="0" sz="2800">
                <a:latin typeface="Cambria Math"/>
                <a:cs typeface="Cambria Math"/>
              </a:rPr>
              <a:t>𝑀 </a:t>
            </a:r>
            <a:r>
              <a:rPr dirty="0" sz="2800" spc="-595">
                <a:latin typeface="Cambria Math"/>
                <a:cs typeface="Cambria Math"/>
              </a:rPr>
              <a:t>≥  </a:t>
            </a:r>
            <a:r>
              <a:rPr dirty="0" sz="2800" spc="-5">
                <a:latin typeface="Cambria Math"/>
                <a:cs typeface="Cambria Math"/>
              </a:rPr>
              <a:t>13,365</a:t>
            </a:r>
            <a:r>
              <a:rPr dirty="0" sz="2800" spc="-5">
                <a:latin typeface="Calibri"/>
                <a:cs typeface="Calibri"/>
              </a:rPr>
              <a:t>,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where	</a:t>
            </a:r>
            <a:r>
              <a:rPr dirty="0" sz="2800">
                <a:latin typeface="Cambria Math"/>
                <a:cs typeface="Cambria Math"/>
              </a:rPr>
              <a:t>𝑉	=</a:t>
            </a:r>
            <a:r>
              <a:rPr dirty="0" sz="2800" spc="60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14,951.</a:t>
            </a:r>
            <a:endParaRPr sz="2800">
              <a:latin typeface="Cambria Math"/>
              <a:cs typeface="Cambria Math"/>
            </a:endParaRPr>
          </a:p>
          <a:p>
            <a:pPr marL="30543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800" spc="-40">
                <a:latin typeface="Calibri"/>
                <a:cs typeface="Calibri"/>
              </a:rPr>
              <a:t>Remember, </a:t>
            </a:r>
            <a:r>
              <a:rPr dirty="0" sz="2800" spc="-5">
                <a:latin typeface="Calibri"/>
                <a:cs typeface="Calibri"/>
              </a:rPr>
              <a:t>this is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10">
                <a:latin typeface="Calibri"/>
                <a:cs typeface="Calibri"/>
              </a:rPr>
              <a:t>arbitrary </a:t>
            </a:r>
            <a:r>
              <a:rPr dirty="0" sz="2800" spc="-5">
                <a:latin typeface="Calibri"/>
                <a:cs typeface="Calibri"/>
              </a:rPr>
              <a:t>OR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queries.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51</a:t>
            </a:fld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78459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086090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118110">
              <a:lnSpc>
                <a:spcPts val="3790"/>
              </a:lnSpc>
              <a:spcBef>
                <a:spcPts val="265"/>
              </a:spcBef>
            </a:pPr>
            <a:r>
              <a:rPr dirty="0" sz="3200" spc="-5" i="0">
                <a:latin typeface="Calibri"/>
                <a:cs typeface="Calibri"/>
              </a:rPr>
              <a:t>Since </a:t>
            </a:r>
            <a:r>
              <a:rPr dirty="0" sz="3200" spc="-15" i="0">
                <a:latin typeface="Calibri"/>
                <a:cs typeface="Calibri"/>
              </a:rPr>
              <a:t>we </a:t>
            </a:r>
            <a:r>
              <a:rPr dirty="0" sz="3200" spc="-10" b="1" i="0">
                <a:solidFill>
                  <a:srgbClr val="C00000"/>
                </a:solidFill>
                <a:latin typeface="Calibri"/>
                <a:cs typeface="Calibri"/>
              </a:rPr>
              <a:t>cannot </a:t>
            </a:r>
            <a:r>
              <a:rPr dirty="0" sz="3200" spc="-5" b="1" i="0">
                <a:solidFill>
                  <a:srgbClr val="C00000"/>
                </a:solidFill>
                <a:latin typeface="Calibri"/>
                <a:cs typeface="Calibri"/>
              </a:rPr>
              <a:t>embed </a:t>
            </a:r>
            <a:r>
              <a:rPr dirty="0" sz="3200" spc="-5" i="0">
                <a:latin typeface="Calibri"/>
                <a:cs typeface="Calibri"/>
              </a:rPr>
              <a:t>AND-OR queries </a:t>
            </a:r>
            <a:r>
              <a:rPr dirty="0" sz="3200" i="0">
                <a:latin typeface="Calibri"/>
                <a:cs typeface="Calibri"/>
              </a:rPr>
              <a:t>in </a:t>
            </a:r>
            <a:r>
              <a:rPr dirty="0" sz="3200" spc="-25" i="0">
                <a:latin typeface="Calibri"/>
                <a:cs typeface="Calibri"/>
              </a:rPr>
              <a:t>low-  </a:t>
            </a:r>
            <a:r>
              <a:rPr dirty="0" sz="3200" spc="-5" i="0">
                <a:latin typeface="Calibri"/>
                <a:cs typeface="Calibri"/>
              </a:rPr>
              <a:t>dimensional space, </a:t>
            </a:r>
            <a:r>
              <a:rPr dirty="0" sz="3200" spc="-10" i="0">
                <a:latin typeface="Calibri"/>
                <a:cs typeface="Calibri"/>
              </a:rPr>
              <a:t>can </a:t>
            </a:r>
            <a:r>
              <a:rPr dirty="0" sz="3200" spc="-15" i="0">
                <a:latin typeface="Calibri"/>
                <a:cs typeface="Calibri"/>
              </a:rPr>
              <a:t>we </a:t>
            </a:r>
            <a:r>
              <a:rPr dirty="0" sz="3200" spc="-10" i="0">
                <a:latin typeface="Calibri"/>
                <a:cs typeface="Calibri"/>
              </a:rPr>
              <a:t>still </a:t>
            </a:r>
            <a:r>
              <a:rPr dirty="0" sz="3200" i="0">
                <a:latin typeface="Calibri"/>
                <a:cs typeface="Calibri"/>
              </a:rPr>
              <a:t>handle</a:t>
            </a:r>
            <a:r>
              <a:rPr dirty="0" sz="3200" spc="75" i="0">
                <a:latin typeface="Calibri"/>
                <a:cs typeface="Calibri"/>
              </a:rPr>
              <a:t> </a:t>
            </a:r>
            <a:r>
              <a:rPr dirty="0" sz="3200" spc="-5" i="0">
                <a:latin typeface="Calibri"/>
                <a:cs typeface="Calibri"/>
              </a:rPr>
              <a:t>them?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0" b="1" i="0">
                <a:latin typeface="Calibri"/>
                <a:cs typeface="Calibri"/>
              </a:rPr>
              <a:t>Key </a:t>
            </a:r>
            <a:r>
              <a:rPr dirty="0" sz="3200" spc="-5" b="1" i="0">
                <a:latin typeface="Calibri"/>
                <a:cs typeface="Calibri"/>
              </a:rPr>
              <a:t>idea: </a:t>
            </a:r>
            <a:r>
              <a:rPr dirty="0" sz="3200" spc="-40" i="0">
                <a:latin typeface="Calibri"/>
                <a:cs typeface="Calibri"/>
              </a:rPr>
              <a:t>take </a:t>
            </a:r>
            <a:r>
              <a:rPr dirty="0" sz="3200" i="0">
                <a:latin typeface="Calibri"/>
                <a:cs typeface="Calibri"/>
              </a:rPr>
              <a:t>all unions out and only do</a:t>
            </a:r>
            <a:r>
              <a:rPr dirty="0" sz="3200" spc="50" i="0">
                <a:latin typeface="Calibri"/>
                <a:cs typeface="Calibri"/>
              </a:rPr>
              <a:t> </a:t>
            </a:r>
            <a:r>
              <a:rPr dirty="0" sz="3200" i="0">
                <a:latin typeface="Calibri"/>
                <a:cs typeface="Calibri"/>
              </a:rPr>
              <a:t>union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8149" y="2808732"/>
            <a:ext cx="26498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0" b="1">
                <a:solidFill>
                  <a:srgbClr val="479249"/>
                </a:solidFill>
                <a:latin typeface="Calibri"/>
                <a:cs typeface="Calibri"/>
              </a:rPr>
              <a:t>at </a:t>
            </a:r>
            <a:r>
              <a:rPr dirty="0" sz="3200" spc="-5" b="1">
                <a:solidFill>
                  <a:srgbClr val="479249"/>
                </a:solidFill>
                <a:latin typeface="Calibri"/>
                <a:cs typeface="Calibri"/>
              </a:rPr>
              <a:t>the </a:t>
            </a:r>
            <a:r>
              <a:rPr dirty="0" sz="3200" spc="-15" b="1">
                <a:solidFill>
                  <a:srgbClr val="479249"/>
                </a:solidFill>
                <a:latin typeface="Calibri"/>
                <a:cs typeface="Calibri"/>
              </a:rPr>
              <a:t>last</a:t>
            </a:r>
            <a:r>
              <a:rPr dirty="0" sz="3200" spc="-35" b="1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479249"/>
                </a:solidFill>
                <a:latin typeface="Calibri"/>
                <a:cs typeface="Calibri"/>
              </a:rPr>
              <a:t>step</a:t>
            </a:r>
            <a:r>
              <a:rPr dirty="0" sz="3200" spc="-20">
                <a:latin typeface="Calibri"/>
                <a:cs typeface="Calibri"/>
              </a:rPr>
              <a:t>!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9756" y="553075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9756" y="553075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77884" y="501413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77884" y="501413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77365" y="4517090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77364" y="4517090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61918" y="4668011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C0000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77750" y="451566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3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7750" y="451566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44723" y="4517070"/>
            <a:ext cx="633095" cy="161925"/>
          </a:xfrm>
          <a:custGeom>
            <a:avLst/>
            <a:gdLst/>
            <a:ahLst/>
            <a:cxnLst/>
            <a:rect l="l" t="t" r="r" b="b"/>
            <a:pathLst>
              <a:path w="633094" h="161925">
                <a:moveTo>
                  <a:pt x="470657" y="107948"/>
                </a:moveTo>
                <a:lnTo>
                  <a:pt x="470535" y="161923"/>
                </a:lnTo>
                <a:lnTo>
                  <a:pt x="578974" y="108009"/>
                </a:lnTo>
                <a:lnTo>
                  <a:pt x="497644" y="108009"/>
                </a:lnTo>
                <a:lnTo>
                  <a:pt x="470657" y="107948"/>
                </a:lnTo>
                <a:close/>
              </a:path>
              <a:path w="633094" h="161925">
                <a:moveTo>
                  <a:pt x="470779" y="53975"/>
                </a:moveTo>
                <a:lnTo>
                  <a:pt x="470657" y="107948"/>
                </a:lnTo>
                <a:lnTo>
                  <a:pt x="497644" y="108009"/>
                </a:lnTo>
                <a:lnTo>
                  <a:pt x="497766" y="54035"/>
                </a:lnTo>
                <a:lnTo>
                  <a:pt x="470779" y="53975"/>
                </a:lnTo>
                <a:close/>
              </a:path>
              <a:path w="633094" h="161925">
                <a:moveTo>
                  <a:pt x="470900" y="0"/>
                </a:moveTo>
                <a:lnTo>
                  <a:pt x="470779" y="53975"/>
                </a:lnTo>
                <a:lnTo>
                  <a:pt x="497766" y="54035"/>
                </a:lnTo>
                <a:lnTo>
                  <a:pt x="497644" y="108009"/>
                </a:lnTo>
                <a:lnTo>
                  <a:pt x="578974" y="108009"/>
                </a:lnTo>
                <a:lnTo>
                  <a:pt x="632642" y="81326"/>
                </a:lnTo>
                <a:lnTo>
                  <a:pt x="470900" y="0"/>
                </a:lnTo>
                <a:close/>
              </a:path>
              <a:path w="633094" h="161925">
                <a:moveTo>
                  <a:pt x="121" y="52913"/>
                </a:moveTo>
                <a:lnTo>
                  <a:pt x="0" y="106888"/>
                </a:lnTo>
                <a:lnTo>
                  <a:pt x="470657" y="107948"/>
                </a:lnTo>
                <a:lnTo>
                  <a:pt x="470779" y="53975"/>
                </a:lnTo>
                <a:lnTo>
                  <a:pt x="121" y="5291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03040" y="4634845"/>
            <a:ext cx="502920" cy="411480"/>
          </a:xfrm>
          <a:custGeom>
            <a:avLst/>
            <a:gdLst/>
            <a:ahLst/>
            <a:cxnLst/>
            <a:rect l="l" t="t" r="r" b="b"/>
            <a:pathLst>
              <a:path w="502919" h="411479">
                <a:moveTo>
                  <a:pt x="33793" y="0"/>
                </a:moveTo>
                <a:lnTo>
                  <a:pt x="0" y="42085"/>
                </a:lnTo>
                <a:lnTo>
                  <a:pt x="126257" y="143469"/>
                </a:lnTo>
                <a:lnTo>
                  <a:pt x="160051" y="101382"/>
                </a:lnTo>
                <a:lnTo>
                  <a:pt x="33793" y="0"/>
                </a:lnTo>
                <a:close/>
              </a:path>
              <a:path w="502919" h="411479">
                <a:moveTo>
                  <a:pt x="359619" y="330856"/>
                </a:moveTo>
                <a:lnTo>
                  <a:pt x="325824" y="372941"/>
                </a:lnTo>
                <a:lnTo>
                  <a:pt x="502775" y="411196"/>
                </a:lnTo>
                <a:lnTo>
                  <a:pt x="473633" y="347753"/>
                </a:lnTo>
                <a:lnTo>
                  <a:pt x="380662" y="347753"/>
                </a:lnTo>
                <a:lnTo>
                  <a:pt x="359619" y="330856"/>
                </a:lnTo>
                <a:close/>
              </a:path>
              <a:path w="502919" h="411479">
                <a:moveTo>
                  <a:pt x="393414" y="288770"/>
                </a:moveTo>
                <a:lnTo>
                  <a:pt x="359619" y="330856"/>
                </a:lnTo>
                <a:lnTo>
                  <a:pt x="380662" y="347753"/>
                </a:lnTo>
                <a:lnTo>
                  <a:pt x="414456" y="305667"/>
                </a:lnTo>
                <a:lnTo>
                  <a:pt x="393414" y="288770"/>
                </a:lnTo>
                <a:close/>
              </a:path>
              <a:path w="502919" h="411479">
                <a:moveTo>
                  <a:pt x="427208" y="246684"/>
                </a:moveTo>
                <a:lnTo>
                  <a:pt x="393414" y="288770"/>
                </a:lnTo>
                <a:lnTo>
                  <a:pt x="414456" y="305667"/>
                </a:lnTo>
                <a:lnTo>
                  <a:pt x="380662" y="347753"/>
                </a:lnTo>
                <a:lnTo>
                  <a:pt x="473633" y="347753"/>
                </a:lnTo>
                <a:lnTo>
                  <a:pt x="427208" y="246684"/>
                </a:lnTo>
                <a:close/>
              </a:path>
              <a:path w="502919" h="411479">
                <a:moveTo>
                  <a:pt x="370481" y="270356"/>
                </a:moveTo>
                <a:lnTo>
                  <a:pt x="336687" y="312441"/>
                </a:lnTo>
                <a:lnTo>
                  <a:pt x="359619" y="330856"/>
                </a:lnTo>
                <a:lnTo>
                  <a:pt x="393414" y="288770"/>
                </a:lnTo>
                <a:lnTo>
                  <a:pt x="370481" y="270356"/>
                </a:lnTo>
                <a:close/>
              </a:path>
              <a:path w="502919" h="411479">
                <a:moveTo>
                  <a:pt x="202138" y="135177"/>
                </a:moveTo>
                <a:lnTo>
                  <a:pt x="168343" y="177264"/>
                </a:lnTo>
                <a:lnTo>
                  <a:pt x="294601" y="278646"/>
                </a:lnTo>
                <a:lnTo>
                  <a:pt x="328395" y="236561"/>
                </a:lnTo>
                <a:lnTo>
                  <a:pt x="202138" y="1351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56752" y="5530462"/>
            <a:ext cx="621030" cy="161925"/>
          </a:xfrm>
          <a:custGeom>
            <a:avLst/>
            <a:gdLst/>
            <a:ahLst/>
            <a:cxnLst/>
            <a:rect l="l" t="t" r="r" b="b"/>
            <a:pathLst>
              <a:path w="621030" h="161925">
                <a:moveTo>
                  <a:pt x="566824" y="53936"/>
                </a:moveTo>
                <a:lnTo>
                  <a:pt x="485638" y="53936"/>
                </a:lnTo>
                <a:lnTo>
                  <a:pt x="485713" y="107912"/>
                </a:lnTo>
                <a:lnTo>
                  <a:pt x="458725" y="107949"/>
                </a:lnTo>
                <a:lnTo>
                  <a:pt x="458800" y="161924"/>
                </a:lnTo>
                <a:lnTo>
                  <a:pt x="620613" y="80738"/>
                </a:lnTo>
                <a:lnTo>
                  <a:pt x="566824" y="53936"/>
                </a:lnTo>
                <a:close/>
              </a:path>
              <a:path w="621030" h="161925">
                <a:moveTo>
                  <a:pt x="458651" y="53974"/>
                </a:moveTo>
                <a:lnTo>
                  <a:pt x="0" y="54608"/>
                </a:lnTo>
                <a:lnTo>
                  <a:pt x="74" y="108583"/>
                </a:lnTo>
                <a:lnTo>
                  <a:pt x="458725" y="107949"/>
                </a:lnTo>
                <a:lnTo>
                  <a:pt x="458651" y="53974"/>
                </a:lnTo>
                <a:close/>
              </a:path>
              <a:path w="621030" h="161925">
                <a:moveTo>
                  <a:pt x="485638" y="53936"/>
                </a:moveTo>
                <a:lnTo>
                  <a:pt x="458651" y="53974"/>
                </a:lnTo>
                <a:lnTo>
                  <a:pt x="458725" y="107949"/>
                </a:lnTo>
                <a:lnTo>
                  <a:pt x="485713" y="107912"/>
                </a:lnTo>
                <a:lnTo>
                  <a:pt x="485638" y="53936"/>
                </a:lnTo>
                <a:close/>
              </a:path>
              <a:path w="621030" h="161925">
                <a:moveTo>
                  <a:pt x="458576" y="0"/>
                </a:moveTo>
                <a:lnTo>
                  <a:pt x="458651" y="53974"/>
                </a:lnTo>
                <a:lnTo>
                  <a:pt x="566824" y="53936"/>
                </a:lnTo>
                <a:lnTo>
                  <a:pt x="458576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77365" y="552989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77364" y="552989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781354" y="502222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1"/>
                </a:lnTo>
                <a:lnTo>
                  <a:pt x="83516" y="162610"/>
                </a:lnTo>
                <a:lnTo>
                  <a:pt x="116024" y="156221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81354" y="502222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302972" y="5161027"/>
            <a:ext cx="502920" cy="414020"/>
          </a:xfrm>
          <a:custGeom>
            <a:avLst/>
            <a:gdLst/>
            <a:ahLst/>
            <a:cxnLst/>
            <a:rect l="l" t="t" r="r" b="b"/>
            <a:pathLst>
              <a:path w="502919" h="414020">
                <a:moveTo>
                  <a:pt x="125938" y="269911"/>
                </a:moveTo>
                <a:lnTo>
                  <a:pt x="0" y="371693"/>
                </a:lnTo>
                <a:lnTo>
                  <a:pt x="33928" y="413672"/>
                </a:lnTo>
                <a:lnTo>
                  <a:pt x="159865" y="311890"/>
                </a:lnTo>
                <a:lnTo>
                  <a:pt x="125938" y="269911"/>
                </a:lnTo>
                <a:close/>
              </a:path>
              <a:path w="502919" h="414020">
                <a:moveTo>
                  <a:pt x="293853" y="134202"/>
                </a:moveTo>
                <a:lnTo>
                  <a:pt x="167916" y="235983"/>
                </a:lnTo>
                <a:lnTo>
                  <a:pt x="201843" y="277963"/>
                </a:lnTo>
                <a:lnTo>
                  <a:pt x="327781" y="176182"/>
                </a:lnTo>
                <a:lnTo>
                  <a:pt x="293853" y="134202"/>
                </a:lnTo>
                <a:close/>
              </a:path>
              <a:path w="502919" h="414020">
                <a:moveTo>
                  <a:pt x="473767" y="63827"/>
                </a:moveTo>
                <a:lnTo>
                  <a:pt x="380930" y="63827"/>
                </a:lnTo>
                <a:lnTo>
                  <a:pt x="414858" y="105807"/>
                </a:lnTo>
                <a:lnTo>
                  <a:pt x="393868" y="122770"/>
                </a:lnTo>
                <a:lnTo>
                  <a:pt x="427795" y="164749"/>
                </a:lnTo>
                <a:lnTo>
                  <a:pt x="473767" y="63827"/>
                </a:lnTo>
                <a:close/>
              </a:path>
              <a:path w="502919" h="414020">
                <a:moveTo>
                  <a:pt x="359941" y="80791"/>
                </a:moveTo>
                <a:lnTo>
                  <a:pt x="335833" y="100275"/>
                </a:lnTo>
                <a:lnTo>
                  <a:pt x="369760" y="142255"/>
                </a:lnTo>
                <a:lnTo>
                  <a:pt x="393868" y="122770"/>
                </a:lnTo>
                <a:lnTo>
                  <a:pt x="359941" y="80791"/>
                </a:lnTo>
                <a:close/>
              </a:path>
              <a:path w="502919" h="414020">
                <a:moveTo>
                  <a:pt x="380930" y="63827"/>
                </a:moveTo>
                <a:lnTo>
                  <a:pt x="359941" y="80791"/>
                </a:lnTo>
                <a:lnTo>
                  <a:pt x="393868" y="122770"/>
                </a:lnTo>
                <a:lnTo>
                  <a:pt x="414858" y="105807"/>
                </a:lnTo>
                <a:lnTo>
                  <a:pt x="380930" y="63827"/>
                </a:lnTo>
                <a:close/>
              </a:path>
              <a:path w="502919" h="414020">
                <a:moveTo>
                  <a:pt x="502842" y="0"/>
                </a:moveTo>
                <a:lnTo>
                  <a:pt x="326014" y="38812"/>
                </a:lnTo>
                <a:lnTo>
                  <a:pt x="359941" y="80791"/>
                </a:lnTo>
                <a:lnTo>
                  <a:pt x="380930" y="63827"/>
                </a:lnTo>
                <a:lnTo>
                  <a:pt x="473767" y="63827"/>
                </a:lnTo>
                <a:lnTo>
                  <a:pt x="5028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948039" y="5016568"/>
            <a:ext cx="629920" cy="161925"/>
          </a:xfrm>
          <a:custGeom>
            <a:avLst/>
            <a:gdLst/>
            <a:ahLst/>
            <a:cxnLst/>
            <a:rect l="l" t="t" r="r" b="b"/>
            <a:pathLst>
              <a:path w="629919" h="161925">
                <a:moveTo>
                  <a:pt x="577677" y="53623"/>
                </a:moveTo>
                <a:lnTo>
                  <a:pt x="494572" y="53623"/>
                </a:lnTo>
                <a:lnTo>
                  <a:pt x="495266" y="107594"/>
                </a:lnTo>
                <a:lnTo>
                  <a:pt x="468281" y="107941"/>
                </a:lnTo>
                <a:lnTo>
                  <a:pt x="468975" y="161911"/>
                </a:lnTo>
                <a:lnTo>
                  <a:pt x="629846" y="78874"/>
                </a:lnTo>
                <a:lnTo>
                  <a:pt x="577677" y="53623"/>
                </a:lnTo>
                <a:close/>
              </a:path>
              <a:path w="629919" h="161925">
                <a:moveTo>
                  <a:pt x="467587" y="53970"/>
                </a:moveTo>
                <a:lnTo>
                  <a:pt x="0" y="59979"/>
                </a:lnTo>
                <a:lnTo>
                  <a:pt x="693" y="113950"/>
                </a:lnTo>
                <a:lnTo>
                  <a:pt x="468281" y="107941"/>
                </a:lnTo>
                <a:lnTo>
                  <a:pt x="467587" y="53970"/>
                </a:lnTo>
                <a:close/>
              </a:path>
              <a:path w="629919" h="161925">
                <a:moveTo>
                  <a:pt x="494572" y="53623"/>
                </a:moveTo>
                <a:lnTo>
                  <a:pt x="467587" y="53970"/>
                </a:lnTo>
                <a:lnTo>
                  <a:pt x="468281" y="107941"/>
                </a:lnTo>
                <a:lnTo>
                  <a:pt x="495266" y="107594"/>
                </a:lnTo>
                <a:lnTo>
                  <a:pt x="494572" y="53623"/>
                </a:lnTo>
                <a:close/>
              </a:path>
              <a:path w="629919" h="161925">
                <a:moveTo>
                  <a:pt x="466893" y="0"/>
                </a:moveTo>
                <a:lnTo>
                  <a:pt x="467587" y="53970"/>
                </a:lnTo>
                <a:lnTo>
                  <a:pt x="494572" y="53623"/>
                </a:lnTo>
                <a:lnTo>
                  <a:pt x="577677" y="53623"/>
                </a:lnTo>
                <a:lnTo>
                  <a:pt x="466893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65195" y="5314188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13901" y="4604003"/>
            <a:ext cx="476884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">
                <a:latin typeface="Arial"/>
                <a:cs typeface="Arial"/>
              </a:rPr>
              <a:t>U</a:t>
            </a:r>
            <a:r>
              <a:rPr dirty="0" sz="1400" spc="-30">
                <a:latin typeface="Arial"/>
                <a:cs typeface="Arial"/>
              </a:rPr>
              <a:t>n</a:t>
            </a:r>
            <a:r>
              <a:rPr dirty="0" sz="1400" spc="-15">
                <a:latin typeface="Arial"/>
                <a:cs typeface="Arial"/>
              </a:rPr>
              <a:t>i</a:t>
            </a:r>
            <a:r>
              <a:rPr dirty="0" sz="1400" spc="-30">
                <a:latin typeface="Arial"/>
                <a:cs typeface="Arial"/>
              </a:rPr>
              <a:t>o</a:t>
            </a:r>
            <a:r>
              <a:rPr dirty="0" sz="140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47414" y="5134355"/>
            <a:ext cx="1121410" cy="495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29565">
              <a:lnSpc>
                <a:spcPct val="110000"/>
              </a:lnSpc>
              <a:spcBef>
                <a:spcPts val="100"/>
              </a:spcBef>
            </a:pPr>
            <a:r>
              <a:rPr dirty="0" sz="1400" spc="-35">
                <a:solidFill>
                  <a:srgbClr val="548235"/>
                </a:solidFill>
                <a:latin typeface="Arial"/>
                <a:cs typeface="Arial"/>
              </a:rPr>
              <a:t>P</a:t>
            </a:r>
            <a:r>
              <a:rPr dirty="0" sz="1400" spc="-20">
                <a:solidFill>
                  <a:srgbClr val="548235"/>
                </a:solidFill>
                <a:latin typeface="Arial"/>
                <a:cs typeface="Arial"/>
              </a:rPr>
              <a:t>r</a:t>
            </a:r>
            <a:r>
              <a:rPr dirty="0" sz="1400" spc="-30">
                <a:solidFill>
                  <a:srgbClr val="548235"/>
                </a:solidFill>
                <a:latin typeface="Arial"/>
                <a:cs typeface="Arial"/>
              </a:rPr>
              <a:t>o</a:t>
            </a:r>
            <a:r>
              <a:rPr dirty="0" sz="1400" spc="-15">
                <a:solidFill>
                  <a:srgbClr val="548235"/>
                </a:solidFill>
                <a:latin typeface="Arial"/>
                <a:cs typeface="Arial"/>
              </a:rPr>
              <a:t>j</a:t>
            </a:r>
            <a:r>
              <a:rPr dirty="0" sz="1400" spc="-30">
                <a:solidFill>
                  <a:srgbClr val="548235"/>
                </a:solidFill>
                <a:latin typeface="Arial"/>
                <a:cs typeface="Arial"/>
              </a:rPr>
              <a:t>ec</a:t>
            </a:r>
            <a:r>
              <a:rPr dirty="0" sz="1400" spc="-15">
                <a:solidFill>
                  <a:srgbClr val="548235"/>
                </a:solidFill>
                <a:latin typeface="Arial"/>
                <a:cs typeface="Arial"/>
              </a:rPr>
              <a:t>ti</a:t>
            </a:r>
            <a:r>
              <a:rPr dirty="0" sz="1400" spc="-30">
                <a:solidFill>
                  <a:srgbClr val="548235"/>
                </a:solidFill>
                <a:latin typeface="Arial"/>
                <a:cs typeface="Arial"/>
              </a:rPr>
              <a:t>o</a:t>
            </a:r>
            <a:r>
              <a:rPr dirty="0" sz="1400">
                <a:solidFill>
                  <a:srgbClr val="548235"/>
                </a:solidFill>
                <a:latin typeface="Arial"/>
                <a:cs typeface="Arial"/>
              </a:rPr>
              <a:t>n  </a:t>
            </a:r>
            <a:r>
              <a:rPr dirty="0" sz="1400" spc="-25">
                <a:latin typeface="Arial"/>
                <a:cs typeface="Arial"/>
              </a:rPr>
              <a:t>Union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726461" y="5075752"/>
            <a:ext cx="508000" cy="478155"/>
          </a:xfrm>
          <a:custGeom>
            <a:avLst/>
            <a:gdLst/>
            <a:ahLst/>
            <a:cxnLst/>
            <a:rect l="l" t="t" r="r" b="b"/>
            <a:pathLst>
              <a:path w="508000" h="478154">
                <a:moveTo>
                  <a:pt x="36911" y="0"/>
                </a:moveTo>
                <a:lnTo>
                  <a:pt x="0" y="39381"/>
                </a:lnTo>
                <a:lnTo>
                  <a:pt x="39381" y="76292"/>
                </a:lnTo>
                <a:lnTo>
                  <a:pt x="76292" y="36911"/>
                </a:lnTo>
                <a:lnTo>
                  <a:pt x="36911" y="0"/>
                </a:lnTo>
                <a:close/>
              </a:path>
              <a:path w="508000" h="478154">
                <a:moveTo>
                  <a:pt x="115674" y="73821"/>
                </a:moveTo>
                <a:lnTo>
                  <a:pt x="78762" y="113202"/>
                </a:lnTo>
                <a:lnTo>
                  <a:pt x="118144" y="150113"/>
                </a:lnTo>
                <a:lnTo>
                  <a:pt x="155055" y="110732"/>
                </a:lnTo>
                <a:lnTo>
                  <a:pt x="115674" y="73821"/>
                </a:lnTo>
                <a:close/>
              </a:path>
              <a:path w="508000" h="478154">
                <a:moveTo>
                  <a:pt x="194437" y="147642"/>
                </a:moveTo>
                <a:lnTo>
                  <a:pt x="157525" y="187024"/>
                </a:lnTo>
                <a:lnTo>
                  <a:pt x="196907" y="223935"/>
                </a:lnTo>
                <a:lnTo>
                  <a:pt x="233818" y="184553"/>
                </a:lnTo>
                <a:lnTo>
                  <a:pt x="194437" y="147642"/>
                </a:lnTo>
                <a:close/>
              </a:path>
              <a:path w="508000" h="478154">
                <a:moveTo>
                  <a:pt x="273199" y="221463"/>
                </a:moveTo>
                <a:lnTo>
                  <a:pt x="236288" y="260845"/>
                </a:lnTo>
                <a:lnTo>
                  <a:pt x="275670" y="297756"/>
                </a:lnTo>
                <a:lnTo>
                  <a:pt x="312581" y="258375"/>
                </a:lnTo>
                <a:lnTo>
                  <a:pt x="273199" y="221463"/>
                </a:lnTo>
                <a:close/>
              </a:path>
              <a:path w="508000" h="478154">
                <a:moveTo>
                  <a:pt x="444619" y="308152"/>
                </a:moveTo>
                <a:lnTo>
                  <a:pt x="333886" y="426297"/>
                </a:lnTo>
                <a:lnTo>
                  <a:pt x="507398" y="477956"/>
                </a:lnTo>
                <a:lnTo>
                  <a:pt x="444619" y="308152"/>
                </a:lnTo>
                <a:close/>
              </a:path>
              <a:path w="508000" h="478154">
                <a:moveTo>
                  <a:pt x="351962" y="295285"/>
                </a:moveTo>
                <a:lnTo>
                  <a:pt x="315051" y="334666"/>
                </a:lnTo>
                <a:lnTo>
                  <a:pt x="354432" y="371577"/>
                </a:lnTo>
                <a:lnTo>
                  <a:pt x="391344" y="332196"/>
                </a:lnTo>
                <a:lnTo>
                  <a:pt x="351962" y="2952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040988" y="5116067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726604" y="5668692"/>
            <a:ext cx="507365" cy="471805"/>
          </a:xfrm>
          <a:custGeom>
            <a:avLst/>
            <a:gdLst/>
            <a:ahLst/>
            <a:cxnLst/>
            <a:rect l="l" t="t" r="r" b="b"/>
            <a:pathLst>
              <a:path w="507364" h="471804">
                <a:moveTo>
                  <a:pt x="39646" y="395213"/>
                </a:moveTo>
                <a:lnTo>
                  <a:pt x="0" y="431838"/>
                </a:lnTo>
                <a:lnTo>
                  <a:pt x="36624" y="471485"/>
                </a:lnTo>
                <a:lnTo>
                  <a:pt x="76272" y="434861"/>
                </a:lnTo>
                <a:lnTo>
                  <a:pt x="39646" y="395213"/>
                </a:lnTo>
                <a:close/>
              </a:path>
              <a:path w="507364" h="471804">
                <a:moveTo>
                  <a:pt x="118943" y="321964"/>
                </a:moveTo>
                <a:lnTo>
                  <a:pt x="79294" y="358588"/>
                </a:lnTo>
                <a:lnTo>
                  <a:pt x="115919" y="398236"/>
                </a:lnTo>
                <a:lnTo>
                  <a:pt x="155567" y="361611"/>
                </a:lnTo>
                <a:lnTo>
                  <a:pt x="118943" y="321964"/>
                </a:lnTo>
                <a:close/>
              </a:path>
              <a:path w="507364" h="471804">
                <a:moveTo>
                  <a:pt x="198238" y="248714"/>
                </a:moveTo>
                <a:lnTo>
                  <a:pt x="158589" y="285339"/>
                </a:lnTo>
                <a:lnTo>
                  <a:pt x="195214" y="324987"/>
                </a:lnTo>
                <a:lnTo>
                  <a:pt x="234862" y="288362"/>
                </a:lnTo>
                <a:lnTo>
                  <a:pt x="198238" y="248714"/>
                </a:lnTo>
                <a:close/>
              </a:path>
              <a:path w="507364" h="471804">
                <a:moveTo>
                  <a:pt x="277533" y="175465"/>
                </a:moveTo>
                <a:lnTo>
                  <a:pt x="237884" y="212090"/>
                </a:lnTo>
                <a:lnTo>
                  <a:pt x="274510" y="251737"/>
                </a:lnTo>
                <a:lnTo>
                  <a:pt x="314157" y="215113"/>
                </a:lnTo>
                <a:lnTo>
                  <a:pt x="277533" y="175465"/>
                </a:lnTo>
                <a:close/>
              </a:path>
              <a:path w="507364" h="471804">
                <a:moveTo>
                  <a:pt x="356828" y="102216"/>
                </a:moveTo>
                <a:lnTo>
                  <a:pt x="317181" y="138840"/>
                </a:lnTo>
                <a:lnTo>
                  <a:pt x="353805" y="178488"/>
                </a:lnTo>
                <a:lnTo>
                  <a:pt x="393453" y="141863"/>
                </a:lnTo>
                <a:lnTo>
                  <a:pt x="356828" y="102216"/>
                </a:lnTo>
                <a:close/>
              </a:path>
              <a:path w="507364" h="471804">
                <a:moveTo>
                  <a:pt x="507254" y="0"/>
                </a:moveTo>
                <a:lnTo>
                  <a:pt x="333373" y="50402"/>
                </a:lnTo>
                <a:lnTo>
                  <a:pt x="443247" y="169345"/>
                </a:lnTo>
                <a:lnTo>
                  <a:pt x="5072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040988" y="5926835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209397" y="552989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209397" y="552989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577884" y="60390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3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3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577884" y="60390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781354" y="60390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3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3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781354" y="603904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948385" y="6039392"/>
            <a:ext cx="629920" cy="161925"/>
          </a:xfrm>
          <a:custGeom>
            <a:avLst/>
            <a:gdLst/>
            <a:ahLst/>
            <a:cxnLst/>
            <a:rect l="l" t="t" r="r" b="b"/>
            <a:pathLst>
              <a:path w="629919" h="161925">
                <a:moveTo>
                  <a:pt x="467574" y="107950"/>
                </a:moveTo>
                <a:lnTo>
                  <a:pt x="467574" y="161925"/>
                </a:lnTo>
                <a:lnTo>
                  <a:pt x="575524" y="107950"/>
                </a:lnTo>
                <a:lnTo>
                  <a:pt x="467574" y="107950"/>
                </a:lnTo>
                <a:close/>
              </a:path>
              <a:path w="629919" h="161925">
                <a:moveTo>
                  <a:pt x="467574" y="53975"/>
                </a:moveTo>
                <a:lnTo>
                  <a:pt x="467574" y="107950"/>
                </a:lnTo>
                <a:lnTo>
                  <a:pt x="494562" y="107950"/>
                </a:lnTo>
                <a:lnTo>
                  <a:pt x="494562" y="53975"/>
                </a:lnTo>
                <a:lnTo>
                  <a:pt x="467574" y="53975"/>
                </a:lnTo>
                <a:close/>
              </a:path>
              <a:path w="629919" h="161925">
                <a:moveTo>
                  <a:pt x="467574" y="0"/>
                </a:moveTo>
                <a:lnTo>
                  <a:pt x="467574" y="53975"/>
                </a:lnTo>
                <a:lnTo>
                  <a:pt x="494562" y="53975"/>
                </a:lnTo>
                <a:lnTo>
                  <a:pt x="494562" y="107950"/>
                </a:lnTo>
                <a:lnTo>
                  <a:pt x="575526" y="107949"/>
                </a:lnTo>
                <a:lnTo>
                  <a:pt x="629499" y="80962"/>
                </a:lnTo>
                <a:lnTo>
                  <a:pt x="467574" y="0"/>
                </a:lnTo>
                <a:close/>
              </a:path>
              <a:path w="629919" h="161925">
                <a:moveTo>
                  <a:pt x="0" y="53974"/>
                </a:moveTo>
                <a:lnTo>
                  <a:pt x="0" y="107949"/>
                </a:lnTo>
                <a:lnTo>
                  <a:pt x="467574" y="107950"/>
                </a:lnTo>
                <a:lnTo>
                  <a:pt x="467574" y="53975"/>
                </a:lnTo>
                <a:lnTo>
                  <a:pt x="0" y="53974"/>
                </a:lnTo>
                <a:close/>
              </a:path>
            </a:pathLst>
          </a:custGeom>
          <a:solidFill>
            <a:srgbClr val="2E75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873647" y="5829300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2E75B6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8573" y="4409947"/>
            <a:ext cx="2374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latin typeface="Cambria Math"/>
                <a:cs typeface="Cambria Math"/>
              </a:rPr>
              <a:t>𝑣</a:t>
            </a:r>
            <a:r>
              <a:rPr dirty="0" baseline="-14957" sz="1950" spc="-330">
                <a:latin typeface="Cambria Math"/>
                <a:cs typeface="Cambria Math"/>
              </a:rPr>
              <a:t>+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8123" y="5446267"/>
            <a:ext cx="2425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7094" sz="1950" spc="719">
                <a:latin typeface="Cambria Math"/>
                <a:cs typeface="Cambria Math"/>
              </a:rPr>
              <a:t>,</a:t>
            </a:r>
            <a:endParaRPr baseline="-17094" sz="195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518430" y="393891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518430" y="393891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685463" y="3939263"/>
            <a:ext cx="638175" cy="161925"/>
          </a:xfrm>
          <a:custGeom>
            <a:avLst/>
            <a:gdLst/>
            <a:ahLst/>
            <a:cxnLst/>
            <a:rect l="l" t="t" r="r" b="b"/>
            <a:pathLst>
              <a:path w="638175" h="161925">
                <a:moveTo>
                  <a:pt x="476197" y="107949"/>
                </a:moveTo>
                <a:lnTo>
                  <a:pt x="476197" y="161925"/>
                </a:lnTo>
                <a:lnTo>
                  <a:pt x="584147" y="107950"/>
                </a:lnTo>
                <a:lnTo>
                  <a:pt x="476197" y="107949"/>
                </a:lnTo>
                <a:close/>
              </a:path>
              <a:path w="638175" h="161925">
                <a:moveTo>
                  <a:pt x="476197" y="53974"/>
                </a:moveTo>
                <a:lnTo>
                  <a:pt x="476197" y="107949"/>
                </a:lnTo>
                <a:lnTo>
                  <a:pt x="503185" y="107950"/>
                </a:lnTo>
                <a:lnTo>
                  <a:pt x="503185" y="53975"/>
                </a:lnTo>
                <a:lnTo>
                  <a:pt x="476197" y="53974"/>
                </a:lnTo>
                <a:close/>
              </a:path>
              <a:path w="638175" h="161925">
                <a:moveTo>
                  <a:pt x="476197" y="0"/>
                </a:moveTo>
                <a:lnTo>
                  <a:pt x="476197" y="53974"/>
                </a:lnTo>
                <a:lnTo>
                  <a:pt x="503185" y="53975"/>
                </a:lnTo>
                <a:lnTo>
                  <a:pt x="503185" y="107950"/>
                </a:lnTo>
                <a:lnTo>
                  <a:pt x="584150" y="107948"/>
                </a:lnTo>
                <a:lnTo>
                  <a:pt x="638122" y="80962"/>
                </a:lnTo>
                <a:lnTo>
                  <a:pt x="476197" y="0"/>
                </a:lnTo>
                <a:close/>
              </a:path>
              <a:path w="638175" h="161925">
                <a:moveTo>
                  <a:pt x="0" y="53973"/>
                </a:moveTo>
                <a:lnTo>
                  <a:pt x="0" y="107948"/>
                </a:lnTo>
                <a:lnTo>
                  <a:pt x="476197" y="107949"/>
                </a:lnTo>
                <a:lnTo>
                  <a:pt x="476197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102090" y="3935031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102089" y="3935031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323586" y="393891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323586" y="393891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490448" y="3936405"/>
            <a:ext cx="612140" cy="161925"/>
          </a:xfrm>
          <a:custGeom>
            <a:avLst/>
            <a:gdLst/>
            <a:ahLst/>
            <a:cxnLst/>
            <a:rect l="l" t="t" r="r" b="b"/>
            <a:pathLst>
              <a:path w="612140" h="161925">
                <a:moveTo>
                  <a:pt x="558543" y="53802"/>
                </a:moveTo>
                <a:lnTo>
                  <a:pt x="476535" y="53802"/>
                </a:lnTo>
                <a:lnTo>
                  <a:pt x="476879" y="107776"/>
                </a:lnTo>
                <a:lnTo>
                  <a:pt x="449892" y="107947"/>
                </a:lnTo>
                <a:lnTo>
                  <a:pt x="450235" y="161921"/>
                </a:lnTo>
                <a:lnTo>
                  <a:pt x="611643" y="79931"/>
                </a:lnTo>
                <a:lnTo>
                  <a:pt x="558543" y="53802"/>
                </a:lnTo>
                <a:close/>
              </a:path>
              <a:path w="612140" h="161925">
                <a:moveTo>
                  <a:pt x="449549" y="53973"/>
                </a:moveTo>
                <a:lnTo>
                  <a:pt x="0" y="56832"/>
                </a:lnTo>
                <a:lnTo>
                  <a:pt x="342" y="110806"/>
                </a:lnTo>
                <a:lnTo>
                  <a:pt x="449892" y="107947"/>
                </a:lnTo>
                <a:lnTo>
                  <a:pt x="449549" y="53973"/>
                </a:lnTo>
                <a:close/>
              </a:path>
              <a:path w="612140" h="161925">
                <a:moveTo>
                  <a:pt x="476535" y="53802"/>
                </a:moveTo>
                <a:lnTo>
                  <a:pt x="449549" y="53973"/>
                </a:lnTo>
                <a:lnTo>
                  <a:pt x="449892" y="107947"/>
                </a:lnTo>
                <a:lnTo>
                  <a:pt x="476879" y="107776"/>
                </a:lnTo>
                <a:lnTo>
                  <a:pt x="476535" y="53802"/>
                </a:lnTo>
                <a:close/>
              </a:path>
              <a:path w="612140" h="161925">
                <a:moveTo>
                  <a:pt x="449206" y="0"/>
                </a:moveTo>
                <a:lnTo>
                  <a:pt x="449549" y="53973"/>
                </a:lnTo>
                <a:lnTo>
                  <a:pt x="558543" y="53802"/>
                </a:lnTo>
                <a:lnTo>
                  <a:pt x="449206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602598" y="4101084"/>
            <a:ext cx="160972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984" sz="2100" spc="-37">
                <a:solidFill>
                  <a:srgbClr val="C00000"/>
                </a:solidFill>
                <a:latin typeface="Arial"/>
                <a:cs typeface="Arial"/>
              </a:rPr>
              <a:t>Projection</a:t>
            </a:r>
            <a:r>
              <a:rPr dirty="0" baseline="1984" sz="2100" spc="-22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548235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251045" y="3996300"/>
            <a:ext cx="519430" cy="472440"/>
          </a:xfrm>
          <a:custGeom>
            <a:avLst/>
            <a:gdLst/>
            <a:ahLst/>
            <a:cxnLst/>
            <a:rect l="l" t="t" r="r" b="b"/>
            <a:pathLst>
              <a:path w="519429" h="472439">
                <a:moveTo>
                  <a:pt x="36155" y="0"/>
                </a:moveTo>
                <a:lnTo>
                  <a:pt x="0" y="40074"/>
                </a:lnTo>
                <a:lnTo>
                  <a:pt x="40074" y="76231"/>
                </a:lnTo>
                <a:lnTo>
                  <a:pt x="76231" y="36156"/>
                </a:lnTo>
                <a:lnTo>
                  <a:pt x="36155" y="0"/>
                </a:lnTo>
                <a:close/>
              </a:path>
              <a:path w="519429" h="472439">
                <a:moveTo>
                  <a:pt x="116306" y="72312"/>
                </a:moveTo>
                <a:lnTo>
                  <a:pt x="80150" y="112387"/>
                </a:lnTo>
                <a:lnTo>
                  <a:pt x="120225" y="148544"/>
                </a:lnTo>
                <a:lnTo>
                  <a:pt x="156381" y="108469"/>
                </a:lnTo>
                <a:lnTo>
                  <a:pt x="116306" y="72312"/>
                </a:lnTo>
                <a:close/>
              </a:path>
              <a:path w="519429" h="472439">
                <a:moveTo>
                  <a:pt x="196457" y="144625"/>
                </a:moveTo>
                <a:lnTo>
                  <a:pt x="160300" y="184699"/>
                </a:lnTo>
                <a:lnTo>
                  <a:pt x="200375" y="220856"/>
                </a:lnTo>
                <a:lnTo>
                  <a:pt x="236532" y="180781"/>
                </a:lnTo>
                <a:lnTo>
                  <a:pt x="196457" y="144625"/>
                </a:lnTo>
                <a:close/>
              </a:path>
              <a:path w="519429" h="472439">
                <a:moveTo>
                  <a:pt x="276607" y="216937"/>
                </a:moveTo>
                <a:lnTo>
                  <a:pt x="240451" y="257012"/>
                </a:lnTo>
                <a:lnTo>
                  <a:pt x="280526" y="293169"/>
                </a:lnTo>
                <a:lnTo>
                  <a:pt x="316683" y="253094"/>
                </a:lnTo>
                <a:lnTo>
                  <a:pt x="276607" y="216937"/>
                </a:lnTo>
                <a:close/>
              </a:path>
              <a:path w="519429" h="472439">
                <a:moveTo>
                  <a:pt x="453350" y="303701"/>
                </a:moveTo>
                <a:lnTo>
                  <a:pt x="344882" y="423927"/>
                </a:lnTo>
                <a:lnTo>
                  <a:pt x="519342" y="472282"/>
                </a:lnTo>
                <a:lnTo>
                  <a:pt x="491802" y="401929"/>
                </a:lnTo>
                <a:lnTo>
                  <a:pt x="401074" y="401929"/>
                </a:lnTo>
                <a:lnTo>
                  <a:pt x="400752" y="401637"/>
                </a:lnTo>
                <a:lnTo>
                  <a:pt x="436909" y="361562"/>
                </a:lnTo>
                <a:lnTo>
                  <a:pt x="476000" y="361562"/>
                </a:lnTo>
                <a:lnTo>
                  <a:pt x="453350" y="303701"/>
                </a:lnTo>
                <a:close/>
              </a:path>
              <a:path w="519429" h="472439">
                <a:moveTo>
                  <a:pt x="436909" y="361562"/>
                </a:moveTo>
                <a:lnTo>
                  <a:pt x="400752" y="401637"/>
                </a:lnTo>
                <a:lnTo>
                  <a:pt x="401074" y="401929"/>
                </a:lnTo>
                <a:lnTo>
                  <a:pt x="437233" y="361854"/>
                </a:lnTo>
                <a:lnTo>
                  <a:pt x="436909" y="361562"/>
                </a:lnTo>
                <a:close/>
              </a:path>
              <a:path w="519429" h="472439">
                <a:moveTo>
                  <a:pt x="476000" y="361562"/>
                </a:moveTo>
                <a:lnTo>
                  <a:pt x="436909" y="361562"/>
                </a:lnTo>
                <a:lnTo>
                  <a:pt x="437233" y="361854"/>
                </a:lnTo>
                <a:lnTo>
                  <a:pt x="401074" y="401929"/>
                </a:lnTo>
                <a:lnTo>
                  <a:pt x="491802" y="401929"/>
                </a:lnTo>
                <a:lnTo>
                  <a:pt x="476000" y="361562"/>
                </a:lnTo>
                <a:close/>
              </a:path>
              <a:path w="519429" h="472439">
                <a:moveTo>
                  <a:pt x="356758" y="289250"/>
                </a:moveTo>
                <a:lnTo>
                  <a:pt x="320601" y="329324"/>
                </a:lnTo>
                <a:lnTo>
                  <a:pt x="360677" y="365481"/>
                </a:lnTo>
                <a:lnTo>
                  <a:pt x="396833" y="325407"/>
                </a:lnTo>
                <a:lnTo>
                  <a:pt x="356758" y="289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7506091" y="4000500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7263134" y="4583565"/>
            <a:ext cx="507365" cy="471805"/>
          </a:xfrm>
          <a:custGeom>
            <a:avLst/>
            <a:gdLst/>
            <a:ahLst/>
            <a:cxnLst/>
            <a:rect l="l" t="t" r="r" b="b"/>
            <a:pathLst>
              <a:path w="507365" h="471804">
                <a:moveTo>
                  <a:pt x="39646" y="395213"/>
                </a:moveTo>
                <a:lnTo>
                  <a:pt x="0" y="431838"/>
                </a:lnTo>
                <a:lnTo>
                  <a:pt x="36624" y="471486"/>
                </a:lnTo>
                <a:lnTo>
                  <a:pt x="76272" y="434860"/>
                </a:lnTo>
                <a:lnTo>
                  <a:pt x="39646" y="395213"/>
                </a:lnTo>
                <a:close/>
              </a:path>
              <a:path w="507365" h="471804">
                <a:moveTo>
                  <a:pt x="118941" y="321964"/>
                </a:moveTo>
                <a:lnTo>
                  <a:pt x="79294" y="358588"/>
                </a:lnTo>
                <a:lnTo>
                  <a:pt x="115919" y="398236"/>
                </a:lnTo>
                <a:lnTo>
                  <a:pt x="155567" y="361612"/>
                </a:lnTo>
                <a:lnTo>
                  <a:pt x="118941" y="321964"/>
                </a:lnTo>
                <a:close/>
              </a:path>
              <a:path w="507365" h="471804">
                <a:moveTo>
                  <a:pt x="198238" y="248714"/>
                </a:moveTo>
                <a:lnTo>
                  <a:pt x="158589" y="285339"/>
                </a:lnTo>
                <a:lnTo>
                  <a:pt x="195214" y="324986"/>
                </a:lnTo>
                <a:lnTo>
                  <a:pt x="234862" y="288362"/>
                </a:lnTo>
                <a:lnTo>
                  <a:pt x="198238" y="248714"/>
                </a:lnTo>
                <a:close/>
              </a:path>
              <a:path w="507365" h="471804">
                <a:moveTo>
                  <a:pt x="277533" y="175465"/>
                </a:moveTo>
                <a:lnTo>
                  <a:pt x="237884" y="212089"/>
                </a:lnTo>
                <a:lnTo>
                  <a:pt x="274510" y="251738"/>
                </a:lnTo>
                <a:lnTo>
                  <a:pt x="314157" y="215112"/>
                </a:lnTo>
                <a:lnTo>
                  <a:pt x="277533" y="175465"/>
                </a:lnTo>
                <a:close/>
              </a:path>
              <a:path w="507365" h="471804">
                <a:moveTo>
                  <a:pt x="356828" y="102215"/>
                </a:moveTo>
                <a:lnTo>
                  <a:pt x="317179" y="138841"/>
                </a:lnTo>
                <a:lnTo>
                  <a:pt x="353805" y="178488"/>
                </a:lnTo>
                <a:lnTo>
                  <a:pt x="393452" y="141864"/>
                </a:lnTo>
                <a:lnTo>
                  <a:pt x="356828" y="102215"/>
                </a:lnTo>
                <a:close/>
              </a:path>
              <a:path w="507365" h="471804">
                <a:moveTo>
                  <a:pt x="507253" y="0"/>
                </a:moveTo>
                <a:lnTo>
                  <a:pt x="333373" y="50402"/>
                </a:lnTo>
                <a:lnTo>
                  <a:pt x="443247" y="169345"/>
                </a:lnTo>
                <a:lnTo>
                  <a:pt x="5072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745925" y="444476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745925" y="444476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114413" y="4953922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114413" y="4953922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317881" y="4953922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317881" y="4953922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484913" y="4954266"/>
            <a:ext cx="629920" cy="161925"/>
          </a:xfrm>
          <a:custGeom>
            <a:avLst/>
            <a:gdLst/>
            <a:ahLst/>
            <a:cxnLst/>
            <a:rect l="l" t="t" r="r" b="b"/>
            <a:pathLst>
              <a:path w="629920" h="161925">
                <a:moveTo>
                  <a:pt x="467574" y="107949"/>
                </a:moveTo>
                <a:lnTo>
                  <a:pt x="467574" y="161925"/>
                </a:lnTo>
                <a:lnTo>
                  <a:pt x="575524" y="107950"/>
                </a:lnTo>
                <a:lnTo>
                  <a:pt x="467574" y="107949"/>
                </a:lnTo>
                <a:close/>
              </a:path>
              <a:path w="629920" h="161925">
                <a:moveTo>
                  <a:pt x="467574" y="53974"/>
                </a:moveTo>
                <a:lnTo>
                  <a:pt x="467574" y="107949"/>
                </a:lnTo>
                <a:lnTo>
                  <a:pt x="494562" y="107950"/>
                </a:lnTo>
                <a:lnTo>
                  <a:pt x="494562" y="53975"/>
                </a:lnTo>
                <a:lnTo>
                  <a:pt x="467574" y="53974"/>
                </a:lnTo>
                <a:close/>
              </a:path>
              <a:path w="629920" h="161925">
                <a:moveTo>
                  <a:pt x="467574" y="0"/>
                </a:moveTo>
                <a:lnTo>
                  <a:pt x="467574" y="53974"/>
                </a:lnTo>
                <a:lnTo>
                  <a:pt x="494562" y="53975"/>
                </a:lnTo>
                <a:lnTo>
                  <a:pt x="494562" y="107950"/>
                </a:lnTo>
                <a:lnTo>
                  <a:pt x="575527" y="107948"/>
                </a:lnTo>
                <a:lnTo>
                  <a:pt x="629499" y="80962"/>
                </a:lnTo>
                <a:lnTo>
                  <a:pt x="467574" y="0"/>
                </a:lnTo>
                <a:close/>
              </a:path>
              <a:path w="629920" h="161925">
                <a:moveTo>
                  <a:pt x="0" y="53973"/>
                </a:moveTo>
                <a:lnTo>
                  <a:pt x="0" y="107948"/>
                </a:lnTo>
                <a:lnTo>
                  <a:pt x="467574" y="107949"/>
                </a:lnTo>
                <a:lnTo>
                  <a:pt x="467574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2E75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6421125" y="4738115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0070C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533023" y="5296132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533022" y="5296132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700055" y="5296476"/>
            <a:ext cx="638175" cy="161925"/>
          </a:xfrm>
          <a:custGeom>
            <a:avLst/>
            <a:gdLst/>
            <a:ahLst/>
            <a:cxnLst/>
            <a:rect l="l" t="t" r="r" b="b"/>
            <a:pathLst>
              <a:path w="638175" h="161925">
                <a:moveTo>
                  <a:pt x="476197" y="0"/>
                </a:moveTo>
                <a:lnTo>
                  <a:pt x="476197" y="161925"/>
                </a:lnTo>
                <a:lnTo>
                  <a:pt x="584149" y="107950"/>
                </a:lnTo>
                <a:lnTo>
                  <a:pt x="503185" y="107950"/>
                </a:lnTo>
                <a:lnTo>
                  <a:pt x="503185" y="53975"/>
                </a:lnTo>
                <a:lnTo>
                  <a:pt x="584146" y="53975"/>
                </a:lnTo>
                <a:lnTo>
                  <a:pt x="476197" y="0"/>
                </a:lnTo>
                <a:close/>
              </a:path>
              <a:path w="638175" h="161925">
                <a:moveTo>
                  <a:pt x="476197" y="53975"/>
                </a:moveTo>
                <a:lnTo>
                  <a:pt x="0" y="53975"/>
                </a:lnTo>
                <a:lnTo>
                  <a:pt x="0" y="107950"/>
                </a:lnTo>
                <a:lnTo>
                  <a:pt x="476197" y="107950"/>
                </a:lnTo>
                <a:lnTo>
                  <a:pt x="476197" y="53975"/>
                </a:lnTo>
                <a:close/>
              </a:path>
              <a:path w="638175" h="161925">
                <a:moveTo>
                  <a:pt x="584146" y="53975"/>
                </a:moveTo>
                <a:lnTo>
                  <a:pt x="503185" y="53975"/>
                </a:lnTo>
                <a:lnTo>
                  <a:pt x="503185" y="107950"/>
                </a:lnTo>
                <a:lnTo>
                  <a:pt x="584149" y="107950"/>
                </a:lnTo>
                <a:lnTo>
                  <a:pt x="638122" y="80963"/>
                </a:lnTo>
                <a:lnTo>
                  <a:pt x="584146" y="53975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5244363" y="5187188"/>
            <a:ext cx="2425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719">
                <a:latin typeface="Cambria Math"/>
                <a:cs typeface="Cambria Math"/>
              </a:rPr>
              <a:t>,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7116682" y="529224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116682" y="529224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338179" y="5296132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338178" y="5296132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505040" y="5293619"/>
            <a:ext cx="612140" cy="161925"/>
          </a:xfrm>
          <a:custGeom>
            <a:avLst/>
            <a:gdLst/>
            <a:ahLst/>
            <a:cxnLst/>
            <a:rect l="l" t="t" r="r" b="b"/>
            <a:pathLst>
              <a:path w="612140" h="161925">
                <a:moveTo>
                  <a:pt x="558542" y="53802"/>
                </a:moveTo>
                <a:lnTo>
                  <a:pt x="476535" y="53802"/>
                </a:lnTo>
                <a:lnTo>
                  <a:pt x="476878" y="107776"/>
                </a:lnTo>
                <a:lnTo>
                  <a:pt x="449891" y="107947"/>
                </a:lnTo>
                <a:lnTo>
                  <a:pt x="450235" y="161922"/>
                </a:lnTo>
                <a:lnTo>
                  <a:pt x="611642" y="79931"/>
                </a:lnTo>
                <a:lnTo>
                  <a:pt x="558542" y="53802"/>
                </a:lnTo>
                <a:close/>
              </a:path>
              <a:path w="612140" h="161925">
                <a:moveTo>
                  <a:pt x="449548" y="53973"/>
                </a:moveTo>
                <a:lnTo>
                  <a:pt x="0" y="56832"/>
                </a:lnTo>
                <a:lnTo>
                  <a:pt x="342" y="110806"/>
                </a:lnTo>
                <a:lnTo>
                  <a:pt x="449891" y="107947"/>
                </a:lnTo>
                <a:lnTo>
                  <a:pt x="449548" y="53973"/>
                </a:lnTo>
                <a:close/>
              </a:path>
              <a:path w="612140" h="161925">
                <a:moveTo>
                  <a:pt x="476535" y="53802"/>
                </a:moveTo>
                <a:lnTo>
                  <a:pt x="449548" y="53973"/>
                </a:lnTo>
                <a:lnTo>
                  <a:pt x="449891" y="107947"/>
                </a:lnTo>
                <a:lnTo>
                  <a:pt x="476878" y="107776"/>
                </a:lnTo>
                <a:lnTo>
                  <a:pt x="476535" y="53802"/>
                </a:lnTo>
                <a:close/>
              </a:path>
              <a:path w="612140" h="161925">
                <a:moveTo>
                  <a:pt x="449205" y="0"/>
                </a:moveTo>
                <a:lnTo>
                  <a:pt x="449548" y="53973"/>
                </a:lnTo>
                <a:lnTo>
                  <a:pt x="558542" y="53802"/>
                </a:lnTo>
                <a:lnTo>
                  <a:pt x="449205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5617190" y="5457444"/>
            <a:ext cx="160972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984" sz="2100" spc="-37">
                <a:solidFill>
                  <a:srgbClr val="BF9000"/>
                </a:solidFill>
                <a:latin typeface="Arial"/>
                <a:cs typeface="Arial"/>
              </a:rPr>
              <a:t>Projection</a:t>
            </a:r>
            <a:r>
              <a:rPr dirty="0" baseline="1984" sz="2100" spc="-22">
                <a:solidFill>
                  <a:srgbClr val="BF90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548235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7265637" y="5353513"/>
            <a:ext cx="519430" cy="472440"/>
          </a:xfrm>
          <a:custGeom>
            <a:avLst/>
            <a:gdLst/>
            <a:ahLst/>
            <a:cxnLst/>
            <a:rect l="l" t="t" r="r" b="b"/>
            <a:pathLst>
              <a:path w="519429" h="472439">
                <a:moveTo>
                  <a:pt x="36155" y="0"/>
                </a:moveTo>
                <a:lnTo>
                  <a:pt x="0" y="40074"/>
                </a:lnTo>
                <a:lnTo>
                  <a:pt x="40074" y="76231"/>
                </a:lnTo>
                <a:lnTo>
                  <a:pt x="76230" y="36155"/>
                </a:lnTo>
                <a:lnTo>
                  <a:pt x="36155" y="0"/>
                </a:lnTo>
                <a:close/>
              </a:path>
              <a:path w="519429" h="472439">
                <a:moveTo>
                  <a:pt x="116306" y="72312"/>
                </a:moveTo>
                <a:lnTo>
                  <a:pt x="80149" y="112387"/>
                </a:lnTo>
                <a:lnTo>
                  <a:pt x="120224" y="148544"/>
                </a:lnTo>
                <a:lnTo>
                  <a:pt x="156381" y="108468"/>
                </a:lnTo>
                <a:lnTo>
                  <a:pt x="116306" y="72312"/>
                </a:lnTo>
                <a:close/>
              </a:path>
              <a:path w="519429" h="472439">
                <a:moveTo>
                  <a:pt x="196456" y="144625"/>
                </a:moveTo>
                <a:lnTo>
                  <a:pt x="160300" y="184699"/>
                </a:lnTo>
                <a:lnTo>
                  <a:pt x="200375" y="220856"/>
                </a:lnTo>
                <a:lnTo>
                  <a:pt x="236532" y="180780"/>
                </a:lnTo>
                <a:lnTo>
                  <a:pt x="196456" y="144625"/>
                </a:lnTo>
                <a:close/>
              </a:path>
              <a:path w="519429" h="472439">
                <a:moveTo>
                  <a:pt x="276607" y="216937"/>
                </a:moveTo>
                <a:lnTo>
                  <a:pt x="240450" y="257012"/>
                </a:lnTo>
                <a:lnTo>
                  <a:pt x="280526" y="293168"/>
                </a:lnTo>
                <a:lnTo>
                  <a:pt x="316682" y="253093"/>
                </a:lnTo>
                <a:lnTo>
                  <a:pt x="276607" y="216937"/>
                </a:lnTo>
                <a:close/>
              </a:path>
              <a:path w="519429" h="472439">
                <a:moveTo>
                  <a:pt x="453350" y="303700"/>
                </a:moveTo>
                <a:lnTo>
                  <a:pt x="344881" y="423926"/>
                </a:lnTo>
                <a:lnTo>
                  <a:pt x="519341" y="472282"/>
                </a:lnTo>
                <a:lnTo>
                  <a:pt x="491801" y="401928"/>
                </a:lnTo>
                <a:lnTo>
                  <a:pt x="401074" y="401928"/>
                </a:lnTo>
                <a:lnTo>
                  <a:pt x="400751" y="401636"/>
                </a:lnTo>
                <a:lnTo>
                  <a:pt x="436909" y="361562"/>
                </a:lnTo>
                <a:lnTo>
                  <a:pt x="476000" y="361562"/>
                </a:lnTo>
                <a:lnTo>
                  <a:pt x="453350" y="303700"/>
                </a:lnTo>
                <a:close/>
              </a:path>
              <a:path w="519429" h="472439">
                <a:moveTo>
                  <a:pt x="436909" y="361562"/>
                </a:moveTo>
                <a:lnTo>
                  <a:pt x="400751" y="401636"/>
                </a:lnTo>
                <a:lnTo>
                  <a:pt x="401074" y="401928"/>
                </a:lnTo>
                <a:lnTo>
                  <a:pt x="437231" y="361854"/>
                </a:lnTo>
                <a:lnTo>
                  <a:pt x="436909" y="361562"/>
                </a:lnTo>
                <a:close/>
              </a:path>
              <a:path w="519429" h="472439">
                <a:moveTo>
                  <a:pt x="476000" y="361562"/>
                </a:moveTo>
                <a:lnTo>
                  <a:pt x="436909" y="361562"/>
                </a:lnTo>
                <a:lnTo>
                  <a:pt x="437231" y="361854"/>
                </a:lnTo>
                <a:lnTo>
                  <a:pt x="401074" y="401928"/>
                </a:lnTo>
                <a:lnTo>
                  <a:pt x="491801" y="401928"/>
                </a:lnTo>
                <a:lnTo>
                  <a:pt x="476000" y="361562"/>
                </a:lnTo>
                <a:close/>
              </a:path>
              <a:path w="519429" h="472439">
                <a:moveTo>
                  <a:pt x="356758" y="289249"/>
                </a:moveTo>
                <a:lnTo>
                  <a:pt x="320601" y="329325"/>
                </a:lnTo>
                <a:lnTo>
                  <a:pt x="360676" y="365481"/>
                </a:lnTo>
                <a:lnTo>
                  <a:pt x="396833" y="325406"/>
                </a:lnTo>
                <a:lnTo>
                  <a:pt x="356758" y="2892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7495681" y="5311140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7277724" y="5940779"/>
            <a:ext cx="507365" cy="471805"/>
          </a:xfrm>
          <a:custGeom>
            <a:avLst/>
            <a:gdLst/>
            <a:ahLst/>
            <a:cxnLst/>
            <a:rect l="l" t="t" r="r" b="b"/>
            <a:pathLst>
              <a:path w="507365" h="471804">
                <a:moveTo>
                  <a:pt x="39648" y="395213"/>
                </a:moveTo>
                <a:lnTo>
                  <a:pt x="0" y="431838"/>
                </a:lnTo>
                <a:lnTo>
                  <a:pt x="36625" y="471485"/>
                </a:lnTo>
                <a:lnTo>
                  <a:pt x="76272" y="434861"/>
                </a:lnTo>
                <a:lnTo>
                  <a:pt x="39648" y="395213"/>
                </a:lnTo>
                <a:close/>
              </a:path>
              <a:path w="507365" h="471804">
                <a:moveTo>
                  <a:pt x="118943" y="321964"/>
                </a:moveTo>
                <a:lnTo>
                  <a:pt x="79294" y="358588"/>
                </a:lnTo>
                <a:lnTo>
                  <a:pt x="115920" y="398236"/>
                </a:lnTo>
                <a:lnTo>
                  <a:pt x="155567" y="361611"/>
                </a:lnTo>
                <a:lnTo>
                  <a:pt x="118943" y="321964"/>
                </a:lnTo>
                <a:close/>
              </a:path>
              <a:path w="507365" h="471804">
                <a:moveTo>
                  <a:pt x="198238" y="248714"/>
                </a:moveTo>
                <a:lnTo>
                  <a:pt x="158591" y="285339"/>
                </a:lnTo>
                <a:lnTo>
                  <a:pt x="195215" y="324987"/>
                </a:lnTo>
                <a:lnTo>
                  <a:pt x="234863" y="288362"/>
                </a:lnTo>
                <a:lnTo>
                  <a:pt x="198238" y="248714"/>
                </a:lnTo>
                <a:close/>
              </a:path>
              <a:path w="507365" h="471804">
                <a:moveTo>
                  <a:pt x="277534" y="175465"/>
                </a:moveTo>
                <a:lnTo>
                  <a:pt x="237886" y="212090"/>
                </a:lnTo>
                <a:lnTo>
                  <a:pt x="274510" y="251737"/>
                </a:lnTo>
                <a:lnTo>
                  <a:pt x="314158" y="215113"/>
                </a:lnTo>
                <a:lnTo>
                  <a:pt x="277534" y="175465"/>
                </a:lnTo>
                <a:close/>
              </a:path>
              <a:path w="507365" h="471804">
                <a:moveTo>
                  <a:pt x="356829" y="102216"/>
                </a:moveTo>
                <a:lnTo>
                  <a:pt x="317181" y="138840"/>
                </a:lnTo>
                <a:lnTo>
                  <a:pt x="353805" y="178488"/>
                </a:lnTo>
                <a:lnTo>
                  <a:pt x="393453" y="141863"/>
                </a:lnTo>
                <a:lnTo>
                  <a:pt x="356829" y="102216"/>
                </a:lnTo>
                <a:close/>
              </a:path>
              <a:path w="507365" h="471804">
                <a:moveTo>
                  <a:pt x="507254" y="0"/>
                </a:moveTo>
                <a:lnTo>
                  <a:pt x="333375" y="50402"/>
                </a:lnTo>
                <a:lnTo>
                  <a:pt x="443249" y="169345"/>
                </a:lnTo>
                <a:lnTo>
                  <a:pt x="5072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7495681" y="6243828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7760516" y="5801981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760516" y="5801981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129005" y="631113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3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3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129005" y="631113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338331" y="631113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3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3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338331" y="631113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505362" y="6311479"/>
            <a:ext cx="624205" cy="161925"/>
          </a:xfrm>
          <a:custGeom>
            <a:avLst/>
            <a:gdLst/>
            <a:ahLst/>
            <a:cxnLst/>
            <a:rect l="l" t="t" r="r" b="b"/>
            <a:pathLst>
              <a:path w="624204" h="161925">
                <a:moveTo>
                  <a:pt x="461717" y="107950"/>
                </a:moveTo>
                <a:lnTo>
                  <a:pt x="461717" y="161924"/>
                </a:lnTo>
                <a:lnTo>
                  <a:pt x="569667" y="107950"/>
                </a:lnTo>
                <a:lnTo>
                  <a:pt x="461717" y="107950"/>
                </a:lnTo>
                <a:close/>
              </a:path>
              <a:path w="624204" h="161925">
                <a:moveTo>
                  <a:pt x="461717" y="0"/>
                </a:moveTo>
                <a:lnTo>
                  <a:pt x="461717" y="107950"/>
                </a:lnTo>
                <a:lnTo>
                  <a:pt x="488704" y="107950"/>
                </a:lnTo>
                <a:lnTo>
                  <a:pt x="488704" y="53975"/>
                </a:lnTo>
                <a:lnTo>
                  <a:pt x="569667" y="53975"/>
                </a:lnTo>
                <a:lnTo>
                  <a:pt x="461717" y="0"/>
                </a:lnTo>
                <a:close/>
              </a:path>
              <a:path w="624204" h="161925">
                <a:moveTo>
                  <a:pt x="569667" y="53975"/>
                </a:moveTo>
                <a:lnTo>
                  <a:pt x="461717" y="53975"/>
                </a:lnTo>
                <a:lnTo>
                  <a:pt x="488704" y="53975"/>
                </a:lnTo>
                <a:lnTo>
                  <a:pt x="488704" y="107950"/>
                </a:lnTo>
                <a:lnTo>
                  <a:pt x="569669" y="107949"/>
                </a:lnTo>
                <a:lnTo>
                  <a:pt x="623642" y="80962"/>
                </a:lnTo>
                <a:lnTo>
                  <a:pt x="569667" y="53975"/>
                </a:lnTo>
                <a:close/>
              </a:path>
              <a:path w="624204" h="161925">
                <a:moveTo>
                  <a:pt x="1" y="53974"/>
                </a:moveTo>
                <a:lnTo>
                  <a:pt x="0" y="107949"/>
                </a:lnTo>
                <a:lnTo>
                  <a:pt x="461717" y="107950"/>
                </a:lnTo>
                <a:lnTo>
                  <a:pt x="461717" y="53975"/>
                </a:lnTo>
                <a:lnTo>
                  <a:pt x="1" y="53974"/>
                </a:lnTo>
                <a:close/>
              </a:path>
            </a:pathLst>
          </a:custGeom>
          <a:solidFill>
            <a:srgbClr val="2E75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6435716" y="6094476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2E75B6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7898531" y="4503266"/>
            <a:ext cx="998855" cy="645795"/>
          </a:xfrm>
          <a:custGeom>
            <a:avLst/>
            <a:gdLst/>
            <a:ahLst/>
            <a:cxnLst/>
            <a:rect l="l" t="t" r="r" b="b"/>
            <a:pathLst>
              <a:path w="998854" h="645795">
                <a:moveTo>
                  <a:pt x="28855" y="0"/>
                </a:moveTo>
                <a:lnTo>
                  <a:pt x="0" y="45614"/>
                </a:lnTo>
                <a:lnTo>
                  <a:pt x="136845" y="132179"/>
                </a:lnTo>
                <a:lnTo>
                  <a:pt x="165699" y="86564"/>
                </a:lnTo>
                <a:lnTo>
                  <a:pt x="28855" y="0"/>
                </a:lnTo>
                <a:close/>
              </a:path>
              <a:path w="998854" h="645795">
                <a:moveTo>
                  <a:pt x="211314" y="115418"/>
                </a:moveTo>
                <a:lnTo>
                  <a:pt x="182459" y="161033"/>
                </a:lnTo>
                <a:lnTo>
                  <a:pt x="319303" y="247597"/>
                </a:lnTo>
                <a:lnTo>
                  <a:pt x="348159" y="201983"/>
                </a:lnTo>
                <a:lnTo>
                  <a:pt x="211314" y="115418"/>
                </a:lnTo>
                <a:close/>
              </a:path>
              <a:path w="998854" h="645795">
                <a:moveTo>
                  <a:pt x="393773" y="230837"/>
                </a:moveTo>
                <a:lnTo>
                  <a:pt x="364917" y="276452"/>
                </a:lnTo>
                <a:lnTo>
                  <a:pt x="501763" y="363016"/>
                </a:lnTo>
                <a:lnTo>
                  <a:pt x="530617" y="317402"/>
                </a:lnTo>
                <a:lnTo>
                  <a:pt x="393773" y="230837"/>
                </a:lnTo>
                <a:close/>
              </a:path>
              <a:path w="998854" h="645795">
                <a:moveTo>
                  <a:pt x="576232" y="346256"/>
                </a:moveTo>
                <a:lnTo>
                  <a:pt x="547377" y="391871"/>
                </a:lnTo>
                <a:lnTo>
                  <a:pt x="684221" y="478435"/>
                </a:lnTo>
                <a:lnTo>
                  <a:pt x="713077" y="432821"/>
                </a:lnTo>
                <a:lnTo>
                  <a:pt x="576232" y="346256"/>
                </a:lnTo>
                <a:close/>
              </a:path>
              <a:path w="998854" h="645795">
                <a:moveTo>
                  <a:pt x="847272" y="581576"/>
                </a:moveTo>
                <a:lnTo>
                  <a:pt x="818417" y="627192"/>
                </a:lnTo>
                <a:lnTo>
                  <a:pt x="998543" y="645333"/>
                </a:lnTo>
                <a:lnTo>
                  <a:pt x="967466" y="593854"/>
                </a:lnTo>
                <a:lnTo>
                  <a:pt x="866681" y="593854"/>
                </a:lnTo>
                <a:lnTo>
                  <a:pt x="847272" y="581576"/>
                </a:lnTo>
                <a:close/>
              </a:path>
              <a:path w="998854" h="645795">
                <a:moveTo>
                  <a:pt x="876126" y="535962"/>
                </a:moveTo>
                <a:lnTo>
                  <a:pt x="847272" y="581576"/>
                </a:lnTo>
                <a:lnTo>
                  <a:pt x="866681" y="593854"/>
                </a:lnTo>
                <a:lnTo>
                  <a:pt x="895535" y="548239"/>
                </a:lnTo>
                <a:lnTo>
                  <a:pt x="876126" y="535962"/>
                </a:lnTo>
                <a:close/>
              </a:path>
              <a:path w="998854" h="645795">
                <a:moveTo>
                  <a:pt x="904981" y="490347"/>
                </a:moveTo>
                <a:lnTo>
                  <a:pt x="876126" y="535962"/>
                </a:lnTo>
                <a:lnTo>
                  <a:pt x="895535" y="548239"/>
                </a:lnTo>
                <a:lnTo>
                  <a:pt x="866681" y="593854"/>
                </a:lnTo>
                <a:lnTo>
                  <a:pt x="967466" y="593854"/>
                </a:lnTo>
                <a:lnTo>
                  <a:pt x="904981" y="490347"/>
                </a:lnTo>
                <a:close/>
              </a:path>
              <a:path w="998854" h="645795">
                <a:moveTo>
                  <a:pt x="758691" y="461675"/>
                </a:moveTo>
                <a:lnTo>
                  <a:pt x="729835" y="507290"/>
                </a:lnTo>
                <a:lnTo>
                  <a:pt x="847272" y="581576"/>
                </a:lnTo>
                <a:lnTo>
                  <a:pt x="876126" y="535962"/>
                </a:lnTo>
                <a:lnTo>
                  <a:pt x="758691" y="4616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7913016" y="5263583"/>
            <a:ext cx="984250" cy="642620"/>
          </a:xfrm>
          <a:custGeom>
            <a:avLst/>
            <a:gdLst/>
            <a:ahLst/>
            <a:cxnLst/>
            <a:rect l="l" t="t" r="r" b="b"/>
            <a:pathLst>
              <a:path w="984250" h="642620">
                <a:moveTo>
                  <a:pt x="136434" y="509757"/>
                </a:moveTo>
                <a:lnTo>
                  <a:pt x="0" y="596965"/>
                </a:lnTo>
                <a:lnTo>
                  <a:pt x="29069" y="642443"/>
                </a:lnTo>
                <a:lnTo>
                  <a:pt x="165503" y="555236"/>
                </a:lnTo>
                <a:lnTo>
                  <a:pt x="136434" y="509757"/>
                </a:lnTo>
                <a:close/>
              </a:path>
              <a:path w="984250" h="642620">
                <a:moveTo>
                  <a:pt x="318348" y="393481"/>
                </a:moveTo>
                <a:lnTo>
                  <a:pt x="181913" y="480688"/>
                </a:lnTo>
                <a:lnTo>
                  <a:pt x="210982" y="526167"/>
                </a:lnTo>
                <a:lnTo>
                  <a:pt x="347417" y="438960"/>
                </a:lnTo>
                <a:lnTo>
                  <a:pt x="318348" y="393481"/>
                </a:lnTo>
                <a:close/>
              </a:path>
              <a:path w="984250" h="642620">
                <a:moveTo>
                  <a:pt x="500261" y="277205"/>
                </a:moveTo>
                <a:lnTo>
                  <a:pt x="363827" y="364412"/>
                </a:lnTo>
                <a:lnTo>
                  <a:pt x="392896" y="409890"/>
                </a:lnTo>
                <a:lnTo>
                  <a:pt x="529330" y="322684"/>
                </a:lnTo>
                <a:lnTo>
                  <a:pt x="500261" y="277205"/>
                </a:lnTo>
                <a:close/>
              </a:path>
              <a:path w="984250" h="642620">
                <a:moveTo>
                  <a:pt x="682175" y="160929"/>
                </a:moveTo>
                <a:lnTo>
                  <a:pt x="545740" y="248136"/>
                </a:lnTo>
                <a:lnTo>
                  <a:pt x="574809" y="293615"/>
                </a:lnTo>
                <a:lnTo>
                  <a:pt x="711245" y="206406"/>
                </a:lnTo>
                <a:lnTo>
                  <a:pt x="682175" y="160929"/>
                </a:lnTo>
                <a:close/>
              </a:path>
              <a:path w="984250" h="642620">
                <a:moveTo>
                  <a:pt x="833088" y="64468"/>
                </a:moveTo>
                <a:lnTo>
                  <a:pt x="727654" y="131860"/>
                </a:lnTo>
                <a:lnTo>
                  <a:pt x="756723" y="177337"/>
                </a:lnTo>
                <a:lnTo>
                  <a:pt x="862157" y="109946"/>
                </a:lnTo>
                <a:lnTo>
                  <a:pt x="833088" y="64468"/>
                </a:lnTo>
                <a:close/>
              </a:path>
              <a:path w="984250" h="642620">
                <a:moveTo>
                  <a:pt x="954233" y="49933"/>
                </a:moveTo>
                <a:lnTo>
                  <a:pt x="855827" y="49933"/>
                </a:lnTo>
                <a:lnTo>
                  <a:pt x="884896" y="95412"/>
                </a:lnTo>
                <a:lnTo>
                  <a:pt x="862157" y="109946"/>
                </a:lnTo>
                <a:lnTo>
                  <a:pt x="891226" y="155425"/>
                </a:lnTo>
                <a:lnTo>
                  <a:pt x="954233" y="49933"/>
                </a:lnTo>
                <a:close/>
              </a:path>
              <a:path w="984250" h="642620">
                <a:moveTo>
                  <a:pt x="855827" y="49933"/>
                </a:moveTo>
                <a:lnTo>
                  <a:pt x="833088" y="64468"/>
                </a:lnTo>
                <a:lnTo>
                  <a:pt x="862157" y="109946"/>
                </a:lnTo>
                <a:lnTo>
                  <a:pt x="884896" y="95412"/>
                </a:lnTo>
                <a:lnTo>
                  <a:pt x="855827" y="49933"/>
                </a:lnTo>
                <a:close/>
              </a:path>
              <a:path w="984250" h="642620">
                <a:moveTo>
                  <a:pt x="984058" y="0"/>
                </a:moveTo>
                <a:lnTo>
                  <a:pt x="804019" y="18990"/>
                </a:lnTo>
                <a:lnTo>
                  <a:pt x="833088" y="64468"/>
                </a:lnTo>
                <a:lnTo>
                  <a:pt x="855827" y="49933"/>
                </a:lnTo>
                <a:lnTo>
                  <a:pt x="954233" y="49933"/>
                </a:lnTo>
                <a:lnTo>
                  <a:pt x="9840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7502757" y="4539996"/>
            <a:ext cx="1330325" cy="556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52805">
              <a:lnSpc>
                <a:spcPct val="124300"/>
              </a:lnSpc>
              <a:spcBef>
                <a:spcPts val="100"/>
              </a:spcBef>
            </a:pPr>
            <a:r>
              <a:rPr dirty="0" sz="1400" spc="-40">
                <a:latin typeface="Arial"/>
                <a:cs typeface="Arial"/>
              </a:rPr>
              <a:t>U</a:t>
            </a:r>
            <a:r>
              <a:rPr dirty="0" sz="1400" spc="-30">
                <a:latin typeface="Arial"/>
                <a:cs typeface="Arial"/>
              </a:rPr>
              <a:t>n</a:t>
            </a:r>
            <a:r>
              <a:rPr dirty="0" sz="1400" spc="-15">
                <a:latin typeface="Arial"/>
                <a:cs typeface="Arial"/>
              </a:rPr>
              <a:t>i</a:t>
            </a:r>
            <a:r>
              <a:rPr dirty="0" sz="1400" spc="-30">
                <a:latin typeface="Arial"/>
                <a:cs typeface="Arial"/>
              </a:rPr>
              <a:t>o</a:t>
            </a:r>
            <a:r>
              <a:rPr dirty="0" sz="1400">
                <a:latin typeface="Arial"/>
                <a:cs typeface="Arial"/>
              </a:rPr>
              <a:t>n  </a:t>
            </a: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328200" y="5682996"/>
            <a:ext cx="476884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">
                <a:latin typeface="Arial"/>
                <a:cs typeface="Arial"/>
              </a:rPr>
              <a:t>U</a:t>
            </a:r>
            <a:r>
              <a:rPr dirty="0" sz="1400" spc="-30">
                <a:latin typeface="Arial"/>
                <a:cs typeface="Arial"/>
              </a:rPr>
              <a:t>n</a:t>
            </a:r>
            <a:r>
              <a:rPr dirty="0" sz="1400" spc="-15">
                <a:latin typeface="Arial"/>
                <a:cs typeface="Arial"/>
              </a:rPr>
              <a:t>i</a:t>
            </a:r>
            <a:r>
              <a:rPr dirty="0" sz="1400" spc="-30">
                <a:latin typeface="Arial"/>
                <a:cs typeface="Arial"/>
              </a:rPr>
              <a:t>o</a:t>
            </a:r>
            <a:r>
              <a:rPr dirty="0" sz="140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8872612" y="512478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8872612" y="512478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6039314" y="6211315"/>
            <a:ext cx="2425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7094" sz="1950" spc="472">
                <a:latin typeface="Cambria Math"/>
                <a:cs typeface="Cambria Math"/>
              </a:rPr>
              <a:t>-</a:t>
            </a:r>
            <a:endParaRPr baseline="-17094" sz="1950">
              <a:latin typeface="Cambria Math"/>
              <a:cs typeface="Cambria Math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509196" y="5979667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630799" y="6088888"/>
            <a:ext cx="1212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315">
                <a:latin typeface="Cambria Math"/>
                <a:cs typeface="Cambria Math"/>
              </a:rPr>
              <a:t>-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031798" y="4861052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153401" y="4973320"/>
            <a:ext cx="1212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315">
                <a:latin typeface="Cambria Math"/>
                <a:cs typeface="Cambria Math"/>
              </a:rPr>
              <a:t>-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4106458" y="5027062"/>
            <a:ext cx="1042035" cy="541020"/>
          </a:xfrm>
          <a:custGeom>
            <a:avLst/>
            <a:gdLst/>
            <a:ahLst/>
            <a:cxnLst/>
            <a:rect l="l" t="t" r="r" b="b"/>
            <a:pathLst>
              <a:path w="1042035" h="541020">
                <a:moveTo>
                  <a:pt x="771034" y="0"/>
                </a:moveTo>
                <a:lnTo>
                  <a:pt x="771034" y="135246"/>
                </a:lnTo>
                <a:lnTo>
                  <a:pt x="0" y="135246"/>
                </a:lnTo>
                <a:lnTo>
                  <a:pt x="0" y="405735"/>
                </a:lnTo>
                <a:lnTo>
                  <a:pt x="771034" y="405735"/>
                </a:lnTo>
                <a:lnTo>
                  <a:pt x="771034" y="540980"/>
                </a:lnTo>
                <a:lnTo>
                  <a:pt x="1041524" y="270490"/>
                </a:lnTo>
                <a:lnTo>
                  <a:pt x="77103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4106458" y="5027062"/>
            <a:ext cx="1042035" cy="541020"/>
          </a:xfrm>
          <a:custGeom>
            <a:avLst/>
            <a:gdLst/>
            <a:ahLst/>
            <a:cxnLst/>
            <a:rect l="l" t="t" r="r" b="b"/>
            <a:pathLst>
              <a:path w="1042035" h="541020">
                <a:moveTo>
                  <a:pt x="0" y="135245"/>
                </a:moveTo>
                <a:lnTo>
                  <a:pt x="771034" y="135245"/>
                </a:lnTo>
                <a:lnTo>
                  <a:pt x="771034" y="0"/>
                </a:lnTo>
                <a:lnTo>
                  <a:pt x="1041524" y="270491"/>
                </a:lnTo>
                <a:lnTo>
                  <a:pt x="771034" y="540981"/>
                </a:lnTo>
                <a:lnTo>
                  <a:pt x="771034" y="405735"/>
                </a:lnTo>
                <a:lnTo>
                  <a:pt x="0" y="405735"/>
                </a:lnTo>
                <a:lnTo>
                  <a:pt x="0" y="135245"/>
                </a:lnTo>
                <a:close/>
              </a:path>
            </a:pathLst>
          </a:custGeom>
          <a:ln w="12700">
            <a:solidFill>
              <a:srgbClr val="5252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 txBox="1"/>
          <p:nvPr/>
        </p:nvSpPr>
        <p:spPr>
          <a:xfrm>
            <a:off x="863241" y="3467100"/>
            <a:ext cx="23926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Original Query</a:t>
            </a:r>
            <a:r>
              <a:rPr dirty="0" sz="2000" spc="-10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Plan</a:t>
            </a:r>
            <a:endParaRPr sz="20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162142" y="3433571"/>
            <a:ext cx="26911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Converted Query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Plan</a:t>
            </a:r>
            <a:endParaRPr sz="20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2027125" y="3812540"/>
            <a:ext cx="3416935" cy="61722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65"/>
              </a:spcBef>
            </a:pPr>
            <a:r>
              <a:rPr dirty="0" sz="1800" spc="-65">
                <a:latin typeface="Cambria Math"/>
                <a:cs typeface="Cambria Math"/>
              </a:rPr>
              <a:t>𝑣</a:t>
            </a:r>
            <a:r>
              <a:rPr dirty="0" baseline="-14957" sz="1950" spc="-330">
                <a:latin typeface="Cambria Math"/>
                <a:cs typeface="Cambria Math"/>
              </a:rPr>
              <a:t>+</a:t>
            </a:r>
            <a:endParaRPr baseline="-14957" sz="19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800" spc="-5">
                <a:latin typeface="Arial"/>
                <a:cs typeface="Arial"/>
              </a:rPr>
              <a:t>Push the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union </a:t>
            </a:r>
            <a:r>
              <a:rPr dirty="0" sz="1800" spc="-5">
                <a:latin typeface="Arial"/>
                <a:cs typeface="Arial"/>
              </a:rPr>
              <a:t>to the last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step</a:t>
            </a:r>
            <a:endParaRPr sz="180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2071874" y="4451556"/>
            <a:ext cx="1568450" cy="310515"/>
          </a:xfrm>
          <a:custGeom>
            <a:avLst/>
            <a:gdLst/>
            <a:ahLst/>
            <a:cxnLst/>
            <a:rect l="l" t="t" r="r" b="b"/>
            <a:pathLst>
              <a:path w="1568450" h="310514">
                <a:moveTo>
                  <a:pt x="77209" y="225940"/>
                </a:moveTo>
                <a:lnTo>
                  <a:pt x="0" y="282726"/>
                </a:lnTo>
                <a:lnTo>
                  <a:pt x="91754" y="310422"/>
                </a:lnTo>
                <a:lnTo>
                  <a:pt x="87554" y="286024"/>
                </a:lnTo>
                <a:lnTo>
                  <a:pt x="65048" y="286024"/>
                </a:lnTo>
                <a:lnTo>
                  <a:pt x="57657" y="280805"/>
                </a:lnTo>
                <a:lnTo>
                  <a:pt x="54980" y="265253"/>
                </a:lnTo>
                <a:lnTo>
                  <a:pt x="60199" y="257863"/>
                </a:lnTo>
                <a:lnTo>
                  <a:pt x="82057" y="254100"/>
                </a:lnTo>
                <a:lnTo>
                  <a:pt x="77209" y="225940"/>
                </a:lnTo>
                <a:close/>
              </a:path>
              <a:path w="1568450" h="310514">
                <a:moveTo>
                  <a:pt x="82057" y="254100"/>
                </a:moveTo>
                <a:lnTo>
                  <a:pt x="60199" y="257863"/>
                </a:lnTo>
                <a:lnTo>
                  <a:pt x="54980" y="265253"/>
                </a:lnTo>
                <a:lnTo>
                  <a:pt x="57657" y="280805"/>
                </a:lnTo>
                <a:lnTo>
                  <a:pt x="65048" y="286024"/>
                </a:lnTo>
                <a:lnTo>
                  <a:pt x="86906" y="282261"/>
                </a:lnTo>
                <a:lnTo>
                  <a:pt x="82057" y="254100"/>
                </a:lnTo>
                <a:close/>
              </a:path>
              <a:path w="1568450" h="310514">
                <a:moveTo>
                  <a:pt x="86906" y="282261"/>
                </a:moveTo>
                <a:lnTo>
                  <a:pt x="65048" y="286024"/>
                </a:lnTo>
                <a:lnTo>
                  <a:pt x="87554" y="286024"/>
                </a:lnTo>
                <a:lnTo>
                  <a:pt x="86906" y="282261"/>
                </a:lnTo>
                <a:close/>
              </a:path>
              <a:path w="1568450" h="310514">
                <a:moveTo>
                  <a:pt x="1557963" y="0"/>
                </a:moveTo>
                <a:lnTo>
                  <a:pt x="82057" y="254100"/>
                </a:lnTo>
                <a:lnTo>
                  <a:pt x="86906" y="282261"/>
                </a:lnTo>
                <a:lnTo>
                  <a:pt x="1562812" y="28160"/>
                </a:lnTo>
                <a:lnTo>
                  <a:pt x="1568030" y="20770"/>
                </a:lnTo>
                <a:lnTo>
                  <a:pt x="1565353" y="5218"/>
                </a:lnTo>
                <a:lnTo>
                  <a:pt x="155796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2105388" y="4450738"/>
            <a:ext cx="1535430" cy="1068705"/>
          </a:xfrm>
          <a:custGeom>
            <a:avLst/>
            <a:gdLst/>
            <a:ahLst/>
            <a:cxnLst/>
            <a:rect l="l" t="t" r="r" b="b"/>
            <a:pathLst>
              <a:path w="1535429" h="1068704">
                <a:moveTo>
                  <a:pt x="46066" y="984366"/>
                </a:moveTo>
                <a:lnTo>
                  <a:pt x="0" y="1068414"/>
                </a:lnTo>
                <a:lnTo>
                  <a:pt x="94876" y="1054839"/>
                </a:lnTo>
                <a:lnTo>
                  <a:pt x="87352" y="1043975"/>
                </a:lnTo>
                <a:lnTo>
                  <a:pt x="60375" y="1043975"/>
                </a:lnTo>
                <a:lnTo>
                  <a:pt x="51474" y="1042360"/>
                </a:lnTo>
                <a:lnTo>
                  <a:pt x="42489" y="1029385"/>
                </a:lnTo>
                <a:lnTo>
                  <a:pt x="44104" y="1020485"/>
                </a:lnTo>
                <a:lnTo>
                  <a:pt x="62336" y="1007857"/>
                </a:lnTo>
                <a:lnTo>
                  <a:pt x="46066" y="984366"/>
                </a:lnTo>
                <a:close/>
              </a:path>
              <a:path w="1535429" h="1068704">
                <a:moveTo>
                  <a:pt x="62336" y="1007857"/>
                </a:moveTo>
                <a:lnTo>
                  <a:pt x="44104" y="1020485"/>
                </a:lnTo>
                <a:lnTo>
                  <a:pt x="42489" y="1029385"/>
                </a:lnTo>
                <a:lnTo>
                  <a:pt x="51474" y="1042360"/>
                </a:lnTo>
                <a:lnTo>
                  <a:pt x="60375" y="1043975"/>
                </a:lnTo>
                <a:lnTo>
                  <a:pt x="78606" y="1031348"/>
                </a:lnTo>
                <a:lnTo>
                  <a:pt x="62336" y="1007857"/>
                </a:lnTo>
                <a:close/>
              </a:path>
              <a:path w="1535429" h="1068704">
                <a:moveTo>
                  <a:pt x="78606" y="1031348"/>
                </a:moveTo>
                <a:lnTo>
                  <a:pt x="60375" y="1043975"/>
                </a:lnTo>
                <a:lnTo>
                  <a:pt x="87352" y="1043975"/>
                </a:lnTo>
                <a:lnTo>
                  <a:pt x="78606" y="1031348"/>
                </a:lnTo>
                <a:close/>
              </a:path>
              <a:path w="1535429" h="1068704">
                <a:moveTo>
                  <a:pt x="1517449" y="0"/>
                </a:moveTo>
                <a:lnTo>
                  <a:pt x="62336" y="1007857"/>
                </a:lnTo>
                <a:lnTo>
                  <a:pt x="78606" y="1031348"/>
                </a:lnTo>
                <a:lnTo>
                  <a:pt x="1533719" y="23489"/>
                </a:lnTo>
                <a:lnTo>
                  <a:pt x="1535336" y="14589"/>
                </a:lnTo>
                <a:lnTo>
                  <a:pt x="1526350" y="1616"/>
                </a:lnTo>
                <a:lnTo>
                  <a:pt x="151744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101" name="object 10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102" name="object 102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07161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591425" cy="49085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>
                <a:latin typeface="Calibri"/>
                <a:cs typeface="Calibri"/>
              </a:rPr>
              <a:t>Any </a:t>
            </a:r>
            <a:r>
              <a:rPr dirty="0" sz="3200" spc="-5" b="1">
                <a:latin typeface="Calibri"/>
                <a:cs typeface="Calibri"/>
              </a:rPr>
              <a:t>AND-OR query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>
                <a:latin typeface="Calibri"/>
                <a:cs typeface="Calibri"/>
              </a:rPr>
              <a:t>be </a:t>
            </a:r>
            <a:r>
              <a:rPr dirty="0" sz="3200" spc="-20">
                <a:latin typeface="Calibri"/>
                <a:cs typeface="Calibri"/>
              </a:rPr>
              <a:t>transformed </a:t>
            </a:r>
            <a:r>
              <a:rPr dirty="0" sz="3200" spc="-15">
                <a:latin typeface="Calibri"/>
                <a:cs typeface="Calibri"/>
              </a:rPr>
              <a:t>into  </a:t>
            </a:r>
            <a:r>
              <a:rPr dirty="0" sz="3200" spc="-10">
                <a:latin typeface="Calibri"/>
                <a:cs typeface="Calibri"/>
              </a:rPr>
              <a:t>equivalent </a:t>
            </a:r>
            <a:r>
              <a:rPr dirty="0" sz="3200" spc="-80">
                <a:latin typeface="Calibri"/>
                <a:cs typeface="Calibri"/>
              </a:rPr>
              <a:t>DNF, </a:t>
            </a:r>
            <a:r>
              <a:rPr dirty="0" sz="3200" spc="-5">
                <a:latin typeface="Calibri"/>
                <a:cs typeface="Calibri"/>
              </a:rPr>
              <a:t>i.e., </a:t>
            </a:r>
            <a:r>
              <a:rPr dirty="0" sz="3200" spc="-5" b="1">
                <a:solidFill>
                  <a:srgbClr val="479249"/>
                </a:solidFill>
                <a:latin typeface="Calibri"/>
                <a:cs typeface="Calibri"/>
              </a:rPr>
              <a:t>disjunction </a:t>
            </a:r>
            <a:r>
              <a:rPr dirty="0" sz="3200" b="1">
                <a:solidFill>
                  <a:srgbClr val="479249"/>
                </a:solidFill>
                <a:latin typeface="Calibri"/>
                <a:cs typeface="Calibri"/>
              </a:rPr>
              <a:t>of  </a:t>
            </a:r>
            <a:r>
              <a:rPr dirty="0" sz="3200" spc="-10" b="1">
                <a:solidFill>
                  <a:srgbClr val="479249"/>
                </a:solidFill>
                <a:latin typeface="Calibri"/>
                <a:cs typeface="Calibri"/>
              </a:rPr>
              <a:t>conjunctive</a:t>
            </a:r>
            <a:r>
              <a:rPr dirty="0" sz="3200" spc="-45" b="1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479249"/>
                </a:solidFill>
                <a:latin typeface="Calibri"/>
                <a:cs typeface="Calibri"/>
              </a:rPr>
              <a:t>queries</a:t>
            </a:r>
            <a:r>
              <a:rPr dirty="0" sz="3200" spc="-5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0AD00"/>
              </a:buClr>
              <a:buFont typeface="Arial"/>
              <a:buChar char="▪"/>
            </a:pPr>
            <a:endParaRPr sz="3350">
              <a:latin typeface="Times New Roman"/>
              <a:cs typeface="Times New Roman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Given </a:t>
            </a:r>
            <a:r>
              <a:rPr dirty="0" sz="3200" spc="-25" b="1">
                <a:latin typeface="Calibri"/>
                <a:cs typeface="Calibri"/>
              </a:rPr>
              <a:t>any </a:t>
            </a:r>
            <a:r>
              <a:rPr dirty="0" sz="3200" spc="-5" b="1">
                <a:latin typeface="Calibri"/>
                <a:cs typeface="Calibri"/>
              </a:rPr>
              <a:t>AND-OR query</a:t>
            </a:r>
            <a:r>
              <a:rPr dirty="0" sz="3200" spc="-30" b="1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𝒒</a:t>
            </a:r>
            <a:r>
              <a:rPr dirty="0" sz="3200" b="1">
                <a:latin typeface="Calibri"/>
                <a:cs typeface="Calibri"/>
              </a:rPr>
              <a:t>,</a:t>
            </a:r>
            <a:endParaRPr sz="3200">
              <a:latin typeface="Calibri"/>
              <a:cs typeface="Calibri"/>
            </a:endParaRPr>
          </a:p>
          <a:p>
            <a:pPr marL="2051685">
              <a:lnSpc>
                <a:spcPts val="3790"/>
              </a:lnSpc>
            </a:pPr>
            <a:r>
              <a:rPr dirty="0" sz="3200">
                <a:latin typeface="Cambria Math"/>
                <a:cs typeface="Cambria Math"/>
              </a:rPr>
              <a:t>𝑞 = </a:t>
            </a:r>
            <a:r>
              <a:rPr dirty="0" sz="3200" spc="140">
                <a:latin typeface="Cambria Math"/>
                <a:cs typeface="Cambria Math"/>
              </a:rPr>
              <a:t>𝑞</a:t>
            </a:r>
            <a:r>
              <a:rPr dirty="0" baseline="-15700" sz="3450" spc="209">
                <a:latin typeface="Cambria Math"/>
                <a:cs typeface="Cambria Math"/>
              </a:rPr>
              <a:t>" </a:t>
            </a:r>
            <a:r>
              <a:rPr dirty="0" sz="3200">
                <a:latin typeface="Cambria Math"/>
                <a:cs typeface="Cambria Math"/>
              </a:rPr>
              <a:t>∨ </a:t>
            </a:r>
            <a:r>
              <a:rPr dirty="0" sz="3200" spc="-80">
                <a:latin typeface="Cambria Math"/>
                <a:cs typeface="Cambria Math"/>
              </a:rPr>
              <a:t>𝑞</a:t>
            </a:r>
            <a:r>
              <a:rPr dirty="0" baseline="-15700" sz="3450" spc="-120">
                <a:latin typeface="Cambria Math"/>
                <a:cs typeface="Cambria Math"/>
              </a:rPr>
              <a:t># </a:t>
            </a:r>
            <a:r>
              <a:rPr dirty="0" sz="3200">
                <a:latin typeface="Cambria Math"/>
                <a:cs typeface="Cambria Math"/>
              </a:rPr>
              <a:t>∨ ⋯ ∨</a:t>
            </a:r>
            <a:r>
              <a:rPr dirty="0" sz="3200" spc="355">
                <a:latin typeface="Cambria Math"/>
                <a:cs typeface="Cambria Math"/>
              </a:rPr>
              <a:t> </a:t>
            </a:r>
            <a:r>
              <a:rPr dirty="0" sz="3200" spc="455">
                <a:latin typeface="Cambria Math"/>
                <a:cs typeface="Cambria Math"/>
              </a:rPr>
              <a:t>𝑞</a:t>
            </a:r>
            <a:r>
              <a:rPr dirty="0" baseline="-15700" sz="3450" spc="682">
                <a:latin typeface="Cambria Math"/>
                <a:cs typeface="Cambria Math"/>
              </a:rPr>
              <a:t>$</a:t>
            </a:r>
            <a:endParaRPr baseline="-15700" sz="3450">
              <a:latin typeface="Cambria Math"/>
              <a:cs typeface="Cambria Math"/>
            </a:endParaRPr>
          </a:p>
          <a:p>
            <a:pPr marL="12700">
              <a:lnSpc>
                <a:spcPts val="3815"/>
              </a:lnSpc>
            </a:pPr>
            <a:r>
              <a:rPr dirty="0" sz="3200" spc="-15">
                <a:latin typeface="Calibri"/>
                <a:cs typeface="Calibri"/>
              </a:rPr>
              <a:t>where </a:t>
            </a:r>
            <a:r>
              <a:rPr dirty="0" sz="3200" spc="-490">
                <a:latin typeface="Cambria Math"/>
                <a:cs typeface="Cambria Math"/>
              </a:rPr>
              <a:t>𝑞</a:t>
            </a:r>
            <a:r>
              <a:rPr dirty="0" baseline="-15700" sz="3450" spc="-735">
                <a:latin typeface="Cambria Math"/>
                <a:cs typeface="Cambria Math"/>
              </a:rPr>
              <a:t>+                                          </a:t>
            </a:r>
            <a:r>
              <a:rPr dirty="0" sz="3200">
                <a:latin typeface="Calibri"/>
                <a:cs typeface="Calibri"/>
              </a:rPr>
              <a:t>is a </a:t>
            </a:r>
            <a:r>
              <a:rPr dirty="0" sz="3200" spc="-10" b="1">
                <a:solidFill>
                  <a:srgbClr val="479249"/>
                </a:solidFill>
                <a:latin typeface="Calibri"/>
                <a:cs typeface="Calibri"/>
              </a:rPr>
              <a:t>conjunctive</a:t>
            </a:r>
            <a:r>
              <a:rPr dirty="0" sz="3200" spc="-25" b="1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479249"/>
                </a:solidFill>
                <a:latin typeface="Calibri"/>
                <a:cs typeface="Calibri"/>
              </a:rPr>
              <a:t>query</a:t>
            </a:r>
            <a:r>
              <a:rPr dirty="0" sz="3200" spc="-5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50">
              <a:latin typeface="Times New Roman"/>
              <a:cs typeface="Times New Roman"/>
            </a:endParaRPr>
          </a:p>
          <a:p>
            <a:pPr marL="332740" marR="767080" indent="-320040">
              <a:lnSpc>
                <a:spcPct val="10189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Now </a:t>
            </a:r>
            <a:r>
              <a:rPr dirty="0" sz="3200" spc="-15">
                <a:latin typeface="Calibri"/>
                <a:cs typeface="Calibri"/>
              </a:rPr>
              <a:t>we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25">
                <a:latin typeface="Calibri"/>
                <a:cs typeface="Calibri"/>
              </a:rPr>
              <a:t>first </a:t>
            </a:r>
            <a:r>
              <a:rPr dirty="0" sz="3200" spc="-5">
                <a:latin typeface="Calibri"/>
                <a:cs typeface="Calibri"/>
              </a:rPr>
              <a:t>embed </a:t>
            </a:r>
            <a:r>
              <a:rPr dirty="0" sz="3200">
                <a:latin typeface="Calibri"/>
                <a:cs typeface="Calibri"/>
              </a:rPr>
              <a:t>all </a:t>
            </a:r>
            <a:r>
              <a:rPr dirty="0" sz="3200" spc="-490">
                <a:latin typeface="Cambria Math"/>
                <a:cs typeface="Cambria Math"/>
              </a:rPr>
              <a:t>𝑞</a:t>
            </a:r>
            <a:r>
              <a:rPr dirty="0" baseline="-15700" sz="3450" spc="-735">
                <a:latin typeface="Cambria Math"/>
                <a:cs typeface="Cambria Math"/>
              </a:rPr>
              <a:t>+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5">
                <a:latin typeface="Calibri"/>
                <a:cs typeface="Calibri"/>
              </a:rPr>
              <a:t>then  </a:t>
            </a:r>
            <a:r>
              <a:rPr dirty="0" sz="3200" spc="-20">
                <a:latin typeface="Calibri"/>
                <a:cs typeface="Calibri"/>
              </a:rPr>
              <a:t>“</a:t>
            </a:r>
            <a:r>
              <a:rPr dirty="0" sz="3200" spc="-20" b="1">
                <a:solidFill>
                  <a:srgbClr val="0070C0"/>
                </a:solidFill>
                <a:latin typeface="Calibri"/>
                <a:cs typeface="Calibri"/>
              </a:rPr>
              <a:t>aggregate</a:t>
            </a:r>
            <a:r>
              <a:rPr dirty="0" sz="3200" spc="-20">
                <a:latin typeface="Calibri"/>
                <a:cs typeface="Calibri"/>
              </a:rPr>
              <a:t>” </a:t>
            </a:r>
            <a:r>
              <a:rPr dirty="0" sz="3200" spc="-15">
                <a:latin typeface="Calibri"/>
                <a:cs typeface="Calibri"/>
              </a:rPr>
              <a:t>at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last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step!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64</a:t>
            </a:fld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253983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453356" y="2441472"/>
            <a:ext cx="883285" cy="376555"/>
          </a:xfrm>
          <a:custGeom>
            <a:avLst/>
            <a:gdLst/>
            <a:ahLst/>
            <a:cxnLst/>
            <a:rect l="l" t="t" r="r" b="b"/>
            <a:pathLst>
              <a:path w="883285" h="376555">
                <a:moveTo>
                  <a:pt x="762864" y="0"/>
                </a:moveTo>
                <a:lnTo>
                  <a:pt x="757506" y="15279"/>
                </a:lnTo>
                <a:lnTo>
                  <a:pt x="779298" y="24736"/>
                </a:lnTo>
                <a:lnTo>
                  <a:pt x="798037" y="37826"/>
                </a:lnTo>
                <a:lnTo>
                  <a:pt x="826364" y="74909"/>
                </a:lnTo>
                <a:lnTo>
                  <a:pt x="843033" y="124940"/>
                </a:lnTo>
                <a:lnTo>
                  <a:pt x="848589" y="186331"/>
                </a:lnTo>
                <a:lnTo>
                  <a:pt x="847194" y="219533"/>
                </a:lnTo>
                <a:lnTo>
                  <a:pt x="836032" y="276782"/>
                </a:lnTo>
                <a:lnTo>
                  <a:pt x="813633" y="321493"/>
                </a:lnTo>
                <a:lnTo>
                  <a:pt x="779552" y="351655"/>
                </a:lnTo>
                <a:lnTo>
                  <a:pt x="758102" y="361156"/>
                </a:lnTo>
                <a:lnTo>
                  <a:pt x="762864" y="376435"/>
                </a:lnTo>
                <a:lnTo>
                  <a:pt x="814210" y="352349"/>
                </a:lnTo>
                <a:lnTo>
                  <a:pt x="851962" y="310653"/>
                </a:lnTo>
                <a:lnTo>
                  <a:pt x="875180" y="254818"/>
                </a:lnTo>
                <a:lnTo>
                  <a:pt x="882919" y="188316"/>
                </a:lnTo>
                <a:lnTo>
                  <a:pt x="880978" y="153807"/>
                </a:lnTo>
                <a:lnTo>
                  <a:pt x="865450" y="92638"/>
                </a:lnTo>
                <a:lnTo>
                  <a:pt x="834655" y="42843"/>
                </a:lnTo>
                <a:lnTo>
                  <a:pt x="790156" y="9853"/>
                </a:lnTo>
                <a:lnTo>
                  <a:pt x="762864" y="0"/>
                </a:lnTo>
                <a:close/>
              </a:path>
              <a:path w="883285" h="376555">
                <a:moveTo>
                  <a:pt x="120054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602003" y="2441472"/>
            <a:ext cx="1062355" cy="376555"/>
          </a:xfrm>
          <a:custGeom>
            <a:avLst/>
            <a:gdLst/>
            <a:ahLst/>
            <a:cxnLst/>
            <a:rect l="l" t="t" r="r" b="b"/>
            <a:pathLst>
              <a:path w="1062354" h="376555">
                <a:moveTo>
                  <a:pt x="941807" y="0"/>
                </a:moveTo>
                <a:lnTo>
                  <a:pt x="936449" y="15279"/>
                </a:lnTo>
                <a:lnTo>
                  <a:pt x="958240" y="24736"/>
                </a:lnTo>
                <a:lnTo>
                  <a:pt x="976980" y="37826"/>
                </a:lnTo>
                <a:lnTo>
                  <a:pt x="1005307" y="74909"/>
                </a:lnTo>
                <a:lnTo>
                  <a:pt x="1021976" y="124940"/>
                </a:lnTo>
                <a:lnTo>
                  <a:pt x="1027532" y="186331"/>
                </a:lnTo>
                <a:lnTo>
                  <a:pt x="1026137" y="219533"/>
                </a:lnTo>
                <a:lnTo>
                  <a:pt x="1014975" y="276782"/>
                </a:lnTo>
                <a:lnTo>
                  <a:pt x="992576" y="321493"/>
                </a:lnTo>
                <a:lnTo>
                  <a:pt x="958494" y="351655"/>
                </a:lnTo>
                <a:lnTo>
                  <a:pt x="937045" y="361156"/>
                </a:lnTo>
                <a:lnTo>
                  <a:pt x="941807" y="376435"/>
                </a:lnTo>
                <a:lnTo>
                  <a:pt x="993153" y="352349"/>
                </a:lnTo>
                <a:lnTo>
                  <a:pt x="1030905" y="310653"/>
                </a:lnTo>
                <a:lnTo>
                  <a:pt x="1054123" y="254818"/>
                </a:lnTo>
                <a:lnTo>
                  <a:pt x="1061862" y="188316"/>
                </a:lnTo>
                <a:lnTo>
                  <a:pt x="1059921" y="153807"/>
                </a:lnTo>
                <a:lnTo>
                  <a:pt x="1044393" y="92638"/>
                </a:lnTo>
                <a:lnTo>
                  <a:pt x="1013598" y="42843"/>
                </a:lnTo>
                <a:lnTo>
                  <a:pt x="969099" y="9853"/>
                </a:lnTo>
                <a:lnTo>
                  <a:pt x="941807" y="0"/>
                </a:lnTo>
                <a:close/>
              </a:path>
              <a:path w="1062354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81315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62992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 i="0">
                <a:solidFill>
                  <a:srgbClr val="479249"/>
                </a:solidFill>
                <a:latin typeface="Calibri"/>
                <a:cs typeface="Calibri"/>
              </a:rPr>
              <a:t>Distance </a:t>
            </a:r>
            <a:r>
              <a:rPr dirty="0" sz="3200" spc="-10" i="0">
                <a:latin typeface="Calibri"/>
                <a:cs typeface="Calibri"/>
              </a:rPr>
              <a:t>between </a:t>
            </a:r>
            <a:r>
              <a:rPr dirty="0" sz="3200" spc="-5" i="0">
                <a:latin typeface="Calibri"/>
                <a:cs typeface="Calibri"/>
              </a:rPr>
              <a:t>entity embedding </a:t>
            </a:r>
            <a:r>
              <a:rPr dirty="0" sz="3200" i="0">
                <a:latin typeface="Calibri"/>
                <a:cs typeface="Calibri"/>
              </a:rPr>
              <a:t>and a  </a:t>
            </a:r>
            <a:r>
              <a:rPr dirty="0" sz="3200" spc="-5" i="0">
                <a:latin typeface="Calibri"/>
                <a:cs typeface="Calibri"/>
              </a:rPr>
              <a:t>DNF </a:t>
            </a:r>
            <a:r>
              <a:rPr dirty="0" sz="3200" i="0">
                <a:latin typeface="Cambria Math"/>
                <a:cs typeface="Cambria Math"/>
              </a:rPr>
              <a:t>𝑞 = </a:t>
            </a:r>
            <a:r>
              <a:rPr dirty="0" sz="3200" spc="140" i="0">
                <a:latin typeface="Cambria Math"/>
                <a:cs typeface="Cambria Math"/>
              </a:rPr>
              <a:t>𝑞</a:t>
            </a:r>
            <a:r>
              <a:rPr dirty="0" baseline="-15700" sz="3450" spc="209" i="0">
                <a:latin typeface="Cambria Math"/>
                <a:cs typeface="Cambria Math"/>
              </a:rPr>
              <a:t>" </a:t>
            </a:r>
            <a:r>
              <a:rPr dirty="0" sz="3200" i="0">
                <a:latin typeface="Cambria Math"/>
                <a:cs typeface="Cambria Math"/>
              </a:rPr>
              <a:t>∨ </a:t>
            </a:r>
            <a:r>
              <a:rPr dirty="0" sz="3200" spc="-80" i="0">
                <a:latin typeface="Cambria Math"/>
                <a:cs typeface="Cambria Math"/>
              </a:rPr>
              <a:t>𝑞</a:t>
            </a:r>
            <a:r>
              <a:rPr dirty="0" baseline="-15700" sz="3450" spc="-120" i="0">
                <a:latin typeface="Cambria Math"/>
                <a:cs typeface="Cambria Math"/>
              </a:rPr>
              <a:t># </a:t>
            </a:r>
            <a:r>
              <a:rPr dirty="0" sz="3200" i="0">
                <a:latin typeface="Cambria Math"/>
                <a:cs typeface="Cambria Math"/>
              </a:rPr>
              <a:t>∨ ⋯ ∨ </a:t>
            </a:r>
            <a:r>
              <a:rPr dirty="0" sz="3200" spc="455" i="0">
                <a:latin typeface="Cambria Math"/>
                <a:cs typeface="Cambria Math"/>
              </a:rPr>
              <a:t>𝑞</a:t>
            </a:r>
            <a:r>
              <a:rPr dirty="0" baseline="-15700" sz="3450" spc="682" i="0">
                <a:latin typeface="Cambria Math"/>
                <a:cs typeface="Cambria Math"/>
              </a:rPr>
              <a:t>$ </a:t>
            </a:r>
            <a:r>
              <a:rPr dirty="0" sz="3200" i="0">
                <a:latin typeface="Calibri"/>
                <a:cs typeface="Calibri"/>
              </a:rPr>
              <a:t>is </a:t>
            </a:r>
            <a:r>
              <a:rPr dirty="0" sz="3200" spc="-10" i="0">
                <a:latin typeface="Calibri"/>
                <a:cs typeface="Calibri"/>
              </a:rPr>
              <a:t>defined</a:t>
            </a:r>
            <a:r>
              <a:rPr dirty="0" sz="3200" spc="125" i="0">
                <a:latin typeface="Calibri"/>
                <a:cs typeface="Calibri"/>
              </a:rPr>
              <a:t> </a:t>
            </a:r>
            <a:r>
              <a:rPr dirty="0" sz="3200" spc="-5" i="0">
                <a:latin typeface="Calibri"/>
                <a:cs typeface="Calibri"/>
              </a:rPr>
              <a:t>as: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795"/>
              </a:lnSpc>
              <a:tabLst>
                <a:tab pos="967740" algn="l"/>
                <a:tab pos="1866264" algn="l"/>
                <a:tab pos="4116704" algn="l"/>
                <a:tab pos="5081270" algn="l"/>
              </a:tabLst>
            </a:pPr>
            <a:r>
              <a:rPr dirty="0" sz="3200" spc="-85" i="0">
                <a:solidFill>
                  <a:srgbClr val="C00000"/>
                </a:solidFill>
                <a:latin typeface="Cambria Math"/>
                <a:cs typeface="Cambria Math"/>
              </a:rPr>
              <a:t>𝑑</a:t>
            </a:r>
            <a:r>
              <a:rPr dirty="0" baseline="-15700" sz="3450" spc="-127" i="0">
                <a:solidFill>
                  <a:srgbClr val="C00000"/>
                </a:solidFill>
                <a:latin typeface="Cambria Math"/>
                <a:cs typeface="Cambria Math"/>
              </a:rPr>
              <a:t>2/%	</a:t>
            </a:r>
            <a:r>
              <a:rPr dirty="0" sz="3200" spc="-5" i="0">
                <a:solidFill>
                  <a:srgbClr val="C00000"/>
                </a:solidFill>
                <a:latin typeface="Cambria Math"/>
                <a:cs typeface="Cambria Math"/>
              </a:rPr>
              <a:t>𝐪,</a:t>
            </a:r>
            <a:r>
              <a:rPr dirty="0" sz="3200" spc="-165" i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200" i="0">
                <a:solidFill>
                  <a:srgbClr val="C00000"/>
                </a:solidFill>
                <a:latin typeface="Cambria Math"/>
                <a:cs typeface="Cambria Math"/>
              </a:rPr>
              <a:t>𝐯	=</a:t>
            </a:r>
            <a:r>
              <a:rPr dirty="0" sz="3200" spc="190" i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200" spc="-40" i="0">
                <a:solidFill>
                  <a:srgbClr val="C00000"/>
                </a:solidFill>
                <a:latin typeface="Cambria Math"/>
                <a:cs typeface="Cambria Math"/>
              </a:rPr>
              <a:t>𝑚𝑖𝑛(𝑑</a:t>
            </a:r>
            <a:r>
              <a:rPr dirty="0" baseline="-15700" sz="3450" spc="-60" i="0">
                <a:solidFill>
                  <a:srgbClr val="C00000"/>
                </a:solidFill>
                <a:latin typeface="Cambria Math"/>
                <a:cs typeface="Cambria Math"/>
              </a:rPr>
              <a:t>2/%	</a:t>
            </a:r>
            <a:r>
              <a:rPr dirty="0" sz="3200" spc="140" i="0">
                <a:solidFill>
                  <a:srgbClr val="C00000"/>
                </a:solidFill>
                <a:latin typeface="Cambria Math"/>
                <a:cs typeface="Cambria Math"/>
              </a:rPr>
              <a:t>𝐪</a:t>
            </a:r>
            <a:r>
              <a:rPr dirty="0" baseline="-15700" sz="3450" spc="209" i="0">
                <a:solidFill>
                  <a:srgbClr val="C00000"/>
                </a:solidFill>
                <a:latin typeface="Cambria Math"/>
                <a:cs typeface="Cambria Math"/>
              </a:rPr>
              <a:t>"</a:t>
            </a:r>
            <a:r>
              <a:rPr dirty="0" sz="3200" spc="140" i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 sz="3200" spc="-165" i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200" i="0">
                <a:solidFill>
                  <a:srgbClr val="C00000"/>
                </a:solidFill>
                <a:latin typeface="Cambria Math"/>
                <a:cs typeface="Cambria Math"/>
              </a:rPr>
              <a:t>𝐯	,</a:t>
            </a:r>
            <a:r>
              <a:rPr dirty="0" sz="3200" spc="-180" i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200" i="0">
                <a:solidFill>
                  <a:srgbClr val="C00000"/>
                </a:solidFill>
                <a:latin typeface="Cambria Math"/>
                <a:cs typeface="Cambria Math"/>
              </a:rPr>
              <a:t>…</a:t>
            </a:r>
            <a:r>
              <a:rPr dirty="0" sz="3200" spc="-180" i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200" i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 sz="3200" spc="-180" i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200" spc="110" i="0">
                <a:solidFill>
                  <a:srgbClr val="C00000"/>
                </a:solidFill>
                <a:latin typeface="Cambria Math"/>
                <a:cs typeface="Cambria Math"/>
              </a:rPr>
              <a:t>𝑑</a:t>
            </a:r>
            <a:r>
              <a:rPr dirty="0" baseline="-15700" sz="3450" spc="165" i="0">
                <a:solidFill>
                  <a:srgbClr val="C00000"/>
                </a:solidFill>
                <a:latin typeface="Cambria Math"/>
                <a:cs typeface="Cambria Math"/>
              </a:rPr>
              <a:t>2/%</a:t>
            </a:r>
            <a:r>
              <a:rPr dirty="0" sz="3200" spc="110" i="0">
                <a:solidFill>
                  <a:srgbClr val="C00000"/>
                </a:solidFill>
                <a:latin typeface="Cambria Math"/>
                <a:cs typeface="Cambria Math"/>
              </a:rPr>
              <a:t>(𝐪</a:t>
            </a:r>
            <a:r>
              <a:rPr dirty="0" baseline="-15700" sz="3450" spc="165" i="0">
                <a:solidFill>
                  <a:srgbClr val="C00000"/>
                </a:solidFill>
                <a:latin typeface="Cambria Math"/>
                <a:cs typeface="Cambria Math"/>
              </a:rPr>
              <a:t>$</a:t>
            </a:r>
            <a:r>
              <a:rPr dirty="0" sz="3200" spc="110" i="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 sz="3200" spc="-180" i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200" spc="-5" i="0">
                <a:solidFill>
                  <a:srgbClr val="C00000"/>
                </a:solidFill>
                <a:latin typeface="Cambria Math"/>
                <a:cs typeface="Cambria Math"/>
              </a:rPr>
              <a:t>𝐯))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64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618108" y="3027607"/>
            <a:ext cx="7649845" cy="293941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Intuition:</a:t>
            </a:r>
            <a:endParaRPr sz="3200">
              <a:latin typeface="Calibri"/>
              <a:cs typeface="Calibri"/>
            </a:endParaRPr>
          </a:p>
          <a:p>
            <a:pPr lvl="1" marL="625475" marR="535940" indent="-274320">
              <a:lnSpc>
                <a:spcPts val="3310"/>
              </a:lnSpc>
              <a:spcBef>
                <a:spcPts val="9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As </a:t>
            </a:r>
            <a:r>
              <a:rPr dirty="0" sz="2800" spc="-5">
                <a:latin typeface="Calibri"/>
                <a:cs typeface="Calibri"/>
              </a:rPr>
              <a:t>long as </a:t>
            </a:r>
            <a:r>
              <a:rPr dirty="0" sz="2800">
                <a:latin typeface="Cambria Math"/>
                <a:cs typeface="Cambria Math"/>
              </a:rPr>
              <a:t>𝑣 </a:t>
            </a:r>
            <a:r>
              <a:rPr dirty="0" sz="2800" spc="-5">
                <a:latin typeface="Calibri"/>
                <a:cs typeface="Calibri"/>
              </a:rPr>
              <a:t>is the </a:t>
            </a:r>
            <a:r>
              <a:rPr dirty="0" sz="2800" spc="-10">
                <a:latin typeface="Calibri"/>
                <a:cs typeface="Calibri"/>
              </a:rPr>
              <a:t>answer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one </a:t>
            </a:r>
            <a:r>
              <a:rPr dirty="0" sz="2800" spc="-65">
                <a:latin typeface="Calibri"/>
                <a:cs typeface="Calibri"/>
              </a:rPr>
              <a:t>conjunctive  </a:t>
            </a:r>
            <a:r>
              <a:rPr dirty="0" sz="2800" spc="-5">
                <a:latin typeface="Calibri"/>
                <a:cs typeface="Calibri"/>
              </a:rPr>
              <a:t>query </a:t>
            </a:r>
            <a:r>
              <a:rPr dirty="0" sz="2800" spc="-15">
                <a:latin typeface="Cambria Math"/>
                <a:cs typeface="Cambria Math"/>
              </a:rPr>
              <a:t>𝑞</a:t>
            </a:r>
            <a:r>
              <a:rPr dirty="0" baseline="-16666" sz="3000" spc="-22">
                <a:latin typeface="Cambria Math"/>
                <a:cs typeface="Cambria Math"/>
              </a:rPr>
              <a:t>(</a:t>
            </a:r>
            <a:r>
              <a:rPr dirty="0" sz="2800" spc="-15">
                <a:latin typeface="Calibri"/>
                <a:cs typeface="Calibri"/>
              </a:rPr>
              <a:t>, </a:t>
            </a:r>
            <a:r>
              <a:rPr dirty="0" sz="2800" spc="-5">
                <a:latin typeface="Calibri"/>
                <a:cs typeface="Calibri"/>
              </a:rPr>
              <a:t>then </a:t>
            </a:r>
            <a:r>
              <a:rPr dirty="0" sz="2800">
                <a:latin typeface="Cambria Math"/>
                <a:cs typeface="Cambria Math"/>
              </a:rPr>
              <a:t>𝑣 </a:t>
            </a:r>
            <a:r>
              <a:rPr dirty="0" sz="2800" spc="-5">
                <a:latin typeface="Calibri"/>
                <a:cs typeface="Calibri"/>
              </a:rPr>
              <a:t>should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answer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𝑞</a:t>
            </a:r>
            <a:endParaRPr sz="2800">
              <a:latin typeface="Cambria Math"/>
              <a:cs typeface="Cambria Math"/>
            </a:endParaRPr>
          </a:p>
          <a:p>
            <a:pPr lvl="1" marL="625475" marR="5080" indent="-274320">
              <a:lnSpc>
                <a:spcPct val="101099"/>
              </a:lnSpc>
              <a:spcBef>
                <a:spcPts val="5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As </a:t>
            </a:r>
            <a:r>
              <a:rPr dirty="0" sz="2800" spc="-5">
                <a:latin typeface="Calibri"/>
                <a:cs typeface="Calibri"/>
              </a:rPr>
              <a:t>long as </a:t>
            </a:r>
            <a:r>
              <a:rPr dirty="0" sz="2800">
                <a:latin typeface="Cambria Math"/>
                <a:cs typeface="Cambria Math"/>
              </a:rPr>
              <a:t>𝐯 </a:t>
            </a:r>
            <a:r>
              <a:rPr dirty="0" sz="2800" spc="-5">
                <a:latin typeface="Calibri"/>
                <a:cs typeface="Calibri"/>
              </a:rPr>
              <a:t>is close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one </a:t>
            </a:r>
            <a:r>
              <a:rPr dirty="0" sz="2800" spc="-10">
                <a:latin typeface="Calibri"/>
                <a:cs typeface="Calibri"/>
              </a:rPr>
              <a:t>conjunctive </a:t>
            </a:r>
            <a:r>
              <a:rPr dirty="0" sz="2800" spc="-5">
                <a:latin typeface="Calibri"/>
                <a:cs typeface="Calibri"/>
              </a:rPr>
              <a:t>query </a:t>
            </a:r>
            <a:r>
              <a:rPr dirty="0" sz="2800" spc="-85">
                <a:latin typeface="Cambria Math"/>
                <a:cs typeface="Cambria Math"/>
              </a:rPr>
              <a:t>𝐪</a:t>
            </a:r>
            <a:r>
              <a:rPr dirty="0" baseline="-15277" sz="3000" spc="-127">
                <a:latin typeface="Cambria Math"/>
                <a:cs typeface="Cambria Math"/>
              </a:rPr>
              <a:t>(</a:t>
            </a:r>
            <a:r>
              <a:rPr dirty="0" sz="2800" spc="-85">
                <a:latin typeface="Calibri"/>
                <a:cs typeface="Calibri"/>
              </a:rPr>
              <a:t>,  </a:t>
            </a:r>
            <a:r>
              <a:rPr dirty="0" sz="2800" spc="-5">
                <a:latin typeface="Calibri"/>
                <a:cs typeface="Calibri"/>
              </a:rPr>
              <a:t>then </a:t>
            </a:r>
            <a:r>
              <a:rPr dirty="0" sz="2800">
                <a:latin typeface="Cambria Math"/>
                <a:cs typeface="Cambria Math"/>
              </a:rPr>
              <a:t>𝐯 </a:t>
            </a:r>
            <a:r>
              <a:rPr dirty="0" sz="2800" spc="-5">
                <a:latin typeface="Calibri"/>
                <a:cs typeface="Calibri"/>
              </a:rPr>
              <a:t>should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5">
                <a:latin typeface="Calibri"/>
                <a:cs typeface="Calibri"/>
              </a:rPr>
              <a:t>close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>
                <a:latin typeface="Cambria Math"/>
                <a:cs typeface="Cambria Math"/>
              </a:rPr>
              <a:t>𝐪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in the embedding  space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253983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147684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 i="0">
                <a:solidFill>
                  <a:srgbClr val="479249"/>
                </a:solidFill>
                <a:latin typeface="Calibri"/>
                <a:cs typeface="Calibri"/>
              </a:rPr>
              <a:t>Distance </a:t>
            </a:r>
            <a:r>
              <a:rPr dirty="0" sz="3200" spc="-10" i="0">
                <a:latin typeface="Calibri"/>
                <a:cs typeface="Calibri"/>
              </a:rPr>
              <a:t>between </a:t>
            </a:r>
            <a:r>
              <a:rPr dirty="0" sz="3200" spc="-5" i="0">
                <a:latin typeface="Calibri"/>
                <a:cs typeface="Calibri"/>
              </a:rPr>
              <a:t>entity embedding </a:t>
            </a:r>
            <a:r>
              <a:rPr dirty="0" sz="3200" i="0">
                <a:latin typeface="Calibri"/>
                <a:cs typeface="Calibri"/>
              </a:rPr>
              <a:t>and a</a:t>
            </a:r>
            <a:r>
              <a:rPr dirty="0" sz="3200" spc="50" i="0">
                <a:latin typeface="Calibri"/>
                <a:cs typeface="Calibri"/>
              </a:rPr>
              <a:t> </a:t>
            </a:r>
            <a:r>
              <a:rPr dirty="0" sz="3200" spc="-5" i="0">
                <a:latin typeface="Calibri"/>
                <a:cs typeface="Calibri"/>
              </a:rPr>
              <a:t>DNF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815"/>
              </a:lnSpc>
            </a:pPr>
            <a:r>
              <a:rPr dirty="0" sz="3200" i="0">
                <a:latin typeface="Cambria Math"/>
                <a:cs typeface="Cambria Math"/>
              </a:rPr>
              <a:t>𝑞 = </a:t>
            </a:r>
            <a:r>
              <a:rPr dirty="0" sz="3200" spc="140" i="0">
                <a:latin typeface="Cambria Math"/>
                <a:cs typeface="Cambria Math"/>
              </a:rPr>
              <a:t>𝑞</a:t>
            </a:r>
            <a:r>
              <a:rPr dirty="0" baseline="-15700" sz="3450" spc="209" i="0">
                <a:latin typeface="Cambria Math"/>
                <a:cs typeface="Cambria Math"/>
              </a:rPr>
              <a:t>" </a:t>
            </a:r>
            <a:r>
              <a:rPr dirty="0" sz="3200" i="0">
                <a:latin typeface="Cambria Math"/>
                <a:cs typeface="Cambria Math"/>
              </a:rPr>
              <a:t>∨ </a:t>
            </a:r>
            <a:r>
              <a:rPr dirty="0" sz="3200" spc="-80" i="0">
                <a:latin typeface="Cambria Math"/>
                <a:cs typeface="Cambria Math"/>
              </a:rPr>
              <a:t>𝑞</a:t>
            </a:r>
            <a:r>
              <a:rPr dirty="0" baseline="-15700" sz="3450" spc="-120" i="0">
                <a:latin typeface="Cambria Math"/>
                <a:cs typeface="Cambria Math"/>
              </a:rPr>
              <a:t># </a:t>
            </a:r>
            <a:r>
              <a:rPr dirty="0" sz="3200" i="0">
                <a:latin typeface="Cambria Math"/>
                <a:cs typeface="Cambria Math"/>
              </a:rPr>
              <a:t>∨ ⋯ ∨ </a:t>
            </a:r>
            <a:r>
              <a:rPr dirty="0" sz="3200" spc="455" i="0">
                <a:latin typeface="Cambria Math"/>
                <a:cs typeface="Cambria Math"/>
              </a:rPr>
              <a:t>𝑞</a:t>
            </a:r>
            <a:r>
              <a:rPr dirty="0" baseline="-15700" sz="3450" spc="682" i="0">
                <a:latin typeface="Cambria Math"/>
                <a:cs typeface="Cambria Math"/>
              </a:rPr>
              <a:t>$ </a:t>
            </a:r>
            <a:r>
              <a:rPr dirty="0" sz="3200" i="0">
                <a:latin typeface="Calibri"/>
                <a:cs typeface="Calibri"/>
              </a:rPr>
              <a:t>is </a:t>
            </a:r>
            <a:r>
              <a:rPr dirty="0" sz="3200" spc="-10" i="0">
                <a:latin typeface="Calibri"/>
                <a:cs typeface="Calibri"/>
              </a:rPr>
              <a:t>defined</a:t>
            </a:r>
            <a:r>
              <a:rPr dirty="0" sz="3200" spc="105" i="0">
                <a:latin typeface="Calibri"/>
                <a:cs typeface="Calibri"/>
              </a:rPr>
              <a:t> </a:t>
            </a:r>
            <a:r>
              <a:rPr dirty="0" sz="3200" spc="-5" i="0">
                <a:latin typeface="Calibri"/>
                <a:cs typeface="Calibri"/>
              </a:rPr>
              <a:t>as: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67211" y="2441472"/>
            <a:ext cx="883285" cy="376555"/>
          </a:xfrm>
          <a:custGeom>
            <a:avLst/>
            <a:gdLst/>
            <a:ahLst/>
            <a:cxnLst/>
            <a:rect l="l" t="t" r="r" b="b"/>
            <a:pathLst>
              <a:path w="883285" h="376555">
                <a:moveTo>
                  <a:pt x="762864" y="0"/>
                </a:moveTo>
                <a:lnTo>
                  <a:pt x="757506" y="15279"/>
                </a:lnTo>
                <a:lnTo>
                  <a:pt x="779298" y="24736"/>
                </a:lnTo>
                <a:lnTo>
                  <a:pt x="798037" y="37826"/>
                </a:lnTo>
                <a:lnTo>
                  <a:pt x="826364" y="74909"/>
                </a:lnTo>
                <a:lnTo>
                  <a:pt x="843033" y="124940"/>
                </a:lnTo>
                <a:lnTo>
                  <a:pt x="848589" y="186331"/>
                </a:lnTo>
                <a:lnTo>
                  <a:pt x="847194" y="219533"/>
                </a:lnTo>
                <a:lnTo>
                  <a:pt x="836032" y="276782"/>
                </a:lnTo>
                <a:lnTo>
                  <a:pt x="813633" y="321493"/>
                </a:lnTo>
                <a:lnTo>
                  <a:pt x="779552" y="351655"/>
                </a:lnTo>
                <a:lnTo>
                  <a:pt x="758102" y="361156"/>
                </a:lnTo>
                <a:lnTo>
                  <a:pt x="762864" y="376435"/>
                </a:lnTo>
                <a:lnTo>
                  <a:pt x="814210" y="352349"/>
                </a:lnTo>
                <a:lnTo>
                  <a:pt x="851962" y="310653"/>
                </a:lnTo>
                <a:lnTo>
                  <a:pt x="875180" y="254818"/>
                </a:lnTo>
                <a:lnTo>
                  <a:pt x="882919" y="188316"/>
                </a:lnTo>
                <a:lnTo>
                  <a:pt x="880978" y="153807"/>
                </a:lnTo>
                <a:lnTo>
                  <a:pt x="865450" y="92638"/>
                </a:lnTo>
                <a:lnTo>
                  <a:pt x="834655" y="42843"/>
                </a:lnTo>
                <a:lnTo>
                  <a:pt x="790156" y="9853"/>
                </a:lnTo>
                <a:lnTo>
                  <a:pt x="762864" y="0"/>
                </a:lnTo>
                <a:close/>
              </a:path>
              <a:path w="883285" h="376555">
                <a:moveTo>
                  <a:pt x="120054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715859" y="2441472"/>
            <a:ext cx="1062355" cy="376555"/>
          </a:xfrm>
          <a:custGeom>
            <a:avLst/>
            <a:gdLst/>
            <a:ahLst/>
            <a:cxnLst/>
            <a:rect l="l" t="t" r="r" b="b"/>
            <a:pathLst>
              <a:path w="1062354" h="376555">
                <a:moveTo>
                  <a:pt x="941807" y="0"/>
                </a:moveTo>
                <a:lnTo>
                  <a:pt x="936449" y="15279"/>
                </a:lnTo>
                <a:lnTo>
                  <a:pt x="958240" y="24736"/>
                </a:lnTo>
                <a:lnTo>
                  <a:pt x="976980" y="37826"/>
                </a:lnTo>
                <a:lnTo>
                  <a:pt x="1005307" y="74909"/>
                </a:lnTo>
                <a:lnTo>
                  <a:pt x="1021976" y="124940"/>
                </a:lnTo>
                <a:lnTo>
                  <a:pt x="1027532" y="186331"/>
                </a:lnTo>
                <a:lnTo>
                  <a:pt x="1026137" y="219533"/>
                </a:lnTo>
                <a:lnTo>
                  <a:pt x="1014975" y="276782"/>
                </a:lnTo>
                <a:lnTo>
                  <a:pt x="992576" y="321493"/>
                </a:lnTo>
                <a:lnTo>
                  <a:pt x="958494" y="351655"/>
                </a:lnTo>
                <a:lnTo>
                  <a:pt x="937045" y="361156"/>
                </a:lnTo>
                <a:lnTo>
                  <a:pt x="941807" y="376435"/>
                </a:lnTo>
                <a:lnTo>
                  <a:pt x="993153" y="352349"/>
                </a:lnTo>
                <a:lnTo>
                  <a:pt x="1030905" y="310653"/>
                </a:lnTo>
                <a:lnTo>
                  <a:pt x="1054123" y="254818"/>
                </a:lnTo>
                <a:lnTo>
                  <a:pt x="1061862" y="188316"/>
                </a:lnTo>
                <a:lnTo>
                  <a:pt x="1059921" y="153807"/>
                </a:lnTo>
                <a:lnTo>
                  <a:pt x="1044393" y="92638"/>
                </a:lnTo>
                <a:lnTo>
                  <a:pt x="1013598" y="42843"/>
                </a:lnTo>
                <a:lnTo>
                  <a:pt x="969098" y="9853"/>
                </a:lnTo>
                <a:lnTo>
                  <a:pt x="941807" y="0"/>
                </a:lnTo>
                <a:close/>
              </a:path>
              <a:path w="1062354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43564" y="6035473"/>
            <a:ext cx="436880" cy="329565"/>
          </a:xfrm>
          <a:custGeom>
            <a:avLst/>
            <a:gdLst/>
            <a:ahLst/>
            <a:cxnLst/>
            <a:rect l="l" t="t" r="r" b="b"/>
            <a:pathLst>
              <a:path w="436879" h="329564">
                <a:moveTo>
                  <a:pt x="331694" y="0"/>
                </a:moveTo>
                <a:lnTo>
                  <a:pt x="327007" y="13369"/>
                </a:lnTo>
                <a:lnTo>
                  <a:pt x="346074" y="21644"/>
                </a:lnTo>
                <a:lnTo>
                  <a:pt x="362471" y="33098"/>
                </a:lnTo>
                <a:lnTo>
                  <a:pt x="387257" y="65546"/>
                </a:lnTo>
                <a:lnTo>
                  <a:pt x="401843" y="109323"/>
                </a:lnTo>
                <a:lnTo>
                  <a:pt x="406704" y="163041"/>
                </a:lnTo>
                <a:lnTo>
                  <a:pt x="405483" y="192092"/>
                </a:lnTo>
                <a:lnTo>
                  <a:pt x="395716" y="242185"/>
                </a:lnTo>
                <a:lnTo>
                  <a:pt x="376118" y="281306"/>
                </a:lnTo>
                <a:lnTo>
                  <a:pt x="346296" y="307699"/>
                </a:lnTo>
                <a:lnTo>
                  <a:pt x="327527" y="316011"/>
                </a:lnTo>
                <a:lnTo>
                  <a:pt x="331694" y="329381"/>
                </a:lnTo>
                <a:lnTo>
                  <a:pt x="376622" y="308306"/>
                </a:lnTo>
                <a:lnTo>
                  <a:pt x="409656" y="271822"/>
                </a:lnTo>
                <a:lnTo>
                  <a:pt x="429971" y="222966"/>
                </a:lnTo>
                <a:lnTo>
                  <a:pt x="436742" y="164777"/>
                </a:lnTo>
                <a:lnTo>
                  <a:pt x="435044" y="134581"/>
                </a:lnTo>
                <a:lnTo>
                  <a:pt x="421458" y="81059"/>
                </a:lnTo>
                <a:lnTo>
                  <a:pt x="394512" y="37488"/>
                </a:lnTo>
                <a:lnTo>
                  <a:pt x="355575" y="8621"/>
                </a:lnTo>
                <a:lnTo>
                  <a:pt x="331694" y="0"/>
                </a:lnTo>
                <a:close/>
              </a:path>
              <a:path w="436879" h="329564">
                <a:moveTo>
                  <a:pt x="105048" y="0"/>
                </a:moveTo>
                <a:lnTo>
                  <a:pt x="60229" y="21118"/>
                </a:lnTo>
                <a:lnTo>
                  <a:pt x="27174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1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39"/>
                </a:lnTo>
                <a:lnTo>
                  <a:pt x="41025" y="86192"/>
                </a:lnTo>
                <a:lnTo>
                  <a:pt x="60657" y="47732"/>
                </a:lnTo>
                <a:lnTo>
                  <a:pt x="90739" y="21644"/>
                </a:lnTo>
                <a:lnTo>
                  <a:pt x="109735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18108" y="2327148"/>
            <a:ext cx="8361045" cy="405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364">
              <a:lnSpc>
                <a:spcPct val="100000"/>
              </a:lnSpc>
              <a:spcBef>
                <a:spcPts val="100"/>
              </a:spcBef>
              <a:tabLst>
                <a:tab pos="1081405" algn="l"/>
                <a:tab pos="1980564" algn="l"/>
                <a:tab pos="4230370" algn="l"/>
                <a:tab pos="5194935" algn="l"/>
              </a:tabLst>
            </a:pPr>
            <a:r>
              <a:rPr dirty="0" sz="3200" spc="-85">
                <a:solidFill>
                  <a:srgbClr val="C00000"/>
                </a:solidFill>
                <a:latin typeface="Cambria Math"/>
                <a:cs typeface="Cambria Math"/>
              </a:rPr>
              <a:t>𝑑</a:t>
            </a:r>
            <a:r>
              <a:rPr dirty="0" baseline="-15700" sz="3450" spc="-127">
                <a:solidFill>
                  <a:srgbClr val="C00000"/>
                </a:solidFill>
                <a:latin typeface="Cambria Math"/>
                <a:cs typeface="Cambria Math"/>
              </a:rPr>
              <a:t>2/%	</a:t>
            </a:r>
            <a:r>
              <a:rPr dirty="0" sz="3200" spc="-5">
                <a:solidFill>
                  <a:srgbClr val="C00000"/>
                </a:solidFill>
                <a:latin typeface="Cambria Math"/>
                <a:cs typeface="Cambria Math"/>
              </a:rPr>
              <a:t>𝐪,</a:t>
            </a:r>
            <a:r>
              <a:rPr dirty="0" sz="3200" spc="-16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𝐯	=</a:t>
            </a:r>
            <a:r>
              <a:rPr dirty="0" sz="3200" spc="19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200" spc="-40">
                <a:solidFill>
                  <a:srgbClr val="C00000"/>
                </a:solidFill>
                <a:latin typeface="Cambria Math"/>
                <a:cs typeface="Cambria Math"/>
              </a:rPr>
              <a:t>𝑚𝑖𝑛(𝑑</a:t>
            </a:r>
            <a:r>
              <a:rPr dirty="0" baseline="-15700" sz="3450" spc="-60">
                <a:solidFill>
                  <a:srgbClr val="C00000"/>
                </a:solidFill>
                <a:latin typeface="Cambria Math"/>
                <a:cs typeface="Cambria Math"/>
              </a:rPr>
              <a:t>2/%	</a:t>
            </a:r>
            <a:r>
              <a:rPr dirty="0" sz="3200" spc="140">
                <a:solidFill>
                  <a:srgbClr val="C00000"/>
                </a:solidFill>
                <a:latin typeface="Cambria Math"/>
                <a:cs typeface="Cambria Math"/>
              </a:rPr>
              <a:t>𝐪</a:t>
            </a:r>
            <a:r>
              <a:rPr dirty="0" baseline="-15700" sz="3450" spc="209">
                <a:solidFill>
                  <a:srgbClr val="C00000"/>
                </a:solidFill>
                <a:latin typeface="Cambria Math"/>
                <a:cs typeface="Cambria Math"/>
              </a:rPr>
              <a:t>"</a:t>
            </a:r>
            <a:r>
              <a:rPr dirty="0" sz="3200" spc="14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 sz="3200" spc="-16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𝐯	,</a:t>
            </a:r>
            <a:r>
              <a:rPr dirty="0" sz="3200" spc="-18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…</a:t>
            </a:r>
            <a:r>
              <a:rPr dirty="0" sz="3200" spc="-18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 sz="3200" spc="-18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200" spc="110">
                <a:solidFill>
                  <a:srgbClr val="C00000"/>
                </a:solidFill>
                <a:latin typeface="Cambria Math"/>
                <a:cs typeface="Cambria Math"/>
              </a:rPr>
              <a:t>𝑑</a:t>
            </a:r>
            <a:r>
              <a:rPr dirty="0" baseline="-15700" sz="3450" spc="165">
                <a:solidFill>
                  <a:srgbClr val="C00000"/>
                </a:solidFill>
                <a:latin typeface="Cambria Math"/>
                <a:cs typeface="Cambria Math"/>
              </a:rPr>
              <a:t>2/%</a:t>
            </a:r>
            <a:r>
              <a:rPr dirty="0" sz="3200" spc="110">
                <a:solidFill>
                  <a:srgbClr val="C00000"/>
                </a:solidFill>
                <a:latin typeface="Cambria Math"/>
                <a:cs typeface="Cambria Math"/>
              </a:rPr>
              <a:t>(𝐪</a:t>
            </a:r>
            <a:r>
              <a:rPr dirty="0" baseline="-15700" sz="3450" spc="165">
                <a:solidFill>
                  <a:srgbClr val="C00000"/>
                </a:solidFill>
                <a:latin typeface="Cambria Math"/>
                <a:cs typeface="Cambria Math"/>
              </a:rPr>
              <a:t>$</a:t>
            </a:r>
            <a:r>
              <a:rPr dirty="0" sz="3200" spc="11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 sz="3200" spc="-18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200" spc="-5">
                <a:solidFill>
                  <a:srgbClr val="C00000"/>
                </a:solidFill>
                <a:latin typeface="Cambria Math"/>
                <a:cs typeface="Cambria Math"/>
              </a:rPr>
              <a:t>𝐯))</a:t>
            </a:r>
            <a:endParaRPr sz="3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The </a:t>
            </a:r>
            <a:r>
              <a:rPr dirty="0" sz="3200" spc="-10" b="1">
                <a:latin typeface="Calibri"/>
                <a:cs typeface="Calibri"/>
              </a:rPr>
              <a:t>process </a:t>
            </a:r>
            <a:r>
              <a:rPr dirty="0" sz="3200" b="1">
                <a:latin typeface="Calibri"/>
                <a:cs typeface="Calibri"/>
              </a:rPr>
              <a:t>of </a:t>
            </a:r>
            <a:r>
              <a:rPr dirty="0" sz="3200" spc="-5" b="1">
                <a:latin typeface="Calibri"/>
                <a:cs typeface="Calibri"/>
              </a:rPr>
              <a:t>embedding </a:t>
            </a:r>
            <a:r>
              <a:rPr dirty="0" sz="3200" spc="-25" b="1">
                <a:latin typeface="Calibri"/>
                <a:cs typeface="Calibri"/>
              </a:rPr>
              <a:t>any </a:t>
            </a:r>
            <a:r>
              <a:rPr dirty="0" sz="3200" spc="-5" b="1">
                <a:latin typeface="Calibri"/>
                <a:cs typeface="Calibri"/>
              </a:rPr>
              <a:t>AND-OR query</a:t>
            </a:r>
            <a:r>
              <a:rPr dirty="0" sz="3200" spc="5" b="1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𝒒</a:t>
            </a:r>
            <a:endParaRPr sz="3200">
              <a:latin typeface="Cambria Math"/>
              <a:cs typeface="Cambria Math"/>
            </a:endParaRPr>
          </a:p>
          <a:p>
            <a:pPr lvl="1" marL="865505" indent="-514350">
              <a:lnSpc>
                <a:spcPct val="100000"/>
              </a:lnSpc>
              <a:spcBef>
                <a:spcPts val="635"/>
              </a:spcBef>
              <a:buClr>
                <a:srgbClr val="60B5CC"/>
              </a:buClr>
              <a:buAutoNum type="arabicPeriod"/>
              <a:tabLst>
                <a:tab pos="864869" algn="l"/>
                <a:tab pos="865505" algn="l"/>
              </a:tabLst>
            </a:pPr>
            <a:r>
              <a:rPr dirty="0" sz="2800" spc="-40">
                <a:latin typeface="Calibri"/>
                <a:cs typeface="Calibri"/>
              </a:rPr>
              <a:t>Transform </a:t>
            </a:r>
            <a:r>
              <a:rPr dirty="0" sz="2800">
                <a:latin typeface="Cambria Math"/>
                <a:cs typeface="Cambria Math"/>
              </a:rPr>
              <a:t>𝑞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15" b="1">
                <a:solidFill>
                  <a:srgbClr val="CF5B1B"/>
                </a:solidFill>
                <a:latin typeface="Calibri"/>
                <a:cs typeface="Calibri"/>
              </a:rPr>
              <a:t>equivalent </a:t>
            </a:r>
            <a:r>
              <a:rPr dirty="0" sz="2800" spc="-5" b="1">
                <a:solidFill>
                  <a:srgbClr val="CF5B1B"/>
                </a:solidFill>
                <a:latin typeface="Calibri"/>
                <a:cs typeface="Calibri"/>
              </a:rPr>
              <a:t>DNF </a:t>
            </a: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6666" sz="3000" spc="187">
                <a:latin typeface="Cambria Math"/>
                <a:cs typeface="Cambria Math"/>
              </a:rPr>
              <a:t>" </a:t>
            </a:r>
            <a:r>
              <a:rPr dirty="0" sz="2800">
                <a:latin typeface="Cambria Math"/>
                <a:cs typeface="Cambria Math"/>
              </a:rPr>
              <a:t>∨ ⋯ ∨</a:t>
            </a:r>
            <a:r>
              <a:rPr dirty="0" sz="2800" spc="15">
                <a:latin typeface="Cambria Math"/>
                <a:cs typeface="Cambria Math"/>
              </a:rPr>
              <a:t> </a:t>
            </a:r>
            <a:r>
              <a:rPr dirty="0" sz="2800" spc="155">
                <a:latin typeface="Cambria Math"/>
                <a:cs typeface="Cambria Math"/>
              </a:rPr>
              <a:t>𝑞</a:t>
            </a:r>
            <a:r>
              <a:rPr dirty="0" baseline="-16666" sz="3000" spc="232">
                <a:latin typeface="Cambria Math"/>
                <a:cs typeface="Cambria Math"/>
              </a:rPr>
              <a:t>+</a:t>
            </a:r>
            <a:endParaRPr baseline="-16666" sz="3000">
              <a:latin typeface="Cambria Math"/>
              <a:cs typeface="Cambria Math"/>
            </a:endParaRPr>
          </a:p>
          <a:p>
            <a:pPr lvl="1" marL="865505" indent="-51435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AutoNum type="arabicPeriod"/>
              <a:tabLst>
                <a:tab pos="864869" algn="l"/>
                <a:tab pos="865505" algn="l"/>
              </a:tabLst>
            </a:pP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Embed </a:t>
            </a:r>
            <a:r>
              <a:rPr dirty="0" sz="2800" spc="125">
                <a:latin typeface="Cambria Math"/>
                <a:cs typeface="Cambria Math"/>
              </a:rPr>
              <a:t>𝑞</a:t>
            </a:r>
            <a:r>
              <a:rPr dirty="0" baseline="-16666" sz="3000" spc="187">
                <a:latin typeface="Cambria Math"/>
                <a:cs typeface="Cambria Math"/>
              </a:rPr>
              <a:t>"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155">
                <a:latin typeface="Cambria Math"/>
                <a:cs typeface="Cambria Math"/>
              </a:rPr>
              <a:t>𝑞</a:t>
            </a:r>
            <a:r>
              <a:rPr dirty="0" baseline="-16666" sz="3000" spc="232">
                <a:latin typeface="Cambria Math"/>
                <a:cs typeface="Cambria Math"/>
              </a:rPr>
              <a:t>+</a:t>
            </a:r>
            <a:endParaRPr baseline="-16666" sz="3000">
              <a:latin typeface="Cambria Math"/>
              <a:cs typeface="Cambria Math"/>
            </a:endParaRPr>
          </a:p>
          <a:p>
            <a:pPr lvl="1" marL="865505" indent="-51435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AutoNum type="arabicPeriod"/>
              <a:tabLst>
                <a:tab pos="864869" algn="l"/>
                <a:tab pos="865505" algn="l"/>
              </a:tabLst>
            </a:pPr>
            <a:r>
              <a:rPr dirty="0" sz="2800" spc="-15">
                <a:latin typeface="Calibri"/>
                <a:cs typeface="Calibri"/>
              </a:rPr>
              <a:t>Calculate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(box) </a:t>
            </a:r>
            <a:r>
              <a:rPr dirty="0" sz="2800" spc="-10">
                <a:latin typeface="Calibri"/>
                <a:cs typeface="Calibri"/>
              </a:rPr>
              <a:t>distance </a:t>
            </a:r>
            <a:r>
              <a:rPr dirty="0" sz="2800" spc="105">
                <a:latin typeface="Cambria Math"/>
                <a:cs typeface="Cambria Math"/>
              </a:rPr>
              <a:t>𝑑</a:t>
            </a:r>
            <a:r>
              <a:rPr dirty="0" baseline="-16666" sz="3000" spc="157">
                <a:latin typeface="Cambria Math"/>
                <a:cs typeface="Cambria Math"/>
              </a:rPr>
              <a:t>,%-</a:t>
            </a:r>
            <a:r>
              <a:rPr dirty="0" sz="2800" spc="105">
                <a:latin typeface="Cambria Math"/>
                <a:cs typeface="Cambria Math"/>
              </a:rPr>
              <a:t>(𝐪</a:t>
            </a:r>
            <a:r>
              <a:rPr dirty="0" baseline="-16666" sz="3000" spc="157">
                <a:latin typeface="Cambria Math"/>
                <a:cs typeface="Cambria Math"/>
              </a:rPr>
              <a:t>(</a:t>
            </a:r>
            <a:r>
              <a:rPr dirty="0" sz="2800" spc="105">
                <a:latin typeface="Cambria Math"/>
                <a:cs typeface="Cambria Math"/>
              </a:rPr>
              <a:t>,</a:t>
            </a:r>
            <a:r>
              <a:rPr dirty="0" sz="2800" spc="-140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𝐯)</a:t>
            </a:r>
            <a:endParaRPr sz="2800">
              <a:latin typeface="Cambria Math"/>
              <a:cs typeface="Cambria Math"/>
            </a:endParaRPr>
          </a:p>
          <a:p>
            <a:pPr lvl="1" marL="865505" indent="-51435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AutoNum type="arabicPeriod"/>
              <a:tabLst>
                <a:tab pos="864869" algn="l"/>
                <a:tab pos="865505" algn="l"/>
              </a:tabLst>
            </a:pPr>
            <a:r>
              <a:rPr dirty="0" sz="2800" spc="-85">
                <a:latin typeface="Calibri"/>
                <a:cs typeface="Calibri"/>
              </a:rPr>
              <a:t>Take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5" b="1">
                <a:solidFill>
                  <a:srgbClr val="479249"/>
                </a:solidFill>
                <a:latin typeface="Calibri"/>
                <a:cs typeface="Calibri"/>
              </a:rPr>
              <a:t>minimum </a:t>
            </a:r>
            <a:r>
              <a:rPr dirty="0" sz="2800" spc="-5">
                <a:latin typeface="Calibri"/>
                <a:cs typeface="Calibri"/>
              </a:rPr>
              <a:t>of all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distance</a:t>
            </a:r>
            <a:endParaRPr sz="2800">
              <a:latin typeface="Calibri"/>
              <a:cs typeface="Calibri"/>
            </a:endParaRPr>
          </a:p>
          <a:p>
            <a:pPr marL="350520">
              <a:lnSpc>
                <a:spcPct val="100000"/>
              </a:lnSpc>
              <a:spcBef>
                <a:spcPts val="715"/>
              </a:spcBef>
              <a:tabLst>
                <a:tab pos="864869" algn="l"/>
                <a:tab pos="3991610" algn="l"/>
              </a:tabLst>
            </a:pPr>
            <a:r>
              <a:rPr dirty="0" sz="2800" b="1">
                <a:solidFill>
                  <a:srgbClr val="60B5CC"/>
                </a:solidFill>
                <a:latin typeface="Calibri"/>
                <a:cs typeface="Calibri"/>
              </a:rPr>
              <a:t>5.	</a:t>
            </a:r>
            <a:r>
              <a:rPr dirty="0" sz="2800" spc="-5" b="1">
                <a:latin typeface="Calibri"/>
                <a:cs typeface="Calibri"/>
              </a:rPr>
              <a:t>The final </a:t>
            </a:r>
            <a:r>
              <a:rPr dirty="0" sz="2800" spc="-15" b="1">
                <a:latin typeface="Calibri"/>
                <a:cs typeface="Calibri"/>
              </a:rPr>
              <a:t>score</a:t>
            </a:r>
            <a:r>
              <a:rPr dirty="0" sz="2800" spc="40" b="1">
                <a:latin typeface="Calibri"/>
                <a:cs typeface="Calibri"/>
              </a:rPr>
              <a:t> </a:t>
            </a:r>
            <a:r>
              <a:rPr dirty="0" sz="2800" spc="110">
                <a:latin typeface="Cambria Math"/>
                <a:cs typeface="Cambria Math"/>
              </a:rPr>
              <a:t>𝑓</a:t>
            </a:r>
            <a:r>
              <a:rPr dirty="0" baseline="-16666" sz="3000" spc="165">
                <a:latin typeface="Cambria Math"/>
                <a:cs typeface="Cambria Math"/>
              </a:rPr>
              <a:t>.</a:t>
            </a:r>
            <a:r>
              <a:rPr dirty="0" baseline="-16666" sz="3000" spc="81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	= </a:t>
            </a:r>
            <a:r>
              <a:rPr dirty="0" sz="2800" spc="100">
                <a:latin typeface="Cambria Math"/>
                <a:cs typeface="Cambria Math"/>
              </a:rPr>
              <a:t>−𝑑</a:t>
            </a:r>
            <a:r>
              <a:rPr dirty="0" baseline="-16666" sz="3000" spc="150">
                <a:latin typeface="Cambria Math"/>
                <a:cs typeface="Cambria Math"/>
              </a:rPr>
              <a:t>,%-</a:t>
            </a:r>
            <a:r>
              <a:rPr dirty="0" sz="2800" spc="100">
                <a:latin typeface="Cambria Math"/>
                <a:cs typeface="Cambria Math"/>
              </a:rPr>
              <a:t>(𝐪,</a:t>
            </a:r>
            <a:r>
              <a:rPr dirty="0" sz="2800" spc="-50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𝐯)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64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44531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82067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 i="0">
                <a:latin typeface="Calibri"/>
                <a:cs typeface="Calibri"/>
              </a:rPr>
              <a:t>Overview and Intuition </a:t>
            </a:r>
            <a:r>
              <a:rPr dirty="0" sz="3000" spc="-5" i="0">
                <a:latin typeface="Calibri"/>
                <a:cs typeface="Calibri"/>
              </a:rPr>
              <a:t>(similar </a:t>
            </a:r>
            <a:r>
              <a:rPr dirty="0" sz="3000" spc="-20" i="0">
                <a:latin typeface="Calibri"/>
                <a:cs typeface="Calibri"/>
              </a:rPr>
              <a:t>to </a:t>
            </a:r>
            <a:r>
              <a:rPr dirty="0" sz="3000" spc="-60" i="0">
                <a:latin typeface="Calibri"/>
                <a:cs typeface="Calibri"/>
              </a:rPr>
              <a:t>KG</a:t>
            </a:r>
            <a:r>
              <a:rPr dirty="0" sz="3000" spc="25" i="0">
                <a:latin typeface="Calibri"/>
                <a:cs typeface="Calibri"/>
              </a:rPr>
              <a:t> </a:t>
            </a:r>
            <a:r>
              <a:rPr dirty="0" sz="3000" spc="-10" i="0">
                <a:latin typeface="Calibri"/>
                <a:cs typeface="Calibri"/>
              </a:rPr>
              <a:t>completion):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77391" y="1990538"/>
            <a:ext cx="405130" cy="306070"/>
          </a:xfrm>
          <a:custGeom>
            <a:avLst/>
            <a:gdLst/>
            <a:ahLst/>
            <a:cxnLst/>
            <a:rect l="l" t="t" r="r" b="b"/>
            <a:pathLst>
              <a:path w="405129" h="306069">
                <a:moveTo>
                  <a:pt x="307530" y="0"/>
                </a:moveTo>
                <a:lnTo>
                  <a:pt x="303176" y="12414"/>
                </a:lnTo>
                <a:lnTo>
                  <a:pt x="320882" y="20097"/>
                </a:lnTo>
                <a:lnTo>
                  <a:pt x="336108" y="30734"/>
                </a:lnTo>
                <a:lnTo>
                  <a:pt x="367025" y="80035"/>
                </a:lnTo>
                <a:lnTo>
                  <a:pt x="376053" y="125301"/>
                </a:lnTo>
                <a:lnTo>
                  <a:pt x="377182" y="151395"/>
                </a:lnTo>
                <a:lnTo>
                  <a:pt x="376048" y="178370"/>
                </a:lnTo>
                <a:lnTo>
                  <a:pt x="366979" y="224885"/>
                </a:lnTo>
                <a:lnTo>
                  <a:pt x="348780" y="261213"/>
                </a:lnTo>
                <a:lnTo>
                  <a:pt x="303660" y="293438"/>
                </a:lnTo>
                <a:lnTo>
                  <a:pt x="307530" y="305854"/>
                </a:lnTo>
                <a:lnTo>
                  <a:pt x="349249" y="286284"/>
                </a:lnTo>
                <a:lnTo>
                  <a:pt x="379923" y="252406"/>
                </a:lnTo>
                <a:lnTo>
                  <a:pt x="398787" y="207039"/>
                </a:lnTo>
                <a:lnTo>
                  <a:pt x="405075" y="153007"/>
                </a:lnTo>
                <a:lnTo>
                  <a:pt x="403498" y="124968"/>
                </a:lnTo>
                <a:lnTo>
                  <a:pt x="390882" y="75269"/>
                </a:lnTo>
                <a:lnTo>
                  <a:pt x="365861" y="34810"/>
                </a:lnTo>
                <a:lnTo>
                  <a:pt x="329704" y="8006"/>
                </a:lnTo>
                <a:lnTo>
                  <a:pt x="307530" y="0"/>
                </a:lnTo>
                <a:close/>
              </a:path>
              <a:path w="405129" h="306069">
                <a:moveTo>
                  <a:pt x="97544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1" y="181106"/>
                </a:lnTo>
                <a:lnTo>
                  <a:pt x="14147" y="230806"/>
                </a:lnTo>
                <a:lnTo>
                  <a:pt x="39108" y="271133"/>
                </a:lnTo>
                <a:lnTo>
                  <a:pt x="75305" y="297857"/>
                </a:lnTo>
                <a:lnTo>
                  <a:pt x="97544" y="305854"/>
                </a:lnTo>
                <a:lnTo>
                  <a:pt x="101413" y="293438"/>
                </a:lnTo>
                <a:lnTo>
                  <a:pt x="83985" y="285719"/>
                </a:lnTo>
                <a:lnTo>
                  <a:pt x="68946" y="274978"/>
                </a:lnTo>
                <a:lnTo>
                  <a:pt x="46031" y="244425"/>
                </a:lnTo>
                <a:lnTo>
                  <a:pt x="32427" y="202867"/>
                </a:lnTo>
                <a:lnTo>
                  <a:pt x="27893" y="151395"/>
                </a:lnTo>
                <a:lnTo>
                  <a:pt x="29026" y="125301"/>
                </a:lnTo>
                <a:lnTo>
                  <a:pt x="38095" y="80035"/>
                </a:lnTo>
                <a:lnTo>
                  <a:pt x="56325" y="44322"/>
                </a:lnTo>
                <a:lnTo>
                  <a:pt x="101897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6563" y="1894332"/>
            <a:ext cx="802513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7628890" algn="l"/>
              </a:tabLst>
            </a:pPr>
            <a:r>
              <a:rPr dirty="0" sz="2600" spc="-5">
                <a:latin typeface="Calibri"/>
                <a:cs typeface="Calibri"/>
              </a:rPr>
              <a:t>G</a:t>
            </a:r>
            <a:r>
              <a:rPr dirty="0" sz="2600">
                <a:latin typeface="Calibri"/>
                <a:cs typeface="Calibri"/>
              </a:rPr>
              <a:t>i</a:t>
            </a:r>
            <a:r>
              <a:rPr dirty="0" sz="2600" spc="-25">
                <a:latin typeface="Calibri"/>
                <a:cs typeface="Calibri"/>
              </a:rPr>
              <a:t>v</a:t>
            </a:r>
            <a:r>
              <a:rPr dirty="0" sz="2600" spc="-10">
                <a:latin typeface="Calibri"/>
                <a:cs typeface="Calibri"/>
              </a:rPr>
              <a:t>e</a:t>
            </a:r>
            <a:r>
              <a:rPr dirty="0" sz="2600">
                <a:latin typeface="Calibri"/>
                <a:cs typeface="Calibri"/>
              </a:rPr>
              <a:t>n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5">
                <a:latin typeface="Calibri"/>
                <a:cs typeface="Calibri"/>
              </a:rPr>
              <a:t>qu</a:t>
            </a:r>
            <a:r>
              <a:rPr dirty="0" sz="2600" spc="-10">
                <a:latin typeface="Calibri"/>
                <a:cs typeface="Calibri"/>
              </a:rPr>
              <a:t>e</a:t>
            </a:r>
            <a:r>
              <a:rPr dirty="0" sz="2600" spc="10">
                <a:latin typeface="Calibri"/>
                <a:cs typeface="Calibri"/>
              </a:rPr>
              <a:t>r</a:t>
            </a:r>
            <a:r>
              <a:rPr dirty="0" sz="2600">
                <a:latin typeface="Calibri"/>
                <a:cs typeface="Calibri"/>
              </a:rPr>
              <a:t>y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</a:t>
            </a:r>
            <a:r>
              <a:rPr dirty="0" sz="2600" spc="-5">
                <a:latin typeface="Calibri"/>
                <a:cs typeface="Calibri"/>
              </a:rPr>
              <a:t>mb</a:t>
            </a:r>
            <a:r>
              <a:rPr dirty="0" sz="2600" spc="-10">
                <a:latin typeface="Calibri"/>
                <a:cs typeface="Calibri"/>
              </a:rPr>
              <a:t>e</a:t>
            </a:r>
            <a:r>
              <a:rPr dirty="0" sz="2600" spc="-5">
                <a:latin typeface="Calibri"/>
                <a:cs typeface="Calibri"/>
              </a:rPr>
              <a:t>dd</a:t>
            </a:r>
            <a:r>
              <a:rPr dirty="0" sz="2600">
                <a:latin typeface="Calibri"/>
                <a:cs typeface="Calibri"/>
              </a:rPr>
              <a:t>i</a:t>
            </a:r>
            <a:r>
              <a:rPr dirty="0" sz="2600" spc="-5">
                <a:latin typeface="Calibri"/>
                <a:cs typeface="Calibri"/>
              </a:rPr>
              <a:t>n</a:t>
            </a:r>
            <a:r>
              <a:rPr dirty="0" sz="2600">
                <a:latin typeface="Calibri"/>
                <a:cs typeface="Calibri"/>
              </a:rPr>
              <a:t>g </a:t>
            </a:r>
            <a:r>
              <a:rPr dirty="0" sz="2600" spc="-5">
                <a:latin typeface="Cambria Math"/>
                <a:cs typeface="Cambria Math"/>
              </a:rPr>
              <a:t>𝐪</a:t>
            </a:r>
            <a:r>
              <a:rPr dirty="0" sz="2600">
                <a:latin typeface="Calibri"/>
                <a:cs typeface="Calibri"/>
              </a:rPr>
              <a:t>, </a:t>
            </a:r>
            <a:r>
              <a:rPr dirty="0" sz="2600" spc="-5">
                <a:latin typeface="Calibri"/>
                <a:cs typeface="Calibri"/>
              </a:rPr>
              <a:t>m</a:t>
            </a:r>
            <a:r>
              <a:rPr dirty="0" sz="2600" spc="-20">
                <a:latin typeface="Calibri"/>
                <a:cs typeface="Calibri"/>
              </a:rPr>
              <a:t>a</a:t>
            </a:r>
            <a:r>
              <a:rPr dirty="0" sz="2600" spc="-5">
                <a:latin typeface="Calibri"/>
                <a:cs typeface="Calibri"/>
              </a:rPr>
              <a:t>x</a:t>
            </a:r>
            <a:r>
              <a:rPr dirty="0" sz="2600">
                <a:latin typeface="Calibri"/>
                <a:cs typeface="Calibri"/>
              </a:rPr>
              <a:t>i</a:t>
            </a:r>
            <a:r>
              <a:rPr dirty="0" sz="2600" spc="-5">
                <a:latin typeface="Calibri"/>
                <a:cs typeface="Calibri"/>
              </a:rPr>
              <a:t>m</a:t>
            </a:r>
            <a:r>
              <a:rPr dirty="0" sz="2600">
                <a:latin typeface="Calibri"/>
                <a:cs typeface="Calibri"/>
              </a:rPr>
              <a:t>i</a:t>
            </a:r>
            <a:r>
              <a:rPr dirty="0" sz="2600" spc="-65">
                <a:latin typeface="Calibri"/>
                <a:cs typeface="Calibri"/>
              </a:rPr>
              <a:t>z</a:t>
            </a:r>
            <a:r>
              <a:rPr dirty="0" sz="2600">
                <a:latin typeface="Calibri"/>
                <a:cs typeface="Calibri"/>
              </a:rPr>
              <a:t>e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</a:t>
            </a:r>
            <a:r>
              <a:rPr dirty="0" sz="2600" spc="-5">
                <a:latin typeface="Calibri"/>
                <a:cs typeface="Calibri"/>
              </a:rPr>
              <a:t>h</a:t>
            </a:r>
            <a:r>
              <a:rPr dirty="0" sz="2600">
                <a:latin typeface="Calibri"/>
                <a:cs typeface="Calibri"/>
              </a:rPr>
              <a:t>e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s</a:t>
            </a:r>
            <a:r>
              <a:rPr dirty="0" sz="2600" spc="-25">
                <a:latin typeface="Calibri"/>
                <a:cs typeface="Calibri"/>
              </a:rPr>
              <a:t>c</a:t>
            </a:r>
            <a:r>
              <a:rPr dirty="0" sz="2600">
                <a:latin typeface="Calibri"/>
                <a:cs typeface="Calibri"/>
              </a:rPr>
              <a:t>o</a:t>
            </a:r>
            <a:r>
              <a:rPr dirty="0" sz="2600" spc="-30">
                <a:latin typeface="Calibri"/>
                <a:cs typeface="Calibri"/>
              </a:rPr>
              <a:t>r</a:t>
            </a:r>
            <a:r>
              <a:rPr dirty="0" sz="2600">
                <a:latin typeface="Calibri"/>
                <a:cs typeface="Calibri"/>
              </a:rPr>
              <a:t>e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 spc="-515">
                <a:latin typeface="Cambria Math"/>
                <a:cs typeface="Cambria Math"/>
              </a:rPr>
              <a:t>𝑓</a:t>
            </a:r>
            <a:r>
              <a:rPr dirty="0" baseline="-16081" sz="2850" spc="577">
                <a:latin typeface="Cambria Math"/>
                <a:cs typeface="Cambria Math"/>
              </a:rPr>
              <a:t>"</a:t>
            </a:r>
            <a:r>
              <a:rPr dirty="0" baseline="-16081" sz="2850">
                <a:latin typeface="Cambria Math"/>
                <a:cs typeface="Cambria Math"/>
              </a:rPr>
              <a:t> </a:t>
            </a:r>
            <a:r>
              <a:rPr dirty="0" baseline="-16081" sz="2850" spc="97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𝑣	</a:t>
            </a:r>
            <a:r>
              <a:rPr dirty="0" sz="2600" spc="-65">
                <a:latin typeface="Calibri"/>
                <a:cs typeface="Calibri"/>
              </a:rPr>
              <a:t>f</a:t>
            </a:r>
            <a:r>
              <a:rPr dirty="0" sz="2600">
                <a:latin typeface="Calibri"/>
                <a:cs typeface="Calibri"/>
              </a:rPr>
              <a:t>or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0883" y="2327148"/>
            <a:ext cx="168148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5">
                <a:latin typeface="Calibri"/>
                <a:cs typeface="Calibri"/>
              </a:rPr>
              <a:t>answers </a:t>
            </a:r>
            <a:r>
              <a:rPr dirty="0" sz="2600">
                <a:latin typeface="Cambria Math"/>
                <a:cs typeface="Cambria Math"/>
              </a:rPr>
              <a:t>𝑣</a:t>
            </a:r>
            <a:r>
              <a:rPr dirty="0" sz="2600" spc="130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∈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31729" y="2717164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574" y="0"/>
                </a:lnTo>
              </a:path>
            </a:pathLst>
          </a:custGeom>
          <a:ln w="165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24355" y="2442210"/>
            <a:ext cx="0" cy="266700"/>
          </a:xfrm>
          <a:custGeom>
            <a:avLst/>
            <a:gdLst/>
            <a:ahLst/>
            <a:cxnLst/>
            <a:rect l="l" t="t" r="r" b="b"/>
            <a:pathLst>
              <a:path w="0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ln w="178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31729" y="2433954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574" y="0"/>
                </a:lnTo>
              </a:path>
            </a:pathLst>
          </a:custGeom>
          <a:ln w="1650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79372" y="2441675"/>
            <a:ext cx="0" cy="267335"/>
          </a:xfrm>
          <a:custGeom>
            <a:avLst/>
            <a:gdLst/>
            <a:ahLst/>
            <a:cxnLst/>
            <a:rect l="l" t="t" r="r" b="b"/>
            <a:pathLst>
              <a:path w="0" h="267335">
                <a:moveTo>
                  <a:pt x="0" y="0"/>
                </a:moveTo>
                <a:lnTo>
                  <a:pt x="0" y="267159"/>
                </a:lnTo>
              </a:path>
            </a:pathLst>
          </a:custGeom>
          <a:ln w="178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28499" y="2717164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575" y="0"/>
                </a:lnTo>
              </a:path>
            </a:pathLst>
          </a:custGeom>
          <a:ln w="165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37447" y="2442210"/>
            <a:ext cx="0" cy="266700"/>
          </a:xfrm>
          <a:custGeom>
            <a:avLst/>
            <a:gdLst/>
            <a:ahLst/>
            <a:cxnLst/>
            <a:rect l="l" t="t" r="r" b="b"/>
            <a:pathLst>
              <a:path w="0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ln w="178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28499" y="2433954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575" y="0"/>
                </a:lnTo>
              </a:path>
            </a:pathLst>
          </a:custGeom>
          <a:ln w="1650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85655" y="2441675"/>
            <a:ext cx="0" cy="267335"/>
          </a:xfrm>
          <a:custGeom>
            <a:avLst/>
            <a:gdLst/>
            <a:ahLst/>
            <a:cxnLst/>
            <a:rect l="l" t="t" r="r" b="b"/>
            <a:pathLst>
              <a:path w="0" h="267335">
                <a:moveTo>
                  <a:pt x="0" y="0"/>
                </a:moveTo>
                <a:lnTo>
                  <a:pt x="0" y="267159"/>
                </a:lnTo>
              </a:path>
            </a:pathLst>
          </a:custGeom>
          <a:ln w="178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124326" y="2327148"/>
            <a:ext cx="489204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9734" algn="l"/>
              </a:tabLst>
            </a:pPr>
            <a:r>
              <a:rPr dirty="0" sz="2600">
                <a:latin typeface="Cambria Math"/>
                <a:cs typeface="Cambria Math"/>
              </a:rPr>
              <a:t>𝑞	</a:t>
            </a:r>
            <a:r>
              <a:rPr dirty="0" sz="2600" spc="-5">
                <a:latin typeface="Calibri"/>
                <a:cs typeface="Calibri"/>
              </a:rPr>
              <a:t>and </a:t>
            </a:r>
            <a:r>
              <a:rPr dirty="0" sz="2600" spc="-10">
                <a:latin typeface="Calibri"/>
                <a:cs typeface="Calibri"/>
              </a:rPr>
              <a:t>minimize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5">
                <a:latin typeface="Calibri"/>
                <a:cs typeface="Calibri"/>
              </a:rPr>
              <a:t>score </a:t>
            </a:r>
            <a:r>
              <a:rPr dirty="0" sz="2600" spc="-5">
                <a:latin typeface="Cambria Math"/>
                <a:cs typeface="Cambria Math"/>
              </a:rPr>
              <a:t>𝑓</a:t>
            </a:r>
            <a:r>
              <a:rPr dirty="0" baseline="-16081" sz="2850" spc="-7">
                <a:latin typeface="Cambria Math"/>
                <a:cs typeface="Cambria Math"/>
              </a:rPr>
              <a:t>"</a:t>
            </a:r>
            <a:r>
              <a:rPr dirty="0" sz="2600" spc="-5">
                <a:latin typeface="Cambria Math"/>
                <a:cs typeface="Cambria Math"/>
              </a:rPr>
              <a:t>(𝑣′)</a:t>
            </a:r>
            <a:r>
              <a:rPr dirty="0" sz="2600" spc="-30">
                <a:latin typeface="Cambria Math"/>
                <a:cs typeface="Cambria Math"/>
              </a:rPr>
              <a:t> </a:t>
            </a:r>
            <a:r>
              <a:rPr dirty="0" sz="2600" spc="-25">
                <a:latin typeface="Calibri"/>
                <a:cs typeface="Calibri"/>
              </a:rPr>
              <a:t>for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658752" y="3136264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574" y="0"/>
                </a:lnTo>
              </a:path>
            </a:pathLst>
          </a:custGeom>
          <a:ln w="1650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51378" y="2861310"/>
            <a:ext cx="0" cy="266700"/>
          </a:xfrm>
          <a:custGeom>
            <a:avLst/>
            <a:gdLst/>
            <a:ahLst/>
            <a:cxnLst/>
            <a:rect l="l" t="t" r="r" b="b"/>
            <a:pathLst>
              <a:path w="0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ln w="178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658752" y="2853054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574" y="0"/>
                </a:lnTo>
              </a:path>
            </a:pathLst>
          </a:custGeom>
          <a:ln w="1650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706395" y="2860775"/>
            <a:ext cx="0" cy="267335"/>
          </a:xfrm>
          <a:custGeom>
            <a:avLst/>
            <a:gdLst/>
            <a:ahLst/>
            <a:cxnLst/>
            <a:rect l="l" t="t" r="r" b="b"/>
            <a:pathLst>
              <a:path w="0" h="267335">
                <a:moveTo>
                  <a:pt x="0" y="0"/>
                </a:moveTo>
                <a:lnTo>
                  <a:pt x="0" y="267158"/>
                </a:lnTo>
              </a:path>
            </a:pathLst>
          </a:custGeom>
          <a:ln w="178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355522" y="3136264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574" y="0"/>
                </a:lnTo>
              </a:path>
            </a:pathLst>
          </a:custGeom>
          <a:ln w="1650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364470" y="2861310"/>
            <a:ext cx="0" cy="266700"/>
          </a:xfrm>
          <a:custGeom>
            <a:avLst/>
            <a:gdLst/>
            <a:ahLst/>
            <a:cxnLst/>
            <a:rect l="l" t="t" r="r" b="b"/>
            <a:pathLst>
              <a:path w="0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ln w="178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355522" y="2853054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574" y="0"/>
                </a:lnTo>
              </a:path>
            </a:pathLst>
          </a:custGeom>
          <a:ln w="1650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412678" y="2860775"/>
            <a:ext cx="0" cy="267335"/>
          </a:xfrm>
          <a:custGeom>
            <a:avLst/>
            <a:gdLst/>
            <a:ahLst/>
            <a:cxnLst/>
            <a:rect l="l" t="t" r="r" b="b"/>
            <a:pathLst>
              <a:path w="0" h="267335">
                <a:moveTo>
                  <a:pt x="0" y="0"/>
                </a:moveTo>
                <a:lnTo>
                  <a:pt x="0" y="267158"/>
                </a:lnTo>
              </a:path>
            </a:pathLst>
          </a:custGeom>
          <a:ln w="178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063086" y="4076230"/>
            <a:ext cx="0" cy="300355"/>
          </a:xfrm>
          <a:custGeom>
            <a:avLst/>
            <a:gdLst/>
            <a:ahLst/>
            <a:cxnLst/>
            <a:rect l="l" t="t" r="r" b="b"/>
            <a:pathLst>
              <a:path w="0" h="300354">
                <a:moveTo>
                  <a:pt x="0" y="0"/>
                </a:moveTo>
                <a:lnTo>
                  <a:pt x="0" y="300050"/>
                </a:lnTo>
              </a:path>
            </a:pathLst>
          </a:custGeom>
          <a:ln w="248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741776" y="4076230"/>
            <a:ext cx="0" cy="300355"/>
          </a:xfrm>
          <a:custGeom>
            <a:avLst/>
            <a:gdLst/>
            <a:ahLst/>
            <a:cxnLst/>
            <a:rect l="l" t="t" r="r" b="b"/>
            <a:pathLst>
              <a:path w="0" h="300354">
                <a:moveTo>
                  <a:pt x="0" y="0"/>
                </a:moveTo>
                <a:lnTo>
                  <a:pt x="0" y="300050"/>
                </a:lnTo>
              </a:path>
            </a:pathLst>
          </a:custGeom>
          <a:ln w="248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574007" y="4546130"/>
            <a:ext cx="0" cy="300355"/>
          </a:xfrm>
          <a:custGeom>
            <a:avLst/>
            <a:gdLst/>
            <a:ahLst/>
            <a:cxnLst/>
            <a:rect l="l" t="t" r="r" b="b"/>
            <a:pathLst>
              <a:path w="0" h="300354">
                <a:moveTo>
                  <a:pt x="0" y="0"/>
                </a:moveTo>
                <a:lnTo>
                  <a:pt x="0" y="300050"/>
                </a:lnTo>
              </a:path>
            </a:pathLst>
          </a:custGeom>
          <a:ln w="248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248760" y="4546130"/>
            <a:ext cx="0" cy="300355"/>
          </a:xfrm>
          <a:custGeom>
            <a:avLst/>
            <a:gdLst/>
            <a:ahLst/>
            <a:cxnLst/>
            <a:rect l="l" t="t" r="r" b="b"/>
            <a:pathLst>
              <a:path w="0" h="300354">
                <a:moveTo>
                  <a:pt x="0" y="0"/>
                </a:moveTo>
                <a:lnTo>
                  <a:pt x="0" y="300050"/>
                </a:lnTo>
              </a:path>
            </a:pathLst>
          </a:custGeom>
          <a:ln w="248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18108" y="2744724"/>
            <a:ext cx="7982584" cy="39770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>
              <a:lnSpc>
                <a:spcPct val="100000"/>
              </a:lnSpc>
              <a:spcBef>
                <a:spcPts val="100"/>
              </a:spcBef>
              <a:tabLst>
                <a:tab pos="3845560" algn="l"/>
              </a:tabLst>
            </a:pPr>
            <a:r>
              <a:rPr dirty="0" sz="2600" spc="-15">
                <a:latin typeface="Calibri"/>
                <a:cs typeface="Calibri"/>
              </a:rPr>
              <a:t>negative answers</a:t>
            </a:r>
            <a:r>
              <a:rPr dirty="0" sz="2600" spc="0">
                <a:latin typeface="Calibri"/>
                <a:cs typeface="Calibri"/>
              </a:rPr>
              <a:t> </a:t>
            </a:r>
            <a:r>
              <a:rPr dirty="0" sz="2600" spc="-175">
                <a:latin typeface="Cambria Math"/>
                <a:cs typeface="Cambria Math"/>
              </a:rPr>
              <a:t>𝑣</a:t>
            </a:r>
            <a:r>
              <a:rPr dirty="0" baseline="27777" sz="2850" spc="-262">
                <a:latin typeface="Cambria Math"/>
                <a:cs typeface="Cambria Math"/>
              </a:rPr>
              <a:t># </a:t>
            </a:r>
            <a:r>
              <a:rPr dirty="0" baseline="27777" sz="2850" spc="-82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∉	𝑞</a:t>
            </a:r>
            <a:endParaRPr sz="26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228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35">
                <a:solidFill>
                  <a:srgbClr val="0000FF"/>
                </a:solidFill>
                <a:latin typeface="Calibri"/>
                <a:cs typeface="Calibri"/>
              </a:rPr>
              <a:t>Trainable</a:t>
            </a:r>
            <a:r>
              <a:rPr dirty="0" sz="3000" spc="-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000" spc="-20">
                <a:solidFill>
                  <a:srgbClr val="0000FF"/>
                </a:solidFill>
                <a:latin typeface="Calibri"/>
                <a:cs typeface="Calibri"/>
              </a:rPr>
              <a:t>parameters</a:t>
            </a:r>
            <a:r>
              <a:rPr dirty="0" sz="3000" spc="-20">
                <a:latin typeface="Calibri"/>
                <a:cs typeface="Calibri"/>
              </a:rPr>
              <a:t>: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4571365" algn="l"/>
              </a:tabLst>
            </a:pPr>
            <a:r>
              <a:rPr dirty="0" sz="2600" spc="-5">
                <a:latin typeface="Calibri"/>
                <a:cs typeface="Calibri"/>
              </a:rPr>
              <a:t>Entity embeddings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mbria Math"/>
                <a:cs typeface="Cambria Math"/>
              </a:rPr>
              <a:t>𝑑</a:t>
            </a:r>
            <a:r>
              <a:rPr dirty="0" sz="2600" spc="330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𝑉	</a:t>
            </a:r>
            <a:r>
              <a:rPr dirty="0" sz="2600">
                <a:latin typeface="Calibri"/>
                <a:cs typeface="Calibri"/>
              </a:rPr>
              <a:t>#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params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5082540" algn="l"/>
              </a:tabLst>
            </a:pPr>
            <a:r>
              <a:rPr dirty="0" sz="2600" spc="-10">
                <a:latin typeface="Calibri"/>
                <a:cs typeface="Calibri"/>
              </a:rPr>
              <a:t>Relation </a:t>
            </a:r>
            <a:r>
              <a:rPr dirty="0" sz="2600" spc="-5">
                <a:latin typeface="Calibri"/>
                <a:cs typeface="Calibri"/>
              </a:rPr>
              <a:t>embeddings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0">
                <a:latin typeface="Calibri"/>
                <a:cs typeface="Calibri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2𝑑</a:t>
            </a:r>
            <a:r>
              <a:rPr dirty="0" sz="2600" spc="335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𝑅	</a:t>
            </a:r>
            <a:r>
              <a:rPr dirty="0" sz="2600">
                <a:latin typeface="Calibri"/>
                <a:cs typeface="Calibri"/>
              </a:rPr>
              <a:t>#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params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ts val="3110"/>
              </a:lnSpc>
              <a:spcBef>
                <a:spcPts val="67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5">
                <a:latin typeface="Calibri"/>
                <a:cs typeface="Calibri"/>
              </a:rPr>
              <a:t>Intersection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operator</a:t>
            </a:r>
            <a:endParaRPr sz="2600">
              <a:latin typeface="Calibri"/>
              <a:cs typeface="Calibri"/>
            </a:endParaRPr>
          </a:p>
          <a:p>
            <a:pPr marL="332740" marR="5080" indent="-320040">
              <a:lnSpc>
                <a:spcPts val="3600"/>
              </a:lnSpc>
              <a:spcBef>
                <a:spcPts val="11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How </a:t>
            </a:r>
            <a:r>
              <a:rPr dirty="0" sz="3000" spc="-20" b="1">
                <a:solidFill>
                  <a:srgbClr val="008000"/>
                </a:solidFill>
                <a:latin typeface="Calibri"/>
                <a:cs typeface="Calibri"/>
              </a:rPr>
              <a:t>to </a:t>
            </a:r>
            <a:r>
              <a:rPr dirty="0" sz="3000" spc="-10" b="1">
                <a:solidFill>
                  <a:srgbClr val="008000"/>
                </a:solidFill>
                <a:latin typeface="Calibri"/>
                <a:cs typeface="Calibri"/>
              </a:rPr>
              <a:t>achieve </a:t>
            </a:r>
            <a:r>
              <a:rPr dirty="0" sz="3000" b="1">
                <a:solidFill>
                  <a:srgbClr val="008000"/>
                </a:solidFill>
                <a:latin typeface="Calibri"/>
                <a:cs typeface="Calibri"/>
              </a:rPr>
              <a:t>a </a:t>
            </a:r>
            <a:r>
              <a:rPr dirty="0" sz="3000" spc="-30" b="1">
                <a:solidFill>
                  <a:srgbClr val="008000"/>
                </a:solidFill>
                <a:latin typeface="Calibri"/>
                <a:cs typeface="Calibri"/>
              </a:rPr>
              <a:t>query, </a:t>
            </a: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its </a:t>
            </a:r>
            <a:r>
              <a:rPr dirty="0" sz="3000" spc="-15" b="1">
                <a:solidFill>
                  <a:srgbClr val="008000"/>
                </a:solidFill>
                <a:latin typeface="Calibri"/>
                <a:cs typeface="Calibri"/>
              </a:rPr>
              <a:t>answers, </a:t>
            </a: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its </a:t>
            </a:r>
            <a:r>
              <a:rPr dirty="0" sz="3000" spc="-15" b="1">
                <a:solidFill>
                  <a:srgbClr val="008000"/>
                </a:solidFill>
                <a:latin typeface="Calibri"/>
                <a:cs typeface="Calibri"/>
              </a:rPr>
              <a:t>negative  answers from </a:t>
            </a: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the </a:t>
            </a:r>
            <a:r>
              <a:rPr dirty="0" sz="3000" spc="-65" b="1">
                <a:solidFill>
                  <a:srgbClr val="008000"/>
                </a:solidFill>
                <a:latin typeface="Calibri"/>
                <a:cs typeface="Calibri"/>
              </a:rPr>
              <a:t>KG </a:t>
            </a:r>
            <a:r>
              <a:rPr dirty="0" sz="3000" spc="-20" b="1">
                <a:solidFill>
                  <a:srgbClr val="008000"/>
                </a:solidFill>
                <a:latin typeface="Calibri"/>
                <a:cs typeface="Calibri"/>
              </a:rPr>
              <a:t>to train </a:t>
            </a: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dirty="0" sz="3000" spc="8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000" spc="-20" b="1">
                <a:solidFill>
                  <a:srgbClr val="008000"/>
                </a:solidFill>
                <a:latin typeface="Calibri"/>
                <a:cs typeface="Calibri"/>
              </a:rPr>
              <a:t>parameters?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ts val="3479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How </a:t>
            </a:r>
            <a:r>
              <a:rPr dirty="0" sz="3000" spc="-20" b="1">
                <a:solidFill>
                  <a:srgbClr val="008000"/>
                </a:solidFill>
                <a:latin typeface="Calibri"/>
                <a:cs typeface="Calibri"/>
              </a:rPr>
              <a:t>to </a:t>
            </a:r>
            <a:r>
              <a:rPr dirty="0" sz="3000" b="1">
                <a:solidFill>
                  <a:srgbClr val="008000"/>
                </a:solidFill>
                <a:latin typeface="Calibri"/>
                <a:cs typeface="Calibri"/>
              </a:rPr>
              <a:t>split </a:t>
            </a: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the </a:t>
            </a:r>
            <a:r>
              <a:rPr dirty="0" sz="3000" spc="-60" b="1">
                <a:solidFill>
                  <a:srgbClr val="008000"/>
                </a:solidFill>
                <a:latin typeface="Calibri"/>
                <a:cs typeface="Calibri"/>
              </a:rPr>
              <a:t>KG </a:t>
            </a:r>
            <a:r>
              <a:rPr dirty="0" sz="3000" spc="-20" b="1">
                <a:solidFill>
                  <a:srgbClr val="008000"/>
                </a:solidFill>
                <a:latin typeface="Calibri"/>
                <a:cs typeface="Calibri"/>
              </a:rPr>
              <a:t>for </a:t>
            </a:r>
            <a:r>
              <a:rPr dirty="0" sz="3000" b="1">
                <a:solidFill>
                  <a:srgbClr val="008000"/>
                </a:solidFill>
                <a:latin typeface="Calibri"/>
                <a:cs typeface="Calibri"/>
              </a:rPr>
              <a:t>query</a:t>
            </a:r>
            <a:r>
              <a:rPr dirty="0" sz="3000" spc="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answering?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64</a:t>
            </a:fld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198729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179768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65" b="1" i="0">
                <a:latin typeface="Calibri"/>
                <a:cs typeface="Calibri"/>
              </a:rPr>
              <a:t>T</a:t>
            </a:r>
            <a:r>
              <a:rPr dirty="0" sz="3200" spc="-70" b="1" i="0">
                <a:latin typeface="Calibri"/>
                <a:cs typeface="Calibri"/>
              </a:rPr>
              <a:t>r</a:t>
            </a:r>
            <a:r>
              <a:rPr dirty="0" sz="3200" spc="-10" b="1" i="0">
                <a:latin typeface="Calibri"/>
                <a:cs typeface="Calibri"/>
              </a:rPr>
              <a:t>a</a:t>
            </a:r>
            <a:r>
              <a:rPr dirty="0" sz="3200" b="1" i="0">
                <a:latin typeface="Calibri"/>
                <a:cs typeface="Calibri"/>
              </a:rPr>
              <a:t>i</a:t>
            </a:r>
            <a:r>
              <a:rPr dirty="0" sz="3200" spc="-10" b="1" i="0">
                <a:latin typeface="Calibri"/>
                <a:cs typeface="Calibri"/>
              </a:rPr>
              <a:t>n</a:t>
            </a:r>
            <a:r>
              <a:rPr dirty="0" sz="3200" b="1" i="0">
                <a:latin typeface="Calibri"/>
                <a:cs typeface="Calibri"/>
              </a:rPr>
              <a:t>i</a:t>
            </a:r>
            <a:r>
              <a:rPr dirty="0" sz="3200" spc="-10" b="1" i="0">
                <a:latin typeface="Calibri"/>
                <a:cs typeface="Calibri"/>
              </a:rPr>
              <a:t>n</a:t>
            </a:r>
            <a:r>
              <a:rPr dirty="0" sz="3200" spc="-5" b="1" i="0">
                <a:latin typeface="Calibri"/>
                <a:cs typeface="Calibri"/>
              </a:rPr>
              <a:t>g</a:t>
            </a:r>
            <a:r>
              <a:rPr dirty="0" sz="3200" i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920747"/>
            <a:ext cx="80022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6415" algn="l"/>
              </a:tabLst>
            </a:pPr>
            <a:r>
              <a:rPr dirty="0" sz="2800">
                <a:solidFill>
                  <a:srgbClr val="60B5CC"/>
                </a:solidFill>
                <a:latin typeface="Calibri"/>
                <a:cs typeface="Calibri"/>
              </a:rPr>
              <a:t>1.	</a:t>
            </a:r>
            <a:r>
              <a:rPr dirty="0" sz="2800" spc="-5">
                <a:latin typeface="Calibri"/>
                <a:cs typeface="Calibri"/>
              </a:rPr>
              <a:t>Randomly sample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query </a:t>
            </a:r>
            <a:r>
              <a:rPr dirty="0" sz="2800">
                <a:latin typeface="Cambria Math"/>
                <a:cs typeface="Cambria Math"/>
              </a:rPr>
              <a:t>𝑞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training</a:t>
            </a:r>
            <a:r>
              <a:rPr dirty="0" sz="2800" spc="13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0913" y="2350515"/>
            <a:ext cx="27527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25">
                <a:latin typeface="Cambria Math"/>
                <a:cs typeface="Cambria Math"/>
              </a:rPr>
              <a:t>𝐺</a:t>
            </a:r>
            <a:r>
              <a:rPr dirty="0" baseline="-16666" sz="3000" spc="187">
                <a:latin typeface="Cambria Math"/>
                <a:cs typeface="Cambria Math"/>
              </a:rPr>
              <a:t>'/0($</a:t>
            </a:r>
            <a:r>
              <a:rPr dirty="0" sz="2800" spc="125">
                <a:latin typeface="Calibri"/>
                <a:cs typeface="Calibri"/>
              </a:rPr>
              <a:t>, </a:t>
            </a:r>
            <a:r>
              <a:rPr dirty="0" sz="2800" spc="-10">
                <a:latin typeface="Calibri"/>
                <a:cs typeface="Calibri"/>
              </a:rPr>
              <a:t>answer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sz="2800" spc="6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∈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77002" y="27711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76753" y="24752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677002" y="24663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7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28310" y="24749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49777" y="27711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59414" y="24752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49777" y="24663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4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411330" y="24749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453953" y="2350515"/>
            <a:ext cx="45669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1475" algn="l"/>
              </a:tabLst>
            </a:pPr>
            <a:r>
              <a:rPr dirty="0" sz="2800">
                <a:latin typeface="Cambria Math"/>
                <a:cs typeface="Cambria Math"/>
              </a:rPr>
              <a:t>𝑞	</a:t>
            </a:r>
            <a:r>
              <a:rPr dirty="0" baseline="-16666" sz="3000" spc="82">
                <a:latin typeface="Cambria Math"/>
                <a:cs typeface="Cambria Math"/>
              </a:rPr>
              <a:t>1</a:t>
            </a:r>
            <a:r>
              <a:rPr dirty="0" baseline="-34313" sz="2550" spc="82">
                <a:latin typeface="Cambria Math"/>
                <a:cs typeface="Cambria Math"/>
              </a:rPr>
              <a:t>!"#$%</a:t>
            </a:r>
            <a:r>
              <a:rPr dirty="0" sz="2800" spc="55">
                <a:latin typeface="Calibri"/>
                <a:cs typeface="Calibri"/>
              </a:rPr>
              <a:t>,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20">
                <a:latin typeface="Calibri"/>
                <a:cs typeface="Calibri"/>
              </a:rPr>
              <a:t>negative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sample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70913" y="2822955"/>
            <a:ext cx="67373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20">
                <a:latin typeface="Cambria Math"/>
                <a:cs typeface="Cambria Math"/>
              </a:rPr>
              <a:t>𝑣</a:t>
            </a:r>
            <a:r>
              <a:rPr dirty="0" baseline="29166" sz="3000" spc="-179">
                <a:latin typeface="Cambria Math"/>
                <a:cs typeface="Cambria Math"/>
              </a:rPr>
              <a:t>2</a:t>
            </a:r>
            <a:r>
              <a:rPr dirty="0" baseline="29166" sz="3000" spc="16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∉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96361" y="3241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696113" y="2945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596361" y="2936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647669" y="2944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69136" y="32410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278773" y="2945129"/>
            <a:ext cx="0" cy="287020"/>
          </a:xfrm>
          <a:custGeom>
            <a:avLst/>
            <a:gdLst/>
            <a:ahLst/>
            <a:cxnLst/>
            <a:rect l="l" t="t" r="r" b="b"/>
            <a:pathLst>
              <a:path w="0" h="287019">
                <a:moveTo>
                  <a:pt x="0" y="0"/>
                </a:moveTo>
                <a:lnTo>
                  <a:pt x="0" y="287020"/>
                </a:lnTo>
              </a:path>
            </a:pathLst>
          </a:custGeom>
          <a:ln w="192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269136" y="293623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 h="0">
                <a:moveTo>
                  <a:pt x="0" y="0"/>
                </a:moveTo>
                <a:lnTo>
                  <a:pt x="109388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330689" y="2944813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89">
                <a:moveTo>
                  <a:pt x="0" y="0"/>
                </a:moveTo>
                <a:lnTo>
                  <a:pt x="0" y="287709"/>
                </a:lnTo>
              </a:path>
            </a:pathLst>
          </a:custGeom>
          <a:ln w="19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373312" y="2950971"/>
            <a:ext cx="12668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1475" algn="l"/>
              </a:tabLst>
            </a:pPr>
            <a:r>
              <a:rPr dirty="0" baseline="19841" sz="4200">
                <a:latin typeface="Cambria Math"/>
                <a:cs typeface="Cambria Math"/>
              </a:rPr>
              <a:t>𝑞	</a:t>
            </a:r>
            <a:r>
              <a:rPr dirty="0" baseline="12500" sz="3000" spc="82">
                <a:latin typeface="Cambria Math"/>
                <a:cs typeface="Cambria Math"/>
              </a:rPr>
              <a:t>1</a:t>
            </a:r>
            <a:r>
              <a:rPr dirty="0" sz="1700" spc="55">
                <a:latin typeface="Cambria Math"/>
                <a:cs typeface="Cambria Math"/>
              </a:rPr>
              <a:t>!"#$%</a:t>
            </a:r>
            <a:r>
              <a:rPr dirty="0" baseline="19841" sz="4200" spc="82">
                <a:latin typeface="Calibri"/>
                <a:cs typeface="Calibri"/>
              </a:rPr>
              <a:t>.</a:t>
            </a:r>
            <a:endParaRPr baseline="19841" sz="4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6563" y="3298734"/>
            <a:ext cx="7960359" cy="250317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792480" indent="-514350">
              <a:lnSpc>
                <a:spcPct val="100000"/>
              </a:lnSpc>
              <a:spcBef>
                <a:spcPts val="640"/>
              </a:spcBef>
              <a:buClr>
                <a:srgbClr val="E66C7D"/>
              </a:buClr>
              <a:buFont typeface="Malgun Gothic"/>
              <a:buChar char="▪"/>
              <a:tabLst>
                <a:tab pos="791845" algn="l"/>
                <a:tab pos="792480" algn="l"/>
              </a:tabLst>
            </a:pPr>
            <a:r>
              <a:rPr dirty="0" sz="2400" spc="-15">
                <a:latin typeface="Calibri"/>
                <a:cs typeface="Calibri"/>
              </a:rPr>
              <a:t>Negative </a:t>
            </a:r>
            <a:r>
              <a:rPr dirty="0" sz="2400" spc="-5">
                <a:latin typeface="Calibri"/>
                <a:cs typeface="Calibri"/>
              </a:rPr>
              <a:t>sample: </a:t>
            </a:r>
            <a:r>
              <a:rPr dirty="0" sz="2400" spc="-10">
                <a:latin typeface="Calibri"/>
                <a:cs typeface="Calibri"/>
              </a:rPr>
              <a:t>Entity </a:t>
            </a:r>
            <a:r>
              <a:rPr dirty="0" sz="2400" spc="-5">
                <a:latin typeface="Calibri"/>
                <a:cs typeface="Calibri"/>
              </a:rPr>
              <a:t>of same type as </a:t>
            </a:r>
            <a:r>
              <a:rPr dirty="0" sz="2400">
                <a:latin typeface="Cambria Math"/>
                <a:cs typeface="Cambria Math"/>
              </a:rPr>
              <a:t>𝑣 </a:t>
            </a:r>
            <a:r>
              <a:rPr dirty="0" sz="2400">
                <a:latin typeface="Calibri"/>
                <a:cs typeface="Calibri"/>
              </a:rPr>
              <a:t>but </a:t>
            </a:r>
            <a:r>
              <a:rPr dirty="0" sz="2400" spc="-5">
                <a:latin typeface="Calibri"/>
                <a:cs typeface="Calibri"/>
              </a:rPr>
              <a:t>not</a:t>
            </a:r>
            <a:r>
              <a:rPr dirty="0" sz="2400" spc="65">
                <a:latin typeface="Calibri"/>
                <a:cs typeface="Calibri"/>
              </a:rPr>
              <a:t> </a:t>
            </a:r>
            <a:r>
              <a:rPr dirty="0" sz="2400" spc="-45">
                <a:latin typeface="Calibri"/>
                <a:cs typeface="Calibri"/>
              </a:rPr>
              <a:t>answer.</a:t>
            </a:r>
            <a:endParaRPr sz="2400">
              <a:latin typeface="Calibri"/>
              <a:cs typeface="Calibri"/>
            </a:endParaRPr>
          </a:p>
          <a:p>
            <a:pPr marL="527050" indent="-514350">
              <a:lnSpc>
                <a:spcPct val="100000"/>
              </a:lnSpc>
              <a:spcBef>
                <a:spcPts val="630"/>
              </a:spcBef>
              <a:buClr>
                <a:srgbClr val="60B5CC"/>
              </a:buClr>
              <a:buAutoNum type="arabicPeriod" startAt="2"/>
              <a:tabLst>
                <a:tab pos="526415" algn="l"/>
                <a:tab pos="527050" algn="l"/>
              </a:tabLst>
            </a:pPr>
            <a:r>
              <a:rPr dirty="0" sz="2800" spc="-5">
                <a:latin typeface="Calibri"/>
                <a:cs typeface="Calibri"/>
              </a:rPr>
              <a:t>Embed the query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𝐪</a:t>
            </a:r>
            <a:r>
              <a:rPr dirty="0" sz="280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527050" indent="-514350">
              <a:lnSpc>
                <a:spcPct val="100000"/>
              </a:lnSpc>
              <a:spcBef>
                <a:spcPts val="720"/>
              </a:spcBef>
              <a:buClr>
                <a:srgbClr val="60B5CC"/>
              </a:buClr>
              <a:buAutoNum type="arabicPeriod" startAt="2"/>
              <a:tabLst>
                <a:tab pos="526415" algn="l"/>
                <a:tab pos="527050" algn="l"/>
              </a:tabLst>
            </a:pPr>
            <a:r>
              <a:rPr dirty="0" sz="2800" spc="-15">
                <a:latin typeface="Calibri"/>
                <a:cs typeface="Calibri"/>
              </a:rPr>
              <a:t>Calculate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score </a:t>
            </a:r>
            <a:r>
              <a:rPr dirty="0" sz="2800" spc="85">
                <a:solidFill>
                  <a:srgbClr val="E88651"/>
                </a:solidFill>
                <a:latin typeface="Cambria Math"/>
                <a:cs typeface="Cambria Math"/>
              </a:rPr>
              <a:t>𝑓</a:t>
            </a:r>
            <a:r>
              <a:rPr dirty="0" baseline="-16666" sz="3000" spc="127">
                <a:solidFill>
                  <a:srgbClr val="E88651"/>
                </a:solidFill>
                <a:latin typeface="Cambria Math"/>
                <a:cs typeface="Cambria Math"/>
              </a:rPr>
              <a:t>.</a:t>
            </a:r>
            <a:r>
              <a:rPr dirty="0" sz="2800" spc="85">
                <a:solidFill>
                  <a:srgbClr val="E88651"/>
                </a:solidFill>
                <a:latin typeface="Cambria Math"/>
                <a:cs typeface="Cambria Math"/>
              </a:rPr>
              <a:t>(𝑣) </a:t>
            </a:r>
            <a:r>
              <a:rPr dirty="0" sz="2800" spc="-5">
                <a:latin typeface="Calibri"/>
                <a:cs typeface="Calibri"/>
              </a:rPr>
              <a:t>and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25">
                <a:solidFill>
                  <a:srgbClr val="0070C0"/>
                </a:solidFill>
                <a:latin typeface="Cambria Math"/>
                <a:cs typeface="Cambria Math"/>
              </a:rPr>
              <a:t>𝑓</a:t>
            </a:r>
            <a:r>
              <a:rPr dirty="0" baseline="-16666" sz="3000" spc="37">
                <a:solidFill>
                  <a:srgbClr val="0070C0"/>
                </a:solidFill>
                <a:latin typeface="Cambria Math"/>
                <a:cs typeface="Cambria Math"/>
              </a:rPr>
              <a:t>.</a:t>
            </a:r>
            <a:r>
              <a:rPr dirty="0" sz="2800" spc="25">
                <a:solidFill>
                  <a:srgbClr val="0070C0"/>
                </a:solidFill>
                <a:latin typeface="Cambria Math"/>
                <a:cs typeface="Cambria Math"/>
              </a:rPr>
              <a:t>(𝑣</a:t>
            </a:r>
            <a:r>
              <a:rPr dirty="0" baseline="27777" sz="3000" spc="37">
                <a:solidFill>
                  <a:srgbClr val="0070C0"/>
                </a:solidFill>
                <a:latin typeface="Cambria Math"/>
                <a:cs typeface="Cambria Math"/>
              </a:rPr>
              <a:t>2</a:t>
            </a:r>
            <a:r>
              <a:rPr dirty="0" sz="2800" spc="25">
                <a:solidFill>
                  <a:srgbClr val="0070C0"/>
                </a:solidFill>
                <a:latin typeface="Cambria Math"/>
                <a:cs typeface="Cambria Math"/>
              </a:rPr>
              <a:t>)</a:t>
            </a:r>
            <a:r>
              <a:rPr dirty="0" sz="2800" spc="25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527050" marR="1104900" indent="-514350">
              <a:lnSpc>
                <a:spcPct val="107100"/>
              </a:lnSpc>
              <a:spcBef>
                <a:spcPts val="815"/>
              </a:spcBef>
              <a:buClr>
                <a:srgbClr val="60B5CC"/>
              </a:buClr>
              <a:buAutoNum type="arabicPeriod" startAt="2"/>
              <a:tabLst>
                <a:tab pos="526415" algn="l"/>
                <a:tab pos="527050" algn="l"/>
              </a:tabLst>
            </a:pPr>
            <a:r>
              <a:rPr dirty="0" sz="2800" spc="-15">
                <a:latin typeface="Calibri"/>
                <a:cs typeface="Calibri"/>
              </a:rPr>
              <a:t>Optimize </a:t>
            </a:r>
            <a:r>
              <a:rPr dirty="0" sz="2800" spc="-5">
                <a:latin typeface="Calibri"/>
                <a:cs typeface="Calibri"/>
              </a:rPr>
              <a:t>the loss </a:t>
            </a:r>
            <a:r>
              <a:rPr dirty="0" sz="2800">
                <a:latin typeface="Cambria Math"/>
                <a:cs typeface="Cambria Math"/>
              </a:rPr>
              <a:t>ℓ </a:t>
            </a:r>
            <a:r>
              <a:rPr dirty="0" sz="2800" spc="-15">
                <a:latin typeface="Calibri"/>
                <a:cs typeface="Calibri"/>
              </a:rPr>
              <a:t>to maximize </a:t>
            </a:r>
            <a:r>
              <a:rPr dirty="0" sz="2800" spc="85">
                <a:solidFill>
                  <a:srgbClr val="E88651"/>
                </a:solidFill>
                <a:latin typeface="Cambria Math"/>
                <a:cs typeface="Cambria Math"/>
              </a:rPr>
              <a:t>𝑓</a:t>
            </a:r>
            <a:r>
              <a:rPr dirty="0" baseline="-16666" sz="3000" spc="127">
                <a:solidFill>
                  <a:srgbClr val="E88651"/>
                </a:solidFill>
                <a:latin typeface="Cambria Math"/>
                <a:cs typeface="Cambria Math"/>
              </a:rPr>
              <a:t>.</a:t>
            </a:r>
            <a:r>
              <a:rPr dirty="0" sz="2800" spc="85">
                <a:solidFill>
                  <a:srgbClr val="E88651"/>
                </a:solidFill>
                <a:latin typeface="Cambria Math"/>
                <a:cs typeface="Cambria Math"/>
              </a:rPr>
              <a:t>(𝑣) </a:t>
            </a:r>
            <a:r>
              <a:rPr dirty="0" sz="2800" spc="-5">
                <a:latin typeface="Calibri"/>
                <a:cs typeface="Calibri"/>
              </a:rPr>
              <a:t>while  </a:t>
            </a:r>
            <a:r>
              <a:rPr dirty="0" sz="2800" spc="-15">
                <a:latin typeface="Calibri"/>
                <a:cs typeface="Calibri"/>
              </a:rPr>
              <a:t>minimize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25">
                <a:solidFill>
                  <a:srgbClr val="0070C0"/>
                </a:solidFill>
                <a:latin typeface="Cambria Math"/>
                <a:cs typeface="Cambria Math"/>
              </a:rPr>
              <a:t>𝑓</a:t>
            </a:r>
            <a:r>
              <a:rPr dirty="0" baseline="-16666" sz="3000" spc="37">
                <a:solidFill>
                  <a:srgbClr val="0070C0"/>
                </a:solidFill>
                <a:latin typeface="Cambria Math"/>
                <a:cs typeface="Cambria Math"/>
              </a:rPr>
              <a:t>.</a:t>
            </a:r>
            <a:r>
              <a:rPr dirty="0" sz="2800" spc="25">
                <a:solidFill>
                  <a:srgbClr val="0070C0"/>
                </a:solidFill>
                <a:latin typeface="Cambria Math"/>
                <a:cs typeface="Cambria Math"/>
              </a:rPr>
              <a:t>(𝑣</a:t>
            </a:r>
            <a:r>
              <a:rPr dirty="0" baseline="29166" sz="3000" spc="37">
                <a:solidFill>
                  <a:srgbClr val="0070C0"/>
                </a:solidFill>
                <a:latin typeface="Cambria Math"/>
                <a:cs typeface="Cambria Math"/>
              </a:rPr>
              <a:t>2</a:t>
            </a:r>
            <a:r>
              <a:rPr dirty="0" sz="2800" spc="25">
                <a:solidFill>
                  <a:srgbClr val="0070C0"/>
                </a:solidFill>
                <a:latin typeface="Cambria Math"/>
                <a:cs typeface="Cambria Math"/>
              </a:rPr>
              <a:t>)</a:t>
            </a:r>
            <a:r>
              <a:rPr dirty="0" sz="2800" spc="25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72266" y="5926646"/>
            <a:ext cx="1090930" cy="586740"/>
          </a:xfrm>
          <a:custGeom>
            <a:avLst/>
            <a:gdLst/>
            <a:ahLst/>
            <a:cxnLst/>
            <a:rect l="l" t="t" r="r" b="b"/>
            <a:pathLst>
              <a:path w="1090929" h="586740">
                <a:moveTo>
                  <a:pt x="963975" y="0"/>
                </a:moveTo>
                <a:lnTo>
                  <a:pt x="958419" y="13890"/>
                </a:lnTo>
                <a:lnTo>
                  <a:pt x="980281" y="31660"/>
                </a:lnTo>
                <a:lnTo>
                  <a:pt x="999679" y="54759"/>
                </a:lnTo>
                <a:lnTo>
                  <a:pt x="1031085" y="116941"/>
                </a:lnTo>
                <a:lnTo>
                  <a:pt x="1042669" y="155287"/>
                </a:lnTo>
                <a:lnTo>
                  <a:pt x="1050943" y="197485"/>
                </a:lnTo>
                <a:lnTo>
                  <a:pt x="1055908" y="243536"/>
                </a:lnTo>
                <a:lnTo>
                  <a:pt x="1057563" y="293439"/>
                </a:lnTo>
                <a:lnTo>
                  <a:pt x="1055919" y="342555"/>
                </a:lnTo>
                <a:lnTo>
                  <a:pt x="1050987" y="388156"/>
                </a:lnTo>
                <a:lnTo>
                  <a:pt x="1042766" y="430240"/>
                </a:lnTo>
                <a:lnTo>
                  <a:pt x="1031257" y="468808"/>
                </a:lnTo>
                <a:lnTo>
                  <a:pt x="999895" y="531576"/>
                </a:lnTo>
                <a:lnTo>
                  <a:pt x="958419" y="572640"/>
                </a:lnTo>
                <a:lnTo>
                  <a:pt x="963975" y="586531"/>
                </a:lnTo>
                <a:lnTo>
                  <a:pt x="1016173" y="544772"/>
                </a:lnTo>
                <a:lnTo>
                  <a:pt x="1056435" y="477837"/>
                </a:lnTo>
                <a:lnTo>
                  <a:pt x="1071438" y="436469"/>
                </a:lnTo>
                <a:lnTo>
                  <a:pt x="1082154" y="391889"/>
                </a:lnTo>
                <a:lnTo>
                  <a:pt x="1088583" y="344096"/>
                </a:lnTo>
                <a:lnTo>
                  <a:pt x="1090726" y="293092"/>
                </a:lnTo>
                <a:lnTo>
                  <a:pt x="1088583" y="241827"/>
                </a:lnTo>
                <a:lnTo>
                  <a:pt x="1082154" y="193947"/>
                </a:lnTo>
                <a:lnTo>
                  <a:pt x="1071438" y="149454"/>
                </a:lnTo>
                <a:lnTo>
                  <a:pt x="1056435" y="108346"/>
                </a:lnTo>
                <a:lnTo>
                  <a:pt x="1037796" y="72014"/>
                </a:lnTo>
                <a:lnTo>
                  <a:pt x="991567" y="17840"/>
                </a:lnTo>
                <a:lnTo>
                  <a:pt x="963975" y="0"/>
                </a:lnTo>
                <a:close/>
              </a:path>
              <a:path w="1090929" h="586740">
                <a:moveTo>
                  <a:pt x="126578" y="0"/>
                </a:moveTo>
                <a:lnTo>
                  <a:pt x="74509" y="41845"/>
                </a:lnTo>
                <a:lnTo>
                  <a:pt x="34292" y="108346"/>
                </a:lnTo>
                <a:lnTo>
                  <a:pt x="19289" y="149454"/>
                </a:lnTo>
                <a:lnTo>
                  <a:pt x="8573" y="193947"/>
                </a:lnTo>
                <a:lnTo>
                  <a:pt x="2143" y="241827"/>
                </a:lnTo>
                <a:lnTo>
                  <a:pt x="0" y="293092"/>
                </a:lnTo>
                <a:lnTo>
                  <a:pt x="2143" y="344096"/>
                </a:lnTo>
                <a:lnTo>
                  <a:pt x="8573" y="391889"/>
                </a:lnTo>
                <a:lnTo>
                  <a:pt x="19289" y="436469"/>
                </a:lnTo>
                <a:lnTo>
                  <a:pt x="34292" y="477837"/>
                </a:lnTo>
                <a:lnTo>
                  <a:pt x="52919" y="514452"/>
                </a:lnTo>
                <a:lnTo>
                  <a:pt x="99062" y="568799"/>
                </a:lnTo>
                <a:lnTo>
                  <a:pt x="126578" y="586531"/>
                </a:lnTo>
                <a:lnTo>
                  <a:pt x="132308" y="572640"/>
                </a:lnTo>
                <a:lnTo>
                  <a:pt x="110235" y="554821"/>
                </a:lnTo>
                <a:lnTo>
                  <a:pt x="90723" y="531576"/>
                </a:lnTo>
                <a:lnTo>
                  <a:pt x="59382" y="468808"/>
                </a:lnTo>
                <a:lnTo>
                  <a:pt x="47911" y="430240"/>
                </a:lnTo>
                <a:lnTo>
                  <a:pt x="39718" y="388156"/>
                </a:lnTo>
                <a:lnTo>
                  <a:pt x="34802" y="342555"/>
                </a:lnTo>
                <a:lnTo>
                  <a:pt x="33163" y="293439"/>
                </a:lnTo>
                <a:lnTo>
                  <a:pt x="34818" y="243536"/>
                </a:lnTo>
                <a:lnTo>
                  <a:pt x="39783" y="197485"/>
                </a:lnTo>
                <a:lnTo>
                  <a:pt x="48058" y="155287"/>
                </a:lnTo>
                <a:lnTo>
                  <a:pt x="59643" y="116941"/>
                </a:lnTo>
                <a:lnTo>
                  <a:pt x="91048" y="54759"/>
                </a:lnTo>
                <a:lnTo>
                  <a:pt x="132308" y="13890"/>
                </a:lnTo>
                <a:lnTo>
                  <a:pt x="1265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851243" y="6055204"/>
            <a:ext cx="436880" cy="329565"/>
          </a:xfrm>
          <a:custGeom>
            <a:avLst/>
            <a:gdLst/>
            <a:ahLst/>
            <a:cxnLst/>
            <a:rect l="l" t="t" r="r" b="b"/>
            <a:pathLst>
              <a:path w="436879" h="329564">
                <a:moveTo>
                  <a:pt x="331694" y="0"/>
                </a:moveTo>
                <a:lnTo>
                  <a:pt x="327007" y="13369"/>
                </a:lnTo>
                <a:lnTo>
                  <a:pt x="346074" y="21644"/>
                </a:lnTo>
                <a:lnTo>
                  <a:pt x="362471" y="33098"/>
                </a:lnTo>
                <a:lnTo>
                  <a:pt x="387257" y="65546"/>
                </a:lnTo>
                <a:lnTo>
                  <a:pt x="401843" y="109323"/>
                </a:lnTo>
                <a:lnTo>
                  <a:pt x="406704" y="163041"/>
                </a:lnTo>
                <a:lnTo>
                  <a:pt x="405483" y="192092"/>
                </a:lnTo>
                <a:lnTo>
                  <a:pt x="395716" y="242185"/>
                </a:lnTo>
                <a:lnTo>
                  <a:pt x="376118" y="281306"/>
                </a:lnTo>
                <a:lnTo>
                  <a:pt x="346296" y="307699"/>
                </a:lnTo>
                <a:lnTo>
                  <a:pt x="327527" y="316011"/>
                </a:lnTo>
                <a:lnTo>
                  <a:pt x="331694" y="329381"/>
                </a:lnTo>
                <a:lnTo>
                  <a:pt x="376622" y="308306"/>
                </a:lnTo>
                <a:lnTo>
                  <a:pt x="409656" y="271822"/>
                </a:lnTo>
                <a:lnTo>
                  <a:pt x="429971" y="222966"/>
                </a:lnTo>
                <a:lnTo>
                  <a:pt x="436742" y="164777"/>
                </a:lnTo>
                <a:lnTo>
                  <a:pt x="435044" y="134581"/>
                </a:lnTo>
                <a:lnTo>
                  <a:pt x="421457" y="81059"/>
                </a:lnTo>
                <a:lnTo>
                  <a:pt x="394511" y="37488"/>
                </a:lnTo>
                <a:lnTo>
                  <a:pt x="355574" y="8622"/>
                </a:lnTo>
                <a:lnTo>
                  <a:pt x="331694" y="0"/>
                </a:lnTo>
                <a:close/>
              </a:path>
              <a:path w="436879" h="329564">
                <a:moveTo>
                  <a:pt x="105048" y="0"/>
                </a:moveTo>
                <a:lnTo>
                  <a:pt x="60228" y="21118"/>
                </a:lnTo>
                <a:lnTo>
                  <a:pt x="27172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1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39"/>
                </a:lnTo>
                <a:lnTo>
                  <a:pt x="41025" y="86192"/>
                </a:lnTo>
                <a:lnTo>
                  <a:pt x="60657" y="47732"/>
                </a:lnTo>
                <a:lnTo>
                  <a:pt x="90739" y="21644"/>
                </a:lnTo>
                <a:lnTo>
                  <a:pt x="109735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560659" y="5953251"/>
            <a:ext cx="26136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55164" algn="l"/>
              </a:tabLst>
            </a:pPr>
            <a:r>
              <a:rPr dirty="0" sz="2800">
                <a:latin typeface="Cambria Math"/>
                <a:cs typeface="Cambria Math"/>
              </a:rPr>
              <a:t>ℓ = −</a:t>
            </a:r>
            <a:r>
              <a:rPr dirty="0" sz="2800" spc="155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log</a:t>
            </a:r>
            <a:r>
              <a:rPr dirty="0" sz="2800" spc="-14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𝜎	</a:t>
            </a:r>
            <a:r>
              <a:rPr dirty="0" sz="2800" spc="110">
                <a:solidFill>
                  <a:srgbClr val="E88651"/>
                </a:solidFill>
                <a:latin typeface="Cambria Math"/>
                <a:cs typeface="Cambria Math"/>
              </a:rPr>
              <a:t>𝑓</a:t>
            </a:r>
            <a:r>
              <a:rPr dirty="0" baseline="-16666" sz="3000" spc="165">
                <a:solidFill>
                  <a:srgbClr val="E88651"/>
                </a:solidFill>
                <a:latin typeface="Cambria Math"/>
                <a:cs typeface="Cambria Math"/>
              </a:rPr>
              <a:t>.</a:t>
            </a:r>
            <a:r>
              <a:rPr dirty="0" baseline="-16666" sz="3000" spc="652">
                <a:solidFill>
                  <a:srgbClr val="E88651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88651"/>
                </a:solidFill>
                <a:latin typeface="Cambria Math"/>
                <a:cs typeface="Cambria Math"/>
              </a:rPr>
              <a:t>𝑣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394100" y="6005112"/>
            <a:ext cx="1177925" cy="429895"/>
          </a:xfrm>
          <a:custGeom>
            <a:avLst/>
            <a:gdLst/>
            <a:ahLst/>
            <a:cxnLst/>
            <a:rect l="l" t="t" r="r" b="b"/>
            <a:pathLst>
              <a:path w="1177925" h="429895">
                <a:moveTo>
                  <a:pt x="1064698" y="0"/>
                </a:moveTo>
                <a:lnTo>
                  <a:pt x="1060357" y="14237"/>
                </a:lnTo>
                <a:lnTo>
                  <a:pt x="1080092" y="24471"/>
                </a:lnTo>
                <a:lnTo>
                  <a:pt x="1097276" y="39371"/>
                </a:lnTo>
                <a:lnTo>
                  <a:pt x="1123993" y="83170"/>
                </a:lnTo>
                <a:lnTo>
                  <a:pt x="1140206" y="142682"/>
                </a:lnTo>
                <a:lnTo>
                  <a:pt x="1145611" y="214957"/>
                </a:lnTo>
                <a:lnTo>
                  <a:pt x="1144259" y="252608"/>
                </a:lnTo>
                <a:lnTo>
                  <a:pt x="1133451" y="318371"/>
                </a:lnTo>
                <a:lnTo>
                  <a:pt x="1111909" y="370678"/>
                </a:lnTo>
                <a:lnTo>
                  <a:pt x="1080092" y="405101"/>
                </a:lnTo>
                <a:lnTo>
                  <a:pt x="1060357" y="415329"/>
                </a:lnTo>
                <a:lnTo>
                  <a:pt x="1064698" y="429567"/>
                </a:lnTo>
                <a:lnTo>
                  <a:pt x="1112664" y="404000"/>
                </a:lnTo>
                <a:lnTo>
                  <a:pt x="1148215" y="355773"/>
                </a:lnTo>
                <a:lnTo>
                  <a:pt x="1170223" y="290748"/>
                </a:lnTo>
                <a:lnTo>
                  <a:pt x="1177559" y="214783"/>
                </a:lnTo>
                <a:lnTo>
                  <a:pt x="1175725" y="175434"/>
                </a:lnTo>
                <a:lnTo>
                  <a:pt x="1161053" y="104939"/>
                </a:lnTo>
                <a:lnTo>
                  <a:pt x="1131991" y="46848"/>
                </a:lnTo>
                <a:lnTo>
                  <a:pt x="1090233" y="9951"/>
                </a:lnTo>
                <a:lnTo>
                  <a:pt x="1064698" y="0"/>
                </a:lnTo>
                <a:close/>
              </a:path>
              <a:path w="1177925" h="429895">
                <a:moveTo>
                  <a:pt x="112861" y="0"/>
                </a:moveTo>
                <a:lnTo>
                  <a:pt x="64894" y="25567"/>
                </a:lnTo>
                <a:lnTo>
                  <a:pt x="29343" y="73793"/>
                </a:lnTo>
                <a:lnTo>
                  <a:pt x="7335" y="138819"/>
                </a:lnTo>
                <a:lnTo>
                  <a:pt x="0" y="214783"/>
                </a:lnTo>
                <a:lnTo>
                  <a:pt x="1833" y="254133"/>
                </a:lnTo>
                <a:lnTo>
                  <a:pt x="16505" y="324628"/>
                </a:lnTo>
                <a:lnTo>
                  <a:pt x="45567" y="382719"/>
                </a:lnTo>
                <a:lnTo>
                  <a:pt x="87325" y="419616"/>
                </a:lnTo>
                <a:lnTo>
                  <a:pt x="112861" y="429567"/>
                </a:lnTo>
                <a:lnTo>
                  <a:pt x="117201" y="415329"/>
                </a:lnTo>
                <a:lnTo>
                  <a:pt x="97467" y="405101"/>
                </a:lnTo>
                <a:lnTo>
                  <a:pt x="80283" y="390217"/>
                </a:lnTo>
                <a:lnTo>
                  <a:pt x="53564" y="346484"/>
                </a:lnTo>
                <a:lnTo>
                  <a:pt x="37352" y="287080"/>
                </a:lnTo>
                <a:lnTo>
                  <a:pt x="31954" y="214783"/>
                </a:lnTo>
                <a:lnTo>
                  <a:pt x="33299" y="177224"/>
                </a:lnTo>
                <a:lnTo>
                  <a:pt x="44107" y="111331"/>
                </a:lnTo>
                <a:lnTo>
                  <a:pt x="65648" y="58937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559828" y="5953251"/>
            <a:ext cx="32035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2150" algn="l"/>
                <a:tab pos="3042920" algn="l"/>
              </a:tabLst>
            </a:pPr>
            <a:r>
              <a:rPr dirty="0" sz="2800">
                <a:latin typeface="Cambria Math"/>
                <a:cs typeface="Cambria Math"/>
              </a:rPr>
              <a:t>− l</a:t>
            </a:r>
            <a:r>
              <a:rPr dirty="0" sz="2800" spc="-5">
                <a:latin typeface="Cambria Math"/>
                <a:cs typeface="Cambria Math"/>
              </a:rPr>
              <a:t>o</a:t>
            </a:r>
            <a:r>
              <a:rPr dirty="0" sz="2800" spc="0">
                <a:latin typeface="Cambria Math"/>
                <a:cs typeface="Cambria Math"/>
              </a:rPr>
              <a:t>g</a:t>
            </a:r>
            <a:r>
              <a:rPr dirty="0" sz="2800">
                <a:latin typeface="Cambria Math"/>
                <a:cs typeface="Cambria Math"/>
              </a:rPr>
              <a:t>(1</a:t>
            </a:r>
            <a:r>
              <a:rPr dirty="0" sz="2800" spc="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− 𝜎	</a:t>
            </a:r>
            <a:r>
              <a:rPr dirty="0" sz="2800" spc="-550">
                <a:solidFill>
                  <a:srgbClr val="0070C0"/>
                </a:solidFill>
                <a:latin typeface="Cambria Math"/>
                <a:cs typeface="Cambria Math"/>
              </a:rPr>
              <a:t>𝑓</a:t>
            </a:r>
            <a:r>
              <a:rPr dirty="0" baseline="-16666" sz="3000" spc="1387">
                <a:solidFill>
                  <a:srgbClr val="0070C0"/>
                </a:solidFill>
                <a:latin typeface="Cambria Math"/>
                <a:cs typeface="Cambria Math"/>
              </a:rPr>
              <a:t>.</a:t>
            </a:r>
            <a:r>
              <a:rPr dirty="0" sz="2800">
                <a:solidFill>
                  <a:srgbClr val="0070C0"/>
                </a:solidFill>
                <a:latin typeface="Cambria Math"/>
                <a:cs typeface="Cambria Math"/>
              </a:rPr>
              <a:t>(</a:t>
            </a:r>
            <a:r>
              <a:rPr dirty="0" sz="2800" spc="160">
                <a:solidFill>
                  <a:srgbClr val="0070C0"/>
                </a:solidFill>
                <a:latin typeface="Cambria Math"/>
                <a:cs typeface="Cambria Math"/>
              </a:rPr>
              <a:t>𝑣</a:t>
            </a:r>
            <a:r>
              <a:rPr dirty="0" baseline="29166" sz="3000" spc="-457">
                <a:solidFill>
                  <a:srgbClr val="0070C0"/>
                </a:solidFill>
                <a:latin typeface="Cambria Math"/>
                <a:cs typeface="Cambria Math"/>
              </a:rPr>
              <a:t>2</a:t>
            </a:r>
            <a:r>
              <a:rPr dirty="0" sz="2800">
                <a:solidFill>
                  <a:srgbClr val="0070C0"/>
                </a:solidFill>
                <a:latin typeface="Cambria Math"/>
                <a:cs typeface="Cambria Math"/>
              </a:rPr>
              <a:t>)	</a:t>
            </a:r>
            <a:r>
              <a:rPr dirty="0" sz="280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64</a:t>
            </a:fld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8330183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72909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5" b="1" i="0">
                <a:latin typeface="Calibri"/>
                <a:cs typeface="Calibri"/>
              </a:rPr>
              <a:t>Generate </a:t>
            </a:r>
            <a:r>
              <a:rPr dirty="0" sz="3200" spc="-5" b="1" i="0">
                <a:latin typeface="Calibri"/>
                <a:cs typeface="Calibri"/>
              </a:rPr>
              <a:t>queries </a:t>
            </a:r>
            <a:r>
              <a:rPr dirty="0" sz="3200" spc="-10" b="1" i="0">
                <a:latin typeface="Calibri"/>
                <a:cs typeface="Calibri"/>
              </a:rPr>
              <a:t>from </a:t>
            </a:r>
            <a:r>
              <a:rPr dirty="0" sz="3200" spc="-5" b="1" i="0">
                <a:latin typeface="Calibri"/>
                <a:cs typeface="Calibri"/>
              </a:rPr>
              <a:t>multiple query  </a:t>
            </a:r>
            <a:r>
              <a:rPr dirty="0" sz="3200" spc="-15" b="1" i="0">
                <a:latin typeface="Calibri"/>
                <a:cs typeface="Calibri"/>
              </a:rPr>
              <a:t>templates: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95521" y="3463711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3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09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3"/>
                </a:lnTo>
                <a:lnTo>
                  <a:pt x="79845" y="252653"/>
                </a:lnTo>
                <a:lnTo>
                  <a:pt x="130733" y="262986"/>
                </a:lnTo>
                <a:lnTo>
                  <a:pt x="181620" y="252653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09"/>
                </a:lnTo>
                <a:lnTo>
                  <a:pt x="223175" y="38513"/>
                </a:lnTo>
                <a:lnTo>
                  <a:pt x="181620" y="10333"/>
                </a:lnTo>
                <a:lnTo>
                  <a:pt x="130733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95521" y="3463711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82954" y="3463709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3"/>
                </a:lnTo>
                <a:lnTo>
                  <a:pt x="79845" y="252653"/>
                </a:lnTo>
                <a:lnTo>
                  <a:pt x="130732" y="262986"/>
                </a:lnTo>
                <a:lnTo>
                  <a:pt x="181619" y="252653"/>
                </a:lnTo>
                <a:lnTo>
                  <a:pt x="223174" y="224473"/>
                </a:lnTo>
                <a:lnTo>
                  <a:pt x="251191" y="182676"/>
                </a:lnTo>
                <a:lnTo>
                  <a:pt x="261465" y="131493"/>
                </a:lnTo>
                <a:lnTo>
                  <a:pt x="251191" y="80310"/>
                </a:lnTo>
                <a:lnTo>
                  <a:pt x="223174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82953" y="3463709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56986" y="3557106"/>
            <a:ext cx="226060" cy="76200"/>
          </a:xfrm>
          <a:custGeom>
            <a:avLst/>
            <a:gdLst/>
            <a:ahLst/>
            <a:cxnLst/>
            <a:rect l="l" t="t" r="r" b="b"/>
            <a:pathLst>
              <a:path w="226059" h="76200">
                <a:moveTo>
                  <a:pt x="187868" y="19050"/>
                </a:moveTo>
                <a:lnTo>
                  <a:pt x="168816" y="19050"/>
                </a:lnTo>
                <a:lnTo>
                  <a:pt x="168816" y="57149"/>
                </a:lnTo>
                <a:lnTo>
                  <a:pt x="149767" y="57150"/>
                </a:lnTo>
                <a:lnTo>
                  <a:pt x="149768" y="76199"/>
                </a:lnTo>
                <a:lnTo>
                  <a:pt x="225966" y="38098"/>
                </a:lnTo>
                <a:lnTo>
                  <a:pt x="187868" y="19050"/>
                </a:lnTo>
                <a:close/>
              </a:path>
              <a:path w="226059" h="76200">
                <a:moveTo>
                  <a:pt x="149767" y="19050"/>
                </a:moveTo>
                <a:lnTo>
                  <a:pt x="0" y="19051"/>
                </a:lnTo>
                <a:lnTo>
                  <a:pt x="0" y="57151"/>
                </a:lnTo>
                <a:lnTo>
                  <a:pt x="149767" y="57150"/>
                </a:lnTo>
                <a:lnTo>
                  <a:pt x="149767" y="19050"/>
                </a:lnTo>
                <a:close/>
              </a:path>
              <a:path w="226059" h="76200">
                <a:moveTo>
                  <a:pt x="168816" y="19050"/>
                </a:moveTo>
                <a:lnTo>
                  <a:pt x="149767" y="19050"/>
                </a:lnTo>
                <a:lnTo>
                  <a:pt x="149767" y="57150"/>
                </a:lnTo>
                <a:lnTo>
                  <a:pt x="168816" y="57149"/>
                </a:lnTo>
                <a:lnTo>
                  <a:pt x="168816" y="19050"/>
                </a:lnTo>
                <a:close/>
              </a:path>
              <a:path w="226059" h="76200">
                <a:moveTo>
                  <a:pt x="149766" y="0"/>
                </a:moveTo>
                <a:lnTo>
                  <a:pt x="149767" y="19050"/>
                </a:lnTo>
                <a:lnTo>
                  <a:pt x="187868" y="19050"/>
                </a:lnTo>
                <a:lnTo>
                  <a:pt x="1497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37897" y="3463715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3"/>
                </a:lnTo>
                <a:lnTo>
                  <a:pt x="79845" y="252653"/>
                </a:lnTo>
                <a:lnTo>
                  <a:pt x="130732" y="262986"/>
                </a:lnTo>
                <a:lnTo>
                  <a:pt x="181619" y="252653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37897" y="3463715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25329" y="3463712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3" y="0"/>
                </a:moveTo>
                <a:lnTo>
                  <a:pt x="79846" y="10333"/>
                </a:lnTo>
                <a:lnTo>
                  <a:pt x="38291" y="38513"/>
                </a:lnTo>
                <a:lnTo>
                  <a:pt x="10273" y="80310"/>
                </a:lnTo>
                <a:lnTo>
                  <a:pt x="0" y="131494"/>
                </a:lnTo>
                <a:lnTo>
                  <a:pt x="10273" y="182677"/>
                </a:lnTo>
                <a:lnTo>
                  <a:pt x="38291" y="224474"/>
                </a:lnTo>
                <a:lnTo>
                  <a:pt x="79846" y="252654"/>
                </a:lnTo>
                <a:lnTo>
                  <a:pt x="130733" y="262987"/>
                </a:lnTo>
                <a:lnTo>
                  <a:pt x="181620" y="252654"/>
                </a:lnTo>
                <a:lnTo>
                  <a:pt x="223175" y="224474"/>
                </a:lnTo>
                <a:lnTo>
                  <a:pt x="251192" y="182677"/>
                </a:lnTo>
                <a:lnTo>
                  <a:pt x="261466" y="131494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20" y="10333"/>
                </a:lnTo>
                <a:lnTo>
                  <a:pt x="130733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25330" y="3463712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499365" y="3557106"/>
            <a:ext cx="226060" cy="76200"/>
          </a:xfrm>
          <a:custGeom>
            <a:avLst/>
            <a:gdLst/>
            <a:ahLst/>
            <a:cxnLst/>
            <a:rect l="l" t="t" r="r" b="b"/>
            <a:pathLst>
              <a:path w="226060" h="76200">
                <a:moveTo>
                  <a:pt x="187866" y="19050"/>
                </a:moveTo>
                <a:lnTo>
                  <a:pt x="168814" y="19050"/>
                </a:lnTo>
                <a:lnTo>
                  <a:pt x="168814" y="57149"/>
                </a:lnTo>
                <a:lnTo>
                  <a:pt x="149765" y="57150"/>
                </a:lnTo>
                <a:lnTo>
                  <a:pt x="149766" y="76199"/>
                </a:lnTo>
                <a:lnTo>
                  <a:pt x="225964" y="38098"/>
                </a:lnTo>
                <a:lnTo>
                  <a:pt x="187866" y="19050"/>
                </a:lnTo>
                <a:close/>
              </a:path>
              <a:path w="226060" h="76200">
                <a:moveTo>
                  <a:pt x="149765" y="19050"/>
                </a:moveTo>
                <a:lnTo>
                  <a:pt x="0" y="19052"/>
                </a:lnTo>
                <a:lnTo>
                  <a:pt x="0" y="57152"/>
                </a:lnTo>
                <a:lnTo>
                  <a:pt x="149765" y="57150"/>
                </a:lnTo>
                <a:lnTo>
                  <a:pt x="149765" y="19050"/>
                </a:lnTo>
                <a:close/>
              </a:path>
              <a:path w="226060" h="76200">
                <a:moveTo>
                  <a:pt x="168814" y="19050"/>
                </a:moveTo>
                <a:lnTo>
                  <a:pt x="149765" y="19050"/>
                </a:lnTo>
                <a:lnTo>
                  <a:pt x="149765" y="57150"/>
                </a:lnTo>
                <a:lnTo>
                  <a:pt x="168814" y="57149"/>
                </a:lnTo>
                <a:lnTo>
                  <a:pt x="168814" y="19050"/>
                </a:lnTo>
                <a:close/>
              </a:path>
              <a:path w="226060" h="76200">
                <a:moveTo>
                  <a:pt x="149764" y="0"/>
                </a:moveTo>
                <a:lnTo>
                  <a:pt x="149765" y="19050"/>
                </a:lnTo>
                <a:lnTo>
                  <a:pt x="187866" y="19050"/>
                </a:lnTo>
                <a:lnTo>
                  <a:pt x="1497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725328" y="3463711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09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3"/>
                </a:lnTo>
                <a:lnTo>
                  <a:pt x="79845" y="252653"/>
                </a:lnTo>
                <a:lnTo>
                  <a:pt x="130732" y="262986"/>
                </a:lnTo>
                <a:lnTo>
                  <a:pt x="181619" y="252653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09"/>
                </a:lnTo>
                <a:lnTo>
                  <a:pt x="223175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C9C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725328" y="3463711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212758" y="3463709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3"/>
                </a:lnTo>
                <a:lnTo>
                  <a:pt x="79845" y="252653"/>
                </a:lnTo>
                <a:lnTo>
                  <a:pt x="130732" y="262986"/>
                </a:lnTo>
                <a:lnTo>
                  <a:pt x="181619" y="252653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12758" y="3463709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86794" y="3557106"/>
            <a:ext cx="226060" cy="76200"/>
          </a:xfrm>
          <a:custGeom>
            <a:avLst/>
            <a:gdLst/>
            <a:ahLst/>
            <a:cxnLst/>
            <a:rect l="l" t="t" r="r" b="b"/>
            <a:pathLst>
              <a:path w="226060" h="76200">
                <a:moveTo>
                  <a:pt x="187866" y="19050"/>
                </a:moveTo>
                <a:lnTo>
                  <a:pt x="168814" y="19050"/>
                </a:lnTo>
                <a:lnTo>
                  <a:pt x="168814" y="57149"/>
                </a:lnTo>
                <a:lnTo>
                  <a:pt x="149764" y="57150"/>
                </a:lnTo>
                <a:lnTo>
                  <a:pt x="149764" y="76199"/>
                </a:lnTo>
                <a:lnTo>
                  <a:pt x="225964" y="38098"/>
                </a:lnTo>
                <a:lnTo>
                  <a:pt x="187866" y="19050"/>
                </a:lnTo>
                <a:close/>
              </a:path>
              <a:path w="226060" h="76200">
                <a:moveTo>
                  <a:pt x="149764" y="19050"/>
                </a:moveTo>
                <a:lnTo>
                  <a:pt x="0" y="19051"/>
                </a:lnTo>
                <a:lnTo>
                  <a:pt x="0" y="57151"/>
                </a:lnTo>
                <a:lnTo>
                  <a:pt x="149764" y="57150"/>
                </a:lnTo>
                <a:lnTo>
                  <a:pt x="149764" y="19050"/>
                </a:lnTo>
                <a:close/>
              </a:path>
              <a:path w="226060" h="76200">
                <a:moveTo>
                  <a:pt x="168814" y="19050"/>
                </a:moveTo>
                <a:lnTo>
                  <a:pt x="149764" y="19050"/>
                </a:lnTo>
                <a:lnTo>
                  <a:pt x="149764" y="57150"/>
                </a:lnTo>
                <a:lnTo>
                  <a:pt x="168814" y="57149"/>
                </a:lnTo>
                <a:lnTo>
                  <a:pt x="168814" y="19050"/>
                </a:lnTo>
                <a:close/>
              </a:path>
              <a:path w="226060" h="76200">
                <a:moveTo>
                  <a:pt x="149764" y="0"/>
                </a:moveTo>
                <a:lnTo>
                  <a:pt x="149764" y="19050"/>
                </a:lnTo>
                <a:lnTo>
                  <a:pt x="187866" y="19050"/>
                </a:lnTo>
                <a:lnTo>
                  <a:pt x="1497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912152" y="3461951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3"/>
                </a:lnTo>
                <a:lnTo>
                  <a:pt x="79845" y="252654"/>
                </a:lnTo>
                <a:lnTo>
                  <a:pt x="130732" y="262987"/>
                </a:lnTo>
                <a:lnTo>
                  <a:pt x="181619" y="252654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912152" y="3461951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399584" y="3461948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10"/>
                </a:lnTo>
                <a:lnTo>
                  <a:pt x="0" y="131494"/>
                </a:lnTo>
                <a:lnTo>
                  <a:pt x="10273" y="182677"/>
                </a:lnTo>
                <a:lnTo>
                  <a:pt x="38290" y="224474"/>
                </a:lnTo>
                <a:lnTo>
                  <a:pt x="79845" y="252654"/>
                </a:lnTo>
                <a:lnTo>
                  <a:pt x="130732" y="262987"/>
                </a:lnTo>
                <a:lnTo>
                  <a:pt x="181619" y="252654"/>
                </a:lnTo>
                <a:lnTo>
                  <a:pt x="223174" y="224474"/>
                </a:lnTo>
                <a:lnTo>
                  <a:pt x="251191" y="182677"/>
                </a:lnTo>
                <a:lnTo>
                  <a:pt x="261465" y="131494"/>
                </a:lnTo>
                <a:lnTo>
                  <a:pt x="251191" y="80310"/>
                </a:lnTo>
                <a:lnTo>
                  <a:pt x="223174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399583" y="3461948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173618" y="3555342"/>
            <a:ext cx="226060" cy="76200"/>
          </a:xfrm>
          <a:custGeom>
            <a:avLst/>
            <a:gdLst/>
            <a:ahLst/>
            <a:cxnLst/>
            <a:rect l="l" t="t" r="r" b="b"/>
            <a:pathLst>
              <a:path w="226060" h="76200">
                <a:moveTo>
                  <a:pt x="187866" y="19050"/>
                </a:moveTo>
                <a:lnTo>
                  <a:pt x="168814" y="19050"/>
                </a:lnTo>
                <a:lnTo>
                  <a:pt x="168816" y="57150"/>
                </a:lnTo>
                <a:lnTo>
                  <a:pt x="149765" y="57150"/>
                </a:lnTo>
                <a:lnTo>
                  <a:pt x="149766" y="76200"/>
                </a:lnTo>
                <a:lnTo>
                  <a:pt x="225964" y="38098"/>
                </a:lnTo>
                <a:lnTo>
                  <a:pt x="187866" y="19050"/>
                </a:lnTo>
                <a:close/>
              </a:path>
              <a:path w="226060" h="76200">
                <a:moveTo>
                  <a:pt x="149765" y="19050"/>
                </a:moveTo>
                <a:lnTo>
                  <a:pt x="0" y="19052"/>
                </a:lnTo>
                <a:lnTo>
                  <a:pt x="0" y="57152"/>
                </a:lnTo>
                <a:lnTo>
                  <a:pt x="149765" y="57150"/>
                </a:lnTo>
                <a:lnTo>
                  <a:pt x="149765" y="19050"/>
                </a:lnTo>
                <a:close/>
              </a:path>
              <a:path w="226060" h="76200">
                <a:moveTo>
                  <a:pt x="168814" y="19050"/>
                </a:moveTo>
                <a:lnTo>
                  <a:pt x="149765" y="19050"/>
                </a:lnTo>
                <a:lnTo>
                  <a:pt x="149765" y="57150"/>
                </a:lnTo>
                <a:lnTo>
                  <a:pt x="168816" y="57150"/>
                </a:lnTo>
                <a:lnTo>
                  <a:pt x="168814" y="19050"/>
                </a:lnTo>
                <a:close/>
              </a:path>
              <a:path w="226060" h="76200">
                <a:moveTo>
                  <a:pt x="149764" y="0"/>
                </a:moveTo>
                <a:lnTo>
                  <a:pt x="149765" y="19050"/>
                </a:lnTo>
                <a:lnTo>
                  <a:pt x="187866" y="19050"/>
                </a:lnTo>
                <a:lnTo>
                  <a:pt x="1497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99582" y="3461948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10"/>
                </a:lnTo>
                <a:lnTo>
                  <a:pt x="0" y="131494"/>
                </a:lnTo>
                <a:lnTo>
                  <a:pt x="10273" y="182677"/>
                </a:lnTo>
                <a:lnTo>
                  <a:pt x="38290" y="224474"/>
                </a:lnTo>
                <a:lnTo>
                  <a:pt x="79845" y="252654"/>
                </a:lnTo>
                <a:lnTo>
                  <a:pt x="130732" y="262987"/>
                </a:lnTo>
                <a:lnTo>
                  <a:pt x="181619" y="252654"/>
                </a:lnTo>
                <a:lnTo>
                  <a:pt x="223175" y="224474"/>
                </a:lnTo>
                <a:lnTo>
                  <a:pt x="251192" y="182677"/>
                </a:lnTo>
                <a:lnTo>
                  <a:pt x="261466" y="131494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C9C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399582" y="3461948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887013" y="3461947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3"/>
                </a:lnTo>
                <a:lnTo>
                  <a:pt x="79845" y="252653"/>
                </a:lnTo>
                <a:lnTo>
                  <a:pt x="130732" y="262986"/>
                </a:lnTo>
                <a:lnTo>
                  <a:pt x="181619" y="252653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887013" y="3461947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661049" y="3555342"/>
            <a:ext cx="226060" cy="76200"/>
          </a:xfrm>
          <a:custGeom>
            <a:avLst/>
            <a:gdLst/>
            <a:ahLst/>
            <a:cxnLst/>
            <a:rect l="l" t="t" r="r" b="b"/>
            <a:pathLst>
              <a:path w="226060" h="76200">
                <a:moveTo>
                  <a:pt x="187866" y="19050"/>
                </a:moveTo>
                <a:lnTo>
                  <a:pt x="168814" y="19050"/>
                </a:lnTo>
                <a:lnTo>
                  <a:pt x="168814" y="57150"/>
                </a:lnTo>
                <a:lnTo>
                  <a:pt x="149764" y="57150"/>
                </a:lnTo>
                <a:lnTo>
                  <a:pt x="149764" y="76200"/>
                </a:lnTo>
                <a:lnTo>
                  <a:pt x="225964" y="38098"/>
                </a:lnTo>
                <a:lnTo>
                  <a:pt x="187866" y="19050"/>
                </a:lnTo>
                <a:close/>
              </a:path>
              <a:path w="226060" h="76200">
                <a:moveTo>
                  <a:pt x="149764" y="19050"/>
                </a:moveTo>
                <a:lnTo>
                  <a:pt x="0" y="19051"/>
                </a:lnTo>
                <a:lnTo>
                  <a:pt x="0" y="57151"/>
                </a:lnTo>
                <a:lnTo>
                  <a:pt x="149764" y="57150"/>
                </a:lnTo>
                <a:lnTo>
                  <a:pt x="149764" y="19050"/>
                </a:lnTo>
                <a:close/>
              </a:path>
              <a:path w="226060" h="76200">
                <a:moveTo>
                  <a:pt x="168814" y="19050"/>
                </a:moveTo>
                <a:lnTo>
                  <a:pt x="149764" y="19050"/>
                </a:lnTo>
                <a:lnTo>
                  <a:pt x="149764" y="57150"/>
                </a:lnTo>
                <a:lnTo>
                  <a:pt x="168814" y="57150"/>
                </a:lnTo>
                <a:lnTo>
                  <a:pt x="168814" y="19050"/>
                </a:lnTo>
                <a:close/>
              </a:path>
              <a:path w="226060" h="76200">
                <a:moveTo>
                  <a:pt x="149764" y="0"/>
                </a:moveTo>
                <a:lnTo>
                  <a:pt x="149764" y="19050"/>
                </a:lnTo>
                <a:lnTo>
                  <a:pt x="187866" y="19050"/>
                </a:lnTo>
                <a:lnTo>
                  <a:pt x="1497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887013" y="3461947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3"/>
                </a:lnTo>
                <a:lnTo>
                  <a:pt x="79845" y="252653"/>
                </a:lnTo>
                <a:lnTo>
                  <a:pt x="130732" y="262986"/>
                </a:lnTo>
                <a:lnTo>
                  <a:pt x="181619" y="252653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C9C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887013" y="3461947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374443" y="3465462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09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2"/>
                </a:lnTo>
                <a:lnTo>
                  <a:pt x="79845" y="252653"/>
                </a:lnTo>
                <a:lnTo>
                  <a:pt x="130732" y="262986"/>
                </a:lnTo>
                <a:lnTo>
                  <a:pt x="181619" y="252653"/>
                </a:lnTo>
                <a:lnTo>
                  <a:pt x="223175" y="224472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09"/>
                </a:lnTo>
                <a:lnTo>
                  <a:pt x="223175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374443" y="3465462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148183" y="3557676"/>
            <a:ext cx="226695" cy="76200"/>
          </a:xfrm>
          <a:custGeom>
            <a:avLst/>
            <a:gdLst/>
            <a:ahLst/>
            <a:cxnLst/>
            <a:rect l="l" t="t" r="r" b="b"/>
            <a:pathLst>
              <a:path w="226695" h="76200">
                <a:moveTo>
                  <a:pt x="150660" y="0"/>
                </a:moveTo>
                <a:lnTo>
                  <a:pt x="150363" y="19048"/>
                </a:lnTo>
                <a:lnTo>
                  <a:pt x="169411" y="19344"/>
                </a:lnTo>
                <a:lnTo>
                  <a:pt x="168818" y="57439"/>
                </a:lnTo>
                <a:lnTo>
                  <a:pt x="149766" y="57439"/>
                </a:lnTo>
                <a:lnTo>
                  <a:pt x="149475" y="76191"/>
                </a:lnTo>
                <a:lnTo>
                  <a:pt x="188483" y="57439"/>
                </a:lnTo>
                <a:lnTo>
                  <a:pt x="168818" y="57439"/>
                </a:lnTo>
                <a:lnTo>
                  <a:pt x="149771" y="57143"/>
                </a:lnTo>
                <a:lnTo>
                  <a:pt x="189100" y="57143"/>
                </a:lnTo>
                <a:lnTo>
                  <a:pt x="226258" y="39281"/>
                </a:lnTo>
                <a:lnTo>
                  <a:pt x="150660" y="0"/>
                </a:lnTo>
                <a:close/>
              </a:path>
              <a:path w="226695" h="76200">
                <a:moveTo>
                  <a:pt x="150363" y="19048"/>
                </a:moveTo>
                <a:lnTo>
                  <a:pt x="149771" y="57143"/>
                </a:lnTo>
                <a:lnTo>
                  <a:pt x="168818" y="57439"/>
                </a:lnTo>
                <a:lnTo>
                  <a:pt x="169411" y="19344"/>
                </a:lnTo>
                <a:lnTo>
                  <a:pt x="150363" y="19048"/>
                </a:lnTo>
                <a:close/>
              </a:path>
              <a:path w="226695" h="76200">
                <a:moveTo>
                  <a:pt x="593" y="16717"/>
                </a:moveTo>
                <a:lnTo>
                  <a:pt x="0" y="54811"/>
                </a:lnTo>
                <a:lnTo>
                  <a:pt x="149771" y="57143"/>
                </a:lnTo>
                <a:lnTo>
                  <a:pt x="150363" y="19048"/>
                </a:lnTo>
                <a:lnTo>
                  <a:pt x="593" y="16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088847" y="3288612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79846" y="10333"/>
                </a:lnTo>
                <a:lnTo>
                  <a:pt x="38291" y="38513"/>
                </a:lnTo>
                <a:lnTo>
                  <a:pt x="10273" y="80310"/>
                </a:lnTo>
                <a:lnTo>
                  <a:pt x="0" y="131494"/>
                </a:lnTo>
                <a:lnTo>
                  <a:pt x="10273" y="182677"/>
                </a:lnTo>
                <a:lnTo>
                  <a:pt x="38291" y="224474"/>
                </a:lnTo>
                <a:lnTo>
                  <a:pt x="79846" y="252654"/>
                </a:lnTo>
                <a:lnTo>
                  <a:pt x="130733" y="262987"/>
                </a:lnTo>
                <a:lnTo>
                  <a:pt x="181620" y="252654"/>
                </a:lnTo>
                <a:lnTo>
                  <a:pt x="223175" y="224474"/>
                </a:lnTo>
                <a:lnTo>
                  <a:pt x="251192" y="182677"/>
                </a:lnTo>
                <a:lnTo>
                  <a:pt x="261466" y="131494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20" y="10333"/>
                </a:lnTo>
                <a:lnTo>
                  <a:pt x="130733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088847" y="3288612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576280" y="3463711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09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3"/>
                </a:lnTo>
                <a:lnTo>
                  <a:pt x="79845" y="252653"/>
                </a:lnTo>
                <a:lnTo>
                  <a:pt x="130732" y="262986"/>
                </a:lnTo>
                <a:lnTo>
                  <a:pt x="181619" y="252653"/>
                </a:lnTo>
                <a:lnTo>
                  <a:pt x="223174" y="224473"/>
                </a:lnTo>
                <a:lnTo>
                  <a:pt x="251191" y="182676"/>
                </a:lnTo>
                <a:lnTo>
                  <a:pt x="261465" y="131493"/>
                </a:lnTo>
                <a:lnTo>
                  <a:pt x="251191" y="80309"/>
                </a:lnTo>
                <a:lnTo>
                  <a:pt x="223174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576279" y="3463711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344662" y="3401914"/>
            <a:ext cx="270510" cy="114300"/>
          </a:xfrm>
          <a:custGeom>
            <a:avLst/>
            <a:gdLst/>
            <a:ahLst/>
            <a:cxnLst/>
            <a:rect l="l" t="t" r="r" b="b"/>
            <a:pathLst>
              <a:path w="270509" h="114300">
                <a:moveTo>
                  <a:pt x="191488" y="95889"/>
                </a:moveTo>
                <a:lnTo>
                  <a:pt x="185835" y="114081"/>
                </a:lnTo>
                <a:lnTo>
                  <a:pt x="262388" y="101542"/>
                </a:lnTo>
                <a:lnTo>
                  <a:pt x="209679" y="101542"/>
                </a:lnTo>
                <a:lnTo>
                  <a:pt x="191488" y="95889"/>
                </a:lnTo>
                <a:close/>
              </a:path>
              <a:path w="270509" h="114300">
                <a:moveTo>
                  <a:pt x="202794" y="59505"/>
                </a:moveTo>
                <a:lnTo>
                  <a:pt x="191488" y="95889"/>
                </a:lnTo>
                <a:lnTo>
                  <a:pt x="209679" y="101542"/>
                </a:lnTo>
                <a:lnTo>
                  <a:pt x="220986" y="65158"/>
                </a:lnTo>
                <a:lnTo>
                  <a:pt x="202794" y="59505"/>
                </a:lnTo>
                <a:close/>
              </a:path>
              <a:path w="270509" h="114300">
                <a:moveTo>
                  <a:pt x="208447" y="41314"/>
                </a:moveTo>
                <a:lnTo>
                  <a:pt x="202794" y="59505"/>
                </a:lnTo>
                <a:lnTo>
                  <a:pt x="220986" y="65158"/>
                </a:lnTo>
                <a:lnTo>
                  <a:pt x="209679" y="101542"/>
                </a:lnTo>
                <a:lnTo>
                  <a:pt x="262388" y="101542"/>
                </a:lnTo>
                <a:lnTo>
                  <a:pt x="269909" y="100310"/>
                </a:lnTo>
                <a:lnTo>
                  <a:pt x="208447" y="41314"/>
                </a:lnTo>
                <a:close/>
              </a:path>
              <a:path w="270509" h="114300">
                <a:moveTo>
                  <a:pt x="11305" y="0"/>
                </a:moveTo>
                <a:lnTo>
                  <a:pt x="0" y="36384"/>
                </a:lnTo>
                <a:lnTo>
                  <a:pt x="191488" y="95889"/>
                </a:lnTo>
                <a:lnTo>
                  <a:pt x="202794" y="59505"/>
                </a:lnTo>
                <a:lnTo>
                  <a:pt x="113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088847" y="3650086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79846" y="10333"/>
                </a:lnTo>
                <a:lnTo>
                  <a:pt x="38291" y="38513"/>
                </a:lnTo>
                <a:lnTo>
                  <a:pt x="10273" y="80309"/>
                </a:lnTo>
                <a:lnTo>
                  <a:pt x="0" y="131493"/>
                </a:lnTo>
                <a:lnTo>
                  <a:pt x="10273" y="182676"/>
                </a:lnTo>
                <a:lnTo>
                  <a:pt x="38291" y="224472"/>
                </a:lnTo>
                <a:lnTo>
                  <a:pt x="79846" y="252653"/>
                </a:lnTo>
                <a:lnTo>
                  <a:pt x="130733" y="262986"/>
                </a:lnTo>
                <a:lnTo>
                  <a:pt x="181620" y="252653"/>
                </a:lnTo>
                <a:lnTo>
                  <a:pt x="223175" y="224472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09"/>
                </a:lnTo>
                <a:lnTo>
                  <a:pt x="223175" y="38513"/>
                </a:lnTo>
                <a:lnTo>
                  <a:pt x="181620" y="10333"/>
                </a:lnTo>
                <a:lnTo>
                  <a:pt x="130733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088847" y="3650086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343967" y="3677654"/>
            <a:ext cx="271145" cy="121920"/>
          </a:xfrm>
          <a:custGeom>
            <a:avLst/>
            <a:gdLst/>
            <a:ahLst/>
            <a:cxnLst/>
            <a:rect l="l" t="t" r="r" b="b"/>
            <a:pathLst>
              <a:path w="271145" h="121920">
                <a:moveTo>
                  <a:pt x="192410" y="17960"/>
                </a:moveTo>
                <a:lnTo>
                  <a:pt x="0" y="85963"/>
                </a:lnTo>
                <a:lnTo>
                  <a:pt x="12696" y="121886"/>
                </a:lnTo>
                <a:lnTo>
                  <a:pt x="205106" y="53883"/>
                </a:lnTo>
                <a:lnTo>
                  <a:pt x="192410" y="17960"/>
                </a:lnTo>
                <a:close/>
              </a:path>
              <a:path w="271145" h="121920">
                <a:moveTo>
                  <a:pt x="269560" y="11612"/>
                </a:moveTo>
                <a:lnTo>
                  <a:pt x="210371" y="11612"/>
                </a:lnTo>
                <a:lnTo>
                  <a:pt x="223067" y="47536"/>
                </a:lnTo>
                <a:lnTo>
                  <a:pt x="205106" y="53883"/>
                </a:lnTo>
                <a:lnTo>
                  <a:pt x="211454" y="71845"/>
                </a:lnTo>
                <a:lnTo>
                  <a:pt x="269560" y="11612"/>
                </a:lnTo>
                <a:close/>
              </a:path>
              <a:path w="271145" h="121920">
                <a:moveTo>
                  <a:pt x="210371" y="11612"/>
                </a:moveTo>
                <a:lnTo>
                  <a:pt x="192410" y="17960"/>
                </a:lnTo>
                <a:lnTo>
                  <a:pt x="205106" y="53883"/>
                </a:lnTo>
                <a:lnTo>
                  <a:pt x="223067" y="47536"/>
                </a:lnTo>
                <a:lnTo>
                  <a:pt x="210371" y="11612"/>
                </a:lnTo>
                <a:close/>
              </a:path>
              <a:path w="271145" h="121920">
                <a:moveTo>
                  <a:pt x="186062" y="0"/>
                </a:moveTo>
                <a:lnTo>
                  <a:pt x="192410" y="17960"/>
                </a:lnTo>
                <a:lnTo>
                  <a:pt x="210371" y="11612"/>
                </a:lnTo>
                <a:lnTo>
                  <a:pt x="269560" y="11612"/>
                </a:lnTo>
                <a:lnTo>
                  <a:pt x="270603" y="10530"/>
                </a:lnTo>
                <a:lnTo>
                  <a:pt x="1860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389774" y="3140455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10"/>
                </a:lnTo>
                <a:lnTo>
                  <a:pt x="0" y="131494"/>
                </a:lnTo>
                <a:lnTo>
                  <a:pt x="10273" y="182677"/>
                </a:lnTo>
                <a:lnTo>
                  <a:pt x="38290" y="224474"/>
                </a:lnTo>
                <a:lnTo>
                  <a:pt x="79845" y="252654"/>
                </a:lnTo>
                <a:lnTo>
                  <a:pt x="130732" y="262987"/>
                </a:lnTo>
                <a:lnTo>
                  <a:pt x="181619" y="252654"/>
                </a:lnTo>
                <a:lnTo>
                  <a:pt x="223175" y="224474"/>
                </a:lnTo>
                <a:lnTo>
                  <a:pt x="251192" y="182677"/>
                </a:lnTo>
                <a:lnTo>
                  <a:pt x="261466" y="131494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389774" y="3140455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887008" y="3470069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3"/>
                </a:lnTo>
                <a:lnTo>
                  <a:pt x="79845" y="252654"/>
                </a:lnTo>
                <a:lnTo>
                  <a:pt x="130732" y="262987"/>
                </a:lnTo>
                <a:lnTo>
                  <a:pt x="181619" y="252654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887009" y="3470069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638791" y="3257531"/>
            <a:ext cx="287020" cy="251460"/>
          </a:xfrm>
          <a:custGeom>
            <a:avLst/>
            <a:gdLst/>
            <a:ahLst/>
            <a:cxnLst/>
            <a:rect l="l" t="t" r="r" b="b"/>
            <a:pathLst>
              <a:path w="287020" h="251460">
                <a:moveTo>
                  <a:pt x="216382" y="215669"/>
                </a:moveTo>
                <a:lnTo>
                  <a:pt x="203932" y="230088"/>
                </a:lnTo>
                <a:lnTo>
                  <a:pt x="286508" y="251049"/>
                </a:lnTo>
                <a:lnTo>
                  <a:pt x="276950" y="228119"/>
                </a:lnTo>
                <a:lnTo>
                  <a:pt x="230802" y="228119"/>
                </a:lnTo>
                <a:lnTo>
                  <a:pt x="216382" y="215669"/>
                </a:lnTo>
                <a:close/>
              </a:path>
              <a:path w="287020" h="251460">
                <a:moveTo>
                  <a:pt x="241282" y="186831"/>
                </a:moveTo>
                <a:lnTo>
                  <a:pt x="216382" y="215669"/>
                </a:lnTo>
                <a:lnTo>
                  <a:pt x="230802" y="228119"/>
                </a:lnTo>
                <a:lnTo>
                  <a:pt x="255701" y="199282"/>
                </a:lnTo>
                <a:lnTo>
                  <a:pt x="241282" y="186831"/>
                </a:lnTo>
                <a:close/>
              </a:path>
              <a:path w="287020" h="251460">
                <a:moveTo>
                  <a:pt x="253732" y="172412"/>
                </a:moveTo>
                <a:lnTo>
                  <a:pt x="241282" y="186831"/>
                </a:lnTo>
                <a:lnTo>
                  <a:pt x="255701" y="199282"/>
                </a:lnTo>
                <a:lnTo>
                  <a:pt x="230802" y="228119"/>
                </a:lnTo>
                <a:lnTo>
                  <a:pt x="276950" y="228119"/>
                </a:lnTo>
                <a:lnTo>
                  <a:pt x="253732" y="172412"/>
                </a:lnTo>
                <a:close/>
              </a:path>
              <a:path w="287020" h="251460">
                <a:moveTo>
                  <a:pt x="24899" y="0"/>
                </a:moveTo>
                <a:lnTo>
                  <a:pt x="0" y="28837"/>
                </a:lnTo>
                <a:lnTo>
                  <a:pt x="216382" y="215669"/>
                </a:lnTo>
                <a:lnTo>
                  <a:pt x="241282" y="186831"/>
                </a:lnTo>
                <a:lnTo>
                  <a:pt x="24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389776" y="3470238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09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2"/>
                </a:lnTo>
                <a:lnTo>
                  <a:pt x="79845" y="252653"/>
                </a:lnTo>
                <a:lnTo>
                  <a:pt x="130732" y="262986"/>
                </a:lnTo>
                <a:lnTo>
                  <a:pt x="181619" y="252653"/>
                </a:lnTo>
                <a:lnTo>
                  <a:pt x="223174" y="224472"/>
                </a:lnTo>
                <a:lnTo>
                  <a:pt x="251191" y="182676"/>
                </a:lnTo>
                <a:lnTo>
                  <a:pt x="261465" y="131493"/>
                </a:lnTo>
                <a:lnTo>
                  <a:pt x="251191" y="80309"/>
                </a:lnTo>
                <a:lnTo>
                  <a:pt x="223174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389776" y="3470238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651229" y="3563516"/>
            <a:ext cx="236220" cy="76200"/>
          </a:xfrm>
          <a:custGeom>
            <a:avLst/>
            <a:gdLst/>
            <a:ahLst/>
            <a:cxnLst/>
            <a:rect l="l" t="t" r="r" b="b"/>
            <a:pathLst>
              <a:path w="236220" h="76200">
                <a:moveTo>
                  <a:pt x="197695" y="19037"/>
                </a:moveTo>
                <a:lnTo>
                  <a:pt x="178616" y="19037"/>
                </a:lnTo>
                <a:lnTo>
                  <a:pt x="178644" y="57137"/>
                </a:lnTo>
                <a:lnTo>
                  <a:pt x="159593" y="57150"/>
                </a:lnTo>
                <a:lnTo>
                  <a:pt x="159607" y="76200"/>
                </a:lnTo>
                <a:lnTo>
                  <a:pt x="235780" y="38045"/>
                </a:lnTo>
                <a:lnTo>
                  <a:pt x="197695" y="19037"/>
                </a:lnTo>
                <a:close/>
              </a:path>
              <a:path w="236220" h="76200">
                <a:moveTo>
                  <a:pt x="159566" y="19050"/>
                </a:moveTo>
                <a:lnTo>
                  <a:pt x="0" y="19165"/>
                </a:lnTo>
                <a:lnTo>
                  <a:pt x="26" y="57265"/>
                </a:lnTo>
                <a:lnTo>
                  <a:pt x="159593" y="57150"/>
                </a:lnTo>
                <a:lnTo>
                  <a:pt x="159566" y="19050"/>
                </a:lnTo>
                <a:close/>
              </a:path>
              <a:path w="236220" h="76200">
                <a:moveTo>
                  <a:pt x="178616" y="19037"/>
                </a:moveTo>
                <a:lnTo>
                  <a:pt x="159566" y="19050"/>
                </a:lnTo>
                <a:lnTo>
                  <a:pt x="159593" y="57150"/>
                </a:lnTo>
                <a:lnTo>
                  <a:pt x="178644" y="57137"/>
                </a:lnTo>
                <a:lnTo>
                  <a:pt x="178616" y="19037"/>
                </a:lnTo>
                <a:close/>
              </a:path>
              <a:path w="236220" h="76200">
                <a:moveTo>
                  <a:pt x="159552" y="0"/>
                </a:moveTo>
                <a:lnTo>
                  <a:pt x="159566" y="19050"/>
                </a:lnTo>
                <a:lnTo>
                  <a:pt x="197695" y="19037"/>
                </a:lnTo>
                <a:lnTo>
                  <a:pt x="1595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389774" y="3791869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09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3"/>
                </a:lnTo>
                <a:lnTo>
                  <a:pt x="79845" y="252653"/>
                </a:lnTo>
                <a:lnTo>
                  <a:pt x="130732" y="262986"/>
                </a:lnTo>
                <a:lnTo>
                  <a:pt x="181619" y="252653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09"/>
                </a:lnTo>
                <a:lnTo>
                  <a:pt x="223175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389774" y="3791869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639032" y="3694541"/>
            <a:ext cx="286385" cy="243840"/>
          </a:xfrm>
          <a:custGeom>
            <a:avLst/>
            <a:gdLst/>
            <a:ahLst/>
            <a:cxnLst/>
            <a:rect l="l" t="t" r="r" b="b"/>
            <a:pathLst>
              <a:path w="286384" h="243839">
                <a:moveTo>
                  <a:pt x="215565" y="34214"/>
                </a:moveTo>
                <a:lnTo>
                  <a:pt x="0" y="214200"/>
                </a:lnTo>
                <a:lnTo>
                  <a:pt x="24418" y="243446"/>
                </a:lnTo>
                <a:lnTo>
                  <a:pt x="239984" y="63460"/>
                </a:lnTo>
                <a:lnTo>
                  <a:pt x="215565" y="34214"/>
                </a:lnTo>
                <a:close/>
              </a:path>
              <a:path w="286384" h="243839">
                <a:moveTo>
                  <a:pt x="276664" y="22005"/>
                </a:moveTo>
                <a:lnTo>
                  <a:pt x="230188" y="22005"/>
                </a:lnTo>
                <a:lnTo>
                  <a:pt x="254607" y="51250"/>
                </a:lnTo>
                <a:lnTo>
                  <a:pt x="239984" y="63460"/>
                </a:lnTo>
                <a:lnTo>
                  <a:pt x="252194" y="78083"/>
                </a:lnTo>
                <a:lnTo>
                  <a:pt x="276664" y="22005"/>
                </a:lnTo>
                <a:close/>
              </a:path>
              <a:path w="286384" h="243839">
                <a:moveTo>
                  <a:pt x="230188" y="22005"/>
                </a:moveTo>
                <a:lnTo>
                  <a:pt x="215565" y="34214"/>
                </a:lnTo>
                <a:lnTo>
                  <a:pt x="239984" y="63460"/>
                </a:lnTo>
                <a:lnTo>
                  <a:pt x="254607" y="51250"/>
                </a:lnTo>
                <a:lnTo>
                  <a:pt x="230188" y="22005"/>
                </a:lnTo>
                <a:close/>
              </a:path>
              <a:path w="286384" h="243839">
                <a:moveTo>
                  <a:pt x="286266" y="0"/>
                </a:moveTo>
                <a:lnTo>
                  <a:pt x="203356" y="19592"/>
                </a:lnTo>
                <a:lnTo>
                  <a:pt x="215565" y="34214"/>
                </a:lnTo>
                <a:lnTo>
                  <a:pt x="230188" y="22005"/>
                </a:lnTo>
                <a:lnTo>
                  <a:pt x="276664" y="22005"/>
                </a:lnTo>
                <a:lnTo>
                  <a:pt x="2862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467844" y="4854176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3" y="0"/>
                </a:moveTo>
                <a:lnTo>
                  <a:pt x="79846" y="10333"/>
                </a:lnTo>
                <a:lnTo>
                  <a:pt x="38291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1" y="224473"/>
                </a:lnTo>
                <a:lnTo>
                  <a:pt x="79846" y="252654"/>
                </a:lnTo>
                <a:lnTo>
                  <a:pt x="130733" y="262987"/>
                </a:lnTo>
                <a:lnTo>
                  <a:pt x="181620" y="252654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20" y="10333"/>
                </a:lnTo>
                <a:lnTo>
                  <a:pt x="130733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467845" y="4854176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955278" y="5029274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09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2"/>
                </a:lnTo>
                <a:lnTo>
                  <a:pt x="79845" y="252653"/>
                </a:lnTo>
                <a:lnTo>
                  <a:pt x="130732" y="262986"/>
                </a:lnTo>
                <a:lnTo>
                  <a:pt x="181619" y="252653"/>
                </a:lnTo>
                <a:lnTo>
                  <a:pt x="223175" y="224472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09"/>
                </a:lnTo>
                <a:lnTo>
                  <a:pt x="223175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955278" y="5029274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723659" y="4967478"/>
            <a:ext cx="270510" cy="114300"/>
          </a:xfrm>
          <a:custGeom>
            <a:avLst/>
            <a:gdLst/>
            <a:ahLst/>
            <a:cxnLst/>
            <a:rect l="l" t="t" r="r" b="b"/>
            <a:pathLst>
              <a:path w="270510" h="114300">
                <a:moveTo>
                  <a:pt x="191488" y="95889"/>
                </a:moveTo>
                <a:lnTo>
                  <a:pt x="185835" y="114081"/>
                </a:lnTo>
                <a:lnTo>
                  <a:pt x="262381" y="101542"/>
                </a:lnTo>
                <a:lnTo>
                  <a:pt x="209680" y="101542"/>
                </a:lnTo>
                <a:lnTo>
                  <a:pt x="191488" y="95889"/>
                </a:lnTo>
                <a:close/>
              </a:path>
              <a:path w="270510" h="114300">
                <a:moveTo>
                  <a:pt x="202794" y="59505"/>
                </a:moveTo>
                <a:lnTo>
                  <a:pt x="191488" y="95889"/>
                </a:lnTo>
                <a:lnTo>
                  <a:pt x="209680" y="101542"/>
                </a:lnTo>
                <a:lnTo>
                  <a:pt x="220986" y="65158"/>
                </a:lnTo>
                <a:lnTo>
                  <a:pt x="202794" y="59505"/>
                </a:lnTo>
                <a:close/>
              </a:path>
              <a:path w="270510" h="114300">
                <a:moveTo>
                  <a:pt x="208447" y="41313"/>
                </a:moveTo>
                <a:lnTo>
                  <a:pt x="202794" y="59505"/>
                </a:lnTo>
                <a:lnTo>
                  <a:pt x="220986" y="65158"/>
                </a:lnTo>
                <a:lnTo>
                  <a:pt x="209680" y="101542"/>
                </a:lnTo>
                <a:lnTo>
                  <a:pt x="262381" y="101542"/>
                </a:lnTo>
                <a:lnTo>
                  <a:pt x="269909" y="100309"/>
                </a:lnTo>
                <a:lnTo>
                  <a:pt x="208447" y="41313"/>
                </a:lnTo>
                <a:close/>
              </a:path>
              <a:path w="270510" h="114300">
                <a:moveTo>
                  <a:pt x="11306" y="0"/>
                </a:moveTo>
                <a:lnTo>
                  <a:pt x="0" y="36384"/>
                </a:lnTo>
                <a:lnTo>
                  <a:pt x="191488" y="95889"/>
                </a:lnTo>
                <a:lnTo>
                  <a:pt x="202794" y="59505"/>
                </a:lnTo>
                <a:lnTo>
                  <a:pt x="113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467844" y="5215649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3" y="0"/>
                </a:moveTo>
                <a:lnTo>
                  <a:pt x="79846" y="10333"/>
                </a:lnTo>
                <a:lnTo>
                  <a:pt x="38291" y="38513"/>
                </a:lnTo>
                <a:lnTo>
                  <a:pt x="10273" y="80309"/>
                </a:lnTo>
                <a:lnTo>
                  <a:pt x="0" y="131493"/>
                </a:lnTo>
                <a:lnTo>
                  <a:pt x="10273" y="182676"/>
                </a:lnTo>
                <a:lnTo>
                  <a:pt x="38291" y="224472"/>
                </a:lnTo>
                <a:lnTo>
                  <a:pt x="79846" y="252653"/>
                </a:lnTo>
                <a:lnTo>
                  <a:pt x="130733" y="262986"/>
                </a:lnTo>
                <a:lnTo>
                  <a:pt x="181620" y="252653"/>
                </a:lnTo>
                <a:lnTo>
                  <a:pt x="223175" y="224472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09"/>
                </a:lnTo>
                <a:lnTo>
                  <a:pt x="223175" y="38513"/>
                </a:lnTo>
                <a:lnTo>
                  <a:pt x="181620" y="10333"/>
                </a:lnTo>
                <a:lnTo>
                  <a:pt x="130733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467845" y="5215649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722964" y="5243217"/>
            <a:ext cx="271145" cy="121920"/>
          </a:xfrm>
          <a:custGeom>
            <a:avLst/>
            <a:gdLst/>
            <a:ahLst/>
            <a:cxnLst/>
            <a:rect l="l" t="t" r="r" b="b"/>
            <a:pathLst>
              <a:path w="271144" h="121920">
                <a:moveTo>
                  <a:pt x="192410" y="17960"/>
                </a:moveTo>
                <a:lnTo>
                  <a:pt x="0" y="85963"/>
                </a:lnTo>
                <a:lnTo>
                  <a:pt x="12696" y="121885"/>
                </a:lnTo>
                <a:lnTo>
                  <a:pt x="205106" y="53882"/>
                </a:lnTo>
                <a:lnTo>
                  <a:pt x="192410" y="17960"/>
                </a:lnTo>
                <a:close/>
              </a:path>
              <a:path w="271144" h="121920">
                <a:moveTo>
                  <a:pt x="269558" y="11612"/>
                </a:moveTo>
                <a:lnTo>
                  <a:pt x="210371" y="11612"/>
                </a:lnTo>
                <a:lnTo>
                  <a:pt x="223067" y="47534"/>
                </a:lnTo>
                <a:lnTo>
                  <a:pt x="205106" y="53882"/>
                </a:lnTo>
                <a:lnTo>
                  <a:pt x="211455" y="71843"/>
                </a:lnTo>
                <a:lnTo>
                  <a:pt x="269558" y="11612"/>
                </a:lnTo>
                <a:close/>
              </a:path>
              <a:path w="271144" h="121920">
                <a:moveTo>
                  <a:pt x="210371" y="11612"/>
                </a:moveTo>
                <a:lnTo>
                  <a:pt x="192410" y="17960"/>
                </a:lnTo>
                <a:lnTo>
                  <a:pt x="205106" y="53882"/>
                </a:lnTo>
                <a:lnTo>
                  <a:pt x="223067" y="47534"/>
                </a:lnTo>
                <a:lnTo>
                  <a:pt x="210371" y="11612"/>
                </a:lnTo>
                <a:close/>
              </a:path>
              <a:path w="271144" h="121920">
                <a:moveTo>
                  <a:pt x="186062" y="0"/>
                </a:moveTo>
                <a:lnTo>
                  <a:pt x="192410" y="17960"/>
                </a:lnTo>
                <a:lnTo>
                  <a:pt x="210371" y="11612"/>
                </a:lnTo>
                <a:lnTo>
                  <a:pt x="269558" y="11612"/>
                </a:lnTo>
                <a:lnTo>
                  <a:pt x="270603" y="10529"/>
                </a:lnTo>
                <a:lnTo>
                  <a:pt x="1860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958067" y="5026729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09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2"/>
                </a:lnTo>
                <a:lnTo>
                  <a:pt x="79845" y="252653"/>
                </a:lnTo>
                <a:lnTo>
                  <a:pt x="130732" y="262986"/>
                </a:lnTo>
                <a:lnTo>
                  <a:pt x="181619" y="252653"/>
                </a:lnTo>
                <a:lnTo>
                  <a:pt x="223175" y="224472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09"/>
                </a:lnTo>
                <a:lnTo>
                  <a:pt x="223175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C9C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958067" y="5026729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19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456365" y="5041982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09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3"/>
                </a:lnTo>
                <a:lnTo>
                  <a:pt x="79845" y="252653"/>
                </a:lnTo>
                <a:lnTo>
                  <a:pt x="130732" y="262986"/>
                </a:lnTo>
                <a:lnTo>
                  <a:pt x="181619" y="252653"/>
                </a:lnTo>
                <a:lnTo>
                  <a:pt x="223174" y="224473"/>
                </a:lnTo>
                <a:lnTo>
                  <a:pt x="251191" y="182676"/>
                </a:lnTo>
                <a:lnTo>
                  <a:pt x="261465" y="131493"/>
                </a:lnTo>
                <a:lnTo>
                  <a:pt x="251191" y="80309"/>
                </a:lnTo>
                <a:lnTo>
                  <a:pt x="223174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456364" y="5041982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212649" y="5120120"/>
            <a:ext cx="226060" cy="76200"/>
          </a:xfrm>
          <a:custGeom>
            <a:avLst/>
            <a:gdLst/>
            <a:ahLst/>
            <a:cxnLst/>
            <a:rect l="l" t="t" r="r" b="b"/>
            <a:pathLst>
              <a:path w="226060" h="76200">
                <a:moveTo>
                  <a:pt x="187864" y="19048"/>
                </a:moveTo>
                <a:lnTo>
                  <a:pt x="168816" y="19048"/>
                </a:lnTo>
                <a:lnTo>
                  <a:pt x="168816" y="57148"/>
                </a:lnTo>
                <a:lnTo>
                  <a:pt x="149765" y="57149"/>
                </a:lnTo>
                <a:lnTo>
                  <a:pt x="149766" y="76200"/>
                </a:lnTo>
                <a:lnTo>
                  <a:pt x="225966" y="38098"/>
                </a:lnTo>
                <a:lnTo>
                  <a:pt x="187864" y="19048"/>
                </a:lnTo>
                <a:close/>
              </a:path>
              <a:path w="226060" h="76200">
                <a:moveTo>
                  <a:pt x="149765" y="19049"/>
                </a:moveTo>
                <a:lnTo>
                  <a:pt x="0" y="19052"/>
                </a:lnTo>
                <a:lnTo>
                  <a:pt x="1" y="57152"/>
                </a:lnTo>
                <a:lnTo>
                  <a:pt x="149765" y="57149"/>
                </a:lnTo>
                <a:lnTo>
                  <a:pt x="149765" y="19049"/>
                </a:lnTo>
                <a:close/>
              </a:path>
              <a:path w="226060" h="76200">
                <a:moveTo>
                  <a:pt x="168816" y="19048"/>
                </a:moveTo>
                <a:lnTo>
                  <a:pt x="149765" y="19049"/>
                </a:lnTo>
                <a:lnTo>
                  <a:pt x="149765" y="57149"/>
                </a:lnTo>
                <a:lnTo>
                  <a:pt x="168816" y="57148"/>
                </a:lnTo>
                <a:lnTo>
                  <a:pt x="168816" y="19048"/>
                </a:lnTo>
                <a:close/>
              </a:path>
              <a:path w="226060" h="76200">
                <a:moveTo>
                  <a:pt x="149764" y="0"/>
                </a:moveTo>
                <a:lnTo>
                  <a:pt x="149765" y="19049"/>
                </a:lnTo>
                <a:lnTo>
                  <a:pt x="187864" y="19048"/>
                </a:lnTo>
                <a:lnTo>
                  <a:pt x="1497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304435" y="4841793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09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2"/>
                </a:lnTo>
                <a:lnTo>
                  <a:pt x="79845" y="252653"/>
                </a:lnTo>
                <a:lnTo>
                  <a:pt x="130732" y="262986"/>
                </a:lnTo>
                <a:lnTo>
                  <a:pt x="181619" y="252653"/>
                </a:lnTo>
                <a:lnTo>
                  <a:pt x="223174" y="224472"/>
                </a:lnTo>
                <a:lnTo>
                  <a:pt x="251191" y="182676"/>
                </a:lnTo>
                <a:lnTo>
                  <a:pt x="261465" y="131493"/>
                </a:lnTo>
                <a:lnTo>
                  <a:pt x="251191" y="80309"/>
                </a:lnTo>
                <a:lnTo>
                  <a:pt x="223174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304434" y="4841793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791868" y="4841791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79846" y="10333"/>
                </a:lnTo>
                <a:lnTo>
                  <a:pt x="38291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1" y="224473"/>
                </a:lnTo>
                <a:lnTo>
                  <a:pt x="79846" y="252654"/>
                </a:lnTo>
                <a:lnTo>
                  <a:pt x="130733" y="262987"/>
                </a:lnTo>
                <a:lnTo>
                  <a:pt x="181620" y="252654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20" y="10333"/>
                </a:lnTo>
                <a:lnTo>
                  <a:pt x="130733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791868" y="4841791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565902" y="4935184"/>
            <a:ext cx="226060" cy="76200"/>
          </a:xfrm>
          <a:custGeom>
            <a:avLst/>
            <a:gdLst/>
            <a:ahLst/>
            <a:cxnLst/>
            <a:rect l="l" t="t" r="r" b="b"/>
            <a:pathLst>
              <a:path w="226060" h="76200">
                <a:moveTo>
                  <a:pt x="187866" y="19050"/>
                </a:moveTo>
                <a:lnTo>
                  <a:pt x="168816" y="19050"/>
                </a:lnTo>
                <a:lnTo>
                  <a:pt x="168816" y="57150"/>
                </a:lnTo>
                <a:lnTo>
                  <a:pt x="149765" y="57150"/>
                </a:lnTo>
                <a:lnTo>
                  <a:pt x="149766" y="76200"/>
                </a:lnTo>
                <a:lnTo>
                  <a:pt x="225966" y="38098"/>
                </a:lnTo>
                <a:lnTo>
                  <a:pt x="187866" y="19050"/>
                </a:lnTo>
                <a:close/>
              </a:path>
              <a:path w="226060" h="76200">
                <a:moveTo>
                  <a:pt x="149765" y="19050"/>
                </a:moveTo>
                <a:lnTo>
                  <a:pt x="0" y="19052"/>
                </a:lnTo>
                <a:lnTo>
                  <a:pt x="1" y="57152"/>
                </a:lnTo>
                <a:lnTo>
                  <a:pt x="149765" y="57150"/>
                </a:lnTo>
                <a:lnTo>
                  <a:pt x="149765" y="19050"/>
                </a:lnTo>
                <a:close/>
              </a:path>
              <a:path w="226060" h="76200">
                <a:moveTo>
                  <a:pt x="168816" y="19050"/>
                </a:moveTo>
                <a:lnTo>
                  <a:pt x="149765" y="19050"/>
                </a:lnTo>
                <a:lnTo>
                  <a:pt x="149765" y="57150"/>
                </a:lnTo>
                <a:lnTo>
                  <a:pt x="168816" y="57150"/>
                </a:lnTo>
                <a:lnTo>
                  <a:pt x="168816" y="19050"/>
                </a:lnTo>
                <a:close/>
              </a:path>
              <a:path w="226060" h="76200">
                <a:moveTo>
                  <a:pt x="149764" y="0"/>
                </a:moveTo>
                <a:lnTo>
                  <a:pt x="149765" y="19050"/>
                </a:lnTo>
                <a:lnTo>
                  <a:pt x="187866" y="19050"/>
                </a:lnTo>
                <a:lnTo>
                  <a:pt x="1497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791862" y="4837381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79846" y="10333"/>
                </a:lnTo>
                <a:lnTo>
                  <a:pt x="38291" y="38513"/>
                </a:lnTo>
                <a:lnTo>
                  <a:pt x="10273" y="80309"/>
                </a:lnTo>
                <a:lnTo>
                  <a:pt x="0" y="131493"/>
                </a:lnTo>
                <a:lnTo>
                  <a:pt x="10273" y="182676"/>
                </a:lnTo>
                <a:lnTo>
                  <a:pt x="38291" y="224472"/>
                </a:lnTo>
                <a:lnTo>
                  <a:pt x="79846" y="252653"/>
                </a:lnTo>
                <a:lnTo>
                  <a:pt x="130733" y="262986"/>
                </a:lnTo>
                <a:lnTo>
                  <a:pt x="181620" y="252653"/>
                </a:lnTo>
                <a:lnTo>
                  <a:pt x="223175" y="224472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09"/>
                </a:lnTo>
                <a:lnTo>
                  <a:pt x="223175" y="38513"/>
                </a:lnTo>
                <a:lnTo>
                  <a:pt x="181620" y="10333"/>
                </a:lnTo>
                <a:lnTo>
                  <a:pt x="130733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791863" y="4837381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279296" y="5012479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3"/>
                </a:lnTo>
                <a:lnTo>
                  <a:pt x="79845" y="252654"/>
                </a:lnTo>
                <a:lnTo>
                  <a:pt x="130732" y="262987"/>
                </a:lnTo>
                <a:lnTo>
                  <a:pt x="181619" y="252654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279296" y="5012479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047677" y="4950683"/>
            <a:ext cx="270510" cy="114300"/>
          </a:xfrm>
          <a:custGeom>
            <a:avLst/>
            <a:gdLst/>
            <a:ahLst/>
            <a:cxnLst/>
            <a:rect l="l" t="t" r="r" b="b"/>
            <a:pathLst>
              <a:path w="270510" h="114300">
                <a:moveTo>
                  <a:pt x="191488" y="95888"/>
                </a:moveTo>
                <a:lnTo>
                  <a:pt x="185835" y="114080"/>
                </a:lnTo>
                <a:lnTo>
                  <a:pt x="262388" y="101541"/>
                </a:lnTo>
                <a:lnTo>
                  <a:pt x="209680" y="101541"/>
                </a:lnTo>
                <a:lnTo>
                  <a:pt x="191488" y="95888"/>
                </a:lnTo>
                <a:close/>
              </a:path>
              <a:path w="270510" h="114300">
                <a:moveTo>
                  <a:pt x="202794" y="59505"/>
                </a:moveTo>
                <a:lnTo>
                  <a:pt x="191488" y="95888"/>
                </a:lnTo>
                <a:lnTo>
                  <a:pt x="209680" y="101541"/>
                </a:lnTo>
                <a:lnTo>
                  <a:pt x="220986" y="65158"/>
                </a:lnTo>
                <a:lnTo>
                  <a:pt x="202794" y="59505"/>
                </a:lnTo>
                <a:close/>
              </a:path>
              <a:path w="270510" h="114300">
                <a:moveTo>
                  <a:pt x="208447" y="41313"/>
                </a:moveTo>
                <a:lnTo>
                  <a:pt x="202794" y="59505"/>
                </a:lnTo>
                <a:lnTo>
                  <a:pt x="220986" y="65158"/>
                </a:lnTo>
                <a:lnTo>
                  <a:pt x="209680" y="101541"/>
                </a:lnTo>
                <a:lnTo>
                  <a:pt x="262388" y="101541"/>
                </a:lnTo>
                <a:lnTo>
                  <a:pt x="269909" y="100309"/>
                </a:lnTo>
                <a:lnTo>
                  <a:pt x="208447" y="41313"/>
                </a:lnTo>
                <a:close/>
              </a:path>
              <a:path w="270510" h="114300">
                <a:moveTo>
                  <a:pt x="11306" y="0"/>
                </a:moveTo>
                <a:lnTo>
                  <a:pt x="0" y="36382"/>
                </a:lnTo>
                <a:lnTo>
                  <a:pt x="191488" y="95888"/>
                </a:lnTo>
                <a:lnTo>
                  <a:pt x="202794" y="59505"/>
                </a:lnTo>
                <a:lnTo>
                  <a:pt x="113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791862" y="5198854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79846" y="10333"/>
                </a:lnTo>
                <a:lnTo>
                  <a:pt x="38291" y="38513"/>
                </a:lnTo>
                <a:lnTo>
                  <a:pt x="10273" y="80310"/>
                </a:lnTo>
                <a:lnTo>
                  <a:pt x="0" y="131493"/>
                </a:lnTo>
                <a:lnTo>
                  <a:pt x="10273" y="182676"/>
                </a:lnTo>
                <a:lnTo>
                  <a:pt x="38291" y="224473"/>
                </a:lnTo>
                <a:lnTo>
                  <a:pt x="79846" y="252653"/>
                </a:lnTo>
                <a:lnTo>
                  <a:pt x="130733" y="262986"/>
                </a:lnTo>
                <a:lnTo>
                  <a:pt x="181620" y="252653"/>
                </a:lnTo>
                <a:lnTo>
                  <a:pt x="223175" y="224473"/>
                </a:lnTo>
                <a:lnTo>
                  <a:pt x="251192" y="182676"/>
                </a:lnTo>
                <a:lnTo>
                  <a:pt x="261466" y="131493"/>
                </a:lnTo>
                <a:lnTo>
                  <a:pt x="251192" y="80310"/>
                </a:lnTo>
                <a:lnTo>
                  <a:pt x="223175" y="38513"/>
                </a:lnTo>
                <a:lnTo>
                  <a:pt x="181620" y="10333"/>
                </a:lnTo>
                <a:lnTo>
                  <a:pt x="130733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791863" y="5198854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046983" y="5226422"/>
            <a:ext cx="271145" cy="121920"/>
          </a:xfrm>
          <a:custGeom>
            <a:avLst/>
            <a:gdLst/>
            <a:ahLst/>
            <a:cxnLst/>
            <a:rect l="l" t="t" r="r" b="b"/>
            <a:pathLst>
              <a:path w="271145" h="121920">
                <a:moveTo>
                  <a:pt x="192410" y="17961"/>
                </a:moveTo>
                <a:lnTo>
                  <a:pt x="0" y="85965"/>
                </a:lnTo>
                <a:lnTo>
                  <a:pt x="12696" y="121886"/>
                </a:lnTo>
                <a:lnTo>
                  <a:pt x="205106" y="53883"/>
                </a:lnTo>
                <a:lnTo>
                  <a:pt x="192410" y="17961"/>
                </a:lnTo>
                <a:close/>
              </a:path>
              <a:path w="271145" h="121920">
                <a:moveTo>
                  <a:pt x="269558" y="11614"/>
                </a:moveTo>
                <a:lnTo>
                  <a:pt x="210371" y="11614"/>
                </a:lnTo>
                <a:lnTo>
                  <a:pt x="223067" y="47536"/>
                </a:lnTo>
                <a:lnTo>
                  <a:pt x="205106" y="53883"/>
                </a:lnTo>
                <a:lnTo>
                  <a:pt x="211454" y="71845"/>
                </a:lnTo>
                <a:lnTo>
                  <a:pt x="269558" y="11614"/>
                </a:lnTo>
                <a:close/>
              </a:path>
              <a:path w="271145" h="121920">
                <a:moveTo>
                  <a:pt x="210371" y="11614"/>
                </a:moveTo>
                <a:lnTo>
                  <a:pt x="192410" y="17961"/>
                </a:lnTo>
                <a:lnTo>
                  <a:pt x="205106" y="53883"/>
                </a:lnTo>
                <a:lnTo>
                  <a:pt x="223067" y="47536"/>
                </a:lnTo>
                <a:lnTo>
                  <a:pt x="210371" y="11614"/>
                </a:lnTo>
                <a:close/>
              </a:path>
              <a:path w="271145" h="121920">
                <a:moveTo>
                  <a:pt x="186062" y="0"/>
                </a:moveTo>
                <a:lnTo>
                  <a:pt x="192410" y="17961"/>
                </a:lnTo>
                <a:lnTo>
                  <a:pt x="210371" y="11614"/>
                </a:lnTo>
                <a:lnTo>
                  <a:pt x="269558" y="11614"/>
                </a:lnTo>
                <a:lnTo>
                  <a:pt x="270603" y="10530"/>
                </a:lnTo>
                <a:lnTo>
                  <a:pt x="1860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791866" y="4841789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2" y="0"/>
                </a:moveTo>
                <a:lnTo>
                  <a:pt x="79845" y="10333"/>
                </a:lnTo>
                <a:lnTo>
                  <a:pt x="38290" y="38513"/>
                </a:lnTo>
                <a:lnTo>
                  <a:pt x="10273" y="80309"/>
                </a:lnTo>
                <a:lnTo>
                  <a:pt x="0" y="131493"/>
                </a:lnTo>
                <a:lnTo>
                  <a:pt x="10273" y="182676"/>
                </a:lnTo>
                <a:lnTo>
                  <a:pt x="38290" y="224472"/>
                </a:lnTo>
                <a:lnTo>
                  <a:pt x="79845" y="252653"/>
                </a:lnTo>
                <a:lnTo>
                  <a:pt x="130732" y="262986"/>
                </a:lnTo>
                <a:lnTo>
                  <a:pt x="181619" y="252653"/>
                </a:lnTo>
                <a:lnTo>
                  <a:pt x="223174" y="224472"/>
                </a:lnTo>
                <a:lnTo>
                  <a:pt x="251191" y="182676"/>
                </a:lnTo>
                <a:lnTo>
                  <a:pt x="261465" y="131493"/>
                </a:lnTo>
                <a:lnTo>
                  <a:pt x="251191" y="80309"/>
                </a:lnTo>
                <a:lnTo>
                  <a:pt x="223174" y="38513"/>
                </a:lnTo>
                <a:lnTo>
                  <a:pt x="181619" y="10333"/>
                </a:lnTo>
                <a:lnTo>
                  <a:pt x="130732" y="0"/>
                </a:lnTo>
                <a:close/>
              </a:path>
            </a:pathLst>
          </a:custGeom>
          <a:solidFill>
            <a:srgbClr val="C9C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791865" y="4841789"/>
            <a:ext cx="261620" cy="263525"/>
          </a:xfrm>
          <a:custGeom>
            <a:avLst/>
            <a:gdLst/>
            <a:ahLst/>
            <a:cxnLst/>
            <a:rect l="l" t="t" r="r" b="b"/>
            <a:pathLst>
              <a:path w="261620" h="263525">
                <a:moveTo>
                  <a:pt x="130733" y="0"/>
                </a:moveTo>
                <a:lnTo>
                  <a:pt x="181620" y="10333"/>
                </a:lnTo>
                <a:lnTo>
                  <a:pt x="223175" y="38513"/>
                </a:lnTo>
                <a:lnTo>
                  <a:pt x="251192" y="80310"/>
                </a:lnTo>
                <a:lnTo>
                  <a:pt x="261466" y="131493"/>
                </a:lnTo>
                <a:lnTo>
                  <a:pt x="251192" y="182676"/>
                </a:lnTo>
                <a:lnTo>
                  <a:pt x="223175" y="224473"/>
                </a:lnTo>
                <a:lnTo>
                  <a:pt x="181620" y="252653"/>
                </a:lnTo>
                <a:lnTo>
                  <a:pt x="130733" y="262987"/>
                </a:lnTo>
                <a:lnTo>
                  <a:pt x="79845" y="252653"/>
                </a:lnTo>
                <a:lnTo>
                  <a:pt x="38290" y="224473"/>
                </a:lnTo>
                <a:lnTo>
                  <a:pt x="10273" y="182676"/>
                </a:lnTo>
                <a:lnTo>
                  <a:pt x="0" y="131493"/>
                </a:lnTo>
                <a:lnTo>
                  <a:pt x="10273" y="80310"/>
                </a:lnTo>
                <a:lnTo>
                  <a:pt x="38290" y="38513"/>
                </a:lnTo>
                <a:lnTo>
                  <a:pt x="79845" y="10333"/>
                </a:lnTo>
                <a:lnTo>
                  <a:pt x="130733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82" name="object 8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83" name="object 8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64</a:t>
            </a:fld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927" y="356615"/>
            <a:ext cx="7592568" cy="509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3746" y="1275080"/>
            <a:ext cx="5931535" cy="76644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2915"/>
              </a:lnSpc>
              <a:spcBef>
                <a:spcPts val="10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pc="-5" i="0">
                <a:solidFill>
                  <a:srgbClr val="6BB76D"/>
                </a:solidFill>
                <a:latin typeface="Calibri"/>
                <a:cs typeface="Calibri"/>
              </a:rPr>
              <a:t>How </a:t>
            </a:r>
            <a:r>
              <a:rPr dirty="0" spc="-15" i="0">
                <a:solidFill>
                  <a:srgbClr val="6BB76D"/>
                </a:solidFill>
                <a:latin typeface="Calibri"/>
                <a:cs typeface="Calibri"/>
              </a:rPr>
              <a:t>can we </a:t>
            </a:r>
            <a:r>
              <a:rPr dirty="0" spc="-25" i="0">
                <a:solidFill>
                  <a:srgbClr val="6BB76D"/>
                </a:solidFill>
                <a:latin typeface="Calibri"/>
                <a:cs typeface="Calibri"/>
              </a:rPr>
              <a:t>generate </a:t>
            </a:r>
            <a:r>
              <a:rPr dirty="0" b="1" i="0">
                <a:solidFill>
                  <a:srgbClr val="6BB76D"/>
                </a:solidFill>
                <a:latin typeface="Calibri"/>
                <a:cs typeface="Calibri"/>
              </a:rPr>
              <a:t>a </a:t>
            </a:r>
            <a:r>
              <a:rPr dirty="0" spc="-10" b="1" i="0">
                <a:solidFill>
                  <a:srgbClr val="6BB76D"/>
                </a:solidFill>
                <a:latin typeface="Calibri"/>
                <a:cs typeface="Calibri"/>
              </a:rPr>
              <a:t>complex</a:t>
            </a:r>
            <a:r>
              <a:rPr dirty="0" spc="5" b="1" i="0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pc="-5" b="1" i="0">
                <a:solidFill>
                  <a:srgbClr val="6BB76D"/>
                </a:solidFill>
                <a:latin typeface="Calibri"/>
                <a:cs typeface="Calibri"/>
              </a:rPr>
              <a:t>query</a:t>
            </a:r>
            <a:r>
              <a:rPr dirty="0" spc="-5" i="0">
                <a:solidFill>
                  <a:srgbClr val="6BB76D"/>
                </a:solidFill>
                <a:latin typeface="Calibri"/>
                <a:cs typeface="Calibri"/>
              </a:rPr>
              <a:t>?</a:t>
            </a:r>
          </a:p>
          <a:p>
            <a:pPr marL="332740" indent="-320040">
              <a:lnSpc>
                <a:spcPts val="2915"/>
              </a:lnSpc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pc="-55" i="0">
                <a:latin typeface="Calibri"/>
                <a:cs typeface="Calibri"/>
              </a:rPr>
              <a:t>We </a:t>
            </a:r>
            <a:r>
              <a:rPr dirty="0" spc="-20" i="0">
                <a:latin typeface="Calibri"/>
                <a:cs typeface="Calibri"/>
              </a:rPr>
              <a:t>start </a:t>
            </a:r>
            <a:r>
              <a:rPr dirty="0" spc="-5" i="0">
                <a:latin typeface="Calibri"/>
                <a:cs typeface="Calibri"/>
              </a:rPr>
              <a:t>with </a:t>
            </a:r>
            <a:r>
              <a:rPr dirty="0" i="0">
                <a:latin typeface="Calibri"/>
                <a:cs typeface="Calibri"/>
              </a:rPr>
              <a:t>a </a:t>
            </a:r>
            <a:r>
              <a:rPr dirty="0" b="1" i="0">
                <a:solidFill>
                  <a:srgbClr val="7030A0"/>
                </a:solidFill>
                <a:latin typeface="Calibri"/>
                <a:cs typeface="Calibri"/>
              </a:rPr>
              <a:t>query</a:t>
            </a:r>
            <a:r>
              <a:rPr dirty="0" spc="5" b="1" i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dirty="0" spc="-15" b="1" i="0">
                <a:solidFill>
                  <a:srgbClr val="7030A0"/>
                </a:solidFill>
                <a:latin typeface="Calibri"/>
                <a:cs typeface="Calibri"/>
              </a:rPr>
              <a:t>template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3746" y="1933448"/>
            <a:ext cx="8180070" cy="249428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32740" marR="193675" indent="-320040">
              <a:lnSpc>
                <a:spcPts val="2620"/>
              </a:lnSpc>
              <a:spcBef>
                <a:spcPts val="70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b="1">
                <a:solidFill>
                  <a:srgbClr val="7030A0"/>
                </a:solidFill>
                <a:latin typeface="Calibri"/>
                <a:cs typeface="Calibri"/>
              </a:rPr>
              <a:t>Query </a:t>
            </a:r>
            <a:r>
              <a:rPr dirty="0" sz="2700" spc="-15" b="1">
                <a:solidFill>
                  <a:srgbClr val="7030A0"/>
                </a:solidFill>
                <a:latin typeface="Calibri"/>
                <a:cs typeface="Calibri"/>
              </a:rPr>
              <a:t>template </a:t>
            </a:r>
            <a:r>
              <a:rPr dirty="0" sz="2700" spc="-15">
                <a:latin typeface="Calibri"/>
                <a:cs typeface="Calibri"/>
              </a:rPr>
              <a:t>can </a:t>
            </a:r>
            <a:r>
              <a:rPr dirty="0" sz="2700" spc="-5">
                <a:latin typeface="Calibri"/>
                <a:cs typeface="Calibri"/>
              </a:rPr>
              <a:t>be </a:t>
            </a:r>
            <a:r>
              <a:rPr dirty="0" sz="2700" spc="-10">
                <a:latin typeface="Calibri"/>
                <a:cs typeface="Calibri"/>
              </a:rPr>
              <a:t>viewed </a:t>
            </a:r>
            <a:r>
              <a:rPr dirty="0" sz="2700" spc="-5">
                <a:latin typeface="Calibri"/>
                <a:cs typeface="Calibri"/>
              </a:rPr>
              <a:t>as an </a:t>
            </a:r>
            <a:r>
              <a:rPr dirty="0" sz="2700" spc="-15">
                <a:latin typeface="Calibri"/>
                <a:cs typeface="Calibri"/>
              </a:rPr>
              <a:t>abstraction </a:t>
            </a:r>
            <a:r>
              <a:rPr dirty="0" sz="2700">
                <a:latin typeface="Calibri"/>
                <a:cs typeface="Calibri"/>
              </a:rPr>
              <a:t>of </a:t>
            </a:r>
            <a:r>
              <a:rPr dirty="0" sz="2700" spc="-10">
                <a:latin typeface="Calibri"/>
                <a:cs typeface="Calibri"/>
              </a:rPr>
              <a:t>the  query</a:t>
            </a:r>
            <a:endParaRPr sz="2700">
              <a:latin typeface="Calibri"/>
              <a:cs typeface="Calibri"/>
            </a:endParaRPr>
          </a:p>
          <a:p>
            <a:pPr marL="332740" marR="5080" indent="-320040">
              <a:lnSpc>
                <a:spcPct val="80000"/>
              </a:lnSpc>
              <a:spcBef>
                <a:spcPts val="1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55">
                <a:latin typeface="Calibri"/>
                <a:cs typeface="Calibri"/>
              </a:rPr>
              <a:t>We </a:t>
            </a:r>
            <a:r>
              <a:rPr dirty="0" sz="2700" spc="-25">
                <a:latin typeface="Calibri"/>
                <a:cs typeface="Calibri"/>
              </a:rPr>
              <a:t>generate </a:t>
            </a:r>
            <a:r>
              <a:rPr dirty="0" sz="2700">
                <a:latin typeface="Calibri"/>
                <a:cs typeface="Calibri"/>
              </a:rPr>
              <a:t>a </a:t>
            </a:r>
            <a:r>
              <a:rPr dirty="0" sz="2700" spc="-10">
                <a:latin typeface="Calibri"/>
                <a:cs typeface="Calibri"/>
              </a:rPr>
              <a:t>query by </a:t>
            </a:r>
            <a:r>
              <a:rPr dirty="0" sz="2700" spc="-15">
                <a:latin typeface="Calibri"/>
                <a:cs typeface="Calibri"/>
              </a:rPr>
              <a:t>instantiating every </a:t>
            </a:r>
            <a:r>
              <a:rPr dirty="0" sz="2700" spc="-10">
                <a:latin typeface="Calibri"/>
                <a:cs typeface="Calibri"/>
              </a:rPr>
              <a:t>variable </a:t>
            </a:r>
            <a:r>
              <a:rPr dirty="0" sz="2700" spc="-5">
                <a:latin typeface="Calibri"/>
                <a:cs typeface="Calibri"/>
              </a:rPr>
              <a:t>with  </a:t>
            </a:r>
            <a:r>
              <a:rPr dirty="0" sz="2700">
                <a:latin typeface="Calibri"/>
                <a:cs typeface="Calibri"/>
              </a:rPr>
              <a:t>a </a:t>
            </a:r>
            <a:r>
              <a:rPr dirty="0" sz="2700" spc="-20">
                <a:latin typeface="Calibri"/>
                <a:cs typeface="Calibri"/>
              </a:rPr>
              <a:t>concrete </a:t>
            </a:r>
            <a:r>
              <a:rPr dirty="0" sz="2700" spc="-15">
                <a:latin typeface="Calibri"/>
                <a:cs typeface="Calibri"/>
              </a:rPr>
              <a:t>entity </a:t>
            </a:r>
            <a:r>
              <a:rPr dirty="0" sz="2700" spc="-10">
                <a:latin typeface="Calibri"/>
                <a:cs typeface="Calibri"/>
              </a:rPr>
              <a:t>and </a:t>
            </a:r>
            <a:r>
              <a:rPr dirty="0" sz="2700" spc="-15">
                <a:latin typeface="Calibri"/>
                <a:cs typeface="Calibri"/>
              </a:rPr>
              <a:t>relation from </a:t>
            </a:r>
            <a:r>
              <a:rPr dirty="0" sz="2700" spc="-10">
                <a:latin typeface="Calibri"/>
                <a:cs typeface="Calibri"/>
              </a:rPr>
              <a:t>the</a:t>
            </a:r>
            <a:r>
              <a:rPr dirty="0" sz="2700" spc="50">
                <a:latin typeface="Calibri"/>
                <a:cs typeface="Calibri"/>
              </a:rPr>
              <a:t> </a:t>
            </a:r>
            <a:r>
              <a:rPr dirty="0" sz="2700" spc="-55">
                <a:latin typeface="Calibri"/>
                <a:cs typeface="Calibri"/>
              </a:rPr>
              <a:t>KG</a:t>
            </a:r>
            <a:endParaRPr sz="2700">
              <a:latin typeface="Calibri"/>
              <a:cs typeface="Calibri"/>
            </a:endParaRPr>
          </a:p>
          <a:p>
            <a:pPr lvl="1" marL="625475" indent="-274320">
              <a:lnSpc>
                <a:spcPts val="2845"/>
              </a:lnSpc>
              <a:spcBef>
                <a:spcPts val="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>
                <a:latin typeface="Calibri"/>
                <a:cs typeface="Calibri"/>
              </a:rPr>
              <a:t>E.g., </a:t>
            </a:r>
            <a:r>
              <a:rPr dirty="0" sz="2400" spc="-15">
                <a:latin typeface="Calibri"/>
                <a:cs typeface="Calibri"/>
              </a:rPr>
              <a:t>instantiate 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Anchor1 </a:t>
            </a:r>
            <a:r>
              <a:rPr dirty="0" sz="2400" spc="-5">
                <a:latin typeface="Calibri"/>
                <a:cs typeface="Calibri"/>
              </a:rPr>
              <a:t>with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ESR2 </a:t>
            </a:r>
            <a:r>
              <a:rPr dirty="0" sz="2400" spc="-5">
                <a:latin typeface="Calibri"/>
                <a:cs typeface="Calibri"/>
              </a:rPr>
              <a:t>(a node 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KG)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ts val="2550"/>
              </a:lnSpc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>
                <a:latin typeface="Calibri"/>
                <a:cs typeface="Calibri"/>
              </a:rPr>
              <a:t>E.g., </a:t>
            </a:r>
            <a:r>
              <a:rPr dirty="0" sz="2400" spc="-15">
                <a:latin typeface="Calibri"/>
                <a:cs typeface="Calibri"/>
              </a:rPr>
              <a:t>instantiate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Rel1 </a:t>
            </a:r>
            <a:r>
              <a:rPr dirty="0" sz="2400" spc="-5">
                <a:latin typeface="Calibri"/>
                <a:cs typeface="Calibri"/>
              </a:rPr>
              <a:t>with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Assoc </a:t>
            </a:r>
            <a:r>
              <a:rPr dirty="0" sz="2400" spc="-5">
                <a:latin typeface="Calibri"/>
                <a:cs typeface="Calibri"/>
              </a:rPr>
              <a:t>(an </a:t>
            </a:r>
            <a:r>
              <a:rPr dirty="0" sz="2400" spc="-10">
                <a:latin typeface="Calibri"/>
                <a:cs typeface="Calibri"/>
              </a:rPr>
              <a:t>edge </a:t>
            </a:r>
            <a:r>
              <a:rPr dirty="0" sz="2400" spc="-5">
                <a:latin typeface="Calibri"/>
                <a:cs typeface="Calibri"/>
              </a:rPr>
              <a:t>on </a:t>
            </a:r>
            <a:r>
              <a:rPr dirty="0" sz="2400" spc="-35">
                <a:latin typeface="Calibri"/>
                <a:cs typeface="Calibri"/>
              </a:rPr>
              <a:t>KG)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2945"/>
              </a:lnSpc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5" b="1">
                <a:latin typeface="Calibri"/>
                <a:cs typeface="Calibri"/>
              </a:rPr>
              <a:t>How </a:t>
            </a:r>
            <a:r>
              <a:rPr dirty="0" sz="2700" spc="-15" b="1">
                <a:latin typeface="Calibri"/>
                <a:cs typeface="Calibri"/>
              </a:rPr>
              <a:t>to instantiate </a:t>
            </a:r>
            <a:r>
              <a:rPr dirty="0" sz="2700" b="1">
                <a:latin typeface="Calibri"/>
                <a:cs typeface="Calibri"/>
              </a:rPr>
              <a:t>query </a:t>
            </a:r>
            <a:r>
              <a:rPr dirty="0" sz="2700" spc="-15" b="1">
                <a:latin typeface="Calibri"/>
                <a:cs typeface="Calibri"/>
              </a:rPr>
              <a:t>template </a:t>
            </a:r>
            <a:r>
              <a:rPr dirty="0" sz="2700" spc="-10" b="1">
                <a:latin typeface="Calibri"/>
                <a:cs typeface="Calibri"/>
              </a:rPr>
              <a:t>given </a:t>
            </a:r>
            <a:r>
              <a:rPr dirty="0" sz="2700" b="1">
                <a:latin typeface="Calibri"/>
                <a:cs typeface="Calibri"/>
              </a:rPr>
              <a:t>a</a:t>
            </a:r>
            <a:r>
              <a:rPr dirty="0" sz="2700" spc="25" b="1">
                <a:latin typeface="Calibri"/>
                <a:cs typeface="Calibri"/>
              </a:rPr>
              <a:t> </a:t>
            </a:r>
            <a:r>
              <a:rPr dirty="0" sz="2700" spc="-40" b="1">
                <a:latin typeface="Calibri"/>
                <a:cs typeface="Calibri"/>
              </a:rPr>
              <a:t>KG?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154" y="4419091"/>
            <a:ext cx="5072380" cy="50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10489">
              <a:lnSpc>
                <a:spcPts val="2120"/>
              </a:lnSpc>
              <a:spcBef>
                <a:spcPts val="100"/>
              </a:spcBef>
            </a:pPr>
            <a:r>
              <a:rPr dirty="0" sz="1800" spc="-5" b="1">
                <a:solidFill>
                  <a:srgbClr val="7030A0"/>
                </a:solidFill>
                <a:latin typeface="Arial"/>
                <a:cs typeface="Arial"/>
              </a:rPr>
              <a:t>Query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639"/>
              </a:lnSpc>
            </a:pPr>
            <a:r>
              <a:rPr dirty="0" sz="1400" spc="-10" b="1">
                <a:latin typeface="Corbel"/>
                <a:cs typeface="Corbel"/>
              </a:rPr>
              <a:t>((</a:t>
            </a:r>
            <a:r>
              <a:rPr dirty="0" sz="1400" spc="-10" b="1">
                <a:solidFill>
                  <a:srgbClr val="0070C0"/>
                </a:solidFill>
                <a:latin typeface="Corbel"/>
                <a:cs typeface="Corbel"/>
              </a:rPr>
              <a:t>e:ESR2</a:t>
            </a:r>
            <a:r>
              <a:rPr dirty="0" sz="1400" spc="-10" b="1">
                <a:latin typeface="Corbel"/>
                <a:cs typeface="Corbel"/>
              </a:rPr>
              <a:t>, </a:t>
            </a:r>
            <a:r>
              <a:rPr dirty="0" sz="1400" spc="-5" b="1">
                <a:latin typeface="Corbel"/>
                <a:cs typeface="Corbel"/>
              </a:rPr>
              <a:t>(</a:t>
            </a:r>
            <a:r>
              <a:rPr dirty="0" sz="1400" spc="-5" b="1">
                <a:solidFill>
                  <a:srgbClr val="C00000"/>
                </a:solidFill>
                <a:latin typeface="Corbel"/>
                <a:cs typeface="Corbel"/>
              </a:rPr>
              <a:t>r:Assoc, </a:t>
            </a:r>
            <a:r>
              <a:rPr dirty="0" sz="1400" spc="-20" b="1">
                <a:solidFill>
                  <a:srgbClr val="479249"/>
                </a:solidFill>
                <a:latin typeface="Corbel"/>
                <a:cs typeface="Corbel"/>
              </a:rPr>
              <a:t>r:TreatedBy</a:t>
            </a:r>
            <a:r>
              <a:rPr dirty="0" sz="1400" spc="-20" b="1">
                <a:latin typeface="Corbel"/>
                <a:cs typeface="Corbel"/>
              </a:rPr>
              <a:t>)),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0070C0"/>
                </a:solidFill>
                <a:latin typeface="Corbel"/>
                <a:cs typeface="Corbel"/>
              </a:rPr>
              <a:t>e:Short 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of Breath</a:t>
            </a:r>
            <a:r>
              <a:rPr dirty="0" sz="1400" spc="-5" b="1">
                <a:latin typeface="Corbel"/>
                <a:cs typeface="Corbel"/>
              </a:rPr>
              <a:t>,</a:t>
            </a:r>
            <a:r>
              <a:rPr dirty="0" sz="1400" spc="50" b="1">
                <a:latin typeface="Corbel"/>
                <a:cs typeface="Corbel"/>
              </a:rPr>
              <a:t> </a:t>
            </a:r>
            <a:r>
              <a:rPr dirty="0" sz="1400" spc="-5" b="1">
                <a:latin typeface="Corbel"/>
                <a:cs typeface="Corbel"/>
              </a:rPr>
              <a:t>(</a:t>
            </a:r>
            <a:r>
              <a:rPr dirty="0" sz="1400" spc="-5" b="1">
                <a:solidFill>
                  <a:srgbClr val="B48200"/>
                </a:solidFill>
                <a:latin typeface="Corbel"/>
                <a:cs typeface="Corbel"/>
              </a:rPr>
              <a:t>r:CausedBy</a:t>
            </a:r>
            <a:r>
              <a:rPr dirty="0" sz="1400" spc="-5" b="1">
                <a:latin typeface="Corbel"/>
                <a:cs typeface="Corbel"/>
              </a:rPr>
              <a:t>))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1918" y="4412996"/>
            <a:ext cx="3155315" cy="506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130"/>
              </a:lnSpc>
              <a:spcBef>
                <a:spcPts val="100"/>
              </a:spcBef>
            </a:pPr>
            <a:r>
              <a:rPr dirty="0" sz="1800" b="1">
                <a:solidFill>
                  <a:srgbClr val="7030A0"/>
                </a:solidFill>
                <a:latin typeface="Arial"/>
                <a:cs typeface="Arial"/>
              </a:rPr>
              <a:t>Query</a:t>
            </a:r>
            <a:r>
              <a:rPr dirty="0" sz="1800" spc="-100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7030A0"/>
                </a:solidFill>
                <a:latin typeface="Arial"/>
                <a:cs typeface="Arial"/>
              </a:rPr>
              <a:t>Template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650"/>
              </a:lnSpc>
            </a:pPr>
            <a:r>
              <a:rPr dirty="0" sz="1400" spc="-5" b="1">
                <a:latin typeface="Corbel"/>
                <a:cs typeface="Corbel"/>
              </a:rPr>
              <a:t>((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Anchor1</a:t>
            </a:r>
            <a:r>
              <a:rPr dirty="0" sz="1400" spc="-5" b="1">
                <a:latin typeface="Corbel"/>
                <a:cs typeface="Corbel"/>
              </a:rPr>
              <a:t>,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C00000"/>
                </a:solidFill>
                <a:latin typeface="Corbel"/>
                <a:cs typeface="Corbel"/>
              </a:rPr>
              <a:t>Rel1, </a:t>
            </a:r>
            <a:r>
              <a:rPr dirty="0" sz="1400" spc="-10" b="1">
                <a:solidFill>
                  <a:srgbClr val="479249"/>
                </a:solidFill>
                <a:latin typeface="Corbel"/>
                <a:cs typeface="Corbel"/>
              </a:rPr>
              <a:t>Rel2</a:t>
            </a:r>
            <a:r>
              <a:rPr dirty="0" sz="1400" spc="-10" b="1">
                <a:latin typeface="Corbel"/>
                <a:cs typeface="Corbel"/>
              </a:rPr>
              <a:t>)), </a:t>
            </a:r>
            <a:r>
              <a:rPr dirty="0" sz="1400" spc="-5" b="1">
                <a:latin typeface="Corbel"/>
                <a:cs typeface="Corbel"/>
              </a:rPr>
              <a:t>(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Anchor2</a:t>
            </a:r>
            <a:r>
              <a:rPr dirty="0" sz="1400" spc="-5" b="1">
                <a:latin typeface="Corbel"/>
                <a:cs typeface="Corbel"/>
              </a:rPr>
              <a:t>,</a:t>
            </a:r>
            <a:r>
              <a:rPr dirty="0" sz="1400" spc="-5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B48200"/>
                </a:solidFill>
                <a:latin typeface="Corbel"/>
                <a:cs typeface="Corbel"/>
              </a:rPr>
              <a:t>Rel3</a:t>
            </a:r>
            <a:r>
              <a:rPr dirty="0" sz="1400" spc="-10" b="1">
                <a:latin typeface="Corbel"/>
                <a:cs typeface="Corbel"/>
              </a:rPr>
              <a:t>))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23685" y="631973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23685" y="631973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62768" y="5858452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62768" y="5858452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823714" y="5256450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23714" y="5256450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80404" y="5214620"/>
            <a:ext cx="423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ESR</a:t>
            </a:r>
            <a:r>
              <a:rPr dirty="0" sz="120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32796" y="6202171"/>
            <a:ext cx="558800" cy="38862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55244" marR="5080" indent="-43180">
              <a:lnSpc>
                <a:spcPts val="1420"/>
              </a:lnSpc>
              <a:spcBef>
                <a:spcPts val="165"/>
              </a:spcBef>
            </a:pPr>
            <a:r>
              <a:rPr dirty="0" sz="1200" spc="-5">
                <a:latin typeface="Arial"/>
                <a:cs typeface="Arial"/>
              </a:rPr>
              <a:t>Short</a:t>
            </a:r>
            <a:r>
              <a:rPr dirty="0" sz="1200" spc="-85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of  Breath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3920" y="5375147"/>
            <a:ext cx="495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sso</a:t>
            </a:r>
            <a:r>
              <a:rPr dirty="0" sz="14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5436" y="523972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3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35436" y="523972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02429" y="5241251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4" h="161925">
                <a:moveTo>
                  <a:pt x="783077" y="107949"/>
                </a:moveTo>
                <a:lnTo>
                  <a:pt x="782995" y="161925"/>
                </a:lnTo>
                <a:lnTo>
                  <a:pt x="891271" y="107990"/>
                </a:lnTo>
                <a:lnTo>
                  <a:pt x="810064" y="107990"/>
                </a:lnTo>
                <a:lnTo>
                  <a:pt x="783077" y="107949"/>
                </a:lnTo>
                <a:close/>
              </a:path>
              <a:path w="945514" h="161925">
                <a:moveTo>
                  <a:pt x="783158" y="53974"/>
                </a:moveTo>
                <a:lnTo>
                  <a:pt x="783077" y="107949"/>
                </a:lnTo>
                <a:lnTo>
                  <a:pt x="810064" y="107990"/>
                </a:lnTo>
                <a:lnTo>
                  <a:pt x="810145" y="54015"/>
                </a:lnTo>
                <a:lnTo>
                  <a:pt x="783158" y="53974"/>
                </a:lnTo>
                <a:close/>
              </a:path>
              <a:path w="945514" h="161925">
                <a:moveTo>
                  <a:pt x="783240" y="0"/>
                </a:moveTo>
                <a:lnTo>
                  <a:pt x="783158" y="53974"/>
                </a:lnTo>
                <a:lnTo>
                  <a:pt x="810145" y="54015"/>
                </a:lnTo>
                <a:lnTo>
                  <a:pt x="810064" y="107990"/>
                </a:lnTo>
                <a:lnTo>
                  <a:pt x="891271" y="107990"/>
                </a:lnTo>
                <a:lnTo>
                  <a:pt x="945042" y="81206"/>
                </a:lnTo>
                <a:lnTo>
                  <a:pt x="783240" y="0"/>
                </a:lnTo>
                <a:close/>
              </a:path>
              <a:path w="945514" h="161925">
                <a:moveTo>
                  <a:pt x="81" y="52793"/>
                </a:moveTo>
                <a:lnTo>
                  <a:pt x="0" y="106768"/>
                </a:lnTo>
                <a:lnTo>
                  <a:pt x="783077" y="107949"/>
                </a:lnTo>
                <a:lnTo>
                  <a:pt x="783158" y="53974"/>
                </a:lnTo>
                <a:lnTo>
                  <a:pt x="81" y="5279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949632" y="5374013"/>
            <a:ext cx="638175" cy="508634"/>
          </a:xfrm>
          <a:custGeom>
            <a:avLst/>
            <a:gdLst/>
            <a:ahLst/>
            <a:cxnLst/>
            <a:rect l="l" t="t" r="r" b="b"/>
            <a:pathLst>
              <a:path w="638175" h="508635">
                <a:moveTo>
                  <a:pt x="33309" y="0"/>
                </a:moveTo>
                <a:lnTo>
                  <a:pt x="0" y="42470"/>
                </a:lnTo>
                <a:lnTo>
                  <a:pt x="42470" y="75780"/>
                </a:lnTo>
                <a:lnTo>
                  <a:pt x="75779" y="33310"/>
                </a:lnTo>
                <a:lnTo>
                  <a:pt x="33309" y="0"/>
                </a:lnTo>
                <a:close/>
              </a:path>
              <a:path w="638175" h="508635">
                <a:moveTo>
                  <a:pt x="118250" y="66620"/>
                </a:moveTo>
                <a:lnTo>
                  <a:pt x="84940" y="109090"/>
                </a:lnTo>
                <a:lnTo>
                  <a:pt x="127410" y="142401"/>
                </a:lnTo>
                <a:lnTo>
                  <a:pt x="160721" y="99931"/>
                </a:lnTo>
                <a:lnTo>
                  <a:pt x="118250" y="66620"/>
                </a:lnTo>
                <a:close/>
              </a:path>
              <a:path w="638175" h="508635">
                <a:moveTo>
                  <a:pt x="203191" y="133240"/>
                </a:moveTo>
                <a:lnTo>
                  <a:pt x="169881" y="175710"/>
                </a:lnTo>
                <a:lnTo>
                  <a:pt x="212351" y="209021"/>
                </a:lnTo>
                <a:lnTo>
                  <a:pt x="245661" y="166551"/>
                </a:lnTo>
                <a:lnTo>
                  <a:pt x="203191" y="133240"/>
                </a:lnTo>
                <a:close/>
              </a:path>
              <a:path w="638175" h="508635">
                <a:moveTo>
                  <a:pt x="288131" y="199861"/>
                </a:moveTo>
                <a:lnTo>
                  <a:pt x="254821" y="242331"/>
                </a:lnTo>
                <a:lnTo>
                  <a:pt x="297291" y="275642"/>
                </a:lnTo>
                <a:lnTo>
                  <a:pt x="330602" y="233171"/>
                </a:lnTo>
                <a:lnTo>
                  <a:pt x="288131" y="199861"/>
                </a:lnTo>
                <a:close/>
              </a:path>
              <a:path w="638175" h="508635">
                <a:moveTo>
                  <a:pt x="373072" y="266481"/>
                </a:moveTo>
                <a:lnTo>
                  <a:pt x="339761" y="308952"/>
                </a:lnTo>
                <a:lnTo>
                  <a:pt x="382231" y="342262"/>
                </a:lnTo>
                <a:lnTo>
                  <a:pt x="415542" y="299792"/>
                </a:lnTo>
                <a:lnTo>
                  <a:pt x="373072" y="266481"/>
                </a:lnTo>
                <a:close/>
              </a:path>
              <a:path w="638175" h="508635">
                <a:moveTo>
                  <a:pt x="560153" y="344616"/>
                </a:moveTo>
                <a:lnTo>
                  <a:pt x="460222" y="472027"/>
                </a:lnTo>
                <a:lnTo>
                  <a:pt x="637598" y="508253"/>
                </a:lnTo>
                <a:lnTo>
                  <a:pt x="608236" y="446212"/>
                </a:lnTo>
                <a:lnTo>
                  <a:pt x="514767" y="446212"/>
                </a:lnTo>
                <a:lnTo>
                  <a:pt x="509643" y="442193"/>
                </a:lnTo>
                <a:lnTo>
                  <a:pt x="542954" y="399722"/>
                </a:lnTo>
                <a:lnTo>
                  <a:pt x="586234" y="399722"/>
                </a:lnTo>
                <a:lnTo>
                  <a:pt x="560153" y="344616"/>
                </a:lnTo>
                <a:close/>
              </a:path>
              <a:path w="638175" h="508635">
                <a:moveTo>
                  <a:pt x="542954" y="399722"/>
                </a:moveTo>
                <a:lnTo>
                  <a:pt x="509643" y="442193"/>
                </a:lnTo>
                <a:lnTo>
                  <a:pt x="514767" y="446212"/>
                </a:lnTo>
                <a:lnTo>
                  <a:pt x="548078" y="403742"/>
                </a:lnTo>
                <a:lnTo>
                  <a:pt x="542954" y="399722"/>
                </a:lnTo>
                <a:close/>
              </a:path>
              <a:path w="638175" h="508635">
                <a:moveTo>
                  <a:pt x="586234" y="399722"/>
                </a:moveTo>
                <a:lnTo>
                  <a:pt x="542954" y="399722"/>
                </a:lnTo>
                <a:lnTo>
                  <a:pt x="548078" y="403742"/>
                </a:lnTo>
                <a:lnTo>
                  <a:pt x="514767" y="446212"/>
                </a:lnTo>
                <a:lnTo>
                  <a:pt x="608236" y="446212"/>
                </a:lnTo>
                <a:lnTo>
                  <a:pt x="586234" y="399722"/>
                </a:lnTo>
                <a:close/>
              </a:path>
              <a:path w="638175" h="508635">
                <a:moveTo>
                  <a:pt x="458012" y="333102"/>
                </a:moveTo>
                <a:lnTo>
                  <a:pt x="424703" y="375572"/>
                </a:lnTo>
                <a:lnTo>
                  <a:pt x="467173" y="408883"/>
                </a:lnTo>
                <a:lnTo>
                  <a:pt x="500482" y="366412"/>
                </a:lnTo>
                <a:lnTo>
                  <a:pt x="458012" y="3331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890717" y="6320081"/>
            <a:ext cx="955675" cy="161925"/>
          </a:xfrm>
          <a:custGeom>
            <a:avLst/>
            <a:gdLst/>
            <a:ahLst/>
            <a:cxnLst/>
            <a:rect l="l" t="t" r="r" b="b"/>
            <a:pathLst>
              <a:path w="955675" h="161925">
                <a:moveTo>
                  <a:pt x="793352" y="107950"/>
                </a:moveTo>
                <a:lnTo>
                  <a:pt x="793352" y="161925"/>
                </a:lnTo>
                <a:lnTo>
                  <a:pt x="901302" y="107950"/>
                </a:lnTo>
                <a:lnTo>
                  <a:pt x="793352" y="107950"/>
                </a:lnTo>
                <a:close/>
              </a:path>
              <a:path w="955675" h="161925">
                <a:moveTo>
                  <a:pt x="793352" y="53975"/>
                </a:moveTo>
                <a:lnTo>
                  <a:pt x="793352" y="107950"/>
                </a:lnTo>
                <a:lnTo>
                  <a:pt x="820339" y="107950"/>
                </a:lnTo>
                <a:lnTo>
                  <a:pt x="820339" y="53975"/>
                </a:lnTo>
                <a:lnTo>
                  <a:pt x="793352" y="53975"/>
                </a:lnTo>
                <a:close/>
              </a:path>
              <a:path w="955675" h="161925">
                <a:moveTo>
                  <a:pt x="793352" y="0"/>
                </a:moveTo>
                <a:lnTo>
                  <a:pt x="793352" y="53975"/>
                </a:lnTo>
                <a:lnTo>
                  <a:pt x="820339" y="53975"/>
                </a:lnTo>
                <a:lnTo>
                  <a:pt x="820339" y="107950"/>
                </a:lnTo>
                <a:lnTo>
                  <a:pt x="901304" y="107949"/>
                </a:lnTo>
                <a:lnTo>
                  <a:pt x="955277" y="80962"/>
                </a:lnTo>
                <a:lnTo>
                  <a:pt x="793352" y="0"/>
                </a:lnTo>
                <a:close/>
              </a:path>
              <a:path w="955675" h="161925">
                <a:moveTo>
                  <a:pt x="0" y="53974"/>
                </a:moveTo>
                <a:lnTo>
                  <a:pt x="0" y="107949"/>
                </a:lnTo>
                <a:lnTo>
                  <a:pt x="793352" y="107950"/>
                </a:lnTo>
                <a:lnTo>
                  <a:pt x="793352" y="53975"/>
                </a:lnTo>
                <a:lnTo>
                  <a:pt x="0" y="53974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845993" y="631973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845993" y="631973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975053" y="5997250"/>
            <a:ext cx="612775" cy="370205"/>
          </a:xfrm>
          <a:custGeom>
            <a:avLst/>
            <a:gdLst/>
            <a:ahLst/>
            <a:cxnLst/>
            <a:rect l="l" t="t" r="r" b="b"/>
            <a:pathLst>
              <a:path w="612775" h="370204">
                <a:moveTo>
                  <a:pt x="46720" y="295914"/>
                </a:moveTo>
                <a:lnTo>
                  <a:pt x="0" y="322940"/>
                </a:lnTo>
                <a:lnTo>
                  <a:pt x="27026" y="369661"/>
                </a:lnTo>
                <a:lnTo>
                  <a:pt x="73747" y="342635"/>
                </a:lnTo>
                <a:lnTo>
                  <a:pt x="46720" y="295914"/>
                </a:lnTo>
                <a:close/>
              </a:path>
              <a:path w="612775" h="370204">
                <a:moveTo>
                  <a:pt x="140163" y="241861"/>
                </a:moveTo>
                <a:lnTo>
                  <a:pt x="93442" y="268887"/>
                </a:lnTo>
                <a:lnTo>
                  <a:pt x="120468" y="315609"/>
                </a:lnTo>
                <a:lnTo>
                  <a:pt x="167190" y="288582"/>
                </a:lnTo>
                <a:lnTo>
                  <a:pt x="140163" y="241861"/>
                </a:lnTo>
                <a:close/>
              </a:path>
              <a:path w="612775" h="370204">
                <a:moveTo>
                  <a:pt x="233606" y="187809"/>
                </a:moveTo>
                <a:lnTo>
                  <a:pt x="186885" y="214835"/>
                </a:lnTo>
                <a:lnTo>
                  <a:pt x="213911" y="261556"/>
                </a:lnTo>
                <a:lnTo>
                  <a:pt x="260633" y="234530"/>
                </a:lnTo>
                <a:lnTo>
                  <a:pt x="233606" y="187809"/>
                </a:lnTo>
                <a:close/>
              </a:path>
              <a:path w="612775" h="370204">
                <a:moveTo>
                  <a:pt x="327049" y="133756"/>
                </a:moveTo>
                <a:lnTo>
                  <a:pt x="280328" y="160782"/>
                </a:lnTo>
                <a:lnTo>
                  <a:pt x="307353" y="207504"/>
                </a:lnTo>
                <a:lnTo>
                  <a:pt x="354075" y="180477"/>
                </a:lnTo>
                <a:lnTo>
                  <a:pt x="327049" y="133756"/>
                </a:lnTo>
                <a:close/>
              </a:path>
              <a:path w="612775" h="370204">
                <a:moveTo>
                  <a:pt x="420491" y="79704"/>
                </a:moveTo>
                <a:lnTo>
                  <a:pt x="373771" y="106730"/>
                </a:lnTo>
                <a:lnTo>
                  <a:pt x="400796" y="153451"/>
                </a:lnTo>
                <a:lnTo>
                  <a:pt x="447518" y="126425"/>
                </a:lnTo>
                <a:lnTo>
                  <a:pt x="420491" y="79704"/>
                </a:lnTo>
                <a:close/>
              </a:path>
              <a:path w="612775" h="370204">
                <a:moveTo>
                  <a:pt x="612176" y="0"/>
                </a:moveTo>
                <a:lnTo>
                  <a:pt x="431473" y="10996"/>
                </a:lnTo>
                <a:lnTo>
                  <a:pt x="512552" y="151160"/>
                </a:lnTo>
                <a:lnTo>
                  <a:pt x="546666" y="99399"/>
                </a:lnTo>
                <a:lnTo>
                  <a:pt x="494239" y="99399"/>
                </a:lnTo>
                <a:lnTo>
                  <a:pt x="467212" y="52677"/>
                </a:lnTo>
                <a:lnTo>
                  <a:pt x="481860" y="44204"/>
                </a:lnTo>
                <a:lnTo>
                  <a:pt x="583043" y="44204"/>
                </a:lnTo>
                <a:lnTo>
                  <a:pt x="612176" y="0"/>
                </a:lnTo>
                <a:close/>
              </a:path>
              <a:path w="612775" h="370204">
                <a:moveTo>
                  <a:pt x="481860" y="44204"/>
                </a:moveTo>
                <a:lnTo>
                  <a:pt x="467212" y="52677"/>
                </a:lnTo>
                <a:lnTo>
                  <a:pt x="494239" y="99399"/>
                </a:lnTo>
                <a:lnTo>
                  <a:pt x="508886" y="90926"/>
                </a:lnTo>
                <a:lnTo>
                  <a:pt x="481860" y="44204"/>
                </a:lnTo>
                <a:close/>
              </a:path>
              <a:path w="612775" h="370204">
                <a:moveTo>
                  <a:pt x="583043" y="44204"/>
                </a:moveTo>
                <a:lnTo>
                  <a:pt x="481860" y="44204"/>
                </a:lnTo>
                <a:lnTo>
                  <a:pt x="508886" y="90926"/>
                </a:lnTo>
                <a:lnTo>
                  <a:pt x="494239" y="99399"/>
                </a:lnTo>
                <a:lnTo>
                  <a:pt x="546666" y="99399"/>
                </a:lnTo>
                <a:lnTo>
                  <a:pt x="583043" y="44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982308" y="6140196"/>
            <a:ext cx="8191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">
                <a:solidFill>
                  <a:srgbClr val="BF9000"/>
                </a:solidFill>
                <a:latin typeface="Arial"/>
                <a:cs typeface="Arial"/>
              </a:rPr>
              <a:t>C</a:t>
            </a:r>
            <a:r>
              <a:rPr dirty="0" sz="1400" spc="-30">
                <a:solidFill>
                  <a:srgbClr val="BF9000"/>
                </a:solidFill>
                <a:latin typeface="Arial"/>
                <a:cs typeface="Arial"/>
              </a:rPr>
              <a:t>au</a:t>
            </a: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s</a:t>
            </a:r>
            <a:r>
              <a:rPr dirty="0" sz="1400" spc="-30">
                <a:solidFill>
                  <a:srgbClr val="BF9000"/>
                </a:solidFill>
                <a:latin typeface="Arial"/>
                <a:cs typeface="Arial"/>
              </a:rPr>
              <a:t>ed</a:t>
            </a:r>
            <a:r>
              <a:rPr dirty="0" sz="1400" spc="-35">
                <a:solidFill>
                  <a:srgbClr val="BF9000"/>
                </a:solidFill>
                <a:latin typeface="Arial"/>
                <a:cs typeface="Arial"/>
              </a:rPr>
              <a:t>B</a:t>
            </a:r>
            <a:r>
              <a:rPr dirty="0" sz="1400">
                <a:solidFill>
                  <a:srgbClr val="BF9000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19095" y="5405628"/>
            <a:ext cx="8128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62730" y="5393435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62730" y="6216396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715251" y="525644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5" y="156222"/>
                </a:lnTo>
                <a:lnTo>
                  <a:pt x="142572" y="138798"/>
                </a:lnTo>
                <a:lnTo>
                  <a:pt x="160470" y="112954"/>
                </a:lnTo>
                <a:lnTo>
                  <a:pt x="167034" y="81306"/>
                </a:lnTo>
                <a:lnTo>
                  <a:pt x="160470" y="49658"/>
                </a:lnTo>
                <a:lnTo>
                  <a:pt x="142572" y="23814"/>
                </a:lnTo>
                <a:lnTo>
                  <a:pt x="116025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715253" y="525644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882286" y="5256794"/>
            <a:ext cx="941705" cy="161925"/>
          </a:xfrm>
          <a:custGeom>
            <a:avLst/>
            <a:gdLst/>
            <a:ahLst/>
            <a:cxnLst/>
            <a:rect l="l" t="t" r="r" b="b"/>
            <a:pathLst>
              <a:path w="941705" h="161925">
                <a:moveTo>
                  <a:pt x="779504" y="107949"/>
                </a:moveTo>
                <a:lnTo>
                  <a:pt x="779504" y="161925"/>
                </a:lnTo>
                <a:lnTo>
                  <a:pt x="887454" y="107950"/>
                </a:lnTo>
                <a:lnTo>
                  <a:pt x="779504" y="107949"/>
                </a:lnTo>
                <a:close/>
              </a:path>
              <a:path w="941705" h="161925">
                <a:moveTo>
                  <a:pt x="779504" y="53974"/>
                </a:moveTo>
                <a:lnTo>
                  <a:pt x="779504" y="107949"/>
                </a:lnTo>
                <a:lnTo>
                  <a:pt x="806491" y="107950"/>
                </a:lnTo>
                <a:lnTo>
                  <a:pt x="806491" y="53975"/>
                </a:lnTo>
                <a:lnTo>
                  <a:pt x="779504" y="53974"/>
                </a:lnTo>
                <a:close/>
              </a:path>
              <a:path w="941705" h="161925">
                <a:moveTo>
                  <a:pt x="779504" y="0"/>
                </a:moveTo>
                <a:lnTo>
                  <a:pt x="779504" y="53974"/>
                </a:lnTo>
                <a:lnTo>
                  <a:pt x="806491" y="53975"/>
                </a:lnTo>
                <a:lnTo>
                  <a:pt x="806491" y="107950"/>
                </a:lnTo>
                <a:lnTo>
                  <a:pt x="887456" y="107948"/>
                </a:lnTo>
                <a:lnTo>
                  <a:pt x="941429" y="80962"/>
                </a:lnTo>
                <a:lnTo>
                  <a:pt x="779504" y="0"/>
                </a:lnTo>
                <a:close/>
              </a:path>
              <a:path w="941705" h="161925">
                <a:moveTo>
                  <a:pt x="0" y="53973"/>
                </a:moveTo>
                <a:lnTo>
                  <a:pt x="0" y="107948"/>
                </a:lnTo>
                <a:lnTo>
                  <a:pt x="779504" y="107949"/>
                </a:lnTo>
                <a:lnTo>
                  <a:pt x="779504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315066" y="633078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315066" y="633078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154150" y="5869500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154150" y="5869500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415095" y="526749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415095" y="526749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413797" y="5384291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C0000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226817" y="525077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226817" y="525077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393809" y="5252299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4" h="161925">
                <a:moveTo>
                  <a:pt x="783078" y="107949"/>
                </a:moveTo>
                <a:lnTo>
                  <a:pt x="782996" y="161924"/>
                </a:lnTo>
                <a:lnTo>
                  <a:pt x="891274" y="107990"/>
                </a:lnTo>
                <a:lnTo>
                  <a:pt x="810065" y="107990"/>
                </a:lnTo>
                <a:lnTo>
                  <a:pt x="783078" y="107949"/>
                </a:lnTo>
                <a:close/>
              </a:path>
              <a:path w="945514" h="161925">
                <a:moveTo>
                  <a:pt x="783159" y="53974"/>
                </a:moveTo>
                <a:lnTo>
                  <a:pt x="783078" y="107949"/>
                </a:lnTo>
                <a:lnTo>
                  <a:pt x="810065" y="107990"/>
                </a:lnTo>
                <a:lnTo>
                  <a:pt x="810146" y="54015"/>
                </a:lnTo>
                <a:lnTo>
                  <a:pt x="783159" y="53974"/>
                </a:lnTo>
                <a:close/>
              </a:path>
              <a:path w="945514" h="161925">
                <a:moveTo>
                  <a:pt x="783240" y="0"/>
                </a:moveTo>
                <a:lnTo>
                  <a:pt x="783159" y="53974"/>
                </a:lnTo>
                <a:lnTo>
                  <a:pt x="810146" y="54015"/>
                </a:lnTo>
                <a:lnTo>
                  <a:pt x="810065" y="107990"/>
                </a:lnTo>
                <a:lnTo>
                  <a:pt x="891274" y="107990"/>
                </a:lnTo>
                <a:lnTo>
                  <a:pt x="945043" y="81207"/>
                </a:lnTo>
                <a:lnTo>
                  <a:pt x="783240" y="0"/>
                </a:lnTo>
                <a:close/>
              </a:path>
              <a:path w="945514" h="161925">
                <a:moveTo>
                  <a:pt x="82" y="52793"/>
                </a:moveTo>
                <a:lnTo>
                  <a:pt x="0" y="106768"/>
                </a:lnTo>
                <a:lnTo>
                  <a:pt x="783078" y="107949"/>
                </a:lnTo>
                <a:lnTo>
                  <a:pt x="783159" y="53974"/>
                </a:lnTo>
                <a:lnTo>
                  <a:pt x="82" y="5279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541012" y="5385061"/>
            <a:ext cx="638175" cy="508634"/>
          </a:xfrm>
          <a:custGeom>
            <a:avLst/>
            <a:gdLst/>
            <a:ahLst/>
            <a:cxnLst/>
            <a:rect l="l" t="t" r="r" b="b"/>
            <a:pathLst>
              <a:path w="638175" h="508635">
                <a:moveTo>
                  <a:pt x="33310" y="0"/>
                </a:moveTo>
                <a:lnTo>
                  <a:pt x="0" y="42470"/>
                </a:lnTo>
                <a:lnTo>
                  <a:pt x="42470" y="75780"/>
                </a:lnTo>
                <a:lnTo>
                  <a:pt x="75780" y="33310"/>
                </a:lnTo>
                <a:lnTo>
                  <a:pt x="33310" y="0"/>
                </a:lnTo>
                <a:close/>
              </a:path>
              <a:path w="638175" h="508635">
                <a:moveTo>
                  <a:pt x="118250" y="66620"/>
                </a:moveTo>
                <a:lnTo>
                  <a:pt x="84941" y="109090"/>
                </a:lnTo>
                <a:lnTo>
                  <a:pt x="127411" y="142401"/>
                </a:lnTo>
                <a:lnTo>
                  <a:pt x="160721" y="99931"/>
                </a:lnTo>
                <a:lnTo>
                  <a:pt x="118250" y="66620"/>
                </a:lnTo>
                <a:close/>
              </a:path>
              <a:path w="638175" h="508635">
                <a:moveTo>
                  <a:pt x="203191" y="133240"/>
                </a:moveTo>
                <a:lnTo>
                  <a:pt x="169881" y="175710"/>
                </a:lnTo>
                <a:lnTo>
                  <a:pt x="212351" y="209021"/>
                </a:lnTo>
                <a:lnTo>
                  <a:pt x="245662" y="166551"/>
                </a:lnTo>
                <a:lnTo>
                  <a:pt x="203191" y="133240"/>
                </a:lnTo>
                <a:close/>
              </a:path>
              <a:path w="638175" h="508635">
                <a:moveTo>
                  <a:pt x="288132" y="199861"/>
                </a:moveTo>
                <a:lnTo>
                  <a:pt x="254821" y="242332"/>
                </a:lnTo>
                <a:lnTo>
                  <a:pt x="297291" y="275642"/>
                </a:lnTo>
                <a:lnTo>
                  <a:pt x="330602" y="233171"/>
                </a:lnTo>
                <a:lnTo>
                  <a:pt x="288132" y="199861"/>
                </a:lnTo>
                <a:close/>
              </a:path>
              <a:path w="638175" h="508635">
                <a:moveTo>
                  <a:pt x="373072" y="266482"/>
                </a:moveTo>
                <a:lnTo>
                  <a:pt x="339763" y="308952"/>
                </a:lnTo>
                <a:lnTo>
                  <a:pt x="382233" y="342262"/>
                </a:lnTo>
                <a:lnTo>
                  <a:pt x="415542" y="299792"/>
                </a:lnTo>
                <a:lnTo>
                  <a:pt x="373072" y="266482"/>
                </a:lnTo>
                <a:close/>
              </a:path>
              <a:path w="638175" h="508635">
                <a:moveTo>
                  <a:pt x="560153" y="344617"/>
                </a:moveTo>
                <a:lnTo>
                  <a:pt x="460222" y="472027"/>
                </a:lnTo>
                <a:lnTo>
                  <a:pt x="637599" y="508253"/>
                </a:lnTo>
                <a:lnTo>
                  <a:pt x="608237" y="446212"/>
                </a:lnTo>
                <a:lnTo>
                  <a:pt x="514769" y="446212"/>
                </a:lnTo>
                <a:lnTo>
                  <a:pt x="509643" y="442193"/>
                </a:lnTo>
                <a:lnTo>
                  <a:pt x="542954" y="399723"/>
                </a:lnTo>
                <a:lnTo>
                  <a:pt x="586234" y="399723"/>
                </a:lnTo>
                <a:lnTo>
                  <a:pt x="560153" y="344617"/>
                </a:lnTo>
                <a:close/>
              </a:path>
              <a:path w="638175" h="508635">
                <a:moveTo>
                  <a:pt x="542954" y="399723"/>
                </a:moveTo>
                <a:lnTo>
                  <a:pt x="509643" y="442193"/>
                </a:lnTo>
                <a:lnTo>
                  <a:pt x="514769" y="446212"/>
                </a:lnTo>
                <a:lnTo>
                  <a:pt x="548078" y="403742"/>
                </a:lnTo>
                <a:lnTo>
                  <a:pt x="542954" y="399723"/>
                </a:lnTo>
                <a:close/>
              </a:path>
              <a:path w="638175" h="508635">
                <a:moveTo>
                  <a:pt x="586234" y="399723"/>
                </a:moveTo>
                <a:lnTo>
                  <a:pt x="542954" y="399723"/>
                </a:lnTo>
                <a:lnTo>
                  <a:pt x="548078" y="403742"/>
                </a:lnTo>
                <a:lnTo>
                  <a:pt x="514769" y="446212"/>
                </a:lnTo>
                <a:lnTo>
                  <a:pt x="608237" y="446212"/>
                </a:lnTo>
                <a:lnTo>
                  <a:pt x="586234" y="399723"/>
                </a:lnTo>
                <a:close/>
              </a:path>
              <a:path w="638175" h="508635">
                <a:moveTo>
                  <a:pt x="458014" y="333102"/>
                </a:moveTo>
                <a:lnTo>
                  <a:pt x="424703" y="375572"/>
                </a:lnTo>
                <a:lnTo>
                  <a:pt x="467173" y="408883"/>
                </a:lnTo>
                <a:lnTo>
                  <a:pt x="500484" y="366412"/>
                </a:lnTo>
                <a:lnTo>
                  <a:pt x="458014" y="3331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482098" y="6331129"/>
            <a:ext cx="955675" cy="161925"/>
          </a:xfrm>
          <a:custGeom>
            <a:avLst/>
            <a:gdLst/>
            <a:ahLst/>
            <a:cxnLst/>
            <a:rect l="l" t="t" r="r" b="b"/>
            <a:pathLst>
              <a:path w="955675" h="161925">
                <a:moveTo>
                  <a:pt x="793351" y="107949"/>
                </a:moveTo>
                <a:lnTo>
                  <a:pt x="793351" y="161925"/>
                </a:lnTo>
                <a:lnTo>
                  <a:pt x="901301" y="107950"/>
                </a:lnTo>
                <a:lnTo>
                  <a:pt x="793351" y="107949"/>
                </a:lnTo>
                <a:close/>
              </a:path>
              <a:path w="955675" h="161925">
                <a:moveTo>
                  <a:pt x="793351" y="53974"/>
                </a:moveTo>
                <a:lnTo>
                  <a:pt x="793351" y="107949"/>
                </a:lnTo>
                <a:lnTo>
                  <a:pt x="820338" y="107950"/>
                </a:lnTo>
                <a:lnTo>
                  <a:pt x="820338" y="53975"/>
                </a:lnTo>
                <a:lnTo>
                  <a:pt x="793351" y="53974"/>
                </a:lnTo>
                <a:close/>
              </a:path>
              <a:path w="955675" h="161925">
                <a:moveTo>
                  <a:pt x="793351" y="0"/>
                </a:moveTo>
                <a:lnTo>
                  <a:pt x="793351" y="53974"/>
                </a:lnTo>
                <a:lnTo>
                  <a:pt x="820338" y="53975"/>
                </a:lnTo>
                <a:lnTo>
                  <a:pt x="820338" y="107950"/>
                </a:lnTo>
                <a:lnTo>
                  <a:pt x="901303" y="107949"/>
                </a:lnTo>
                <a:lnTo>
                  <a:pt x="955276" y="80962"/>
                </a:lnTo>
                <a:lnTo>
                  <a:pt x="793351" y="0"/>
                </a:lnTo>
                <a:close/>
              </a:path>
              <a:path w="955675" h="161925">
                <a:moveTo>
                  <a:pt x="0" y="53974"/>
                </a:moveTo>
                <a:lnTo>
                  <a:pt x="0" y="107949"/>
                </a:lnTo>
                <a:lnTo>
                  <a:pt x="793351" y="107949"/>
                </a:lnTo>
                <a:lnTo>
                  <a:pt x="793351" y="53974"/>
                </a:lnTo>
                <a:lnTo>
                  <a:pt x="0" y="53974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437375" y="633078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437375" y="633078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566435" y="6008298"/>
            <a:ext cx="612775" cy="370205"/>
          </a:xfrm>
          <a:custGeom>
            <a:avLst/>
            <a:gdLst/>
            <a:ahLst/>
            <a:cxnLst/>
            <a:rect l="l" t="t" r="r" b="b"/>
            <a:pathLst>
              <a:path w="612775" h="370204">
                <a:moveTo>
                  <a:pt x="46720" y="295914"/>
                </a:moveTo>
                <a:lnTo>
                  <a:pt x="0" y="322940"/>
                </a:lnTo>
                <a:lnTo>
                  <a:pt x="27025" y="369661"/>
                </a:lnTo>
                <a:lnTo>
                  <a:pt x="73747" y="342635"/>
                </a:lnTo>
                <a:lnTo>
                  <a:pt x="46720" y="295914"/>
                </a:lnTo>
                <a:close/>
              </a:path>
              <a:path w="612775" h="370204">
                <a:moveTo>
                  <a:pt x="140163" y="241861"/>
                </a:moveTo>
                <a:lnTo>
                  <a:pt x="93442" y="268887"/>
                </a:lnTo>
                <a:lnTo>
                  <a:pt x="120468" y="315609"/>
                </a:lnTo>
                <a:lnTo>
                  <a:pt x="167190" y="288582"/>
                </a:lnTo>
                <a:lnTo>
                  <a:pt x="140163" y="241861"/>
                </a:lnTo>
                <a:close/>
              </a:path>
              <a:path w="612775" h="370204">
                <a:moveTo>
                  <a:pt x="233606" y="187809"/>
                </a:moveTo>
                <a:lnTo>
                  <a:pt x="186884" y="214835"/>
                </a:lnTo>
                <a:lnTo>
                  <a:pt x="213911" y="261556"/>
                </a:lnTo>
                <a:lnTo>
                  <a:pt x="260631" y="234530"/>
                </a:lnTo>
                <a:lnTo>
                  <a:pt x="233606" y="187809"/>
                </a:lnTo>
                <a:close/>
              </a:path>
              <a:path w="612775" h="370204">
                <a:moveTo>
                  <a:pt x="327049" y="133756"/>
                </a:moveTo>
                <a:lnTo>
                  <a:pt x="280327" y="160782"/>
                </a:lnTo>
                <a:lnTo>
                  <a:pt x="307353" y="207504"/>
                </a:lnTo>
                <a:lnTo>
                  <a:pt x="354074" y="180477"/>
                </a:lnTo>
                <a:lnTo>
                  <a:pt x="327049" y="133756"/>
                </a:lnTo>
                <a:close/>
              </a:path>
              <a:path w="612775" h="370204">
                <a:moveTo>
                  <a:pt x="420491" y="79704"/>
                </a:moveTo>
                <a:lnTo>
                  <a:pt x="373769" y="106730"/>
                </a:lnTo>
                <a:lnTo>
                  <a:pt x="400796" y="153451"/>
                </a:lnTo>
                <a:lnTo>
                  <a:pt x="447517" y="126425"/>
                </a:lnTo>
                <a:lnTo>
                  <a:pt x="420491" y="79704"/>
                </a:lnTo>
                <a:close/>
              </a:path>
              <a:path w="612775" h="370204">
                <a:moveTo>
                  <a:pt x="612176" y="0"/>
                </a:moveTo>
                <a:lnTo>
                  <a:pt x="431473" y="10996"/>
                </a:lnTo>
                <a:lnTo>
                  <a:pt x="512551" y="151160"/>
                </a:lnTo>
                <a:lnTo>
                  <a:pt x="546666" y="99399"/>
                </a:lnTo>
                <a:lnTo>
                  <a:pt x="494239" y="99399"/>
                </a:lnTo>
                <a:lnTo>
                  <a:pt x="467212" y="52677"/>
                </a:lnTo>
                <a:lnTo>
                  <a:pt x="481860" y="44204"/>
                </a:lnTo>
                <a:lnTo>
                  <a:pt x="583042" y="44204"/>
                </a:lnTo>
                <a:lnTo>
                  <a:pt x="612176" y="0"/>
                </a:lnTo>
                <a:close/>
              </a:path>
              <a:path w="612775" h="370204">
                <a:moveTo>
                  <a:pt x="481860" y="44204"/>
                </a:moveTo>
                <a:lnTo>
                  <a:pt x="467212" y="52677"/>
                </a:lnTo>
                <a:lnTo>
                  <a:pt x="494239" y="99399"/>
                </a:lnTo>
                <a:lnTo>
                  <a:pt x="508886" y="90926"/>
                </a:lnTo>
                <a:lnTo>
                  <a:pt x="481860" y="44204"/>
                </a:lnTo>
                <a:close/>
              </a:path>
              <a:path w="612775" h="370204">
                <a:moveTo>
                  <a:pt x="583042" y="44204"/>
                </a:moveTo>
                <a:lnTo>
                  <a:pt x="481860" y="44204"/>
                </a:lnTo>
                <a:lnTo>
                  <a:pt x="508886" y="90926"/>
                </a:lnTo>
                <a:lnTo>
                  <a:pt x="494239" y="99399"/>
                </a:lnTo>
                <a:lnTo>
                  <a:pt x="546666" y="99399"/>
                </a:lnTo>
                <a:lnTo>
                  <a:pt x="583042" y="44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6573690" y="6149340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510477" y="5417820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548235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854112" y="5405628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854112" y="6228588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306633" y="526749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306633" y="526749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473666" y="5267842"/>
            <a:ext cx="941705" cy="161925"/>
          </a:xfrm>
          <a:custGeom>
            <a:avLst/>
            <a:gdLst/>
            <a:ahLst/>
            <a:cxnLst/>
            <a:rect l="l" t="t" r="r" b="b"/>
            <a:pathLst>
              <a:path w="941704" h="161925">
                <a:moveTo>
                  <a:pt x="779504" y="0"/>
                </a:moveTo>
                <a:lnTo>
                  <a:pt x="779504" y="161924"/>
                </a:lnTo>
                <a:lnTo>
                  <a:pt x="887454" y="107949"/>
                </a:lnTo>
                <a:lnTo>
                  <a:pt x="806491" y="107949"/>
                </a:lnTo>
                <a:lnTo>
                  <a:pt x="806491" y="53974"/>
                </a:lnTo>
                <a:lnTo>
                  <a:pt x="887454" y="53974"/>
                </a:lnTo>
                <a:lnTo>
                  <a:pt x="779504" y="0"/>
                </a:lnTo>
                <a:close/>
              </a:path>
              <a:path w="941704" h="161925">
                <a:moveTo>
                  <a:pt x="779504" y="53974"/>
                </a:moveTo>
                <a:lnTo>
                  <a:pt x="0" y="53974"/>
                </a:lnTo>
                <a:lnTo>
                  <a:pt x="0" y="107949"/>
                </a:lnTo>
                <a:lnTo>
                  <a:pt x="779504" y="107949"/>
                </a:lnTo>
                <a:lnTo>
                  <a:pt x="779504" y="53974"/>
                </a:lnTo>
                <a:close/>
              </a:path>
              <a:path w="941704" h="161925">
                <a:moveTo>
                  <a:pt x="887454" y="53974"/>
                </a:moveTo>
                <a:lnTo>
                  <a:pt x="806491" y="53974"/>
                </a:lnTo>
                <a:lnTo>
                  <a:pt x="806491" y="107949"/>
                </a:lnTo>
                <a:lnTo>
                  <a:pt x="887454" y="107949"/>
                </a:lnTo>
                <a:lnTo>
                  <a:pt x="941429" y="80962"/>
                </a:lnTo>
                <a:lnTo>
                  <a:pt x="887454" y="53974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64</a:t>
            </a:fld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927" y="356615"/>
            <a:ext cx="7592568" cy="509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3746" y="1351788"/>
            <a:ext cx="84816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 i="0">
                <a:latin typeface="Calibri"/>
                <a:cs typeface="Calibri"/>
              </a:rPr>
              <a:t>How </a:t>
            </a:r>
            <a:r>
              <a:rPr dirty="0" sz="3200" spc="-15" b="1" i="0">
                <a:latin typeface="Calibri"/>
                <a:cs typeface="Calibri"/>
              </a:rPr>
              <a:t>to </a:t>
            </a:r>
            <a:r>
              <a:rPr dirty="0" sz="3200" spc="-20" b="1" i="0">
                <a:latin typeface="Calibri"/>
                <a:cs typeface="Calibri"/>
              </a:rPr>
              <a:t>instantiate </a:t>
            </a:r>
            <a:r>
              <a:rPr dirty="0" sz="3200" b="1" i="0">
                <a:latin typeface="Calibri"/>
                <a:cs typeface="Calibri"/>
              </a:rPr>
              <a:t>a </a:t>
            </a:r>
            <a:r>
              <a:rPr dirty="0" sz="3200" spc="-5" b="1" i="0">
                <a:latin typeface="Calibri"/>
                <a:cs typeface="Calibri"/>
              </a:rPr>
              <a:t>query </a:t>
            </a:r>
            <a:r>
              <a:rPr dirty="0" sz="3200" spc="-15" b="1" i="0">
                <a:latin typeface="Calibri"/>
                <a:cs typeface="Calibri"/>
              </a:rPr>
              <a:t>template </a:t>
            </a:r>
            <a:r>
              <a:rPr dirty="0" sz="3200" spc="-10" b="1" i="0">
                <a:latin typeface="Calibri"/>
                <a:cs typeface="Calibri"/>
              </a:rPr>
              <a:t>given </a:t>
            </a:r>
            <a:r>
              <a:rPr dirty="0" sz="3200" b="1" i="0">
                <a:latin typeface="Calibri"/>
                <a:cs typeface="Calibri"/>
              </a:rPr>
              <a:t>a</a:t>
            </a:r>
            <a:r>
              <a:rPr dirty="0" sz="3200" spc="25" b="1" i="0">
                <a:latin typeface="Calibri"/>
                <a:cs typeface="Calibri"/>
              </a:rPr>
              <a:t> </a:t>
            </a:r>
            <a:r>
              <a:rPr dirty="0" sz="3200" spc="-45" b="1" i="0">
                <a:latin typeface="Calibri"/>
                <a:cs typeface="Calibri"/>
              </a:rPr>
              <a:t>KG?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8269" y="4539996"/>
            <a:ext cx="395986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Overview</a:t>
            </a:r>
            <a:r>
              <a:rPr dirty="0" sz="2000" spc="-5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2000" spc="-5">
                <a:latin typeface="Arial"/>
                <a:cs typeface="Arial"/>
              </a:rPr>
              <a:t>Start from instantiating the </a:t>
            </a:r>
            <a:r>
              <a:rPr dirty="0" sz="2000" spc="-5" b="1">
                <a:solidFill>
                  <a:srgbClr val="479249"/>
                </a:solidFill>
                <a:latin typeface="Arial"/>
                <a:cs typeface="Arial"/>
              </a:rPr>
              <a:t>answer  </a:t>
            </a:r>
            <a:r>
              <a:rPr dirty="0" sz="2000" b="1">
                <a:solidFill>
                  <a:srgbClr val="479249"/>
                </a:solidFill>
                <a:latin typeface="Arial"/>
                <a:cs typeface="Arial"/>
              </a:rPr>
              <a:t>node </a:t>
            </a:r>
            <a:r>
              <a:rPr dirty="0" sz="2000">
                <a:latin typeface="Arial"/>
                <a:cs typeface="Arial"/>
              </a:rPr>
              <a:t>of </a:t>
            </a:r>
            <a:r>
              <a:rPr dirty="0" sz="2000" spc="-5">
                <a:latin typeface="Arial"/>
                <a:cs typeface="Arial"/>
              </a:rPr>
              <a:t>the query template </a:t>
            </a:r>
            <a:r>
              <a:rPr dirty="0" sz="2000">
                <a:latin typeface="Arial"/>
                <a:cs typeface="Arial"/>
              </a:rPr>
              <a:t>and  </a:t>
            </a:r>
            <a:r>
              <a:rPr dirty="0" sz="2000" spc="-5">
                <a:latin typeface="Arial"/>
                <a:cs typeface="Arial"/>
              </a:rPr>
              <a:t>then iteratively instantiate the other  </a:t>
            </a:r>
            <a:r>
              <a:rPr dirty="0" sz="2000">
                <a:latin typeface="Arial"/>
                <a:cs typeface="Arial"/>
              </a:rPr>
              <a:t>edges and nodes </a:t>
            </a:r>
            <a:r>
              <a:rPr dirty="0" sz="2000" spc="-5">
                <a:latin typeface="Arial"/>
                <a:cs typeface="Arial"/>
              </a:rPr>
              <a:t>until </a:t>
            </a:r>
            <a:r>
              <a:rPr dirty="0" sz="2000">
                <a:latin typeface="Arial"/>
                <a:cs typeface="Arial"/>
              </a:rPr>
              <a:t>we </a:t>
            </a:r>
            <a:r>
              <a:rPr dirty="0" sz="2000" spc="-5">
                <a:latin typeface="Arial"/>
                <a:cs typeface="Arial"/>
              </a:rPr>
              <a:t>ground  </a:t>
            </a:r>
            <a:r>
              <a:rPr dirty="0" sz="2000" spc="-5" b="1">
                <a:solidFill>
                  <a:srgbClr val="0070C0"/>
                </a:solidFill>
                <a:latin typeface="Arial"/>
                <a:cs typeface="Arial"/>
              </a:rPr>
              <a:t>all the </a:t>
            </a:r>
            <a:r>
              <a:rPr dirty="0" sz="2000" b="1">
                <a:solidFill>
                  <a:srgbClr val="0070C0"/>
                </a:solidFill>
                <a:latin typeface="Arial"/>
                <a:cs typeface="Arial"/>
              </a:rPr>
              <a:t>anchor</a:t>
            </a:r>
            <a:r>
              <a:rPr dirty="0" sz="2000" spc="-11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70C0"/>
                </a:solidFill>
                <a:latin typeface="Arial"/>
                <a:cs typeface="Arial"/>
              </a:rPr>
              <a:t>nodes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654" y="2014220"/>
            <a:ext cx="3155315" cy="50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120"/>
              </a:lnSpc>
              <a:spcBef>
                <a:spcPts val="100"/>
              </a:spcBef>
            </a:pPr>
            <a:r>
              <a:rPr dirty="0" sz="1800" b="1">
                <a:solidFill>
                  <a:srgbClr val="7030A0"/>
                </a:solidFill>
                <a:latin typeface="Arial"/>
                <a:cs typeface="Arial"/>
              </a:rPr>
              <a:t>Query</a:t>
            </a:r>
            <a:r>
              <a:rPr dirty="0" sz="1800" spc="-100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7030A0"/>
                </a:solidFill>
                <a:latin typeface="Arial"/>
                <a:cs typeface="Arial"/>
              </a:rPr>
              <a:t>Template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639"/>
              </a:lnSpc>
            </a:pPr>
            <a:r>
              <a:rPr dirty="0" sz="1400" spc="-5" b="1">
                <a:latin typeface="Corbel"/>
                <a:cs typeface="Corbel"/>
              </a:rPr>
              <a:t>((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Anchor1</a:t>
            </a:r>
            <a:r>
              <a:rPr dirty="0" sz="1400" spc="-5" b="1">
                <a:latin typeface="Corbel"/>
                <a:cs typeface="Corbel"/>
              </a:rPr>
              <a:t>,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C00000"/>
                </a:solidFill>
                <a:latin typeface="Corbel"/>
                <a:cs typeface="Corbel"/>
              </a:rPr>
              <a:t>Rel1, </a:t>
            </a:r>
            <a:r>
              <a:rPr dirty="0" sz="1400" spc="-10" b="1">
                <a:solidFill>
                  <a:srgbClr val="479249"/>
                </a:solidFill>
                <a:latin typeface="Corbel"/>
                <a:cs typeface="Corbel"/>
              </a:rPr>
              <a:t>Rel2</a:t>
            </a:r>
            <a:r>
              <a:rPr dirty="0" sz="1400" spc="-10" b="1">
                <a:latin typeface="Corbel"/>
                <a:cs typeface="Corbel"/>
              </a:rPr>
              <a:t>)), </a:t>
            </a:r>
            <a:r>
              <a:rPr dirty="0" sz="1400" spc="-5" b="1">
                <a:latin typeface="Corbel"/>
                <a:cs typeface="Corbel"/>
              </a:rPr>
              <a:t>(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Anchor2</a:t>
            </a:r>
            <a:r>
              <a:rPr dirty="0" sz="1400" spc="-5" b="1">
                <a:latin typeface="Corbel"/>
                <a:cs typeface="Corbel"/>
              </a:rPr>
              <a:t>,</a:t>
            </a:r>
            <a:r>
              <a:rPr dirty="0" sz="1400" spc="-5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B48200"/>
                </a:solidFill>
                <a:latin typeface="Corbel"/>
                <a:cs typeface="Corbel"/>
              </a:rPr>
              <a:t>Rel3</a:t>
            </a:r>
            <a:r>
              <a:rPr dirty="0" sz="1400" spc="-10" b="1">
                <a:latin typeface="Corbel"/>
                <a:cs typeface="Corbel"/>
              </a:rPr>
              <a:t>))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08738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08738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47822" y="315490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47822" y="315490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08767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08767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07469" y="2671572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C0000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0489" y="253618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20489" y="253618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7482" y="2537708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5" h="161925">
                <a:moveTo>
                  <a:pt x="783077" y="107949"/>
                </a:moveTo>
                <a:lnTo>
                  <a:pt x="782995" y="161925"/>
                </a:lnTo>
                <a:lnTo>
                  <a:pt x="891273" y="107990"/>
                </a:lnTo>
                <a:lnTo>
                  <a:pt x="810064" y="107990"/>
                </a:lnTo>
                <a:lnTo>
                  <a:pt x="783077" y="107949"/>
                </a:lnTo>
                <a:close/>
              </a:path>
              <a:path w="945515" h="161925">
                <a:moveTo>
                  <a:pt x="783158" y="53974"/>
                </a:moveTo>
                <a:lnTo>
                  <a:pt x="783077" y="107949"/>
                </a:lnTo>
                <a:lnTo>
                  <a:pt x="810064" y="107990"/>
                </a:lnTo>
                <a:lnTo>
                  <a:pt x="810146" y="54015"/>
                </a:lnTo>
                <a:lnTo>
                  <a:pt x="783158" y="53974"/>
                </a:lnTo>
                <a:close/>
              </a:path>
              <a:path w="945515" h="161925">
                <a:moveTo>
                  <a:pt x="783240" y="0"/>
                </a:moveTo>
                <a:lnTo>
                  <a:pt x="783158" y="53974"/>
                </a:lnTo>
                <a:lnTo>
                  <a:pt x="810146" y="54015"/>
                </a:lnTo>
                <a:lnTo>
                  <a:pt x="810064" y="107990"/>
                </a:lnTo>
                <a:lnTo>
                  <a:pt x="891273" y="107990"/>
                </a:lnTo>
                <a:lnTo>
                  <a:pt x="945042" y="81207"/>
                </a:lnTo>
                <a:lnTo>
                  <a:pt x="783240" y="0"/>
                </a:lnTo>
                <a:close/>
              </a:path>
              <a:path w="945515" h="161925">
                <a:moveTo>
                  <a:pt x="81" y="52793"/>
                </a:moveTo>
                <a:lnTo>
                  <a:pt x="0" y="106768"/>
                </a:lnTo>
                <a:lnTo>
                  <a:pt x="783077" y="107949"/>
                </a:lnTo>
                <a:lnTo>
                  <a:pt x="783158" y="53974"/>
                </a:lnTo>
                <a:lnTo>
                  <a:pt x="81" y="5279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34685" y="2670470"/>
            <a:ext cx="638175" cy="508634"/>
          </a:xfrm>
          <a:custGeom>
            <a:avLst/>
            <a:gdLst/>
            <a:ahLst/>
            <a:cxnLst/>
            <a:rect l="l" t="t" r="r" b="b"/>
            <a:pathLst>
              <a:path w="638175" h="508635">
                <a:moveTo>
                  <a:pt x="33309" y="0"/>
                </a:moveTo>
                <a:lnTo>
                  <a:pt x="0" y="42470"/>
                </a:lnTo>
                <a:lnTo>
                  <a:pt x="42470" y="75780"/>
                </a:lnTo>
                <a:lnTo>
                  <a:pt x="75780" y="33309"/>
                </a:lnTo>
                <a:lnTo>
                  <a:pt x="33309" y="0"/>
                </a:lnTo>
                <a:close/>
              </a:path>
              <a:path w="638175" h="508635">
                <a:moveTo>
                  <a:pt x="118250" y="66620"/>
                </a:moveTo>
                <a:lnTo>
                  <a:pt x="84940" y="109090"/>
                </a:lnTo>
                <a:lnTo>
                  <a:pt x="127410" y="142401"/>
                </a:lnTo>
                <a:lnTo>
                  <a:pt x="160721" y="99931"/>
                </a:lnTo>
                <a:lnTo>
                  <a:pt x="118250" y="66620"/>
                </a:lnTo>
                <a:close/>
              </a:path>
              <a:path w="638175" h="508635">
                <a:moveTo>
                  <a:pt x="203191" y="133240"/>
                </a:moveTo>
                <a:lnTo>
                  <a:pt x="169881" y="175710"/>
                </a:lnTo>
                <a:lnTo>
                  <a:pt x="212351" y="209021"/>
                </a:lnTo>
                <a:lnTo>
                  <a:pt x="245661" y="166551"/>
                </a:lnTo>
                <a:lnTo>
                  <a:pt x="203191" y="133240"/>
                </a:lnTo>
                <a:close/>
              </a:path>
              <a:path w="638175" h="508635">
                <a:moveTo>
                  <a:pt x="288132" y="199861"/>
                </a:moveTo>
                <a:lnTo>
                  <a:pt x="254821" y="242331"/>
                </a:lnTo>
                <a:lnTo>
                  <a:pt x="297291" y="275642"/>
                </a:lnTo>
                <a:lnTo>
                  <a:pt x="330602" y="233172"/>
                </a:lnTo>
                <a:lnTo>
                  <a:pt x="288132" y="199861"/>
                </a:lnTo>
                <a:close/>
              </a:path>
              <a:path w="638175" h="508635">
                <a:moveTo>
                  <a:pt x="373072" y="266481"/>
                </a:moveTo>
                <a:lnTo>
                  <a:pt x="339761" y="308952"/>
                </a:lnTo>
                <a:lnTo>
                  <a:pt x="382233" y="342262"/>
                </a:lnTo>
                <a:lnTo>
                  <a:pt x="415542" y="299792"/>
                </a:lnTo>
                <a:lnTo>
                  <a:pt x="373072" y="266481"/>
                </a:lnTo>
                <a:close/>
              </a:path>
              <a:path w="638175" h="508635">
                <a:moveTo>
                  <a:pt x="560153" y="344617"/>
                </a:moveTo>
                <a:lnTo>
                  <a:pt x="460222" y="472027"/>
                </a:lnTo>
                <a:lnTo>
                  <a:pt x="637598" y="508252"/>
                </a:lnTo>
                <a:lnTo>
                  <a:pt x="608236" y="446213"/>
                </a:lnTo>
                <a:lnTo>
                  <a:pt x="514767" y="446213"/>
                </a:lnTo>
                <a:lnTo>
                  <a:pt x="509643" y="442193"/>
                </a:lnTo>
                <a:lnTo>
                  <a:pt x="542954" y="399723"/>
                </a:lnTo>
                <a:lnTo>
                  <a:pt x="586234" y="399723"/>
                </a:lnTo>
                <a:lnTo>
                  <a:pt x="560153" y="344617"/>
                </a:lnTo>
                <a:close/>
              </a:path>
              <a:path w="638175" h="508635">
                <a:moveTo>
                  <a:pt x="542954" y="399723"/>
                </a:moveTo>
                <a:lnTo>
                  <a:pt x="509643" y="442193"/>
                </a:lnTo>
                <a:lnTo>
                  <a:pt x="514767" y="446213"/>
                </a:lnTo>
                <a:lnTo>
                  <a:pt x="548078" y="403741"/>
                </a:lnTo>
                <a:lnTo>
                  <a:pt x="542954" y="399723"/>
                </a:lnTo>
                <a:close/>
              </a:path>
              <a:path w="638175" h="508635">
                <a:moveTo>
                  <a:pt x="586234" y="399723"/>
                </a:moveTo>
                <a:lnTo>
                  <a:pt x="542954" y="399723"/>
                </a:lnTo>
                <a:lnTo>
                  <a:pt x="548078" y="403741"/>
                </a:lnTo>
                <a:lnTo>
                  <a:pt x="514767" y="446213"/>
                </a:lnTo>
                <a:lnTo>
                  <a:pt x="608236" y="446213"/>
                </a:lnTo>
                <a:lnTo>
                  <a:pt x="586234" y="399723"/>
                </a:lnTo>
                <a:close/>
              </a:path>
              <a:path w="638175" h="508635">
                <a:moveTo>
                  <a:pt x="458012" y="333101"/>
                </a:moveTo>
                <a:lnTo>
                  <a:pt x="424703" y="375573"/>
                </a:lnTo>
                <a:lnTo>
                  <a:pt x="467173" y="408882"/>
                </a:lnTo>
                <a:lnTo>
                  <a:pt x="500484" y="366412"/>
                </a:lnTo>
                <a:lnTo>
                  <a:pt x="458012" y="3331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75770" y="3616538"/>
            <a:ext cx="955675" cy="161925"/>
          </a:xfrm>
          <a:custGeom>
            <a:avLst/>
            <a:gdLst/>
            <a:ahLst/>
            <a:cxnLst/>
            <a:rect l="l" t="t" r="r" b="b"/>
            <a:pathLst>
              <a:path w="955675" h="161925">
                <a:moveTo>
                  <a:pt x="793352" y="107949"/>
                </a:moveTo>
                <a:lnTo>
                  <a:pt x="793352" y="161925"/>
                </a:lnTo>
                <a:lnTo>
                  <a:pt x="901302" y="107950"/>
                </a:lnTo>
                <a:lnTo>
                  <a:pt x="793352" y="107949"/>
                </a:lnTo>
                <a:close/>
              </a:path>
              <a:path w="955675" h="161925">
                <a:moveTo>
                  <a:pt x="793352" y="53974"/>
                </a:moveTo>
                <a:lnTo>
                  <a:pt x="793352" y="107949"/>
                </a:lnTo>
                <a:lnTo>
                  <a:pt x="820339" y="107950"/>
                </a:lnTo>
                <a:lnTo>
                  <a:pt x="820339" y="53975"/>
                </a:lnTo>
                <a:lnTo>
                  <a:pt x="793352" y="53974"/>
                </a:lnTo>
                <a:close/>
              </a:path>
              <a:path w="955675" h="161925">
                <a:moveTo>
                  <a:pt x="793352" y="0"/>
                </a:moveTo>
                <a:lnTo>
                  <a:pt x="793352" y="53974"/>
                </a:lnTo>
                <a:lnTo>
                  <a:pt x="820339" y="53975"/>
                </a:lnTo>
                <a:lnTo>
                  <a:pt x="820339" y="107950"/>
                </a:lnTo>
                <a:lnTo>
                  <a:pt x="901305" y="107948"/>
                </a:lnTo>
                <a:lnTo>
                  <a:pt x="955277" y="80962"/>
                </a:lnTo>
                <a:lnTo>
                  <a:pt x="793352" y="0"/>
                </a:lnTo>
                <a:close/>
              </a:path>
              <a:path w="955675" h="161925">
                <a:moveTo>
                  <a:pt x="0" y="53973"/>
                </a:moveTo>
                <a:lnTo>
                  <a:pt x="0" y="107948"/>
                </a:lnTo>
                <a:lnTo>
                  <a:pt x="793352" y="107949"/>
                </a:lnTo>
                <a:lnTo>
                  <a:pt x="793352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431047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431047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60106" y="3293708"/>
            <a:ext cx="612775" cy="370205"/>
          </a:xfrm>
          <a:custGeom>
            <a:avLst/>
            <a:gdLst/>
            <a:ahLst/>
            <a:cxnLst/>
            <a:rect l="l" t="t" r="r" b="b"/>
            <a:pathLst>
              <a:path w="612775" h="370204">
                <a:moveTo>
                  <a:pt x="46722" y="295913"/>
                </a:moveTo>
                <a:lnTo>
                  <a:pt x="0" y="322939"/>
                </a:lnTo>
                <a:lnTo>
                  <a:pt x="27026" y="369661"/>
                </a:lnTo>
                <a:lnTo>
                  <a:pt x="73747" y="342634"/>
                </a:lnTo>
                <a:lnTo>
                  <a:pt x="46722" y="295913"/>
                </a:lnTo>
                <a:close/>
              </a:path>
              <a:path w="612775" h="370204">
                <a:moveTo>
                  <a:pt x="140163" y="241861"/>
                </a:moveTo>
                <a:lnTo>
                  <a:pt x="93442" y="268886"/>
                </a:lnTo>
                <a:lnTo>
                  <a:pt x="120469" y="315608"/>
                </a:lnTo>
                <a:lnTo>
                  <a:pt x="167190" y="288582"/>
                </a:lnTo>
                <a:lnTo>
                  <a:pt x="140163" y="241861"/>
                </a:lnTo>
                <a:close/>
              </a:path>
              <a:path w="612775" h="370204">
                <a:moveTo>
                  <a:pt x="233606" y="187808"/>
                </a:moveTo>
                <a:lnTo>
                  <a:pt x="186885" y="214834"/>
                </a:lnTo>
                <a:lnTo>
                  <a:pt x="213911" y="261556"/>
                </a:lnTo>
                <a:lnTo>
                  <a:pt x="260633" y="234529"/>
                </a:lnTo>
                <a:lnTo>
                  <a:pt x="233606" y="187808"/>
                </a:lnTo>
                <a:close/>
              </a:path>
              <a:path w="612775" h="370204">
                <a:moveTo>
                  <a:pt x="327049" y="133756"/>
                </a:moveTo>
                <a:lnTo>
                  <a:pt x="280328" y="160781"/>
                </a:lnTo>
                <a:lnTo>
                  <a:pt x="307353" y="207504"/>
                </a:lnTo>
                <a:lnTo>
                  <a:pt x="354075" y="180477"/>
                </a:lnTo>
                <a:lnTo>
                  <a:pt x="327049" y="133756"/>
                </a:lnTo>
                <a:close/>
              </a:path>
              <a:path w="612775" h="370204">
                <a:moveTo>
                  <a:pt x="420491" y="79703"/>
                </a:moveTo>
                <a:lnTo>
                  <a:pt x="373771" y="106729"/>
                </a:lnTo>
                <a:lnTo>
                  <a:pt x="400796" y="153451"/>
                </a:lnTo>
                <a:lnTo>
                  <a:pt x="447518" y="126424"/>
                </a:lnTo>
                <a:lnTo>
                  <a:pt x="420491" y="79703"/>
                </a:lnTo>
                <a:close/>
              </a:path>
              <a:path w="612775" h="370204">
                <a:moveTo>
                  <a:pt x="612176" y="0"/>
                </a:moveTo>
                <a:lnTo>
                  <a:pt x="431473" y="10996"/>
                </a:lnTo>
                <a:lnTo>
                  <a:pt x="512552" y="151160"/>
                </a:lnTo>
                <a:lnTo>
                  <a:pt x="546666" y="99399"/>
                </a:lnTo>
                <a:lnTo>
                  <a:pt x="494239" y="99399"/>
                </a:lnTo>
                <a:lnTo>
                  <a:pt x="467213" y="52677"/>
                </a:lnTo>
                <a:lnTo>
                  <a:pt x="481860" y="44204"/>
                </a:lnTo>
                <a:lnTo>
                  <a:pt x="583043" y="44204"/>
                </a:lnTo>
                <a:lnTo>
                  <a:pt x="612176" y="0"/>
                </a:lnTo>
                <a:close/>
              </a:path>
              <a:path w="612775" h="370204">
                <a:moveTo>
                  <a:pt x="481860" y="44204"/>
                </a:moveTo>
                <a:lnTo>
                  <a:pt x="467213" y="52677"/>
                </a:lnTo>
                <a:lnTo>
                  <a:pt x="494239" y="99399"/>
                </a:lnTo>
                <a:lnTo>
                  <a:pt x="508887" y="90925"/>
                </a:lnTo>
                <a:lnTo>
                  <a:pt x="481860" y="44204"/>
                </a:lnTo>
                <a:close/>
              </a:path>
              <a:path w="612775" h="370204">
                <a:moveTo>
                  <a:pt x="583043" y="44204"/>
                </a:moveTo>
                <a:lnTo>
                  <a:pt x="481860" y="44204"/>
                </a:lnTo>
                <a:lnTo>
                  <a:pt x="508887" y="90925"/>
                </a:lnTo>
                <a:lnTo>
                  <a:pt x="494239" y="99399"/>
                </a:lnTo>
                <a:lnTo>
                  <a:pt x="546666" y="99399"/>
                </a:lnTo>
                <a:lnTo>
                  <a:pt x="583043" y="44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567361" y="3436620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04148" y="2702051"/>
            <a:ext cx="22586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55725" algn="l"/>
              </a:tabLst>
            </a:pPr>
            <a:r>
              <a:rPr dirty="0" sz="1400" spc="-25">
                <a:solidFill>
                  <a:srgbClr val="548235"/>
                </a:solidFill>
                <a:latin typeface="Arial"/>
                <a:cs typeface="Arial"/>
              </a:rPr>
              <a:t>Projection	</a:t>
            </a:r>
            <a:r>
              <a:rPr dirty="0" baseline="3968" sz="2100" spc="-37">
                <a:latin typeface="Arial"/>
                <a:cs typeface="Arial"/>
              </a:rPr>
              <a:t>Intersection</a:t>
            </a:r>
            <a:endParaRPr baseline="3968" sz="2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47784" y="3512820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300305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1"/>
                </a:lnTo>
                <a:lnTo>
                  <a:pt x="83516" y="162610"/>
                </a:lnTo>
                <a:lnTo>
                  <a:pt x="116024" y="156221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300305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467338" y="2553251"/>
            <a:ext cx="941705" cy="161925"/>
          </a:xfrm>
          <a:custGeom>
            <a:avLst/>
            <a:gdLst/>
            <a:ahLst/>
            <a:cxnLst/>
            <a:rect l="l" t="t" r="r" b="b"/>
            <a:pathLst>
              <a:path w="941705" h="161925">
                <a:moveTo>
                  <a:pt x="779504" y="107949"/>
                </a:moveTo>
                <a:lnTo>
                  <a:pt x="779504" y="161925"/>
                </a:lnTo>
                <a:lnTo>
                  <a:pt x="887454" y="107950"/>
                </a:lnTo>
                <a:lnTo>
                  <a:pt x="779504" y="107949"/>
                </a:lnTo>
                <a:close/>
              </a:path>
              <a:path w="941705" h="161925">
                <a:moveTo>
                  <a:pt x="779504" y="53974"/>
                </a:moveTo>
                <a:lnTo>
                  <a:pt x="779504" y="107949"/>
                </a:lnTo>
                <a:lnTo>
                  <a:pt x="806491" y="107950"/>
                </a:lnTo>
                <a:lnTo>
                  <a:pt x="806491" y="53975"/>
                </a:lnTo>
                <a:lnTo>
                  <a:pt x="779504" y="53974"/>
                </a:lnTo>
                <a:close/>
              </a:path>
              <a:path w="941705" h="161925">
                <a:moveTo>
                  <a:pt x="779504" y="0"/>
                </a:moveTo>
                <a:lnTo>
                  <a:pt x="779504" y="53974"/>
                </a:lnTo>
                <a:lnTo>
                  <a:pt x="806491" y="53975"/>
                </a:lnTo>
                <a:lnTo>
                  <a:pt x="806491" y="107950"/>
                </a:lnTo>
                <a:lnTo>
                  <a:pt x="887456" y="107948"/>
                </a:lnTo>
                <a:lnTo>
                  <a:pt x="941429" y="80962"/>
                </a:lnTo>
                <a:lnTo>
                  <a:pt x="779504" y="0"/>
                </a:lnTo>
                <a:close/>
              </a:path>
              <a:path w="941705" h="161925">
                <a:moveTo>
                  <a:pt x="0" y="53973"/>
                </a:moveTo>
                <a:lnTo>
                  <a:pt x="0" y="107948"/>
                </a:lnTo>
                <a:lnTo>
                  <a:pt x="779504" y="107949"/>
                </a:lnTo>
                <a:lnTo>
                  <a:pt x="779504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647498" y="1889251"/>
            <a:ext cx="1981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Knowledge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344786" y="2817210"/>
            <a:ext cx="1249680" cy="1932305"/>
          </a:xfrm>
          <a:custGeom>
            <a:avLst/>
            <a:gdLst/>
            <a:ahLst/>
            <a:cxnLst/>
            <a:rect l="l" t="t" r="r" b="b"/>
            <a:pathLst>
              <a:path w="1249679" h="1932304">
                <a:moveTo>
                  <a:pt x="1171846" y="85901"/>
                </a:moveTo>
                <a:lnTo>
                  <a:pt x="0" y="1911626"/>
                </a:lnTo>
                <a:lnTo>
                  <a:pt x="32063" y="1932205"/>
                </a:lnTo>
                <a:lnTo>
                  <a:pt x="1203910" y="106481"/>
                </a:lnTo>
                <a:lnTo>
                  <a:pt x="1171846" y="85901"/>
                </a:lnTo>
                <a:close/>
              </a:path>
              <a:path w="1249679" h="1932304">
                <a:moveTo>
                  <a:pt x="1242114" y="69871"/>
                </a:moveTo>
                <a:lnTo>
                  <a:pt x="1182135" y="69871"/>
                </a:lnTo>
                <a:lnTo>
                  <a:pt x="1214198" y="90451"/>
                </a:lnTo>
                <a:lnTo>
                  <a:pt x="1203910" y="106481"/>
                </a:lnTo>
                <a:lnTo>
                  <a:pt x="1235972" y="127060"/>
                </a:lnTo>
                <a:lnTo>
                  <a:pt x="1242114" y="69871"/>
                </a:lnTo>
                <a:close/>
              </a:path>
              <a:path w="1249679" h="1932304">
                <a:moveTo>
                  <a:pt x="1182135" y="69871"/>
                </a:moveTo>
                <a:lnTo>
                  <a:pt x="1171846" y="85901"/>
                </a:lnTo>
                <a:lnTo>
                  <a:pt x="1203910" y="106481"/>
                </a:lnTo>
                <a:lnTo>
                  <a:pt x="1214198" y="90451"/>
                </a:lnTo>
                <a:lnTo>
                  <a:pt x="1182135" y="69871"/>
                </a:lnTo>
                <a:close/>
              </a:path>
              <a:path w="1249679" h="1932304">
                <a:moveTo>
                  <a:pt x="1249617" y="0"/>
                </a:moveTo>
                <a:lnTo>
                  <a:pt x="1139783" y="65321"/>
                </a:lnTo>
                <a:lnTo>
                  <a:pt x="1171846" y="85901"/>
                </a:lnTo>
                <a:lnTo>
                  <a:pt x="1182135" y="69871"/>
                </a:lnTo>
                <a:lnTo>
                  <a:pt x="1242114" y="69871"/>
                </a:lnTo>
                <a:lnTo>
                  <a:pt x="1249617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404153" y="4459732"/>
            <a:ext cx="73787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69850" marR="5080" indent="-5715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Short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  Breath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91261" y="4982971"/>
            <a:ext cx="1080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au</a:t>
            </a: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s</a:t>
            </a: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edB</a:t>
            </a: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343984" y="3109467"/>
            <a:ext cx="8153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r</a:t>
            </a:r>
            <a:r>
              <a:rPr dirty="0" sz="1600" spc="-5">
                <a:latin typeface="Arial"/>
                <a:cs typeface="Arial"/>
              </a:rPr>
              <a:t>i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ide</a:t>
            </a:r>
            <a:r>
              <a:rPr dirty="0" sz="160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02466" y="3980179"/>
            <a:ext cx="1071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32355" y="3816603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353733" y="4230772"/>
            <a:ext cx="1249680" cy="526415"/>
          </a:xfrm>
          <a:custGeom>
            <a:avLst/>
            <a:gdLst/>
            <a:ahLst/>
            <a:cxnLst/>
            <a:rect l="l" t="t" r="r" b="b"/>
            <a:pathLst>
              <a:path w="1249679" h="526414">
                <a:moveTo>
                  <a:pt x="1136325" y="35366"/>
                </a:moveTo>
                <a:lnTo>
                  <a:pt x="0" y="490670"/>
                </a:lnTo>
                <a:lnTo>
                  <a:pt x="14170" y="526037"/>
                </a:lnTo>
                <a:lnTo>
                  <a:pt x="1150496" y="70732"/>
                </a:lnTo>
                <a:lnTo>
                  <a:pt x="1136325" y="35366"/>
                </a:lnTo>
                <a:close/>
              </a:path>
              <a:path w="1249679" h="526414">
                <a:moveTo>
                  <a:pt x="1233756" y="28281"/>
                </a:moveTo>
                <a:lnTo>
                  <a:pt x="1154008" y="28281"/>
                </a:lnTo>
                <a:lnTo>
                  <a:pt x="1168179" y="63647"/>
                </a:lnTo>
                <a:lnTo>
                  <a:pt x="1150496" y="70732"/>
                </a:lnTo>
                <a:lnTo>
                  <a:pt x="1164667" y="106099"/>
                </a:lnTo>
                <a:lnTo>
                  <a:pt x="1233756" y="28281"/>
                </a:lnTo>
                <a:close/>
              </a:path>
              <a:path w="1249679" h="526414">
                <a:moveTo>
                  <a:pt x="1154008" y="28281"/>
                </a:moveTo>
                <a:lnTo>
                  <a:pt x="1136325" y="35366"/>
                </a:lnTo>
                <a:lnTo>
                  <a:pt x="1150496" y="70732"/>
                </a:lnTo>
                <a:lnTo>
                  <a:pt x="1168179" y="63647"/>
                </a:lnTo>
                <a:lnTo>
                  <a:pt x="1154008" y="28281"/>
                </a:lnTo>
                <a:close/>
              </a:path>
              <a:path w="1249679" h="526414">
                <a:moveTo>
                  <a:pt x="1122154" y="0"/>
                </a:moveTo>
                <a:lnTo>
                  <a:pt x="1136325" y="35366"/>
                </a:lnTo>
                <a:lnTo>
                  <a:pt x="1154008" y="28281"/>
                </a:lnTo>
                <a:lnTo>
                  <a:pt x="1233756" y="28281"/>
                </a:lnTo>
                <a:lnTo>
                  <a:pt x="1249511" y="10537"/>
                </a:lnTo>
                <a:lnTo>
                  <a:pt x="1122154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358375" y="4720234"/>
            <a:ext cx="1279525" cy="226060"/>
          </a:xfrm>
          <a:custGeom>
            <a:avLst/>
            <a:gdLst/>
            <a:ahLst/>
            <a:cxnLst/>
            <a:rect l="l" t="t" r="r" b="b"/>
            <a:pathLst>
              <a:path w="1279525" h="226060">
                <a:moveTo>
                  <a:pt x="1163322" y="188231"/>
                </a:moveTo>
                <a:lnTo>
                  <a:pt x="1158435" y="226016"/>
                </a:lnTo>
                <a:lnTo>
                  <a:pt x="1259946" y="190675"/>
                </a:lnTo>
                <a:lnTo>
                  <a:pt x="1182216" y="190675"/>
                </a:lnTo>
                <a:lnTo>
                  <a:pt x="1163322" y="188231"/>
                </a:lnTo>
                <a:close/>
              </a:path>
              <a:path w="1279525" h="226060">
                <a:moveTo>
                  <a:pt x="1168209" y="150445"/>
                </a:moveTo>
                <a:lnTo>
                  <a:pt x="1163322" y="188231"/>
                </a:lnTo>
                <a:lnTo>
                  <a:pt x="1182216" y="190675"/>
                </a:lnTo>
                <a:lnTo>
                  <a:pt x="1187103" y="152888"/>
                </a:lnTo>
                <a:lnTo>
                  <a:pt x="1168209" y="150445"/>
                </a:lnTo>
                <a:close/>
              </a:path>
              <a:path w="1279525" h="226060">
                <a:moveTo>
                  <a:pt x="1173096" y="112660"/>
                </a:moveTo>
                <a:lnTo>
                  <a:pt x="1168209" y="150445"/>
                </a:lnTo>
                <a:lnTo>
                  <a:pt x="1187103" y="152888"/>
                </a:lnTo>
                <a:lnTo>
                  <a:pt x="1182216" y="190675"/>
                </a:lnTo>
                <a:lnTo>
                  <a:pt x="1259946" y="190675"/>
                </a:lnTo>
                <a:lnTo>
                  <a:pt x="1279122" y="183998"/>
                </a:lnTo>
                <a:lnTo>
                  <a:pt x="1173096" y="112660"/>
                </a:lnTo>
                <a:close/>
              </a:path>
              <a:path w="1279525" h="226060">
                <a:moveTo>
                  <a:pt x="4885" y="0"/>
                </a:moveTo>
                <a:lnTo>
                  <a:pt x="0" y="37785"/>
                </a:lnTo>
                <a:lnTo>
                  <a:pt x="1163322" y="188231"/>
                </a:lnTo>
                <a:lnTo>
                  <a:pt x="1168209" y="150445"/>
                </a:lnTo>
                <a:lnTo>
                  <a:pt x="4885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628911" y="33624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628911" y="33624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376819" y="4511547"/>
            <a:ext cx="7702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Ke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637498" y="479582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637498" y="479582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4701952" y="3578859"/>
            <a:ext cx="5543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ESR2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28628" y="2767076"/>
            <a:ext cx="648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ss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963475" y="3118611"/>
            <a:ext cx="67945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3302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Breast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123225" y="3430593"/>
            <a:ext cx="1032510" cy="313055"/>
          </a:xfrm>
          <a:custGeom>
            <a:avLst/>
            <a:gdLst/>
            <a:ahLst/>
            <a:cxnLst/>
            <a:rect l="l" t="t" r="r" b="b"/>
            <a:pathLst>
              <a:path w="1032510" h="313054">
                <a:moveTo>
                  <a:pt x="916774" y="275689"/>
                </a:moveTo>
                <a:lnTo>
                  <a:pt x="907169" y="312558"/>
                </a:lnTo>
                <a:lnTo>
                  <a:pt x="1032184" y="286067"/>
                </a:lnTo>
                <a:lnTo>
                  <a:pt x="1025807" y="280490"/>
                </a:lnTo>
                <a:lnTo>
                  <a:pt x="935207" y="280490"/>
                </a:lnTo>
                <a:lnTo>
                  <a:pt x="916774" y="275689"/>
                </a:lnTo>
                <a:close/>
              </a:path>
              <a:path w="1032510" h="313054">
                <a:moveTo>
                  <a:pt x="926379" y="238818"/>
                </a:moveTo>
                <a:lnTo>
                  <a:pt x="916774" y="275689"/>
                </a:lnTo>
                <a:lnTo>
                  <a:pt x="935207" y="280490"/>
                </a:lnTo>
                <a:lnTo>
                  <a:pt x="944812" y="243620"/>
                </a:lnTo>
                <a:lnTo>
                  <a:pt x="926379" y="238818"/>
                </a:lnTo>
                <a:close/>
              </a:path>
              <a:path w="1032510" h="313054">
                <a:moveTo>
                  <a:pt x="935983" y="201949"/>
                </a:moveTo>
                <a:lnTo>
                  <a:pt x="926379" y="238818"/>
                </a:lnTo>
                <a:lnTo>
                  <a:pt x="944812" y="243620"/>
                </a:lnTo>
                <a:lnTo>
                  <a:pt x="935207" y="280490"/>
                </a:lnTo>
                <a:lnTo>
                  <a:pt x="1025807" y="280490"/>
                </a:lnTo>
                <a:lnTo>
                  <a:pt x="935983" y="201949"/>
                </a:lnTo>
                <a:close/>
              </a:path>
              <a:path w="1032510" h="313054">
                <a:moveTo>
                  <a:pt x="9603" y="0"/>
                </a:moveTo>
                <a:lnTo>
                  <a:pt x="0" y="36869"/>
                </a:lnTo>
                <a:lnTo>
                  <a:pt x="916774" y="275689"/>
                </a:lnTo>
                <a:lnTo>
                  <a:pt x="926379" y="238818"/>
                </a:lnTo>
                <a:lnTo>
                  <a:pt x="960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155410" y="36082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155410" y="36082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374447" y="3436808"/>
            <a:ext cx="1254760" cy="299085"/>
          </a:xfrm>
          <a:custGeom>
            <a:avLst/>
            <a:gdLst/>
            <a:ahLst/>
            <a:cxnLst/>
            <a:rect l="l" t="t" r="r" b="b"/>
            <a:pathLst>
              <a:path w="1254759" h="299085">
                <a:moveTo>
                  <a:pt x="1138635" y="37385"/>
                </a:moveTo>
                <a:lnTo>
                  <a:pt x="0" y="261160"/>
                </a:lnTo>
                <a:lnTo>
                  <a:pt x="7346" y="298545"/>
                </a:lnTo>
                <a:lnTo>
                  <a:pt x="1145982" y="74770"/>
                </a:lnTo>
                <a:lnTo>
                  <a:pt x="1138635" y="37385"/>
                </a:lnTo>
                <a:close/>
              </a:path>
              <a:path w="1254759" h="299085">
                <a:moveTo>
                  <a:pt x="1253292" y="33712"/>
                </a:moveTo>
                <a:lnTo>
                  <a:pt x="1157328" y="33712"/>
                </a:lnTo>
                <a:lnTo>
                  <a:pt x="1164675" y="71097"/>
                </a:lnTo>
                <a:lnTo>
                  <a:pt x="1145982" y="74770"/>
                </a:lnTo>
                <a:lnTo>
                  <a:pt x="1153330" y="112154"/>
                </a:lnTo>
                <a:lnTo>
                  <a:pt x="1254464" y="34036"/>
                </a:lnTo>
                <a:lnTo>
                  <a:pt x="1253292" y="33712"/>
                </a:lnTo>
                <a:close/>
              </a:path>
              <a:path w="1254759" h="299085">
                <a:moveTo>
                  <a:pt x="1157328" y="33712"/>
                </a:moveTo>
                <a:lnTo>
                  <a:pt x="1138635" y="37385"/>
                </a:lnTo>
                <a:lnTo>
                  <a:pt x="1145982" y="74770"/>
                </a:lnTo>
                <a:lnTo>
                  <a:pt x="1164675" y="71097"/>
                </a:lnTo>
                <a:lnTo>
                  <a:pt x="1157328" y="33712"/>
                </a:lnTo>
                <a:close/>
              </a:path>
              <a:path w="1254759" h="299085">
                <a:moveTo>
                  <a:pt x="1131288" y="0"/>
                </a:moveTo>
                <a:lnTo>
                  <a:pt x="1138635" y="37385"/>
                </a:lnTo>
                <a:lnTo>
                  <a:pt x="1157328" y="33712"/>
                </a:lnTo>
                <a:lnTo>
                  <a:pt x="1253292" y="33712"/>
                </a:lnTo>
                <a:lnTo>
                  <a:pt x="1131288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370620" y="3699149"/>
            <a:ext cx="1233170" cy="549910"/>
          </a:xfrm>
          <a:custGeom>
            <a:avLst/>
            <a:gdLst/>
            <a:ahLst/>
            <a:cxnLst/>
            <a:rect l="l" t="t" r="r" b="b"/>
            <a:pathLst>
              <a:path w="1233170" h="549910">
                <a:moveTo>
                  <a:pt x="1120053" y="514676"/>
                </a:moveTo>
                <a:lnTo>
                  <a:pt x="1105054" y="549700"/>
                </a:lnTo>
                <a:lnTo>
                  <a:pt x="1232623" y="542160"/>
                </a:lnTo>
                <a:lnTo>
                  <a:pt x="1215704" y="522175"/>
                </a:lnTo>
                <a:lnTo>
                  <a:pt x="1137564" y="522175"/>
                </a:lnTo>
                <a:lnTo>
                  <a:pt x="1120053" y="514676"/>
                </a:lnTo>
                <a:close/>
              </a:path>
              <a:path w="1233170" h="549910">
                <a:moveTo>
                  <a:pt x="1135052" y="479652"/>
                </a:moveTo>
                <a:lnTo>
                  <a:pt x="1120053" y="514676"/>
                </a:lnTo>
                <a:lnTo>
                  <a:pt x="1137564" y="522175"/>
                </a:lnTo>
                <a:lnTo>
                  <a:pt x="1152563" y="487151"/>
                </a:lnTo>
                <a:lnTo>
                  <a:pt x="1135052" y="479652"/>
                </a:lnTo>
                <a:close/>
              </a:path>
              <a:path w="1233170" h="549910">
                <a:moveTo>
                  <a:pt x="1150051" y="444629"/>
                </a:moveTo>
                <a:lnTo>
                  <a:pt x="1135052" y="479652"/>
                </a:lnTo>
                <a:lnTo>
                  <a:pt x="1152563" y="487151"/>
                </a:lnTo>
                <a:lnTo>
                  <a:pt x="1137564" y="522175"/>
                </a:lnTo>
                <a:lnTo>
                  <a:pt x="1215704" y="522175"/>
                </a:lnTo>
                <a:lnTo>
                  <a:pt x="1150051" y="444629"/>
                </a:lnTo>
                <a:close/>
              </a:path>
              <a:path w="1233170" h="549910">
                <a:moveTo>
                  <a:pt x="14998" y="0"/>
                </a:moveTo>
                <a:lnTo>
                  <a:pt x="0" y="35022"/>
                </a:lnTo>
                <a:lnTo>
                  <a:pt x="1120053" y="514676"/>
                </a:lnTo>
                <a:lnTo>
                  <a:pt x="1135052" y="479652"/>
                </a:lnTo>
                <a:lnTo>
                  <a:pt x="14998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101166" y="267410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69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101165" y="267410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69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5909738" y="2170683"/>
            <a:ext cx="67945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16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Lung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216533" y="2429764"/>
            <a:ext cx="89344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Pa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10">
                <a:latin typeface="Arial"/>
                <a:cs typeface="Arial"/>
              </a:rPr>
              <a:t>li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x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l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117263" y="2782516"/>
            <a:ext cx="984250" cy="682625"/>
          </a:xfrm>
          <a:custGeom>
            <a:avLst/>
            <a:gdLst/>
            <a:ahLst/>
            <a:cxnLst/>
            <a:rect l="l" t="t" r="r" b="b"/>
            <a:pathLst>
              <a:path w="984250" h="682625">
                <a:moveTo>
                  <a:pt x="878836" y="48871"/>
                </a:moveTo>
                <a:lnTo>
                  <a:pt x="0" y="650794"/>
                </a:lnTo>
                <a:lnTo>
                  <a:pt x="21529" y="682228"/>
                </a:lnTo>
                <a:lnTo>
                  <a:pt x="900366" y="80305"/>
                </a:lnTo>
                <a:lnTo>
                  <a:pt x="878836" y="48871"/>
                </a:lnTo>
                <a:close/>
              </a:path>
              <a:path w="984250" h="682625">
                <a:moveTo>
                  <a:pt x="962756" y="38106"/>
                </a:moveTo>
                <a:lnTo>
                  <a:pt x="894553" y="38106"/>
                </a:lnTo>
                <a:lnTo>
                  <a:pt x="916082" y="69541"/>
                </a:lnTo>
                <a:lnTo>
                  <a:pt x="900366" y="80305"/>
                </a:lnTo>
                <a:lnTo>
                  <a:pt x="921895" y="111739"/>
                </a:lnTo>
                <a:lnTo>
                  <a:pt x="962756" y="38106"/>
                </a:lnTo>
                <a:close/>
              </a:path>
              <a:path w="984250" h="682625">
                <a:moveTo>
                  <a:pt x="894553" y="38106"/>
                </a:moveTo>
                <a:lnTo>
                  <a:pt x="878836" y="48871"/>
                </a:lnTo>
                <a:lnTo>
                  <a:pt x="900366" y="80305"/>
                </a:lnTo>
                <a:lnTo>
                  <a:pt x="916082" y="69541"/>
                </a:lnTo>
                <a:lnTo>
                  <a:pt x="894553" y="38106"/>
                </a:lnTo>
                <a:close/>
              </a:path>
              <a:path w="984250" h="682625">
                <a:moveTo>
                  <a:pt x="983903" y="0"/>
                </a:moveTo>
                <a:lnTo>
                  <a:pt x="857307" y="17437"/>
                </a:lnTo>
                <a:lnTo>
                  <a:pt x="878836" y="48871"/>
                </a:lnTo>
                <a:lnTo>
                  <a:pt x="894553" y="38106"/>
                </a:lnTo>
                <a:lnTo>
                  <a:pt x="962756" y="38106"/>
                </a:lnTo>
                <a:lnTo>
                  <a:pt x="98390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323356" y="2756961"/>
            <a:ext cx="1271270" cy="114300"/>
          </a:xfrm>
          <a:custGeom>
            <a:avLst/>
            <a:gdLst/>
            <a:ahLst/>
            <a:cxnLst/>
            <a:rect l="l" t="t" r="r" b="b"/>
            <a:pathLst>
              <a:path w="1271270" h="114300">
                <a:moveTo>
                  <a:pt x="1158350" y="0"/>
                </a:moveTo>
                <a:lnTo>
                  <a:pt x="1157310" y="38086"/>
                </a:lnTo>
                <a:lnTo>
                  <a:pt x="1176351" y="38606"/>
                </a:lnTo>
                <a:lnTo>
                  <a:pt x="1175311" y="76691"/>
                </a:lnTo>
                <a:lnTo>
                  <a:pt x="1156256" y="76691"/>
                </a:lnTo>
                <a:lnTo>
                  <a:pt x="1155230" y="114258"/>
                </a:lnTo>
                <a:lnTo>
                  <a:pt x="1235788" y="76691"/>
                </a:lnTo>
                <a:lnTo>
                  <a:pt x="1175311" y="76691"/>
                </a:lnTo>
                <a:lnTo>
                  <a:pt x="1156270" y="76171"/>
                </a:lnTo>
                <a:lnTo>
                  <a:pt x="1236902" y="76171"/>
                </a:lnTo>
                <a:lnTo>
                  <a:pt x="1271047" y="60248"/>
                </a:lnTo>
                <a:lnTo>
                  <a:pt x="1158350" y="0"/>
                </a:lnTo>
                <a:close/>
              </a:path>
              <a:path w="1271270" h="114300">
                <a:moveTo>
                  <a:pt x="1157310" y="38086"/>
                </a:moveTo>
                <a:lnTo>
                  <a:pt x="1156270" y="76171"/>
                </a:lnTo>
                <a:lnTo>
                  <a:pt x="1175311" y="76691"/>
                </a:lnTo>
                <a:lnTo>
                  <a:pt x="1176351" y="38606"/>
                </a:lnTo>
                <a:lnTo>
                  <a:pt x="1157310" y="38086"/>
                </a:lnTo>
                <a:close/>
              </a:path>
              <a:path w="1271270" h="114300">
                <a:moveTo>
                  <a:pt x="1040" y="6512"/>
                </a:moveTo>
                <a:lnTo>
                  <a:pt x="0" y="44598"/>
                </a:lnTo>
                <a:lnTo>
                  <a:pt x="1156270" y="76171"/>
                </a:lnTo>
                <a:lnTo>
                  <a:pt x="1157310" y="38086"/>
                </a:lnTo>
                <a:lnTo>
                  <a:pt x="1040" y="6512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577101" y="275707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69">
                <a:moveTo>
                  <a:pt x="111356" y="0"/>
                </a:moveTo>
                <a:lnTo>
                  <a:pt x="68011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1" y="208296"/>
                </a:lnTo>
                <a:lnTo>
                  <a:pt x="111356" y="216815"/>
                </a:lnTo>
                <a:lnTo>
                  <a:pt x="154700" y="208296"/>
                </a:lnTo>
                <a:lnTo>
                  <a:pt x="190095" y="185063"/>
                </a:lnTo>
                <a:lnTo>
                  <a:pt x="213960" y="150604"/>
                </a:lnTo>
                <a:lnTo>
                  <a:pt x="222711" y="108407"/>
                </a:lnTo>
                <a:lnTo>
                  <a:pt x="213960" y="66210"/>
                </a:lnTo>
                <a:lnTo>
                  <a:pt x="190095" y="31751"/>
                </a:lnTo>
                <a:lnTo>
                  <a:pt x="154700" y="8519"/>
                </a:lnTo>
                <a:lnTo>
                  <a:pt x="11135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577102" y="275707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69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585938" y="414047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6" y="0"/>
                </a:moveTo>
                <a:lnTo>
                  <a:pt x="68011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1" y="208296"/>
                </a:lnTo>
                <a:lnTo>
                  <a:pt x="111356" y="216815"/>
                </a:lnTo>
                <a:lnTo>
                  <a:pt x="154700" y="208296"/>
                </a:lnTo>
                <a:lnTo>
                  <a:pt x="190095" y="185063"/>
                </a:lnTo>
                <a:lnTo>
                  <a:pt x="213960" y="150605"/>
                </a:lnTo>
                <a:lnTo>
                  <a:pt x="222711" y="108408"/>
                </a:lnTo>
                <a:lnTo>
                  <a:pt x="213960" y="66210"/>
                </a:lnTo>
                <a:lnTo>
                  <a:pt x="190095" y="31751"/>
                </a:lnTo>
                <a:lnTo>
                  <a:pt x="154700" y="8519"/>
                </a:lnTo>
                <a:lnTo>
                  <a:pt x="11135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585939" y="414047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155410" y="461815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155410" y="461815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913969" y="332695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913968" y="332695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64" name="object 6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64</a:t>
            </a:fld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927" y="356615"/>
            <a:ext cx="7592568" cy="509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3746" y="1351788"/>
            <a:ext cx="84816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 i="0">
                <a:latin typeface="Calibri"/>
                <a:cs typeface="Calibri"/>
              </a:rPr>
              <a:t>How </a:t>
            </a:r>
            <a:r>
              <a:rPr dirty="0" sz="3200" spc="-15" b="1" i="0">
                <a:latin typeface="Calibri"/>
                <a:cs typeface="Calibri"/>
              </a:rPr>
              <a:t>to </a:t>
            </a:r>
            <a:r>
              <a:rPr dirty="0" sz="3200" spc="-20" b="1" i="0">
                <a:latin typeface="Calibri"/>
                <a:cs typeface="Calibri"/>
              </a:rPr>
              <a:t>instantiate </a:t>
            </a:r>
            <a:r>
              <a:rPr dirty="0" sz="3200" b="1" i="0">
                <a:latin typeface="Calibri"/>
                <a:cs typeface="Calibri"/>
              </a:rPr>
              <a:t>a </a:t>
            </a:r>
            <a:r>
              <a:rPr dirty="0" sz="3200" spc="-5" b="1" i="0">
                <a:latin typeface="Calibri"/>
                <a:cs typeface="Calibri"/>
              </a:rPr>
              <a:t>query </a:t>
            </a:r>
            <a:r>
              <a:rPr dirty="0" sz="3200" spc="-15" b="1" i="0">
                <a:latin typeface="Calibri"/>
                <a:cs typeface="Calibri"/>
              </a:rPr>
              <a:t>template </a:t>
            </a:r>
            <a:r>
              <a:rPr dirty="0" sz="3200" spc="-10" b="1" i="0">
                <a:latin typeface="Calibri"/>
                <a:cs typeface="Calibri"/>
              </a:rPr>
              <a:t>given </a:t>
            </a:r>
            <a:r>
              <a:rPr dirty="0" sz="3200" b="1" i="0">
                <a:latin typeface="Calibri"/>
                <a:cs typeface="Calibri"/>
              </a:rPr>
              <a:t>a</a:t>
            </a:r>
            <a:r>
              <a:rPr dirty="0" sz="3200" spc="25" b="1" i="0">
                <a:latin typeface="Calibri"/>
                <a:cs typeface="Calibri"/>
              </a:rPr>
              <a:t> </a:t>
            </a:r>
            <a:r>
              <a:rPr dirty="0" sz="3200" spc="-45" b="1" i="0">
                <a:latin typeface="Calibri"/>
                <a:cs typeface="Calibri"/>
              </a:rPr>
              <a:t>KG?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2654" y="2014220"/>
            <a:ext cx="3155315" cy="50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120"/>
              </a:lnSpc>
              <a:spcBef>
                <a:spcPts val="100"/>
              </a:spcBef>
            </a:pPr>
            <a:r>
              <a:rPr dirty="0" sz="1800" b="1">
                <a:solidFill>
                  <a:srgbClr val="7030A0"/>
                </a:solidFill>
                <a:latin typeface="Arial"/>
                <a:cs typeface="Arial"/>
              </a:rPr>
              <a:t>Query</a:t>
            </a:r>
            <a:r>
              <a:rPr dirty="0" sz="1800" spc="-100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7030A0"/>
                </a:solidFill>
                <a:latin typeface="Arial"/>
                <a:cs typeface="Arial"/>
              </a:rPr>
              <a:t>Template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639"/>
              </a:lnSpc>
            </a:pPr>
            <a:r>
              <a:rPr dirty="0" sz="1400" spc="-5" b="1">
                <a:latin typeface="Corbel"/>
                <a:cs typeface="Corbel"/>
              </a:rPr>
              <a:t>((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Anchor1</a:t>
            </a:r>
            <a:r>
              <a:rPr dirty="0" sz="1400" spc="-5" b="1">
                <a:latin typeface="Corbel"/>
                <a:cs typeface="Corbel"/>
              </a:rPr>
              <a:t>,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C00000"/>
                </a:solidFill>
                <a:latin typeface="Corbel"/>
                <a:cs typeface="Corbel"/>
              </a:rPr>
              <a:t>Rel1, </a:t>
            </a:r>
            <a:r>
              <a:rPr dirty="0" sz="1400" spc="-10" b="1">
                <a:solidFill>
                  <a:srgbClr val="479249"/>
                </a:solidFill>
                <a:latin typeface="Corbel"/>
                <a:cs typeface="Corbel"/>
              </a:rPr>
              <a:t>Rel2</a:t>
            </a:r>
            <a:r>
              <a:rPr dirty="0" sz="1400" spc="-10" b="1">
                <a:latin typeface="Corbel"/>
                <a:cs typeface="Corbel"/>
              </a:rPr>
              <a:t>)), </a:t>
            </a:r>
            <a:r>
              <a:rPr dirty="0" sz="1400" spc="-5" b="1">
                <a:latin typeface="Corbel"/>
                <a:cs typeface="Corbel"/>
              </a:rPr>
              <a:t>(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Anchor2</a:t>
            </a:r>
            <a:r>
              <a:rPr dirty="0" sz="1400" spc="-5" b="1">
                <a:latin typeface="Corbel"/>
                <a:cs typeface="Corbel"/>
              </a:rPr>
              <a:t>,</a:t>
            </a:r>
            <a:r>
              <a:rPr dirty="0" sz="1400" spc="-5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B48200"/>
                </a:solidFill>
                <a:latin typeface="Corbel"/>
                <a:cs typeface="Corbel"/>
              </a:rPr>
              <a:t>Rel3</a:t>
            </a:r>
            <a:r>
              <a:rPr dirty="0" sz="1400" spc="-10" b="1">
                <a:latin typeface="Corbel"/>
                <a:cs typeface="Corbel"/>
              </a:rPr>
              <a:t>))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08738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08738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47822" y="315490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47822" y="315490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08767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08767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07469" y="2671572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C0000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0489" y="253618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0489" y="253618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7482" y="2537708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5" h="161925">
                <a:moveTo>
                  <a:pt x="783077" y="107949"/>
                </a:moveTo>
                <a:lnTo>
                  <a:pt x="782995" y="161925"/>
                </a:lnTo>
                <a:lnTo>
                  <a:pt x="891273" y="107990"/>
                </a:lnTo>
                <a:lnTo>
                  <a:pt x="810064" y="107990"/>
                </a:lnTo>
                <a:lnTo>
                  <a:pt x="783077" y="107949"/>
                </a:lnTo>
                <a:close/>
              </a:path>
              <a:path w="945515" h="161925">
                <a:moveTo>
                  <a:pt x="783158" y="53974"/>
                </a:moveTo>
                <a:lnTo>
                  <a:pt x="783077" y="107949"/>
                </a:lnTo>
                <a:lnTo>
                  <a:pt x="810064" y="107990"/>
                </a:lnTo>
                <a:lnTo>
                  <a:pt x="810146" y="54015"/>
                </a:lnTo>
                <a:lnTo>
                  <a:pt x="783158" y="53974"/>
                </a:lnTo>
                <a:close/>
              </a:path>
              <a:path w="945515" h="161925">
                <a:moveTo>
                  <a:pt x="783240" y="0"/>
                </a:moveTo>
                <a:lnTo>
                  <a:pt x="783158" y="53974"/>
                </a:lnTo>
                <a:lnTo>
                  <a:pt x="810146" y="54015"/>
                </a:lnTo>
                <a:lnTo>
                  <a:pt x="810064" y="107990"/>
                </a:lnTo>
                <a:lnTo>
                  <a:pt x="891273" y="107990"/>
                </a:lnTo>
                <a:lnTo>
                  <a:pt x="945042" y="81207"/>
                </a:lnTo>
                <a:lnTo>
                  <a:pt x="783240" y="0"/>
                </a:lnTo>
                <a:close/>
              </a:path>
              <a:path w="945515" h="161925">
                <a:moveTo>
                  <a:pt x="81" y="52793"/>
                </a:moveTo>
                <a:lnTo>
                  <a:pt x="0" y="106768"/>
                </a:lnTo>
                <a:lnTo>
                  <a:pt x="783077" y="107949"/>
                </a:lnTo>
                <a:lnTo>
                  <a:pt x="783158" y="53974"/>
                </a:lnTo>
                <a:lnTo>
                  <a:pt x="81" y="5279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534685" y="2670470"/>
            <a:ext cx="638175" cy="508634"/>
          </a:xfrm>
          <a:custGeom>
            <a:avLst/>
            <a:gdLst/>
            <a:ahLst/>
            <a:cxnLst/>
            <a:rect l="l" t="t" r="r" b="b"/>
            <a:pathLst>
              <a:path w="638175" h="508635">
                <a:moveTo>
                  <a:pt x="33309" y="0"/>
                </a:moveTo>
                <a:lnTo>
                  <a:pt x="0" y="42470"/>
                </a:lnTo>
                <a:lnTo>
                  <a:pt x="42470" y="75780"/>
                </a:lnTo>
                <a:lnTo>
                  <a:pt x="75780" y="33309"/>
                </a:lnTo>
                <a:lnTo>
                  <a:pt x="33309" y="0"/>
                </a:lnTo>
                <a:close/>
              </a:path>
              <a:path w="638175" h="508635">
                <a:moveTo>
                  <a:pt x="118250" y="66620"/>
                </a:moveTo>
                <a:lnTo>
                  <a:pt x="84940" y="109090"/>
                </a:lnTo>
                <a:lnTo>
                  <a:pt x="127410" y="142401"/>
                </a:lnTo>
                <a:lnTo>
                  <a:pt x="160721" y="99931"/>
                </a:lnTo>
                <a:lnTo>
                  <a:pt x="118250" y="66620"/>
                </a:lnTo>
                <a:close/>
              </a:path>
              <a:path w="638175" h="508635">
                <a:moveTo>
                  <a:pt x="203191" y="133240"/>
                </a:moveTo>
                <a:lnTo>
                  <a:pt x="169881" y="175710"/>
                </a:lnTo>
                <a:lnTo>
                  <a:pt x="212351" y="209021"/>
                </a:lnTo>
                <a:lnTo>
                  <a:pt x="245661" y="166551"/>
                </a:lnTo>
                <a:lnTo>
                  <a:pt x="203191" y="133240"/>
                </a:lnTo>
                <a:close/>
              </a:path>
              <a:path w="638175" h="508635">
                <a:moveTo>
                  <a:pt x="288132" y="199861"/>
                </a:moveTo>
                <a:lnTo>
                  <a:pt x="254821" y="242331"/>
                </a:lnTo>
                <a:lnTo>
                  <a:pt x="297291" y="275642"/>
                </a:lnTo>
                <a:lnTo>
                  <a:pt x="330602" y="233172"/>
                </a:lnTo>
                <a:lnTo>
                  <a:pt x="288132" y="199861"/>
                </a:lnTo>
                <a:close/>
              </a:path>
              <a:path w="638175" h="508635">
                <a:moveTo>
                  <a:pt x="373072" y="266481"/>
                </a:moveTo>
                <a:lnTo>
                  <a:pt x="339761" y="308952"/>
                </a:lnTo>
                <a:lnTo>
                  <a:pt x="382233" y="342262"/>
                </a:lnTo>
                <a:lnTo>
                  <a:pt x="415542" y="299792"/>
                </a:lnTo>
                <a:lnTo>
                  <a:pt x="373072" y="266481"/>
                </a:lnTo>
                <a:close/>
              </a:path>
              <a:path w="638175" h="508635">
                <a:moveTo>
                  <a:pt x="560153" y="344617"/>
                </a:moveTo>
                <a:lnTo>
                  <a:pt x="460222" y="472027"/>
                </a:lnTo>
                <a:lnTo>
                  <a:pt x="637598" y="508252"/>
                </a:lnTo>
                <a:lnTo>
                  <a:pt x="608236" y="446213"/>
                </a:lnTo>
                <a:lnTo>
                  <a:pt x="514767" y="446213"/>
                </a:lnTo>
                <a:lnTo>
                  <a:pt x="509643" y="442193"/>
                </a:lnTo>
                <a:lnTo>
                  <a:pt x="542954" y="399723"/>
                </a:lnTo>
                <a:lnTo>
                  <a:pt x="586234" y="399723"/>
                </a:lnTo>
                <a:lnTo>
                  <a:pt x="560153" y="344617"/>
                </a:lnTo>
                <a:close/>
              </a:path>
              <a:path w="638175" h="508635">
                <a:moveTo>
                  <a:pt x="542954" y="399723"/>
                </a:moveTo>
                <a:lnTo>
                  <a:pt x="509643" y="442193"/>
                </a:lnTo>
                <a:lnTo>
                  <a:pt x="514767" y="446213"/>
                </a:lnTo>
                <a:lnTo>
                  <a:pt x="548078" y="403741"/>
                </a:lnTo>
                <a:lnTo>
                  <a:pt x="542954" y="399723"/>
                </a:lnTo>
                <a:close/>
              </a:path>
              <a:path w="638175" h="508635">
                <a:moveTo>
                  <a:pt x="586234" y="399723"/>
                </a:moveTo>
                <a:lnTo>
                  <a:pt x="542954" y="399723"/>
                </a:lnTo>
                <a:lnTo>
                  <a:pt x="548078" y="403741"/>
                </a:lnTo>
                <a:lnTo>
                  <a:pt x="514767" y="446213"/>
                </a:lnTo>
                <a:lnTo>
                  <a:pt x="608236" y="446213"/>
                </a:lnTo>
                <a:lnTo>
                  <a:pt x="586234" y="399723"/>
                </a:lnTo>
                <a:close/>
              </a:path>
              <a:path w="638175" h="508635">
                <a:moveTo>
                  <a:pt x="458012" y="333101"/>
                </a:moveTo>
                <a:lnTo>
                  <a:pt x="424703" y="375573"/>
                </a:lnTo>
                <a:lnTo>
                  <a:pt x="467173" y="408882"/>
                </a:lnTo>
                <a:lnTo>
                  <a:pt x="500484" y="366412"/>
                </a:lnTo>
                <a:lnTo>
                  <a:pt x="458012" y="3331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75770" y="3616538"/>
            <a:ext cx="955675" cy="161925"/>
          </a:xfrm>
          <a:custGeom>
            <a:avLst/>
            <a:gdLst/>
            <a:ahLst/>
            <a:cxnLst/>
            <a:rect l="l" t="t" r="r" b="b"/>
            <a:pathLst>
              <a:path w="955675" h="161925">
                <a:moveTo>
                  <a:pt x="793352" y="107949"/>
                </a:moveTo>
                <a:lnTo>
                  <a:pt x="793352" y="161925"/>
                </a:lnTo>
                <a:lnTo>
                  <a:pt x="901302" y="107950"/>
                </a:lnTo>
                <a:lnTo>
                  <a:pt x="793352" y="107949"/>
                </a:lnTo>
                <a:close/>
              </a:path>
              <a:path w="955675" h="161925">
                <a:moveTo>
                  <a:pt x="793352" y="53974"/>
                </a:moveTo>
                <a:lnTo>
                  <a:pt x="793352" y="107949"/>
                </a:lnTo>
                <a:lnTo>
                  <a:pt x="820339" y="107950"/>
                </a:lnTo>
                <a:lnTo>
                  <a:pt x="820339" y="53975"/>
                </a:lnTo>
                <a:lnTo>
                  <a:pt x="793352" y="53974"/>
                </a:lnTo>
                <a:close/>
              </a:path>
              <a:path w="955675" h="161925">
                <a:moveTo>
                  <a:pt x="793352" y="0"/>
                </a:moveTo>
                <a:lnTo>
                  <a:pt x="793352" y="53974"/>
                </a:lnTo>
                <a:lnTo>
                  <a:pt x="820339" y="53975"/>
                </a:lnTo>
                <a:lnTo>
                  <a:pt x="820339" y="107950"/>
                </a:lnTo>
                <a:lnTo>
                  <a:pt x="901305" y="107948"/>
                </a:lnTo>
                <a:lnTo>
                  <a:pt x="955277" y="80962"/>
                </a:lnTo>
                <a:lnTo>
                  <a:pt x="793352" y="0"/>
                </a:lnTo>
                <a:close/>
              </a:path>
              <a:path w="955675" h="161925">
                <a:moveTo>
                  <a:pt x="0" y="53973"/>
                </a:moveTo>
                <a:lnTo>
                  <a:pt x="0" y="107948"/>
                </a:lnTo>
                <a:lnTo>
                  <a:pt x="793352" y="107949"/>
                </a:lnTo>
                <a:lnTo>
                  <a:pt x="793352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31047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431047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60106" y="3293708"/>
            <a:ext cx="612775" cy="370205"/>
          </a:xfrm>
          <a:custGeom>
            <a:avLst/>
            <a:gdLst/>
            <a:ahLst/>
            <a:cxnLst/>
            <a:rect l="l" t="t" r="r" b="b"/>
            <a:pathLst>
              <a:path w="612775" h="370204">
                <a:moveTo>
                  <a:pt x="46722" y="295913"/>
                </a:moveTo>
                <a:lnTo>
                  <a:pt x="0" y="322939"/>
                </a:lnTo>
                <a:lnTo>
                  <a:pt x="27026" y="369661"/>
                </a:lnTo>
                <a:lnTo>
                  <a:pt x="73747" y="342634"/>
                </a:lnTo>
                <a:lnTo>
                  <a:pt x="46722" y="295913"/>
                </a:lnTo>
                <a:close/>
              </a:path>
              <a:path w="612775" h="370204">
                <a:moveTo>
                  <a:pt x="140163" y="241861"/>
                </a:moveTo>
                <a:lnTo>
                  <a:pt x="93442" y="268886"/>
                </a:lnTo>
                <a:lnTo>
                  <a:pt x="120469" y="315608"/>
                </a:lnTo>
                <a:lnTo>
                  <a:pt x="167190" y="288582"/>
                </a:lnTo>
                <a:lnTo>
                  <a:pt x="140163" y="241861"/>
                </a:lnTo>
                <a:close/>
              </a:path>
              <a:path w="612775" h="370204">
                <a:moveTo>
                  <a:pt x="233606" y="187808"/>
                </a:moveTo>
                <a:lnTo>
                  <a:pt x="186885" y="214834"/>
                </a:lnTo>
                <a:lnTo>
                  <a:pt x="213911" y="261556"/>
                </a:lnTo>
                <a:lnTo>
                  <a:pt x="260633" y="234529"/>
                </a:lnTo>
                <a:lnTo>
                  <a:pt x="233606" y="187808"/>
                </a:lnTo>
                <a:close/>
              </a:path>
              <a:path w="612775" h="370204">
                <a:moveTo>
                  <a:pt x="327049" y="133756"/>
                </a:moveTo>
                <a:lnTo>
                  <a:pt x="280328" y="160781"/>
                </a:lnTo>
                <a:lnTo>
                  <a:pt x="307353" y="207504"/>
                </a:lnTo>
                <a:lnTo>
                  <a:pt x="354075" y="180477"/>
                </a:lnTo>
                <a:lnTo>
                  <a:pt x="327049" y="133756"/>
                </a:lnTo>
                <a:close/>
              </a:path>
              <a:path w="612775" h="370204">
                <a:moveTo>
                  <a:pt x="420491" y="79703"/>
                </a:moveTo>
                <a:lnTo>
                  <a:pt x="373771" y="106729"/>
                </a:lnTo>
                <a:lnTo>
                  <a:pt x="400796" y="153451"/>
                </a:lnTo>
                <a:lnTo>
                  <a:pt x="447518" y="126424"/>
                </a:lnTo>
                <a:lnTo>
                  <a:pt x="420491" y="79703"/>
                </a:lnTo>
                <a:close/>
              </a:path>
              <a:path w="612775" h="370204">
                <a:moveTo>
                  <a:pt x="612176" y="0"/>
                </a:moveTo>
                <a:lnTo>
                  <a:pt x="431473" y="10996"/>
                </a:lnTo>
                <a:lnTo>
                  <a:pt x="512552" y="151160"/>
                </a:lnTo>
                <a:lnTo>
                  <a:pt x="546666" y="99399"/>
                </a:lnTo>
                <a:lnTo>
                  <a:pt x="494239" y="99399"/>
                </a:lnTo>
                <a:lnTo>
                  <a:pt x="467213" y="52677"/>
                </a:lnTo>
                <a:lnTo>
                  <a:pt x="481860" y="44204"/>
                </a:lnTo>
                <a:lnTo>
                  <a:pt x="583043" y="44204"/>
                </a:lnTo>
                <a:lnTo>
                  <a:pt x="612176" y="0"/>
                </a:lnTo>
                <a:close/>
              </a:path>
              <a:path w="612775" h="370204">
                <a:moveTo>
                  <a:pt x="481860" y="44204"/>
                </a:moveTo>
                <a:lnTo>
                  <a:pt x="467213" y="52677"/>
                </a:lnTo>
                <a:lnTo>
                  <a:pt x="494239" y="99399"/>
                </a:lnTo>
                <a:lnTo>
                  <a:pt x="508887" y="90925"/>
                </a:lnTo>
                <a:lnTo>
                  <a:pt x="481860" y="44204"/>
                </a:lnTo>
                <a:close/>
              </a:path>
              <a:path w="612775" h="370204">
                <a:moveTo>
                  <a:pt x="583043" y="44204"/>
                </a:moveTo>
                <a:lnTo>
                  <a:pt x="481860" y="44204"/>
                </a:lnTo>
                <a:lnTo>
                  <a:pt x="508887" y="90925"/>
                </a:lnTo>
                <a:lnTo>
                  <a:pt x="494239" y="99399"/>
                </a:lnTo>
                <a:lnTo>
                  <a:pt x="546666" y="99399"/>
                </a:lnTo>
                <a:lnTo>
                  <a:pt x="583043" y="44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567361" y="3436620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4148" y="2702051"/>
            <a:ext cx="22586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55725" algn="l"/>
              </a:tabLst>
            </a:pPr>
            <a:r>
              <a:rPr dirty="0" sz="1400" spc="-25">
                <a:solidFill>
                  <a:srgbClr val="548235"/>
                </a:solidFill>
                <a:latin typeface="Arial"/>
                <a:cs typeface="Arial"/>
              </a:rPr>
              <a:t>Projection	</a:t>
            </a:r>
            <a:r>
              <a:rPr dirty="0" baseline="3968" sz="2100" spc="-37">
                <a:latin typeface="Arial"/>
                <a:cs typeface="Arial"/>
              </a:rPr>
              <a:t>Intersection</a:t>
            </a:r>
            <a:endParaRPr baseline="3968" sz="2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47784" y="3512820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00305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1"/>
                </a:lnTo>
                <a:lnTo>
                  <a:pt x="83516" y="162610"/>
                </a:lnTo>
                <a:lnTo>
                  <a:pt x="116024" y="156221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300305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467338" y="2553251"/>
            <a:ext cx="941705" cy="161925"/>
          </a:xfrm>
          <a:custGeom>
            <a:avLst/>
            <a:gdLst/>
            <a:ahLst/>
            <a:cxnLst/>
            <a:rect l="l" t="t" r="r" b="b"/>
            <a:pathLst>
              <a:path w="941705" h="161925">
                <a:moveTo>
                  <a:pt x="779504" y="107949"/>
                </a:moveTo>
                <a:lnTo>
                  <a:pt x="779504" y="161925"/>
                </a:lnTo>
                <a:lnTo>
                  <a:pt x="887454" y="107950"/>
                </a:lnTo>
                <a:lnTo>
                  <a:pt x="779504" y="107949"/>
                </a:lnTo>
                <a:close/>
              </a:path>
              <a:path w="941705" h="161925">
                <a:moveTo>
                  <a:pt x="779504" y="53974"/>
                </a:moveTo>
                <a:lnTo>
                  <a:pt x="779504" y="107949"/>
                </a:lnTo>
                <a:lnTo>
                  <a:pt x="806491" y="107950"/>
                </a:lnTo>
                <a:lnTo>
                  <a:pt x="806491" y="53975"/>
                </a:lnTo>
                <a:lnTo>
                  <a:pt x="779504" y="53974"/>
                </a:lnTo>
                <a:close/>
              </a:path>
              <a:path w="941705" h="161925">
                <a:moveTo>
                  <a:pt x="779504" y="0"/>
                </a:moveTo>
                <a:lnTo>
                  <a:pt x="779504" y="53974"/>
                </a:lnTo>
                <a:lnTo>
                  <a:pt x="806491" y="53975"/>
                </a:lnTo>
                <a:lnTo>
                  <a:pt x="806491" y="107950"/>
                </a:lnTo>
                <a:lnTo>
                  <a:pt x="887456" y="107948"/>
                </a:lnTo>
                <a:lnTo>
                  <a:pt x="941429" y="80962"/>
                </a:lnTo>
                <a:lnTo>
                  <a:pt x="779504" y="0"/>
                </a:lnTo>
                <a:close/>
              </a:path>
              <a:path w="941705" h="161925">
                <a:moveTo>
                  <a:pt x="0" y="53973"/>
                </a:moveTo>
                <a:lnTo>
                  <a:pt x="0" y="107948"/>
                </a:lnTo>
                <a:lnTo>
                  <a:pt x="779504" y="107949"/>
                </a:lnTo>
                <a:lnTo>
                  <a:pt x="779504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606525" y="41472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1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1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5" y="185063"/>
                </a:lnTo>
                <a:lnTo>
                  <a:pt x="213960" y="150604"/>
                </a:lnTo>
                <a:lnTo>
                  <a:pt x="222711" y="108407"/>
                </a:lnTo>
                <a:lnTo>
                  <a:pt x="213960" y="66210"/>
                </a:lnTo>
                <a:lnTo>
                  <a:pt x="190095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606526" y="41472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76200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647498" y="1889251"/>
            <a:ext cx="1981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Knowledge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344786" y="2817210"/>
            <a:ext cx="1249680" cy="1932305"/>
          </a:xfrm>
          <a:custGeom>
            <a:avLst/>
            <a:gdLst/>
            <a:ahLst/>
            <a:cxnLst/>
            <a:rect l="l" t="t" r="r" b="b"/>
            <a:pathLst>
              <a:path w="1249679" h="1932304">
                <a:moveTo>
                  <a:pt x="1171846" y="85901"/>
                </a:moveTo>
                <a:lnTo>
                  <a:pt x="0" y="1911626"/>
                </a:lnTo>
                <a:lnTo>
                  <a:pt x="32063" y="1932205"/>
                </a:lnTo>
                <a:lnTo>
                  <a:pt x="1203910" y="106481"/>
                </a:lnTo>
                <a:lnTo>
                  <a:pt x="1171846" y="85901"/>
                </a:lnTo>
                <a:close/>
              </a:path>
              <a:path w="1249679" h="1932304">
                <a:moveTo>
                  <a:pt x="1242114" y="69871"/>
                </a:moveTo>
                <a:lnTo>
                  <a:pt x="1182135" y="69871"/>
                </a:lnTo>
                <a:lnTo>
                  <a:pt x="1214198" y="90451"/>
                </a:lnTo>
                <a:lnTo>
                  <a:pt x="1203910" y="106481"/>
                </a:lnTo>
                <a:lnTo>
                  <a:pt x="1235972" y="127060"/>
                </a:lnTo>
                <a:lnTo>
                  <a:pt x="1242114" y="69871"/>
                </a:lnTo>
                <a:close/>
              </a:path>
              <a:path w="1249679" h="1932304">
                <a:moveTo>
                  <a:pt x="1182135" y="69871"/>
                </a:moveTo>
                <a:lnTo>
                  <a:pt x="1171846" y="85901"/>
                </a:lnTo>
                <a:lnTo>
                  <a:pt x="1203910" y="106481"/>
                </a:lnTo>
                <a:lnTo>
                  <a:pt x="1214198" y="90451"/>
                </a:lnTo>
                <a:lnTo>
                  <a:pt x="1182135" y="69871"/>
                </a:lnTo>
                <a:close/>
              </a:path>
              <a:path w="1249679" h="1932304">
                <a:moveTo>
                  <a:pt x="1249617" y="0"/>
                </a:moveTo>
                <a:lnTo>
                  <a:pt x="1139783" y="65321"/>
                </a:lnTo>
                <a:lnTo>
                  <a:pt x="1171846" y="85901"/>
                </a:lnTo>
                <a:lnTo>
                  <a:pt x="1182135" y="69871"/>
                </a:lnTo>
                <a:lnTo>
                  <a:pt x="1242114" y="69871"/>
                </a:lnTo>
                <a:lnTo>
                  <a:pt x="1249617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404153" y="4459732"/>
            <a:ext cx="73787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69850" marR="5080" indent="-5715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Short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  Breath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91261" y="4982971"/>
            <a:ext cx="1080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au</a:t>
            </a: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s</a:t>
            </a: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edB</a:t>
            </a: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43984" y="3109467"/>
            <a:ext cx="8153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r</a:t>
            </a:r>
            <a:r>
              <a:rPr dirty="0" sz="1600" spc="-5">
                <a:latin typeface="Arial"/>
                <a:cs typeface="Arial"/>
              </a:rPr>
              <a:t>i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ide</a:t>
            </a:r>
            <a:r>
              <a:rPr dirty="0" sz="160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02466" y="3980179"/>
            <a:ext cx="1071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32355" y="3816603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353733" y="4230772"/>
            <a:ext cx="1249680" cy="526415"/>
          </a:xfrm>
          <a:custGeom>
            <a:avLst/>
            <a:gdLst/>
            <a:ahLst/>
            <a:cxnLst/>
            <a:rect l="l" t="t" r="r" b="b"/>
            <a:pathLst>
              <a:path w="1249679" h="526414">
                <a:moveTo>
                  <a:pt x="1136325" y="35366"/>
                </a:moveTo>
                <a:lnTo>
                  <a:pt x="0" y="490670"/>
                </a:lnTo>
                <a:lnTo>
                  <a:pt x="14170" y="526037"/>
                </a:lnTo>
                <a:lnTo>
                  <a:pt x="1150496" y="70732"/>
                </a:lnTo>
                <a:lnTo>
                  <a:pt x="1136325" y="35366"/>
                </a:lnTo>
                <a:close/>
              </a:path>
              <a:path w="1249679" h="526414">
                <a:moveTo>
                  <a:pt x="1233756" y="28281"/>
                </a:moveTo>
                <a:lnTo>
                  <a:pt x="1154008" y="28281"/>
                </a:lnTo>
                <a:lnTo>
                  <a:pt x="1168179" y="63647"/>
                </a:lnTo>
                <a:lnTo>
                  <a:pt x="1150496" y="70732"/>
                </a:lnTo>
                <a:lnTo>
                  <a:pt x="1164667" y="106099"/>
                </a:lnTo>
                <a:lnTo>
                  <a:pt x="1233756" y="28281"/>
                </a:lnTo>
                <a:close/>
              </a:path>
              <a:path w="1249679" h="526414">
                <a:moveTo>
                  <a:pt x="1154008" y="28281"/>
                </a:moveTo>
                <a:lnTo>
                  <a:pt x="1136325" y="35366"/>
                </a:lnTo>
                <a:lnTo>
                  <a:pt x="1150496" y="70732"/>
                </a:lnTo>
                <a:lnTo>
                  <a:pt x="1168179" y="63647"/>
                </a:lnTo>
                <a:lnTo>
                  <a:pt x="1154008" y="28281"/>
                </a:lnTo>
                <a:close/>
              </a:path>
              <a:path w="1249679" h="526414">
                <a:moveTo>
                  <a:pt x="1122154" y="0"/>
                </a:moveTo>
                <a:lnTo>
                  <a:pt x="1136325" y="35366"/>
                </a:lnTo>
                <a:lnTo>
                  <a:pt x="1154008" y="28281"/>
                </a:lnTo>
                <a:lnTo>
                  <a:pt x="1233756" y="28281"/>
                </a:lnTo>
                <a:lnTo>
                  <a:pt x="1249511" y="10537"/>
                </a:lnTo>
                <a:lnTo>
                  <a:pt x="1122154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358375" y="4720234"/>
            <a:ext cx="1279525" cy="226060"/>
          </a:xfrm>
          <a:custGeom>
            <a:avLst/>
            <a:gdLst/>
            <a:ahLst/>
            <a:cxnLst/>
            <a:rect l="l" t="t" r="r" b="b"/>
            <a:pathLst>
              <a:path w="1279525" h="226060">
                <a:moveTo>
                  <a:pt x="1163322" y="188231"/>
                </a:moveTo>
                <a:lnTo>
                  <a:pt x="1158435" y="226016"/>
                </a:lnTo>
                <a:lnTo>
                  <a:pt x="1259946" y="190675"/>
                </a:lnTo>
                <a:lnTo>
                  <a:pt x="1182216" y="190675"/>
                </a:lnTo>
                <a:lnTo>
                  <a:pt x="1163322" y="188231"/>
                </a:lnTo>
                <a:close/>
              </a:path>
              <a:path w="1279525" h="226060">
                <a:moveTo>
                  <a:pt x="1168209" y="150445"/>
                </a:moveTo>
                <a:lnTo>
                  <a:pt x="1163322" y="188231"/>
                </a:lnTo>
                <a:lnTo>
                  <a:pt x="1182216" y="190675"/>
                </a:lnTo>
                <a:lnTo>
                  <a:pt x="1187103" y="152888"/>
                </a:lnTo>
                <a:lnTo>
                  <a:pt x="1168209" y="150445"/>
                </a:lnTo>
                <a:close/>
              </a:path>
              <a:path w="1279525" h="226060">
                <a:moveTo>
                  <a:pt x="1173096" y="112660"/>
                </a:moveTo>
                <a:lnTo>
                  <a:pt x="1168209" y="150445"/>
                </a:lnTo>
                <a:lnTo>
                  <a:pt x="1187103" y="152888"/>
                </a:lnTo>
                <a:lnTo>
                  <a:pt x="1182216" y="190675"/>
                </a:lnTo>
                <a:lnTo>
                  <a:pt x="1259946" y="190675"/>
                </a:lnTo>
                <a:lnTo>
                  <a:pt x="1279122" y="183998"/>
                </a:lnTo>
                <a:lnTo>
                  <a:pt x="1173096" y="112660"/>
                </a:lnTo>
                <a:close/>
              </a:path>
              <a:path w="1279525" h="226060">
                <a:moveTo>
                  <a:pt x="4885" y="0"/>
                </a:moveTo>
                <a:lnTo>
                  <a:pt x="0" y="37785"/>
                </a:lnTo>
                <a:lnTo>
                  <a:pt x="1163322" y="188231"/>
                </a:lnTo>
                <a:lnTo>
                  <a:pt x="1168209" y="150445"/>
                </a:lnTo>
                <a:lnTo>
                  <a:pt x="4885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628911" y="33624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628911" y="33624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7376819" y="4511547"/>
            <a:ext cx="7702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Ke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in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637498" y="479582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637498" y="479582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701952" y="3578859"/>
            <a:ext cx="5543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ESR2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028628" y="2767076"/>
            <a:ext cx="648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ss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963475" y="3118611"/>
            <a:ext cx="67945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3302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Breast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123225" y="3430593"/>
            <a:ext cx="1032510" cy="313055"/>
          </a:xfrm>
          <a:custGeom>
            <a:avLst/>
            <a:gdLst/>
            <a:ahLst/>
            <a:cxnLst/>
            <a:rect l="l" t="t" r="r" b="b"/>
            <a:pathLst>
              <a:path w="1032510" h="313054">
                <a:moveTo>
                  <a:pt x="916774" y="275689"/>
                </a:moveTo>
                <a:lnTo>
                  <a:pt x="907169" y="312558"/>
                </a:lnTo>
                <a:lnTo>
                  <a:pt x="1032184" y="286067"/>
                </a:lnTo>
                <a:lnTo>
                  <a:pt x="1025807" y="280490"/>
                </a:lnTo>
                <a:lnTo>
                  <a:pt x="935207" y="280490"/>
                </a:lnTo>
                <a:lnTo>
                  <a:pt x="916774" y="275689"/>
                </a:lnTo>
                <a:close/>
              </a:path>
              <a:path w="1032510" h="313054">
                <a:moveTo>
                  <a:pt x="926379" y="238818"/>
                </a:moveTo>
                <a:lnTo>
                  <a:pt x="916774" y="275689"/>
                </a:lnTo>
                <a:lnTo>
                  <a:pt x="935207" y="280490"/>
                </a:lnTo>
                <a:lnTo>
                  <a:pt x="944812" y="243620"/>
                </a:lnTo>
                <a:lnTo>
                  <a:pt x="926379" y="238818"/>
                </a:lnTo>
                <a:close/>
              </a:path>
              <a:path w="1032510" h="313054">
                <a:moveTo>
                  <a:pt x="935983" y="201949"/>
                </a:moveTo>
                <a:lnTo>
                  <a:pt x="926379" y="238818"/>
                </a:lnTo>
                <a:lnTo>
                  <a:pt x="944812" y="243620"/>
                </a:lnTo>
                <a:lnTo>
                  <a:pt x="935207" y="280490"/>
                </a:lnTo>
                <a:lnTo>
                  <a:pt x="1025807" y="280490"/>
                </a:lnTo>
                <a:lnTo>
                  <a:pt x="935983" y="201949"/>
                </a:lnTo>
                <a:close/>
              </a:path>
              <a:path w="1032510" h="313054">
                <a:moveTo>
                  <a:pt x="9603" y="0"/>
                </a:moveTo>
                <a:lnTo>
                  <a:pt x="0" y="36869"/>
                </a:lnTo>
                <a:lnTo>
                  <a:pt x="916774" y="275689"/>
                </a:lnTo>
                <a:lnTo>
                  <a:pt x="926379" y="238818"/>
                </a:lnTo>
                <a:lnTo>
                  <a:pt x="960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155410" y="36082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155410" y="36082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374447" y="3436808"/>
            <a:ext cx="1254760" cy="299085"/>
          </a:xfrm>
          <a:custGeom>
            <a:avLst/>
            <a:gdLst/>
            <a:ahLst/>
            <a:cxnLst/>
            <a:rect l="l" t="t" r="r" b="b"/>
            <a:pathLst>
              <a:path w="1254759" h="299085">
                <a:moveTo>
                  <a:pt x="1138635" y="37385"/>
                </a:moveTo>
                <a:lnTo>
                  <a:pt x="0" y="261160"/>
                </a:lnTo>
                <a:lnTo>
                  <a:pt x="7346" y="298545"/>
                </a:lnTo>
                <a:lnTo>
                  <a:pt x="1145982" y="74770"/>
                </a:lnTo>
                <a:lnTo>
                  <a:pt x="1138635" y="37385"/>
                </a:lnTo>
                <a:close/>
              </a:path>
              <a:path w="1254759" h="299085">
                <a:moveTo>
                  <a:pt x="1253292" y="33712"/>
                </a:moveTo>
                <a:lnTo>
                  <a:pt x="1157328" y="33712"/>
                </a:lnTo>
                <a:lnTo>
                  <a:pt x="1164675" y="71097"/>
                </a:lnTo>
                <a:lnTo>
                  <a:pt x="1145982" y="74770"/>
                </a:lnTo>
                <a:lnTo>
                  <a:pt x="1153330" y="112154"/>
                </a:lnTo>
                <a:lnTo>
                  <a:pt x="1254464" y="34036"/>
                </a:lnTo>
                <a:lnTo>
                  <a:pt x="1253292" y="33712"/>
                </a:lnTo>
                <a:close/>
              </a:path>
              <a:path w="1254759" h="299085">
                <a:moveTo>
                  <a:pt x="1157328" y="33712"/>
                </a:moveTo>
                <a:lnTo>
                  <a:pt x="1138635" y="37385"/>
                </a:lnTo>
                <a:lnTo>
                  <a:pt x="1145982" y="74770"/>
                </a:lnTo>
                <a:lnTo>
                  <a:pt x="1164675" y="71097"/>
                </a:lnTo>
                <a:lnTo>
                  <a:pt x="1157328" y="33712"/>
                </a:lnTo>
                <a:close/>
              </a:path>
              <a:path w="1254759" h="299085">
                <a:moveTo>
                  <a:pt x="1131288" y="0"/>
                </a:moveTo>
                <a:lnTo>
                  <a:pt x="1138635" y="37385"/>
                </a:lnTo>
                <a:lnTo>
                  <a:pt x="1157328" y="33712"/>
                </a:lnTo>
                <a:lnTo>
                  <a:pt x="1253292" y="33712"/>
                </a:lnTo>
                <a:lnTo>
                  <a:pt x="1131288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370620" y="3699149"/>
            <a:ext cx="1233170" cy="549910"/>
          </a:xfrm>
          <a:custGeom>
            <a:avLst/>
            <a:gdLst/>
            <a:ahLst/>
            <a:cxnLst/>
            <a:rect l="l" t="t" r="r" b="b"/>
            <a:pathLst>
              <a:path w="1233170" h="549910">
                <a:moveTo>
                  <a:pt x="1120053" y="514676"/>
                </a:moveTo>
                <a:lnTo>
                  <a:pt x="1105054" y="549700"/>
                </a:lnTo>
                <a:lnTo>
                  <a:pt x="1232623" y="542160"/>
                </a:lnTo>
                <a:lnTo>
                  <a:pt x="1215704" y="522175"/>
                </a:lnTo>
                <a:lnTo>
                  <a:pt x="1137564" y="522175"/>
                </a:lnTo>
                <a:lnTo>
                  <a:pt x="1120053" y="514676"/>
                </a:lnTo>
                <a:close/>
              </a:path>
              <a:path w="1233170" h="549910">
                <a:moveTo>
                  <a:pt x="1135052" y="479652"/>
                </a:moveTo>
                <a:lnTo>
                  <a:pt x="1120053" y="514676"/>
                </a:lnTo>
                <a:lnTo>
                  <a:pt x="1137564" y="522175"/>
                </a:lnTo>
                <a:lnTo>
                  <a:pt x="1152563" y="487151"/>
                </a:lnTo>
                <a:lnTo>
                  <a:pt x="1135052" y="479652"/>
                </a:lnTo>
                <a:close/>
              </a:path>
              <a:path w="1233170" h="549910">
                <a:moveTo>
                  <a:pt x="1150051" y="444629"/>
                </a:moveTo>
                <a:lnTo>
                  <a:pt x="1135052" y="479652"/>
                </a:lnTo>
                <a:lnTo>
                  <a:pt x="1152563" y="487151"/>
                </a:lnTo>
                <a:lnTo>
                  <a:pt x="1137564" y="522175"/>
                </a:lnTo>
                <a:lnTo>
                  <a:pt x="1215704" y="522175"/>
                </a:lnTo>
                <a:lnTo>
                  <a:pt x="1150051" y="444629"/>
                </a:lnTo>
                <a:close/>
              </a:path>
              <a:path w="1233170" h="549910">
                <a:moveTo>
                  <a:pt x="14998" y="0"/>
                </a:moveTo>
                <a:lnTo>
                  <a:pt x="0" y="35022"/>
                </a:lnTo>
                <a:lnTo>
                  <a:pt x="1120053" y="514676"/>
                </a:lnTo>
                <a:lnTo>
                  <a:pt x="1135052" y="479652"/>
                </a:lnTo>
                <a:lnTo>
                  <a:pt x="14998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101166" y="267410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69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101165" y="267410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69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5909738" y="2170683"/>
            <a:ext cx="67945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16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Lung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216533" y="2429764"/>
            <a:ext cx="89344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Pa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10">
                <a:latin typeface="Arial"/>
                <a:cs typeface="Arial"/>
              </a:rPr>
              <a:t>li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x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l</a:t>
            </a:r>
            <a:endParaRPr sz="16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117263" y="2782516"/>
            <a:ext cx="984250" cy="682625"/>
          </a:xfrm>
          <a:custGeom>
            <a:avLst/>
            <a:gdLst/>
            <a:ahLst/>
            <a:cxnLst/>
            <a:rect l="l" t="t" r="r" b="b"/>
            <a:pathLst>
              <a:path w="984250" h="682625">
                <a:moveTo>
                  <a:pt x="878836" y="48871"/>
                </a:moveTo>
                <a:lnTo>
                  <a:pt x="0" y="650794"/>
                </a:lnTo>
                <a:lnTo>
                  <a:pt x="21529" y="682228"/>
                </a:lnTo>
                <a:lnTo>
                  <a:pt x="900366" y="80305"/>
                </a:lnTo>
                <a:lnTo>
                  <a:pt x="878836" y="48871"/>
                </a:lnTo>
                <a:close/>
              </a:path>
              <a:path w="984250" h="682625">
                <a:moveTo>
                  <a:pt x="962756" y="38106"/>
                </a:moveTo>
                <a:lnTo>
                  <a:pt x="894553" y="38106"/>
                </a:lnTo>
                <a:lnTo>
                  <a:pt x="916082" y="69541"/>
                </a:lnTo>
                <a:lnTo>
                  <a:pt x="900366" y="80305"/>
                </a:lnTo>
                <a:lnTo>
                  <a:pt x="921895" y="111739"/>
                </a:lnTo>
                <a:lnTo>
                  <a:pt x="962756" y="38106"/>
                </a:lnTo>
                <a:close/>
              </a:path>
              <a:path w="984250" h="682625">
                <a:moveTo>
                  <a:pt x="894553" y="38106"/>
                </a:moveTo>
                <a:lnTo>
                  <a:pt x="878836" y="48871"/>
                </a:lnTo>
                <a:lnTo>
                  <a:pt x="900366" y="80305"/>
                </a:lnTo>
                <a:lnTo>
                  <a:pt x="916082" y="69541"/>
                </a:lnTo>
                <a:lnTo>
                  <a:pt x="894553" y="38106"/>
                </a:lnTo>
                <a:close/>
              </a:path>
              <a:path w="984250" h="682625">
                <a:moveTo>
                  <a:pt x="983903" y="0"/>
                </a:moveTo>
                <a:lnTo>
                  <a:pt x="857307" y="17437"/>
                </a:lnTo>
                <a:lnTo>
                  <a:pt x="878836" y="48871"/>
                </a:lnTo>
                <a:lnTo>
                  <a:pt x="894553" y="38106"/>
                </a:lnTo>
                <a:lnTo>
                  <a:pt x="962756" y="38106"/>
                </a:lnTo>
                <a:lnTo>
                  <a:pt x="98390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323356" y="2756961"/>
            <a:ext cx="1271270" cy="114300"/>
          </a:xfrm>
          <a:custGeom>
            <a:avLst/>
            <a:gdLst/>
            <a:ahLst/>
            <a:cxnLst/>
            <a:rect l="l" t="t" r="r" b="b"/>
            <a:pathLst>
              <a:path w="1271270" h="114300">
                <a:moveTo>
                  <a:pt x="1158350" y="0"/>
                </a:moveTo>
                <a:lnTo>
                  <a:pt x="1157310" y="38086"/>
                </a:lnTo>
                <a:lnTo>
                  <a:pt x="1176351" y="38606"/>
                </a:lnTo>
                <a:lnTo>
                  <a:pt x="1175311" y="76691"/>
                </a:lnTo>
                <a:lnTo>
                  <a:pt x="1156256" y="76691"/>
                </a:lnTo>
                <a:lnTo>
                  <a:pt x="1155230" y="114258"/>
                </a:lnTo>
                <a:lnTo>
                  <a:pt x="1235788" y="76691"/>
                </a:lnTo>
                <a:lnTo>
                  <a:pt x="1175311" y="76691"/>
                </a:lnTo>
                <a:lnTo>
                  <a:pt x="1156270" y="76171"/>
                </a:lnTo>
                <a:lnTo>
                  <a:pt x="1236902" y="76171"/>
                </a:lnTo>
                <a:lnTo>
                  <a:pt x="1271047" y="60248"/>
                </a:lnTo>
                <a:lnTo>
                  <a:pt x="1158350" y="0"/>
                </a:lnTo>
                <a:close/>
              </a:path>
              <a:path w="1271270" h="114300">
                <a:moveTo>
                  <a:pt x="1157310" y="38086"/>
                </a:moveTo>
                <a:lnTo>
                  <a:pt x="1156270" y="76171"/>
                </a:lnTo>
                <a:lnTo>
                  <a:pt x="1175311" y="76691"/>
                </a:lnTo>
                <a:lnTo>
                  <a:pt x="1176351" y="38606"/>
                </a:lnTo>
                <a:lnTo>
                  <a:pt x="1157310" y="38086"/>
                </a:lnTo>
                <a:close/>
              </a:path>
              <a:path w="1271270" h="114300">
                <a:moveTo>
                  <a:pt x="1040" y="6512"/>
                </a:moveTo>
                <a:lnTo>
                  <a:pt x="0" y="44598"/>
                </a:lnTo>
                <a:lnTo>
                  <a:pt x="1156270" y="76171"/>
                </a:lnTo>
                <a:lnTo>
                  <a:pt x="1157310" y="38086"/>
                </a:lnTo>
                <a:lnTo>
                  <a:pt x="1040" y="6512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577101" y="275707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69">
                <a:moveTo>
                  <a:pt x="111356" y="0"/>
                </a:moveTo>
                <a:lnTo>
                  <a:pt x="68011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1" y="208296"/>
                </a:lnTo>
                <a:lnTo>
                  <a:pt x="111356" y="216815"/>
                </a:lnTo>
                <a:lnTo>
                  <a:pt x="154700" y="208296"/>
                </a:lnTo>
                <a:lnTo>
                  <a:pt x="190095" y="185063"/>
                </a:lnTo>
                <a:lnTo>
                  <a:pt x="213960" y="150604"/>
                </a:lnTo>
                <a:lnTo>
                  <a:pt x="222711" y="108407"/>
                </a:lnTo>
                <a:lnTo>
                  <a:pt x="213960" y="66210"/>
                </a:lnTo>
                <a:lnTo>
                  <a:pt x="190095" y="31751"/>
                </a:lnTo>
                <a:lnTo>
                  <a:pt x="154700" y="8519"/>
                </a:lnTo>
                <a:lnTo>
                  <a:pt x="11135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577102" y="275707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69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155410" y="461815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155410" y="461815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913969" y="332695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913968" y="332695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336879" y="4747259"/>
            <a:ext cx="354901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Arial"/>
                <a:cs typeface="Arial"/>
              </a:rPr>
              <a:t>Start from instantiating the </a:t>
            </a:r>
            <a:r>
              <a:rPr dirty="0" sz="2000" spc="-5" b="1">
                <a:solidFill>
                  <a:srgbClr val="479249"/>
                </a:solidFill>
                <a:latin typeface="Arial"/>
                <a:cs typeface="Arial"/>
              </a:rPr>
              <a:t>root  </a:t>
            </a:r>
            <a:r>
              <a:rPr dirty="0" sz="2000" b="1">
                <a:solidFill>
                  <a:srgbClr val="479249"/>
                </a:solidFill>
                <a:latin typeface="Arial"/>
                <a:cs typeface="Arial"/>
              </a:rPr>
              <a:t>node </a:t>
            </a:r>
            <a:r>
              <a:rPr dirty="0" sz="2000">
                <a:latin typeface="Arial"/>
                <a:cs typeface="Arial"/>
              </a:rPr>
              <a:t>of </a:t>
            </a:r>
            <a:r>
              <a:rPr dirty="0" sz="2000" spc="-5">
                <a:latin typeface="Arial"/>
                <a:cs typeface="Arial"/>
              </a:rPr>
              <a:t>the query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template.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36879" y="5661659"/>
            <a:ext cx="343916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Arial"/>
                <a:cs typeface="Arial"/>
              </a:rPr>
              <a:t>Randomly </a:t>
            </a:r>
            <a:r>
              <a:rPr dirty="0" sz="2000">
                <a:latin typeface="Arial"/>
                <a:cs typeface="Arial"/>
              </a:rPr>
              <a:t>pick one </a:t>
            </a:r>
            <a:r>
              <a:rPr dirty="0" sz="2000" spc="-5">
                <a:latin typeface="Arial"/>
                <a:cs typeface="Arial"/>
              </a:rPr>
              <a:t>entity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from  </a:t>
            </a:r>
            <a:r>
              <a:rPr dirty="0" sz="2000">
                <a:latin typeface="Arial"/>
                <a:cs typeface="Arial"/>
              </a:rPr>
              <a:t>KG as </a:t>
            </a:r>
            <a:r>
              <a:rPr dirty="0" sz="2000" spc="-5">
                <a:latin typeface="Arial"/>
                <a:cs typeface="Arial"/>
              </a:rPr>
              <a:t>the root </a:t>
            </a:r>
            <a:r>
              <a:rPr dirty="0" sz="2000">
                <a:latin typeface="Arial"/>
                <a:cs typeface="Arial"/>
              </a:rPr>
              <a:t>node, </a:t>
            </a:r>
            <a:r>
              <a:rPr dirty="0" sz="2000" spc="-5">
                <a:latin typeface="Arial"/>
                <a:cs typeface="Arial"/>
              </a:rPr>
              <a:t>e.g., </a:t>
            </a:r>
            <a:r>
              <a:rPr dirty="0" sz="2000">
                <a:latin typeface="Arial"/>
                <a:cs typeface="Arial"/>
              </a:rPr>
              <a:t>we  pick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Fulvestrant</a:t>
            </a:r>
            <a:r>
              <a:rPr dirty="0" sz="2000" spc="-5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3098490" y="3379814"/>
            <a:ext cx="243840" cy="767715"/>
          </a:xfrm>
          <a:custGeom>
            <a:avLst/>
            <a:gdLst/>
            <a:ahLst/>
            <a:cxnLst/>
            <a:rect l="l" t="t" r="r" b="b"/>
            <a:pathLst>
              <a:path w="243839" h="767714">
                <a:moveTo>
                  <a:pt x="243565" y="121782"/>
                </a:moveTo>
                <a:lnTo>
                  <a:pt x="182673" y="121782"/>
                </a:lnTo>
                <a:lnTo>
                  <a:pt x="182673" y="767435"/>
                </a:lnTo>
                <a:lnTo>
                  <a:pt x="60891" y="767435"/>
                </a:lnTo>
                <a:lnTo>
                  <a:pt x="60891" y="121782"/>
                </a:lnTo>
                <a:lnTo>
                  <a:pt x="0" y="121782"/>
                </a:lnTo>
                <a:lnTo>
                  <a:pt x="121782" y="0"/>
                </a:lnTo>
                <a:lnTo>
                  <a:pt x="243565" y="12178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2667853" y="4214876"/>
            <a:ext cx="1156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Fulvestrant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67" name="object 6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64</a:t>
            </a:fld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927" y="356615"/>
            <a:ext cx="7592568" cy="509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3746" y="1351788"/>
            <a:ext cx="84816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 i="0">
                <a:latin typeface="Calibri"/>
                <a:cs typeface="Calibri"/>
              </a:rPr>
              <a:t>How </a:t>
            </a:r>
            <a:r>
              <a:rPr dirty="0" sz="3200" spc="-15" b="1" i="0">
                <a:latin typeface="Calibri"/>
                <a:cs typeface="Calibri"/>
              </a:rPr>
              <a:t>to </a:t>
            </a:r>
            <a:r>
              <a:rPr dirty="0" sz="3200" spc="-20" b="1" i="0">
                <a:latin typeface="Calibri"/>
                <a:cs typeface="Calibri"/>
              </a:rPr>
              <a:t>instantiate </a:t>
            </a:r>
            <a:r>
              <a:rPr dirty="0" sz="3200" b="1" i="0">
                <a:latin typeface="Calibri"/>
                <a:cs typeface="Calibri"/>
              </a:rPr>
              <a:t>a </a:t>
            </a:r>
            <a:r>
              <a:rPr dirty="0" sz="3200" spc="-5" b="1" i="0">
                <a:latin typeface="Calibri"/>
                <a:cs typeface="Calibri"/>
              </a:rPr>
              <a:t>query </a:t>
            </a:r>
            <a:r>
              <a:rPr dirty="0" sz="3200" spc="-15" b="1" i="0">
                <a:latin typeface="Calibri"/>
                <a:cs typeface="Calibri"/>
              </a:rPr>
              <a:t>template </a:t>
            </a:r>
            <a:r>
              <a:rPr dirty="0" sz="3200" spc="-10" b="1" i="0">
                <a:latin typeface="Calibri"/>
                <a:cs typeface="Calibri"/>
              </a:rPr>
              <a:t>given </a:t>
            </a:r>
            <a:r>
              <a:rPr dirty="0" sz="3200" b="1" i="0">
                <a:latin typeface="Calibri"/>
                <a:cs typeface="Calibri"/>
              </a:rPr>
              <a:t>a</a:t>
            </a:r>
            <a:r>
              <a:rPr dirty="0" sz="3200" spc="25" b="1" i="0">
                <a:latin typeface="Calibri"/>
                <a:cs typeface="Calibri"/>
              </a:rPr>
              <a:t> </a:t>
            </a:r>
            <a:r>
              <a:rPr dirty="0" sz="3200" spc="-45" b="1" i="0">
                <a:latin typeface="Calibri"/>
                <a:cs typeface="Calibri"/>
              </a:rPr>
              <a:t>KG?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08738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08738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47822" y="315490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47822" y="315490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08767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08767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07469" y="2671572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C0000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0489" y="253618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0489" y="253618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7482" y="2537708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5" h="161925">
                <a:moveTo>
                  <a:pt x="783077" y="107949"/>
                </a:moveTo>
                <a:lnTo>
                  <a:pt x="782995" y="161925"/>
                </a:lnTo>
                <a:lnTo>
                  <a:pt x="891273" y="107990"/>
                </a:lnTo>
                <a:lnTo>
                  <a:pt x="810064" y="107990"/>
                </a:lnTo>
                <a:lnTo>
                  <a:pt x="783077" y="107949"/>
                </a:lnTo>
                <a:close/>
              </a:path>
              <a:path w="945515" h="161925">
                <a:moveTo>
                  <a:pt x="783158" y="53974"/>
                </a:moveTo>
                <a:lnTo>
                  <a:pt x="783077" y="107949"/>
                </a:lnTo>
                <a:lnTo>
                  <a:pt x="810064" y="107990"/>
                </a:lnTo>
                <a:lnTo>
                  <a:pt x="810146" y="54015"/>
                </a:lnTo>
                <a:lnTo>
                  <a:pt x="783158" y="53974"/>
                </a:lnTo>
                <a:close/>
              </a:path>
              <a:path w="945515" h="161925">
                <a:moveTo>
                  <a:pt x="783240" y="0"/>
                </a:moveTo>
                <a:lnTo>
                  <a:pt x="783158" y="53974"/>
                </a:lnTo>
                <a:lnTo>
                  <a:pt x="810146" y="54015"/>
                </a:lnTo>
                <a:lnTo>
                  <a:pt x="810064" y="107990"/>
                </a:lnTo>
                <a:lnTo>
                  <a:pt x="891273" y="107990"/>
                </a:lnTo>
                <a:lnTo>
                  <a:pt x="945042" y="81207"/>
                </a:lnTo>
                <a:lnTo>
                  <a:pt x="783240" y="0"/>
                </a:lnTo>
                <a:close/>
              </a:path>
              <a:path w="945515" h="161925">
                <a:moveTo>
                  <a:pt x="81" y="52793"/>
                </a:moveTo>
                <a:lnTo>
                  <a:pt x="0" y="106768"/>
                </a:lnTo>
                <a:lnTo>
                  <a:pt x="783077" y="107949"/>
                </a:lnTo>
                <a:lnTo>
                  <a:pt x="783158" y="53974"/>
                </a:lnTo>
                <a:lnTo>
                  <a:pt x="81" y="5279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534685" y="2670470"/>
            <a:ext cx="638175" cy="508634"/>
          </a:xfrm>
          <a:custGeom>
            <a:avLst/>
            <a:gdLst/>
            <a:ahLst/>
            <a:cxnLst/>
            <a:rect l="l" t="t" r="r" b="b"/>
            <a:pathLst>
              <a:path w="638175" h="508635">
                <a:moveTo>
                  <a:pt x="33309" y="0"/>
                </a:moveTo>
                <a:lnTo>
                  <a:pt x="0" y="42470"/>
                </a:lnTo>
                <a:lnTo>
                  <a:pt x="42470" y="75780"/>
                </a:lnTo>
                <a:lnTo>
                  <a:pt x="75780" y="33309"/>
                </a:lnTo>
                <a:lnTo>
                  <a:pt x="33309" y="0"/>
                </a:lnTo>
                <a:close/>
              </a:path>
              <a:path w="638175" h="508635">
                <a:moveTo>
                  <a:pt x="118250" y="66620"/>
                </a:moveTo>
                <a:lnTo>
                  <a:pt x="84940" y="109090"/>
                </a:lnTo>
                <a:lnTo>
                  <a:pt x="127410" y="142401"/>
                </a:lnTo>
                <a:lnTo>
                  <a:pt x="160721" y="99931"/>
                </a:lnTo>
                <a:lnTo>
                  <a:pt x="118250" y="66620"/>
                </a:lnTo>
                <a:close/>
              </a:path>
              <a:path w="638175" h="508635">
                <a:moveTo>
                  <a:pt x="203191" y="133240"/>
                </a:moveTo>
                <a:lnTo>
                  <a:pt x="169881" y="175710"/>
                </a:lnTo>
                <a:lnTo>
                  <a:pt x="212351" y="209021"/>
                </a:lnTo>
                <a:lnTo>
                  <a:pt x="245661" y="166551"/>
                </a:lnTo>
                <a:lnTo>
                  <a:pt x="203191" y="133240"/>
                </a:lnTo>
                <a:close/>
              </a:path>
              <a:path w="638175" h="508635">
                <a:moveTo>
                  <a:pt x="288132" y="199861"/>
                </a:moveTo>
                <a:lnTo>
                  <a:pt x="254821" y="242331"/>
                </a:lnTo>
                <a:lnTo>
                  <a:pt x="297291" y="275642"/>
                </a:lnTo>
                <a:lnTo>
                  <a:pt x="330602" y="233172"/>
                </a:lnTo>
                <a:lnTo>
                  <a:pt x="288132" y="199861"/>
                </a:lnTo>
                <a:close/>
              </a:path>
              <a:path w="638175" h="508635">
                <a:moveTo>
                  <a:pt x="373072" y="266481"/>
                </a:moveTo>
                <a:lnTo>
                  <a:pt x="339761" y="308952"/>
                </a:lnTo>
                <a:lnTo>
                  <a:pt x="382233" y="342262"/>
                </a:lnTo>
                <a:lnTo>
                  <a:pt x="415542" y="299792"/>
                </a:lnTo>
                <a:lnTo>
                  <a:pt x="373072" y="266481"/>
                </a:lnTo>
                <a:close/>
              </a:path>
              <a:path w="638175" h="508635">
                <a:moveTo>
                  <a:pt x="560153" y="344617"/>
                </a:moveTo>
                <a:lnTo>
                  <a:pt x="460222" y="472027"/>
                </a:lnTo>
                <a:lnTo>
                  <a:pt x="637598" y="508252"/>
                </a:lnTo>
                <a:lnTo>
                  <a:pt x="608236" y="446213"/>
                </a:lnTo>
                <a:lnTo>
                  <a:pt x="514767" y="446213"/>
                </a:lnTo>
                <a:lnTo>
                  <a:pt x="509643" y="442193"/>
                </a:lnTo>
                <a:lnTo>
                  <a:pt x="542954" y="399723"/>
                </a:lnTo>
                <a:lnTo>
                  <a:pt x="586234" y="399723"/>
                </a:lnTo>
                <a:lnTo>
                  <a:pt x="560153" y="344617"/>
                </a:lnTo>
                <a:close/>
              </a:path>
              <a:path w="638175" h="508635">
                <a:moveTo>
                  <a:pt x="542954" y="399723"/>
                </a:moveTo>
                <a:lnTo>
                  <a:pt x="509643" y="442193"/>
                </a:lnTo>
                <a:lnTo>
                  <a:pt x="514767" y="446213"/>
                </a:lnTo>
                <a:lnTo>
                  <a:pt x="548078" y="403741"/>
                </a:lnTo>
                <a:lnTo>
                  <a:pt x="542954" y="399723"/>
                </a:lnTo>
                <a:close/>
              </a:path>
              <a:path w="638175" h="508635">
                <a:moveTo>
                  <a:pt x="586234" y="399723"/>
                </a:moveTo>
                <a:lnTo>
                  <a:pt x="542954" y="399723"/>
                </a:lnTo>
                <a:lnTo>
                  <a:pt x="548078" y="403741"/>
                </a:lnTo>
                <a:lnTo>
                  <a:pt x="514767" y="446213"/>
                </a:lnTo>
                <a:lnTo>
                  <a:pt x="608236" y="446213"/>
                </a:lnTo>
                <a:lnTo>
                  <a:pt x="586234" y="399723"/>
                </a:lnTo>
                <a:close/>
              </a:path>
              <a:path w="638175" h="508635">
                <a:moveTo>
                  <a:pt x="458012" y="333101"/>
                </a:moveTo>
                <a:lnTo>
                  <a:pt x="424703" y="375573"/>
                </a:lnTo>
                <a:lnTo>
                  <a:pt x="467173" y="408882"/>
                </a:lnTo>
                <a:lnTo>
                  <a:pt x="500484" y="366412"/>
                </a:lnTo>
                <a:lnTo>
                  <a:pt x="458012" y="3331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75770" y="3616538"/>
            <a:ext cx="955675" cy="161925"/>
          </a:xfrm>
          <a:custGeom>
            <a:avLst/>
            <a:gdLst/>
            <a:ahLst/>
            <a:cxnLst/>
            <a:rect l="l" t="t" r="r" b="b"/>
            <a:pathLst>
              <a:path w="955675" h="161925">
                <a:moveTo>
                  <a:pt x="793352" y="107949"/>
                </a:moveTo>
                <a:lnTo>
                  <a:pt x="793352" y="161925"/>
                </a:lnTo>
                <a:lnTo>
                  <a:pt x="901302" y="107950"/>
                </a:lnTo>
                <a:lnTo>
                  <a:pt x="793352" y="107949"/>
                </a:lnTo>
                <a:close/>
              </a:path>
              <a:path w="955675" h="161925">
                <a:moveTo>
                  <a:pt x="793352" y="53974"/>
                </a:moveTo>
                <a:lnTo>
                  <a:pt x="793352" y="107949"/>
                </a:lnTo>
                <a:lnTo>
                  <a:pt x="820339" y="107950"/>
                </a:lnTo>
                <a:lnTo>
                  <a:pt x="820339" y="53975"/>
                </a:lnTo>
                <a:lnTo>
                  <a:pt x="793352" y="53974"/>
                </a:lnTo>
                <a:close/>
              </a:path>
              <a:path w="955675" h="161925">
                <a:moveTo>
                  <a:pt x="793352" y="0"/>
                </a:moveTo>
                <a:lnTo>
                  <a:pt x="793352" y="53974"/>
                </a:lnTo>
                <a:lnTo>
                  <a:pt x="820339" y="53975"/>
                </a:lnTo>
                <a:lnTo>
                  <a:pt x="820339" y="107950"/>
                </a:lnTo>
                <a:lnTo>
                  <a:pt x="901305" y="107948"/>
                </a:lnTo>
                <a:lnTo>
                  <a:pt x="955277" y="80962"/>
                </a:lnTo>
                <a:lnTo>
                  <a:pt x="793352" y="0"/>
                </a:lnTo>
                <a:close/>
              </a:path>
              <a:path w="955675" h="161925">
                <a:moveTo>
                  <a:pt x="0" y="53973"/>
                </a:moveTo>
                <a:lnTo>
                  <a:pt x="0" y="107948"/>
                </a:lnTo>
                <a:lnTo>
                  <a:pt x="793352" y="107949"/>
                </a:lnTo>
                <a:lnTo>
                  <a:pt x="793352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31047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31047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560106" y="3293708"/>
            <a:ext cx="612775" cy="370205"/>
          </a:xfrm>
          <a:custGeom>
            <a:avLst/>
            <a:gdLst/>
            <a:ahLst/>
            <a:cxnLst/>
            <a:rect l="l" t="t" r="r" b="b"/>
            <a:pathLst>
              <a:path w="612775" h="370204">
                <a:moveTo>
                  <a:pt x="46722" y="295913"/>
                </a:moveTo>
                <a:lnTo>
                  <a:pt x="0" y="322939"/>
                </a:lnTo>
                <a:lnTo>
                  <a:pt x="27026" y="369661"/>
                </a:lnTo>
                <a:lnTo>
                  <a:pt x="73747" y="342634"/>
                </a:lnTo>
                <a:lnTo>
                  <a:pt x="46722" y="295913"/>
                </a:lnTo>
                <a:close/>
              </a:path>
              <a:path w="612775" h="370204">
                <a:moveTo>
                  <a:pt x="140163" y="241861"/>
                </a:moveTo>
                <a:lnTo>
                  <a:pt x="93442" y="268886"/>
                </a:lnTo>
                <a:lnTo>
                  <a:pt x="120469" y="315608"/>
                </a:lnTo>
                <a:lnTo>
                  <a:pt x="167190" y="288582"/>
                </a:lnTo>
                <a:lnTo>
                  <a:pt x="140163" y="241861"/>
                </a:lnTo>
                <a:close/>
              </a:path>
              <a:path w="612775" h="370204">
                <a:moveTo>
                  <a:pt x="233606" y="187808"/>
                </a:moveTo>
                <a:lnTo>
                  <a:pt x="186885" y="214834"/>
                </a:lnTo>
                <a:lnTo>
                  <a:pt x="213911" y="261556"/>
                </a:lnTo>
                <a:lnTo>
                  <a:pt x="260633" y="234529"/>
                </a:lnTo>
                <a:lnTo>
                  <a:pt x="233606" y="187808"/>
                </a:lnTo>
                <a:close/>
              </a:path>
              <a:path w="612775" h="370204">
                <a:moveTo>
                  <a:pt x="327049" y="133756"/>
                </a:moveTo>
                <a:lnTo>
                  <a:pt x="280328" y="160781"/>
                </a:lnTo>
                <a:lnTo>
                  <a:pt x="307353" y="207504"/>
                </a:lnTo>
                <a:lnTo>
                  <a:pt x="354075" y="180477"/>
                </a:lnTo>
                <a:lnTo>
                  <a:pt x="327049" y="133756"/>
                </a:lnTo>
                <a:close/>
              </a:path>
              <a:path w="612775" h="370204">
                <a:moveTo>
                  <a:pt x="420491" y="79703"/>
                </a:moveTo>
                <a:lnTo>
                  <a:pt x="373771" y="106729"/>
                </a:lnTo>
                <a:lnTo>
                  <a:pt x="400796" y="153451"/>
                </a:lnTo>
                <a:lnTo>
                  <a:pt x="447518" y="126424"/>
                </a:lnTo>
                <a:lnTo>
                  <a:pt x="420491" y="79703"/>
                </a:lnTo>
                <a:close/>
              </a:path>
              <a:path w="612775" h="370204">
                <a:moveTo>
                  <a:pt x="612176" y="0"/>
                </a:moveTo>
                <a:lnTo>
                  <a:pt x="431473" y="10996"/>
                </a:lnTo>
                <a:lnTo>
                  <a:pt x="512552" y="151160"/>
                </a:lnTo>
                <a:lnTo>
                  <a:pt x="546666" y="99399"/>
                </a:lnTo>
                <a:lnTo>
                  <a:pt x="494239" y="99399"/>
                </a:lnTo>
                <a:lnTo>
                  <a:pt x="467213" y="52677"/>
                </a:lnTo>
                <a:lnTo>
                  <a:pt x="481860" y="44204"/>
                </a:lnTo>
                <a:lnTo>
                  <a:pt x="583043" y="44204"/>
                </a:lnTo>
                <a:lnTo>
                  <a:pt x="612176" y="0"/>
                </a:lnTo>
                <a:close/>
              </a:path>
              <a:path w="612775" h="370204">
                <a:moveTo>
                  <a:pt x="481860" y="44204"/>
                </a:moveTo>
                <a:lnTo>
                  <a:pt x="467213" y="52677"/>
                </a:lnTo>
                <a:lnTo>
                  <a:pt x="494239" y="99399"/>
                </a:lnTo>
                <a:lnTo>
                  <a:pt x="508887" y="90925"/>
                </a:lnTo>
                <a:lnTo>
                  <a:pt x="481860" y="44204"/>
                </a:lnTo>
                <a:close/>
              </a:path>
              <a:path w="612775" h="370204">
                <a:moveTo>
                  <a:pt x="583043" y="44204"/>
                </a:moveTo>
                <a:lnTo>
                  <a:pt x="481860" y="44204"/>
                </a:lnTo>
                <a:lnTo>
                  <a:pt x="508887" y="90925"/>
                </a:lnTo>
                <a:lnTo>
                  <a:pt x="494239" y="99399"/>
                </a:lnTo>
                <a:lnTo>
                  <a:pt x="546666" y="99399"/>
                </a:lnTo>
                <a:lnTo>
                  <a:pt x="583043" y="44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567361" y="3436620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04148" y="2702051"/>
            <a:ext cx="22586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55725" algn="l"/>
              </a:tabLst>
            </a:pPr>
            <a:r>
              <a:rPr dirty="0" sz="1400" spc="-25">
                <a:solidFill>
                  <a:srgbClr val="548235"/>
                </a:solidFill>
                <a:latin typeface="Arial"/>
                <a:cs typeface="Arial"/>
              </a:rPr>
              <a:t>Projection	</a:t>
            </a:r>
            <a:r>
              <a:rPr dirty="0" baseline="3968" sz="2100" spc="-37">
                <a:latin typeface="Arial"/>
                <a:cs typeface="Arial"/>
              </a:rPr>
              <a:t>Intersection</a:t>
            </a:r>
            <a:endParaRPr baseline="3968" sz="2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47784" y="3512820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00305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1"/>
                </a:lnTo>
                <a:lnTo>
                  <a:pt x="83516" y="162610"/>
                </a:lnTo>
                <a:lnTo>
                  <a:pt x="116024" y="156221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300305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467338" y="2553251"/>
            <a:ext cx="941705" cy="161925"/>
          </a:xfrm>
          <a:custGeom>
            <a:avLst/>
            <a:gdLst/>
            <a:ahLst/>
            <a:cxnLst/>
            <a:rect l="l" t="t" r="r" b="b"/>
            <a:pathLst>
              <a:path w="941705" h="161925">
                <a:moveTo>
                  <a:pt x="779504" y="107949"/>
                </a:moveTo>
                <a:lnTo>
                  <a:pt x="779504" y="161925"/>
                </a:lnTo>
                <a:lnTo>
                  <a:pt x="887454" y="107950"/>
                </a:lnTo>
                <a:lnTo>
                  <a:pt x="779504" y="107949"/>
                </a:lnTo>
                <a:close/>
              </a:path>
              <a:path w="941705" h="161925">
                <a:moveTo>
                  <a:pt x="779504" y="53974"/>
                </a:moveTo>
                <a:lnTo>
                  <a:pt x="779504" y="107949"/>
                </a:lnTo>
                <a:lnTo>
                  <a:pt x="806491" y="107950"/>
                </a:lnTo>
                <a:lnTo>
                  <a:pt x="806491" y="53975"/>
                </a:lnTo>
                <a:lnTo>
                  <a:pt x="779504" y="53974"/>
                </a:lnTo>
                <a:close/>
              </a:path>
              <a:path w="941705" h="161925">
                <a:moveTo>
                  <a:pt x="779504" y="0"/>
                </a:moveTo>
                <a:lnTo>
                  <a:pt x="779504" y="53974"/>
                </a:lnTo>
                <a:lnTo>
                  <a:pt x="806491" y="53975"/>
                </a:lnTo>
                <a:lnTo>
                  <a:pt x="806491" y="107950"/>
                </a:lnTo>
                <a:lnTo>
                  <a:pt x="887456" y="107948"/>
                </a:lnTo>
                <a:lnTo>
                  <a:pt x="941429" y="80962"/>
                </a:lnTo>
                <a:lnTo>
                  <a:pt x="779504" y="0"/>
                </a:lnTo>
                <a:close/>
              </a:path>
              <a:path w="941705" h="161925">
                <a:moveTo>
                  <a:pt x="0" y="53973"/>
                </a:moveTo>
                <a:lnTo>
                  <a:pt x="0" y="107948"/>
                </a:lnTo>
                <a:lnTo>
                  <a:pt x="779504" y="107949"/>
                </a:lnTo>
                <a:lnTo>
                  <a:pt x="779504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606525" y="41472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1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1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5" y="185063"/>
                </a:lnTo>
                <a:lnTo>
                  <a:pt x="213960" y="150604"/>
                </a:lnTo>
                <a:lnTo>
                  <a:pt x="222711" y="108407"/>
                </a:lnTo>
                <a:lnTo>
                  <a:pt x="213960" y="66210"/>
                </a:lnTo>
                <a:lnTo>
                  <a:pt x="190095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606526" y="41472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76200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647498" y="1889251"/>
            <a:ext cx="1981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Knowledge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344786" y="2817210"/>
            <a:ext cx="1249680" cy="1932305"/>
          </a:xfrm>
          <a:custGeom>
            <a:avLst/>
            <a:gdLst/>
            <a:ahLst/>
            <a:cxnLst/>
            <a:rect l="l" t="t" r="r" b="b"/>
            <a:pathLst>
              <a:path w="1249679" h="1932304">
                <a:moveTo>
                  <a:pt x="1171846" y="85901"/>
                </a:moveTo>
                <a:lnTo>
                  <a:pt x="0" y="1911626"/>
                </a:lnTo>
                <a:lnTo>
                  <a:pt x="32063" y="1932205"/>
                </a:lnTo>
                <a:lnTo>
                  <a:pt x="1203910" y="106481"/>
                </a:lnTo>
                <a:lnTo>
                  <a:pt x="1171846" y="85901"/>
                </a:lnTo>
                <a:close/>
              </a:path>
              <a:path w="1249679" h="1932304">
                <a:moveTo>
                  <a:pt x="1242114" y="69871"/>
                </a:moveTo>
                <a:lnTo>
                  <a:pt x="1182135" y="69871"/>
                </a:lnTo>
                <a:lnTo>
                  <a:pt x="1214198" y="90451"/>
                </a:lnTo>
                <a:lnTo>
                  <a:pt x="1203910" y="106481"/>
                </a:lnTo>
                <a:lnTo>
                  <a:pt x="1235972" y="127060"/>
                </a:lnTo>
                <a:lnTo>
                  <a:pt x="1242114" y="69871"/>
                </a:lnTo>
                <a:close/>
              </a:path>
              <a:path w="1249679" h="1932304">
                <a:moveTo>
                  <a:pt x="1182135" y="69871"/>
                </a:moveTo>
                <a:lnTo>
                  <a:pt x="1171846" y="85901"/>
                </a:lnTo>
                <a:lnTo>
                  <a:pt x="1203910" y="106481"/>
                </a:lnTo>
                <a:lnTo>
                  <a:pt x="1214198" y="90451"/>
                </a:lnTo>
                <a:lnTo>
                  <a:pt x="1182135" y="69871"/>
                </a:lnTo>
                <a:close/>
              </a:path>
              <a:path w="1249679" h="1932304">
                <a:moveTo>
                  <a:pt x="1249617" y="0"/>
                </a:moveTo>
                <a:lnTo>
                  <a:pt x="1139783" y="65321"/>
                </a:lnTo>
                <a:lnTo>
                  <a:pt x="1171846" y="85901"/>
                </a:lnTo>
                <a:lnTo>
                  <a:pt x="1182135" y="69871"/>
                </a:lnTo>
                <a:lnTo>
                  <a:pt x="1242114" y="69871"/>
                </a:lnTo>
                <a:lnTo>
                  <a:pt x="1249617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404153" y="4459732"/>
            <a:ext cx="73787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69850" marR="5080" indent="-5715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Short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  Breath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91261" y="4982971"/>
            <a:ext cx="1080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au</a:t>
            </a: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s</a:t>
            </a: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edB</a:t>
            </a: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343984" y="3109467"/>
            <a:ext cx="8153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r</a:t>
            </a:r>
            <a:r>
              <a:rPr dirty="0" sz="1600" spc="-5">
                <a:latin typeface="Arial"/>
                <a:cs typeface="Arial"/>
              </a:rPr>
              <a:t>i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ide</a:t>
            </a:r>
            <a:r>
              <a:rPr dirty="0" sz="160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02466" y="3980179"/>
            <a:ext cx="1071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32355" y="3816603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353733" y="4230772"/>
            <a:ext cx="1249680" cy="526415"/>
          </a:xfrm>
          <a:custGeom>
            <a:avLst/>
            <a:gdLst/>
            <a:ahLst/>
            <a:cxnLst/>
            <a:rect l="l" t="t" r="r" b="b"/>
            <a:pathLst>
              <a:path w="1249679" h="526414">
                <a:moveTo>
                  <a:pt x="1136325" y="35366"/>
                </a:moveTo>
                <a:lnTo>
                  <a:pt x="0" y="490670"/>
                </a:lnTo>
                <a:lnTo>
                  <a:pt x="14170" y="526037"/>
                </a:lnTo>
                <a:lnTo>
                  <a:pt x="1150496" y="70732"/>
                </a:lnTo>
                <a:lnTo>
                  <a:pt x="1136325" y="35366"/>
                </a:lnTo>
                <a:close/>
              </a:path>
              <a:path w="1249679" h="526414">
                <a:moveTo>
                  <a:pt x="1233756" y="28281"/>
                </a:moveTo>
                <a:lnTo>
                  <a:pt x="1154008" y="28281"/>
                </a:lnTo>
                <a:lnTo>
                  <a:pt x="1168179" y="63647"/>
                </a:lnTo>
                <a:lnTo>
                  <a:pt x="1150496" y="70732"/>
                </a:lnTo>
                <a:lnTo>
                  <a:pt x="1164667" y="106099"/>
                </a:lnTo>
                <a:lnTo>
                  <a:pt x="1233756" y="28281"/>
                </a:lnTo>
                <a:close/>
              </a:path>
              <a:path w="1249679" h="526414">
                <a:moveTo>
                  <a:pt x="1154008" y="28281"/>
                </a:moveTo>
                <a:lnTo>
                  <a:pt x="1136325" y="35366"/>
                </a:lnTo>
                <a:lnTo>
                  <a:pt x="1150496" y="70732"/>
                </a:lnTo>
                <a:lnTo>
                  <a:pt x="1168179" y="63647"/>
                </a:lnTo>
                <a:lnTo>
                  <a:pt x="1154008" y="28281"/>
                </a:lnTo>
                <a:close/>
              </a:path>
              <a:path w="1249679" h="526414">
                <a:moveTo>
                  <a:pt x="1122154" y="0"/>
                </a:moveTo>
                <a:lnTo>
                  <a:pt x="1136325" y="35366"/>
                </a:lnTo>
                <a:lnTo>
                  <a:pt x="1154008" y="28281"/>
                </a:lnTo>
                <a:lnTo>
                  <a:pt x="1233756" y="28281"/>
                </a:lnTo>
                <a:lnTo>
                  <a:pt x="1249511" y="10537"/>
                </a:lnTo>
                <a:lnTo>
                  <a:pt x="1122154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358375" y="4720234"/>
            <a:ext cx="1279525" cy="226060"/>
          </a:xfrm>
          <a:custGeom>
            <a:avLst/>
            <a:gdLst/>
            <a:ahLst/>
            <a:cxnLst/>
            <a:rect l="l" t="t" r="r" b="b"/>
            <a:pathLst>
              <a:path w="1279525" h="226060">
                <a:moveTo>
                  <a:pt x="1163322" y="188231"/>
                </a:moveTo>
                <a:lnTo>
                  <a:pt x="1158435" y="226016"/>
                </a:lnTo>
                <a:lnTo>
                  <a:pt x="1259946" y="190675"/>
                </a:lnTo>
                <a:lnTo>
                  <a:pt x="1182216" y="190675"/>
                </a:lnTo>
                <a:lnTo>
                  <a:pt x="1163322" y="188231"/>
                </a:lnTo>
                <a:close/>
              </a:path>
              <a:path w="1279525" h="226060">
                <a:moveTo>
                  <a:pt x="1168209" y="150445"/>
                </a:moveTo>
                <a:lnTo>
                  <a:pt x="1163322" y="188231"/>
                </a:lnTo>
                <a:lnTo>
                  <a:pt x="1182216" y="190675"/>
                </a:lnTo>
                <a:lnTo>
                  <a:pt x="1187103" y="152888"/>
                </a:lnTo>
                <a:lnTo>
                  <a:pt x="1168209" y="150445"/>
                </a:lnTo>
                <a:close/>
              </a:path>
              <a:path w="1279525" h="226060">
                <a:moveTo>
                  <a:pt x="1173096" y="112660"/>
                </a:moveTo>
                <a:lnTo>
                  <a:pt x="1168209" y="150445"/>
                </a:lnTo>
                <a:lnTo>
                  <a:pt x="1187103" y="152888"/>
                </a:lnTo>
                <a:lnTo>
                  <a:pt x="1182216" y="190675"/>
                </a:lnTo>
                <a:lnTo>
                  <a:pt x="1259946" y="190675"/>
                </a:lnTo>
                <a:lnTo>
                  <a:pt x="1279122" y="183998"/>
                </a:lnTo>
                <a:lnTo>
                  <a:pt x="1173096" y="112660"/>
                </a:lnTo>
                <a:close/>
              </a:path>
              <a:path w="1279525" h="226060">
                <a:moveTo>
                  <a:pt x="4885" y="0"/>
                </a:moveTo>
                <a:lnTo>
                  <a:pt x="0" y="37785"/>
                </a:lnTo>
                <a:lnTo>
                  <a:pt x="1163322" y="188231"/>
                </a:lnTo>
                <a:lnTo>
                  <a:pt x="1168209" y="150445"/>
                </a:lnTo>
                <a:lnTo>
                  <a:pt x="4885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628911" y="33624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628911" y="33624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376819" y="4511547"/>
            <a:ext cx="7702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Ke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637498" y="479582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637498" y="479582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4701952" y="3578859"/>
            <a:ext cx="5543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ESR2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28628" y="2767076"/>
            <a:ext cx="648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ss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963475" y="3118611"/>
            <a:ext cx="67945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3302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Breast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123225" y="3430593"/>
            <a:ext cx="1032510" cy="313055"/>
          </a:xfrm>
          <a:custGeom>
            <a:avLst/>
            <a:gdLst/>
            <a:ahLst/>
            <a:cxnLst/>
            <a:rect l="l" t="t" r="r" b="b"/>
            <a:pathLst>
              <a:path w="1032510" h="313054">
                <a:moveTo>
                  <a:pt x="916774" y="275689"/>
                </a:moveTo>
                <a:lnTo>
                  <a:pt x="907169" y="312558"/>
                </a:lnTo>
                <a:lnTo>
                  <a:pt x="1032184" y="286067"/>
                </a:lnTo>
                <a:lnTo>
                  <a:pt x="1025807" y="280490"/>
                </a:lnTo>
                <a:lnTo>
                  <a:pt x="935207" y="280490"/>
                </a:lnTo>
                <a:lnTo>
                  <a:pt x="916774" y="275689"/>
                </a:lnTo>
                <a:close/>
              </a:path>
              <a:path w="1032510" h="313054">
                <a:moveTo>
                  <a:pt x="926379" y="238818"/>
                </a:moveTo>
                <a:lnTo>
                  <a:pt x="916774" y="275689"/>
                </a:lnTo>
                <a:lnTo>
                  <a:pt x="935207" y="280490"/>
                </a:lnTo>
                <a:lnTo>
                  <a:pt x="944812" y="243620"/>
                </a:lnTo>
                <a:lnTo>
                  <a:pt x="926379" y="238818"/>
                </a:lnTo>
                <a:close/>
              </a:path>
              <a:path w="1032510" h="313054">
                <a:moveTo>
                  <a:pt x="935983" y="201949"/>
                </a:moveTo>
                <a:lnTo>
                  <a:pt x="926379" y="238818"/>
                </a:lnTo>
                <a:lnTo>
                  <a:pt x="944812" y="243620"/>
                </a:lnTo>
                <a:lnTo>
                  <a:pt x="935207" y="280490"/>
                </a:lnTo>
                <a:lnTo>
                  <a:pt x="1025807" y="280490"/>
                </a:lnTo>
                <a:lnTo>
                  <a:pt x="935983" y="201949"/>
                </a:lnTo>
                <a:close/>
              </a:path>
              <a:path w="1032510" h="313054">
                <a:moveTo>
                  <a:pt x="9603" y="0"/>
                </a:moveTo>
                <a:lnTo>
                  <a:pt x="0" y="36869"/>
                </a:lnTo>
                <a:lnTo>
                  <a:pt x="916774" y="275689"/>
                </a:lnTo>
                <a:lnTo>
                  <a:pt x="926379" y="238818"/>
                </a:lnTo>
                <a:lnTo>
                  <a:pt x="960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155410" y="36082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155410" y="36082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374447" y="3436808"/>
            <a:ext cx="1254760" cy="299085"/>
          </a:xfrm>
          <a:custGeom>
            <a:avLst/>
            <a:gdLst/>
            <a:ahLst/>
            <a:cxnLst/>
            <a:rect l="l" t="t" r="r" b="b"/>
            <a:pathLst>
              <a:path w="1254759" h="299085">
                <a:moveTo>
                  <a:pt x="1138635" y="37385"/>
                </a:moveTo>
                <a:lnTo>
                  <a:pt x="0" y="261160"/>
                </a:lnTo>
                <a:lnTo>
                  <a:pt x="7346" y="298545"/>
                </a:lnTo>
                <a:lnTo>
                  <a:pt x="1145982" y="74770"/>
                </a:lnTo>
                <a:lnTo>
                  <a:pt x="1138635" y="37385"/>
                </a:lnTo>
                <a:close/>
              </a:path>
              <a:path w="1254759" h="299085">
                <a:moveTo>
                  <a:pt x="1253292" y="33712"/>
                </a:moveTo>
                <a:lnTo>
                  <a:pt x="1157328" y="33712"/>
                </a:lnTo>
                <a:lnTo>
                  <a:pt x="1164675" y="71097"/>
                </a:lnTo>
                <a:lnTo>
                  <a:pt x="1145982" y="74770"/>
                </a:lnTo>
                <a:lnTo>
                  <a:pt x="1153330" y="112154"/>
                </a:lnTo>
                <a:lnTo>
                  <a:pt x="1254464" y="34036"/>
                </a:lnTo>
                <a:lnTo>
                  <a:pt x="1253292" y="33712"/>
                </a:lnTo>
                <a:close/>
              </a:path>
              <a:path w="1254759" h="299085">
                <a:moveTo>
                  <a:pt x="1157328" y="33712"/>
                </a:moveTo>
                <a:lnTo>
                  <a:pt x="1138635" y="37385"/>
                </a:lnTo>
                <a:lnTo>
                  <a:pt x="1145982" y="74770"/>
                </a:lnTo>
                <a:lnTo>
                  <a:pt x="1164675" y="71097"/>
                </a:lnTo>
                <a:lnTo>
                  <a:pt x="1157328" y="33712"/>
                </a:lnTo>
                <a:close/>
              </a:path>
              <a:path w="1254759" h="299085">
                <a:moveTo>
                  <a:pt x="1131288" y="0"/>
                </a:moveTo>
                <a:lnTo>
                  <a:pt x="1138635" y="37385"/>
                </a:lnTo>
                <a:lnTo>
                  <a:pt x="1157328" y="33712"/>
                </a:lnTo>
                <a:lnTo>
                  <a:pt x="1253292" y="33712"/>
                </a:lnTo>
                <a:lnTo>
                  <a:pt x="1131288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370620" y="3699149"/>
            <a:ext cx="1233170" cy="549910"/>
          </a:xfrm>
          <a:custGeom>
            <a:avLst/>
            <a:gdLst/>
            <a:ahLst/>
            <a:cxnLst/>
            <a:rect l="l" t="t" r="r" b="b"/>
            <a:pathLst>
              <a:path w="1233170" h="549910">
                <a:moveTo>
                  <a:pt x="1120053" y="514676"/>
                </a:moveTo>
                <a:lnTo>
                  <a:pt x="1105054" y="549700"/>
                </a:lnTo>
                <a:lnTo>
                  <a:pt x="1232623" y="542160"/>
                </a:lnTo>
                <a:lnTo>
                  <a:pt x="1215704" y="522175"/>
                </a:lnTo>
                <a:lnTo>
                  <a:pt x="1137564" y="522175"/>
                </a:lnTo>
                <a:lnTo>
                  <a:pt x="1120053" y="514676"/>
                </a:lnTo>
                <a:close/>
              </a:path>
              <a:path w="1233170" h="549910">
                <a:moveTo>
                  <a:pt x="1135052" y="479652"/>
                </a:moveTo>
                <a:lnTo>
                  <a:pt x="1120053" y="514676"/>
                </a:lnTo>
                <a:lnTo>
                  <a:pt x="1137564" y="522175"/>
                </a:lnTo>
                <a:lnTo>
                  <a:pt x="1152563" y="487151"/>
                </a:lnTo>
                <a:lnTo>
                  <a:pt x="1135052" y="479652"/>
                </a:lnTo>
                <a:close/>
              </a:path>
              <a:path w="1233170" h="549910">
                <a:moveTo>
                  <a:pt x="1150051" y="444629"/>
                </a:moveTo>
                <a:lnTo>
                  <a:pt x="1135052" y="479652"/>
                </a:lnTo>
                <a:lnTo>
                  <a:pt x="1152563" y="487151"/>
                </a:lnTo>
                <a:lnTo>
                  <a:pt x="1137564" y="522175"/>
                </a:lnTo>
                <a:lnTo>
                  <a:pt x="1215704" y="522175"/>
                </a:lnTo>
                <a:lnTo>
                  <a:pt x="1150051" y="444629"/>
                </a:lnTo>
                <a:close/>
              </a:path>
              <a:path w="1233170" h="549910">
                <a:moveTo>
                  <a:pt x="14998" y="0"/>
                </a:moveTo>
                <a:lnTo>
                  <a:pt x="0" y="35022"/>
                </a:lnTo>
                <a:lnTo>
                  <a:pt x="1120053" y="514676"/>
                </a:lnTo>
                <a:lnTo>
                  <a:pt x="1135052" y="479652"/>
                </a:lnTo>
                <a:lnTo>
                  <a:pt x="14998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101166" y="267410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69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101165" y="267410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69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5909738" y="2170683"/>
            <a:ext cx="67945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16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Lung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216533" y="2429764"/>
            <a:ext cx="89344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Pa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10">
                <a:latin typeface="Arial"/>
                <a:cs typeface="Arial"/>
              </a:rPr>
              <a:t>li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x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l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117263" y="2782516"/>
            <a:ext cx="984250" cy="682625"/>
          </a:xfrm>
          <a:custGeom>
            <a:avLst/>
            <a:gdLst/>
            <a:ahLst/>
            <a:cxnLst/>
            <a:rect l="l" t="t" r="r" b="b"/>
            <a:pathLst>
              <a:path w="984250" h="682625">
                <a:moveTo>
                  <a:pt x="878836" y="48871"/>
                </a:moveTo>
                <a:lnTo>
                  <a:pt x="0" y="650794"/>
                </a:lnTo>
                <a:lnTo>
                  <a:pt x="21529" y="682228"/>
                </a:lnTo>
                <a:lnTo>
                  <a:pt x="900366" y="80305"/>
                </a:lnTo>
                <a:lnTo>
                  <a:pt x="878836" y="48871"/>
                </a:lnTo>
                <a:close/>
              </a:path>
              <a:path w="984250" h="682625">
                <a:moveTo>
                  <a:pt x="962756" y="38106"/>
                </a:moveTo>
                <a:lnTo>
                  <a:pt x="894553" y="38106"/>
                </a:lnTo>
                <a:lnTo>
                  <a:pt x="916082" y="69541"/>
                </a:lnTo>
                <a:lnTo>
                  <a:pt x="900366" y="80305"/>
                </a:lnTo>
                <a:lnTo>
                  <a:pt x="921895" y="111739"/>
                </a:lnTo>
                <a:lnTo>
                  <a:pt x="962756" y="38106"/>
                </a:lnTo>
                <a:close/>
              </a:path>
              <a:path w="984250" h="682625">
                <a:moveTo>
                  <a:pt x="894553" y="38106"/>
                </a:moveTo>
                <a:lnTo>
                  <a:pt x="878836" y="48871"/>
                </a:lnTo>
                <a:lnTo>
                  <a:pt x="900366" y="80305"/>
                </a:lnTo>
                <a:lnTo>
                  <a:pt x="916082" y="69541"/>
                </a:lnTo>
                <a:lnTo>
                  <a:pt x="894553" y="38106"/>
                </a:lnTo>
                <a:close/>
              </a:path>
              <a:path w="984250" h="682625">
                <a:moveTo>
                  <a:pt x="983903" y="0"/>
                </a:moveTo>
                <a:lnTo>
                  <a:pt x="857307" y="17437"/>
                </a:lnTo>
                <a:lnTo>
                  <a:pt x="878836" y="48871"/>
                </a:lnTo>
                <a:lnTo>
                  <a:pt x="894553" y="38106"/>
                </a:lnTo>
                <a:lnTo>
                  <a:pt x="962756" y="38106"/>
                </a:lnTo>
                <a:lnTo>
                  <a:pt x="98390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323356" y="2756961"/>
            <a:ext cx="1271270" cy="114300"/>
          </a:xfrm>
          <a:custGeom>
            <a:avLst/>
            <a:gdLst/>
            <a:ahLst/>
            <a:cxnLst/>
            <a:rect l="l" t="t" r="r" b="b"/>
            <a:pathLst>
              <a:path w="1271270" h="114300">
                <a:moveTo>
                  <a:pt x="1158350" y="0"/>
                </a:moveTo>
                <a:lnTo>
                  <a:pt x="1157310" y="38086"/>
                </a:lnTo>
                <a:lnTo>
                  <a:pt x="1176351" y="38606"/>
                </a:lnTo>
                <a:lnTo>
                  <a:pt x="1175311" y="76691"/>
                </a:lnTo>
                <a:lnTo>
                  <a:pt x="1156256" y="76691"/>
                </a:lnTo>
                <a:lnTo>
                  <a:pt x="1155230" y="114258"/>
                </a:lnTo>
                <a:lnTo>
                  <a:pt x="1235788" y="76691"/>
                </a:lnTo>
                <a:lnTo>
                  <a:pt x="1175311" y="76691"/>
                </a:lnTo>
                <a:lnTo>
                  <a:pt x="1156270" y="76171"/>
                </a:lnTo>
                <a:lnTo>
                  <a:pt x="1236902" y="76171"/>
                </a:lnTo>
                <a:lnTo>
                  <a:pt x="1271047" y="60248"/>
                </a:lnTo>
                <a:lnTo>
                  <a:pt x="1158350" y="0"/>
                </a:lnTo>
                <a:close/>
              </a:path>
              <a:path w="1271270" h="114300">
                <a:moveTo>
                  <a:pt x="1157310" y="38086"/>
                </a:moveTo>
                <a:lnTo>
                  <a:pt x="1156270" y="76171"/>
                </a:lnTo>
                <a:lnTo>
                  <a:pt x="1175311" y="76691"/>
                </a:lnTo>
                <a:lnTo>
                  <a:pt x="1176351" y="38606"/>
                </a:lnTo>
                <a:lnTo>
                  <a:pt x="1157310" y="38086"/>
                </a:lnTo>
                <a:close/>
              </a:path>
              <a:path w="1271270" h="114300">
                <a:moveTo>
                  <a:pt x="1040" y="6512"/>
                </a:moveTo>
                <a:lnTo>
                  <a:pt x="0" y="44598"/>
                </a:lnTo>
                <a:lnTo>
                  <a:pt x="1156270" y="76171"/>
                </a:lnTo>
                <a:lnTo>
                  <a:pt x="1157310" y="38086"/>
                </a:lnTo>
                <a:lnTo>
                  <a:pt x="1040" y="6512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577101" y="275707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69">
                <a:moveTo>
                  <a:pt x="111356" y="0"/>
                </a:moveTo>
                <a:lnTo>
                  <a:pt x="68011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1" y="208296"/>
                </a:lnTo>
                <a:lnTo>
                  <a:pt x="111356" y="216815"/>
                </a:lnTo>
                <a:lnTo>
                  <a:pt x="154700" y="208296"/>
                </a:lnTo>
                <a:lnTo>
                  <a:pt x="190095" y="185063"/>
                </a:lnTo>
                <a:lnTo>
                  <a:pt x="213960" y="150604"/>
                </a:lnTo>
                <a:lnTo>
                  <a:pt x="222711" y="108407"/>
                </a:lnTo>
                <a:lnTo>
                  <a:pt x="213960" y="66210"/>
                </a:lnTo>
                <a:lnTo>
                  <a:pt x="190095" y="31751"/>
                </a:lnTo>
                <a:lnTo>
                  <a:pt x="154700" y="8519"/>
                </a:lnTo>
                <a:lnTo>
                  <a:pt x="11135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577102" y="275707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69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155410" y="461815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155410" y="461815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913969" y="332695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913968" y="332695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3428052" y="3078988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99229" y="4774691"/>
            <a:ext cx="3733800" cy="154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Now we look at </a:t>
            </a:r>
            <a:r>
              <a:rPr dirty="0" sz="2000" spc="-5">
                <a:latin typeface="Arial"/>
                <a:cs typeface="Arial"/>
              </a:rPr>
              <a:t>intersection.  What </a:t>
            </a:r>
            <a:r>
              <a:rPr dirty="0" sz="2000">
                <a:latin typeface="Arial"/>
                <a:cs typeface="Arial"/>
              </a:rPr>
              <a:t>we have is </a:t>
            </a:r>
            <a:r>
              <a:rPr dirty="0" sz="2000" spc="-5">
                <a:latin typeface="Arial"/>
                <a:cs typeface="Arial"/>
              </a:rPr>
              <a:t>that the  intersection </a:t>
            </a:r>
            <a:r>
              <a:rPr dirty="0" sz="2000">
                <a:latin typeface="Arial"/>
                <a:cs typeface="Arial"/>
              </a:rPr>
              <a:t>of </a:t>
            </a:r>
            <a:r>
              <a:rPr dirty="0" sz="2000" spc="-5">
                <a:latin typeface="Arial"/>
                <a:cs typeface="Arial"/>
              </a:rPr>
              <a:t>the sets </a:t>
            </a:r>
            <a:r>
              <a:rPr dirty="0" sz="2000">
                <a:latin typeface="Arial"/>
                <a:cs typeface="Arial"/>
              </a:rPr>
              <a:t>of </a:t>
            </a:r>
            <a:r>
              <a:rPr dirty="0" sz="2000" spc="-5">
                <a:latin typeface="Arial"/>
                <a:cs typeface="Arial"/>
              </a:rPr>
              <a:t>entities  </a:t>
            </a:r>
            <a:r>
              <a:rPr dirty="0" sz="2000">
                <a:latin typeface="Arial"/>
                <a:cs typeface="Arial"/>
              </a:rPr>
              <a:t>is </a:t>
            </a:r>
            <a:r>
              <a:rPr dirty="0" sz="2000" spc="-5" b="1">
                <a:latin typeface="Arial"/>
                <a:cs typeface="Arial"/>
              </a:rPr>
              <a:t>Fulvestrant</a:t>
            </a:r>
            <a:r>
              <a:rPr dirty="0" sz="2000" spc="-5">
                <a:latin typeface="Arial"/>
                <a:cs typeface="Arial"/>
              </a:rPr>
              <a:t>, then naturally the  two sets </a:t>
            </a:r>
            <a:r>
              <a:rPr dirty="0" sz="2000">
                <a:latin typeface="Arial"/>
                <a:cs typeface="Arial"/>
              </a:rPr>
              <a:t>should also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contain</a:t>
            </a:r>
            <a:endParaRPr sz="20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077136" y="3795267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2654" y="2014220"/>
            <a:ext cx="3348990" cy="734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85420">
              <a:lnSpc>
                <a:spcPts val="2120"/>
              </a:lnSpc>
              <a:spcBef>
                <a:spcPts val="100"/>
              </a:spcBef>
            </a:pPr>
            <a:r>
              <a:rPr dirty="0" sz="1800" b="1">
                <a:solidFill>
                  <a:srgbClr val="7030A0"/>
                </a:solidFill>
                <a:latin typeface="Arial"/>
                <a:cs typeface="Arial"/>
              </a:rPr>
              <a:t>Query</a:t>
            </a:r>
            <a:r>
              <a:rPr dirty="0" sz="1800" spc="-100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7030A0"/>
                </a:solidFill>
                <a:latin typeface="Arial"/>
                <a:cs typeface="Arial"/>
              </a:rPr>
              <a:t>Template</a:t>
            </a:r>
            <a:endParaRPr sz="1800">
              <a:latin typeface="Arial"/>
              <a:cs typeface="Arial"/>
            </a:endParaRPr>
          </a:p>
          <a:p>
            <a:pPr algn="ctr" marR="186055">
              <a:lnSpc>
                <a:spcPts val="1590"/>
              </a:lnSpc>
            </a:pPr>
            <a:r>
              <a:rPr dirty="0" sz="1400" spc="-5" b="1">
                <a:latin typeface="Corbel"/>
                <a:cs typeface="Corbel"/>
              </a:rPr>
              <a:t>((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Anchor1</a:t>
            </a:r>
            <a:r>
              <a:rPr dirty="0" sz="1400" spc="-5" b="1">
                <a:latin typeface="Corbel"/>
                <a:cs typeface="Corbel"/>
              </a:rPr>
              <a:t>,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C00000"/>
                </a:solidFill>
                <a:latin typeface="Corbel"/>
                <a:cs typeface="Corbel"/>
              </a:rPr>
              <a:t>Rel1, </a:t>
            </a:r>
            <a:r>
              <a:rPr dirty="0" sz="1400" spc="-10" b="1">
                <a:solidFill>
                  <a:srgbClr val="479249"/>
                </a:solidFill>
                <a:latin typeface="Corbel"/>
                <a:cs typeface="Corbel"/>
              </a:rPr>
              <a:t>Rel2</a:t>
            </a:r>
            <a:r>
              <a:rPr dirty="0" sz="1400" spc="-10" b="1">
                <a:latin typeface="Corbel"/>
                <a:cs typeface="Corbel"/>
              </a:rPr>
              <a:t>)), </a:t>
            </a:r>
            <a:r>
              <a:rPr dirty="0" sz="1400" spc="-5" b="1">
                <a:latin typeface="Corbel"/>
                <a:cs typeface="Corbel"/>
              </a:rPr>
              <a:t>(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Anchor2</a:t>
            </a:r>
            <a:r>
              <a:rPr dirty="0" sz="1400" spc="-5" b="1">
                <a:latin typeface="Corbel"/>
                <a:cs typeface="Corbel"/>
              </a:rPr>
              <a:t>,</a:t>
            </a:r>
            <a:r>
              <a:rPr dirty="0" sz="1400" spc="-5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B48200"/>
                </a:solidFill>
                <a:latin typeface="Corbel"/>
                <a:cs typeface="Corbel"/>
              </a:rPr>
              <a:t>Rel3</a:t>
            </a:r>
            <a:r>
              <a:rPr dirty="0" sz="1400" spc="-10" b="1">
                <a:latin typeface="Corbel"/>
                <a:cs typeface="Corbel"/>
              </a:rPr>
              <a:t>))</a:t>
            </a:r>
            <a:endParaRPr sz="1400">
              <a:latin typeface="Corbel"/>
              <a:cs typeface="Corbel"/>
            </a:endParaRPr>
          </a:p>
          <a:p>
            <a:pPr algn="r" marR="5080">
              <a:lnSpc>
                <a:spcPts val="1870"/>
              </a:lnSpc>
            </a:pPr>
            <a:r>
              <a:rPr dirty="0" sz="1600" spc="-5">
                <a:latin typeface="Arial"/>
                <a:cs typeface="Arial"/>
              </a:rPr>
              <a:t>Fu</a:t>
            </a:r>
            <a:r>
              <a:rPr dirty="0" sz="1600" spc="-10">
                <a:latin typeface="Arial"/>
                <a:cs typeface="Arial"/>
              </a:rPr>
              <a:t>l</a:t>
            </a:r>
            <a:r>
              <a:rPr dirty="0" sz="1600">
                <a:latin typeface="Arial"/>
                <a:cs typeface="Arial"/>
              </a:rPr>
              <a:t>v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s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>
                <a:latin typeface="Arial"/>
                <a:cs typeface="Arial"/>
              </a:rPr>
              <a:t>r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3255969" y="3766204"/>
            <a:ext cx="243840" cy="767715"/>
          </a:xfrm>
          <a:custGeom>
            <a:avLst/>
            <a:gdLst/>
            <a:ahLst/>
            <a:cxnLst/>
            <a:rect l="l" t="t" r="r" b="b"/>
            <a:pathLst>
              <a:path w="243839" h="767714">
                <a:moveTo>
                  <a:pt x="243565" y="121782"/>
                </a:moveTo>
                <a:lnTo>
                  <a:pt x="182673" y="121782"/>
                </a:lnTo>
                <a:lnTo>
                  <a:pt x="182673" y="767435"/>
                </a:lnTo>
                <a:lnTo>
                  <a:pt x="60891" y="767435"/>
                </a:lnTo>
                <a:lnTo>
                  <a:pt x="60891" y="121782"/>
                </a:lnTo>
                <a:lnTo>
                  <a:pt x="0" y="121782"/>
                </a:lnTo>
                <a:lnTo>
                  <a:pt x="121782" y="0"/>
                </a:lnTo>
                <a:lnTo>
                  <a:pt x="243565" y="12178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299229" y="6322752"/>
            <a:ext cx="1464945" cy="542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5" b="1">
                <a:latin typeface="Arial"/>
                <a:cs typeface="Arial"/>
              </a:rPr>
              <a:t>Fulvestrant</a:t>
            </a:r>
            <a:r>
              <a:rPr dirty="0" sz="2000" spc="-5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267335">
              <a:lnSpc>
                <a:spcPct val="100000"/>
              </a:lnSpc>
              <a:spcBef>
                <a:spcPts val="71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2/16/21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70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927" y="356615"/>
            <a:ext cx="7592568" cy="509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3746" y="1351788"/>
            <a:ext cx="84816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 i="0">
                <a:latin typeface="Calibri"/>
                <a:cs typeface="Calibri"/>
              </a:rPr>
              <a:t>How </a:t>
            </a:r>
            <a:r>
              <a:rPr dirty="0" sz="3200" spc="-15" b="1" i="0">
                <a:latin typeface="Calibri"/>
                <a:cs typeface="Calibri"/>
              </a:rPr>
              <a:t>to </a:t>
            </a:r>
            <a:r>
              <a:rPr dirty="0" sz="3200" spc="-20" b="1" i="0">
                <a:latin typeface="Calibri"/>
                <a:cs typeface="Calibri"/>
              </a:rPr>
              <a:t>instantiate </a:t>
            </a:r>
            <a:r>
              <a:rPr dirty="0" sz="3200" b="1" i="0">
                <a:latin typeface="Calibri"/>
                <a:cs typeface="Calibri"/>
              </a:rPr>
              <a:t>a </a:t>
            </a:r>
            <a:r>
              <a:rPr dirty="0" sz="3200" spc="-5" b="1" i="0">
                <a:latin typeface="Calibri"/>
                <a:cs typeface="Calibri"/>
              </a:rPr>
              <a:t>query </a:t>
            </a:r>
            <a:r>
              <a:rPr dirty="0" sz="3200" spc="-15" b="1" i="0">
                <a:latin typeface="Calibri"/>
                <a:cs typeface="Calibri"/>
              </a:rPr>
              <a:t>template </a:t>
            </a:r>
            <a:r>
              <a:rPr dirty="0" sz="3200" spc="-10" b="1" i="0">
                <a:latin typeface="Calibri"/>
                <a:cs typeface="Calibri"/>
              </a:rPr>
              <a:t>given </a:t>
            </a:r>
            <a:r>
              <a:rPr dirty="0" sz="3200" b="1" i="0">
                <a:latin typeface="Calibri"/>
                <a:cs typeface="Calibri"/>
              </a:rPr>
              <a:t>a</a:t>
            </a:r>
            <a:r>
              <a:rPr dirty="0" sz="3200" spc="25" b="1" i="0">
                <a:latin typeface="Calibri"/>
                <a:cs typeface="Calibri"/>
              </a:rPr>
              <a:t> </a:t>
            </a:r>
            <a:r>
              <a:rPr dirty="0" sz="3200" spc="-45" b="1" i="0">
                <a:latin typeface="Calibri"/>
                <a:cs typeface="Calibri"/>
              </a:rPr>
              <a:t>KG?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08738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08738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47822" y="315490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47822" y="315490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08767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08767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07469" y="2671572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C0000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0489" y="253618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0489" y="253618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7482" y="2537708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5" h="161925">
                <a:moveTo>
                  <a:pt x="783077" y="107949"/>
                </a:moveTo>
                <a:lnTo>
                  <a:pt x="782995" y="161925"/>
                </a:lnTo>
                <a:lnTo>
                  <a:pt x="891273" y="107990"/>
                </a:lnTo>
                <a:lnTo>
                  <a:pt x="810064" y="107990"/>
                </a:lnTo>
                <a:lnTo>
                  <a:pt x="783077" y="107949"/>
                </a:lnTo>
                <a:close/>
              </a:path>
              <a:path w="945515" h="161925">
                <a:moveTo>
                  <a:pt x="783158" y="53974"/>
                </a:moveTo>
                <a:lnTo>
                  <a:pt x="783077" y="107949"/>
                </a:lnTo>
                <a:lnTo>
                  <a:pt x="810064" y="107990"/>
                </a:lnTo>
                <a:lnTo>
                  <a:pt x="810146" y="54015"/>
                </a:lnTo>
                <a:lnTo>
                  <a:pt x="783158" y="53974"/>
                </a:lnTo>
                <a:close/>
              </a:path>
              <a:path w="945515" h="161925">
                <a:moveTo>
                  <a:pt x="783240" y="0"/>
                </a:moveTo>
                <a:lnTo>
                  <a:pt x="783158" y="53974"/>
                </a:lnTo>
                <a:lnTo>
                  <a:pt x="810146" y="54015"/>
                </a:lnTo>
                <a:lnTo>
                  <a:pt x="810064" y="107990"/>
                </a:lnTo>
                <a:lnTo>
                  <a:pt x="891273" y="107990"/>
                </a:lnTo>
                <a:lnTo>
                  <a:pt x="945042" y="81207"/>
                </a:lnTo>
                <a:lnTo>
                  <a:pt x="783240" y="0"/>
                </a:lnTo>
                <a:close/>
              </a:path>
              <a:path w="945515" h="161925">
                <a:moveTo>
                  <a:pt x="81" y="52793"/>
                </a:moveTo>
                <a:lnTo>
                  <a:pt x="0" y="106768"/>
                </a:lnTo>
                <a:lnTo>
                  <a:pt x="783077" y="107949"/>
                </a:lnTo>
                <a:lnTo>
                  <a:pt x="783158" y="53974"/>
                </a:lnTo>
                <a:lnTo>
                  <a:pt x="81" y="5279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534685" y="2670470"/>
            <a:ext cx="638175" cy="508634"/>
          </a:xfrm>
          <a:custGeom>
            <a:avLst/>
            <a:gdLst/>
            <a:ahLst/>
            <a:cxnLst/>
            <a:rect l="l" t="t" r="r" b="b"/>
            <a:pathLst>
              <a:path w="638175" h="508635">
                <a:moveTo>
                  <a:pt x="33309" y="0"/>
                </a:moveTo>
                <a:lnTo>
                  <a:pt x="0" y="42470"/>
                </a:lnTo>
                <a:lnTo>
                  <a:pt x="42470" y="75780"/>
                </a:lnTo>
                <a:lnTo>
                  <a:pt x="75780" y="33309"/>
                </a:lnTo>
                <a:lnTo>
                  <a:pt x="33309" y="0"/>
                </a:lnTo>
                <a:close/>
              </a:path>
              <a:path w="638175" h="508635">
                <a:moveTo>
                  <a:pt x="118250" y="66620"/>
                </a:moveTo>
                <a:lnTo>
                  <a:pt x="84940" y="109090"/>
                </a:lnTo>
                <a:lnTo>
                  <a:pt x="127410" y="142401"/>
                </a:lnTo>
                <a:lnTo>
                  <a:pt x="160721" y="99931"/>
                </a:lnTo>
                <a:lnTo>
                  <a:pt x="118250" y="66620"/>
                </a:lnTo>
                <a:close/>
              </a:path>
              <a:path w="638175" h="508635">
                <a:moveTo>
                  <a:pt x="203191" y="133240"/>
                </a:moveTo>
                <a:lnTo>
                  <a:pt x="169881" y="175710"/>
                </a:lnTo>
                <a:lnTo>
                  <a:pt x="212351" y="209021"/>
                </a:lnTo>
                <a:lnTo>
                  <a:pt x="245661" y="166551"/>
                </a:lnTo>
                <a:lnTo>
                  <a:pt x="203191" y="133240"/>
                </a:lnTo>
                <a:close/>
              </a:path>
              <a:path w="638175" h="508635">
                <a:moveTo>
                  <a:pt x="288132" y="199861"/>
                </a:moveTo>
                <a:lnTo>
                  <a:pt x="254821" y="242331"/>
                </a:lnTo>
                <a:lnTo>
                  <a:pt x="297291" y="275642"/>
                </a:lnTo>
                <a:lnTo>
                  <a:pt x="330602" y="233172"/>
                </a:lnTo>
                <a:lnTo>
                  <a:pt x="288132" y="199861"/>
                </a:lnTo>
                <a:close/>
              </a:path>
              <a:path w="638175" h="508635">
                <a:moveTo>
                  <a:pt x="373072" y="266481"/>
                </a:moveTo>
                <a:lnTo>
                  <a:pt x="339761" y="308952"/>
                </a:lnTo>
                <a:lnTo>
                  <a:pt x="382233" y="342262"/>
                </a:lnTo>
                <a:lnTo>
                  <a:pt x="415542" y="299792"/>
                </a:lnTo>
                <a:lnTo>
                  <a:pt x="373072" y="266481"/>
                </a:lnTo>
                <a:close/>
              </a:path>
              <a:path w="638175" h="508635">
                <a:moveTo>
                  <a:pt x="560153" y="344617"/>
                </a:moveTo>
                <a:lnTo>
                  <a:pt x="460222" y="472027"/>
                </a:lnTo>
                <a:lnTo>
                  <a:pt x="637598" y="508252"/>
                </a:lnTo>
                <a:lnTo>
                  <a:pt x="608236" y="446213"/>
                </a:lnTo>
                <a:lnTo>
                  <a:pt x="514767" y="446213"/>
                </a:lnTo>
                <a:lnTo>
                  <a:pt x="509643" y="442193"/>
                </a:lnTo>
                <a:lnTo>
                  <a:pt x="542954" y="399723"/>
                </a:lnTo>
                <a:lnTo>
                  <a:pt x="586234" y="399723"/>
                </a:lnTo>
                <a:lnTo>
                  <a:pt x="560153" y="344617"/>
                </a:lnTo>
                <a:close/>
              </a:path>
              <a:path w="638175" h="508635">
                <a:moveTo>
                  <a:pt x="542954" y="399723"/>
                </a:moveTo>
                <a:lnTo>
                  <a:pt x="509643" y="442193"/>
                </a:lnTo>
                <a:lnTo>
                  <a:pt x="514767" y="446213"/>
                </a:lnTo>
                <a:lnTo>
                  <a:pt x="548078" y="403741"/>
                </a:lnTo>
                <a:lnTo>
                  <a:pt x="542954" y="399723"/>
                </a:lnTo>
                <a:close/>
              </a:path>
              <a:path w="638175" h="508635">
                <a:moveTo>
                  <a:pt x="586234" y="399723"/>
                </a:moveTo>
                <a:lnTo>
                  <a:pt x="542954" y="399723"/>
                </a:lnTo>
                <a:lnTo>
                  <a:pt x="548078" y="403741"/>
                </a:lnTo>
                <a:lnTo>
                  <a:pt x="514767" y="446213"/>
                </a:lnTo>
                <a:lnTo>
                  <a:pt x="608236" y="446213"/>
                </a:lnTo>
                <a:lnTo>
                  <a:pt x="586234" y="399723"/>
                </a:lnTo>
                <a:close/>
              </a:path>
              <a:path w="638175" h="508635">
                <a:moveTo>
                  <a:pt x="458012" y="333101"/>
                </a:moveTo>
                <a:lnTo>
                  <a:pt x="424703" y="375573"/>
                </a:lnTo>
                <a:lnTo>
                  <a:pt x="467173" y="408882"/>
                </a:lnTo>
                <a:lnTo>
                  <a:pt x="500484" y="366412"/>
                </a:lnTo>
                <a:lnTo>
                  <a:pt x="458012" y="3331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75770" y="3616538"/>
            <a:ext cx="955675" cy="161925"/>
          </a:xfrm>
          <a:custGeom>
            <a:avLst/>
            <a:gdLst/>
            <a:ahLst/>
            <a:cxnLst/>
            <a:rect l="l" t="t" r="r" b="b"/>
            <a:pathLst>
              <a:path w="955675" h="161925">
                <a:moveTo>
                  <a:pt x="793352" y="107949"/>
                </a:moveTo>
                <a:lnTo>
                  <a:pt x="793352" y="161925"/>
                </a:lnTo>
                <a:lnTo>
                  <a:pt x="901302" y="107950"/>
                </a:lnTo>
                <a:lnTo>
                  <a:pt x="793352" y="107949"/>
                </a:lnTo>
                <a:close/>
              </a:path>
              <a:path w="955675" h="161925">
                <a:moveTo>
                  <a:pt x="793352" y="53974"/>
                </a:moveTo>
                <a:lnTo>
                  <a:pt x="793352" y="107949"/>
                </a:lnTo>
                <a:lnTo>
                  <a:pt x="820339" y="107950"/>
                </a:lnTo>
                <a:lnTo>
                  <a:pt x="820339" y="53975"/>
                </a:lnTo>
                <a:lnTo>
                  <a:pt x="793352" y="53974"/>
                </a:lnTo>
                <a:close/>
              </a:path>
              <a:path w="955675" h="161925">
                <a:moveTo>
                  <a:pt x="793352" y="0"/>
                </a:moveTo>
                <a:lnTo>
                  <a:pt x="793352" y="53974"/>
                </a:lnTo>
                <a:lnTo>
                  <a:pt x="820339" y="53975"/>
                </a:lnTo>
                <a:lnTo>
                  <a:pt x="820339" y="107950"/>
                </a:lnTo>
                <a:lnTo>
                  <a:pt x="901305" y="107948"/>
                </a:lnTo>
                <a:lnTo>
                  <a:pt x="955277" y="80962"/>
                </a:lnTo>
                <a:lnTo>
                  <a:pt x="793352" y="0"/>
                </a:lnTo>
                <a:close/>
              </a:path>
              <a:path w="955675" h="161925">
                <a:moveTo>
                  <a:pt x="0" y="53973"/>
                </a:moveTo>
                <a:lnTo>
                  <a:pt x="0" y="107948"/>
                </a:lnTo>
                <a:lnTo>
                  <a:pt x="793352" y="107949"/>
                </a:lnTo>
                <a:lnTo>
                  <a:pt x="793352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31047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31047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560106" y="3293708"/>
            <a:ext cx="612775" cy="370205"/>
          </a:xfrm>
          <a:custGeom>
            <a:avLst/>
            <a:gdLst/>
            <a:ahLst/>
            <a:cxnLst/>
            <a:rect l="l" t="t" r="r" b="b"/>
            <a:pathLst>
              <a:path w="612775" h="370204">
                <a:moveTo>
                  <a:pt x="46722" y="295913"/>
                </a:moveTo>
                <a:lnTo>
                  <a:pt x="0" y="322939"/>
                </a:lnTo>
                <a:lnTo>
                  <a:pt x="27026" y="369661"/>
                </a:lnTo>
                <a:lnTo>
                  <a:pt x="73747" y="342634"/>
                </a:lnTo>
                <a:lnTo>
                  <a:pt x="46722" y="295913"/>
                </a:lnTo>
                <a:close/>
              </a:path>
              <a:path w="612775" h="370204">
                <a:moveTo>
                  <a:pt x="140163" y="241861"/>
                </a:moveTo>
                <a:lnTo>
                  <a:pt x="93442" y="268886"/>
                </a:lnTo>
                <a:lnTo>
                  <a:pt x="120469" y="315608"/>
                </a:lnTo>
                <a:lnTo>
                  <a:pt x="167190" y="288582"/>
                </a:lnTo>
                <a:lnTo>
                  <a:pt x="140163" y="241861"/>
                </a:lnTo>
                <a:close/>
              </a:path>
              <a:path w="612775" h="370204">
                <a:moveTo>
                  <a:pt x="233606" y="187808"/>
                </a:moveTo>
                <a:lnTo>
                  <a:pt x="186885" y="214834"/>
                </a:lnTo>
                <a:lnTo>
                  <a:pt x="213911" y="261556"/>
                </a:lnTo>
                <a:lnTo>
                  <a:pt x="260633" y="234529"/>
                </a:lnTo>
                <a:lnTo>
                  <a:pt x="233606" y="187808"/>
                </a:lnTo>
                <a:close/>
              </a:path>
              <a:path w="612775" h="370204">
                <a:moveTo>
                  <a:pt x="327049" y="133756"/>
                </a:moveTo>
                <a:lnTo>
                  <a:pt x="280328" y="160781"/>
                </a:lnTo>
                <a:lnTo>
                  <a:pt x="307353" y="207504"/>
                </a:lnTo>
                <a:lnTo>
                  <a:pt x="354075" y="180477"/>
                </a:lnTo>
                <a:lnTo>
                  <a:pt x="327049" y="133756"/>
                </a:lnTo>
                <a:close/>
              </a:path>
              <a:path w="612775" h="370204">
                <a:moveTo>
                  <a:pt x="420491" y="79703"/>
                </a:moveTo>
                <a:lnTo>
                  <a:pt x="373771" y="106729"/>
                </a:lnTo>
                <a:lnTo>
                  <a:pt x="400796" y="153451"/>
                </a:lnTo>
                <a:lnTo>
                  <a:pt x="447518" y="126424"/>
                </a:lnTo>
                <a:lnTo>
                  <a:pt x="420491" y="79703"/>
                </a:lnTo>
                <a:close/>
              </a:path>
              <a:path w="612775" h="370204">
                <a:moveTo>
                  <a:pt x="612176" y="0"/>
                </a:moveTo>
                <a:lnTo>
                  <a:pt x="431473" y="10996"/>
                </a:lnTo>
                <a:lnTo>
                  <a:pt x="512552" y="151160"/>
                </a:lnTo>
                <a:lnTo>
                  <a:pt x="546666" y="99399"/>
                </a:lnTo>
                <a:lnTo>
                  <a:pt x="494239" y="99399"/>
                </a:lnTo>
                <a:lnTo>
                  <a:pt x="467213" y="52677"/>
                </a:lnTo>
                <a:lnTo>
                  <a:pt x="481860" y="44204"/>
                </a:lnTo>
                <a:lnTo>
                  <a:pt x="583043" y="44204"/>
                </a:lnTo>
                <a:lnTo>
                  <a:pt x="612176" y="0"/>
                </a:lnTo>
                <a:close/>
              </a:path>
              <a:path w="612775" h="370204">
                <a:moveTo>
                  <a:pt x="481860" y="44204"/>
                </a:moveTo>
                <a:lnTo>
                  <a:pt x="467213" y="52677"/>
                </a:lnTo>
                <a:lnTo>
                  <a:pt x="494239" y="99399"/>
                </a:lnTo>
                <a:lnTo>
                  <a:pt x="508887" y="90925"/>
                </a:lnTo>
                <a:lnTo>
                  <a:pt x="481860" y="44204"/>
                </a:lnTo>
                <a:close/>
              </a:path>
              <a:path w="612775" h="370204">
                <a:moveTo>
                  <a:pt x="583043" y="44204"/>
                </a:moveTo>
                <a:lnTo>
                  <a:pt x="481860" y="44204"/>
                </a:lnTo>
                <a:lnTo>
                  <a:pt x="508887" y="90925"/>
                </a:lnTo>
                <a:lnTo>
                  <a:pt x="494239" y="99399"/>
                </a:lnTo>
                <a:lnTo>
                  <a:pt x="546666" y="99399"/>
                </a:lnTo>
                <a:lnTo>
                  <a:pt x="583043" y="44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567361" y="3436620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04148" y="2702051"/>
            <a:ext cx="22586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55725" algn="l"/>
              </a:tabLst>
            </a:pPr>
            <a:r>
              <a:rPr dirty="0" sz="1400" spc="-25">
                <a:solidFill>
                  <a:srgbClr val="548235"/>
                </a:solidFill>
                <a:latin typeface="Arial"/>
                <a:cs typeface="Arial"/>
              </a:rPr>
              <a:t>Projection	</a:t>
            </a:r>
            <a:r>
              <a:rPr dirty="0" baseline="3968" sz="2100" spc="-37">
                <a:latin typeface="Arial"/>
                <a:cs typeface="Arial"/>
              </a:rPr>
              <a:t>Intersection</a:t>
            </a:r>
            <a:endParaRPr baseline="3968" sz="2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47784" y="3512820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00305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1"/>
                </a:lnTo>
                <a:lnTo>
                  <a:pt x="83516" y="162610"/>
                </a:lnTo>
                <a:lnTo>
                  <a:pt x="116024" y="156221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300305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467338" y="2553251"/>
            <a:ext cx="941705" cy="161925"/>
          </a:xfrm>
          <a:custGeom>
            <a:avLst/>
            <a:gdLst/>
            <a:ahLst/>
            <a:cxnLst/>
            <a:rect l="l" t="t" r="r" b="b"/>
            <a:pathLst>
              <a:path w="941705" h="161925">
                <a:moveTo>
                  <a:pt x="779504" y="107949"/>
                </a:moveTo>
                <a:lnTo>
                  <a:pt x="779504" y="161925"/>
                </a:lnTo>
                <a:lnTo>
                  <a:pt x="887454" y="107950"/>
                </a:lnTo>
                <a:lnTo>
                  <a:pt x="779504" y="107949"/>
                </a:lnTo>
                <a:close/>
              </a:path>
              <a:path w="941705" h="161925">
                <a:moveTo>
                  <a:pt x="779504" y="53974"/>
                </a:moveTo>
                <a:lnTo>
                  <a:pt x="779504" y="107949"/>
                </a:lnTo>
                <a:lnTo>
                  <a:pt x="806491" y="107950"/>
                </a:lnTo>
                <a:lnTo>
                  <a:pt x="806491" y="53975"/>
                </a:lnTo>
                <a:lnTo>
                  <a:pt x="779504" y="53974"/>
                </a:lnTo>
                <a:close/>
              </a:path>
              <a:path w="941705" h="161925">
                <a:moveTo>
                  <a:pt x="779504" y="0"/>
                </a:moveTo>
                <a:lnTo>
                  <a:pt x="779504" y="53974"/>
                </a:lnTo>
                <a:lnTo>
                  <a:pt x="806491" y="53975"/>
                </a:lnTo>
                <a:lnTo>
                  <a:pt x="806491" y="107950"/>
                </a:lnTo>
                <a:lnTo>
                  <a:pt x="887456" y="107948"/>
                </a:lnTo>
                <a:lnTo>
                  <a:pt x="941429" y="80962"/>
                </a:lnTo>
                <a:lnTo>
                  <a:pt x="779504" y="0"/>
                </a:lnTo>
                <a:close/>
              </a:path>
              <a:path w="941705" h="161925">
                <a:moveTo>
                  <a:pt x="0" y="53973"/>
                </a:moveTo>
                <a:lnTo>
                  <a:pt x="0" y="107948"/>
                </a:lnTo>
                <a:lnTo>
                  <a:pt x="779504" y="107949"/>
                </a:lnTo>
                <a:lnTo>
                  <a:pt x="779504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606525" y="41472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1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1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5" y="185063"/>
                </a:lnTo>
                <a:lnTo>
                  <a:pt x="213960" y="150604"/>
                </a:lnTo>
                <a:lnTo>
                  <a:pt x="222711" y="108407"/>
                </a:lnTo>
                <a:lnTo>
                  <a:pt x="213960" y="66210"/>
                </a:lnTo>
                <a:lnTo>
                  <a:pt x="190095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606526" y="41472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76200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647498" y="1889251"/>
            <a:ext cx="1981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Knowledge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344786" y="2817210"/>
            <a:ext cx="1249680" cy="1932305"/>
          </a:xfrm>
          <a:custGeom>
            <a:avLst/>
            <a:gdLst/>
            <a:ahLst/>
            <a:cxnLst/>
            <a:rect l="l" t="t" r="r" b="b"/>
            <a:pathLst>
              <a:path w="1249679" h="1932304">
                <a:moveTo>
                  <a:pt x="1171846" y="85901"/>
                </a:moveTo>
                <a:lnTo>
                  <a:pt x="0" y="1911626"/>
                </a:lnTo>
                <a:lnTo>
                  <a:pt x="32063" y="1932205"/>
                </a:lnTo>
                <a:lnTo>
                  <a:pt x="1203910" y="106481"/>
                </a:lnTo>
                <a:lnTo>
                  <a:pt x="1171846" y="85901"/>
                </a:lnTo>
                <a:close/>
              </a:path>
              <a:path w="1249679" h="1932304">
                <a:moveTo>
                  <a:pt x="1242114" y="69871"/>
                </a:moveTo>
                <a:lnTo>
                  <a:pt x="1182135" y="69871"/>
                </a:lnTo>
                <a:lnTo>
                  <a:pt x="1214198" y="90451"/>
                </a:lnTo>
                <a:lnTo>
                  <a:pt x="1203910" y="106481"/>
                </a:lnTo>
                <a:lnTo>
                  <a:pt x="1235972" y="127060"/>
                </a:lnTo>
                <a:lnTo>
                  <a:pt x="1242114" y="69871"/>
                </a:lnTo>
                <a:close/>
              </a:path>
              <a:path w="1249679" h="1932304">
                <a:moveTo>
                  <a:pt x="1182135" y="69871"/>
                </a:moveTo>
                <a:lnTo>
                  <a:pt x="1171846" y="85901"/>
                </a:lnTo>
                <a:lnTo>
                  <a:pt x="1203910" y="106481"/>
                </a:lnTo>
                <a:lnTo>
                  <a:pt x="1214198" y="90451"/>
                </a:lnTo>
                <a:lnTo>
                  <a:pt x="1182135" y="69871"/>
                </a:lnTo>
                <a:close/>
              </a:path>
              <a:path w="1249679" h="1932304">
                <a:moveTo>
                  <a:pt x="1249617" y="0"/>
                </a:moveTo>
                <a:lnTo>
                  <a:pt x="1139783" y="65321"/>
                </a:lnTo>
                <a:lnTo>
                  <a:pt x="1171846" y="85901"/>
                </a:lnTo>
                <a:lnTo>
                  <a:pt x="1182135" y="69871"/>
                </a:lnTo>
                <a:lnTo>
                  <a:pt x="1242114" y="69871"/>
                </a:lnTo>
                <a:lnTo>
                  <a:pt x="1249617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404153" y="4459732"/>
            <a:ext cx="73787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69850" marR="5080" indent="-5715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Short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  Breath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91261" y="4982971"/>
            <a:ext cx="1080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au</a:t>
            </a: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s</a:t>
            </a: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edB</a:t>
            </a: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343984" y="3109467"/>
            <a:ext cx="8153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r</a:t>
            </a:r>
            <a:r>
              <a:rPr dirty="0" sz="1600" spc="-5">
                <a:latin typeface="Arial"/>
                <a:cs typeface="Arial"/>
              </a:rPr>
              <a:t>i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ide</a:t>
            </a:r>
            <a:r>
              <a:rPr dirty="0" sz="160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02466" y="3980179"/>
            <a:ext cx="1071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32355" y="3816603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353733" y="4230772"/>
            <a:ext cx="1249680" cy="526415"/>
          </a:xfrm>
          <a:custGeom>
            <a:avLst/>
            <a:gdLst/>
            <a:ahLst/>
            <a:cxnLst/>
            <a:rect l="l" t="t" r="r" b="b"/>
            <a:pathLst>
              <a:path w="1249679" h="526414">
                <a:moveTo>
                  <a:pt x="1136325" y="35366"/>
                </a:moveTo>
                <a:lnTo>
                  <a:pt x="0" y="490670"/>
                </a:lnTo>
                <a:lnTo>
                  <a:pt x="14170" y="526037"/>
                </a:lnTo>
                <a:lnTo>
                  <a:pt x="1150496" y="70732"/>
                </a:lnTo>
                <a:lnTo>
                  <a:pt x="1136325" y="35366"/>
                </a:lnTo>
                <a:close/>
              </a:path>
              <a:path w="1249679" h="526414">
                <a:moveTo>
                  <a:pt x="1233756" y="28281"/>
                </a:moveTo>
                <a:lnTo>
                  <a:pt x="1154008" y="28281"/>
                </a:lnTo>
                <a:lnTo>
                  <a:pt x="1168179" y="63647"/>
                </a:lnTo>
                <a:lnTo>
                  <a:pt x="1150496" y="70732"/>
                </a:lnTo>
                <a:lnTo>
                  <a:pt x="1164667" y="106099"/>
                </a:lnTo>
                <a:lnTo>
                  <a:pt x="1233756" y="28281"/>
                </a:lnTo>
                <a:close/>
              </a:path>
              <a:path w="1249679" h="526414">
                <a:moveTo>
                  <a:pt x="1154008" y="28281"/>
                </a:moveTo>
                <a:lnTo>
                  <a:pt x="1136325" y="35366"/>
                </a:lnTo>
                <a:lnTo>
                  <a:pt x="1150496" y="70732"/>
                </a:lnTo>
                <a:lnTo>
                  <a:pt x="1168179" y="63647"/>
                </a:lnTo>
                <a:lnTo>
                  <a:pt x="1154008" y="28281"/>
                </a:lnTo>
                <a:close/>
              </a:path>
              <a:path w="1249679" h="526414">
                <a:moveTo>
                  <a:pt x="1122154" y="0"/>
                </a:moveTo>
                <a:lnTo>
                  <a:pt x="1136325" y="35366"/>
                </a:lnTo>
                <a:lnTo>
                  <a:pt x="1154008" y="28281"/>
                </a:lnTo>
                <a:lnTo>
                  <a:pt x="1233756" y="28281"/>
                </a:lnTo>
                <a:lnTo>
                  <a:pt x="1249511" y="10537"/>
                </a:lnTo>
                <a:lnTo>
                  <a:pt x="1122154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358375" y="4720234"/>
            <a:ext cx="1279525" cy="226060"/>
          </a:xfrm>
          <a:custGeom>
            <a:avLst/>
            <a:gdLst/>
            <a:ahLst/>
            <a:cxnLst/>
            <a:rect l="l" t="t" r="r" b="b"/>
            <a:pathLst>
              <a:path w="1279525" h="226060">
                <a:moveTo>
                  <a:pt x="1163322" y="188231"/>
                </a:moveTo>
                <a:lnTo>
                  <a:pt x="1158435" y="226016"/>
                </a:lnTo>
                <a:lnTo>
                  <a:pt x="1259946" y="190675"/>
                </a:lnTo>
                <a:lnTo>
                  <a:pt x="1182216" y="190675"/>
                </a:lnTo>
                <a:lnTo>
                  <a:pt x="1163322" y="188231"/>
                </a:lnTo>
                <a:close/>
              </a:path>
              <a:path w="1279525" h="226060">
                <a:moveTo>
                  <a:pt x="1168209" y="150445"/>
                </a:moveTo>
                <a:lnTo>
                  <a:pt x="1163322" y="188231"/>
                </a:lnTo>
                <a:lnTo>
                  <a:pt x="1182216" y="190675"/>
                </a:lnTo>
                <a:lnTo>
                  <a:pt x="1187103" y="152888"/>
                </a:lnTo>
                <a:lnTo>
                  <a:pt x="1168209" y="150445"/>
                </a:lnTo>
                <a:close/>
              </a:path>
              <a:path w="1279525" h="226060">
                <a:moveTo>
                  <a:pt x="1173096" y="112660"/>
                </a:moveTo>
                <a:lnTo>
                  <a:pt x="1168209" y="150445"/>
                </a:lnTo>
                <a:lnTo>
                  <a:pt x="1187103" y="152888"/>
                </a:lnTo>
                <a:lnTo>
                  <a:pt x="1182216" y="190675"/>
                </a:lnTo>
                <a:lnTo>
                  <a:pt x="1259946" y="190675"/>
                </a:lnTo>
                <a:lnTo>
                  <a:pt x="1279122" y="183998"/>
                </a:lnTo>
                <a:lnTo>
                  <a:pt x="1173096" y="112660"/>
                </a:lnTo>
                <a:close/>
              </a:path>
              <a:path w="1279525" h="226060">
                <a:moveTo>
                  <a:pt x="4885" y="0"/>
                </a:moveTo>
                <a:lnTo>
                  <a:pt x="0" y="37785"/>
                </a:lnTo>
                <a:lnTo>
                  <a:pt x="1163322" y="188231"/>
                </a:lnTo>
                <a:lnTo>
                  <a:pt x="1168209" y="150445"/>
                </a:lnTo>
                <a:lnTo>
                  <a:pt x="4885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628911" y="33624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628911" y="33624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376819" y="4511547"/>
            <a:ext cx="7702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Ke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637498" y="479582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637498" y="479582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4701952" y="3578859"/>
            <a:ext cx="5543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ESR2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28628" y="2767076"/>
            <a:ext cx="648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ss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963475" y="3118611"/>
            <a:ext cx="67945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3302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Breast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123225" y="3430593"/>
            <a:ext cx="1032510" cy="313055"/>
          </a:xfrm>
          <a:custGeom>
            <a:avLst/>
            <a:gdLst/>
            <a:ahLst/>
            <a:cxnLst/>
            <a:rect l="l" t="t" r="r" b="b"/>
            <a:pathLst>
              <a:path w="1032510" h="313054">
                <a:moveTo>
                  <a:pt x="916774" y="275689"/>
                </a:moveTo>
                <a:lnTo>
                  <a:pt x="907169" y="312558"/>
                </a:lnTo>
                <a:lnTo>
                  <a:pt x="1032184" y="286067"/>
                </a:lnTo>
                <a:lnTo>
                  <a:pt x="1025807" y="280490"/>
                </a:lnTo>
                <a:lnTo>
                  <a:pt x="935207" y="280490"/>
                </a:lnTo>
                <a:lnTo>
                  <a:pt x="916774" y="275689"/>
                </a:lnTo>
                <a:close/>
              </a:path>
              <a:path w="1032510" h="313054">
                <a:moveTo>
                  <a:pt x="926379" y="238818"/>
                </a:moveTo>
                <a:lnTo>
                  <a:pt x="916774" y="275689"/>
                </a:lnTo>
                <a:lnTo>
                  <a:pt x="935207" y="280490"/>
                </a:lnTo>
                <a:lnTo>
                  <a:pt x="944812" y="243620"/>
                </a:lnTo>
                <a:lnTo>
                  <a:pt x="926379" y="238818"/>
                </a:lnTo>
                <a:close/>
              </a:path>
              <a:path w="1032510" h="313054">
                <a:moveTo>
                  <a:pt x="935983" y="201949"/>
                </a:moveTo>
                <a:lnTo>
                  <a:pt x="926379" y="238818"/>
                </a:lnTo>
                <a:lnTo>
                  <a:pt x="944812" y="243620"/>
                </a:lnTo>
                <a:lnTo>
                  <a:pt x="935207" y="280490"/>
                </a:lnTo>
                <a:lnTo>
                  <a:pt x="1025807" y="280490"/>
                </a:lnTo>
                <a:lnTo>
                  <a:pt x="935983" y="201949"/>
                </a:lnTo>
                <a:close/>
              </a:path>
              <a:path w="1032510" h="313054">
                <a:moveTo>
                  <a:pt x="9603" y="0"/>
                </a:moveTo>
                <a:lnTo>
                  <a:pt x="0" y="36869"/>
                </a:lnTo>
                <a:lnTo>
                  <a:pt x="916774" y="275689"/>
                </a:lnTo>
                <a:lnTo>
                  <a:pt x="926379" y="238818"/>
                </a:lnTo>
                <a:lnTo>
                  <a:pt x="960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155410" y="36082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155410" y="36082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76200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374447" y="3436808"/>
            <a:ext cx="1254760" cy="299085"/>
          </a:xfrm>
          <a:custGeom>
            <a:avLst/>
            <a:gdLst/>
            <a:ahLst/>
            <a:cxnLst/>
            <a:rect l="l" t="t" r="r" b="b"/>
            <a:pathLst>
              <a:path w="1254759" h="299085">
                <a:moveTo>
                  <a:pt x="1138635" y="37385"/>
                </a:moveTo>
                <a:lnTo>
                  <a:pt x="0" y="261160"/>
                </a:lnTo>
                <a:lnTo>
                  <a:pt x="7346" y="298545"/>
                </a:lnTo>
                <a:lnTo>
                  <a:pt x="1145982" y="74770"/>
                </a:lnTo>
                <a:lnTo>
                  <a:pt x="1138635" y="37385"/>
                </a:lnTo>
                <a:close/>
              </a:path>
              <a:path w="1254759" h="299085">
                <a:moveTo>
                  <a:pt x="1253292" y="33712"/>
                </a:moveTo>
                <a:lnTo>
                  <a:pt x="1157328" y="33712"/>
                </a:lnTo>
                <a:lnTo>
                  <a:pt x="1164675" y="71097"/>
                </a:lnTo>
                <a:lnTo>
                  <a:pt x="1145982" y="74770"/>
                </a:lnTo>
                <a:lnTo>
                  <a:pt x="1153330" y="112154"/>
                </a:lnTo>
                <a:lnTo>
                  <a:pt x="1254464" y="34036"/>
                </a:lnTo>
                <a:lnTo>
                  <a:pt x="1253292" y="33712"/>
                </a:lnTo>
                <a:close/>
              </a:path>
              <a:path w="1254759" h="299085">
                <a:moveTo>
                  <a:pt x="1157328" y="33712"/>
                </a:moveTo>
                <a:lnTo>
                  <a:pt x="1138635" y="37385"/>
                </a:lnTo>
                <a:lnTo>
                  <a:pt x="1145982" y="74770"/>
                </a:lnTo>
                <a:lnTo>
                  <a:pt x="1164675" y="71097"/>
                </a:lnTo>
                <a:lnTo>
                  <a:pt x="1157328" y="33712"/>
                </a:lnTo>
                <a:close/>
              </a:path>
              <a:path w="1254759" h="299085">
                <a:moveTo>
                  <a:pt x="1131288" y="0"/>
                </a:moveTo>
                <a:lnTo>
                  <a:pt x="1138635" y="37385"/>
                </a:lnTo>
                <a:lnTo>
                  <a:pt x="1157328" y="33712"/>
                </a:lnTo>
                <a:lnTo>
                  <a:pt x="1253292" y="33712"/>
                </a:lnTo>
                <a:lnTo>
                  <a:pt x="1131288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363121" y="3681637"/>
            <a:ext cx="1240155" cy="575310"/>
          </a:xfrm>
          <a:custGeom>
            <a:avLst/>
            <a:gdLst/>
            <a:ahLst/>
            <a:cxnLst/>
            <a:rect l="l" t="t" r="r" b="b"/>
            <a:pathLst>
              <a:path w="1240154" h="575310">
                <a:moveTo>
                  <a:pt x="1014982" y="504704"/>
                </a:moveTo>
                <a:lnTo>
                  <a:pt x="984985" y="574752"/>
                </a:lnTo>
                <a:lnTo>
                  <a:pt x="1240123" y="559672"/>
                </a:lnTo>
                <a:lnTo>
                  <a:pt x="1206283" y="519703"/>
                </a:lnTo>
                <a:lnTo>
                  <a:pt x="1050005" y="519703"/>
                </a:lnTo>
                <a:lnTo>
                  <a:pt x="1014982" y="504704"/>
                </a:lnTo>
                <a:close/>
              </a:path>
              <a:path w="1240154" h="575310">
                <a:moveTo>
                  <a:pt x="1044980" y="434657"/>
                </a:moveTo>
                <a:lnTo>
                  <a:pt x="1014982" y="504704"/>
                </a:lnTo>
                <a:lnTo>
                  <a:pt x="1050005" y="519703"/>
                </a:lnTo>
                <a:lnTo>
                  <a:pt x="1080002" y="449656"/>
                </a:lnTo>
                <a:lnTo>
                  <a:pt x="1044980" y="434657"/>
                </a:lnTo>
                <a:close/>
              </a:path>
              <a:path w="1240154" h="575310">
                <a:moveTo>
                  <a:pt x="1074977" y="364610"/>
                </a:moveTo>
                <a:lnTo>
                  <a:pt x="1044980" y="434657"/>
                </a:lnTo>
                <a:lnTo>
                  <a:pt x="1080002" y="449656"/>
                </a:lnTo>
                <a:lnTo>
                  <a:pt x="1050005" y="519703"/>
                </a:lnTo>
                <a:lnTo>
                  <a:pt x="1206283" y="519703"/>
                </a:lnTo>
                <a:lnTo>
                  <a:pt x="1074977" y="364610"/>
                </a:lnTo>
                <a:close/>
              </a:path>
              <a:path w="1240154" h="575310">
                <a:moveTo>
                  <a:pt x="29997" y="0"/>
                </a:moveTo>
                <a:lnTo>
                  <a:pt x="0" y="70046"/>
                </a:lnTo>
                <a:lnTo>
                  <a:pt x="1014982" y="504704"/>
                </a:lnTo>
                <a:lnTo>
                  <a:pt x="1044980" y="434657"/>
                </a:lnTo>
                <a:lnTo>
                  <a:pt x="29997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101166" y="267410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69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101165" y="267410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69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5909738" y="2170683"/>
            <a:ext cx="67945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16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Lung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216533" y="2429764"/>
            <a:ext cx="89344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Pa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10">
                <a:latin typeface="Arial"/>
                <a:cs typeface="Arial"/>
              </a:rPr>
              <a:t>li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x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l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117263" y="2782516"/>
            <a:ext cx="984250" cy="682625"/>
          </a:xfrm>
          <a:custGeom>
            <a:avLst/>
            <a:gdLst/>
            <a:ahLst/>
            <a:cxnLst/>
            <a:rect l="l" t="t" r="r" b="b"/>
            <a:pathLst>
              <a:path w="984250" h="682625">
                <a:moveTo>
                  <a:pt x="878836" y="48871"/>
                </a:moveTo>
                <a:lnTo>
                  <a:pt x="0" y="650794"/>
                </a:lnTo>
                <a:lnTo>
                  <a:pt x="21529" y="682228"/>
                </a:lnTo>
                <a:lnTo>
                  <a:pt x="900366" y="80305"/>
                </a:lnTo>
                <a:lnTo>
                  <a:pt x="878836" y="48871"/>
                </a:lnTo>
                <a:close/>
              </a:path>
              <a:path w="984250" h="682625">
                <a:moveTo>
                  <a:pt x="962756" y="38106"/>
                </a:moveTo>
                <a:lnTo>
                  <a:pt x="894553" y="38106"/>
                </a:lnTo>
                <a:lnTo>
                  <a:pt x="916082" y="69541"/>
                </a:lnTo>
                <a:lnTo>
                  <a:pt x="900366" y="80305"/>
                </a:lnTo>
                <a:lnTo>
                  <a:pt x="921895" y="111739"/>
                </a:lnTo>
                <a:lnTo>
                  <a:pt x="962756" y="38106"/>
                </a:lnTo>
                <a:close/>
              </a:path>
              <a:path w="984250" h="682625">
                <a:moveTo>
                  <a:pt x="894553" y="38106"/>
                </a:moveTo>
                <a:lnTo>
                  <a:pt x="878836" y="48871"/>
                </a:lnTo>
                <a:lnTo>
                  <a:pt x="900366" y="80305"/>
                </a:lnTo>
                <a:lnTo>
                  <a:pt x="916082" y="69541"/>
                </a:lnTo>
                <a:lnTo>
                  <a:pt x="894553" y="38106"/>
                </a:lnTo>
                <a:close/>
              </a:path>
              <a:path w="984250" h="682625">
                <a:moveTo>
                  <a:pt x="983903" y="0"/>
                </a:moveTo>
                <a:lnTo>
                  <a:pt x="857307" y="17437"/>
                </a:lnTo>
                <a:lnTo>
                  <a:pt x="878836" y="48871"/>
                </a:lnTo>
                <a:lnTo>
                  <a:pt x="894553" y="38106"/>
                </a:lnTo>
                <a:lnTo>
                  <a:pt x="962756" y="38106"/>
                </a:lnTo>
                <a:lnTo>
                  <a:pt x="98390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323356" y="2756961"/>
            <a:ext cx="1271270" cy="114300"/>
          </a:xfrm>
          <a:custGeom>
            <a:avLst/>
            <a:gdLst/>
            <a:ahLst/>
            <a:cxnLst/>
            <a:rect l="l" t="t" r="r" b="b"/>
            <a:pathLst>
              <a:path w="1271270" h="114300">
                <a:moveTo>
                  <a:pt x="1158350" y="0"/>
                </a:moveTo>
                <a:lnTo>
                  <a:pt x="1157310" y="38086"/>
                </a:lnTo>
                <a:lnTo>
                  <a:pt x="1176351" y="38606"/>
                </a:lnTo>
                <a:lnTo>
                  <a:pt x="1175311" y="76691"/>
                </a:lnTo>
                <a:lnTo>
                  <a:pt x="1156256" y="76691"/>
                </a:lnTo>
                <a:lnTo>
                  <a:pt x="1155230" y="114258"/>
                </a:lnTo>
                <a:lnTo>
                  <a:pt x="1235788" y="76691"/>
                </a:lnTo>
                <a:lnTo>
                  <a:pt x="1175311" y="76691"/>
                </a:lnTo>
                <a:lnTo>
                  <a:pt x="1156270" y="76171"/>
                </a:lnTo>
                <a:lnTo>
                  <a:pt x="1236902" y="76171"/>
                </a:lnTo>
                <a:lnTo>
                  <a:pt x="1271047" y="60248"/>
                </a:lnTo>
                <a:lnTo>
                  <a:pt x="1158350" y="0"/>
                </a:lnTo>
                <a:close/>
              </a:path>
              <a:path w="1271270" h="114300">
                <a:moveTo>
                  <a:pt x="1157310" y="38086"/>
                </a:moveTo>
                <a:lnTo>
                  <a:pt x="1156270" y="76171"/>
                </a:lnTo>
                <a:lnTo>
                  <a:pt x="1175311" y="76691"/>
                </a:lnTo>
                <a:lnTo>
                  <a:pt x="1176351" y="38606"/>
                </a:lnTo>
                <a:lnTo>
                  <a:pt x="1157310" y="38086"/>
                </a:lnTo>
                <a:close/>
              </a:path>
              <a:path w="1271270" h="114300">
                <a:moveTo>
                  <a:pt x="1040" y="6512"/>
                </a:moveTo>
                <a:lnTo>
                  <a:pt x="0" y="44598"/>
                </a:lnTo>
                <a:lnTo>
                  <a:pt x="1156270" y="76171"/>
                </a:lnTo>
                <a:lnTo>
                  <a:pt x="1157310" y="38086"/>
                </a:lnTo>
                <a:lnTo>
                  <a:pt x="1040" y="6512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577101" y="275707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69">
                <a:moveTo>
                  <a:pt x="111356" y="0"/>
                </a:moveTo>
                <a:lnTo>
                  <a:pt x="68011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1" y="208296"/>
                </a:lnTo>
                <a:lnTo>
                  <a:pt x="111356" y="216815"/>
                </a:lnTo>
                <a:lnTo>
                  <a:pt x="154700" y="208296"/>
                </a:lnTo>
                <a:lnTo>
                  <a:pt x="190095" y="185063"/>
                </a:lnTo>
                <a:lnTo>
                  <a:pt x="213960" y="150604"/>
                </a:lnTo>
                <a:lnTo>
                  <a:pt x="222711" y="108407"/>
                </a:lnTo>
                <a:lnTo>
                  <a:pt x="213960" y="66210"/>
                </a:lnTo>
                <a:lnTo>
                  <a:pt x="190095" y="31751"/>
                </a:lnTo>
                <a:lnTo>
                  <a:pt x="154700" y="8519"/>
                </a:lnTo>
                <a:lnTo>
                  <a:pt x="11135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577102" y="275707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69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155410" y="461815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155410" y="461815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913969" y="332695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913968" y="332695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3428052" y="3078988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077136" y="3795267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42654" y="2014220"/>
            <a:ext cx="3348990" cy="734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85420">
              <a:lnSpc>
                <a:spcPts val="2120"/>
              </a:lnSpc>
              <a:spcBef>
                <a:spcPts val="100"/>
              </a:spcBef>
            </a:pPr>
            <a:r>
              <a:rPr dirty="0" sz="1800" b="1">
                <a:solidFill>
                  <a:srgbClr val="7030A0"/>
                </a:solidFill>
                <a:latin typeface="Arial"/>
                <a:cs typeface="Arial"/>
              </a:rPr>
              <a:t>Query</a:t>
            </a:r>
            <a:r>
              <a:rPr dirty="0" sz="1800" spc="-100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7030A0"/>
                </a:solidFill>
                <a:latin typeface="Arial"/>
                <a:cs typeface="Arial"/>
              </a:rPr>
              <a:t>Template</a:t>
            </a:r>
            <a:endParaRPr sz="1800">
              <a:latin typeface="Arial"/>
              <a:cs typeface="Arial"/>
            </a:endParaRPr>
          </a:p>
          <a:p>
            <a:pPr algn="ctr" marR="186055">
              <a:lnSpc>
                <a:spcPts val="1590"/>
              </a:lnSpc>
            </a:pPr>
            <a:r>
              <a:rPr dirty="0" sz="1400" spc="-5" b="1">
                <a:latin typeface="Corbel"/>
                <a:cs typeface="Corbel"/>
              </a:rPr>
              <a:t>((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Anchor1</a:t>
            </a:r>
            <a:r>
              <a:rPr dirty="0" sz="1400" spc="-5" b="1">
                <a:latin typeface="Corbel"/>
                <a:cs typeface="Corbel"/>
              </a:rPr>
              <a:t>,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C00000"/>
                </a:solidFill>
                <a:latin typeface="Corbel"/>
                <a:cs typeface="Corbel"/>
              </a:rPr>
              <a:t>Rel1, </a:t>
            </a:r>
            <a:r>
              <a:rPr dirty="0" sz="1400" spc="-10" b="1">
                <a:solidFill>
                  <a:srgbClr val="479249"/>
                </a:solidFill>
                <a:latin typeface="Corbel"/>
                <a:cs typeface="Corbel"/>
              </a:rPr>
              <a:t>Rel2</a:t>
            </a:r>
            <a:r>
              <a:rPr dirty="0" sz="1400" spc="-10" b="1">
                <a:latin typeface="Corbel"/>
                <a:cs typeface="Corbel"/>
              </a:rPr>
              <a:t>)), </a:t>
            </a:r>
            <a:r>
              <a:rPr dirty="0" sz="1400" spc="-5" b="1">
                <a:latin typeface="Corbel"/>
                <a:cs typeface="Corbel"/>
              </a:rPr>
              <a:t>(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Anchor2</a:t>
            </a:r>
            <a:r>
              <a:rPr dirty="0" sz="1400" spc="-5" b="1">
                <a:latin typeface="Corbel"/>
                <a:cs typeface="Corbel"/>
              </a:rPr>
              <a:t>,</a:t>
            </a:r>
            <a:r>
              <a:rPr dirty="0" sz="1400" spc="-5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B48200"/>
                </a:solidFill>
                <a:latin typeface="Corbel"/>
                <a:cs typeface="Corbel"/>
              </a:rPr>
              <a:t>Rel3</a:t>
            </a:r>
            <a:r>
              <a:rPr dirty="0" sz="1400" spc="-10" b="1">
                <a:latin typeface="Corbel"/>
                <a:cs typeface="Corbel"/>
              </a:rPr>
              <a:t>))</a:t>
            </a:r>
            <a:endParaRPr sz="1400">
              <a:latin typeface="Corbel"/>
              <a:cs typeface="Corbel"/>
            </a:endParaRPr>
          </a:p>
          <a:p>
            <a:pPr algn="r" marR="5080">
              <a:lnSpc>
                <a:spcPts val="1870"/>
              </a:lnSpc>
            </a:pPr>
            <a:r>
              <a:rPr dirty="0" sz="1600" spc="-5">
                <a:latin typeface="Arial"/>
                <a:cs typeface="Arial"/>
              </a:rPr>
              <a:t>Fu</a:t>
            </a:r>
            <a:r>
              <a:rPr dirty="0" sz="1600" spc="-10">
                <a:latin typeface="Arial"/>
                <a:cs typeface="Arial"/>
              </a:rPr>
              <a:t>l</a:t>
            </a:r>
            <a:r>
              <a:rPr dirty="0" sz="1600">
                <a:latin typeface="Arial"/>
                <a:cs typeface="Arial"/>
              </a:rPr>
              <a:t>v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s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>
                <a:latin typeface="Arial"/>
                <a:cs typeface="Arial"/>
              </a:rPr>
              <a:t>r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95953" y="4844796"/>
            <a:ext cx="473710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latin typeface="Arial"/>
                <a:cs typeface="Arial"/>
              </a:rPr>
              <a:t>We </a:t>
            </a:r>
            <a:r>
              <a:rPr dirty="0" sz="2000" spc="-5">
                <a:latin typeface="Arial"/>
                <a:cs typeface="Arial"/>
              </a:rPr>
              <a:t>instantiate the </a:t>
            </a:r>
            <a:r>
              <a:rPr dirty="0" sz="2000" spc="-5" b="1">
                <a:solidFill>
                  <a:srgbClr val="479249"/>
                </a:solidFill>
                <a:latin typeface="Arial"/>
                <a:cs typeface="Arial"/>
              </a:rPr>
              <a:t>Projection edge </a:t>
            </a:r>
            <a:r>
              <a:rPr dirty="0" sz="2000">
                <a:latin typeface="Arial"/>
                <a:cs typeface="Arial"/>
              </a:rPr>
              <a:t>in </a:t>
            </a:r>
            <a:r>
              <a:rPr dirty="0" sz="2000" spc="-5">
                <a:latin typeface="Arial"/>
                <a:cs typeface="Arial"/>
              </a:rPr>
              <a:t>the  template </a:t>
            </a:r>
            <a:r>
              <a:rPr dirty="0" sz="2000">
                <a:latin typeface="Arial"/>
                <a:cs typeface="Arial"/>
              </a:rPr>
              <a:t>by </a:t>
            </a:r>
            <a:r>
              <a:rPr dirty="0" sz="2000" spc="-5">
                <a:latin typeface="Arial"/>
                <a:cs typeface="Arial"/>
              </a:rPr>
              <a:t>randomly sample </a:t>
            </a:r>
            <a:r>
              <a:rPr dirty="0" sz="2000">
                <a:latin typeface="Arial"/>
                <a:cs typeface="Arial"/>
              </a:rPr>
              <a:t>one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relation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95953" y="5454396"/>
            <a:ext cx="545782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Arial"/>
                <a:cs typeface="Arial"/>
              </a:rPr>
              <a:t>associated with the current entity </a:t>
            </a:r>
            <a:r>
              <a:rPr dirty="0" sz="2000" spc="-5" b="1">
                <a:latin typeface="Arial"/>
                <a:cs typeface="Arial"/>
              </a:rPr>
              <a:t>Fulvestrant</a:t>
            </a:r>
            <a:r>
              <a:rPr dirty="0" sz="2000" spc="-5">
                <a:latin typeface="Arial"/>
                <a:cs typeface="Arial"/>
              </a:rPr>
              <a:t>.  </a:t>
            </a:r>
            <a:r>
              <a:rPr dirty="0" sz="2000">
                <a:latin typeface="Arial"/>
                <a:cs typeface="Arial"/>
              </a:rPr>
              <a:t>For </a:t>
            </a:r>
            <a:r>
              <a:rPr dirty="0" sz="2000" spc="-5">
                <a:latin typeface="Arial"/>
                <a:cs typeface="Arial"/>
              </a:rPr>
              <a:t>example, </a:t>
            </a:r>
            <a:r>
              <a:rPr dirty="0" sz="2000">
                <a:latin typeface="Arial"/>
                <a:cs typeface="Arial"/>
              </a:rPr>
              <a:t>we </a:t>
            </a:r>
            <a:r>
              <a:rPr dirty="0" sz="2000" spc="-5">
                <a:latin typeface="Arial"/>
                <a:cs typeface="Arial"/>
              </a:rPr>
              <a:t>may </a:t>
            </a:r>
            <a:r>
              <a:rPr dirty="0" sz="2000">
                <a:latin typeface="Arial"/>
                <a:cs typeface="Arial"/>
              </a:rPr>
              <a:t>select </a:t>
            </a:r>
            <a:r>
              <a:rPr dirty="0" sz="2000" spc="-5">
                <a:latin typeface="Arial"/>
                <a:cs typeface="Arial"/>
              </a:rPr>
              <a:t>relation </a:t>
            </a:r>
            <a:r>
              <a:rPr dirty="0" sz="2000" spc="-15" b="1">
                <a:solidFill>
                  <a:srgbClr val="479249"/>
                </a:solidFill>
                <a:latin typeface="Arial"/>
                <a:cs typeface="Arial"/>
              </a:rPr>
              <a:t>TreatedBy</a:t>
            </a:r>
            <a:r>
              <a:rPr dirty="0" sz="2000" spc="-15">
                <a:latin typeface="Arial"/>
                <a:cs typeface="Arial"/>
              </a:rPr>
              <a:t>,  </a:t>
            </a:r>
            <a:r>
              <a:rPr dirty="0" sz="2000">
                <a:latin typeface="Arial"/>
                <a:cs typeface="Arial"/>
              </a:rPr>
              <a:t>and check what </a:t>
            </a:r>
            <a:r>
              <a:rPr dirty="0" sz="2000" spc="-5">
                <a:latin typeface="Arial"/>
                <a:cs typeface="Arial"/>
              </a:rPr>
              <a:t>entities are connected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to</a:t>
            </a:r>
            <a:endParaRPr sz="20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617017" y="2980443"/>
            <a:ext cx="223520" cy="1167130"/>
          </a:xfrm>
          <a:custGeom>
            <a:avLst/>
            <a:gdLst/>
            <a:ahLst/>
            <a:cxnLst/>
            <a:rect l="l" t="t" r="r" b="b"/>
            <a:pathLst>
              <a:path w="223519" h="1167129">
                <a:moveTo>
                  <a:pt x="223475" y="111737"/>
                </a:moveTo>
                <a:lnTo>
                  <a:pt x="167606" y="111737"/>
                </a:lnTo>
                <a:lnTo>
                  <a:pt x="167606" y="1166806"/>
                </a:lnTo>
                <a:lnTo>
                  <a:pt x="55868" y="1166806"/>
                </a:lnTo>
                <a:lnTo>
                  <a:pt x="55868" y="111737"/>
                </a:lnTo>
                <a:lnTo>
                  <a:pt x="0" y="111737"/>
                </a:lnTo>
                <a:lnTo>
                  <a:pt x="111737" y="0"/>
                </a:lnTo>
                <a:lnTo>
                  <a:pt x="223475" y="111737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244306" y="4245355"/>
            <a:ext cx="1071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479249"/>
                </a:solidFill>
                <a:latin typeface="Arial"/>
                <a:cs typeface="Arial"/>
              </a:rPr>
              <a:t>TreatedBy</a:t>
            </a:r>
            <a:endParaRPr sz="18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95953" y="6392856"/>
            <a:ext cx="531558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5" b="1">
                <a:latin typeface="Arial"/>
                <a:cs typeface="Arial"/>
              </a:rPr>
              <a:t>Fulvestrant </a:t>
            </a:r>
            <a:r>
              <a:rPr dirty="0" sz="2000" spc="-5">
                <a:latin typeface="Arial"/>
                <a:cs typeface="Arial"/>
              </a:rPr>
              <a:t>with </a:t>
            </a:r>
            <a:r>
              <a:rPr dirty="0" sz="2000" spc="-15" b="1">
                <a:solidFill>
                  <a:srgbClr val="479249"/>
                </a:solidFill>
                <a:latin typeface="Arial"/>
                <a:cs typeface="Arial"/>
              </a:rPr>
              <a:t>TreatedBy</a:t>
            </a:r>
            <a:r>
              <a:rPr dirty="0" sz="2000" spc="-15">
                <a:latin typeface="Arial"/>
                <a:cs typeface="Arial"/>
              </a:rPr>
              <a:t>: </a:t>
            </a:r>
            <a:r>
              <a:rPr dirty="0" sz="2000" spc="-5">
                <a:latin typeface="Arial"/>
                <a:cs typeface="Arial"/>
              </a:rPr>
              <a:t>{</a:t>
            </a:r>
            <a:r>
              <a:rPr dirty="0" sz="2000" spc="-5" b="1">
                <a:latin typeface="Arial"/>
                <a:cs typeface="Arial"/>
              </a:rPr>
              <a:t>Breast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Cancer</a:t>
            </a:r>
            <a:r>
              <a:rPr dirty="0" sz="2000" spc="-5">
                <a:latin typeface="Arial"/>
                <a:cs typeface="Arial"/>
              </a:rPr>
              <a:t>}.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9" name="object 6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70" name="object 7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71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927" y="356615"/>
            <a:ext cx="7592568" cy="509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3746" y="1351788"/>
            <a:ext cx="84816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 i="0">
                <a:latin typeface="Calibri"/>
                <a:cs typeface="Calibri"/>
              </a:rPr>
              <a:t>How </a:t>
            </a:r>
            <a:r>
              <a:rPr dirty="0" sz="3200" spc="-15" b="1" i="0">
                <a:latin typeface="Calibri"/>
                <a:cs typeface="Calibri"/>
              </a:rPr>
              <a:t>to </a:t>
            </a:r>
            <a:r>
              <a:rPr dirty="0" sz="3200" spc="-20" b="1" i="0">
                <a:latin typeface="Calibri"/>
                <a:cs typeface="Calibri"/>
              </a:rPr>
              <a:t>instantiate </a:t>
            </a:r>
            <a:r>
              <a:rPr dirty="0" sz="3200" b="1" i="0">
                <a:latin typeface="Calibri"/>
                <a:cs typeface="Calibri"/>
              </a:rPr>
              <a:t>a </a:t>
            </a:r>
            <a:r>
              <a:rPr dirty="0" sz="3200" spc="-5" b="1" i="0">
                <a:latin typeface="Calibri"/>
                <a:cs typeface="Calibri"/>
              </a:rPr>
              <a:t>query </a:t>
            </a:r>
            <a:r>
              <a:rPr dirty="0" sz="3200" spc="-15" b="1" i="0">
                <a:latin typeface="Calibri"/>
                <a:cs typeface="Calibri"/>
              </a:rPr>
              <a:t>template </a:t>
            </a:r>
            <a:r>
              <a:rPr dirty="0" sz="3200" spc="-10" b="1" i="0">
                <a:latin typeface="Calibri"/>
                <a:cs typeface="Calibri"/>
              </a:rPr>
              <a:t>given </a:t>
            </a:r>
            <a:r>
              <a:rPr dirty="0" sz="3200" b="1" i="0">
                <a:latin typeface="Calibri"/>
                <a:cs typeface="Calibri"/>
              </a:rPr>
              <a:t>a</a:t>
            </a:r>
            <a:r>
              <a:rPr dirty="0" sz="3200" spc="25" b="1" i="0">
                <a:latin typeface="Calibri"/>
                <a:cs typeface="Calibri"/>
              </a:rPr>
              <a:t> </a:t>
            </a:r>
            <a:r>
              <a:rPr dirty="0" sz="3200" spc="-45" b="1" i="0">
                <a:latin typeface="Calibri"/>
                <a:cs typeface="Calibri"/>
              </a:rPr>
              <a:t>KG?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08738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08738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47822" y="315490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47822" y="315490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08767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08767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07469" y="2671572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C0000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0489" y="253618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0489" y="253618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7482" y="2537708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5" h="161925">
                <a:moveTo>
                  <a:pt x="783077" y="107949"/>
                </a:moveTo>
                <a:lnTo>
                  <a:pt x="782995" y="161925"/>
                </a:lnTo>
                <a:lnTo>
                  <a:pt x="891273" y="107990"/>
                </a:lnTo>
                <a:lnTo>
                  <a:pt x="810064" y="107990"/>
                </a:lnTo>
                <a:lnTo>
                  <a:pt x="783077" y="107949"/>
                </a:lnTo>
                <a:close/>
              </a:path>
              <a:path w="945515" h="161925">
                <a:moveTo>
                  <a:pt x="783158" y="53974"/>
                </a:moveTo>
                <a:lnTo>
                  <a:pt x="783077" y="107949"/>
                </a:lnTo>
                <a:lnTo>
                  <a:pt x="810064" y="107990"/>
                </a:lnTo>
                <a:lnTo>
                  <a:pt x="810146" y="54015"/>
                </a:lnTo>
                <a:lnTo>
                  <a:pt x="783158" y="53974"/>
                </a:lnTo>
                <a:close/>
              </a:path>
              <a:path w="945515" h="161925">
                <a:moveTo>
                  <a:pt x="783240" y="0"/>
                </a:moveTo>
                <a:lnTo>
                  <a:pt x="783158" y="53974"/>
                </a:lnTo>
                <a:lnTo>
                  <a:pt x="810146" y="54015"/>
                </a:lnTo>
                <a:lnTo>
                  <a:pt x="810064" y="107990"/>
                </a:lnTo>
                <a:lnTo>
                  <a:pt x="891273" y="107990"/>
                </a:lnTo>
                <a:lnTo>
                  <a:pt x="945042" y="81207"/>
                </a:lnTo>
                <a:lnTo>
                  <a:pt x="783240" y="0"/>
                </a:lnTo>
                <a:close/>
              </a:path>
              <a:path w="945515" h="161925">
                <a:moveTo>
                  <a:pt x="81" y="52793"/>
                </a:moveTo>
                <a:lnTo>
                  <a:pt x="0" y="106768"/>
                </a:lnTo>
                <a:lnTo>
                  <a:pt x="783077" y="107949"/>
                </a:lnTo>
                <a:lnTo>
                  <a:pt x="783158" y="53974"/>
                </a:lnTo>
                <a:lnTo>
                  <a:pt x="81" y="5279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534685" y="2670470"/>
            <a:ext cx="638175" cy="508634"/>
          </a:xfrm>
          <a:custGeom>
            <a:avLst/>
            <a:gdLst/>
            <a:ahLst/>
            <a:cxnLst/>
            <a:rect l="l" t="t" r="r" b="b"/>
            <a:pathLst>
              <a:path w="638175" h="508635">
                <a:moveTo>
                  <a:pt x="33309" y="0"/>
                </a:moveTo>
                <a:lnTo>
                  <a:pt x="0" y="42470"/>
                </a:lnTo>
                <a:lnTo>
                  <a:pt x="42470" y="75780"/>
                </a:lnTo>
                <a:lnTo>
                  <a:pt x="75780" y="33309"/>
                </a:lnTo>
                <a:lnTo>
                  <a:pt x="33309" y="0"/>
                </a:lnTo>
                <a:close/>
              </a:path>
              <a:path w="638175" h="508635">
                <a:moveTo>
                  <a:pt x="118250" y="66620"/>
                </a:moveTo>
                <a:lnTo>
                  <a:pt x="84940" y="109090"/>
                </a:lnTo>
                <a:lnTo>
                  <a:pt x="127410" y="142401"/>
                </a:lnTo>
                <a:lnTo>
                  <a:pt x="160721" y="99931"/>
                </a:lnTo>
                <a:lnTo>
                  <a:pt x="118250" y="66620"/>
                </a:lnTo>
                <a:close/>
              </a:path>
              <a:path w="638175" h="508635">
                <a:moveTo>
                  <a:pt x="203191" y="133240"/>
                </a:moveTo>
                <a:lnTo>
                  <a:pt x="169881" y="175710"/>
                </a:lnTo>
                <a:lnTo>
                  <a:pt x="212351" y="209021"/>
                </a:lnTo>
                <a:lnTo>
                  <a:pt x="245661" y="166551"/>
                </a:lnTo>
                <a:lnTo>
                  <a:pt x="203191" y="133240"/>
                </a:lnTo>
                <a:close/>
              </a:path>
              <a:path w="638175" h="508635">
                <a:moveTo>
                  <a:pt x="288132" y="199861"/>
                </a:moveTo>
                <a:lnTo>
                  <a:pt x="254821" y="242331"/>
                </a:lnTo>
                <a:lnTo>
                  <a:pt x="297291" y="275642"/>
                </a:lnTo>
                <a:lnTo>
                  <a:pt x="330602" y="233172"/>
                </a:lnTo>
                <a:lnTo>
                  <a:pt x="288132" y="199861"/>
                </a:lnTo>
                <a:close/>
              </a:path>
              <a:path w="638175" h="508635">
                <a:moveTo>
                  <a:pt x="373072" y="266481"/>
                </a:moveTo>
                <a:lnTo>
                  <a:pt x="339761" y="308952"/>
                </a:lnTo>
                <a:lnTo>
                  <a:pt x="382233" y="342262"/>
                </a:lnTo>
                <a:lnTo>
                  <a:pt x="415542" y="299792"/>
                </a:lnTo>
                <a:lnTo>
                  <a:pt x="373072" y="266481"/>
                </a:lnTo>
                <a:close/>
              </a:path>
              <a:path w="638175" h="508635">
                <a:moveTo>
                  <a:pt x="560153" y="344617"/>
                </a:moveTo>
                <a:lnTo>
                  <a:pt x="460222" y="472027"/>
                </a:lnTo>
                <a:lnTo>
                  <a:pt x="637598" y="508252"/>
                </a:lnTo>
                <a:lnTo>
                  <a:pt x="608236" y="446213"/>
                </a:lnTo>
                <a:lnTo>
                  <a:pt x="514767" y="446213"/>
                </a:lnTo>
                <a:lnTo>
                  <a:pt x="509643" y="442193"/>
                </a:lnTo>
                <a:lnTo>
                  <a:pt x="542954" y="399723"/>
                </a:lnTo>
                <a:lnTo>
                  <a:pt x="586234" y="399723"/>
                </a:lnTo>
                <a:lnTo>
                  <a:pt x="560153" y="344617"/>
                </a:lnTo>
                <a:close/>
              </a:path>
              <a:path w="638175" h="508635">
                <a:moveTo>
                  <a:pt x="542954" y="399723"/>
                </a:moveTo>
                <a:lnTo>
                  <a:pt x="509643" y="442193"/>
                </a:lnTo>
                <a:lnTo>
                  <a:pt x="514767" y="446213"/>
                </a:lnTo>
                <a:lnTo>
                  <a:pt x="548078" y="403741"/>
                </a:lnTo>
                <a:lnTo>
                  <a:pt x="542954" y="399723"/>
                </a:lnTo>
                <a:close/>
              </a:path>
              <a:path w="638175" h="508635">
                <a:moveTo>
                  <a:pt x="586234" y="399723"/>
                </a:moveTo>
                <a:lnTo>
                  <a:pt x="542954" y="399723"/>
                </a:lnTo>
                <a:lnTo>
                  <a:pt x="548078" y="403741"/>
                </a:lnTo>
                <a:lnTo>
                  <a:pt x="514767" y="446213"/>
                </a:lnTo>
                <a:lnTo>
                  <a:pt x="608236" y="446213"/>
                </a:lnTo>
                <a:lnTo>
                  <a:pt x="586234" y="399723"/>
                </a:lnTo>
                <a:close/>
              </a:path>
              <a:path w="638175" h="508635">
                <a:moveTo>
                  <a:pt x="458012" y="333101"/>
                </a:moveTo>
                <a:lnTo>
                  <a:pt x="424703" y="375573"/>
                </a:lnTo>
                <a:lnTo>
                  <a:pt x="467173" y="408882"/>
                </a:lnTo>
                <a:lnTo>
                  <a:pt x="500484" y="366412"/>
                </a:lnTo>
                <a:lnTo>
                  <a:pt x="458012" y="3331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75770" y="3616538"/>
            <a:ext cx="955675" cy="161925"/>
          </a:xfrm>
          <a:custGeom>
            <a:avLst/>
            <a:gdLst/>
            <a:ahLst/>
            <a:cxnLst/>
            <a:rect l="l" t="t" r="r" b="b"/>
            <a:pathLst>
              <a:path w="955675" h="161925">
                <a:moveTo>
                  <a:pt x="793352" y="107949"/>
                </a:moveTo>
                <a:lnTo>
                  <a:pt x="793352" y="161925"/>
                </a:lnTo>
                <a:lnTo>
                  <a:pt x="901302" y="107950"/>
                </a:lnTo>
                <a:lnTo>
                  <a:pt x="793352" y="107949"/>
                </a:lnTo>
                <a:close/>
              </a:path>
              <a:path w="955675" h="161925">
                <a:moveTo>
                  <a:pt x="793352" y="53974"/>
                </a:moveTo>
                <a:lnTo>
                  <a:pt x="793352" y="107949"/>
                </a:lnTo>
                <a:lnTo>
                  <a:pt x="820339" y="107950"/>
                </a:lnTo>
                <a:lnTo>
                  <a:pt x="820339" y="53975"/>
                </a:lnTo>
                <a:lnTo>
                  <a:pt x="793352" y="53974"/>
                </a:lnTo>
                <a:close/>
              </a:path>
              <a:path w="955675" h="161925">
                <a:moveTo>
                  <a:pt x="793352" y="0"/>
                </a:moveTo>
                <a:lnTo>
                  <a:pt x="793352" y="53974"/>
                </a:lnTo>
                <a:lnTo>
                  <a:pt x="820339" y="53975"/>
                </a:lnTo>
                <a:lnTo>
                  <a:pt x="820339" y="107950"/>
                </a:lnTo>
                <a:lnTo>
                  <a:pt x="901305" y="107948"/>
                </a:lnTo>
                <a:lnTo>
                  <a:pt x="955277" y="80962"/>
                </a:lnTo>
                <a:lnTo>
                  <a:pt x="793352" y="0"/>
                </a:lnTo>
                <a:close/>
              </a:path>
              <a:path w="955675" h="161925">
                <a:moveTo>
                  <a:pt x="0" y="53973"/>
                </a:moveTo>
                <a:lnTo>
                  <a:pt x="0" y="107948"/>
                </a:lnTo>
                <a:lnTo>
                  <a:pt x="793352" y="107949"/>
                </a:lnTo>
                <a:lnTo>
                  <a:pt x="793352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31047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31047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560106" y="3293708"/>
            <a:ext cx="612775" cy="370205"/>
          </a:xfrm>
          <a:custGeom>
            <a:avLst/>
            <a:gdLst/>
            <a:ahLst/>
            <a:cxnLst/>
            <a:rect l="l" t="t" r="r" b="b"/>
            <a:pathLst>
              <a:path w="612775" h="370204">
                <a:moveTo>
                  <a:pt x="46722" y="295913"/>
                </a:moveTo>
                <a:lnTo>
                  <a:pt x="0" y="322939"/>
                </a:lnTo>
                <a:lnTo>
                  <a:pt x="27026" y="369661"/>
                </a:lnTo>
                <a:lnTo>
                  <a:pt x="73747" y="342634"/>
                </a:lnTo>
                <a:lnTo>
                  <a:pt x="46722" y="295913"/>
                </a:lnTo>
                <a:close/>
              </a:path>
              <a:path w="612775" h="370204">
                <a:moveTo>
                  <a:pt x="140163" y="241861"/>
                </a:moveTo>
                <a:lnTo>
                  <a:pt x="93442" y="268886"/>
                </a:lnTo>
                <a:lnTo>
                  <a:pt x="120469" y="315608"/>
                </a:lnTo>
                <a:lnTo>
                  <a:pt x="167190" y="288582"/>
                </a:lnTo>
                <a:lnTo>
                  <a:pt x="140163" y="241861"/>
                </a:lnTo>
                <a:close/>
              </a:path>
              <a:path w="612775" h="370204">
                <a:moveTo>
                  <a:pt x="233606" y="187808"/>
                </a:moveTo>
                <a:lnTo>
                  <a:pt x="186885" y="214834"/>
                </a:lnTo>
                <a:lnTo>
                  <a:pt x="213911" y="261556"/>
                </a:lnTo>
                <a:lnTo>
                  <a:pt x="260633" y="234529"/>
                </a:lnTo>
                <a:lnTo>
                  <a:pt x="233606" y="187808"/>
                </a:lnTo>
                <a:close/>
              </a:path>
              <a:path w="612775" h="370204">
                <a:moveTo>
                  <a:pt x="327049" y="133756"/>
                </a:moveTo>
                <a:lnTo>
                  <a:pt x="280328" y="160781"/>
                </a:lnTo>
                <a:lnTo>
                  <a:pt x="307353" y="207504"/>
                </a:lnTo>
                <a:lnTo>
                  <a:pt x="354075" y="180477"/>
                </a:lnTo>
                <a:lnTo>
                  <a:pt x="327049" y="133756"/>
                </a:lnTo>
                <a:close/>
              </a:path>
              <a:path w="612775" h="370204">
                <a:moveTo>
                  <a:pt x="420491" y="79703"/>
                </a:moveTo>
                <a:lnTo>
                  <a:pt x="373771" y="106729"/>
                </a:lnTo>
                <a:lnTo>
                  <a:pt x="400796" y="153451"/>
                </a:lnTo>
                <a:lnTo>
                  <a:pt x="447518" y="126424"/>
                </a:lnTo>
                <a:lnTo>
                  <a:pt x="420491" y="79703"/>
                </a:lnTo>
                <a:close/>
              </a:path>
              <a:path w="612775" h="370204">
                <a:moveTo>
                  <a:pt x="612176" y="0"/>
                </a:moveTo>
                <a:lnTo>
                  <a:pt x="431473" y="10996"/>
                </a:lnTo>
                <a:lnTo>
                  <a:pt x="512552" y="151160"/>
                </a:lnTo>
                <a:lnTo>
                  <a:pt x="546666" y="99399"/>
                </a:lnTo>
                <a:lnTo>
                  <a:pt x="494239" y="99399"/>
                </a:lnTo>
                <a:lnTo>
                  <a:pt x="467213" y="52677"/>
                </a:lnTo>
                <a:lnTo>
                  <a:pt x="481860" y="44204"/>
                </a:lnTo>
                <a:lnTo>
                  <a:pt x="583043" y="44204"/>
                </a:lnTo>
                <a:lnTo>
                  <a:pt x="612176" y="0"/>
                </a:lnTo>
                <a:close/>
              </a:path>
              <a:path w="612775" h="370204">
                <a:moveTo>
                  <a:pt x="481860" y="44204"/>
                </a:moveTo>
                <a:lnTo>
                  <a:pt x="467213" y="52677"/>
                </a:lnTo>
                <a:lnTo>
                  <a:pt x="494239" y="99399"/>
                </a:lnTo>
                <a:lnTo>
                  <a:pt x="508887" y="90925"/>
                </a:lnTo>
                <a:lnTo>
                  <a:pt x="481860" y="44204"/>
                </a:lnTo>
                <a:close/>
              </a:path>
              <a:path w="612775" h="370204">
                <a:moveTo>
                  <a:pt x="583043" y="44204"/>
                </a:moveTo>
                <a:lnTo>
                  <a:pt x="481860" y="44204"/>
                </a:lnTo>
                <a:lnTo>
                  <a:pt x="508887" y="90925"/>
                </a:lnTo>
                <a:lnTo>
                  <a:pt x="494239" y="99399"/>
                </a:lnTo>
                <a:lnTo>
                  <a:pt x="546666" y="99399"/>
                </a:lnTo>
                <a:lnTo>
                  <a:pt x="583043" y="44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567361" y="3436620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04148" y="2702051"/>
            <a:ext cx="22586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55725" algn="l"/>
              </a:tabLst>
            </a:pPr>
            <a:r>
              <a:rPr dirty="0" sz="1400" spc="-35">
                <a:solidFill>
                  <a:srgbClr val="548235"/>
                </a:solidFill>
                <a:latin typeface="Arial"/>
                <a:cs typeface="Arial"/>
              </a:rPr>
              <a:t>TreatedBy	</a:t>
            </a:r>
            <a:r>
              <a:rPr dirty="0" baseline="3968" sz="2100" spc="-37">
                <a:latin typeface="Arial"/>
                <a:cs typeface="Arial"/>
              </a:rPr>
              <a:t>Intersection</a:t>
            </a:r>
            <a:endParaRPr baseline="3968" sz="2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47784" y="3512820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00305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1"/>
                </a:lnTo>
                <a:lnTo>
                  <a:pt x="83516" y="162610"/>
                </a:lnTo>
                <a:lnTo>
                  <a:pt x="116024" y="156221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300305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467338" y="2553251"/>
            <a:ext cx="941705" cy="161925"/>
          </a:xfrm>
          <a:custGeom>
            <a:avLst/>
            <a:gdLst/>
            <a:ahLst/>
            <a:cxnLst/>
            <a:rect l="l" t="t" r="r" b="b"/>
            <a:pathLst>
              <a:path w="941705" h="161925">
                <a:moveTo>
                  <a:pt x="779504" y="107949"/>
                </a:moveTo>
                <a:lnTo>
                  <a:pt x="779504" y="161925"/>
                </a:lnTo>
                <a:lnTo>
                  <a:pt x="887454" y="107950"/>
                </a:lnTo>
                <a:lnTo>
                  <a:pt x="779504" y="107949"/>
                </a:lnTo>
                <a:close/>
              </a:path>
              <a:path w="941705" h="161925">
                <a:moveTo>
                  <a:pt x="779504" y="53974"/>
                </a:moveTo>
                <a:lnTo>
                  <a:pt x="779504" y="107949"/>
                </a:lnTo>
                <a:lnTo>
                  <a:pt x="806491" y="107950"/>
                </a:lnTo>
                <a:lnTo>
                  <a:pt x="806491" y="53975"/>
                </a:lnTo>
                <a:lnTo>
                  <a:pt x="779504" y="53974"/>
                </a:lnTo>
                <a:close/>
              </a:path>
              <a:path w="941705" h="161925">
                <a:moveTo>
                  <a:pt x="779504" y="0"/>
                </a:moveTo>
                <a:lnTo>
                  <a:pt x="779504" y="53974"/>
                </a:lnTo>
                <a:lnTo>
                  <a:pt x="806491" y="53975"/>
                </a:lnTo>
                <a:lnTo>
                  <a:pt x="806491" y="107950"/>
                </a:lnTo>
                <a:lnTo>
                  <a:pt x="887456" y="107948"/>
                </a:lnTo>
                <a:lnTo>
                  <a:pt x="941429" y="80962"/>
                </a:lnTo>
                <a:lnTo>
                  <a:pt x="779504" y="0"/>
                </a:lnTo>
                <a:close/>
              </a:path>
              <a:path w="941705" h="161925">
                <a:moveTo>
                  <a:pt x="0" y="53973"/>
                </a:moveTo>
                <a:lnTo>
                  <a:pt x="0" y="107948"/>
                </a:lnTo>
                <a:lnTo>
                  <a:pt x="779504" y="107949"/>
                </a:lnTo>
                <a:lnTo>
                  <a:pt x="779504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606525" y="41472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1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1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5" y="185063"/>
                </a:lnTo>
                <a:lnTo>
                  <a:pt x="213960" y="150604"/>
                </a:lnTo>
                <a:lnTo>
                  <a:pt x="222711" y="108407"/>
                </a:lnTo>
                <a:lnTo>
                  <a:pt x="213960" y="66210"/>
                </a:lnTo>
                <a:lnTo>
                  <a:pt x="190095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606526" y="41472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76200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344786" y="2817210"/>
            <a:ext cx="1249680" cy="1932305"/>
          </a:xfrm>
          <a:custGeom>
            <a:avLst/>
            <a:gdLst/>
            <a:ahLst/>
            <a:cxnLst/>
            <a:rect l="l" t="t" r="r" b="b"/>
            <a:pathLst>
              <a:path w="1249679" h="1932304">
                <a:moveTo>
                  <a:pt x="1171846" y="85901"/>
                </a:moveTo>
                <a:lnTo>
                  <a:pt x="0" y="1911626"/>
                </a:lnTo>
                <a:lnTo>
                  <a:pt x="32063" y="1932205"/>
                </a:lnTo>
                <a:lnTo>
                  <a:pt x="1203910" y="106481"/>
                </a:lnTo>
                <a:lnTo>
                  <a:pt x="1171846" y="85901"/>
                </a:lnTo>
                <a:close/>
              </a:path>
              <a:path w="1249679" h="1932304">
                <a:moveTo>
                  <a:pt x="1242114" y="69871"/>
                </a:moveTo>
                <a:lnTo>
                  <a:pt x="1182135" y="69871"/>
                </a:lnTo>
                <a:lnTo>
                  <a:pt x="1214198" y="90451"/>
                </a:lnTo>
                <a:lnTo>
                  <a:pt x="1203910" y="106481"/>
                </a:lnTo>
                <a:lnTo>
                  <a:pt x="1235972" y="127060"/>
                </a:lnTo>
                <a:lnTo>
                  <a:pt x="1242114" y="69871"/>
                </a:lnTo>
                <a:close/>
              </a:path>
              <a:path w="1249679" h="1932304">
                <a:moveTo>
                  <a:pt x="1182135" y="69871"/>
                </a:moveTo>
                <a:lnTo>
                  <a:pt x="1171846" y="85901"/>
                </a:lnTo>
                <a:lnTo>
                  <a:pt x="1203910" y="106481"/>
                </a:lnTo>
                <a:lnTo>
                  <a:pt x="1214198" y="90451"/>
                </a:lnTo>
                <a:lnTo>
                  <a:pt x="1182135" y="69871"/>
                </a:lnTo>
                <a:close/>
              </a:path>
              <a:path w="1249679" h="1932304">
                <a:moveTo>
                  <a:pt x="1249617" y="0"/>
                </a:moveTo>
                <a:lnTo>
                  <a:pt x="1139783" y="65321"/>
                </a:lnTo>
                <a:lnTo>
                  <a:pt x="1171846" y="85901"/>
                </a:lnTo>
                <a:lnTo>
                  <a:pt x="1182135" y="69871"/>
                </a:lnTo>
                <a:lnTo>
                  <a:pt x="1242114" y="69871"/>
                </a:lnTo>
                <a:lnTo>
                  <a:pt x="1249617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404153" y="4459732"/>
            <a:ext cx="73787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69850" marR="5080" indent="-5715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Short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  Breath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91261" y="4982971"/>
            <a:ext cx="1080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au</a:t>
            </a: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s</a:t>
            </a: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edB</a:t>
            </a: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43984" y="3109467"/>
            <a:ext cx="8153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r</a:t>
            </a:r>
            <a:r>
              <a:rPr dirty="0" sz="1600" spc="-5">
                <a:latin typeface="Arial"/>
                <a:cs typeface="Arial"/>
              </a:rPr>
              <a:t>i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ide</a:t>
            </a:r>
            <a:r>
              <a:rPr dirty="0" sz="160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02466" y="3980179"/>
            <a:ext cx="1071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32355" y="3816603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346648" y="4220234"/>
            <a:ext cx="1256665" cy="554355"/>
          </a:xfrm>
          <a:custGeom>
            <a:avLst/>
            <a:gdLst/>
            <a:ahLst/>
            <a:cxnLst/>
            <a:rect l="l" t="t" r="r" b="b"/>
            <a:pathLst>
              <a:path w="1256665" h="554354">
                <a:moveTo>
                  <a:pt x="1030225" y="70733"/>
                </a:moveTo>
                <a:lnTo>
                  <a:pt x="0" y="483525"/>
                </a:lnTo>
                <a:lnTo>
                  <a:pt x="28341" y="554259"/>
                </a:lnTo>
                <a:lnTo>
                  <a:pt x="1058567" y="141466"/>
                </a:lnTo>
                <a:lnTo>
                  <a:pt x="1030225" y="70733"/>
                </a:lnTo>
                <a:close/>
              </a:path>
              <a:path w="1256665" h="554354">
                <a:moveTo>
                  <a:pt x="1225089" y="56563"/>
                </a:moveTo>
                <a:lnTo>
                  <a:pt x="1065592" y="56563"/>
                </a:lnTo>
                <a:lnTo>
                  <a:pt x="1093933" y="127295"/>
                </a:lnTo>
                <a:lnTo>
                  <a:pt x="1058567" y="141466"/>
                </a:lnTo>
                <a:lnTo>
                  <a:pt x="1086909" y="212200"/>
                </a:lnTo>
                <a:lnTo>
                  <a:pt x="1225089" y="56563"/>
                </a:lnTo>
                <a:close/>
              </a:path>
              <a:path w="1256665" h="554354">
                <a:moveTo>
                  <a:pt x="1065592" y="56563"/>
                </a:moveTo>
                <a:lnTo>
                  <a:pt x="1030225" y="70733"/>
                </a:lnTo>
                <a:lnTo>
                  <a:pt x="1058567" y="141466"/>
                </a:lnTo>
                <a:lnTo>
                  <a:pt x="1093933" y="127295"/>
                </a:lnTo>
                <a:lnTo>
                  <a:pt x="1065592" y="56563"/>
                </a:lnTo>
                <a:close/>
              </a:path>
              <a:path w="1256665" h="554354">
                <a:moveTo>
                  <a:pt x="1001883" y="0"/>
                </a:moveTo>
                <a:lnTo>
                  <a:pt x="1030225" y="70733"/>
                </a:lnTo>
                <a:lnTo>
                  <a:pt x="1065592" y="56563"/>
                </a:lnTo>
                <a:lnTo>
                  <a:pt x="1225089" y="56563"/>
                </a:lnTo>
                <a:lnTo>
                  <a:pt x="1256596" y="21075"/>
                </a:lnTo>
                <a:lnTo>
                  <a:pt x="1001883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358375" y="4720234"/>
            <a:ext cx="1279525" cy="226060"/>
          </a:xfrm>
          <a:custGeom>
            <a:avLst/>
            <a:gdLst/>
            <a:ahLst/>
            <a:cxnLst/>
            <a:rect l="l" t="t" r="r" b="b"/>
            <a:pathLst>
              <a:path w="1279525" h="226060">
                <a:moveTo>
                  <a:pt x="1163322" y="188231"/>
                </a:moveTo>
                <a:lnTo>
                  <a:pt x="1158435" y="226016"/>
                </a:lnTo>
                <a:lnTo>
                  <a:pt x="1259946" y="190675"/>
                </a:lnTo>
                <a:lnTo>
                  <a:pt x="1182216" y="190675"/>
                </a:lnTo>
                <a:lnTo>
                  <a:pt x="1163322" y="188231"/>
                </a:lnTo>
                <a:close/>
              </a:path>
              <a:path w="1279525" h="226060">
                <a:moveTo>
                  <a:pt x="1168209" y="150445"/>
                </a:moveTo>
                <a:lnTo>
                  <a:pt x="1163322" y="188231"/>
                </a:lnTo>
                <a:lnTo>
                  <a:pt x="1182216" y="190675"/>
                </a:lnTo>
                <a:lnTo>
                  <a:pt x="1187103" y="152888"/>
                </a:lnTo>
                <a:lnTo>
                  <a:pt x="1168209" y="150445"/>
                </a:lnTo>
                <a:close/>
              </a:path>
              <a:path w="1279525" h="226060">
                <a:moveTo>
                  <a:pt x="1173096" y="112660"/>
                </a:moveTo>
                <a:lnTo>
                  <a:pt x="1168209" y="150445"/>
                </a:lnTo>
                <a:lnTo>
                  <a:pt x="1187103" y="152888"/>
                </a:lnTo>
                <a:lnTo>
                  <a:pt x="1182216" y="190675"/>
                </a:lnTo>
                <a:lnTo>
                  <a:pt x="1259946" y="190675"/>
                </a:lnTo>
                <a:lnTo>
                  <a:pt x="1279122" y="183998"/>
                </a:lnTo>
                <a:lnTo>
                  <a:pt x="1173096" y="112660"/>
                </a:lnTo>
                <a:close/>
              </a:path>
              <a:path w="1279525" h="226060">
                <a:moveTo>
                  <a:pt x="4885" y="0"/>
                </a:moveTo>
                <a:lnTo>
                  <a:pt x="0" y="37785"/>
                </a:lnTo>
                <a:lnTo>
                  <a:pt x="1163322" y="188231"/>
                </a:lnTo>
                <a:lnTo>
                  <a:pt x="1168209" y="150445"/>
                </a:lnTo>
                <a:lnTo>
                  <a:pt x="4885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628911" y="33624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628911" y="33624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7376819" y="4511547"/>
            <a:ext cx="7702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Ke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637498" y="479582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637498" y="479582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4701952" y="3578859"/>
            <a:ext cx="5543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ESR2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28628" y="2767076"/>
            <a:ext cx="648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ss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963475" y="3118611"/>
            <a:ext cx="67945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3302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Breast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118424" y="3412159"/>
            <a:ext cx="1037590" cy="357505"/>
          </a:xfrm>
          <a:custGeom>
            <a:avLst/>
            <a:gdLst/>
            <a:ahLst/>
            <a:cxnLst/>
            <a:rect l="l" t="t" r="r" b="b"/>
            <a:pathLst>
              <a:path w="1037589" h="357504">
                <a:moveTo>
                  <a:pt x="806164" y="283744"/>
                </a:moveTo>
                <a:lnTo>
                  <a:pt x="786955" y="357483"/>
                </a:lnTo>
                <a:lnTo>
                  <a:pt x="1036986" y="304501"/>
                </a:lnTo>
                <a:lnTo>
                  <a:pt x="1024231" y="293348"/>
                </a:lnTo>
                <a:lnTo>
                  <a:pt x="843033" y="293348"/>
                </a:lnTo>
                <a:lnTo>
                  <a:pt x="806164" y="283744"/>
                </a:lnTo>
                <a:close/>
              </a:path>
              <a:path w="1037589" h="357504">
                <a:moveTo>
                  <a:pt x="825373" y="210005"/>
                </a:moveTo>
                <a:lnTo>
                  <a:pt x="806164" y="283744"/>
                </a:lnTo>
                <a:lnTo>
                  <a:pt x="843033" y="293348"/>
                </a:lnTo>
                <a:lnTo>
                  <a:pt x="862243" y="219609"/>
                </a:lnTo>
                <a:lnTo>
                  <a:pt x="825373" y="210005"/>
                </a:lnTo>
                <a:close/>
              </a:path>
              <a:path w="1037589" h="357504">
                <a:moveTo>
                  <a:pt x="844583" y="136265"/>
                </a:moveTo>
                <a:lnTo>
                  <a:pt x="825373" y="210005"/>
                </a:lnTo>
                <a:lnTo>
                  <a:pt x="862243" y="219609"/>
                </a:lnTo>
                <a:lnTo>
                  <a:pt x="843033" y="293348"/>
                </a:lnTo>
                <a:lnTo>
                  <a:pt x="1024231" y="293348"/>
                </a:lnTo>
                <a:lnTo>
                  <a:pt x="844583" y="136265"/>
                </a:lnTo>
                <a:close/>
              </a:path>
              <a:path w="1037589" h="357504">
                <a:moveTo>
                  <a:pt x="19208" y="0"/>
                </a:moveTo>
                <a:lnTo>
                  <a:pt x="0" y="73738"/>
                </a:lnTo>
                <a:lnTo>
                  <a:pt x="806164" y="283744"/>
                </a:lnTo>
                <a:lnTo>
                  <a:pt x="825373" y="210005"/>
                </a:lnTo>
                <a:lnTo>
                  <a:pt x="1920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155410" y="36082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155410" y="36082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76200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374447" y="3436808"/>
            <a:ext cx="1254760" cy="299085"/>
          </a:xfrm>
          <a:custGeom>
            <a:avLst/>
            <a:gdLst/>
            <a:ahLst/>
            <a:cxnLst/>
            <a:rect l="l" t="t" r="r" b="b"/>
            <a:pathLst>
              <a:path w="1254759" h="299085">
                <a:moveTo>
                  <a:pt x="1138635" y="37385"/>
                </a:moveTo>
                <a:lnTo>
                  <a:pt x="0" y="261160"/>
                </a:lnTo>
                <a:lnTo>
                  <a:pt x="7346" y="298545"/>
                </a:lnTo>
                <a:lnTo>
                  <a:pt x="1145982" y="74770"/>
                </a:lnTo>
                <a:lnTo>
                  <a:pt x="1138635" y="37385"/>
                </a:lnTo>
                <a:close/>
              </a:path>
              <a:path w="1254759" h="299085">
                <a:moveTo>
                  <a:pt x="1253292" y="33712"/>
                </a:moveTo>
                <a:lnTo>
                  <a:pt x="1157328" y="33712"/>
                </a:lnTo>
                <a:lnTo>
                  <a:pt x="1164675" y="71097"/>
                </a:lnTo>
                <a:lnTo>
                  <a:pt x="1145982" y="74770"/>
                </a:lnTo>
                <a:lnTo>
                  <a:pt x="1153330" y="112154"/>
                </a:lnTo>
                <a:lnTo>
                  <a:pt x="1254464" y="34036"/>
                </a:lnTo>
                <a:lnTo>
                  <a:pt x="1253292" y="33712"/>
                </a:lnTo>
                <a:close/>
              </a:path>
              <a:path w="1254759" h="299085">
                <a:moveTo>
                  <a:pt x="1157328" y="33712"/>
                </a:moveTo>
                <a:lnTo>
                  <a:pt x="1138635" y="37385"/>
                </a:lnTo>
                <a:lnTo>
                  <a:pt x="1145982" y="74770"/>
                </a:lnTo>
                <a:lnTo>
                  <a:pt x="1164675" y="71097"/>
                </a:lnTo>
                <a:lnTo>
                  <a:pt x="1157328" y="33712"/>
                </a:lnTo>
                <a:close/>
              </a:path>
              <a:path w="1254759" h="299085">
                <a:moveTo>
                  <a:pt x="1131288" y="0"/>
                </a:moveTo>
                <a:lnTo>
                  <a:pt x="1138635" y="37385"/>
                </a:lnTo>
                <a:lnTo>
                  <a:pt x="1157328" y="33712"/>
                </a:lnTo>
                <a:lnTo>
                  <a:pt x="1253292" y="33712"/>
                </a:lnTo>
                <a:lnTo>
                  <a:pt x="1131288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363121" y="3681637"/>
            <a:ext cx="1240155" cy="575310"/>
          </a:xfrm>
          <a:custGeom>
            <a:avLst/>
            <a:gdLst/>
            <a:ahLst/>
            <a:cxnLst/>
            <a:rect l="l" t="t" r="r" b="b"/>
            <a:pathLst>
              <a:path w="1240154" h="575310">
                <a:moveTo>
                  <a:pt x="1014982" y="504704"/>
                </a:moveTo>
                <a:lnTo>
                  <a:pt x="984985" y="574752"/>
                </a:lnTo>
                <a:lnTo>
                  <a:pt x="1240123" y="559672"/>
                </a:lnTo>
                <a:lnTo>
                  <a:pt x="1206283" y="519703"/>
                </a:lnTo>
                <a:lnTo>
                  <a:pt x="1050005" y="519703"/>
                </a:lnTo>
                <a:lnTo>
                  <a:pt x="1014982" y="504704"/>
                </a:lnTo>
                <a:close/>
              </a:path>
              <a:path w="1240154" h="575310">
                <a:moveTo>
                  <a:pt x="1044980" y="434657"/>
                </a:moveTo>
                <a:lnTo>
                  <a:pt x="1014982" y="504704"/>
                </a:lnTo>
                <a:lnTo>
                  <a:pt x="1050005" y="519703"/>
                </a:lnTo>
                <a:lnTo>
                  <a:pt x="1080002" y="449656"/>
                </a:lnTo>
                <a:lnTo>
                  <a:pt x="1044980" y="434657"/>
                </a:lnTo>
                <a:close/>
              </a:path>
              <a:path w="1240154" h="575310">
                <a:moveTo>
                  <a:pt x="1074977" y="364610"/>
                </a:moveTo>
                <a:lnTo>
                  <a:pt x="1044980" y="434657"/>
                </a:lnTo>
                <a:lnTo>
                  <a:pt x="1080002" y="449656"/>
                </a:lnTo>
                <a:lnTo>
                  <a:pt x="1050005" y="519703"/>
                </a:lnTo>
                <a:lnTo>
                  <a:pt x="1206283" y="519703"/>
                </a:lnTo>
                <a:lnTo>
                  <a:pt x="1074977" y="364610"/>
                </a:lnTo>
                <a:close/>
              </a:path>
              <a:path w="1240154" h="575310">
                <a:moveTo>
                  <a:pt x="29997" y="0"/>
                </a:moveTo>
                <a:lnTo>
                  <a:pt x="0" y="70046"/>
                </a:lnTo>
                <a:lnTo>
                  <a:pt x="1014982" y="504704"/>
                </a:lnTo>
                <a:lnTo>
                  <a:pt x="1044980" y="434657"/>
                </a:lnTo>
                <a:lnTo>
                  <a:pt x="29997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101166" y="267410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69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101165" y="267410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69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5647498" y="1889251"/>
            <a:ext cx="1981835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Knowledge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  <a:p>
            <a:pPr marL="375920">
              <a:lnSpc>
                <a:spcPct val="100000"/>
              </a:lnSpc>
              <a:spcBef>
                <a:spcPts val="55"/>
              </a:spcBef>
            </a:pPr>
            <a:r>
              <a:rPr dirty="0" sz="1600" spc="-5">
                <a:latin typeface="Arial"/>
                <a:cs typeface="Arial"/>
              </a:rPr>
              <a:t>Lung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909738" y="2414523"/>
            <a:ext cx="6794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216533" y="2429764"/>
            <a:ext cx="89344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Pa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10">
                <a:latin typeface="Arial"/>
                <a:cs typeface="Arial"/>
              </a:rPr>
              <a:t>li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x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l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117263" y="2782516"/>
            <a:ext cx="984250" cy="682625"/>
          </a:xfrm>
          <a:custGeom>
            <a:avLst/>
            <a:gdLst/>
            <a:ahLst/>
            <a:cxnLst/>
            <a:rect l="l" t="t" r="r" b="b"/>
            <a:pathLst>
              <a:path w="984250" h="682625">
                <a:moveTo>
                  <a:pt x="878836" y="48871"/>
                </a:moveTo>
                <a:lnTo>
                  <a:pt x="0" y="650794"/>
                </a:lnTo>
                <a:lnTo>
                  <a:pt x="21529" y="682228"/>
                </a:lnTo>
                <a:lnTo>
                  <a:pt x="900366" y="80305"/>
                </a:lnTo>
                <a:lnTo>
                  <a:pt x="878836" y="48871"/>
                </a:lnTo>
                <a:close/>
              </a:path>
              <a:path w="984250" h="682625">
                <a:moveTo>
                  <a:pt x="962756" y="38106"/>
                </a:moveTo>
                <a:lnTo>
                  <a:pt x="894553" y="38106"/>
                </a:lnTo>
                <a:lnTo>
                  <a:pt x="916082" y="69541"/>
                </a:lnTo>
                <a:lnTo>
                  <a:pt x="900366" y="80305"/>
                </a:lnTo>
                <a:lnTo>
                  <a:pt x="921895" y="111739"/>
                </a:lnTo>
                <a:lnTo>
                  <a:pt x="962756" y="38106"/>
                </a:lnTo>
                <a:close/>
              </a:path>
              <a:path w="984250" h="682625">
                <a:moveTo>
                  <a:pt x="894553" y="38106"/>
                </a:moveTo>
                <a:lnTo>
                  <a:pt x="878836" y="48871"/>
                </a:lnTo>
                <a:lnTo>
                  <a:pt x="900366" y="80305"/>
                </a:lnTo>
                <a:lnTo>
                  <a:pt x="916082" y="69541"/>
                </a:lnTo>
                <a:lnTo>
                  <a:pt x="894553" y="38106"/>
                </a:lnTo>
                <a:close/>
              </a:path>
              <a:path w="984250" h="682625">
                <a:moveTo>
                  <a:pt x="983903" y="0"/>
                </a:moveTo>
                <a:lnTo>
                  <a:pt x="857307" y="17437"/>
                </a:lnTo>
                <a:lnTo>
                  <a:pt x="878836" y="48871"/>
                </a:lnTo>
                <a:lnTo>
                  <a:pt x="894553" y="38106"/>
                </a:lnTo>
                <a:lnTo>
                  <a:pt x="962756" y="38106"/>
                </a:lnTo>
                <a:lnTo>
                  <a:pt x="98390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323356" y="2756961"/>
            <a:ext cx="1271270" cy="114300"/>
          </a:xfrm>
          <a:custGeom>
            <a:avLst/>
            <a:gdLst/>
            <a:ahLst/>
            <a:cxnLst/>
            <a:rect l="l" t="t" r="r" b="b"/>
            <a:pathLst>
              <a:path w="1271270" h="114300">
                <a:moveTo>
                  <a:pt x="1158350" y="0"/>
                </a:moveTo>
                <a:lnTo>
                  <a:pt x="1157310" y="38086"/>
                </a:lnTo>
                <a:lnTo>
                  <a:pt x="1176351" y="38606"/>
                </a:lnTo>
                <a:lnTo>
                  <a:pt x="1175311" y="76691"/>
                </a:lnTo>
                <a:lnTo>
                  <a:pt x="1156256" y="76691"/>
                </a:lnTo>
                <a:lnTo>
                  <a:pt x="1155230" y="114258"/>
                </a:lnTo>
                <a:lnTo>
                  <a:pt x="1235788" y="76691"/>
                </a:lnTo>
                <a:lnTo>
                  <a:pt x="1175311" y="76691"/>
                </a:lnTo>
                <a:lnTo>
                  <a:pt x="1156270" y="76171"/>
                </a:lnTo>
                <a:lnTo>
                  <a:pt x="1236902" y="76171"/>
                </a:lnTo>
                <a:lnTo>
                  <a:pt x="1271047" y="60248"/>
                </a:lnTo>
                <a:lnTo>
                  <a:pt x="1158350" y="0"/>
                </a:lnTo>
                <a:close/>
              </a:path>
              <a:path w="1271270" h="114300">
                <a:moveTo>
                  <a:pt x="1157310" y="38086"/>
                </a:moveTo>
                <a:lnTo>
                  <a:pt x="1156270" y="76171"/>
                </a:lnTo>
                <a:lnTo>
                  <a:pt x="1175311" y="76691"/>
                </a:lnTo>
                <a:lnTo>
                  <a:pt x="1176351" y="38606"/>
                </a:lnTo>
                <a:lnTo>
                  <a:pt x="1157310" y="38086"/>
                </a:lnTo>
                <a:close/>
              </a:path>
              <a:path w="1271270" h="114300">
                <a:moveTo>
                  <a:pt x="1040" y="6512"/>
                </a:moveTo>
                <a:lnTo>
                  <a:pt x="0" y="44598"/>
                </a:lnTo>
                <a:lnTo>
                  <a:pt x="1156270" y="76171"/>
                </a:lnTo>
                <a:lnTo>
                  <a:pt x="1157310" y="38086"/>
                </a:lnTo>
                <a:lnTo>
                  <a:pt x="1040" y="6512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577101" y="275707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69">
                <a:moveTo>
                  <a:pt x="111356" y="0"/>
                </a:moveTo>
                <a:lnTo>
                  <a:pt x="68011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1" y="208296"/>
                </a:lnTo>
                <a:lnTo>
                  <a:pt x="111356" y="216815"/>
                </a:lnTo>
                <a:lnTo>
                  <a:pt x="154700" y="208296"/>
                </a:lnTo>
                <a:lnTo>
                  <a:pt x="190095" y="185063"/>
                </a:lnTo>
                <a:lnTo>
                  <a:pt x="213960" y="150604"/>
                </a:lnTo>
                <a:lnTo>
                  <a:pt x="222711" y="108407"/>
                </a:lnTo>
                <a:lnTo>
                  <a:pt x="213960" y="66210"/>
                </a:lnTo>
                <a:lnTo>
                  <a:pt x="190095" y="31751"/>
                </a:lnTo>
                <a:lnTo>
                  <a:pt x="154700" y="8519"/>
                </a:lnTo>
                <a:lnTo>
                  <a:pt x="11135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577102" y="275707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69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155410" y="461815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155410" y="461815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913969" y="332695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913968" y="332695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3428052" y="3078988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077136" y="3795267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67757" y="2969693"/>
            <a:ext cx="223520" cy="1167130"/>
          </a:xfrm>
          <a:custGeom>
            <a:avLst/>
            <a:gdLst/>
            <a:ahLst/>
            <a:cxnLst/>
            <a:rect l="l" t="t" r="r" b="b"/>
            <a:pathLst>
              <a:path w="223519" h="1167129">
                <a:moveTo>
                  <a:pt x="223475" y="111737"/>
                </a:moveTo>
                <a:lnTo>
                  <a:pt x="167606" y="111737"/>
                </a:lnTo>
                <a:lnTo>
                  <a:pt x="167606" y="1166806"/>
                </a:lnTo>
                <a:lnTo>
                  <a:pt x="55868" y="1166806"/>
                </a:lnTo>
                <a:lnTo>
                  <a:pt x="55868" y="111737"/>
                </a:lnTo>
                <a:lnTo>
                  <a:pt x="0" y="111737"/>
                </a:lnTo>
                <a:lnTo>
                  <a:pt x="111737" y="0"/>
                </a:lnTo>
                <a:lnTo>
                  <a:pt x="223475" y="111737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192678" y="4156659"/>
            <a:ext cx="4129404" cy="252412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algn="ctr" marR="3164205">
              <a:lnSpc>
                <a:spcPct val="100000"/>
              </a:lnSpc>
              <a:spcBef>
                <a:spcPts val="434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Assoc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70"/>
              </a:spcBef>
            </a:pPr>
            <a:r>
              <a:rPr dirty="0" sz="2000" spc="-20">
                <a:latin typeface="Arial"/>
                <a:cs typeface="Arial"/>
              </a:rPr>
              <a:t>We </a:t>
            </a:r>
            <a:r>
              <a:rPr dirty="0" sz="2000" spc="-5">
                <a:latin typeface="Arial"/>
                <a:cs typeface="Arial"/>
              </a:rPr>
              <a:t>first </a:t>
            </a:r>
            <a:r>
              <a:rPr dirty="0" sz="2000">
                <a:latin typeface="Arial"/>
                <a:cs typeface="Arial"/>
              </a:rPr>
              <a:t>look at one </a:t>
            </a:r>
            <a:r>
              <a:rPr dirty="0" sz="2000" spc="-5">
                <a:latin typeface="Arial"/>
                <a:cs typeface="Arial"/>
              </a:rPr>
              <a:t>branch </a:t>
            </a:r>
            <a:r>
              <a:rPr dirty="0" sz="2000">
                <a:latin typeface="Arial"/>
                <a:cs typeface="Arial"/>
              </a:rPr>
              <a:t>and  </a:t>
            </a:r>
            <a:r>
              <a:rPr dirty="0" sz="2000" spc="-5">
                <a:latin typeface="Arial"/>
                <a:cs typeface="Arial"/>
              </a:rPr>
              <a:t>ground the </a:t>
            </a:r>
            <a:r>
              <a:rPr dirty="0" sz="2000" spc="-5" b="1">
                <a:solidFill>
                  <a:srgbClr val="CF5B1B"/>
                </a:solidFill>
                <a:latin typeface="Arial"/>
                <a:cs typeface="Arial"/>
              </a:rPr>
              <a:t>Projection edge </a:t>
            </a:r>
            <a:r>
              <a:rPr dirty="0" sz="2000" spc="-5">
                <a:latin typeface="Arial"/>
                <a:cs typeface="Arial"/>
              </a:rPr>
              <a:t>with  the relation associated with </a:t>
            </a:r>
            <a:r>
              <a:rPr dirty="0" sz="2000" spc="-5" b="1">
                <a:latin typeface="Arial"/>
                <a:cs typeface="Arial"/>
              </a:rPr>
              <a:t>Breast  Cancer</a:t>
            </a:r>
            <a:r>
              <a:rPr dirty="0" sz="2000" spc="-5">
                <a:latin typeface="Arial"/>
                <a:cs typeface="Arial"/>
              </a:rPr>
              <a:t>, e.g., </a:t>
            </a:r>
            <a:r>
              <a:rPr dirty="0" sz="2000" spc="-5" b="1">
                <a:solidFill>
                  <a:srgbClr val="CF5B1B"/>
                </a:solidFill>
                <a:latin typeface="Arial"/>
                <a:cs typeface="Arial"/>
              </a:rPr>
              <a:t>Assoc</a:t>
            </a:r>
            <a:r>
              <a:rPr dirty="0" sz="2000" spc="-5">
                <a:latin typeface="Arial"/>
                <a:cs typeface="Arial"/>
              </a:rPr>
              <a:t>. Then </a:t>
            </a:r>
            <a:r>
              <a:rPr dirty="0" sz="2000">
                <a:latin typeface="Arial"/>
                <a:cs typeface="Arial"/>
              </a:rPr>
              <a:t>we  check what </a:t>
            </a:r>
            <a:r>
              <a:rPr dirty="0" sz="2000" spc="-5">
                <a:latin typeface="Arial"/>
                <a:cs typeface="Arial"/>
              </a:rPr>
              <a:t>entities are connected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to  </a:t>
            </a:r>
            <a:r>
              <a:rPr dirty="0" sz="2000" spc="-5" b="1">
                <a:latin typeface="Arial"/>
                <a:cs typeface="Arial"/>
              </a:rPr>
              <a:t>Breast Cancer </a:t>
            </a:r>
            <a:r>
              <a:rPr dirty="0" sz="2000" spc="-5">
                <a:latin typeface="Arial"/>
                <a:cs typeface="Arial"/>
              </a:rPr>
              <a:t>with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CF5B1B"/>
                </a:solidFill>
                <a:latin typeface="Arial"/>
                <a:cs typeface="Arial"/>
              </a:rPr>
              <a:t>Assoc</a:t>
            </a:r>
            <a:r>
              <a:rPr dirty="0" sz="2000" spc="-5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 spc="-5">
                <a:latin typeface="Arial"/>
                <a:cs typeface="Arial"/>
              </a:rPr>
              <a:t>{</a:t>
            </a:r>
            <a:r>
              <a:rPr dirty="0" sz="2000" spc="-5" b="1">
                <a:latin typeface="Arial"/>
                <a:cs typeface="Arial"/>
              </a:rPr>
              <a:t>ESR2</a:t>
            </a:r>
            <a:r>
              <a:rPr dirty="0" sz="2000" spc="-5">
                <a:latin typeface="Arial"/>
                <a:cs typeface="Arial"/>
              </a:rPr>
              <a:t>}.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67" name="object 6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72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60553" y="1822195"/>
            <a:ext cx="3331210" cy="925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21995">
              <a:lnSpc>
                <a:spcPts val="2120"/>
              </a:lnSpc>
              <a:spcBef>
                <a:spcPts val="100"/>
              </a:spcBef>
            </a:pPr>
            <a:r>
              <a:rPr dirty="0" sz="1800" b="1">
                <a:solidFill>
                  <a:srgbClr val="7030A0"/>
                </a:solidFill>
                <a:latin typeface="Arial"/>
                <a:cs typeface="Arial"/>
              </a:rPr>
              <a:t>Query</a:t>
            </a:r>
            <a:r>
              <a:rPr dirty="0" sz="1800" spc="-100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7030A0"/>
                </a:solidFill>
                <a:latin typeface="Arial"/>
                <a:cs typeface="Arial"/>
              </a:rPr>
              <a:t>Template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639"/>
              </a:lnSpc>
            </a:pPr>
            <a:r>
              <a:rPr dirty="0" sz="1400" spc="-5" b="1">
                <a:latin typeface="Corbel"/>
                <a:cs typeface="Corbel"/>
              </a:rPr>
              <a:t>((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Anchor1</a:t>
            </a:r>
            <a:r>
              <a:rPr dirty="0" sz="1400" spc="-5" b="1">
                <a:latin typeface="Corbel"/>
                <a:cs typeface="Corbel"/>
              </a:rPr>
              <a:t>,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C00000"/>
                </a:solidFill>
                <a:latin typeface="Corbel"/>
                <a:cs typeface="Corbel"/>
              </a:rPr>
              <a:t>Rel1, </a:t>
            </a:r>
            <a:r>
              <a:rPr dirty="0" sz="1400" spc="-10" b="1">
                <a:solidFill>
                  <a:srgbClr val="479249"/>
                </a:solidFill>
                <a:latin typeface="Corbel"/>
                <a:cs typeface="Corbel"/>
              </a:rPr>
              <a:t>Rel2</a:t>
            </a:r>
            <a:r>
              <a:rPr dirty="0" sz="1400" spc="-10" b="1">
                <a:latin typeface="Corbel"/>
                <a:cs typeface="Corbel"/>
              </a:rPr>
              <a:t>)), </a:t>
            </a:r>
            <a:r>
              <a:rPr dirty="0" sz="1400" spc="-5" b="1">
                <a:latin typeface="Corbel"/>
                <a:cs typeface="Corbel"/>
              </a:rPr>
              <a:t>(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Anchor2</a:t>
            </a:r>
            <a:r>
              <a:rPr dirty="0" sz="1400" spc="-5" b="1">
                <a:latin typeface="Corbel"/>
                <a:cs typeface="Corbel"/>
              </a:rPr>
              <a:t>,</a:t>
            </a:r>
            <a:r>
              <a:rPr dirty="0" sz="1400" spc="-5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B48200"/>
                </a:solidFill>
                <a:latin typeface="Corbel"/>
                <a:cs typeface="Corbel"/>
              </a:rPr>
              <a:t>Rel3</a:t>
            </a:r>
            <a:r>
              <a:rPr dirty="0" sz="1400" spc="-10" b="1">
                <a:latin typeface="Corbel"/>
                <a:cs typeface="Corbel"/>
              </a:rPr>
              <a:t>))</a:t>
            </a:r>
            <a:endParaRPr sz="1400">
              <a:latin typeface="Corbel"/>
              <a:cs typeface="Corbel"/>
            </a:endParaRPr>
          </a:p>
          <a:p>
            <a:pPr marL="568960">
              <a:lnSpc>
                <a:spcPts val="1630"/>
              </a:lnSpc>
              <a:spcBef>
                <a:spcPts val="65"/>
              </a:spcBef>
            </a:pPr>
            <a:r>
              <a:rPr dirty="0" sz="1600" spc="-5">
                <a:latin typeface="Arial"/>
                <a:cs typeface="Arial"/>
              </a:rPr>
              <a:t>Breast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Cancer</a:t>
            </a:r>
            <a:endParaRPr sz="1600">
              <a:latin typeface="Arial"/>
              <a:cs typeface="Arial"/>
            </a:endParaRPr>
          </a:p>
          <a:p>
            <a:pPr algn="r" marR="5080">
              <a:lnSpc>
                <a:spcPts val="1630"/>
              </a:lnSpc>
            </a:pPr>
            <a:r>
              <a:rPr dirty="0" sz="1600" spc="-5">
                <a:latin typeface="Arial"/>
                <a:cs typeface="Arial"/>
              </a:rPr>
              <a:t>Fu</a:t>
            </a:r>
            <a:r>
              <a:rPr dirty="0" sz="1600" spc="-10">
                <a:latin typeface="Arial"/>
                <a:cs typeface="Arial"/>
              </a:rPr>
              <a:t>l</a:t>
            </a:r>
            <a:r>
              <a:rPr dirty="0" sz="1600">
                <a:latin typeface="Arial"/>
                <a:cs typeface="Arial"/>
              </a:rPr>
              <a:t>v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s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>
                <a:latin typeface="Arial"/>
                <a:cs typeface="Arial"/>
              </a:rPr>
              <a:t>r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t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927" y="356615"/>
            <a:ext cx="7592568" cy="509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3746" y="1351788"/>
            <a:ext cx="84816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 i="0">
                <a:latin typeface="Calibri"/>
                <a:cs typeface="Calibri"/>
              </a:rPr>
              <a:t>How </a:t>
            </a:r>
            <a:r>
              <a:rPr dirty="0" sz="3200" spc="-15" b="1" i="0">
                <a:latin typeface="Calibri"/>
                <a:cs typeface="Calibri"/>
              </a:rPr>
              <a:t>to </a:t>
            </a:r>
            <a:r>
              <a:rPr dirty="0" sz="3200" spc="-20" b="1" i="0">
                <a:latin typeface="Calibri"/>
                <a:cs typeface="Calibri"/>
              </a:rPr>
              <a:t>instantiate </a:t>
            </a:r>
            <a:r>
              <a:rPr dirty="0" sz="3200" b="1" i="0">
                <a:latin typeface="Calibri"/>
                <a:cs typeface="Calibri"/>
              </a:rPr>
              <a:t>a </a:t>
            </a:r>
            <a:r>
              <a:rPr dirty="0" sz="3200" spc="-5" b="1" i="0">
                <a:latin typeface="Calibri"/>
                <a:cs typeface="Calibri"/>
              </a:rPr>
              <a:t>query </a:t>
            </a:r>
            <a:r>
              <a:rPr dirty="0" sz="3200" spc="-15" b="1" i="0">
                <a:latin typeface="Calibri"/>
                <a:cs typeface="Calibri"/>
              </a:rPr>
              <a:t>template </a:t>
            </a:r>
            <a:r>
              <a:rPr dirty="0" sz="3200" spc="-10" b="1" i="0">
                <a:latin typeface="Calibri"/>
                <a:cs typeface="Calibri"/>
              </a:rPr>
              <a:t>given </a:t>
            </a:r>
            <a:r>
              <a:rPr dirty="0" sz="3200" b="1" i="0">
                <a:latin typeface="Calibri"/>
                <a:cs typeface="Calibri"/>
              </a:rPr>
              <a:t>a</a:t>
            </a:r>
            <a:r>
              <a:rPr dirty="0" sz="3200" spc="25" b="1" i="0">
                <a:latin typeface="Calibri"/>
                <a:cs typeface="Calibri"/>
              </a:rPr>
              <a:t> </a:t>
            </a:r>
            <a:r>
              <a:rPr dirty="0" sz="3200" spc="-45" b="1" i="0">
                <a:latin typeface="Calibri"/>
                <a:cs typeface="Calibri"/>
              </a:rPr>
              <a:t>KG?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0229" y="1822195"/>
            <a:ext cx="17367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7030A0"/>
                </a:solidFill>
                <a:latin typeface="Arial"/>
                <a:cs typeface="Arial"/>
              </a:rPr>
              <a:t>Query</a:t>
            </a:r>
            <a:r>
              <a:rPr dirty="0" sz="1800" spc="-100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7030A0"/>
                </a:solidFill>
                <a:latin typeface="Arial"/>
                <a:cs typeface="Arial"/>
              </a:rPr>
              <a:t>Template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0553" y="2086355"/>
            <a:ext cx="31553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Corbel"/>
                <a:cs typeface="Corbel"/>
              </a:rPr>
              <a:t>((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Anchor1</a:t>
            </a:r>
            <a:r>
              <a:rPr dirty="0" sz="1400" spc="-5" b="1">
                <a:latin typeface="Corbel"/>
                <a:cs typeface="Corbel"/>
              </a:rPr>
              <a:t>,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C00000"/>
                </a:solidFill>
                <a:latin typeface="Corbel"/>
                <a:cs typeface="Corbel"/>
              </a:rPr>
              <a:t>Rel1, </a:t>
            </a:r>
            <a:r>
              <a:rPr dirty="0" sz="1400" spc="-10" b="1">
                <a:solidFill>
                  <a:srgbClr val="479249"/>
                </a:solidFill>
                <a:latin typeface="Corbel"/>
                <a:cs typeface="Corbel"/>
              </a:rPr>
              <a:t>Rel2</a:t>
            </a:r>
            <a:r>
              <a:rPr dirty="0" sz="1400" spc="-10" b="1">
                <a:latin typeface="Corbel"/>
                <a:cs typeface="Corbel"/>
              </a:rPr>
              <a:t>)), </a:t>
            </a:r>
            <a:r>
              <a:rPr dirty="0" sz="1400" spc="-5" b="1">
                <a:latin typeface="Corbel"/>
                <a:cs typeface="Corbel"/>
              </a:rPr>
              <a:t>(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Anchor2</a:t>
            </a:r>
            <a:r>
              <a:rPr dirty="0" sz="1400" spc="-5" b="1">
                <a:latin typeface="Corbel"/>
                <a:cs typeface="Corbel"/>
              </a:rPr>
              <a:t>,</a:t>
            </a:r>
            <a:r>
              <a:rPr dirty="0" sz="1400" spc="-5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B48200"/>
                </a:solidFill>
                <a:latin typeface="Corbel"/>
                <a:cs typeface="Corbel"/>
              </a:rPr>
              <a:t>Rel3</a:t>
            </a:r>
            <a:r>
              <a:rPr dirty="0" sz="1400" spc="-10" b="1">
                <a:latin typeface="Corbel"/>
                <a:cs typeface="Corbel"/>
              </a:rPr>
              <a:t>))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08738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08738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47822" y="315490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47822" y="315490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08767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08767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39495" y="2671572"/>
            <a:ext cx="495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sso</a:t>
            </a:r>
            <a:r>
              <a:rPr dirty="0" sz="14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0489" y="253618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20489" y="253618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7482" y="2537708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5" h="161925">
                <a:moveTo>
                  <a:pt x="783077" y="107949"/>
                </a:moveTo>
                <a:lnTo>
                  <a:pt x="782995" y="161925"/>
                </a:lnTo>
                <a:lnTo>
                  <a:pt x="891273" y="107990"/>
                </a:lnTo>
                <a:lnTo>
                  <a:pt x="810064" y="107990"/>
                </a:lnTo>
                <a:lnTo>
                  <a:pt x="783077" y="107949"/>
                </a:lnTo>
                <a:close/>
              </a:path>
              <a:path w="945515" h="161925">
                <a:moveTo>
                  <a:pt x="783158" y="53974"/>
                </a:moveTo>
                <a:lnTo>
                  <a:pt x="783077" y="107949"/>
                </a:lnTo>
                <a:lnTo>
                  <a:pt x="810064" y="107990"/>
                </a:lnTo>
                <a:lnTo>
                  <a:pt x="810146" y="54015"/>
                </a:lnTo>
                <a:lnTo>
                  <a:pt x="783158" y="53974"/>
                </a:lnTo>
                <a:close/>
              </a:path>
              <a:path w="945515" h="161925">
                <a:moveTo>
                  <a:pt x="783240" y="0"/>
                </a:moveTo>
                <a:lnTo>
                  <a:pt x="783158" y="53974"/>
                </a:lnTo>
                <a:lnTo>
                  <a:pt x="810146" y="54015"/>
                </a:lnTo>
                <a:lnTo>
                  <a:pt x="810064" y="107990"/>
                </a:lnTo>
                <a:lnTo>
                  <a:pt x="891273" y="107990"/>
                </a:lnTo>
                <a:lnTo>
                  <a:pt x="945042" y="81207"/>
                </a:lnTo>
                <a:lnTo>
                  <a:pt x="783240" y="0"/>
                </a:lnTo>
                <a:close/>
              </a:path>
              <a:path w="945515" h="161925">
                <a:moveTo>
                  <a:pt x="81" y="52793"/>
                </a:moveTo>
                <a:lnTo>
                  <a:pt x="0" y="106768"/>
                </a:lnTo>
                <a:lnTo>
                  <a:pt x="783077" y="107949"/>
                </a:lnTo>
                <a:lnTo>
                  <a:pt x="783158" y="53974"/>
                </a:lnTo>
                <a:lnTo>
                  <a:pt x="81" y="5279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34685" y="2670470"/>
            <a:ext cx="638175" cy="508634"/>
          </a:xfrm>
          <a:custGeom>
            <a:avLst/>
            <a:gdLst/>
            <a:ahLst/>
            <a:cxnLst/>
            <a:rect l="l" t="t" r="r" b="b"/>
            <a:pathLst>
              <a:path w="638175" h="508635">
                <a:moveTo>
                  <a:pt x="33309" y="0"/>
                </a:moveTo>
                <a:lnTo>
                  <a:pt x="0" y="42470"/>
                </a:lnTo>
                <a:lnTo>
                  <a:pt x="42470" y="75780"/>
                </a:lnTo>
                <a:lnTo>
                  <a:pt x="75780" y="33309"/>
                </a:lnTo>
                <a:lnTo>
                  <a:pt x="33309" y="0"/>
                </a:lnTo>
                <a:close/>
              </a:path>
              <a:path w="638175" h="508635">
                <a:moveTo>
                  <a:pt x="118250" y="66620"/>
                </a:moveTo>
                <a:lnTo>
                  <a:pt x="84940" y="109090"/>
                </a:lnTo>
                <a:lnTo>
                  <a:pt x="127410" y="142401"/>
                </a:lnTo>
                <a:lnTo>
                  <a:pt x="160721" y="99931"/>
                </a:lnTo>
                <a:lnTo>
                  <a:pt x="118250" y="66620"/>
                </a:lnTo>
                <a:close/>
              </a:path>
              <a:path w="638175" h="508635">
                <a:moveTo>
                  <a:pt x="203191" y="133240"/>
                </a:moveTo>
                <a:lnTo>
                  <a:pt x="169881" y="175710"/>
                </a:lnTo>
                <a:lnTo>
                  <a:pt x="212351" y="209021"/>
                </a:lnTo>
                <a:lnTo>
                  <a:pt x="245661" y="166551"/>
                </a:lnTo>
                <a:lnTo>
                  <a:pt x="203191" y="133240"/>
                </a:lnTo>
                <a:close/>
              </a:path>
              <a:path w="638175" h="508635">
                <a:moveTo>
                  <a:pt x="288132" y="199861"/>
                </a:moveTo>
                <a:lnTo>
                  <a:pt x="254821" y="242331"/>
                </a:lnTo>
                <a:lnTo>
                  <a:pt x="297291" y="275642"/>
                </a:lnTo>
                <a:lnTo>
                  <a:pt x="330602" y="233172"/>
                </a:lnTo>
                <a:lnTo>
                  <a:pt x="288132" y="199861"/>
                </a:lnTo>
                <a:close/>
              </a:path>
              <a:path w="638175" h="508635">
                <a:moveTo>
                  <a:pt x="373072" y="266481"/>
                </a:moveTo>
                <a:lnTo>
                  <a:pt x="339761" y="308952"/>
                </a:lnTo>
                <a:lnTo>
                  <a:pt x="382233" y="342262"/>
                </a:lnTo>
                <a:lnTo>
                  <a:pt x="415542" y="299792"/>
                </a:lnTo>
                <a:lnTo>
                  <a:pt x="373072" y="266481"/>
                </a:lnTo>
                <a:close/>
              </a:path>
              <a:path w="638175" h="508635">
                <a:moveTo>
                  <a:pt x="560153" y="344617"/>
                </a:moveTo>
                <a:lnTo>
                  <a:pt x="460222" y="472027"/>
                </a:lnTo>
                <a:lnTo>
                  <a:pt x="637598" y="508252"/>
                </a:lnTo>
                <a:lnTo>
                  <a:pt x="608236" y="446213"/>
                </a:lnTo>
                <a:lnTo>
                  <a:pt x="514767" y="446213"/>
                </a:lnTo>
                <a:lnTo>
                  <a:pt x="509643" y="442193"/>
                </a:lnTo>
                <a:lnTo>
                  <a:pt x="542954" y="399723"/>
                </a:lnTo>
                <a:lnTo>
                  <a:pt x="586234" y="399723"/>
                </a:lnTo>
                <a:lnTo>
                  <a:pt x="560153" y="344617"/>
                </a:lnTo>
                <a:close/>
              </a:path>
              <a:path w="638175" h="508635">
                <a:moveTo>
                  <a:pt x="542954" y="399723"/>
                </a:moveTo>
                <a:lnTo>
                  <a:pt x="509643" y="442193"/>
                </a:lnTo>
                <a:lnTo>
                  <a:pt x="514767" y="446213"/>
                </a:lnTo>
                <a:lnTo>
                  <a:pt x="548078" y="403741"/>
                </a:lnTo>
                <a:lnTo>
                  <a:pt x="542954" y="399723"/>
                </a:lnTo>
                <a:close/>
              </a:path>
              <a:path w="638175" h="508635">
                <a:moveTo>
                  <a:pt x="586234" y="399723"/>
                </a:moveTo>
                <a:lnTo>
                  <a:pt x="542954" y="399723"/>
                </a:lnTo>
                <a:lnTo>
                  <a:pt x="548078" y="403741"/>
                </a:lnTo>
                <a:lnTo>
                  <a:pt x="514767" y="446213"/>
                </a:lnTo>
                <a:lnTo>
                  <a:pt x="608236" y="446213"/>
                </a:lnTo>
                <a:lnTo>
                  <a:pt x="586234" y="399723"/>
                </a:lnTo>
                <a:close/>
              </a:path>
              <a:path w="638175" h="508635">
                <a:moveTo>
                  <a:pt x="458012" y="333101"/>
                </a:moveTo>
                <a:lnTo>
                  <a:pt x="424703" y="375573"/>
                </a:lnTo>
                <a:lnTo>
                  <a:pt x="467173" y="408882"/>
                </a:lnTo>
                <a:lnTo>
                  <a:pt x="500484" y="366412"/>
                </a:lnTo>
                <a:lnTo>
                  <a:pt x="458012" y="3331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75770" y="3616538"/>
            <a:ext cx="955675" cy="161925"/>
          </a:xfrm>
          <a:custGeom>
            <a:avLst/>
            <a:gdLst/>
            <a:ahLst/>
            <a:cxnLst/>
            <a:rect l="l" t="t" r="r" b="b"/>
            <a:pathLst>
              <a:path w="955675" h="161925">
                <a:moveTo>
                  <a:pt x="793352" y="107949"/>
                </a:moveTo>
                <a:lnTo>
                  <a:pt x="793352" y="161925"/>
                </a:lnTo>
                <a:lnTo>
                  <a:pt x="901302" y="107950"/>
                </a:lnTo>
                <a:lnTo>
                  <a:pt x="793352" y="107949"/>
                </a:lnTo>
                <a:close/>
              </a:path>
              <a:path w="955675" h="161925">
                <a:moveTo>
                  <a:pt x="793352" y="53974"/>
                </a:moveTo>
                <a:lnTo>
                  <a:pt x="793352" y="107949"/>
                </a:lnTo>
                <a:lnTo>
                  <a:pt x="820339" y="107950"/>
                </a:lnTo>
                <a:lnTo>
                  <a:pt x="820339" y="53975"/>
                </a:lnTo>
                <a:lnTo>
                  <a:pt x="793352" y="53974"/>
                </a:lnTo>
                <a:close/>
              </a:path>
              <a:path w="955675" h="161925">
                <a:moveTo>
                  <a:pt x="793352" y="0"/>
                </a:moveTo>
                <a:lnTo>
                  <a:pt x="793352" y="53974"/>
                </a:lnTo>
                <a:lnTo>
                  <a:pt x="820339" y="53975"/>
                </a:lnTo>
                <a:lnTo>
                  <a:pt x="820339" y="107950"/>
                </a:lnTo>
                <a:lnTo>
                  <a:pt x="901305" y="107948"/>
                </a:lnTo>
                <a:lnTo>
                  <a:pt x="955277" y="80962"/>
                </a:lnTo>
                <a:lnTo>
                  <a:pt x="793352" y="0"/>
                </a:lnTo>
                <a:close/>
              </a:path>
              <a:path w="955675" h="161925">
                <a:moveTo>
                  <a:pt x="0" y="53973"/>
                </a:moveTo>
                <a:lnTo>
                  <a:pt x="0" y="107948"/>
                </a:lnTo>
                <a:lnTo>
                  <a:pt x="793352" y="107949"/>
                </a:lnTo>
                <a:lnTo>
                  <a:pt x="793352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431047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431047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60106" y="3293708"/>
            <a:ext cx="612775" cy="370205"/>
          </a:xfrm>
          <a:custGeom>
            <a:avLst/>
            <a:gdLst/>
            <a:ahLst/>
            <a:cxnLst/>
            <a:rect l="l" t="t" r="r" b="b"/>
            <a:pathLst>
              <a:path w="612775" h="370204">
                <a:moveTo>
                  <a:pt x="46722" y="295913"/>
                </a:moveTo>
                <a:lnTo>
                  <a:pt x="0" y="322939"/>
                </a:lnTo>
                <a:lnTo>
                  <a:pt x="27026" y="369661"/>
                </a:lnTo>
                <a:lnTo>
                  <a:pt x="73747" y="342634"/>
                </a:lnTo>
                <a:lnTo>
                  <a:pt x="46722" y="295913"/>
                </a:lnTo>
                <a:close/>
              </a:path>
              <a:path w="612775" h="370204">
                <a:moveTo>
                  <a:pt x="140163" y="241861"/>
                </a:moveTo>
                <a:lnTo>
                  <a:pt x="93442" y="268886"/>
                </a:lnTo>
                <a:lnTo>
                  <a:pt x="120469" y="315608"/>
                </a:lnTo>
                <a:lnTo>
                  <a:pt x="167190" y="288582"/>
                </a:lnTo>
                <a:lnTo>
                  <a:pt x="140163" y="241861"/>
                </a:lnTo>
                <a:close/>
              </a:path>
              <a:path w="612775" h="370204">
                <a:moveTo>
                  <a:pt x="233606" y="187808"/>
                </a:moveTo>
                <a:lnTo>
                  <a:pt x="186885" y="214834"/>
                </a:lnTo>
                <a:lnTo>
                  <a:pt x="213911" y="261556"/>
                </a:lnTo>
                <a:lnTo>
                  <a:pt x="260633" y="234529"/>
                </a:lnTo>
                <a:lnTo>
                  <a:pt x="233606" y="187808"/>
                </a:lnTo>
                <a:close/>
              </a:path>
              <a:path w="612775" h="370204">
                <a:moveTo>
                  <a:pt x="327049" y="133756"/>
                </a:moveTo>
                <a:lnTo>
                  <a:pt x="280328" y="160781"/>
                </a:lnTo>
                <a:lnTo>
                  <a:pt x="307353" y="207504"/>
                </a:lnTo>
                <a:lnTo>
                  <a:pt x="354075" y="180477"/>
                </a:lnTo>
                <a:lnTo>
                  <a:pt x="327049" y="133756"/>
                </a:lnTo>
                <a:close/>
              </a:path>
              <a:path w="612775" h="370204">
                <a:moveTo>
                  <a:pt x="420491" y="79703"/>
                </a:moveTo>
                <a:lnTo>
                  <a:pt x="373771" y="106729"/>
                </a:lnTo>
                <a:lnTo>
                  <a:pt x="400796" y="153451"/>
                </a:lnTo>
                <a:lnTo>
                  <a:pt x="447518" y="126424"/>
                </a:lnTo>
                <a:lnTo>
                  <a:pt x="420491" y="79703"/>
                </a:lnTo>
                <a:close/>
              </a:path>
              <a:path w="612775" h="370204">
                <a:moveTo>
                  <a:pt x="612176" y="0"/>
                </a:moveTo>
                <a:lnTo>
                  <a:pt x="431473" y="10996"/>
                </a:lnTo>
                <a:lnTo>
                  <a:pt x="512552" y="151160"/>
                </a:lnTo>
                <a:lnTo>
                  <a:pt x="546666" y="99399"/>
                </a:lnTo>
                <a:lnTo>
                  <a:pt x="494239" y="99399"/>
                </a:lnTo>
                <a:lnTo>
                  <a:pt x="467213" y="52677"/>
                </a:lnTo>
                <a:lnTo>
                  <a:pt x="481860" y="44204"/>
                </a:lnTo>
                <a:lnTo>
                  <a:pt x="583043" y="44204"/>
                </a:lnTo>
                <a:lnTo>
                  <a:pt x="612176" y="0"/>
                </a:lnTo>
                <a:close/>
              </a:path>
              <a:path w="612775" h="370204">
                <a:moveTo>
                  <a:pt x="481860" y="44204"/>
                </a:moveTo>
                <a:lnTo>
                  <a:pt x="467213" y="52677"/>
                </a:lnTo>
                <a:lnTo>
                  <a:pt x="494239" y="99399"/>
                </a:lnTo>
                <a:lnTo>
                  <a:pt x="508887" y="90925"/>
                </a:lnTo>
                <a:lnTo>
                  <a:pt x="481860" y="44204"/>
                </a:lnTo>
                <a:close/>
              </a:path>
              <a:path w="612775" h="370204">
                <a:moveTo>
                  <a:pt x="583043" y="44204"/>
                </a:moveTo>
                <a:lnTo>
                  <a:pt x="481860" y="44204"/>
                </a:lnTo>
                <a:lnTo>
                  <a:pt x="508887" y="90925"/>
                </a:lnTo>
                <a:lnTo>
                  <a:pt x="494239" y="99399"/>
                </a:lnTo>
                <a:lnTo>
                  <a:pt x="546666" y="99399"/>
                </a:lnTo>
                <a:lnTo>
                  <a:pt x="583043" y="44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567361" y="3436620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04148" y="2702051"/>
            <a:ext cx="8128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47784" y="3512820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300305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1"/>
                </a:lnTo>
                <a:lnTo>
                  <a:pt x="83516" y="162610"/>
                </a:lnTo>
                <a:lnTo>
                  <a:pt x="116024" y="156221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300305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467338" y="2553251"/>
            <a:ext cx="941705" cy="161925"/>
          </a:xfrm>
          <a:custGeom>
            <a:avLst/>
            <a:gdLst/>
            <a:ahLst/>
            <a:cxnLst/>
            <a:rect l="l" t="t" r="r" b="b"/>
            <a:pathLst>
              <a:path w="941705" h="161925">
                <a:moveTo>
                  <a:pt x="779504" y="107949"/>
                </a:moveTo>
                <a:lnTo>
                  <a:pt x="779504" y="161925"/>
                </a:lnTo>
                <a:lnTo>
                  <a:pt x="887454" y="107950"/>
                </a:lnTo>
                <a:lnTo>
                  <a:pt x="779504" y="107949"/>
                </a:lnTo>
                <a:close/>
              </a:path>
              <a:path w="941705" h="161925">
                <a:moveTo>
                  <a:pt x="779504" y="53974"/>
                </a:moveTo>
                <a:lnTo>
                  <a:pt x="779504" y="107949"/>
                </a:lnTo>
                <a:lnTo>
                  <a:pt x="806491" y="107950"/>
                </a:lnTo>
                <a:lnTo>
                  <a:pt x="806491" y="53975"/>
                </a:lnTo>
                <a:lnTo>
                  <a:pt x="779504" y="53974"/>
                </a:lnTo>
                <a:close/>
              </a:path>
              <a:path w="941705" h="161925">
                <a:moveTo>
                  <a:pt x="779504" y="0"/>
                </a:moveTo>
                <a:lnTo>
                  <a:pt x="779504" y="53974"/>
                </a:lnTo>
                <a:lnTo>
                  <a:pt x="806491" y="53975"/>
                </a:lnTo>
                <a:lnTo>
                  <a:pt x="806491" y="107950"/>
                </a:lnTo>
                <a:lnTo>
                  <a:pt x="887456" y="107948"/>
                </a:lnTo>
                <a:lnTo>
                  <a:pt x="941429" y="80962"/>
                </a:lnTo>
                <a:lnTo>
                  <a:pt x="779504" y="0"/>
                </a:lnTo>
                <a:close/>
              </a:path>
              <a:path w="941705" h="161925">
                <a:moveTo>
                  <a:pt x="0" y="53973"/>
                </a:moveTo>
                <a:lnTo>
                  <a:pt x="0" y="107948"/>
                </a:lnTo>
                <a:lnTo>
                  <a:pt x="779504" y="107949"/>
                </a:lnTo>
                <a:lnTo>
                  <a:pt x="779504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606525" y="41472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1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1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5" y="185063"/>
                </a:lnTo>
                <a:lnTo>
                  <a:pt x="213960" y="150604"/>
                </a:lnTo>
                <a:lnTo>
                  <a:pt x="222711" y="108407"/>
                </a:lnTo>
                <a:lnTo>
                  <a:pt x="213960" y="66210"/>
                </a:lnTo>
                <a:lnTo>
                  <a:pt x="190095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606526" y="41472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76200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922620" y="333710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922620" y="333710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76200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344786" y="2817210"/>
            <a:ext cx="1249680" cy="1932305"/>
          </a:xfrm>
          <a:custGeom>
            <a:avLst/>
            <a:gdLst/>
            <a:ahLst/>
            <a:cxnLst/>
            <a:rect l="l" t="t" r="r" b="b"/>
            <a:pathLst>
              <a:path w="1249679" h="1932304">
                <a:moveTo>
                  <a:pt x="1171846" y="85901"/>
                </a:moveTo>
                <a:lnTo>
                  <a:pt x="0" y="1911626"/>
                </a:lnTo>
                <a:lnTo>
                  <a:pt x="32063" y="1932205"/>
                </a:lnTo>
                <a:lnTo>
                  <a:pt x="1203910" y="106481"/>
                </a:lnTo>
                <a:lnTo>
                  <a:pt x="1171846" y="85901"/>
                </a:lnTo>
                <a:close/>
              </a:path>
              <a:path w="1249679" h="1932304">
                <a:moveTo>
                  <a:pt x="1242114" y="69871"/>
                </a:moveTo>
                <a:lnTo>
                  <a:pt x="1182135" y="69871"/>
                </a:lnTo>
                <a:lnTo>
                  <a:pt x="1214198" y="90451"/>
                </a:lnTo>
                <a:lnTo>
                  <a:pt x="1203910" y="106481"/>
                </a:lnTo>
                <a:lnTo>
                  <a:pt x="1235972" y="127060"/>
                </a:lnTo>
                <a:lnTo>
                  <a:pt x="1242114" y="69871"/>
                </a:lnTo>
                <a:close/>
              </a:path>
              <a:path w="1249679" h="1932304">
                <a:moveTo>
                  <a:pt x="1182135" y="69871"/>
                </a:moveTo>
                <a:lnTo>
                  <a:pt x="1171846" y="85901"/>
                </a:lnTo>
                <a:lnTo>
                  <a:pt x="1203910" y="106481"/>
                </a:lnTo>
                <a:lnTo>
                  <a:pt x="1214198" y="90451"/>
                </a:lnTo>
                <a:lnTo>
                  <a:pt x="1182135" y="69871"/>
                </a:lnTo>
                <a:close/>
              </a:path>
              <a:path w="1249679" h="1932304">
                <a:moveTo>
                  <a:pt x="1249617" y="0"/>
                </a:moveTo>
                <a:lnTo>
                  <a:pt x="1139783" y="65321"/>
                </a:lnTo>
                <a:lnTo>
                  <a:pt x="1171846" y="85901"/>
                </a:lnTo>
                <a:lnTo>
                  <a:pt x="1182135" y="69871"/>
                </a:lnTo>
                <a:lnTo>
                  <a:pt x="1242114" y="69871"/>
                </a:lnTo>
                <a:lnTo>
                  <a:pt x="1249617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404153" y="4459732"/>
            <a:ext cx="73787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69850" marR="5080" indent="-5715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Short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  Breath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91261" y="4982971"/>
            <a:ext cx="1080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au</a:t>
            </a: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s</a:t>
            </a: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edB</a:t>
            </a: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43984" y="3109467"/>
            <a:ext cx="8153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r</a:t>
            </a:r>
            <a:r>
              <a:rPr dirty="0" sz="1600" spc="-5">
                <a:latin typeface="Arial"/>
                <a:cs typeface="Arial"/>
              </a:rPr>
              <a:t>i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ide</a:t>
            </a:r>
            <a:r>
              <a:rPr dirty="0" sz="160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02466" y="3980179"/>
            <a:ext cx="1071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532355" y="3816603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346648" y="4220234"/>
            <a:ext cx="1256665" cy="554355"/>
          </a:xfrm>
          <a:custGeom>
            <a:avLst/>
            <a:gdLst/>
            <a:ahLst/>
            <a:cxnLst/>
            <a:rect l="l" t="t" r="r" b="b"/>
            <a:pathLst>
              <a:path w="1256665" h="554354">
                <a:moveTo>
                  <a:pt x="1030225" y="70733"/>
                </a:moveTo>
                <a:lnTo>
                  <a:pt x="0" y="483525"/>
                </a:lnTo>
                <a:lnTo>
                  <a:pt x="28341" y="554259"/>
                </a:lnTo>
                <a:lnTo>
                  <a:pt x="1058567" y="141466"/>
                </a:lnTo>
                <a:lnTo>
                  <a:pt x="1030225" y="70733"/>
                </a:lnTo>
                <a:close/>
              </a:path>
              <a:path w="1256665" h="554354">
                <a:moveTo>
                  <a:pt x="1225089" y="56563"/>
                </a:moveTo>
                <a:lnTo>
                  <a:pt x="1065592" y="56563"/>
                </a:lnTo>
                <a:lnTo>
                  <a:pt x="1093933" y="127295"/>
                </a:lnTo>
                <a:lnTo>
                  <a:pt x="1058567" y="141466"/>
                </a:lnTo>
                <a:lnTo>
                  <a:pt x="1086909" y="212200"/>
                </a:lnTo>
                <a:lnTo>
                  <a:pt x="1225089" y="56563"/>
                </a:lnTo>
                <a:close/>
              </a:path>
              <a:path w="1256665" h="554354">
                <a:moveTo>
                  <a:pt x="1065592" y="56563"/>
                </a:moveTo>
                <a:lnTo>
                  <a:pt x="1030225" y="70733"/>
                </a:lnTo>
                <a:lnTo>
                  <a:pt x="1058567" y="141466"/>
                </a:lnTo>
                <a:lnTo>
                  <a:pt x="1093933" y="127295"/>
                </a:lnTo>
                <a:lnTo>
                  <a:pt x="1065592" y="56563"/>
                </a:lnTo>
                <a:close/>
              </a:path>
              <a:path w="1256665" h="554354">
                <a:moveTo>
                  <a:pt x="1001883" y="0"/>
                </a:moveTo>
                <a:lnTo>
                  <a:pt x="1030225" y="70733"/>
                </a:lnTo>
                <a:lnTo>
                  <a:pt x="1065592" y="56563"/>
                </a:lnTo>
                <a:lnTo>
                  <a:pt x="1225089" y="56563"/>
                </a:lnTo>
                <a:lnTo>
                  <a:pt x="1256596" y="21075"/>
                </a:lnTo>
                <a:lnTo>
                  <a:pt x="1001883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358375" y="4720234"/>
            <a:ext cx="1279525" cy="226060"/>
          </a:xfrm>
          <a:custGeom>
            <a:avLst/>
            <a:gdLst/>
            <a:ahLst/>
            <a:cxnLst/>
            <a:rect l="l" t="t" r="r" b="b"/>
            <a:pathLst>
              <a:path w="1279525" h="226060">
                <a:moveTo>
                  <a:pt x="1163322" y="188231"/>
                </a:moveTo>
                <a:lnTo>
                  <a:pt x="1158435" y="226016"/>
                </a:lnTo>
                <a:lnTo>
                  <a:pt x="1259946" y="190675"/>
                </a:lnTo>
                <a:lnTo>
                  <a:pt x="1182216" y="190675"/>
                </a:lnTo>
                <a:lnTo>
                  <a:pt x="1163322" y="188231"/>
                </a:lnTo>
                <a:close/>
              </a:path>
              <a:path w="1279525" h="226060">
                <a:moveTo>
                  <a:pt x="1168209" y="150445"/>
                </a:moveTo>
                <a:lnTo>
                  <a:pt x="1163322" y="188231"/>
                </a:lnTo>
                <a:lnTo>
                  <a:pt x="1182216" y="190675"/>
                </a:lnTo>
                <a:lnTo>
                  <a:pt x="1187103" y="152888"/>
                </a:lnTo>
                <a:lnTo>
                  <a:pt x="1168209" y="150445"/>
                </a:lnTo>
                <a:close/>
              </a:path>
              <a:path w="1279525" h="226060">
                <a:moveTo>
                  <a:pt x="1173096" y="112660"/>
                </a:moveTo>
                <a:lnTo>
                  <a:pt x="1168209" y="150445"/>
                </a:lnTo>
                <a:lnTo>
                  <a:pt x="1187103" y="152888"/>
                </a:lnTo>
                <a:lnTo>
                  <a:pt x="1182216" y="190675"/>
                </a:lnTo>
                <a:lnTo>
                  <a:pt x="1259946" y="190675"/>
                </a:lnTo>
                <a:lnTo>
                  <a:pt x="1279122" y="183998"/>
                </a:lnTo>
                <a:lnTo>
                  <a:pt x="1173096" y="112660"/>
                </a:lnTo>
                <a:close/>
              </a:path>
              <a:path w="1279525" h="226060">
                <a:moveTo>
                  <a:pt x="4885" y="0"/>
                </a:moveTo>
                <a:lnTo>
                  <a:pt x="0" y="37785"/>
                </a:lnTo>
                <a:lnTo>
                  <a:pt x="1163322" y="188231"/>
                </a:lnTo>
                <a:lnTo>
                  <a:pt x="1168209" y="150445"/>
                </a:lnTo>
                <a:lnTo>
                  <a:pt x="4885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628911" y="33624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628911" y="33624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376819" y="4511547"/>
            <a:ext cx="7702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Ke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in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637498" y="479582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637498" y="479582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701952" y="3578859"/>
            <a:ext cx="5543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ESR2</a:t>
            </a:r>
            <a:endParaRPr sz="16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028628" y="2767076"/>
            <a:ext cx="648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ss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963475" y="3118611"/>
            <a:ext cx="67945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3302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Breast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118424" y="3412159"/>
            <a:ext cx="1037590" cy="357505"/>
          </a:xfrm>
          <a:custGeom>
            <a:avLst/>
            <a:gdLst/>
            <a:ahLst/>
            <a:cxnLst/>
            <a:rect l="l" t="t" r="r" b="b"/>
            <a:pathLst>
              <a:path w="1037589" h="357504">
                <a:moveTo>
                  <a:pt x="806164" y="283744"/>
                </a:moveTo>
                <a:lnTo>
                  <a:pt x="786955" y="357483"/>
                </a:lnTo>
                <a:lnTo>
                  <a:pt x="1036986" y="304501"/>
                </a:lnTo>
                <a:lnTo>
                  <a:pt x="1024231" y="293348"/>
                </a:lnTo>
                <a:lnTo>
                  <a:pt x="843033" y="293348"/>
                </a:lnTo>
                <a:lnTo>
                  <a:pt x="806164" y="283744"/>
                </a:lnTo>
                <a:close/>
              </a:path>
              <a:path w="1037589" h="357504">
                <a:moveTo>
                  <a:pt x="825373" y="210005"/>
                </a:moveTo>
                <a:lnTo>
                  <a:pt x="806164" y="283744"/>
                </a:lnTo>
                <a:lnTo>
                  <a:pt x="843033" y="293348"/>
                </a:lnTo>
                <a:lnTo>
                  <a:pt x="862243" y="219609"/>
                </a:lnTo>
                <a:lnTo>
                  <a:pt x="825373" y="210005"/>
                </a:lnTo>
                <a:close/>
              </a:path>
              <a:path w="1037589" h="357504">
                <a:moveTo>
                  <a:pt x="844583" y="136265"/>
                </a:moveTo>
                <a:lnTo>
                  <a:pt x="825373" y="210005"/>
                </a:lnTo>
                <a:lnTo>
                  <a:pt x="862243" y="219609"/>
                </a:lnTo>
                <a:lnTo>
                  <a:pt x="843033" y="293348"/>
                </a:lnTo>
                <a:lnTo>
                  <a:pt x="1024231" y="293348"/>
                </a:lnTo>
                <a:lnTo>
                  <a:pt x="844583" y="136265"/>
                </a:lnTo>
                <a:close/>
              </a:path>
              <a:path w="1037589" h="357504">
                <a:moveTo>
                  <a:pt x="19208" y="0"/>
                </a:moveTo>
                <a:lnTo>
                  <a:pt x="0" y="73738"/>
                </a:lnTo>
                <a:lnTo>
                  <a:pt x="806164" y="283744"/>
                </a:lnTo>
                <a:lnTo>
                  <a:pt x="825373" y="210005"/>
                </a:lnTo>
                <a:lnTo>
                  <a:pt x="1920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155410" y="36082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155410" y="36082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76200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374447" y="3436808"/>
            <a:ext cx="1254760" cy="299085"/>
          </a:xfrm>
          <a:custGeom>
            <a:avLst/>
            <a:gdLst/>
            <a:ahLst/>
            <a:cxnLst/>
            <a:rect l="l" t="t" r="r" b="b"/>
            <a:pathLst>
              <a:path w="1254759" h="299085">
                <a:moveTo>
                  <a:pt x="1138635" y="37385"/>
                </a:moveTo>
                <a:lnTo>
                  <a:pt x="0" y="261160"/>
                </a:lnTo>
                <a:lnTo>
                  <a:pt x="7346" y="298545"/>
                </a:lnTo>
                <a:lnTo>
                  <a:pt x="1145982" y="74770"/>
                </a:lnTo>
                <a:lnTo>
                  <a:pt x="1138635" y="37385"/>
                </a:lnTo>
                <a:close/>
              </a:path>
              <a:path w="1254759" h="299085">
                <a:moveTo>
                  <a:pt x="1253292" y="33712"/>
                </a:moveTo>
                <a:lnTo>
                  <a:pt x="1157328" y="33712"/>
                </a:lnTo>
                <a:lnTo>
                  <a:pt x="1164675" y="71097"/>
                </a:lnTo>
                <a:lnTo>
                  <a:pt x="1145982" y="74770"/>
                </a:lnTo>
                <a:lnTo>
                  <a:pt x="1153330" y="112154"/>
                </a:lnTo>
                <a:lnTo>
                  <a:pt x="1254464" y="34036"/>
                </a:lnTo>
                <a:lnTo>
                  <a:pt x="1253292" y="33712"/>
                </a:lnTo>
                <a:close/>
              </a:path>
              <a:path w="1254759" h="299085">
                <a:moveTo>
                  <a:pt x="1157328" y="33712"/>
                </a:moveTo>
                <a:lnTo>
                  <a:pt x="1138635" y="37385"/>
                </a:lnTo>
                <a:lnTo>
                  <a:pt x="1145982" y="74770"/>
                </a:lnTo>
                <a:lnTo>
                  <a:pt x="1164675" y="71097"/>
                </a:lnTo>
                <a:lnTo>
                  <a:pt x="1157328" y="33712"/>
                </a:lnTo>
                <a:close/>
              </a:path>
              <a:path w="1254759" h="299085">
                <a:moveTo>
                  <a:pt x="1131288" y="0"/>
                </a:moveTo>
                <a:lnTo>
                  <a:pt x="1138635" y="37385"/>
                </a:lnTo>
                <a:lnTo>
                  <a:pt x="1157328" y="33712"/>
                </a:lnTo>
                <a:lnTo>
                  <a:pt x="1253292" y="33712"/>
                </a:lnTo>
                <a:lnTo>
                  <a:pt x="1131288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363121" y="3681637"/>
            <a:ext cx="1240155" cy="575310"/>
          </a:xfrm>
          <a:custGeom>
            <a:avLst/>
            <a:gdLst/>
            <a:ahLst/>
            <a:cxnLst/>
            <a:rect l="l" t="t" r="r" b="b"/>
            <a:pathLst>
              <a:path w="1240154" h="575310">
                <a:moveTo>
                  <a:pt x="1014982" y="504704"/>
                </a:moveTo>
                <a:lnTo>
                  <a:pt x="984985" y="574752"/>
                </a:lnTo>
                <a:lnTo>
                  <a:pt x="1240123" y="559672"/>
                </a:lnTo>
                <a:lnTo>
                  <a:pt x="1206283" y="519703"/>
                </a:lnTo>
                <a:lnTo>
                  <a:pt x="1050005" y="519703"/>
                </a:lnTo>
                <a:lnTo>
                  <a:pt x="1014982" y="504704"/>
                </a:lnTo>
                <a:close/>
              </a:path>
              <a:path w="1240154" h="575310">
                <a:moveTo>
                  <a:pt x="1044980" y="434657"/>
                </a:moveTo>
                <a:lnTo>
                  <a:pt x="1014982" y="504704"/>
                </a:lnTo>
                <a:lnTo>
                  <a:pt x="1050005" y="519703"/>
                </a:lnTo>
                <a:lnTo>
                  <a:pt x="1080002" y="449656"/>
                </a:lnTo>
                <a:lnTo>
                  <a:pt x="1044980" y="434657"/>
                </a:lnTo>
                <a:close/>
              </a:path>
              <a:path w="1240154" h="575310">
                <a:moveTo>
                  <a:pt x="1074977" y="364610"/>
                </a:moveTo>
                <a:lnTo>
                  <a:pt x="1044980" y="434657"/>
                </a:lnTo>
                <a:lnTo>
                  <a:pt x="1080002" y="449656"/>
                </a:lnTo>
                <a:lnTo>
                  <a:pt x="1050005" y="519703"/>
                </a:lnTo>
                <a:lnTo>
                  <a:pt x="1206283" y="519703"/>
                </a:lnTo>
                <a:lnTo>
                  <a:pt x="1074977" y="364610"/>
                </a:lnTo>
                <a:close/>
              </a:path>
              <a:path w="1240154" h="575310">
                <a:moveTo>
                  <a:pt x="29997" y="0"/>
                </a:moveTo>
                <a:lnTo>
                  <a:pt x="0" y="70046"/>
                </a:lnTo>
                <a:lnTo>
                  <a:pt x="1014982" y="504704"/>
                </a:lnTo>
                <a:lnTo>
                  <a:pt x="1044980" y="434657"/>
                </a:lnTo>
                <a:lnTo>
                  <a:pt x="29997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101166" y="267410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69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101165" y="267410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69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5647498" y="1889251"/>
            <a:ext cx="1981835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Knowledge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  <a:p>
            <a:pPr marL="375920">
              <a:lnSpc>
                <a:spcPct val="100000"/>
              </a:lnSpc>
              <a:spcBef>
                <a:spcPts val="55"/>
              </a:spcBef>
            </a:pPr>
            <a:r>
              <a:rPr dirty="0" sz="1600" spc="-5">
                <a:latin typeface="Arial"/>
                <a:cs typeface="Arial"/>
              </a:rPr>
              <a:t>Lung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909738" y="2414523"/>
            <a:ext cx="6794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216533" y="2429764"/>
            <a:ext cx="89344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Pa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10">
                <a:latin typeface="Arial"/>
                <a:cs typeface="Arial"/>
              </a:rPr>
              <a:t>li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x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l</a:t>
            </a:r>
            <a:endParaRPr sz="16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117263" y="2782516"/>
            <a:ext cx="984250" cy="682625"/>
          </a:xfrm>
          <a:custGeom>
            <a:avLst/>
            <a:gdLst/>
            <a:ahLst/>
            <a:cxnLst/>
            <a:rect l="l" t="t" r="r" b="b"/>
            <a:pathLst>
              <a:path w="984250" h="682625">
                <a:moveTo>
                  <a:pt x="878836" y="48871"/>
                </a:moveTo>
                <a:lnTo>
                  <a:pt x="0" y="650794"/>
                </a:lnTo>
                <a:lnTo>
                  <a:pt x="21529" y="682228"/>
                </a:lnTo>
                <a:lnTo>
                  <a:pt x="900366" y="80305"/>
                </a:lnTo>
                <a:lnTo>
                  <a:pt x="878836" y="48871"/>
                </a:lnTo>
                <a:close/>
              </a:path>
              <a:path w="984250" h="682625">
                <a:moveTo>
                  <a:pt x="962756" y="38106"/>
                </a:moveTo>
                <a:lnTo>
                  <a:pt x="894553" y="38106"/>
                </a:lnTo>
                <a:lnTo>
                  <a:pt x="916082" y="69541"/>
                </a:lnTo>
                <a:lnTo>
                  <a:pt x="900366" y="80305"/>
                </a:lnTo>
                <a:lnTo>
                  <a:pt x="921895" y="111739"/>
                </a:lnTo>
                <a:lnTo>
                  <a:pt x="962756" y="38106"/>
                </a:lnTo>
                <a:close/>
              </a:path>
              <a:path w="984250" h="682625">
                <a:moveTo>
                  <a:pt x="894553" y="38106"/>
                </a:moveTo>
                <a:lnTo>
                  <a:pt x="878836" y="48871"/>
                </a:lnTo>
                <a:lnTo>
                  <a:pt x="900366" y="80305"/>
                </a:lnTo>
                <a:lnTo>
                  <a:pt x="916082" y="69541"/>
                </a:lnTo>
                <a:lnTo>
                  <a:pt x="894553" y="38106"/>
                </a:lnTo>
                <a:close/>
              </a:path>
              <a:path w="984250" h="682625">
                <a:moveTo>
                  <a:pt x="983903" y="0"/>
                </a:moveTo>
                <a:lnTo>
                  <a:pt x="857307" y="17437"/>
                </a:lnTo>
                <a:lnTo>
                  <a:pt x="878836" y="48871"/>
                </a:lnTo>
                <a:lnTo>
                  <a:pt x="894553" y="38106"/>
                </a:lnTo>
                <a:lnTo>
                  <a:pt x="962756" y="38106"/>
                </a:lnTo>
                <a:lnTo>
                  <a:pt x="98390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323356" y="2756961"/>
            <a:ext cx="1271270" cy="114300"/>
          </a:xfrm>
          <a:custGeom>
            <a:avLst/>
            <a:gdLst/>
            <a:ahLst/>
            <a:cxnLst/>
            <a:rect l="l" t="t" r="r" b="b"/>
            <a:pathLst>
              <a:path w="1271270" h="114300">
                <a:moveTo>
                  <a:pt x="1158350" y="0"/>
                </a:moveTo>
                <a:lnTo>
                  <a:pt x="1157310" y="38086"/>
                </a:lnTo>
                <a:lnTo>
                  <a:pt x="1176351" y="38606"/>
                </a:lnTo>
                <a:lnTo>
                  <a:pt x="1175311" y="76691"/>
                </a:lnTo>
                <a:lnTo>
                  <a:pt x="1156256" y="76691"/>
                </a:lnTo>
                <a:lnTo>
                  <a:pt x="1155230" y="114258"/>
                </a:lnTo>
                <a:lnTo>
                  <a:pt x="1235788" y="76691"/>
                </a:lnTo>
                <a:lnTo>
                  <a:pt x="1175311" y="76691"/>
                </a:lnTo>
                <a:lnTo>
                  <a:pt x="1156270" y="76171"/>
                </a:lnTo>
                <a:lnTo>
                  <a:pt x="1236902" y="76171"/>
                </a:lnTo>
                <a:lnTo>
                  <a:pt x="1271047" y="60248"/>
                </a:lnTo>
                <a:lnTo>
                  <a:pt x="1158350" y="0"/>
                </a:lnTo>
                <a:close/>
              </a:path>
              <a:path w="1271270" h="114300">
                <a:moveTo>
                  <a:pt x="1157310" y="38086"/>
                </a:moveTo>
                <a:lnTo>
                  <a:pt x="1156270" y="76171"/>
                </a:lnTo>
                <a:lnTo>
                  <a:pt x="1175311" y="76691"/>
                </a:lnTo>
                <a:lnTo>
                  <a:pt x="1176351" y="38606"/>
                </a:lnTo>
                <a:lnTo>
                  <a:pt x="1157310" y="38086"/>
                </a:lnTo>
                <a:close/>
              </a:path>
              <a:path w="1271270" h="114300">
                <a:moveTo>
                  <a:pt x="1040" y="6512"/>
                </a:moveTo>
                <a:lnTo>
                  <a:pt x="0" y="44598"/>
                </a:lnTo>
                <a:lnTo>
                  <a:pt x="1156270" y="76171"/>
                </a:lnTo>
                <a:lnTo>
                  <a:pt x="1157310" y="38086"/>
                </a:lnTo>
                <a:lnTo>
                  <a:pt x="1040" y="6512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577101" y="275707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69">
                <a:moveTo>
                  <a:pt x="111356" y="0"/>
                </a:moveTo>
                <a:lnTo>
                  <a:pt x="68011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1" y="208296"/>
                </a:lnTo>
                <a:lnTo>
                  <a:pt x="111356" y="216815"/>
                </a:lnTo>
                <a:lnTo>
                  <a:pt x="154700" y="208296"/>
                </a:lnTo>
                <a:lnTo>
                  <a:pt x="190095" y="185063"/>
                </a:lnTo>
                <a:lnTo>
                  <a:pt x="213960" y="150604"/>
                </a:lnTo>
                <a:lnTo>
                  <a:pt x="222711" y="108407"/>
                </a:lnTo>
                <a:lnTo>
                  <a:pt x="213960" y="66210"/>
                </a:lnTo>
                <a:lnTo>
                  <a:pt x="190095" y="31751"/>
                </a:lnTo>
                <a:lnTo>
                  <a:pt x="154700" y="8519"/>
                </a:lnTo>
                <a:lnTo>
                  <a:pt x="11135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577102" y="275707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69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155410" y="461815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155410" y="461815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3428052" y="3078988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661772" y="2478532"/>
            <a:ext cx="1101090" cy="450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789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  <a:p>
            <a:pPr marL="198120">
              <a:lnSpc>
                <a:spcPts val="1550"/>
              </a:lnSpc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774920" y="3787761"/>
            <a:ext cx="198120" cy="339090"/>
          </a:xfrm>
          <a:custGeom>
            <a:avLst/>
            <a:gdLst/>
            <a:ahLst/>
            <a:cxnLst/>
            <a:rect l="l" t="t" r="r" b="b"/>
            <a:pathLst>
              <a:path w="198119" h="339089">
                <a:moveTo>
                  <a:pt x="197809" y="98904"/>
                </a:moveTo>
                <a:lnTo>
                  <a:pt x="148356" y="98904"/>
                </a:lnTo>
                <a:lnTo>
                  <a:pt x="148356" y="338555"/>
                </a:lnTo>
                <a:lnTo>
                  <a:pt x="49452" y="338555"/>
                </a:lnTo>
                <a:lnTo>
                  <a:pt x="49452" y="98904"/>
                </a:lnTo>
                <a:lnTo>
                  <a:pt x="0" y="98904"/>
                </a:lnTo>
                <a:lnTo>
                  <a:pt x="98904" y="0"/>
                </a:lnTo>
                <a:lnTo>
                  <a:pt x="197809" y="9890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917299" y="2307844"/>
            <a:ext cx="13239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Breast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Cancer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69" name="object 6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70" name="object 7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71" name="object 7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73</a:t>
            </a:fld>
          </a:p>
        </p:txBody>
      </p:sp>
      <p:sp>
        <p:nvSpPr>
          <p:cNvPr id="67" name="object 67"/>
          <p:cNvSpPr txBox="1"/>
          <p:nvPr/>
        </p:nvSpPr>
        <p:spPr>
          <a:xfrm>
            <a:off x="40650" y="2289555"/>
            <a:ext cx="5543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ESR2</a:t>
            </a:r>
            <a:endParaRPr sz="16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92678" y="3687797"/>
            <a:ext cx="4055110" cy="2993390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896745">
              <a:lnSpc>
                <a:spcPct val="100000"/>
              </a:lnSpc>
              <a:spcBef>
                <a:spcPts val="944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  <a:p>
            <a:pPr marL="1240155">
              <a:lnSpc>
                <a:spcPct val="100000"/>
              </a:lnSpc>
              <a:spcBef>
                <a:spcPts val="950"/>
              </a:spcBef>
            </a:pPr>
            <a:r>
              <a:rPr dirty="0" sz="1800" spc="-5">
                <a:solidFill>
                  <a:srgbClr val="B48200"/>
                </a:solidFill>
                <a:latin typeface="Arial"/>
                <a:cs typeface="Arial"/>
              </a:rPr>
              <a:t>CausedBy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85"/>
              </a:spcBef>
            </a:pPr>
            <a:r>
              <a:rPr dirty="0" sz="2000">
                <a:latin typeface="Arial"/>
                <a:cs typeface="Arial"/>
              </a:rPr>
              <a:t>Then we look at </a:t>
            </a:r>
            <a:r>
              <a:rPr dirty="0" sz="2000" spc="-5">
                <a:latin typeface="Arial"/>
                <a:cs typeface="Arial"/>
              </a:rPr>
              <a:t>the </a:t>
            </a:r>
            <a:r>
              <a:rPr dirty="0" sz="2000">
                <a:latin typeface="Arial"/>
                <a:cs typeface="Arial"/>
              </a:rPr>
              <a:t>second </a:t>
            </a:r>
            <a:r>
              <a:rPr dirty="0" sz="2000" spc="-5">
                <a:latin typeface="Arial"/>
                <a:cs typeface="Arial"/>
              </a:rPr>
              <a:t>branch  </a:t>
            </a:r>
            <a:r>
              <a:rPr dirty="0" sz="2000">
                <a:latin typeface="Arial"/>
                <a:cs typeface="Arial"/>
              </a:rPr>
              <a:t>and </a:t>
            </a:r>
            <a:r>
              <a:rPr dirty="0" sz="2000" spc="-5">
                <a:latin typeface="Arial"/>
                <a:cs typeface="Arial"/>
              </a:rPr>
              <a:t>ground the </a:t>
            </a:r>
            <a:r>
              <a:rPr dirty="0" sz="2000" spc="-5" b="1">
                <a:solidFill>
                  <a:srgbClr val="B48200"/>
                </a:solidFill>
                <a:latin typeface="Arial"/>
                <a:cs typeface="Arial"/>
              </a:rPr>
              <a:t>Projection edge  </a:t>
            </a:r>
            <a:r>
              <a:rPr dirty="0" sz="2000" spc="-5">
                <a:latin typeface="Arial"/>
                <a:cs typeface="Arial"/>
              </a:rPr>
              <a:t>with the relation associated with  </a:t>
            </a:r>
            <a:r>
              <a:rPr dirty="0" sz="2000" spc="-5" b="1">
                <a:latin typeface="Arial"/>
                <a:cs typeface="Arial"/>
              </a:rPr>
              <a:t>Fulvestrant</a:t>
            </a:r>
            <a:r>
              <a:rPr dirty="0" sz="2000" spc="-5">
                <a:latin typeface="Arial"/>
                <a:cs typeface="Arial"/>
              </a:rPr>
              <a:t>, e.g., </a:t>
            </a:r>
            <a:r>
              <a:rPr dirty="0" sz="2000" spc="-5" b="1">
                <a:solidFill>
                  <a:srgbClr val="B48200"/>
                </a:solidFill>
                <a:latin typeface="Arial"/>
                <a:cs typeface="Arial"/>
              </a:rPr>
              <a:t>CausedBy</a:t>
            </a:r>
            <a:r>
              <a:rPr dirty="0" sz="2000" spc="-5">
                <a:latin typeface="Arial"/>
                <a:cs typeface="Arial"/>
              </a:rPr>
              <a:t>. Then  </a:t>
            </a:r>
            <a:r>
              <a:rPr dirty="0" sz="2000">
                <a:latin typeface="Arial"/>
                <a:cs typeface="Arial"/>
              </a:rPr>
              <a:t>we check what </a:t>
            </a:r>
            <a:r>
              <a:rPr dirty="0" sz="2000" spc="-5">
                <a:latin typeface="Arial"/>
                <a:cs typeface="Arial"/>
              </a:rPr>
              <a:t>entities are  connected to </a:t>
            </a:r>
            <a:r>
              <a:rPr dirty="0" sz="2000" spc="-5" b="1">
                <a:latin typeface="Arial"/>
                <a:cs typeface="Arial"/>
              </a:rPr>
              <a:t>Fulvestrant </a:t>
            </a:r>
            <a:r>
              <a:rPr dirty="0" sz="2000" spc="-5">
                <a:latin typeface="Arial"/>
                <a:cs typeface="Arial"/>
              </a:rPr>
              <a:t>with  </a:t>
            </a:r>
            <a:r>
              <a:rPr dirty="0" sz="2000" spc="-5" b="1">
                <a:solidFill>
                  <a:srgbClr val="B48200"/>
                </a:solidFill>
                <a:latin typeface="Arial"/>
                <a:cs typeface="Arial"/>
              </a:rPr>
              <a:t>CausedBy</a:t>
            </a:r>
            <a:r>
              <a:rPr dirty="0" sz="2000" spc="-5">
                <a:latin typeface="Arial"/>
                <a:cs typeface="Arial"/>
              </a:rPr>
              <a:t>: {</a:t>
            </a:r>
            <a:r>
              <a:rPr dirty="0" sz="2000" spc="-5" b="1">
                <a:latin typeface="Arial"/>
                <a:cs typeface="Arial"/>
              </a:rPr>
              <a:t>Short </a:t>
            </a:r>
            <a:r>
              <a:rPr dirty="0" sz="2000" b="1">
                <a:latin typeface="Arial"/>
                <a:cs typeface="Arial"/>
              </a:rPr>
              <a:t>of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Breath</a:t>
            </a:r>
            <a:r>
              <a:rPr dirty="0" sz="2000" spc="-5">
                <a:latin typeface="Arial"/>
                <a:cs typeface="Arial"/>
              </a:rPr>
              <a:t>}.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927" y="356615"/>
            <a:ext cx="7592568" cy="509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3746" y="1351788"/>
            <a:ext cx="84816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 i="0">
                <a:latin typeface="Calibri"/>
                <a:cs typeface="Calibri"/>
              </a:rPr>
              <a:t>How </a:t>
            </a:r>
            <a:r>
              <a:rPr dirty="0" sz="3200" spc="-15" b="1" i="0">
                <a:latin typeface="Calibri"/>
                <a:cs typeface="Calibri"/>
              </a:rPr>
              <a:t>to </a:t>
            </a:r>
            <a:r>
              <a:rPr dirty="0" sz="3200" spc="-20" b="1" i="0">
                <a:latin typeface="Calibri"/>
                <a:cs typeface="Calibri"/>
              </a:rPr>
              <a:t>instantiate </a:t>
            </a:r>
            <a:r>
              <a:rPr dirty="0" sz="3200" b="1" i="0">
                <a:latin typeface="Calibri"/>
                <a:cs typeface="Calibri"/>
              </a:rPr>
              <a:t>a </a:t>
            </a:r>
            <a:r>
              <a:rPr dirty="0" sz="3200" spc="-5" b="1" i="0">
                <a:latin typeface="Calibri"/>
                <a:cs typeface="Calibri"/>
              </a:rPr>
              <a:t>query </a:t>
            </a:r>
            <a:r>
              <a:rPr dirty="0" sz="3200" spc="-15" b="1" i="0">
                <a:latin typeface="Calibri"/>
                <a:cs typeface="Calibri"/>
              </a:rPr>
              <a:t>template </a:t>
            </a:r>
            <a:r>
              <a:rPr dirty="0" sz="3200" spc="-10" b="1" i="0">
                <a:latin typeface="Calibri"/>
                <a:cs typeface="Calibri"/>
              </a:rPr>
              <a:t>given </a:t>
            </a:r>
            <a:r>
              <a:rPr dirty="0" sz="3200" b="1" i="0">
                <a:latin typeface="Calibri"/>
                <a:cs typeface="Calibri"/>
              </a:rPr>
              <a:t>a</a:t>
            </a:r>
            <a:r>
              <a:rPr dirty="0" sz="3200" spc="25" b="1" i="0">
                <a:latin typeface="Calibri"/>
                <a:cs typeface="Calibri"/>
              </a:rPr>
              <a:t> </a:t>
            </a:r>
            <a:r>
              <a:rPr dirty="0" sz="3200" spc="-45" b="1" i="0">
                <a:latin typeface="Calibri"/>
                <a:cs typeface="Calibri"/>
              </a:rPr>
              <a:t>KG?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0229" y="1822195"/>
            <a:ext cx="17367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7030A0"/>
                </a:solidFill>
                <a:latin typeface="Arial"/>
                <a:cs typeface="Arial"/>
              </a:rPr>
              <a:t>Query</a:t>
            </a:r>
            <a:r>
              <a:rPr dirty="0" sz="1800" spc="-100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7030A0"/>
                </a:solidFill>
                <a:latin typeface="Arial"/>
                <a:cs typeface="Arial"/>
              </a:rPr>
              <a:t>Template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0553" y="2086355"/>
            <a:ext cx="31553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Corbel"/>
                <a:cs typeface="Corbel"/>
              </a:rPr>
              <a:t>((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Anchor1</a:t>
            </a:r>
            <a:r>
              <a:rPr dirty="0" sz="1400" spc="-5" b="1">
                <a:latin typeface="Corbel"/>
                <a:cs typeface="Corbel"/>
              </a:rPr>
              <a:t>,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C00000"/>
                </a:solidFill>
                <a:latin typeface="Corbel"/>
                <a:cs typeface="Corbel"/>
              </a:rPr>
              <a:t>Rel1, </a:t>
            </a:r>
            <a:r>
              <a:rPr dirty="0" sz="1400" spc="-10" b="1">
                <a:solidFill>
                  <a:srgbClr val="479249"/>
                </a:solidFill>
                <a:latin typeface="Corbel"/>
                <a:cs typeface="Corbel"/>
              </a:rPr>
              <a:t>Rel2</a:t>
            </a:r>
            <a:r>
              <a:rPr dirty="0" sz="1400" spc="-10" b="1">
                <a:latin typeface="Corbel"/>
                <a:cs typeface="Corbel"/>
              </a:rPr>
              <a:t>)), </a:t>
            </a:r>
            <a:r>
              <a:rPr dirty="0" sz="1400" spc="-5" b="1">
                <a:latin typeface="Corbel"/>
                <a:cs typeface="Corbel"/>
              </a:rPr>
              <a:t>(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Anchor2</a:t>
            </a:r>
            <a:r>
              <a:rPr dirty="0" sz="1400" spc="-5" b="1">
                <a:latin typeface="Corbel"/>
                <a:cs typeface="Corbel"/>
              </a:rPr>
              <a:t>,</a:t>
            </a:r>
            <a:r>
              <a:rPr dirty="0" sz="1400" spc="-5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B48200"/>
                </a:solidFill>
                <a:latin typeface="Corbel"/>
                <a:cs typeface="Corbel"/>
              </a:rPr>
              <a:t>Rel3</a:t>
            </a:r>
            <a:r>
              <a:rPr dirty="0" sz="1400" spc="-10" b="1">
                <a:latin typeface="Corbel"/>
                <a:cs typeface="Corbel"/>
              </a:rPr>
              <a:t>))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08738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08738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47822" y="315490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47822" y="315490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08767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08767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39495" y="2671572"/>
            <a:ext cx="495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sso</a:t>
            </a:r>
            <a:r>
              <a:rPr dirty="0" sz="14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0489" y="253618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20489" y="253618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7482" y="2537708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5" h="161925">
                <a:moveTo>
                  <a:pt x="783077" y="107949"/>
                </a:moveTo>
                <a:lnTo>
                  <a:pt x="782995" y="161925"/>
                </a:lnTo>
                <a:lnTo>
                  <a:pt x="891273" y="107990"/>
                </a:lnTo>
                <a:lnTo>
                  <a:pt x="810064" y="107990"/>
                </a:lnTo>
                <a:lnTo>
                  <a:pt x="783077" y="107949"/>
                </a:lnTo>
                <a:close/>
              </a:path>
              <a:path w="945515" h="161925">
                <a:moveTo>
                  <a:pt x="783158" y="53974"/>
                </a:moveTo>
                <a:lnTo>
                  <a:pt x="783077" y="107949"/>
                </a:lnTo>
                <a:lnTo>
                  <a:pt x="810064" y="107990"/>
                </a:lnTo>
                <a:lnTo>
                  <a:pt x="810146" y="54015"/>
                </a:lnTo>
                <a:lnTo>
                  <a:pt x="783158" y="53974"/>
                </a:lnTo>
                <a:close/>
              </a:path>
              <a:path w="945515" h="161925">
                <a:moveTo>
                  <a:pt x="783240" y="0"/>
                </a:moveTo>
                <a:lnTo>
                  <a:pt x="783158" y="53974"/>
                </a:lnTo>
                <a:lnTo>
                  <a:pt x="810146" y="54015"/>
                </a:lnTo>
                <a:lnTo>
                  <a:pt x="810064" y="107990"/>
                </a:lnTo>
                <a:lnTo>
                  <a:pt x="891273" y="107990"/>
                </a:lnTo>
                <a:lnTo>
                  <a:pt x="945042" y="81207"/>
                </a:lnTo>
                <a:lnTo>
                  <a:pt x="783240" y="0"/>
                </a:lnTo>
                <a:close/>
              </a:path>
              <a:path w="945515" h="161925">
                <a:moveTo>
                  <a:pt x="81" y="52793"/>
                </a:moveTo>
                <a:lnTo>
                  <a:pt x="0" y="106768"/>
                </a:lnTo>
                <a:lnTo>
                  <a:pt x="783077" y="107949"/>
                </a:lnTo>
                <a:lnTo>
                  <a:pt x="783158" y="53974"/>
                </a:lnTo>
                <a:lnTo>
                  <a:pt x="81" y="5279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34685" y="2670470"/>
            <a:ext cx="638175" cy="508634"/>
          </a:xfrm>
          <a:custGeom>
            <a:avLst/>
            <a:gdLst/>
            <a:ahLst/>
            <a:cxnLst/>
            <a:rect l="l" t="t" r="r" b="b"/>
            <a:pathLst>
              <a:path w="638175" h="508635">
                <a:moveTo>
                  <a:pt x="33309" y="0"/>
                </a:moveTo>
                <a:lnTo>
                  <a:pt x="0" y="42470"/>
                </a:lnTo>
                <a:lnTo>
                  <a:pt x="42470" y="75780"/>
                </a:lnTo>
                <a:lnTo>
                  <a:pt x="75780" y="33309"/>
                </a:lnTo>
                <a:lnTo>
                  <a:pt x="33309" y="0"/>
                </a:lnTo>
                <a:close/>
              </a:path>
              <a:path w="638175" h="508635">
                <a:moveTo>
                  <a:pt x="118250" y="66620"/>
                </a:moveTo>
                <a:lnTo>
                  <a:pt x="84940" y="109090"/>
                </a:lnTo>
                <a:lnTo>
                  <a:pt x="127410" y="142401"/>
                </a:lnTo>
                <a:lnTo>
                  <a:pt x="160721" y="99931"/>
                </a:lnTo>
                <a:lnTo>
                  <a:pt x="118250" y="66620"/>
                </a:lnTo>
                <a:close/>
              </a:path>
              <a:path w="638175" h="508635">
                <a:moveTo>
                  <a:pt x="203191" y="133240"/>
                </a:moveTo>
                <a:lnTo>
                  <a:pt x="169881" y="175710"/>
                </a:lnTo>
                <a:lnTo>
                  <a:pt x="212351" y="209021"/>
                </a:lnTo>
                <a:lnTo>
                  <a:pt x="245661" y="166551"/>
                </a:lnTo>
                <a:lnTo>
                  <a:pt x="203191" y="133240"/>
                </a:lnTo>
                <a:close/>
              </a:path>
              <a:path w="638175" h="508635">
                <a:moveTo>
                  <a:pt x="288132" y="199861"/>
                </a:moveTo>
                <a:lnTo>
                  <a:pt x="254821" y="242331"/>
                </a:lnTo>
                <a:lnTo>
                  <a:pt x="297291" y="275642"/>
                </a:lnTo>
                <a:lnTo>
                  <a:pt x="330602" y="233172"/>
                </a:lnTo>
                <a:lnTo>
                  <a:pt x="288132" y="199861"/>
                </a:lnTo>
                <a:close/>
              </a:path>
              <a:path w="638175" h="508635">
                <a:moveTo>
                  <a:pt x="373072" y="266481"/>
                </a:moveTo>
                <a:lnTo>
                  <a:pt x="339761" y="308952"/>
                </a:lnTo>
                <a:lnTo>
                  <a:pt x="382233" y="342262"/>
                </a:lnTo>
                <a:lnTo>
                  <a:pt x="415542" y="299792"/>
                </a:lnTo>
                <a:lnTo>
                  <a:pt x="373072" y="266481"/>
                </a:lnTo>
                <a:close/>
              </a:path>
              <a:path w="638175" h="508635">
                <a:moveTo>
                  <a:pt x="560153" y="344617"/>
                </a:moveTo>
                <a:lnTo>
                  <a:pt x="460222" y="472027"/>
                </a:lnTo>
                <a:lnTo>
                  <a:pt x="637598" y="508252"/>
                </a:lnTo>
                <a:lnTo>
                  <a:pt x="608236" y="446213"/>
                </a:lnTo>
                <a:lnTo>
                  <a:pt x="514767" y="446213"/>
                </a:lnTo>
                <a:lnTo>
                  <a:pt x="509643" y="442193"/>
                </a:lnTo>
                <a:lnTo>
                  <a:pt x="542954" y="399723"/>
                </a:lnTo>
                <a:lnTo>
                  <a:pt x="586234" y="399723"/>
                </a:lnTo>
                <a:lnTo>
                  <a:pt x="560153" y="344617"/>
                </a:lnTo>
                <a:close/>
              </a:path>
              <a:path w="638175" h="508635">
                <a:moveTo>
                  <a:pt x="542954" y="399723"/>
                </a:moveTo>
                <a:lnTo>
                  <a:pt x="509643" y="442193"/>
                </a:lnTo>
                <a:lnTo>
                  <a:pt x="514767" y="446213"/>
                </a:lnTo>
                <a:lnTo>
                  <a:pt x="548078" y="403741"/>
                </a:lnTo>
                <a:lnTo>
                  <a:pt x="542954" y="399723"/>
                </a:lnTo>
                <a:close/>
              </a:path>
              <a:path w="638175" h="508635">
                <a:moveTo>
                  <a:pt x="586234" y="399723"/>
                </a:moveTo>
                <a:lnTo>
                  <a:pt x="542954" y="399723"/>
                </a:lnTo>
                <a:lnTo>
                  <a:pt x="548078" y="403741"/>
                </a:lnTo>
                <a:lnTo>
                  <a:pt x="514767" y="446213"/>
                </a:lnTo>
                <a:lnTo>
                  <a:pt x="608236" y="446213"/>
                </a:lnTo>
                <a:lnTo>
                  <a:pt x="586234" y="399723"/>
                </a:lnTo>
                <a:close/>
              </a:path>
              <a:path w="638175" h="508635">
                <a:moveTo>
                  <a:pt x="458012" y="333101"/>
                </a:moveTo>
                <a:lnTo>
                  <a:pt x="424703" y="375573"/>
                </a:lnTo>
                <a:lnTo>
                  <a:pt x="467173" y="408882"/>
                </a:lnTo>
                <a:lnTo>
                  <a:pt x="500484" y="366412"/>
                </a:lnTo>
                <a:lnTo>
                  <a:pt x="458012" y="3331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75770" y="3616538"/>
            <a:ext cx="955675" cy="161925"/>
          </a:xfrm>
          <a:custGeom>
            <a:avLst/>
            <a:gdLst/>
            <a:ahLst/>
            <a:cxnLst/>
            <a:rect l="l" t="t" r="r" b="b"/>
            <a:pathLst>
              <a:path w="955675" h="161925">
                <a:moveTo>
                  <a:pt x="793352" y="107949"/>
                </a:moveTo>
                <a:lnTo>
                  <a:pt x="793352" y="161925"/>
                </a:lnTo>
                <a:lnTo>
                  <a:pt x="901302" y="107950"/>
                </a:lnTo>
                <a:lnTo>
                  <a:pt x="793352" y="107949"/>
                </a:lnTo>
                <a:close/>
              </a:path>
              <a:path w="955675" h="161925">
                <a:moveTo>
                  <a:pt x="793352" y="53974"/>
                </a:moveTo>
                <a:lnTo>
                  <a:pt x="793352" y="107949"/>
                </a:lnTo>
                <a:lnTo>
                  <a:pt x="820339" y="107950"/>
                </a:lnTo>
                <a:lnTo>
                  <a:pt x="820339" y="53975"/>
                </a:lnTo>
                <a:lnTo>
                  <a:pt x="793352" y="53974"/>
                </a:lnTo>
                <a:close/>
              </a:path>
              <a:path w="955675" h="161925">
                <a:moveTo>
                  <a:pt x="793352" y="0"/>
                </a:moveTo>
                <a:lnTo>
                  <a:pt x="793352" y="53974"/>
                </a:lnTo>
                <a:lnTo>
                  <a:pt x="820339" y="53975"/>
                </a:lnTo>
                <a:lnTo>
                  <a:pt x="820339" y="107950"/>
                </a:lnTo>
                <a:lnTo>
                  <a:pt x="901305" y="107948"/>
                </a:lnTo>
                <a:lnTo>
                  <a:pt x="955277" y="80962"/>
                </a:lnTo>
                <a:lnTo>
                  <a:pt x="793352" y="0"/>
                </a:lnTo>
                <a:close/>
              </a:path>
              <a:path w="955675" h="161925">
                <a:moveTo>
                  <a:pt x="0" y="53973"/>
                </a:moveTo>
                <a:lnTo>
                  <a:pt x="0" y="107948"/>
                </a:lnTo>
                <a:lnTo>
                  <a:pt x="793352" y="107949"/>
                </a:lnTo>
                <a:lnTo>
                  <a:pt x="793352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431047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431047" y="3616194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60106" y="3293708"/>
            <a:ext cx="612775" cy="370205"/>
          </a:xfrm>
          <a:custGeom>
            <a:avLst/>
            <a:gdLst/>
            <a:ahLst/>
            <a:cxnLst/>
            <a:rect l="l" t="t" r="r" b="b"/>
            <a:pathLst>
              <a:path w="612775" h="370204">
                <a:moveTo>
                  <a:pt x="46722" y="295913"/>
                </a:moveTo>
                <a:lnTo>
                  <a:pt x="0" y="322939"/>
                </a:lnTo>
                <a:lnTo>
                  <a:pt x="27026" y="369661"/>
                </a:lnTo>
                <a:lnTo>
                  <a:pt x="73747" y="342634"/>
                </a:lnTo>
                <a:lnTo>
                  <a:pt x="46722" y="295913"/>
                </a:lnTo>
                <a:close/>
              </a:path>
              <a:path w="612775" h="370204">
                <a:moveTo>
                  <a:pt x="140163" y="241861"/>
                </a:moveTo>
                <a:lnTo>
                  <a:pt x="93442" y="268886"/>
                </a:lnTo>
                <a:lnTo>
                  <a:pt x="120469" y="315608"/>
                </a:lnTo>
                <a:lnTo>
                  <a:pt x="167190" y="288582"/>
                </a:lnTo>
                <a:lnTo>
                  <a:pt x="140163" y="241861"/>
                </a:lnTo>
                <a:close/>
              </a:path>
              <a:path w="612775" h="370204">
                <a:moveTo>
                  <a:pt x="233606" y="187808"/>
                </a:moveTo>
                <a:lnTo>
                  <a:pt x="186885" y="214834"/>
                </a:lnTo>
                <a:lnTo>
                  <a:pt x="213911" y="261556"/>
                </a:lnTo>
                <a:lnTo>
                  <a:pt x="260633" y="234529"/>
                </a:lnTo>
                <a:lnTo>
                  <a:pt x="233606" y="187808"/>
                </a:lnTo>
                <a:close/>
              </a:path>
              <a:path w="612775" h="370204">
                <a:moveTo>
                  <a:pt x="327049" y="133756"/>
                </a:moveTo>
                <a:lnTo>
                  <a:pt x="280328" y="160781"/>
                </a:lnTo>
                <a:lnTo>
                  <a:pt x="307353" y="207504"/>
                </a:lnTo>
                <a:lnTo>
                  <a:pt x="354075" y="180477"/>
                </a:lnTo>
                <a:lnTo>
                  <a:pt x="327049" y="133756"/>
                </a:lnTo>
                <a:close/>
              </a:path>
              <a:path w="612775" h="370204">
                <a:moveTo>
                  <a:pt x="420491" y="79703"/>
                </a:moveTo>
                <a:lnTo>
                  <a:pt x="373771" y="106729"/>
                </a:lnTo>
                <a:lnTo>
                  <a:pt x="400796" y="153451"/>
                </a:lnTo>
                <a:lnTo>
                  <a:pt x="447518" y="126424"/>
                </a:lnTo>
                <a:lnTo>
                  <a:pt x="420491" y="79703"/>
                </a:lnTo>
                <a:close/>
              </a:path>
              <a:path w="612775" h="370204">
                <a:moveTo>
                  <a:pt x="612176" y="0"/>
                </a:moveTo>
                <a:lnTo>
                  <a:pt x="431473" y="10996"/>
                </a:lnTo>
                <a:lnTo>
                  <a:pt x="512552" y="151160"/>
                </a:lnTo>
                <a:lnTo>
                  <a:pt x="546666" y="99399"/>
                </a:lnTo>
                <a:lnTo>
                  <a:pt x="494239" y="99399"/>
                </a:lnTo>
                <a:lnTo>
                  <a:pt x="467213" y="52677"/>
                </a:lnTo>
                <a:lnTo>
                  <a:pt x="481860" y="44204"/>
                </a:lnTo>
                <a:lnTo>
                  <a:pt x="583043" y="44204"/>
                </a:lnTo>
                <a:lnTo>
                  <a:pt x="612176" y="0"/>
                </a:lnTo>
                <a:close/>
              </a:path>
              <a:path w="612775" h="370204">
                <a:moveTo>
                  <a:pt x="481860" y="44204"/>
                </a:moveTo>
                <a:lnTo>
                  <a:pt x="467213" y="52677"/>
                </a:lnTo>
                <a:lnTo>
                  <a:pt x="494239" y="99399"/>
                </a:lnTo>
                <a:lnTo>
                  <a:pt x="508887" y="90925"/>
                </a:lnTo>
                <a:lnTo>
                  <a:pt x="481860" y="44204"/>
                </a:lnTo>
                <a:close/>
              </a:path>
              <a:path w="612775" h="370204">
                <a:moveTo>
                  <a:pt x="583043" y="44204"/>
                </a:moveTo>
                <a:lnTo>
                  <a:pt x="481860" y="44204"/>
                </a:lnTo>
                <a:lnTo>
                  <a:pt x="508887" y="90925"/>
                </a:lnTo>
                <a:lnTo>
                  <a:pt x="494239" y="99399"/>
                </a:lnTo>
                <a:lnTo>
                  <a:pt x="546666" y="99399"/>
                </a:lnTo>
                <a:lnTo>
                  <a:pt x="583043" y="44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567361" y="3436620"/>
            <a:ext cx="8191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">
                <a:solidFill>
                  <a:srgbClr val="BF9000"/>
                </a:solidFill>
                <a:latin typeface="Arial"/>
                <a:cs typeface="Arial"/>
              </a:rPr>
              <a:t>C</a:t>
            </a:r>
            <a:r>
              <a:rPr dirty="0" sz="1400" spc="-30">
                <a:solidFill>
                  <a:srgbClr val="BF9000"/>
                </a:solidFill>
                <a:latin typeface="Arial"/>
                <a:cs typeface="Arial"/>
              </a:rPr>
              <a:t>au</a:t>
            </a: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s</a:t>
            </a:r>
            <a:r>
              <a:rPr dirty="0" sz="1400" spc="-30">
                <a:solidFill>
                  <a:srgbClr val="BF9000"/>
                </a:solidFill>
                <a:latin typeface="Arial"/>
                <a:cs typeface="Arial"/>
              </a:rPr>
              <a:t>ed</a:t>
            </a:r>
            <a:r>
              <a:rPr dirty="0" sz="1400" spc="-35">
                <a:solidFill>
                  <a:srgbClr val="BF9000"/>
                </a:solidFill>
                <a:latin typeface="Arial"/>
                <a:cs typeface="Arial"/>
              </a:rPr>
              <a:t>B</a:t>
            </a:r>
            <a:r>
              <a:rPr dirty="0" sz="1400">
                <a:solidFill>
                  <a:srgbClr val="BF9000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04148" y="2702051"/>
            <a:ext cx="8128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47784" y="3512820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300305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1"/>
                </a:lnTo>
                <a:lnTo>
                  <a:pt x="83516" y="162610"/>
                </a:lnTo>
                <a:lnTo>
                  <a:pt x="116024" y="156221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300305" y="2552906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40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467338" y="2553251"/>
            <a:ext cx="941705" cy="161925"/>
          </a:xfrm>
          <a:custGeom>
            <a:avLst/>
            <a:gdLst/>
            <a:ahLst/>
            <a:cxnLst/>
            <a:rect l="l" t="t" r="r" b="b"/>
            <a:pathLst>
              <a:path w="941705" h="161925">
                <a:moveTo>
                  <a:pt x="779504" y="107949"/>
                </a:moveTo>
                <a:lnTo>
                  <a:pt x="779504" y="161925"/>
                </a:lnTo>
                <a:lnTo>
                  <a:pt x="887454" y="107950"/>
                </a:lnTo>
                <a:lnTo>
                  <a:pt x="779504" y="107949"/>
                </a:lnTo>
                <a:close/>
              </a:path>
              <a:path w="941705" h="161925">
                <a:moveTo>
                  <a:pt x="779504" y="53974"/>
                </a:moveTo>
                <a:lnTo>
                  <a:pt x="779504" y="107949"/>
                </a:lnTo>
                <a:lnTo>
                  <a:pt x="806491" y="107950"/>
                </a:lnTo>
                <a:lnTo>
                  <a:pt x="806491" y="53975"/>
                </a:lnTo>
                <a:lnTo>
                  <a:pt x="779504" y="53974"/>
                </a:lnTo>
                <a:close/>
              </a:path>
              <a:path w="941705" h="161925">
                <a:moveTo>
                  <a:pt x="779504" y="0"/>
                </a:moveTo>
                <a:lnTo>
                  <a:pt x="779504" y="53974"/>
                </a:lnTo>
                <a:lnTo>
                  <a:pt x="806491" y="53975"/>
                </a:lnTo>
                <a:lnTo>
                  <a:pt x="806491" y="107950"/>
                </a:lnTo>
                <a:lnTo>
                  <a:pt x="887456" y="107948"/>
                </a:lnTo>
                <a:lnTo>
                  <a:pt x="941429" y="80962"/>
                </a:lnTo>
                <a:lnTo>
                  <a:pt x="779504" y="0"/>
                </a:lnTo>
                <a:close/>
              </a:path>
              <a:path w="941705" h="161925">
                <a:moveTo>
                  <a:pt x="0" y="53973"/>
                </a:moveTo>
                <a:lnTo>
                  <a:pt x="0" y="107948"/>
                </a:lnTo>
                <a:lnTo>
                  <a:pt x="779504" y="107949"/>
                </a:lnTo>
                <a:lnTo>
                  <a:pt x="779504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606525" y="41472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1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1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5" y="185063"/>
                </a:lnTo>
                <a:lnTo>
                  <a:pt x="213960" y="150604"/>
                </a:lnTo>
                <a:lnTo>
                  <a:pt x="222711" y="108407"/>
                </a:lnTo>
                <a:lnTo>
                  <a:pt x="213960" y="66210"/>
                </a:lnTo>
                <a:lnTo>
                  <a:pt x="190095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606526" y="414725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76200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922620" y="333710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922620" y="333710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76200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344786" y="2817210"/>
            <a:ext cx="1249680" cy="1932305"/>
          </a:xfrm>
          <a:custGeom>
            <a:avLst/>
            <a:gdLst/>
            <a:ahLst/>
            <a:cxnLst/>
            <a:rect l="l" t="t" r="r" b="b"/>
            <a:pathLst>
              <a:path w="1249679" h="1932304">
                <a:moveTo>
                  <a:pt x="1171846" y="85901"/>
                </a:moveTo>
                <a:lnTo>
                  <a:pt x="0" y="1911626"/>
                </a:lnTo>
                <a:lnTo>
                  <a:pt x="32063" y="1932205"/>
                </a:lnTo>
                <a:lnTo>
                  <a:pt x="1203910" y="106481"/>
                </a:lnTo>
                <a:lnTo>
                  <a:pt x="1171846" y="85901"/>
                </a:lnTo>
                <a:close/>
              </a:path>
              <a:path w="1249679" h="1932304">
                <a:moveTo>
                  <a:pt x="1242114" y="69871"/>
                </a:moveTo>
                <a:lnTo>
                  <a:pt x="1182135" y="69871"/>
                </a:lnTo>
                <a:lnTo>
                  <a:pt x="1214198" y="90451"/>
                </a:lnTo>
                <a:lnTo>
                  <a:pt x="1203910" y="106481"/>
                </a:lnTo>
                <a:lnTo>
                  <a:pt x="1235972" y="127060"/>
                </a:lnTo>
                <a:lnTo>
                  <a:pt x="1242114" y="69871"/>
                </a:lnTo>
                <a:close/>
              </a:path>
              <a:path w="1249679" h="1932304">
                <a:moveTo>
                  <a:pt x="1182135" y="69871"/>
                </a:moveTo>
                <a:lnTo>
                  <a:pt x="1171846" y="85901"/>
                </a:lnTo>
                <a:lnTo>
                  <a:pt x="1203910" y="106481"/>
                </a:lnTo>
                <a:lnTo>
                  <a:pt x="1214198" y="90451"/>
                </a:lnTo>
                <a:lnTo>
                  <a:pt x="1182135" y="69871"/>
                </a:lnTo>
                <a:close/>
              </a:path>
              <a:path w="1249679" h="1932304">
                <a:moveTo>
                  <a:pt x="1249617" y="0"/>
                </a:moveTo>
                <a:lnTo>
                  <a:pt x="1139783" y="65321"/>
                </a:lnTo>
                <a:lnTo>
                  <a:pt x="1171846" y="85901"/>
                </a:lnTo>
                <a:lnTo>
                  <a:pt x="1182135" y="69871"/>
                </a:lnTo>
                <a:lnTo>
                  <a:pt x="1242114" y="69871"/>
                </a:lnTo>
                <a:lnTo>
                  <a:pt x="1249617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404153" y="4459732"/>
            <a:ext cx="73787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69850" marR="5080" indent="-5715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Short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  Breath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91261" y="4982971"/>
            <a:ext cx="1080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au</a:t>
            </a: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s</a:t>
            </a:r>
            <a:r>
              <a:rPr dirty="0" sz="1800" spc="-5">
                <a:solidFill>
                  <a:srgbClr val="BF9000"/>
                </a:solidFill>
                <a:latin typeface="Arial"/>
                <a:cs typeface="Arial"/>
              </a:rPr>
              <a:t>edB</a:t>
            </a:r>
            <a:r>
              <a:rPr dirty="0" sz="1800">
                <a:solidFill>
                  <a:srgbClr val="BF9000"/>
                </a:solidFill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43984" y="3109467"/>
            <a:ext cx="8153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r</a:t>
            </a:r>
            <a:r>
              <a:rPr dirty="0" sz="1600" spc="-5">
                <a:latin typeface="Arial"/>
                <a:cs typeface="Arial"/>
              </a:rPr>
              <a:t>i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ide</a:t>
            </a:r>
            <a:r>
              <a:rPr dirty="0" sz="160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02466" y="3980179"/>
            <a:ext cx="1071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532355" y="3816603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346648" y="4220234"/>
            <a:ext cx="1256665" cy="554355"/>
          </a:xfrm>
          <a:custGeom>
            <a:avLst/>
            <a:gdLst/>
            <a:ahLst/>
            <a:cxnLst/>
            <a:rect l="l" t="t" r="r" b="b"/>
            <a:pathLst>
              <a:path w="1256665" h="554354">
                <a:moveTo>
                  <a:pt x="1030225" y="70733"/>
                </a:moveTo>
                <a:lnTo>
                  <a:pt x="0" y="483525"/>
                </a:lnTo>
                <a:lnTo>
                  <a:pt x="28341" y="554259"/>
                </a:lnTo>
                <a:lnTo>
                  <a:pt x="1058567" y="141466"/>
                </a:lnTo>
                <a:lnTo>
                  <a:pt x="1030225" y="70733"/>
                </a:lnTo>
                <a:close/>
              </a:path>
              <a:path w="1256665" h="554354">
                <a:moveTo>
                  <a:pt x="1225089" y="56563"/>
                </a:moveTo>
                <a:lnTo>
                  <a:pt x="1065592" y="56563"/>
                </a:lnTo>
                <a:lnTo>
                  <a:pt x="1093933" y="127295"/>
                </a:lnTo>
                <a:lnTo>
                  <a:pt x="1058567" y="141466"/>
                </a:lnTo>
                <a:lnTo>
                  <a:pt x="1086909" y="212200"/>
                </a:lnTo>
                <a:lnTo>
                  <a:pt x="1225089" y="56563"/>
                </a:lnTo>
                <a:close/>
              </a:path>
              <a:path w="1256665" h="554354">
                <a:moveTo>
                  <a:pt x="1065592" y="56563"/>
                </a:moveTo>
                <a:lnTo>
                  <a:pt x="1030225" y="70733"/>
                </a:lnTo>
                <a:lnTo>
                  <a:pt x="1058567" y="141466"/>
                </a:lnTo>
                <a:lnTo>
                  <a:pt x="1093933" y="127295"/>
                </a:lnTo>
                <a:lnTo>
                  <a:pt x="1065592" y="56563"/>
                </a:lnTo>
                <a:close/>
              </a:path>
              <a:path w="1256665" h="554354">
                <a:moveTo>
                  <a:pt x="1001883" y="0"/>
                </a:moveTo>
                <a:lnTo>
                  <a:pt x="1030225" y="70733"/>
                </a:lnTo>
                <a:lnTo>
                  <a:pt x="1065592" y="56563"/>
                </a:lnTo>
                <a:lnTo>
                  <a:pt x="1225089" y="56563"/>
                </a:lnTo>
                <a:lnTo>
                  <a:pt x="1256596" y="21075"/>
                </a:lnTo>
                <a:lnTo>
                  <a:pt x="1001883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358375" y="4720234"/>
            <a:ext cx="1279525" cy="226060"/>
          </a:xfrm>
          <a:custGeom>
            <a:avLst/>
            <a:gdLst/>
            <a:ahLst/>
            <a:cxnLst/>
            <a:rect l="l" t="t" r="r" b="b"/>
            <a:pathLst>
              <a:path w="1279525" h="226060">
                <a:moveTo>
                  <a:pt x="1163322" y="188231"/>
                </a:moveTo>
                <a:lnTo>
                  <a:pt x="1158435" y="226016"/>
                </a:lnTo>
                <a:lnTo>
                  <a:pt x="1259946" y="190675"/>
                </a:lnTo>
                <a:lnTo>
                  <a:pt x="1182216" y="190675"/>
                </a:lnTo>
                <a:lnTo>
                  <a:pt x="1163322" y="188231"/>
                </a:lnTo>
                <a:close/>
              </a:path>
              <a:path w="1279525" h="226060">
                <a:moveTo>
                  <a:pt x="1168209" y="150445"/>
                </a:moveTo>
                <a:lnTo>
                  <a:pt x="1163322" y="188231"/>
                </a:lnTo>
                <a:lnTo>
                  <a:pt x="1182216" y="190675"/>
                </a:lnTo>
                <a:lnTo>
                  <a:pt x="1187103" y="152888"/>
                </a:lnTo>
                <a:lnTo>
                  <a:pt x="1168209" y="150445"/>
                </a:lnTo>
                <a:close/>
              </a:path>
              <a:path w="1279525" h="226060">
                <a:moveTo>
                  <a:pt x="1173096" y="112660"/>
                </a:moveTo>
                <a:lnTo>
                  <a:pt x="1168209" y="150445"/>
                </a:lnTo>
                <a:lnTo>
                  <a:pt x="1187103" y="152888"/>
                </a:lnTo>
                <a:lnTo>
                  <a:pt x="1182216" y="190675"/>
                </a:lnTo>
                <a:lnTo>
                  <a:pt x="1259946" y="190675"/>
                </a:lnTo>
                <a:lnTo>
                  <a:pt x="1279122" y="183998"/>
                </a:lnTo>
                <a:lnTo>
                  <a:pt x="1173096" y="112660"/>
                </a:lnTo>
                <a:close/>
              </a:path>
              <a:path w="1279525" h="226060">
                <a:moveTo>
                  <a:pt x="4885" y="0"/>
                </a:moveTo>
                <a:lnTo>
                  <a:pt x="0" y="37785"/>
                </a:lnTo>
                <a:lnTo>
                  <a:pt x="1163322" y="188231"/>
                </a:lnTo>
                <a:lnTo>
                  <a:pt x="1168209" y="150445"/>
                </a:lnTo>
                <a:lnTo>
                  <a:pt x="4885" y="0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628911" y="33624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628911" y="336243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376819" y="4511547"/>
            <a:ext cx="7702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Ke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in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637498" y="479582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637498" y="4795824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701952" y="3578859"/>
            <a:ext cx="5543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ESR2</a:t>
            </a:r>
            <a:endParaRPr sz="16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028628" y="2767076"/>
            <a:ext cx="648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ss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963475" y="3118611"/>
            <a:ext cx="67945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3302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Breast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118424" y="3412159"/>
            <a:ext cx="1037590" cy="357505"/>
          </a:xfrm>
          <a:custGeom>
            <a:avLst/>
            <a:gdLst/>
            <a:ahLst/>
            <a:cxnLst/>
            <a:rect l="l" t="t" r="r" b="b"/>
            <a:pathLst>
              <a:path w="1037589" h="357504">
                <a:moveTo>
                  <a:pt x="806164" y="283744"/>
                </a:moveTo>
                <a:lnTo>
                  <a:pt x="786955" y="357483"/>
                </a:lnTo>
                <a:lnTo>
                  <a:pt x="1036986" y="304501"/>
                </a:lnTo>
                <a:lnTo>
                  <a:pt x="1024231" y="293348"/>
                </a:lnTo>
                <a:lnTo>
                  <a:pt x="843033" y="293348"/>
                </a:lnTo>
                <a:lnTo>
                  <a:pt x="806164" y="283744"/>
                </a:lnTo>
                <a:close/>
              </a:path>
              <a:path w="1037589" h="357504">
                <a:moveTo>
                  <a:pt x="825373" y="210005"/>
                </a:moveTo>
                <a:lnTo>
                  <a:pt x="806164" y="283744"/>
                </a:lnTo>
                <a:lnTo>
                  <a:pt x="843033" y="293348"/>
                </a:lnTo>
                <a:lnTo>
                  <a:pt x="862243" y="219609"/>
                </a:lnTo>
                <a:lnTo>
                  <a:pt x="825373" y="210005"/>
                </a:lnTo>
                <a:close/>
              </a:path>
              <a:path w="1037589" h="357504">
                <a:moveTo>
                  <a:pt x="844583" y="136265"/>
                </a:moveTo>
                <a:lnTo>
                  <a:pt x="825373" y="210005"/>
                </a:lnTo>
                <a:lnTo>
                  <a:pt x="862243" y="219609"/>
                </a:lnTo>
                <a:lnTo>
                  <a:pt x="843033" y="293348"/>
                </a:lnTo>
                <a:lnTo>
                  <a:pt x="1024231" y="293348"/>
                </a:lnTo>
                <a:lnTo>
                  <a:pt x="844583" y="136265"/>
                </a:lnTo>
                <a:close/>
              </a:path>
              <a:path w="1037589" h="357504">
                <a:moveTo>
                  <a:pt x="19208" y="0"/>
                </a:moveTo>
                <a:lnTo>
                  <a:pt x="0" y="73738"/>
                </a:lnTo>
                <a:lnTo>
                  <a:pt x="806164" y="283744"/>
                </a:lnTo>
                <a:lnTo>
                  <a:pt x="825373" y="210005"/>
                </a:lnTo>
                <a:lnTo>
                  <a:pt x="1920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155410" y="36082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155410" y="3608253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76200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374447" y="3436808"/>
            <a:ext cx="1254760" cy="299085"/>
          </a:xfrm>
          <a:custGeom>
            <a:avLst/>
            <a:gdLst/>
            <a:ahLst/>
            <a:cxnLst/>
            <a:rect l="l" t="t" r="r" b="b"/>
            <a:pathLst>
              <a:path w="1254759" h="299085">
                <a:moveTo>
                  <a:pt x="1138635" y="37385"/>
                </a:moveTo>
                <a:lnTo>
                  <a:pt x="0" y="261160"/>
                </a:lnTo>
                <a:lnTo>
                  <a:pt x="7346" y="298545"/>
                </a:lnTo>
                <a:lnTo>
                  <a:pt x="1145982" y="74770"/>
                </a:lnTo>
                <a:lnTo>
                  <a:pt x="1138635" y="37385"/>
                </a:lnTo>
                <a:close/>
              </a:path>
              <a:path w="1254759" h="299085">
                <a:moveTo>
                  <a:pt x="1253292" y="33712"/>
                </a:moveTo>
                <a:lnTo>
                  <a:pt x="1157328" y="33712"/>
                </a:lnTo>
                <a:lnTo>
                  <a:pt x="1164675" y="71097"/>
                </a:lnTo>
                <a:lnTo>
                  <a:pt x="1145982" y="74770"/>
                </a:lnTo>
                <a:lnTo>
                  <a:pt x="1153330" y="112154"/>
                </a:lnTo>
                <a:lnTo>
                  <a:pt x="1254464" y="34036"/>
                </a:lnTo>
                <a:lnTo>
                  <a:pt x="1253292" y="33712"/>
                </a:lnTo>
                <a:close/>
              </a:path>
              <a:path w="1254759" h="299085">
                <a:moveTo>
                  <a:pt x="1157328" y="33712"/>
                </a:moveTo>
                <a:lnTo>
                  <a:pt x="1138635" y="37385"/>
                </a:lnTo>
                <a:lnTo>
                  <a:pt x="1145982" y="74770"/>
                </a:lnTo>
                <a:lnTo>
                  <a:pt x="1164675" y="71097"/>
                </a:lnTo>
                <a:lnTo>
                  <a:pt x="1157328" y="33712"/>
                </a:lnTo>
                <a:close/>
              </a:path>
              <a:path w="1254759" h="299085">
                <a:moveTo>
                  <a:pt x="1131288" y="0"/>
                </a:moveTo>
                <a:lnTo>
                  <a:pt x="1138635" y="37385"/>
                </a:lnTo>
                <a:lnTo>
                  <a:pt x="1157328" y="33712"/>
                </a:lnTo>
                <a:lnTo>
                  <a:pt x="1253292" y="33712"/>
                </a:lnTo>
                <a:lnTo>
                  <a:pt x="1131288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363121" y="3681637"/>
            <a:ext cx="1240155" cy="575310"/>
          </a:xfrm>
          <a:custGeom>
            <a:avLst/>
            <a:gdLst/>
            <a:ahLst/>
            <a:cxnLst/>
            <a:rect l="l" t="t" r="r" b="b"/>
            <a:pathLst>
              <a:path w="1240154" h="575310">
                <a:moveTo>
                  <a:pt x="1014982" y="504704"/>
                </a:moveTo>
                <a:lnTo>
                  <a:pt x="984985" y="574752"/>
                </a:lnTo>
                <a:lnTo>
                  <a:pt x="1240123" y="559672"/>
                </a:lnTo>
                <a:lnTo>
                  <a:pt x="1206283" y="519703"/>
                </a:lnTo>
                <a:lnTo>
                  <a:pt x="1050005" y="519703"/>
                </a:lnTo>
                <a:lnTo>
                  <a:pt x="1014982" y="504704"/>
                </a:lnTo>
                <a:close/>
              </a:path>
              <a:path w="1240154" h="575310">
                <a:moveTo>
                  <a:pt x="1044980" y="434657"/>
                </a:moveTo>
                <a:lnTo>
                  <a:pt x="1014982" y="504704"/>
                </a:lnTo>
                <a:lnTo>
                  <a:pt x="1050005" y="519703"/>
                </a:lnTo>
                <a:lnTo>
                  <a:pt x="1080002" y="449656"/>
                </a:lnTo>
                <a:lnTo>
                  <a:pt x="1044980" y="434657"/>
                </a:lnTo>
                <a:close/>
              </a:path>
              <a:path w="1240154" h="575310">
                <a:moveTo>
                  <a:pt x="1074977" y="364610"/>
                </a:moveTo>
                <a:lnTo>
                  <a:pt x="1044980" y="434657"/>
                </a:lnTo>
                <a:lnTo>
                  <a:pt x="1080002" y="449656"/>
                </a:lnTo>
                <a:lnTo>
                  <a:pt x="1050005" y="519703"/>
                </a:lnTo>
                <a:lnTo>
                  <a:pt x="1206283" y="519703"/>
                </a:lnTo>
                <a:lnTo>
                  <a:pt x="1074977" y="364610"/>
                </a:lnTo>
                <a:close/>
              </a:path>
              <a:path w="1240154" h="575310">
                <a:moveTo>
                  <a:pt x="29997" y="0"/>
                </a:moveTo>
                <a:lnTo>
                  <a:pt x="0" y="70046"/>
                </a:lnTo>
                <a:lnTo>
                  <a:pt x="1014982" y="504704"/>
                </a:lnTo>
                <a:lnTo>
                  <a:pt x="1044980" y="434657"/>
                </a:lnTo>
                <a:lnTo>
                  <a:pt x="29997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101166" y="267410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69">
                <a:moveTo>
                  <a:pt x="111354" y="0"/>
                </a:moveTo>
                <a:lnTo>
                  <a:pt x="68010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0" y="208296"/>
                </a:lnTo>
                <a:lnTo>
                  <a:pt x="111354" y="216815"/>
                </a:lnTo>
                <a:lnTo>
                  <a:pt x="154699" y="208296"/>
                </a:lnTo>
                <a:lnTo>
                  <a:pt x="190094" y="185063"/>
                </a:lnTo>
                <a:lnTo>
                  <a:pt x="213958" y="150604"/>
                </a:lnTo>
                <a:lnTo>
                  <a:pt x="222709" y="108407"/>
                </a:lnTo>
                <a:lnTo>
                  <a:pt x="213958" y="66210"/>
                </a:lnTo>
                <a:lnTo>
                  <a:pt x="190094" y="31751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101165" y="2674109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69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5647498" y="1889251"/>
            <a:ext cx="1981835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Knowledge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  <a:p>
            <a:pPr marL="375920">
              <a:lnSpc>
                <a:spcPct val="100000"/>
              </a:lnSpc>
              <a:spcBef>
                <a:spcPts val="55"/>
              </a:spcBef>
            </a:pPr>
            <a:r>
              <a:rPr dirty="0" sz="1600" spc="-5">
                <a:latin typeface="Arial"/>
                <a:cs typeface="Arial"/>
              </a:rPr>
              <a:t>Lung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909738" y="2414523"/>
            <a:ext cx="6794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an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216533" y="2429764"/>
            <a:ext cx="89344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Pa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10">
                <a:latin typeface="Arial"/>
                <a:cs typeface="Arial"/>
              </a:rPr>
              <a:t>li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x</a:t>
            </a:r>
            <a:r>
              <a:rPr dirty="0" sz="1600" spc="-5">
                <a:latin typeface="Arial"/>
                <a:cs typeface="Arial"/>
              </a:rPr>
              <a:t>e</a:t>
            </a:r>
            <a:r>
              <a:rPr dirty="0" sz="1600">
                <a:latin typeface="Arial"/>
                <a:cs typeface="Arial"/>
              </a:rPr>
              <a:t>l</a:t>
            </a:r>
            <a:endParaRPr sz="16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117263" y="2782516"/>
            <a:ext cx="984250" cy="682625"/>
          </a:xfrm>
          <a:custGeom>
            <a:avLst/>
            <a:gdLst/>
            <a:ahLst/>
            <a:cxnLst/>
            <a:rect l="l" t="t" r="r" b="b"/>
            <a:pathLst>
              <a:path w="984250" h="682625">
                <a:moveTo>
                  <a:pt x="878836" y="48871"/>
                </a:moveTo>
                <a:lnTo>
                  <a:pt x="0" y="650794"/>
                </a:lnTo>
                <a:lnTo>
                  <a:pt x="21529" y="682228"/>
                </a:lnTo>
                <a:lnTo>
                  <a:pt x="900366" y="80305"/>
                </a:lnTo>
                <a:lnTo>
                  <a:pt x="878836" y="48871"/>
                </a:lnTo>
                <a:close/>
              </a:path>
              <a:path w="984250" h="682625">
                <a:moveTo>
                  <a:pt x="962756" y="38106"/>
                </a:moveTo>
                <a:lnTo>
                  <a:pt x="894553" y="38106"/>
                </a:lnTo>
                <a:lnTo>
                  <a:pt x="916082" y="69541"/>
                </a:lnTo>
                <a:lnTo>
                  <a:pt x="900366" y="80305"/>
                </a:lnTo>
                <a:lnTo>
                  <a:pt x="921895" y="111739"/>
                </a:lnTo>
                <a:lnTo>
                  <a:pt x="962756" y="38106"/>
                </a:lnTo>
                <a:close/>
              </a:path>
              <a:path w="984250" h="682625">
                <a:moveTo>
                  <a:pt x="894553" y="38106"/>
                </a:moveTo>
                <a:lnTo>
                  <a:pt x="878836" y="48871"/>
                </a:lnTo>
                <a:lnTo>
                  <a:pt x="900366" y="80305"/>
                </a:lnTo>
                <a:lnTo>
                  <a:pt x="916082" y="69541"/>
                </a:lnTo>
                <a:lnTo>
                  <a:pt x="894553" y="38106"/>
                </a:lnTo>
                <a:close/>
              </a:path>
              <a:path w="984250" h="682625">
                <a:moveTo>
                  <a:pt x="983903" y="0"/>
                </a:moveTo>
                <a:lnTo>
                  <a:pt x="857307" y="17437"/>
                </a:lnTo>
                <a:lnTo>
                  <a:pt x="878836" y="48871"/>
                </a:lnTo>
                <a:lnTo>
                  <a:pt x="894553" y="38106"/>
                </a:lnTo>
                <a:lnTo>
                  <a:pt x="962756" y="38106"/>
                </a:lnTo>
                <a:lnTo>
                  <a:pt x="98390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323356" y="2756961"/>
            <a:ext cx="1271270" cy="114300"/>
          </a:xfrm>
          <a:custGeom>
            <a:avLst/>
            <a:gdLst/>
            <a:ahLst/>
            <a:cxnLst/>
            <a:rect l="l" t="t" r="r" b="b"/>
            <a:pathLst>
              <a:path w="1271270" h="114300">
                <a:moveTo>
                  <a:pt x="1158350" y="0"/>
                </a:moveTo>
                <a:lnTo>
                  <a:pt x="1157310" y="38086"/>
                </a:lnTo>
                <a:lnTo>
                  <a:pt x="1176351" y="38606"/>
                </a:lnTo>
                <a:lnTo>
                  <a:pt x="1175311" y="76691"/>
                </a:lnTo>
                <a:lnTo>
                  <a:pt x="1156256" y="76691"/>
                </a:lnTo>
                <a:lnTo>
                  <a:pt x="1155230" y="114258"/>
                </a:lnTo>
                <a:lnTo>
                  <a:pt x="1235788" y="76691"/>
                </a:lnTo>
                <a:lnTo>
                  <a:pt x="1175311" y="76691"/>
                </a:lnTo>
                <a:lnTo>
                  <a:pt x="1156270" y="76171"/>
                </a:lnTo>
                <a:lnTo>
                  <a:pt x="1236902" y="76171"/>
                </a:lnTo>
                <a:lnTo>
                  <a:pt x="1271047" y="60248"/>
                </a:lnTo>
                <a:lnTo>
                  <a:pt x="1158350" y="0"/>
                </a:lnTo>
                <a:close/>
              </a:path>
              <a:path w="1271270" h="114300">
                <a:moveTo>
                  <a:pt x="1157310" y="38086"/>
                </a:moveTo>
                <a:lnTo>
                  <a:pt x="1156270" y="76171"/>
                </a:lnTo>
                <a:lnTo>
                  <a:pt x="1175311" y="76691"/>
                </a:lnTo>
                <a:lnTo>
                  <a:pt x="1176351" y="38606"/>
                </a:lnTo>
                <a:lnTo>
                  <a:pt x="1157310" y="38086"/>
                </a:lnTo>
                <a:close/>
              </a:path>
              <a:path w="1271270" h="114300">
                <a:moveTo>
                  <a:pt x="1040" y="6512"/>
                </a:moveTo>
                <a:lnTo>
                  <a:pt x="0" y="44598"/>
                </a:lnTo>
                <a:lnTo>
                  <a:pt x="1156270" y="76171"/>
                </a:lnTo>
                <a:lnTo>
                  <a:pt x="1157310" y="38086"/>
                </a:lnTo>
                <a:lnTo>
                  <a:pt x="1040" y="6512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577101" y="275707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69">
                <a:moveTo>
                  <a:pt x="111356" y="0"/>
                </a:moveTo>
                <a:lnTo>
                  <a:pt x="68011" y="8519"/>
                </a:lnTo>
                <a:lnTo>
                  <a:pt x="32615" y="31751"/>
                </a:lnTo>
                <a:lnTo>
                  <a:pt x="8750" y="66210"/>
                </a:lnTo>
                <a:lnTo>
                  <a:pt x="0" y="108407"/>
                </a:lnTo>
                <a:lnTo>
                  <a:pt x="8750" y="150604"/>
                </a:lnTo>
                <a:lnTo>
                  <a:pt x="32615" y="185063"/>
                </a:lnTo>
                <a:lnTo>
                  <a:pt x="68011" y="208296"/>
                </a:lnTo>
                <a:lnTo>
                  <a:pt x="111356" y="216815"/>
                </a:lnTo>
                <a:lnTo>
                  <a:pt x="154700" y="208296"/>
                </a:lnTo>
                <a:lnTo>
                  <a:pt x="190095" y="185063"/>
                </a:lnTo>
                <a:lnTo>
                  <a:pt x="213960" y="150604"/>
                </a:lnTo>
                <a:lnTo>
                  <a:pt x="222711" y="108407"/>
                </a:lnTo>
                <a:lnTo>
                  <a:pt x="213960" y="66210"/>
                </a:lnTo>
                <a:lnTo>
                  <a:pt x="190095" y="31751"/>
                </a:lnTo>
                <a:lnTo>
                  <a:pt x="154700" y="8519"/>
                </a:lnTo>
                <a:lnTo>
                  <a:pt x="11135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577102" y="2757072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4" h="217169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155410" y="461815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155410" y="4618155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3428052" y="3078988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077136" y="3795267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661772" y="2478532"/>
            <a:ext cx="1101090" cy="450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789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  <a:p>
            <a:pPr marL="198120">
              <a:lnSpc>
                <a:spcPts val="1550"/>
              </a:lnSpc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17299" y="2307844"/>
            <a:ext cx="13239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Breast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Cancer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0650" y="2289555"/>
            <a:ext cx="5543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ESR2</a:t>
            </a:r>
            <a:endParaRPr sz="16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92678" y="4521708"/>
            <a:ext cx="390144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latin typeface="Arial"/>
                <a:cs typeface="Arial"/>
              </a:rPr>
              <a:t>We </a:t>
            </a:r>
            <a:r>
              <a:rPr dirty="0" sz="2000">
                <a:latin typeface="Arial"/>
                <a:cs typeface="Arial"/>
              </a:rPr>
              <a:t>select </a:t>
            </a:r>
            <a:r>
              <a:rPr dirty="0" sz="2000" spc="-5">
                <a:latin typeface="Arial"/>
                <a:cs typeface="Arial"/>
              </a:rPr>
              <a:t>entity from {</a:t>
            </a:r>
            <a:r>
              <a:rPr dirty="0" sz="2000" spc="-5" b="1">
                <a:latin typeface="Arial"/>
                <a:cs typeface="Arial"/>
              </a:rPr>
              <a:t>Short </a:t>
            </a:r>
            <a:r>
              <a:rPr dirty="0" sz="2000" b="1">
                <a:latin typeface="Arial"/>
                <a:cs typeface="Arial"/>
              </a:rPr>
              <a:t>of  </a:t>
            </a:r>
            <a:r>
              <a:rPr dirty="0" sz="2000" spc="-5" b="1">
                <a:latin typeface="Arial"/>
                <a:cs typeface="Arial"/>
              </a:rPr>
              <a:t>Breath</a:t>
            </a:r>
            <a:r>
              <a:rPr dirty="0" sz="2000" spc="-5">
                <a:latin typeface="Arial"/>
                <a:cs typeface="Arial"/>
              </a:rPr>
              <a:t>}, </a:t>
            </a:r>
            <a:r>
              <a:rPr dirty="0" sz="2000">
                <a:latin typeface="Arial"/>
                <a:cs typeface="Arial"/>
              </a:rPr>
              <a:t>set it as </a:t>
            </a:r>
            <a:r>
              <a:rPr dirty="0" sz="2000" spc="-5">
                <a:latin typeface="Arial"/>
                <a:cs typeface="Arial"/>
              </a:rPr>
              <a:t>the </a:t>
            </a:r>
            <a:r>
              <a:rPr dirty="0" sz="2000">
                <a:latin typeface="Arial"/>
                <a:cs typeface="Arial"/>
              </a:rPr>
              <a:t>anchor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node.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22276" y="3463035"/>
            <a:ext cx="73787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98425" marR="5080" indent="-85725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Short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  Breath</a:t>
            </a:r>
            <a:endParaRPr sz="16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6156288" y="461932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4" y="0"/>
                </a:moveTo>
                <a:lnTo>
                  <a:pt x="68010" y="8519"/>
                </a:lnTo>
                <a:lnTo>
                  <a:pt x="32615" y="31752"/>
                </a:lnTo>
                <a:lnTo>
                  <a:pt x="8750" y="66211"/>
                </a:lnTo>
                <a:lnTo>
                  <a:pt x="0" y="108408"/>
                </a:lnTo>
                <a:lnTo>
                  <a:pt x="8750" y="150605"/>
                </a:lnTo>
                <a:lnTo>
                  <a:pt x="32615" y="185064"/>
                </a:lnTo>
                <a:lnTo>
                  <a:pt x="68010" y="208297"/>
                </a:lnTo>
                <a:lnTo>
                  <a:pt x="111354" y="216816"/>
                </a:lnTo>
                <a:lnTo>
                  <a:pt x="154699" y="208297"/>
                </a:lnTo>
                <a:lnTo>
                  <a:pt x="190094" y="185064"/>
                </a:lnTo>
                <a:lnTo>
                  <a:pt x="213958" y="150605"/>
                </a:lnTo>
                <a:lnTo>
                  <a:pt x="222709" y="108408"/>
                </a:lnTo>
                <a:lnTo>
                  <a:pt x="213958" y="66211"/>
                </a:lnTo>
                <a:lnTo>
                  <a:pt x="190094" y="31752"/>
                </a:lnTo>
                <a:lnTo>
                  <a:pt x="154699" y="8519"/>
                </a:lnTo>
                <a:lnTo>
                  <a:pt x="111354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156287" y="4619321"/>
            <a:ext cx="222885" cy="217170"/>
          </a:xfrm>
          <a:custGeom>
            <a:avLst/>
            <a:gdLst/>
            <a:ahLst/>
            <a:cxnLst/>
            <a:rect l="l" t="t" r="r" b="b"/>
            <a:pathLst>
              <a:path w="222885" h="217170">
                <a:moveTo>
                  <a:pt x="111355" y="0"/>
                </a:moveTo>
                <a:lnTo>
                  <a:pt x="154699" y="8519"/>
                </a:lnTo>
                <a:lnTo>
                  <a:pt x="190094" y="31751"/>
                </a:lnTo>
                <a:lnTo>
                  <a:pt x="213959" y="66210"/>
                </a:lnTo>
                <a:lnTo>
                  <a:pt x="222710" y="108408"/>
                </a:lnTo>
                <a:lnTo>
                  <a:pt x="213959" y="150605"/>
                </a:lnTo>
                <a:lnTo>
                  <a:pt x="190094" y="185064"/>
                </a:lnTo>
                <a:lnTo>
                  <a:pt x="154699" y="208296"/>
                </a:lnTo>
                <a:lnTo>
                  <a:pt x="111355" y="216816"/>
                </a:lnTo>
                <a:lnTo>
                  <a:pt x="68010" y="208296"/>
                </a:lnTo>
                <a:lnTo>
                  <a:pt x="32615" y="185064"/>
                </a:lnTo>
                <a:lnTo>
                  <a:pt x="8750" y="150605"/>
                </a:lnTo>
                <a:lnTo>
                  <a:pt x="0" y="108408"/>
                </a:lnTo>
                <a:lnTo>
                  <a:pt x="8750" y="66210"/>
                </a:lnTo>
                <a:lnTo>
                  <a:pt x="32615" y="31751"/>
                </a:lnTo>
                <a:lnTo>
                  <a:pt x="68010" y="8519"/>
                </a:lnTo>
                <a:lnTo>
                  <a:pt x="111355" y="0"/>
                </a:lnTo>
                <a:close/>
              </a:path>
            </a:pathLst>
          </a:custGeom>
          <a:ln w="76200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73" name="object 7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74" name="object 7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73</a:t>
            </a:fld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927" y="356615"/>
            <a:ext cx="7592568" cy="509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3746" y="1351788"/>
            <a:ext cx="84816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 i="0">
                <a:latin typeface="Calibri"/>
                <a:cs typeface="Calibri"/>
              </a:rPr>
              <a:t>How </a:t>
            </a:r>
            <a:r>
              <a:rPr dirty="0" sz="3200" spc="-15" b="1" i="0">
                <a:latin typeface="Calibri"/>
                <a:cs typeface="Calibri"/>
              </a:rPr>
              <a:t>to </a:t>
            </a:r>
            <a:r>
              <a:rPr dirty="0" sz="3200" spc="-20" b="1" i="0">
                <a:latin typeface="Calibri"/>
                <a:cs typeface="Calibri"/>
              </a:rPr>
              <a:t>instantiate </a:t>
            </a:r>
            <a:r>
              <a:rPr dirty="0" sz="3200" b="1" i="0">
                <a:latin typeface="Calibri"/>
                <a:cs typeface="Calibri"/>
              </a:rPr>
              <a:t>a </a:t>
            </a:r>
            <a:r>
              <a:rPr dirty="0" sz="3200" spc="-5" b="1" i="0">
                <a:latin typeface="Calibri"/>
                <a:cs typeface="Calibri"/>
              </a:rPr>
              <a:t>query </a:t>
            </a:r>
            <a:r>
              <a:rPr dirty="0" sz="3200" spc="-15" b="1" i="0">
                <a:latin typeface="Calibri"/>
                <a:cs typeface="Calibri"/>
              </a:rPr>
              <a:t>template </a:t>
            </a:r>
            <a:r>
              <a:rPr dirty="0" sz="3200" spc="-10" b="1" i="0">
                <a:latin typeface="Calibri"/>
                <a:cs typeface="Calibri"/>
              </a:rPr>
              <a:t>given </a:t>
            </a:r>
            <a:r>
              <a:rPr dirty="0" sz="3200" b="1" i="0">
                <a:latin typeface="Calibri"/>
                <a:cs typeface="Calibri"/>
              </a:rPr>
              <a:t>a</a:t>
            </a:r>
            <a:r>
              <a:rPr dirty="0" sz="3200" spc="25" b="1" i="0">
                <a:latin typeface="Calibri"/>
                <a:cs typeface="Calibri"/>
              </a:rPr>
              <a:t> </a:t>
            </a:r>
            <a:r>
              <a:rPr dirty="0" sz="3200" spc="-45" b="1" i="0">
                <a:latin typeface="Calibri"/>
                <a:cs typeface="Calibri"/>
              </a:rPr>
              <a:t>KG?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6728" y="4445508"/>
            <a:ext cx="753237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0">
                <a:latin typeface="Arial"/>
                <a:cs typeface="Arial"/>
              </a:rPr>
              <a:t>Now, </a:t>
            </a:r>
            <a:r>
              <a:rPr dirty="0" sz="2000">
                <a:latin typeface="Arial"/>
                <a:cs typeface="Arial"/>
              </a:rPr>
              <a:t>we </a:t>
            </a:r>
            <a:r>
              <a:rPr dirty="0" sz="2000" spc="-5">
                <a:latin typeface="Arial"/>
                <a:cs typeface="Arial"/>
              </a:rPr>
              <a:t>instantiated </a:t>
            </a:r>
            <a:r>
              <a:rPr dirty="0" sz="2000">
                <a:latin typeface="Arial"/>
                <a:cs typeface="Arial"/>
              </a:rPr>
              <a:t>a </a:t>
            </a:r>
            <a:r>
              <a:rPr dirty="0" sz="2000" spc="-5" b="1">
                <a:solidFill>
                  <a:srgbClr val="7030A0"/>
                </a:solidFill>
                <a:latin typeface="Arial"/>
                <a:cs typeface="Arial"/>
              </a:rPr>
              <a:t>query</a:t>
            </a:r>
            <a:r>
              <a:rPr dirty="0" sz="2000" spc="-35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7030A0"/>
                </a:solidFill>
                <a:latin typeface="Cambria Math"/>
                <a:cs typeface="Cambria Math"/>
              </a:rPr>
              <a:t>𝒒</a:t>
            </a:r>
            <a:r>
              <a:rPr dirty="0" sz="2000">
                <a:latin typeface="Arial"/>
                <a:cs typeface="Arial"/>
              </a:rPr>
              <a:t>!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7030A0"/>
                </a:solidFill>
                <a:latin typeface="Cambria Math"/>
                <a:cs typeface="Cambria Math"/>
              </a:rPr>
              <a:t>𝒒: </a:t>
            </a:r>
            <a:r>
              <a:rPr dirty="0" sz="2000" spc="-10" b="1">
                <a:latin typeface="Corbel"/>
                <a:cs typeface="Corbel"/>
              </a:rPr>
              <a:t>((</a:t>
            </a:r>
            <a:r>
              <a:rPr dirty="0" sz="2000" spc="-10" b="1">
                <a:solidFill>
                  <a:srgbClr val="0070C0"/>
                </a:solidFill>
                <a:latin typeface="Corbel"/>
                <a:cs typeface="Corbel"/>
              </a:rPr>
              <a:t>e:ESR2</a:t>
            </a:r>
            <a:r>
              <a:rPr dirty="0" sz="2000" spc="-10" b="1">
                <a:latin typeface="Corbel"/>
                <a:cs typeface="Corbel"/>
              </a:rPr>
              <a:t>, </a:t>
            </a:r>
            <a:r>
              <a:rPr dirty="0" sz="2000" spc="-5" b="1">
                <a:latin typeface="Corbel"/>
                <a:cs typeface="Corbel"/>
              </a:rPr>
              <a:t>(</a:t>
            </a:r>
            <a:r>
              <a:rPr dirty="0" sz="2000" spc="-5" b="1">
                <a:solidFill>
                  <a:srgbClr val="C00000"/>
                </a:solidFill>
                <a:latin typeface="Corbel"/>
                <a:cs typeface="Corbel"/>
              </a:rPr>
              <a:t>r:Assoc, </a:t>
            </a:r>
            <a:r>
              <a:rPr dirty="0" sz="2000" spc="-25" b="1">
                <a:solidFill>
                  <a:srgbClr val="479249"/>
                </a:solidFill>
                <a:latin typeface="Corbel"/>
                <a:cs typeface="Corbel"/>
              </a:rPr>
              <a:t>r:TreatedBy</a:t>
            </a:r>
            <a:r>
              <a:rPr dirty="0" sz="2000" spc="-25" b="1">
                <a:latin typeface="Corbel"/>
                <a:cs typeface="Corbel"/>
              </a:rPr>
              <a:t>)), </a:t>
            </a:r>
            <a:r>
              <a:rPr dirty="0" sz="2000" spc="-10" b="1">
                <a:latin typeface="Corbel"/>
                <a:cs typeface="Corbel"/>
              </a:rPr>
              <a:t>(</a:t>
            </a:r>
            <a:r>
              <a:rPr dirty="0" sz="2000" spc="-10" b="1">
                <a:solidFill>
                  <a:srgbClr val="0070C0"/>
                </a:solidFill>
                <a:latin typeface="Corbel"/>
                <a:cs typeface="Corbel"/>
              </a:rPr>
              <a:t>e:Short </a:t>
            </a:r>
            <a:r>
              <a:rPr dirty="0" sz="2000" b="1">
                <a:solidFill>
                  <a:srgbClr val="0070C0"/>
                </a:solidFill>
                <a:latin typeface="Corbel"/>
                <a:cs typeface="Corbel"/>
              </a:rPr>
              <a:t>of </a:t>
            </a:r>
            <a:r>
              <a:rPr dirty="0" sz="2000" spc="-5" b="1">
                <a:solidFill>
                  <a:srgbClr val="0070C0"/>
                </a:solidFill>
                <a:latin typeface="Corbel"/>
                <a:cs typeface="Corbel"/>
              </a:rPr>
              <a:t>Breath</a:t>
            </a:r>
            <a:r>
              <a:rPr dirty="0" sz="2000" spc="-5" b="1">
                <a:latin typeface="Corbel"/>
                <a:cs typeface="Corbel"/>
              </a:rPr>
              <a:t>,</a:t>
            </a:r>
            <a:r>
              <a:rPr dirty="0" sz="2000" spc="165" b="1">
                <a:latin typeface="Corbel"/>
                <a:cs typeface="Corbel"/>
              </a:rPr>
              <a:t> </a:t>
            </a:r>
            <a:r>
              <a:rPr dirty="0" sz="2000" spc="-5" b="1">
                <a:latin typeface="Corbel"/>
                <a:cs typeface="Corbel"/>
              </a:rPr>
              <a:t>(</a:t>
            </a:r>
            <a:r>
              <a:rPr dirty="0" sz="2000" spc="-5" b="1">
                <a:solidFill>
                  <a:srgbClr val="B48200"/>
                </a:solidFill>
                <a:latin typeface="Corbel"/>
                <a:cs typeface="Corbel"/>
              </a:rPr>
              <a:t>r:CausedBy</a:t>
            </a:r>
            <a:r>
              <a:rPr dirty="0" sz="2000" spc="-5" b="1">
                <a:latin typeface="Corbel"/>
                <a:cs typeface="Corbel"/>
              </a:rPr>
              <a:t>))</a:t>
            </a:r>
            <a:endParaRPr sz="2000">
              <a:latin typeface="Corbel"/>
              <a:cs typeface="Corbel"/>
            </a:endParaRPr>
          </a:p>
          <a:p>
            <a:pPr marL="355600" marR="5969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dirty="0" sz="2000">
                <a:latin typeface="Arial"/>
                <a:cs typeface="Arial"/>
              </a:rPr>
              <a:t>The </a:t>
            </a:r>
            <a:r>
              <a:rPr dirty="0" sz="2000" spc="-5">
                <a:latin typeface="Arial"/>
                <a:cs typeface="Arial"/>
              </a:rPr>
              <a:t>query </a:t>
            </a:r>
            <a:r>
              <a:rPr dirty="0" sz="2000">
                <a:latin typeface="Cambria Math"/>
                <a:cs typeface="Cambria Math"/>
              </a:rPr>
              <a:t>𝑞 </a:t>
            </a:r>
            <a:r>
              <a:rPr dirty="0" sz="2000" spc="-5" b="1">
                <a:solidFill>
                  <a:srgbClr val="479249"/>
                </a:solidFill>
                <a:latin typeface="Arial"/>
                <a:cs typeface="Arial"/>
              </a:rPr>
              <a:t>must </a:t>
            </a:r>
            <a:r>
              <a:rPr dirty="0" sz="2000">
                <a:latin typeface="Arial"/>
                <a:cs typeface="Arial"/>
              </a:rPr>
              <a:t>have </a:t>
            </a:r>
            <a:r>
              <a:rPr dirty="0" sz="2000" spc="-5">
                <a:latin typeface="Arial"/>
                <a:cs typeface="Arial"/>
              </a:rPr>
              <a:t>answers </a:t>
            </a:r>
            <a:r>
              <a:rPr dirty="0" sz="2000">
                <a:latin typeface="Arial"/>
                <a:cs typeface="Arial"/>
              </a:rPr>
              <a:t>on </a:t>
            </a:r>
            <a:r>
              <a:rPr dirty="0" sz="2000" spc="-5">
                <a:latin typeface="Arial"/>
                <a:cs typeface="Arial"/>
              </a:rPr>
              <a:t>the </a:t>
            </a:r>
            <a:r>
              <a:rPr dirty="0" sz="2000">
                <a:latin typeface="Arial"/>
                <a:cs typeface="Arial"/>
              </a:rPr>
              <a:t>KG and one of </a:t>
            </a:r>
            <a:r>
              <a:rPr dirty="0" sz="2000" spc="-5">
                <a:latin typeface="Arial"/>
                <a:cs typeface="Arial"/>
              </a:rPr>
              <a:t>the  answers </a:t>
            </a:r>
            <a:r>
              <a:rPr dirty="0" sz="2000">
                <a:latin typeface="Arial"/>
                <a:cs typeface="Arial"/>
              </a:rPr>
              <a:t>is </a:t>
            </a:r>
            <a:r>
              <a:rPr dirty="0" sz="2000" spc="-5">
                <a:latin typeface="Arial"/>
                <a:cs typeface="Arial"/>
              </a:rPr>
              <a:t>the instantiated </a:t>
            </a:r>
            <a:r>
              <a:rPr dirty="0" sz="2000">
                <a:latin typeface="Arial"/>
                <a:cs typeface="Arial"/>
              </a:rPr>
              <a:t>answer node: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Fulvestrant</a:t>
            </a:r>
            <a:r>
              <a:rPr dirty="0" sz="2000" spc="-5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33720" y="5967729"/>
            <a:ext cx="78740" cy="0"/>
          </a:xfrm>
          <a:custGeom>
            <a:avLst/>
            <a:gdLst/>
            <a:ahLst/>
            <a:cxnLst/>
            <a:rect l="l" t="t" r="r" b="b"/>
            <a:pathLst>
              <a:path w="78739" h="0">
                <a:moveTo>
                  <a:pt x="0" y="0"/>
                </a:moveTo>
                <a:lnTo>
                  <a:pt x="7813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04972" y="5756909"/>
            <a:ext cx="0" cy="204470"/>
          </a:xfrm>
          <a:custGeom>
            <a:avLst/>
            <a:gdLst/>
            <a:ahLst/>
            <a:cxnLst/>
            <a:rect l="l" t="t" r="r" b="b"/>
            <a:pathLst>
              <a:path w="0" h="204470">
                <a:moveTo>
                  <a:pt x="0" y="0"/>
                </a:moveTo>
                <a:lnTo>
                  <a:pt x="0" y="204469"/>
                </a:lnTo>
              </a:path>
            </a:pathLst>
          </a:custGeom>
          <a:ln w="13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33720" y="5750559"/>
            <a:ext cx="78740" cy="0"/>
          </a:xfrm>
          <a:custGeom>
            <a:avLst/>
            <a:gdLst/>
            <a:ahLst/>
            <a:cxnLst/>
            <a:rect l="l" t="t" r="r" b="b"/>
            <a:pathLst>
              <a:path w="78739" h="0">
                <a:moveTo>
                  <a:pt x="0" y="0"/>
                </a:moveTo>
                <a:lnTo>
                  <a:pt x="7813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70369" y="5756478"/>
            <a:ext cx="0" cy="205740"/>
          </a:xfrm>
          <a:custGeom>
            <a:avLst/>
            <a:gdLst/>
            <a:ahLst/>
            <a:cxnLst/>
            <a:rect l="l" t="t" r="r" b="b"/>
            <a:pathLst>
              <a:path w="0" h="205739">
                <a:moveTo>
                  <a:pt x="0" y="0"/>
                </a:moveTo>
                <a:lnTo>
                  <a:pt x="0" y="205506"/>
                </a:lnTo>
              </a:path>
            </a:pathLst>
          </a:custGeom>
          <a:ln w="13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00696" y="5967729"/>
            <a:ext cx="78740" cy="0"/>
          </a:xfrm>
          <a:custGeom>
            <a:avLst/>
            <a:gdLst/>
            <a:ahLst/>
            <a:cxnLst/>
            <a:rect l="l" t="t" r="r" b="b"/>
            <a:pathLst>
              <a:path w="78739" h="0">
                <a:moveTo>
                  <a:pt x="0" y="0"/>
                </a:moveTo>
                <a:lnTo>
                  <a:pt x="7813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07579" y="5756909"/>
            <a:ext cx="0" cy="204470"/>
          </a:xfrm>
          <a:custGeom>
            <a:avLst/>
            <a:gdLst/>
            <a:ahLst/>
            <a:cxnLst/>
            <a:rect l="l" t="t" r="r" b="b"/>
            <a:pathLst>
              <a:path w="0" h="204470">
                <a:moveTo>
                  <a:pt x="0" y="0"/>
                </a:moveTo>
                <a:lnTo>
                  <a:pt x="0" y="204469"/>
                </a:lnTo>
              </a:path>
            </a:pathLst>
          </a:custGeom>
          <a:ln w="13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00696" y="5750559"/>
            <a:ext cx="78740" cy="0"/>
          </a:xfrm>
          <a:custGeom>
            <a:avLst/>
            <a:gdLst/>
            <a:ahLst/>
            <a:cxnLst/>
            <a:rect l="l" t="t" r="r" b="b"/>
            <a:pathLst>
              <a:path w="78739" h="0">
                <a:moveTo>
                  <a:pt x="0" y="0"/>
                </a:moveTo>
                <a:lnTo>
                  <a:pt x="7813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44662" y="5756478"/>
            <a:ext cx="0" cy="205740"/>
          </a:xfrm>
          <a:custGeom>
            <a:avLst/>
            <a:gdLst/>
            <a:ahLst/>
            <a:cxnLst/>
            <a:rect l="l" t="t" r="r" b="b"/>
            <a:pathLst>
              <a:path w="0" h="205739">
                <a:moveTo>
                  <a:pt x="0" y="0"/>
                </a:moveTo>
                <a:lnTo>
                  <a:pt x="0" y="205506"/>
                </a:lnTo>
              </a:path>
            </a:pathLst>
          </a:custGeom>
          <a:ln w="13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36728" y="5664708"/>
            <a:ext cx="469265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 spc="-20">
                <a:latin typeface="Arial"/>
                <a:cs typeface="Arial"/>
              </a:rPr>
              <a:t>We </a:t>
            </a:r>
            <a:r>
              <a:rPr dirty="0" sz="2000" spc="-5">
                <a:latin typeface="Arial"/>
                <a:cs typeface="Arial"/>
              </a:rPr>
              <a:t>may obtain the full </a:t>
            </a:r>
            <a:r>
              <a:rPr dirty="0" sz="2000">
                <a:latin typeface="Arial"/>
                <a:cs typeface="Arial"/>
              </a:rPr>
              <a:t>set of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answers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dirty="0" sz="2000" spc="-20">
                <a:latin typeface="Arial"/>
                <a:cs typeface="Arial"/>
              </a:rPr>
              <a:t>We </a:t>
            </a:r>
            <a:r>
              <a:rPr dirty="0" sz="2000">
                <a:latin typeface="Arial"/>
                <a:cs typeface="Arial"/>
              </a:rPr>
              <a:t>can </a:t>
            </a:r>
            <a:r>
              <a:rPr dirty="0" sz="2000" spc="-5">
                <a:latin typeface="Arial"/>
                <a:cs typeface="Arial"/>
              </a:rPr>
              <a:t>sample negative answers </a:t>
            </a:r>
            <a:r>
              <a:rPr dirty="0" sz="2000" spc="25">
                <a:latin typeface="Cambria Math"/>
                <a:cs typeface="Cambria Math"/>
              </a:rPr>
              <a:t>𝑣</a:t>
            </a:r>
            <a:r>
              <a:rPr dirty="0" baseline="25925" sz="2250" spc="37">
                <a:latin typeface="Cambria Math"/>
                <a:cs typeface="Cambria Math"/>
              </a:rPr>
              <a:t>"</a:t>
            </a:r>
            <a:r>
              <a:rPr dirty="0" baseline="25925" sz="2250" spc="19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∉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47830" y="6272529"/>
            <a:ext cx="78740" cy="0"/>
          </a:xfrm>
          <a:custGeom>
            <a:avLst/>
            <a:gdLst/>
            <a:ahLst/>
            <a:cxnLst/>
            <a:rect l="l" t="t" r="r" b="b"/>
            <a:pathLst>
              <a:path w="78739" h="0">
                <a:moveTo>
                  <a:pt x="0" y="0"/>
                </a:moveTo>
                <a:lnTo>
                  <a:pt x="7813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919081" y="6061709"/>
            <a:ext cx="0" cy="204470"/>
          </a:xfrm>
          <a:custGeom>
            <a:avLst/>
            <a:gdLst/>
            <a:ahLst/>
            <a:cxnLst/>
            <a:rect l="l" t="t" r="r" b="b"/>
            <a:pathLst>
              <a:path w="0" h="204470">
                <a:moveTo>
                  <a:pt x="0" y="0"/>
                </a:moveTo>
                <a:lnTo>
                  <a:pt x="0" y="204469"/>
                </a:lnTo>
              </a:path>
            </a:pathLst>
          </a:custGeom>
          <a:ln w="13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47830" y="6055359"/>
            <a:ext cx="78740" cy="0"/>
          </a:xfrm>
          <a:custGeom>
            <a:avLst/>
            <a:gdLst/>
            <a:ahLst/>
            <a:cxnLst/>
            <a:rect l="l" t="t" r="r" b="b"/>
            <a:pathLst>
              <a:path w="78739" h="0">
                <a:moveTo>
                  <a:pt x="0" y="0"/>
                </a:moveTo>
                <a:lnTo>
                  <a:pt x="7813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884478" y="6061278"/>
            <a:ext cx="0" cy="205740"/>
          </a:xfrm>
          <a:custGeom>
            <a:avLst/>
            <a:gdLst/>
            <a:ahLst/>
            <a:cxnLst/>
            <a:rect l="l" t="t" r="r" b="b"/>
            <a:pathLst>
              <a:path w="0" h="205739">
                <a:moveTo>
                  <a:pt x="0" y="0"/>
                </a:moveTo>
                <a:lnTo>
                  <a:pt x="0" y="205506"/>
                </a:lnTo>
              </a:path>
            </a:pathLst>
          </a:custGeom>
          <a:ln w="13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614805" y="6272529"/>
            <a:ext cx="78740" cy="0"/>
          </a:xfrm>
          <a:custGeom>
            <a:avLst/>
            <a:gdLst/>
            <a:ahLst/>
            <a:cxnLst/>
            <a:rect l="l" t="t" r="r" b="b"/>
            <a:pathLst>
              <a:path w="78739" h="0">
                <a:moveTo>
                  <a:pt x="0" y="0"/>
                </a:moveTo>
                <a:lnTo>
                  <a:pt x="7813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621689" y="6061709"/>
            <a:ext cx="0" cy="204470"/>
          </a:xfrm>
          <a:custGeom>
            <a:avLst/>
            <a:gdLst/>
            <a:ahLst/>
            <a:cxnLst/>
            <a:rect l="l" t="t" r="r" b="b"/>
            <a:pathLst>
              <a:path w="0" h="204470">
                <a:moveTo>
                  <a:pt x="0" y="0"/>
                </a:moveTo>
                <a:lnTo>
                  <a:pt x="0" y="204469"/>
                </a:lnTo>
              </a:path>
            </a:pathLst>
          </a:custGeom>
          <a:ln w="13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614805" y="6055359"/>
            <a:ext cx="78740" cy="0"/>
          </a:xfrm>
          <a:custGeom>
            <a:avLst/>
            <a:gdLst/>
            <a:ahLst/>
            <a:cxnLst/>
            <a:rect l="l" t="t" r="r" b="b"/>
            <a:pathLst>
              <a:path w="78739" h="0">
                <a:moveTo>
                  <a:pt x="0" y="0"/>
                </a:moveTo>
                <a:lnTo>
                  <a:pt x="7813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658772" y="6061278"/>
            <a:ext cx="0" cy="205740"/>
          </a:xfrm>
          <a:custGeom>
            <a:avLst/>
            <a:gdLst/>
            <a:ahLst/>
            <a:cxnLst/>
            <a:rect l="l" t="t" r="r" b="b"/>
            <a:pathLst>
              <a:path w="0" h="205739">
                <a:moveTo>
                  <a:pt x="0" y="0"/>
                </a:moveTo>
                <a:lnTo>
                  <a:pt x="0" y="205506"/>
                </a:lnTo>
              </a:path>
            </a:pathLst>
          </a:custGeom>
          <a:ln w="13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571479" y="5664708"/>
            <a:ext cx="240792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𝑞  </a:t>
            </a:r>
            <a:r>
              <a:rPr dirty="0" baseline="-14814" sz="2250" spc="825">
                <a:latin typeface="Cambria Math"/>
                <a:cs typeface="Cambria Math"/>
              </a:rPr>
              <a:t>!</a:t>
            </a:r>
            <a:r>
              <a:rPr dirty="0" baseline="-14814" sz="2250" spc="157">
                <a:latin typeface="Cambria Math"/>
                <a:cs typeface="Cambria Math"/>
              </a:rPr>
              <a:t> </a:t>
            </a:r>
            <a:r>
              <a:rPr dirty="0" sz="2000">
                <a:latin typeface="Arial"/>
                <a:cs typeface="Arial"/>
              </a:rPr>
              <a:t>by </a:t>
            </a:r>
            <a:r>
              <a:rPr dirty="0" sz="2000" b="1">
                <a:solidFill>
                  <a:srgbClr val="B48200"/>
                </a:solidFill>
                <a:latin typeface="Arial"/>
                <a:cs typeface="Arial"/>
              </a:rPr>
              <a:t>KG </a:t>
            </a:r>
            <a:r>
              <a:rPr dirty="0" sz="2000" spc="-5" b="1">
                <a:solidFill>
                  <a:srgbClr val="B48200"/>
                </a:solidFill>
                <a:latin typeface="Arial"/>
                <a:cs typeface="Arial"/>
              </a:rPr>
              <a:t>traversal</a:t>
            </a:r>
            <a:r>
              <a:rPr dirty="0" sz="2000" spc="-5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26364">
              <a:lnSpc>
                <a:spcPct val="100000"/>
              </a:lnSpc>
            </a:pPr>
            <a:r>
              <a:rPr dirty="0" sz="2000">
                <a:latin typeface="Cambria Math"/>
                <a:cs typeface="Cambria Math"/>
              </a:rPr>
              <a:t>𝑞</a:t>
            </a:r>
            <a:r>
              <a:rPr dirty="0" sz="2000" spc="390">
                <a:latin typeface="Cambria Math"/>
                <a:cs typeface="Cambria Math"/>
              </a:rPr>
              <a:t> </a:t>
            </a:r>
            <a:r>
              <a:rPr dirty="0" baseline="-14814" sz="2250" spc="825">
                <a:latin typeface="Cambria Math"/>
                <a:cs typeface="Cambria Math"/>
              </a:rPr>
              <a:t>!</a:t>
            </a:r>
            <a:endParaRPr baseline="-14814" sz="22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30864" y="2084323"/>
            <a:ext cx="3155315" cy="506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130"/>
              </a:lnSpc>
              <a:spcBef>
                <a:spcPts val="100"/>
              </a:spcBef>
            </a:pPr>
            <a:r>
              <a:rPr dirty="0" sz="1800" b="1">
                <a:solidFill>
                  <a:srgbClr val="7030A0"/>
                </a:solidFill>
                <a:latin typeface="Arial"/>
                <a:cs typeface="Arial"/>
              </a:rPr>
              <a:t>Query</a:t>
            </a:r>
            <a:r>
              <a:rPr dirty="0" sz="1800" spc="-100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7030A0"/>
                </a:solidFill>
                <a:latin typeface="Arial"/>
                <a:cs typeface="Arial"/>
              </a:rPr>
              <a:t>Template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650"/>
              </a:lnSpc>
            </a:pPr>
            <a:r>
              <a:rPr dirty="0" sz="1400" spc="-5" b="1">
                <a:latin typeface="Corbel"/>
                <a:cs typeface="Corbel"/>
              </a:rPr>
              <a:t>((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Anchor1</a:t>
            </a:r>
            <a:r>
              <a:rPr dirty="0" sz="1400" spc="-5" b="1">
                <a:latin typeface="Corbel"/>
                <a:cs typeface="Corbel"/>
              </a:rPr>
              <a:t>,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C00000"/>
                </a:solidFill>
                <a:latin typeface="Corbel"/>
                <a:cs typeface="Corbel"/>
              </a:rPr>
              <a:t>Rel1, </a:t>
            </a:r>
            <a:r>
              <a:rPr dirty="0" sz="1400" spc="-10" b="1">
                <a:solidFill>
                  <a:srgbClr val="479249"/>
                </a:solidFill>
                <a:latin typeface="Corbel"/>
                <a:cs typeface="Corbel"/>
              </a:rPr>
              <a:t>Rel2</a:t>
            </a:r>
            <a:r>
              <a:rPr dirty="0" sz="1400" spc="-10" b="1">
                <a:latin typeface="Corbel"/>
                <a:cs typeface="Corbel"/>
              </a:rPr>
              <a:t>)), </a:t>
            </a:r>
            <a:r>
              <a:rPr dirty="0" sz="1400" spc="-5" b="1">
                <a:latin typeface="Corbel"/>
                <a:cs typeface="Corbel"/>
              </a:rPr>
              <a:t>(</a:t>
            </a:r>
            <a:r>
              <a:rPr dirty="0" sz="1400" spc="-5" b="1">
                <a:solidFill>
                  <a:srgbClr val="0070C0"/>
                </a:solidFill>
                <a:latin typeface="Corbel"/>
                <a:cs typeface="Corbel"/>
              </a:rPr>
              <a:t>Anchor2</a:t>
            </a:r>
            <a:r>
              <a:rPr dirty="0" sz="1400" spc="-5" b="1">
                <a:latin typeface="Corbel"/>
                <a:cs typeface="Corbel"/>
              </a:rPr>
              <a:t>,</a:t>
            </a:r>
            <a:r>
              <a:rPr dirty="0" sz="1400" spc="-5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(</a:t>
            </a:r>
            <a:r>
              <a:rPr dirty="0" sz="1400" spc="-10" b="1">
                <a:solidFill>
                  <a:srgbClr val="B48200"/>
                </a:solidFill>
                <a:latin typeface="Corbel"/>
                <a:cs typeface="Corbel"/>
              </a:rPr>
              <a:t>Rel3</a:t>
            </a:r>
            <a:r>
              <a:rPr dirty="0" sz="1400" spc="-10" b="1">
                <a:latin typeface="Corbel"/>
                <a:cs typeface="Corbel"/>
              </a:rPr>
              <a:t>))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679049" y="388077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8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679049" y="388077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518133" y="3419490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518133" y="3419490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779078" y="281748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779078" y="281748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909807" y="2933700"/>
            <a:ext cx="495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400" spc="-30">
                <a:solidFill>
                  <a:srgbClr val="C00000"/>
                </a:solidFill>
                <a:latin typeface="Arial"/>
                <a:cs typeface="Arial"/>
              </a:rPr>
              <a:t>sso</a:t>
            </a:r>
            <a:r>
              <a:rPr dirty="0" sz="140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590800" y="280076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51008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8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590800" y="280076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757793" y="2802290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4" h="161925">
                <a:moveTo>
                  <a:pt x="783076" y="107949"/>
                </a:moveTo>
                <a:lnTo>
                  <a:pt x="782995" y="161925"/>
                </a:lnTo>
                <a:lnTo>
                  <a:pt x="891271" y="107990"/>
                </a:lnTo>
                <a:lnTo>
                  <a:pt x="810064" y="107990"/>
                </a:lnTo>
                <a:lnTo>
                  <a:pt x="783076" y="107949"/>
                </a:lnTo>
                <a:close/>
              </a:path>
              <a:path w="945514" h="161925">
                <a:moveTo>
                  <a:pt x="783158" y="53974"/>
                </a:moveTo>
                <a:lnTo>
                  <a:pt x="783076" y="107949"/>
                </a:lnTo>
                <a:lnTo>
                  <a:pt x="810064" y="107990"/>
                </a:lnTo>
                <a:lnTo>
                  <a:pt x="810145" y="54015"/>
                </a:lnTo>
                <a:lnTo>
                  <a:pt x="783158" y="53974"/>
                </a:lnTo>
                <a:close/>
              </a:path>
              <a:path w="945514" h="161925">
                <a:moveTo>
                  <a:pt x="783239" y="0"/>
                </a:moveTo>
                <a:lnTo>
                  <a:pt x="783158" y="53974"/>
                </a:lnTo>
                <a:lnTo>
                  <a:pt x="810145" y="54015"/>
                </a:lnTo>
                <a:lnTo>
                  <a:pt x="810064" y="107990"/>
                </a:lnTo>
                <a:lnTo>
                  <a:pt x="891271" y="107990"/>
                </a:lnTo>
                <a:lnTo>
                  <a:pt x="945042" y="81206"/>
                </a:lnTo>
                <a:lnTo>
                  <a:pt x="783239" y="0"/>
                </a:lnTo>
                <a:close/>
              </a:path>
              <a:path w="945514" h="161925">
                <a:moveTo>
                  <a:pt x="81" y="52792"/>
                </a:moveTo>
                <a:lnTo>
                  <a:pt x="0" y="106767"/>
                </a:lnTo>
                <a:lnTo>
                  <a:pt x="783076" y="107949"/>
                </a:lnTo>
                <a:lnTo>
                  <a:pt x="783158" y="53974"/>
                </a:lnTo>
                <a:lnTo>
                  <a:pt x="81" y="5279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904995" y="2935051"/>
            <a:ext cx="638175" cy="508634"/>
          </a:xfrm>
          <a:custGeom>
            <a:avLst/>
            <a:gdLst/>
            <a:ahLst/>
            <a:cxnLst/>
            <a:rect l="l" t="t" r="r" b="b"/>
            <a:pathLst>
              <a:path w="638175" h="508635">
                <a:moveTo>
                  <a:pt x="33310" y="0"/>
                </a:moveTo>
                <a:lnTo>
                  <a:pt x="0" y="42471"/>
                </a:lnTo>
                <a:lnTo>
                  <a:pt x="42470" y="75780"/>
                </a:lnTo>
                <a:lnTo>
                  <a:pt x="75780" y="33310"/>
                </a:lnTo>
                <a:lnTo>
                  <a:pt x="33310" y="0"/>
                </a:lnTo>
                <a:close/>
              </a:path>
              <a:path w="638175" h="508635">
                <a:moveTo>
                  <a:pt x="118250" y="66621"/>
                </a:moveTo>
                <a:lnTo>
                  <a:pt x="84941" y="109091"/>
                </a:lnTo>
                <a:lnTo>
                  <a:pt x="127411" y="142401"/>
                </a:lnTo>
                <a:lnTo>
                  <a:pt x="160721" y="99931"/>
                </a:lnTo>
                <a:lnTo>
                  <a:pt x="118250" y="66621"/>
                </a:lnTo>
                <a:close/>
              </a:path>
              <a:path w="638175" h="508635">
                <a:moveTo>
                  <a:pt x="203192" y="133242"/>
                </a:moveTo>
                <a:lnTo>
                  <a:pt x="169881" y="175712"/>
                </a:lnTo>
                <a:lnTo>
                  <a:pt x="212351" y="209021"/>
                </a:lnTo>
                <a:lnTo>
                  <a:pt x="245662" y="166551"/>
                </a:lnTo>
                <a:lnTo>
                  <a:pt x="203192" y="133242"/>
                </a:lnTo>
                <a:close/>
              </a:path>
              <a:path w="638175" h="508635">
                <a:moveTo>
                  <a:pt x="288132" y="199862"/>
                </a:moveTo>
                <a:lnTo>
                  <a:pt x="254821" y="242332"/>
                </a:lnTo>
                <a:lnTo>
                  <a:pt x="297293" y="275642"/>
                </a:lnTo>
                <a:lnTo>
                  <a:pt x="330602" y="233172"/>
                </a:lnTo>
                <a:lnTo>
                  <a:pt x="288132" y="199862"/>
                </a:lnTo>
                <a:close/>
              </a:path>
              <a:path w="638175" h="508635">
                <a:moveTo>
                  <a:pt x="373072" y="266482"/>
                </a:moveTo>
                <a:lnTo>
                  <a:pt x="339763" y="308952"/>
                </a:lnTo>
                <a:lnTo>
                  <a:pt x="382233" y="342263"/>
                </a:lnTo>
                <a:lnTo>
                  <a:pt x="415543" y="299792"/>
                </a:lnTo>
                <a:lnTo>
                  <a:pt x="373072" y="266482"/>
                </a:lnTo>
                <a:close/>
              </a:path>
              <a:path w="638175" h="508635">
                <a:moveTo>
                  <a:pt x="560153" y="344617"/>
                </a:moveTo>
                <a:lnTo>
                  <a:pt x="460222" y="472028"/>
                </a:lnTo>
                <a:lnTo>
                  <a:pt x="637599" y="508253"/>
                </a:lnTo>
                <a:lnTo>
                  <a:pt x="608237" y="446213"/>
                </a:lnTo>
                <a:lnTo>
                  <a:pt x="514769" y="446213"/>
                </a:lnTo>
                <a:lnTo>
                  <a:pt x="509644" y="442193"/>
                </a:lnTo>
                <a:lnTo>
                  <a:pt x="542954" y="399723"/>
                </a:lnTo>
                <a:lnTo>
                  <a:pt x="586234" y="399723"/>
                </a:lnTo>
                <a:lnTo>
                  <a:pt x="560153" y="344617"/>
                </a:lnTo>
                <a:close/>
              </a:path>
              <a:path w="638175" h="508635">
                <a:moveTo>
                  <a:pt x="542954" y="399723"/>
                </a:moveTo>
                <a:lnTo>
                  <a:pt x="509644" y="442193"/>
                </a:lnTo>
                <a:lnTo>
                  <a:pt x="514769" y="446213"/>
                </a:lnTo>
                <a:lnTo>
                  <a:pt x="548078" y="403743"/>
                </a:lnTo>
                <a:lnTo>
                  <a:pt x="542954" y="399723"/>
                </a:lnTo>
                <a:close/>
              </a:path>
              <a:path w="638175" h="508635">
                <a:moveTo>
                  <a:pt x="586234" y="399723"/>
                </a:moveTo>
                <a:lnTo>
                  <a:pt x="542954" y="399723"/>
                </a:lnTo>
                <a:lnTo>
                  <a:pt x="548078" y="403743"/>
                </a:lnTo>
                <a:lnTo>
                  <a:pt x="514769" y="446213"/>
                </a:lnTo>
                <a:lnTo>
                  <a:pt x="608237" y="446213"/>
                </a:lnTo>
                <a:lnTo>
                  <a:pt x="586234" y="399723"/>
                </a:lnTo>
                <a:close/>
              </a:path>
              <a:path w="638175" h="508635">
                <a:moveTo>
                  <a:pt x="458014" y="333103"/>
                </a:moveTo>
                <a:lnTo>
                  <a:pt x="424703" y="375573"/>
                </a:lnTo>
                <a:lnTo>
                  <a:pt x="467173" y="408884"/>
                </a:lnTo>
                <a:lnTo>
                  <a:pt x="500484" y="366414"/>
                </a:lnTo>
                <a:lnTo>
                  <a:pt x="458014" y="3331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846081" y="3881120"/>
            <a:ext cx="955675" cy="161925"/>
          </a:xfrm>
          <a:custGeom>
            <a:avLst/>
            <a:gdLst/>
            <a:ahLst/>
            <a:cxnLst/>
            <a:rect l="l" t="t" r="r" b="b"/>
            <a:pathLst>
              <a:path w="955675" h="161925">
                <a:moveTo>
                  <a:pt x="793351" y="107949"/>
                </a:moveTo>
                <a:lnTo>
                  <a:pt x="793351" y="161924"/>
                </a:lnTo>
                <a:lnTo>
                  <a:pt x="901301" y="107949"/>
                </a:lnTo>
                <a:lnTo>
                  <a:pt x="793351" y="107949"/>
                </a:lnTo>
                <a:close/>
              </a:path>
              <a:path w="955675" h="161925">
                <a:moveTo>
                  <a:pt x="793352" y="53974"/>
                </a:moveTo>
                <a:lnTo>
                  <a:pt x="793351" y="107949"/>
                </a:lnTo>
                <a:lnTo>
                  <a:pt x="820338" y="107949"/>
                </a:lnTo>
                <a:lnTo>
                  <a:pt x="820338" y="53974"/>
                </a:lnTo>
                <a:lnTo>
                  <a:pt x="793352" y="53974"/>
                </a:lnTo>
                <a:close/>
              </a:path>
              <a:path w="955675" h="161925">
                <a:moveTo>
                  <a:pt x="793352" y="0"/>
                </a:moveTo>
                <a:lnTo>
                  <a:pt x="793352" y="53974"/>
                </a:lnTo>
                <a:lnTo>
                  <a:pt x="820338" y="53974"/>
                </a:lnTo>
                <a:lnTo>
                  <a:pt x="820338" y="107949"/>
                </a:lnTo>
                <a:lnTo>
                  <a:pt x="901303" y="107948"/>
                </a:lnTo>
                <a:lnTo>
                  <a:pt x="955276" y="80962"/>
                </a:lnTo>
                <a:lnTo>
                  <a:pt x="793352" y="0"/>
                </a:lnTo>
                <a:close/>
              </a:path>
              <a:path w="955675" h="161925">
                <a:moveTo>
                  <a:pt x="0" y="53973"/>
                </a:moveTo>
                <a:lnTo>
                  <a:pt x="0" y="107948"/>
                </a:lnTo>
                <a:lnTo>
                  <a:pt x="793351" y="107949"/>
                </a:lnTo>
                <a:lnTo>
                  <a:pt x="793352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801358" y="388077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801358" y="388077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930418" y="3558288"/>
            <a:ext cx="612775" cy="370205"/>
          </a:xfrm>
          <a:custGeom>
            <a:avLst/>
            <a:gdLst/>
            <a:ahLst/>
            <a:cxnLst/>
            <a:rect l="l" t="t" r="r" b="b"/>
            <a:pathLst>
              <a:path w="612775" h="370204">
                <a:moveTo>
                  <a:pt x="46720" y="295913"/>
                </a:moveTo>
                <a:lnTo>
                  <a:pt x="0" y="322940"/>
                </a:lnTo>
                <a:lnTo>
                  <a:pt x="27025" y="369661"/>
                </a:lnTo>
                <a:lnTo>
                  <a:pt x="73747" y="342635"/>
                </a:lnTo>
                <a:lnTo>
                  <a:pt x="46720" y="295913"/>
                </a:lnTo>
                <a:close/>
              </a:path>
              <a:path w="612775" h="370204">
                <a:moveTo>
                  <a:pt x="140163" y="241861"/>
                </a:moveTo>
                <a:lnTo>
                  <a:pt x="93442" y="268888"/>
                </a:lnTo>
                <a:lnTo>
                  <a:pt x="120468" y="315608"/>
                </a:lnTo>
                <a:lnTo>
                  <a:pt x="167190" y="288583"/>
                </a:lnTo>
                <a:lnTo>
                  <a:pt x="140163" y="241861"/>
                </a:lnTo>
                <a:close/>
              </a:path>
              <a:path w="612775" h="370204">
                <a:moveTo>
                  <a:pt x="233606" y="187808"/>
                </a:moveTo>
                <a:lnTo>
                  <a:pt x="186885" y="214835"/>
                </a:lnTo>
                <a:lnTo>
                  <a:pt x="213911" y="261556"/>
                </a:lnTo>
                <a:lnTo>
                  <a:pt x="260633" y="234530"/>
                </a:lnTo>
                <a:lnTo>
                  <a:pt x="233606" y="187808"/>
                </a:lnTo>
                <a:close/>
              </a:path>
              <a:path w="612775" h="370204">
                <a:moveTo>
                  <a:pt x="327049" y="133756"/>
                </a:moveTo>
                <a:lnTo>
                  <a:pt x="280328" y="160783"/>
                </a:lnTo>
                <a:lnTo>
                  <a:pt x="307353" y="207504"/>
                </a:lnTo>
                <a:lnTo>
                  <a:pt x="354074" y="180478"/>
                </a:lnTo>
                <a:lnTo>
                  <a:pt x="327049" y="133756"/>
                </a:lnTo>
                <a:close/>
              </a:path>
              <a:path w="612775" h="370204">
                <a:moveTo>
                  <a:pt x="420491" y="79703"/>
                </a:moveTo>
                <a:lnTo>
                  <a:pt x="373769" y="106730"/>
                </a:lnTo>
                <a:lnTo>
                  <a:pt x="400796" y="153451"/>
                </a:lnTo>
                <a:lnTo>
                  <a:pt x="447517" y="126425"/>
                </a:lnTo>
                <a:lnTo>
                  <a:pt x="420491" y="79703"/>
                </a:lnTo>
                <a:close/>
              </a:path>
              <a:path w="612775" h="370204">
                <a:moveTo>
                  <a:pt x="612176" y="0"/>
                </a:moveTo>
                <a:lnTo>
                  <a:pt x="431473" y="10996"/>
                </a:lnTo>
                <a:lnTo>
                  <a:pt x="512551" y="151160"/>
                </a:lnTo>
                <a:lnTo>
                  <a:pt x="546665" y="99399"/>
                </a:lnTo>
                <a:lnTo>
                  <a:pt x="494239" y="99399"/>
                </a:lnTo>
                <a:lnTo>
                  <a:pt x="467212" y="52678"/>
                </a:lnTo>
                <a:lnTo>
                  <a:pt x="481860" y="44204"/>
                </a:lnTo>
                <a:lnTo>
                  <a:pt x="583042" y="44204"/>
                </a:lnTo>
                <a:lnTo>
                  <a:pt x="612176" y="0"/>
                </a:lnTo>
                <a:close/>
              </a:path>
              <a:path w="612775" h="370204">
                <a:moveTo>
                  <a:pt x="481860" y="44204"/>
                </a:moveTo>
                <a:lnTo>
                  <a:pt x="467212" y="52678"/>
                </a:lnTo>
                <a:lnTo>
                  <a:pt x="494239" y="99399"/>
                </a:lnTo>
                <a:lnTo>
                  <a:pt x="508886" y="90926"/>
                </a:lnTo>
                <a:lnTo>
                  <a:pt x="481860" y="44204"/>
                </a:lnTo>
                <a:close/>
              </a:path>
              <a:path w="612775" h="370204">
                <a:moveTo>
                  <a:pt x="583042" y="44204"/>
                </a:moveTo>
                <a:lnTo>
                  <a:pt x="481860" y="44204"/>
                </a:lnTo>
                <a:lnTo>
                  <a:pt x="508886" y="90926"/>
                </a:lnTo>
                <a:lnTo>
                  <a:pt x="494239" y="99399"/>
                </a:lnTo>
                <a:lnTo>
                  <a:pt x="546665" y="99399"/>
                </a:lnTo>
                <a:lnTo>
                  <a:pt x="583042" y="44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3937673" y="3698747"/>
            <a:ext cx="8191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">
                <a:solidFill>
                  <a:srgbClr val="BF9000"/>
                </a:solidFill>
                <a:latin typeface="Arial"/>
                <a:cs typeface="Arial"/>
              </a:rPr>
              <a:t>C</a:t>
            </a:r>
            <a:r>
              <a:rPr dirty="0" sz="1400" spc="-30">
                <a:solidFill>
                  <a:srgbClr val="BF9000"/>
                </a:solidFill>
                <a:latin typeface="Arial"/>
                <a:cs typeface="Arial"/>
              </a:rPr>
              <a:t>au</a:t>
            </a: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s</a:t>
            </a:r>
            <a:r>
              <a:rPr dirty="0" sz="1400" spc="-30">
                <a:solidFill>
                  <a:srgbClr val="BF9000"/>
                </a:solidFill>
                <a:latin typeface="Arial"/>
                <a:cs typeface="Arial"/>
              </a:rPr>
              <a:t>ed</a:t>
            </a:r>
            <a:r>
              <a:rPr dirty="0" sz="1400" spc="-35">
                <a:solidFill>
                  <a:srgbClr val="BF9000"/>
                </a:solidFill>
                <a:latin typeface="Arial"/>
                <a:cs typeface="Arial"/>
              </a:rPr>
              <a:t>B</a:t>
            </a:r>
            <a:r>
              <a:rPr dirty="0" sz="1400">
                <a:solidFill>
                  <a:srgbClr val="BF9000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874460" y="2967227"/>
            <a:ext cx="8128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48235"/>
                </a:solidFill>
                <a:latin typeface="Arial"/>
                <a:cs typeface="Arial"/>
              </a:rPr>
              <a:t>TreatedBy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218094" y="3777996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670616" y="281748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670616" y="2817487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4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837650" y="2817832"/>
            <a:ext cx="941705" cy="161925"/>
          </a:xfrm>
          <a:custGeom>
            <a:avLst/>
            <a:gdLst/>
            <a:ahLst/>
            <a:cxnLst/>
            <a:rect l="l" t="t" r="r" b="b"/>
            <a:pathLst>
              <a:path w="941704" h="161925">
                <a:moveTo>
                  <a:pt x="779503" y="107949"/>
                </a:moveTo>
                <a:lnTo>
                  <a:pt x="779503" y="161925"/>
                </a:lnTo>
                <a:lnTo>
                  <a:pt x="887453" y="107950"/>
                </a:lnTo>
                <a:lnTo>
                  <a:pt x="779503" y="107949"/>
                </a:lnTo>
                <a:close/>
              </a:path>
              <a:path w="941704" h="161925">
                <a:moveTo>
                  <a:pt x="779503" y="53974"/>
                </a:moveTo>
                <a:lnTo>
                  <a:pt x="779503" y="107949"/>
                </a:lnTo>
                <a:lnTo>
                  <a:pt x="806490" y="107950"/>
                </a:lnTo>
                <a:lnTo>
                  <a:pt x="806490" y="53975"/>
                </a:lnTo>
                <a:lnTo>
                  <a:pt x="779503" y="53974"/>
                </a:lnTo>
                <a:close/>
              </a:path>
              <a:path w="941704" h="161925">
                <a:moveTo>
                  <a:pt x="779503" y="0"/>
                </a:moveTo>
                <a:lnTo>
                  <a:pt x="779503" y="53974"/>
                </a:lnTo>
                <a:lnTo>
                  <a:pt x="806490" y="53975"/>
                </a:lnTo>
                <a:lnTo>
                  <a:pt x="806490" y="107950"/>
                </a:lnTo>
                <a:lnTo>
                  <a:pt x="887455" y="107948"/>
                </a:lnTo>
                <a:lnTo>
                  <a:pt x="941428" y="80962"/>
                </a:lnTo>
                <a:lnTo>
                  <a:pt x="779503" y="0"/>
                </a:lnTo>
                <a:close/>
              </a:path>
              <a:path w="941704" h="161925">
                <a:moveTo>
                  <a:pt x="0" y="53973"/>
                </a:moveTo>
                <a:lnTo>
                  <a:pt x="0" y="107948"/>
                </a:lnTo>
                <a:lnTo>
                  <a:pt x="779503" y="107949"/>
                </a:lnTo>
                <a:lnTo>
                  <a:pt x="779503" y="53974"/>
                </a:lnTo>
                <a:lnTo>
                  <a:pt x="0" y="53973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5798363" y="3344164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73</a:t>
            </a:fld>
          </a:p>
        </p:txBody>
      </p:sp>
      <p:sp>
        <p:nvSpPr>
          <p:cNvPr id="46" name="object 46"/>
          <p:cNvSpPr txBox="1"/>
          <p:nvPr/>
        </p:nvSpPr>
        <p:spPr>
          <a:xfrm>
            <a:off x="4447447" y="4060444"/>
            <a:ext cx="102996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032084" y="2743708"/>
            <a:ext cx="1101090" cy="450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789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Fulvestrant</a:t>
            </a:r>
            <a:endParaRPr sz="1600">
              <a:latin typeface="Arial"/>
              <a:cs typeface="Arial"/>
            </a:endParaRPr>
          </a:p>
          <a:p>
            <a:pPr marL="198120">
              <a:lnSpc>
                <a:spcPts val="1550"/>
              </a:lnSpc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287610" y="2569972"/>
            <a:ext cx="13239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Breast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Cancer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410961" y="2554732"/>
            <a:ext cx="5543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ESR2</a:t>
            </a:r>
            <a:endParaRPr sz="16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892587" y="3725164"/>
            <a:ext cx="7378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8425" marR="5080" indent="-85725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Short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of  Breath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3166872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874000" cy="3930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latin typeface="Calibri"/>
                <a:cs typeface="Calibri"/>
              </a:rPr>
              <a:t>What </a:t>
            </a:r>
            <a:r>
              <a:rPr dirty="0" sz="3200" spc="-5" b="1">
                <a:latin typeface="Calibri"/>
                <a:cs typeface="Calibri"/>
              </a:rPr>
              <a:t>do </a:t>
            </a:r>
            <a:r>
              <a:rPr dirty="0" sz="3200" spc="-25" b="1">
                <a:latin typeface="Calibri"/>
                <a:cs typeface="Calibri"/>
              </a:rPr>
              <a:t>box </a:t>
            </a:r>
            <a:r>
              <a:rPr dirty="0" sz="3200" spc="-5" b="1">
                <a:latin typeface="Calibri"/>
                <a:cs typeface="Calibri"/>
              </a:rPr>
              <a:t>embeddings actually</a:t>
            </a:r>
            <a:r>
              <a:rPr dirty="0" sz="3200" spc="3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learn?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0AD00"/>
              </a:buClr>
              <a:buFont typeface="Arial"/>
              <a:buChar char="▪"/>
            </a:pPr>
            <a:endParaRPr sz="3500">
              <a:latin typeface="Times New Roman"/>
              <a:cs typeface="Times New Roman"/>
            </a:endParaRPr>
          </a:p>
          <a:p>
            <a:pPr marL="12700" marR="293370">
              <a:lnSpc>
                <a:spcPts val="3790"/>
              </a:lnSpc>
            </a:pPr>
            <a:r>
              <a:rPr dirty="0" sz="3200" spc="-10">
                <a:latin typeface="Calibri"/>
                <a:cs typeface="Calibri"/>
              </a:rPr>
              <a:t>Example: “</a:t>
            </a:r>
            <a:r>
              <a:rPr dirty="0" sz="3200" spc="-10" i="1">
                <a:latin typeface="Calibri"/>
                <a:cs typeface="Calibri"/>
              </a:rPr>
              <a:t>List </a:t>
            </a:r>
            <a:r>
              <a:rPr dirty="0" sz="3200" i="1">
                <a:latin typeface="Calibri"/>
                <a:cs typeface="Calibri"/>
              </a:rPr>
              <a:t>male </a:t>
            </a:r>
            <a:r>
              <a:rPr dirty="0" sz="3200" spc="-10" i="1">
                <a:latin typeface="Calibri"/>
                <a:cs typeface="Calibri"/>
              </a:rPr>
              <a:t>instrumentalists </a:t>
            </a:r>
            <a:r>
              <a:rPr dirty="0" sz="3200" i="1">
                <a:latin typeface="Calibri"/>
                <a:cs typeface="Calibri"/>
              </a:rPr>
              <a:t>who play  </a:t>
            </a:r>
            <a:r>
              <a:rPr dirty="0" sz="3200" spc="-10" i="1">
                <a:latin typeface="Calibri"/>
                <a:cs typeface="Calibri"/>
              </a:rPr>
              <a:t>string instruments</a:t>
            </a:r>
            <a:r>
              <a:rPr dirty="0" sz="3200" spc="-10">
                <a:latin typeface="Calibri"/>
                <a:cs typeface="Calibri"/>
              </a:rPr>
              <a:t>”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00">
              <a:latin typeface="Times New Roman"/>
              <a:cs typeface="Times New Roman"/>
            </a:endParaRPr>
          </a:p>
          <a:p>
            <a:pPr algn="just" marL="332740" marR="5080" indent="-320040">
              <a:lnSpc>
                <a:spcPct val="10029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5">
                <a:latin typeface="Calibri"/>
                <a:cs typeface="Calibri"/>
              </a:rPr>
              <a:t>use </a:t>
            </a:r>
            <a:r>
              <a:rPr dirty="0" sz="3200" spc="-25">
                <a:latin typeface="Calibri"/>
                <a:cs typeface="Calibri"/>
              </a:rPr>
              <a:t>t-SNE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10">
                <a:latin typeface="Calibri"/>
                <a:cs typeface="Calibri"/>
              </a:rPr>
              <a:t>reduce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embedding space 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2-dimensional space,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15">
                <a:latin typeface="Calibri"/>
                <a:cs typeface="Calibri"/>
              </a:rPr>
              <a:t>order to </a:t>
            </a:r>
            <a:r>
              <a:rPr dirty="0" sz="3200" spc="-10">
                <a:solidFill>
                  <a:srgbClr val="D60093"/>
                </a:solidFill>
                <a:latin typeface="Calibri"/>
                <a:cs typeface="Calibri"/>
              </a:rPr>
              <a:t>visualize  </a:t>
            </a:r>
            <a:r>
              <a:rPr dirty="0" sz="3200">
                <a:solidFill>
                  <a:srgbClr val="D60093"/>
                </a:solidFill>
                <a:latin typeface="Calibri"/>
                <a:cs typeface="Calibri"/>
              </a:rPr>
              <a:t>the </a:t>
            </a:r>
            <a:r>
              <a:rPr dirty="0" sz="3200" spc="-5">
                <a:solidFill>
                  <a:srgbClr val="D60093"/>
                </a:solidFill>
                <a:latin typeface="Calibri"/>
                <a:cs typeface="Calibri"/>
              </a:rPr>
              <a:t>query</a:t>
            </a:r>
            <a:r>
              <a:rPr dirty="0" sz="3200" spc="-65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D60093"/>
                </a:solidFill>
                <a:latin typeface="Calibri"/>
                <a:cs typeface="Calibri"/>
              </a:rPr>
              <a:t>results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73</a:t>
            </a:fld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36778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940147" y="647947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3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3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940147" y="647947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53903" y="603686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3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3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53903" y="603686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73376" y="546581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73376" y="546581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03299" y="4982971"/>
            <a:ext cx="7223125" cy="577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>
                <a:solidFill>
                  <a:srgbClr val="C00000"/>
                </a:solidFill>
                <a:latin typeface="Arial"/>
                <a:cs typeface="Arial"/>
              </a:rPr>
              <a:t>“List </a:t>
            </a:r>
            <a:r>
              <a:rPr dirty="0" sz="2400" spc="-70">
                <a:solidFill>
                  <a:srgbClr val="C00000"/>
                </a:solidFill>
                <a:latin typeface="Arial"/>
                <a:cs typeface="Arial"/>
              </a:rPr>
              <a:t>male </a:t>
            </a:r>
            <a:r>
              <a:rPr dirty="0" sz="2400" spc="-45">
                <a:solidFill>
                  <a:srgbClr val="C00000"/>
                </a:solidFill>
                <a:latin typeface="Arial"/>
                <a:cs typeface="Arial"/>
              </a:rPr>
              <a:t>instrumentalists 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who </a:t>
            </a:r>
            <a:r>
              <a:rPr dirty="0" sz="2400" spc="-60">
                <a:solidFill>
                  <a:srgbClr val="C00000"/>
                </a:solidFill>
                <a:latin typeface="Arial"/>
                <a:cs typeface="Arial"/>
              </a:rPr>
              <a:t>play </a:t>
            </a:r>
            <a:r>
              <a:rPr dirty="0" sz="2400" spc="-35">
                <a:solidFill>
                  <a:srgbClr val="C00000"/>
                </a:solidFill>
                <a:latin typeface="Arial"/>
                <a:cs typeface="Arial"/>
              </a:rPr>
              <a:t>string</a:t>
            </a:r>
            <a:r>
              <a:rPr dirty="0" sz="2400" spc="2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C00000"/>
                </a:solidFill>
                <a:latin typeface="Arial"/>
                <a:cs typeface="Arial"/>
              </a:rPr>
              <a:t>instruments”</a:t>
            </a:r>
            <a:endParaRPr sz="2400">
              <a:latin typeface="Arial"/>
              <a:cs typeface="Arial"/>
            </a:endParaRPr>
          </a:p>
          <a:p>
            <a:pPr marL="1069340">
              <a:lnSpc>
                <a:spcPct val="100000"/>
              </a:lnSpc>
              <a:spcBef>
                <a:spcPts val="25"/>
              </a:spcBef>
            </a:pPr>
            <a:r>
              <a:rPr dirty="0" sz="1200" spc="-5">
                <a:latin typeface="Arial"/>
                <a:cs typeface="Arial"/>
              </a:rPr>
              <a:t>String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59939" y="5531611"/>
            <a:ext cx="744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Instrument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13071" y="6461252"/>
            <a:ext cx="354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M</a:t>
            </a:r>
            <a:r>
              <a:rPr dirty="0" sz="1200" spc="-5">
                <a:latin typeface="Arial"/>
                <a:cs typeface="Arial"/>
              </a:rPr>
              <a:t>al</a:t>
            </a:r>
            <a:r>
              <a:rPr dirty="0" sz="1200"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61341" y="546438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61341" y="546438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28334" y="5465914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4" h="161925">
                <a:moveTo>
                  <a:pt x="783077" y="107949"/>
                </a:moveTo>
                <a:lnTo>
                  <a:pt x="782995" y="161925"/>
                </a:lnTo>
                <a:lnTo>
                  <a:pt x="891273" y="107990"/>
                </a:lnTo>
                <a:lnTo>
                  <a:pt x="810064" y="107990"/>
                </a:lnTo>
                <a:lnTo>
                  <a:pt x="783077" y="107949"/>
                </a:lnTo>
                <a:close/>
              </a:path>
              <a:path w="945514" h="161925">
                <a:moveTo>
                  <a:pt x="783159" y="53974"/>
                </a:moveTo>
                <a:lnTo>
                  <a:pt x="783077" y="107949"/>
                </a:lnTo>
                <a:lnTo>
                  <a:pt x="810064" y="107990"/>
                </a:lnTo>
                <a:lnTo>
                  <a:pt x="810145" y="54015"/>
                </a:lnTo>
                <a:lnTo>
                  <a:pt x="783159" y="53974"/>
                </a:lnTo>
                <a:close/>
              </a:path>
              <a:path w="945514" h="161925">
                <a:moveTo>
                  <a:pt x="783240" y="0"/>
                </a:moveTo>
                <a:lnTo>
                  <a:pt x="783159" y="53974"/>
                </a:lnTo>
                <a:lnTo>
                  <a:pt x="810145" y="54015"/>
                </a:lnTo>
                <a:lnTo>
                  <a:pt x="810064" y="107990"/>
                </a:lnTo>
                <a:lnTo>
                  <a:pt x="891273" y="107990"/>
                </a:lnTo>
                <a:lnTo>
                  <a:pt x="945042" y="81207"/>
                </a:lnTo>
                <a:lnTo>
                  <a:pt x="783240" y="0"/>
                </a:lnTo>
                <a:close/>
              </a:path>
              <a:path w="945514" h="161925">
                <a:moveTo>
                  <a:pt x="81" y="52793"/>
                </a:moveTo>
                <a:lnTo>
                  <a:pt x="0" y="106768"/>
                </a:lnTo>
                <a:lnTo>
                  <a:pt x="783077" y="107949"/>
                </a:lnTo>
                <a:lnTo>
                  <a:pt x="783159" y="53974"/>
                </a:lnTo>
                <a:lnTo>
                  <a:pt x="81" y="52793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215432" y="5527606"/>
            <a:ext cx="662940" cy="533400"/>
          </a:xfrm>
          <a:custGeom>
            <a:avLst/>
            <a:gdLst/>
            <a:ahLst/>
            <a:cxnLst/>
            <a:rect l="l" t="t" r="r" b="b"/>
            <a:pathLst>
              <a:path w="662939" h="533400">
                <a:moveTo>
                  <a:pt x="33517" y="0"/>
                </a:moveTo>
                <a:lnTo>
                  <a:pt x="0" y="42307"/>
                </a:lnTo>
                <a:lnTo>
                  <a:pt x="42307" y="75824"/>
                </a:lnTo>
                <a:lnTo>
                  <a:pt x="75825" y="33516"/>
                </a:lnTo>
                <a:lnTo>
                  <a:pt x="33517" y="0"/>
                </a:lnTo>
                <a:close/>
              </a:path>
              <a:path w="662939" h="533400">
                <a:moveTo>
                  <a:pt x="118131" y="67034"/>
                </a:moveTo>
                <a:lnTo>
                  <a:pt x="84615" y="109341"/>
                </a:lnTo>
                <a:lnTo>
                  <a:pt x="126922" y="142858"/>
                </a:lnTo>
                <a:lnTo>
                  <a:pt x="160439" y="100551"/>
                </a:lnTo>
                <a:lnTo>
                  <a:pt x="118131" y="67034"/>
                </a:lnTo>
                <a:close/>
              </a:path>
              <a:path w="662939" h="533400">
                <a:moveTo>
                  <a:pt x="202746" y="134068"/>
                </a:moveTo>
                <a:lnTo>
                  <a:pt x="169230" y="176375"/>
                </a:lnTo>
                <a:lnTo>
                  <a:pt x="211536" y="209892"/>
                </a:lnTo>
                <a:lnTo>
                  <a:pt x="245054" y="167585"/>
                </a:lnTo>
                <a:lnTo>
                  <a:pt x="202746" y="134068"/>
                </a:lnTo>
                <a:close/>
              </a:path>
              <a:path w="662939" h="533400">
                <a:moveTo>
                  <a:pt x="287361" y="201102"/>
                </a:moveTo>
                <a:lnTo>
                  <a:pt x="253843" y="243409"/>
                </a:lnTo>
                <a:lnTo>
                  <a:pt x="296151" y="276926"/>
                </a:lnTo>
                <a:lnTo>
                  <a:pt x="329667" y="234619"/>
                </a:lnTo>
                <a:lnTo>
                  <a:pt x="287361" y="201102"/>
                </a:lnTo>
                <a:close/>
              </a:path>
              <a:path w="662939" h="533400">
                <a:moveTo>
                  <a:pt x="371975" y="268136"/>
                </a:moveTo>
                <a:lnTo>
                  <a:pt x="338458" y="310444"/>
                </a:lnTo>
                <a:lnTo>
                  <a:pt x="380766" y="343961"/>
                </a:lnTo>
                <a:lnTo>
                  <a:pt x="414282" y="301653"/>
                </a:lnTo>
                <a:lnTo>
                  <a:pt x="371975" y="268136"/>
                </a:lnTo>
                <a:close/>
              </a:path>
              <a:path w="662939" h="533400">
                <a:moveTo>
                  <a:pt x="519251" y="453673"/>
                </a:moveTo>
                <a:lnTo>
                  <a:pt x="485734" y="495981"/>
                </a:lnTo>
                <a:lnTo>
                  <a:pt x="662932" y="533071"/>
                </a:lnTo>
                <a:lnTo>
                  <a:pt x="633659" y="470432"/>
                </a:lnTo>
                <a:lnTo>
                  <a:pt x="540405" y="470432"/>
                </a:lnTo>
                <a:lnTo>
                  <a:pt x="519251" y="453673"/>
                </a:lnTo>
                <a:close/>
              </a:path>
              <a:path w="662939" h="533400">
                <a:moveTo>
                  <a:pt x="552768" y="411366"/>
                </a:moveTo>
                <a:lnTo>
                  <a:pt x="519251" y="453673"/>
                </a:lnTo>
                <a:lnTo>
                  <a:pt x="540405" y="470432"/>
                </a:lnTo>
                <a:lnTo>
                  <a:pt x="573923" y="428125"/>
                </a:lnTo>
                <a:lnTo>
                  <a:pt x="552768" y="411366"/>
                </a:lnTo>
                <a:close/>
              </a:path>
              <a:path w="662939" h="533400">
                <a:moveTo>
                  <a:pt x="586285" y="369059"/>
                </a:moveTo>
                <a:lnTo>
                  <a:pt x="552768" y="411366"/>
                </a:lnTo>
                <a:lnTo>
                  <a:pt x="573923" y="428125"/>
                </a:lnTo>
                <a:lnTo>
                  <a:pt x="540405" y="470432"/>
                </a:lnTo>
                <a:lnTo>
                  <a:pt x="633659" y="470432"/>
                </a:lnTo>
                <a:lnTo>
                  <a:pt x="586285" y="369059"/>
                </a:lnTo>
                <a:close/>
              </a:path>
              <a:path w="662939" h="533400">
                <a:moveTo>
                  <a:pt x="541204" y="402205"/>
                </a:moveTo>
                <a:lnTo>
                  <a:pt x="507687" y="444512"/>
                </a:lnTo>
                <a:lnTo>
                  <a:pt x="519251" y="453673"/>
                </a:lnTo>
                <a:lnTo>
                  <a:pt x="552768" y="411366"/>
                </a:lnTo>
                <a:lnTo>
                  <a:pt x="541204" y="402205"/>
                </a:lnTo>
                <a:close/>
              </a:path>
              <a:path w="662939" h="533400">
                <a:moveTo>
                  <a:pt x="456590" y="335171"/>
                </a:moveTo>
                <a:lnTo>
                  <a:pt x="423072" y="377478"/>
                </a:lnTo>
                <a:lnTo>
                  <a:pt x="465380" y="410995"/>
                </a:lnTo>
                <a:lnTo>
                  <a:pt x="498897" y="368688"/>
                </a:lnTo>
                <a:lnTo>
                  <a:pt x="456590" y="3351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107179" y="6479822"/>
            <a:ext cx="955675" cy="161925"/>
          </a:xfrm>
          <a:custGeom>
            <a:avLst/>
            <a:gdLst/>
            <a:ahLst/>
            <a:cxnLst/>
            <a:rect l="l" t="t" r="r" b="b"/>
            <a:pathLst>
              <a:path w="955675" h="161925">
                <a:moveTo>
                  <a:pt x="793351" y="107949"/>
                </a:moveTo>
                <a:lnTo>
                  <a:pt x="793351" y="161925"/>
                </a:lnTo>
                <a:lnTo>
                  <a:pt x="901302" y="107950"/>
                </a:lnTo>
                <a:lnTo>
                  <a:pt x="793351" y="107949"/>
                </a:lnTo>
                <a:close/>
              </a:path>
              <a:path w="955675" h="161925">
                <a:moveTo>
                  <a:pt x="793352" y="53974"/>
                </a:moveTo>
                <a:lnTo>
                  <a:pt x="793351" y="107949"/>
                </a:lnTo>
                <a:lnTo>
                  <a:pt x="820339" y="107950"/>
                </a:lnTo>
                <a:lnTo>
                  <a:pt x="820339" y="53975"/>
                </a:lnTo>
                <a:lnTo>
                  <a:pt x="793352" y="53974"/>
                </a:lnTo>
                <a:close/>
              </a:path>
              <a:path w="955675" h="161925">
                <a:moveTo>
                  <a:pt x="793352" y="0"/>
                </a:moveTo>
                <a:lnTo>
                  <a:pt x="793352" y="53974"/>
                </a:lnTo>
                <a:lnTo>
                  <a:pt x="820339" y="53975"/>
                </a:lnTo>
                <a:lnTo>
                  <a:pt x="820339" y="107950"/>
                </a:lnTo>
                <a:lnTo>
                  <a:pt x="901303" y="107949"/>
                </a:lnTo>
                <a:lnTo>
                  <a:pt x="955277" y="80962"/>
                </a:lnTo>
                <a:lnTo>
                  <a:pt x="793352" y="0"/>
                </a:lnTo>
                <a:close/>
              </a:path>
              <a:path w="955675" h="161925">
                <a:moveTo>
                  <a:pt x="0" y="53974"/>
                </a:moveTo>
                <a:lnTo>
                  <a:pt x="0" y="107949"/>
                </a:lnTo>
                <a:lnTo>
                  <a:pt x="793351" y="107949"/>
                </a:lnTo>
                <a:lnTo>
                  <a:pt x="793352" y="53974"/>
                </a:lnTo>
                <a:lnTo>
                  <a:pt x="0" y="53974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062456" y="647947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3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3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062456" y="647947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065158" y="5467452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3"/>
                </a:lnTo>
                <a:lnTo>
                  <a:pt x="83516" y="162612"/>
                </a:lnTo>
                <a:lnTo>
                  <a:pt x="116024" y="156223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065158" y="5467452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215716" y="6175661"/>
            <a:ext cx="662940" cy="408940"/>
          </a:xfrm>
          <a:custGeom>
            <a:avLst/>
            <a:gdLst/>
            <a:ahLst/>
            <a:cxnLst/>
            <a:rect l="l" t="t" r="r" b="b"/>
            <a:pathLst>
              <a:path w="662939" h="408940">
                <a:moveTo>
                  <a:pt x="46414" y="334366"/>
                </a:moveTo>
                <a:lnTo>
                  <a:pt x="0" y="361915"/>
                </a:lnTo>
                <a:lnTo>
                  <a:pt x="27547" y="408330"/>
                </a:lnTo>
                <a:lnTo>
                  <a:pt x="73963" y="380782"/>
                </a:lnTo>
                <a:lnTo>
                  <a:pt x="46414" y="334366"/>
                </a:lnTo>
                <a:close/>
              </a:path>
              <a:path w="662939" h="408940">
                <a:moveTo>
                  <a:pt x="139245" y="279269"/>
                </a:moveTo>
                <a:lnTo>
                  <a:pt x="92830" y="306818"/>
                </a:lnTo>
                <a:lnTo>
                  <a:pt x="120378" y="353233"/>
                </a:lnTo>
                <a:lnTo>
                  <a:pt x="166794" y="325684"/>
                </a:lnTo>
                <a:lnTo>
                  <a:pt x="139245" y="279269"/>
                </a:lnTo>
                <a:close/>
              </a:path>
              <a:path w="662939" h="408940">
                <a:moveTo>
                  <a:pt x="232075" y="224172"/>
                </a:moveTo>
                <a:lnTo>
                  <a:pt x="185660" y="251720"/>
                </a:lnTo>
                <a:lnTo>
                  <a:pt x="213208" y="298136"/>
                </a:lnTo>
                <a:lnTo>
                  <a:pt x="259624" y="270587"/>
                </a:lnTo>
                <a:lnTo>
                  <a:pt x="232075" y="224172"/>
                </a:lnTo>
                <a:close/>
              </a:path>
              <a:path w="662939" h="408940">
                <a:moveTo>
                  <a:pt x="324906" y="169075"/>
                </a:moveTo>
                <a:lnTo>
                  <a:pt x="278490" y="196623"/>
                </a:lnTo>
                <a:lnTo>
                  <a:pt x="306039" y="243039"/>
                </a:lnTo>
                <a:lnTo>
                  <a:pt x="352455" y="215490"/>
                </a:lnTo>
                <a:lnTo>
                  <a:pt x="324906" y="169075"/>
                </a:lnTo>
                <a:close/>
              </a:path>
              <a:path w="662939" h="408940">
                <a:moveTo>
                  <a:pt x="417737" y="113978"/>
                </a:moveTo>
                <a:lnTo>
                  <a:pt x="371321" y="141526"/>
                </a:lnTo>
                <a:lnTo>
                  <a:pt x="398870" y="187941"/>
                </a:lnTo>
                <a:lnTo>
                  <a:pt x="445284" y="160393"/>
                </a:lnTo>
                <a:lnTo>
                  <a:pt x="417737" y="113978"/>
                </a:lnTo>
                <a:close/>
              </a:path>
              <a:path w="662939" h="408940">
                <a:moveTo>
                  <a:pt x="624783" y="58881"/>
                </a:moveTo>
                <a:lnTo>
                  <a:pt x="510567" y="58881"/>
                </a:lnTo>
                <a:lnTo>
                  <a:pt x="538115" y="105296"/>
                </a:lnTo>
                <a:lnTo>
                  <a:pt x="537177" y="105853"/>
                </a:lnTo>
                <a:lnTo>
                  <a:pt x="564725" y="152268"/>
                </a:lnTo>
                <a:lnTo>
                  <a:pt x="624783" y="58881"/>
                </a:lnTo>
                <a:close/>
              </a:path>
              <a:path w="662939" h="408940">
                <a:moveTo>
                  <a:pt x="509629" y="59438"/>
                </a:moveTo>
                <a:lnTo>
                  <a:pt x="464151" y="86429"/>
                </a:lnTo>
                <a:lnTo>
                  <a:pt x="491700" y="132844"/>
                </a:lnTo>
                <a:lnTo>
                  <a:pt x="537177" y="105853"/>
                </a:lnTo>
                <a:lnTo>
                  <a:pt x="509629" y="59438"/>
                </a:lnTo>
                <a:close/>
              </a:path>
              <a:path w="662939" h="408940">
                <a:moveTo>
                  <a:pt x="510567" y="58881"/>
                </a:moveTo>
                <a:lnTo>
                  <a:pt x="509629" y="59438"/>
                </a:lnTo>
                <a:lnTo>
                  <a:pt x="537177" y="105853"/>
                </a:lnTo>
                <a:lnTo>
                  <a:pt x="538115" y="105296"/>
                </a:lnTo>
                <a:lnTo>
                  <a:pt x="510567" y="58881"/>
                </a:lnTo>
                <a:close/>
              </a:path>
              <a:path w="662939" h="408940">
                <a:moveTo>
                  <a:pt x="662649" y="0"/>
                </a:moveTo>
                <a:lnTo>
                  <a:pt x="482080" y="13022"/>
                </a:lnTo>
                <a:lnTo>
                  <a:pt x="509629" y="59438"/>
                </a:lnTo>
                <a:lnTo>
                  <a:pt x="510567" y="58881"/>
                </a:lnTo>
                <a:lnTo>
                  <a:pt x="624783" y="58881"/>
                </a:lnTo>
                <a:lnTo>
                  <a:pt x="662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140362" y="5467510"/>
            <a:ext cx="925194" cy="161925"/>
          </a:xfrm>
          <a:custGeom>
            <a:avLst/>
            <a:gdLst/>
            <a:ahLst/>
            <a:cxnLst/>
            <a:rect l="l" t="t" r="r" b="b"/>
            <a:pathLst>
              <a:path w="925195" h="161925">
                <a:moveTo>
                  <a:pt x="762823" y="107950"/>
                </a:moveTo>
                <a:lnTo>
                  <a:pt x="762727" y="161925"/>
                </a:lnTo>
                <a:lnTo>
                  <a:pt x="871060" y="107998"/>
                </a:lnTo>
                <a:lnTo>
                  <a:pt x="789811" y="107998"/>
                </a:lnTo>
                <a:lnTo>
                  <a:pt x="762823" y="107950"/>
                </a:lnTo>
                <a:close/>
              </a:path>
              <a:path w="925195" h="161925">
                <a:moveTo>
                  <a:pt x="762919" y="53975"/>
                </a:moveTo>
                <a:lnTo>
                  <a:pt x="762823" y="107950"/>
                </a:lnTo>
                <a:lnTo>
                  <a:pt x="789811" y="107998"/>
                </a:lnTo>
                <a:lnTo>
                  <a:pt x="789906" y="54023"/>
                </a:lnTo>
                <a:lnTo>
                  <a:pt x="762919" y="53975"/>
                </a:lnTo>
                <a:close/>
              </a:path>
              <a:path w="925195" h="161925">
                <a:moveTo>
                  <a:pt x="763014" y="0"/>
                </a:moveTo>
                <a:lnTo>
                  <a:pt x="762919" y="53975"/>
                </a:lnTo>
                <a:lnTo>
                  <a:pt x="789906" y="54023"/>
                </a:lnTo>
                <a:lnTo>
                  <a:pt x="789811" y="107998"/>
                </a:lnTo>
                <a:lnTo>
                  <a:pt x="871060" y="107998"/>
                </a:lnTo>
                <a:lnTo>
                  <a:pt x="924796" y="81249"/>
                </a:lnTo>
                <a:lnTo>
                  <a:pt x="763014" y="0"/>
                </a:lnTo>
                <a:close/>
              </a:path>
              <a:path w="925195" h="161925">
                <a:moveTo>
                  <a:pt x="95" y="52623"/>
                </a:moveTo>
                <a:lnTo>
                  <a:pt x="0" y="106598"/>
                </a:lnTo>
                <a:lnTo>
                  <a:pt x="762823" y="107950"/>
                </a:lnTo>
                <a:lnTo>
                  <a:pt x="762919" y="53975"/>
                </a:lnTo>
                <a:lnTo>
                  <a:pt x="95" y="52623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151750" y="6243828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51477" y="5570220"/>
            <a:ext cx="3416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4900" algn="l"/>
                <a:tab pos="2513330" algn="l"/>
              </a:tabLst>
            </a:pPr>
            <a:r>
              <a:rPr dirty="0" baseline="3968" sz="2100" spc="-37">
                <a:solidFill>
                  <a:srgbClr val="C55A11"/>
                </a:solidFill>
                <a:latin typeface="Arial"/>
                <a:cs typeface="Arial"/>
              </a:rPr>
              <a:t>Projection	</a:t>
            </a:r>
            <a:r>
              <a:rPr dirty="0" sz="1400" spc="-25">
                <a:solidFill>
                  <a:srgbClr val="548235"/>
                </a:solidFill>
                <a:latin typeface="Arial"/>
                <a:cs typeface="Arial"/>
              </a:rPr>
              <a:t>Projection	</a:t>
            </a:r>
            <a:r>
              <a:rPr dirty="0" baseline="3968" sz="2100" spc="-37">
                <a:latin typeface="Arial"/>
                <a:cs typeface="Arial"/>
              </a:rPr>
              <a:t>Intersection</a:t>
            </a:r>
            <a:endParaRPr baseline="3968" sz="2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52798" y="6380988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295400" y="1444750"/>
            <a:ext cx="4935881" cy="35700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590032" y="2662234"/>
            <a:ext cx="959485" cy="85725"/>
          </a:xfrm>
          <a:custGeom>
            <a:avLst/>
            <a:gdLst/>
            <a:ahLst/>
            <a:cxnLst/>
            <a:rect l="l" t="t" r="r" b="b"/>
            <a:pathLst>
              <a:path w="959484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57150"/>
                </a:lnTo>
                <a:lnTo>
                  <a:pt x="63545" y="57150"/>
                </a:lnTo>
                <a:lnTo>
                  <a:pt x="57150" y="50754"/>
                </a:lnTo>
                <a:lnTo>
                  <a:pt x="57151" y="34970"/>
                </a:lnTo>
                <a:lnTo>
                  <a:pt x="63545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959484" h="85725">
                <a:moveTo>
                  <a:pt x="85725" y="28575"/>
                </a:moveTo>
                <a:lnTo>
                  <a:pt x="63545" y="28575"/>
                </a:lnTo>
                <a:lnTo>
                  <a:pt x="57151" y="34970"/>
                </a:lnTo>
                <a:lnTo>
                  <a:pt x="57150" y="50754"/>
                </a:lnTo>
                <a:lnTo>
                  <a:pt x="63545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959484" h="85725">
                <a:moveTo>
                  <a:pt x="952771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952771" y="57150"/>
                </a:lnTo>
                <a:lnTo>
                  <a:pt x="959166" y="50754"/>
                </a:lnTo>
                <a:lnTo>
                  <a:pt x="959167" y="34970"/>
                </a:lnTo>
                <a:lnTo>
                  <a:pt x="95277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510912" y="2338199"/>
            <a:ext cx="1694180" cy="734060"/>
          </a:xfrm>
          <a:custGeom>
            <a:avLst/>
            <a:gdLst/>
            <a:ahLst/>
            <a:cxnLst/>
            <a:rect l="l" t="t" r="r" b="b"/>
            <a:pathLst>
              <a:path w="1694179" h="734060">
                <a:moveTo>
                  <a:pt x="1669919" y="0"/>
                </a:moveTo>
                <a:lnTo>
                  <a:pt x="23999" y="0"/>
                </a:lnTo>
                <a:lnTo>
                  <a:pt x="14657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4000"/>
                </a:lnTo>
                <a:lnTo>
                  <a:pt x="0" y="709794"/>
                </a:lnTo>
                <a:lnTo>
                  <a:pt x="1886" y="719136"/>
                </a:lnTo>
                <a:lnTo>
                  <a:pt x="7029" y="726764"/>
                </a:lnTo>
                <a:lnTo>
                  <a:pt x="14657" y="731908"/>
                </a:lnTo>
                <a:lnTo>
                  <a:pt x="23999" y="733794"/>
                </a:lnTo>
                <a:lnTo>
                  <a:pt x="1669919" y="733794"/>
                </a:lnTo>
                <a:lnTo>
                  <a:pt x="1679261" y="731908"/>
                </a:lnTo>
                <a:lnTo>
                  <a:pt x="1686889" y="726764"/>
                </a:lnTo>
                <a:lnTo>
                  <a:pt x="1692032" y="719136"/>
                </a:lnTo>
                <a:lnTo>
                  <a:pt x="1693918" y="709794"/>
                </a:lnTo>
                <a:lnTo>
                  <a:pt x="1693918" y="704994"/>
                </a:lnTo>
                <a:lnTo>
                  <a:pt x="28799" y="704994"/>
                </a:lnTo>
                <a:lnTo>
                  <a:pt x="28799" y="28799"/>
                </a:lnTo>
                <a:lnTo>
                  <a:pt x="1693918" y="28799"/>
                </a:lnTo>
                <a:lnTo>
                  <a:pt x="1693918" y="24000"/>
                </a:lnTo>
                <a:lnTo>
                  <a:pt x="1692032" y="14658"/>
                </a:lnTo>
                <a:lnTo>
                  <a:pt x="1686889" y="7029"/>
                </a:lnTo>
                <a:lnTo>
                  <a:pt x="1679261" y="1886"/>
                </a:lnTo>
                <a:lnTo>
                  <a:pt x="1669919" y="0"/>
                </a:lnTo>
                <a:close/>
              </a:path>
              <a:path w="1694179" h="734060">
                <a:moveTo>
                  <a:pt x="1693918" y="28799"/>
                </a:moveTo>
                <a:lnTo>
                  <a:pt x="1665118" y="28799"/>
                </a:lnTo>
                <a:lnTo>
                  <a:pt x="1665118" y="704994"/>
                </a:lnTo>
                <a:lnTo>
                  <a:pt x="1693918" y="704994"/>
                </a:lnTo>
                <a:lnTo>
                  <a:pt x="1693918" y="28799"/>
                </a:lnTo>
                <a:close/>
              </a:path>
              <a:path w="1694179" h="734060">
                <a:moveTo>
                  <a:pt x="1655518" y="38400"/>
                </a:moveTo>
                <a:lnTo>
                  <a:pt x="38399" y="38400"/>
                </a:lnTo>
                <a:lnTo>
                  <a:pt x="38399" y="695394"/>
                </a:lnTo>
                <a:lnTo>
                  <a:pt x="1655518" y="695394"/>
                </a:lnTo>
                <a:lnTo>
                  <a:pt x="1655518" y="685794"/>
                </a:lnTo>
                <a:lnTo>
                  <a:pt x="47999" y="685794"/>
                </a:lnTo>
                <a:lnTo>
                  <a:pt x="47999" y="48000"/>
                </a:lnTo>
                <a:lnTo>
                  <a:pt x="1655518" y="48000"/>
                </a:lnTo>
                <a:lnTo>
                  <a:pt x="1655518" y="38400"/>
                </a:lnTo>
                <a:close/>
              </a:path>
              <a:path w="1694179" h="734060">
                <a:moveTo>
                  <a:pt x="1655518" y="48000"/>
                </a:moveTo>
                <a:lnTo>
                  <a:pt x="1645918" y="48000"/>
                </a:lnTo>
                <a:lnTo>
                  <a:pt x="1645918" y="685794"/>
                </a:lnTo>
                <a:lnTo>
                  <a:pt x="1655518" y="685794"/>
                </a:lnTo>
                <a:lnTo>
                  <a:pt x="1655518" y="4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6633971" y="2416555"/>
            <a:ext cx="1447800" cy="568325"/>
          </a:xfrm>
          <a:prstGeom prst="rect"/>
        </p:spPr>
        <p:txBody>
          <a:bodyPr wrap="square" lIns="0" tIns="26670" rIns="0" bIns="0" rtlCol="0" vert="horz">
            <a:spAutoFit/>
          </a:bodyPr>
          <a:lstStyle/>
          <a:p>
            <a:pPr marL="12700" marR="5080" indent="6350">
              <a:lnSpc>
                <a:spcPts val="2110"/>
              </a:lnSpc>
              <a:spcBef>
                <a:spcPts val="210"/>
              </a:spcBef>
            </a:pPr>
            <a:r>
              <a:rPr dirty="0" sz="1800" spc="-5" i="0">
                <a:latin typeface="Arial"/>
                <a:cs typeface="Arial"/>
              </a:rPr>
              <a:t>Embedding of  14951</a:t>
            </a:r>
            <a:r>
              <a:rPr dirty="0" sz="1800" spc="-90" i="0">
                <a:latin typeface="Arial"/>
                <a:cs typeface="Arial"/>
              </a:rPr>
              <a:t> </a:t>
            </a:r>
            <a:r>
              <a:rPr dirty="0" sz="1800" spc="-5" i="0">
                <a:latin typeface="Arial"/>
                <a:cs typeface="Arial"/>
              </a:rPr>
              <a:t>entities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4"/>
              </a:rPr>
              <a:t>http://cs224w.stanford.edu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73</a:t>
            </a:fld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36778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401765" y="243744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8579" y="0"/>
                </a:moveTo>
                <a:lnTo>
                  <a:pt x="41885" y="5389"/>
                </a:lnTo>
                <a:lnTo>
                  <a:pt x="20086" y="20086"/>
                </a:lnTo>
                <a:lnTo>
                  <a:pt x="5389" y="41885"/>
                </a:lnTo>
                <a:lnTo>
                  <a:pt x="0" y="68579"/>
                </a:lnTo>
                <a:lnTo>
                  <a:pt x="5389" y="95274"/>
                </a:lnTo>
                <a:lnTo>
                  <a:pt x="20086" y="117073"/>
                </a:lnTo>
                <a:lnTo>
                  <a:pt x="41885" y="131770"/>
                </a:lnTo>
                <a:lnTo>
                  <a:pt x="68579" y="137160"/>
                </a:lnTo>
                <a:lnTo>
                  <a:pt x="95274" y="131770"/>
                </a:lnTo>
                <a:lnTo>
                  <a:pt x="117073" y="117073"/>
                </a:lnTo>
                <a:lnTo>
                  <a:pt x="131770" y="95274"/>
                </a:lnTo>
                <a:lnTo>
                  <a:pt x="137159" y="68579"/>
                </a:lnTo>
                <a:lnTo>
                  <a:pt x="131770" y="41885"/>
                </a:lnTo>
                <a:lnTo>
                  <a:pt x="117073" y="20086"/>
                </a:lnTo>
                <a:lnTo>
                  <a:pt x="95274" y="5389"/>
                </a:lnTo>
                <a:lnTo>
                  <a:pt x="68579" y="0"/>
                </a:lnTo>
                <a:close/>
              </a:path>
            </a:pathLst>
          </a:custGeom>
          <a:solidFill>
            <a:srgbClr val="1F7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07387" y="2378455"/>
            <a:ext cx="6305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Arial"/>
                <a:cs typeface="Arial"/>
              </a:rPr>
              <a:t>Anchor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3299" y="4982971"/>
            <a:ext cx="722312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>
                <a:solidFill>
                  <a:srgbClr val="C00000"/>
                </a:solidFill>
                <a:latin typeface="Arial"/>
                <a:cs typeface="Arial"/>
              </a:rPr>
              <a:t>“List </a:t>
            </a:r>
            <a:r>
              <a:rPr dirty="0" sz="2400" spc="-70">
                <a:solidFill>
                  <a:srgbClr val="C00000"/>
                </a:solidFill>
                <a:latin typeface="Arial"/>
                <a:cs typeface="Arial"/>
              </a:rPr>
              <a:t>male </a:t>
            </a:r>
            <a:r>
              <a:rPr dirty="0" sz="2400" spc="-45">
                <a:solidFill>
                  <a:srgbClr val="C00000"/>
                </a:solidFill>
                <a:latin typeface="Arial"/>
                <a:cs typeface="Arial"/>
              </a:rPr>
              <a:t>instrumentalists 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who </a:t>
            </a:r>
            <a:r>
              <a:rPr dirty="0" sz="2400" spc="-60">
                <a:solidFill>
                  <a:srgbClr val="C00000"/>
                </a:solidFill>
                <a:latin typeface="Arial"/>
                <a:cs typeface="Arial"/>
              </a:rPr>
              <a:t>play </a:t>
            </a:r>
            <a:r>
              <a:rPr dirty="0" sz="2400" spc="-35">
                <a:solidFill>
                  <a:srgbClr val="C00000"/>
                </a:solidFill>
                <a:latin typeface="Arial"/>
                <a:cs typeface="Arial"/>
              </a:rPr>
              <a:t>string</a:t>
            </a:r>
            <a:r>
              <a:rPr dirty="0" sz="2400" spc="2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C00000"/>
                </a:solidFill>
                <a:latin typeface="Arial"/>
                <a:cs typeface="Arial"/>
              </a:rPr>
              <a:t>instruments”</a:t>
            </a:r>
            <a:endParaRPr sz="2400">
              <a:latin typeface="Arial"/>
              <a:cs typeface="Arial"/>
            </a:endParaRPr>
          </a:p>
          <a:p>
            <a:pPr marL="1069340" marR="5427345">
              <a:lnSpc>
                <a:spcPts val="1420"/>
              </a:lnSpc>
              <a:spcBef>
                <a:spcPts val="85"/>
              </a:spcBef>
            </a:pPr>
            <a:r>
              <a:rPr dirty="0" sz="1200" spc="-5">
                <a:latin typeface="Arial"/>
                <a:cs typeface="Arial"/>
              </a:rPr>
              <a:t>String  </a:t>
            </a:r>
            <a:r>
              <a:rPr dirty="0" sz="1200">
                <a:latin typeface="Arial"/>
                <a:cs typeface="Arial"/>
              </a:rPr>
              <a:t>I</a:t>
            </a:r>
            <a:r>
              <a:rPr dirty="0" sz="1200" spc="-5">
                <a:latin typeface="Arial"/>
                <a:cs typeface="Arial"/>
              </a:rPr>
              <a:t>n</a:t>
            </a:r>
            <a:r>
              <a:rPr dirty="0" sz="1200">
                <a:latin typeface="Arial"/>
                <a:cs typeface="Arial"/>
              </a:rPr>
              <a:t>str</a:t>
            </a:r>
            <a:r>
              <a:rPr dirty="0" sz="1200" spc="-5">
                <a:latin typeface="Arial"/>
                <a:cs typeface="Arial"/>
              </a:rPr>
              <a:t>u</a:t>
            </a:r>
            <a:r>
              <a:rPr dirty="0" sz="1200">
                <a:latin typeface="Arial"/>
                <a:cs typeface="Arial"/>
              </a:rPr>
              <a:t>m</a:t>
            </a:r>
            <a:r>
              <a:rPr dirty="0" sz="1200" spc="-5">
                <a:latin typeface="Arial"/>
                <a:cs typeface="Arial"/>
              </a:rPr>
              <a:t>en</a:t>
            </a:r>
            <a:r>
              <a:rPr dirty="0" sz="1200"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61341" y="546438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61341" y="546438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95398" y="1444752"/>
            <a:ext cx="4955830" cy="35844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4"/>
              </a:rPr>
              <a:t>http://cs224w.stanford.edu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73</a:t>
            </a:fld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5400" y="1439998"/>
            <a:ext cx="5040000" cy="3691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5216" y="347472"/>
            <a:ext cx="4367784" cy="557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402001" y="312324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8579" y="0"/>
                </a:moveTo>
                <a:lnTo>
                  <a:pt x="41885" y="5389"/>
                </a:lnTo>
                <a:lnTo>
                  <a:pt x="20086" y="20086"/>
                </a:lnTo>
                <a:lnTo>
                  <a:pt x="5389" y="41885"/>
                </a:lnTo>
                <a:lnTo>
                  <a:pt x="0" y="68579"/>
                </a:lnTo>
                <a:lnTo>
                  <a:pt x="5389" y="95274"/>
                </a:lnTo>
                <a:lnTo>
                  <a:pt x="20086" y="117073"/>
                </a:lnTo>
                <a:lnTo>
                  <a:pt x="41885" y="131770"/>
                </a:lnTo>
                <a:lnTo>
                  <a:pt x="68579" y="137160"/>
                </a:lnTo>
                <a:lnTo>
                  <a:pt x="95274" y="131770"/>
                </a:lnTo>
                <a:lnTo>
                  <a:pt x="117073" y="117073"/>
                </a:lnTo>
                <a:lnTo>
                  <a:pt x="131770" y="95274"/>
                </a:lnTo>
                <a:lnTo>
                  <a:pt x="137159" y="68579"/>
                </a:lnTo>
                <a:lnTo>
                  <a:pt x="131770" y="41885"/>
                </a:lnTo>
                <a:lnTo>
                  <a:pt x="117073" y="20086"/>
                </a:lnTo>
                <a:lnTo>
                  <a:pt x="95274" y="5389"/>
                </a:lnTo>
                <a:lnTo>
                  <a:pt x="68579" y="0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403134" y="243744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8579" y="0"/>
                </a:moveTo>
                <a:lnTo>
                  <a:pt x="41885" y="5389"/>
                </a:lnTo>
                <a:lnTo>
                  <a:pt x="20086" y="20086"/>
                </a:lnTo>
                <a:lnTo>
                  <a:pt x="5389" y="41885"/>
                </a:lnTo>
                <a:lnTo>
                  <a:pt x="0" y="68579"/>
                </a:lnTo>
                <a:lnTo>
                  <a:pt x="5389" y="95274"/>
                </a:lnTo>
                <a:lnTo>
                  <a:pt x="20086" y="117073"/>
                </a:lnTo>
                <a:lnTo>
                  <a:pt x="41885" y="131770"/>
                </a:lnTo>
                <a:lnTo>
                  <a:pt x="68579" y="137160"/>
                </a:lnTo>
                <a:lnTo>
                  <a:pt x="95274" y="131770"/>
                </a:lnTo>
                <a:lnTo>
                  <a:pt x="117073" y="117073"/>
                </a:lnTo>
                <a:lnTo>
                  <a:pt x="131770" y="95274"/>
                </a:lnTo>
                <a:lnTo>
                  <a:pt x="137159" y="68579"/>
                </a:lnTo>
                <a:lnTo>
                  <a:pt x="131770" y="41885"/>
                </a:lnTo>
                <a:lnTo>
                  <a:pt x="117073" y="20086"/>
                </a:lnTo>
                <a:lnTo>
                  <a:pt x="95274" y="5389"/>
                </a:lnTo>
                <a:lnTo>
                  <a:pt x="68579" y="0"/>
                </a:lnTo>
                <a:close/>
              </a:path>
            </a:pathLst>
          </a:custGeom>
          <a:solidFill>
            <a:srgbClr val="D627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03134" y="266604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8579" y="0"/>
                </a:moveTo>
                <a:lnTo>
                  <a:pt x="41885" y="5389"/>
                </a:lnTo>
                <a:lnTo>
                  <a:pt x="20086" y="20086"/>
                </a:lnTo>
                <a:lnTo>
                  <a:pt x="5389" y="41885"/>
                </a:lnTo>
                <a:lnTo>
                  <a:pt x="0" y="68579"/>
                </a:lnTo>
                <a:lnTo>
                  <a:pt x="5389" y="95274"/>
                </a:lnTo>
                <a:lnTo>
                  <a:pt x="20086" y="117073"/>
                </a:lnTo>
                <a:lnTo>
                  <a:pt x="41885" y="131770"/>
                </a:lnTo>
                <a:lnTo>
                  <a:pt x="68579" y="137160"/>
                </a:lnTo>
                <a:lnTo>
                  <a:pt x="95274" y="131770"/>
                </a:lnTo>
                <a:lnTo>
                  <a:pt x="117073" y="117073"/>
                </a:lnTo>
                <a:lnTo>
                  <a:pt x="131770" y="95274"/>
                </a:lnTo>
                <a:lnTo>
                  <a:pt x="137159" y="68579"/>
                </a:lnTo>
                <a:lnTo>
                  <a:pt x="131770" y="41885"/>
                </a:lnTo>
                <a:lnTo>
                  <a:pt x="117073" y="20086"/>
                </a:lnTo>
                <a:lnTo>
                  <a:pt x="95274" y="5389"/>
                </a:lnTo>
                <a:lnTo>
                  <a:pt x="68579" y="0"/>
                </a:lnTo>
                <a:close/>
              </a:path>
            </a:pathLst>
          </a:custGeom>
          <a:solidFill>
            <a:srgbClr val="F492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02001" y="289464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8579" y="0"/>
                </a:moveTo>
                <a:lnTo>
                  <a:pt x="41885" y="5389"/>
                </a:lnTo>
                <a:lnTo>
                  <a:pt x="20086" y="20086"/>
                </a:lnTo>
                <a:lnTo>
                  <a:pt x="5389" y="41885"/>
                </a:lnTo>
                <a:lnTo>
                  <a:pt x="0" y="68579"/>
                </a:lnTo>
                <a:lnTo>
                  <a:pt x="5389" y="95274"/>
                </a:lnTo>
                <a:lnTo>
                  <a:pt x="20086" y="117073"/>
                </a:lnTo>
                <a:lnTo>
                  <a:pt x="41885" y="131770"/>
                </a:lnTo>
                <a:lnTo>
                  <a:pt x="68579" y="137160"/>
                </a:lnTo>
                <a:lnTo>
                  <a:pt x="95274" y="131770"/>
                </a:lnTo>
                <a:lnTo>
                  <a:pt x="117073" y="117073"/>
                </a:lnTo>
                <a:lnTo>
                  <a:pt x="131770" y="95274"/>
                </a:lnTo>
                <a:lnTo>
                  <a:pt x="137159" y="68579"/>
                </a:lnTo>
                <a:lnTo>
                  <a:pt x="131770" y="41885"/>
                </a:lnTo>
                <a:lnTo>
                  <a:pt x="117073" y="20086"/>
                </a:lnTo>
                <a:lnTo>
                  <a:pt x="95274" y="5389"/>
                </a:lnTo>
                <a:lnTo>
                  <a:pt x="68579" y="0"/>
                </a:lnTo>
                <a:close/>
              </a:path>
            </a:pathLst>
          </a:custGeom>
          <a:solidFill>
            <a:srgbClr val="229D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73376" y="546581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73376" y="546581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03299" y="4982971"/>
            <a:ext cx="7221855" cy="577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>
                <a:solidFill>
                  <a:srgbClr val="C00000"/>
                </a:solidFill>
                <a:latin typeface="Arial"/>
                <a:cs typeface="Arial"/>
              </a:rPr>
              <a:t>“List </a:t>
            </a:r>
            <a:r>
              <a:rPr dirty="0" sz="2400" spc="-70">
                <a:solidFill>
                  <a:srgbClr val="C00000"/>
                </a:solidFill>
                <a:latin typeface="Arial"/>
                <a:cs typeface="Arial"/>
              </a:rPr>
              <a:t>male </a:t>
            </a:r>
            <a:r>
              <a:rPr dirty="0" sz="2400" spc="-45">
                <a:solidFill>
                  <a:srgbClr val="C00000"/>
                </a:solidFill>
                <a:latin typeface="Arial"/>
                <a:cs typeface="Arial"/>
              </a:rPr>
              <a:t>instrumentalists 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who </a:t>
            </a:r>
            <a:r>
              <a:rPr dirty="0" sz="2400" spc="-60">
                <a:solidFill>
                  <a:srgbClr val="C00000"/>
                </a:solidFill>
                <a:latin typeface="Arial"/>
                <a:cs typeface="Arial"/>
              </a:rPr>
              <a:t>play </a:t>
            </a:r>
            <a:r>
              <a:rPr dirty="0" sz="2400" spc="-35" u="sng">
                <a:solidFill>
                  <a:srgbClr val="C00000"/>
                </a:solidFill>
                <a:latin typeface="Arial"/>
                <a:cs typeface="Arial"/>
              </a:rPr>
              <a:t>string</a:t>
            </a:r>
            <a:r>
              <a:rPr dirty="0" sz="2400" spc="225" u="sng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30" u="sng">
                <a:solidFill>
                  <a:srgbClr val="C00000"/>
                </a:solidFill>
                <a:latin typeface="Arial"/>
                <a:cs typeface="Arial"/>
              </a:rPr>
              <a:t>instruments</a:t>
            </a:r>
            <a:r>
              <a:rPr dirty="0" sz="2400" spc="-30">
                <a:solidFill>
                  <a:srgbClr val="C00000"/>
                </a:solidFill>
                <a:latin typeface="Arial"/>
                <a:cs typeface="Arial"/>
              </a:rPr>
              <a:t>”</a:t>
            </a:r>
            <a:endParaRPr sz="2400">
              <a:latin typeface="Arial"/>
              <a:cs typeface="Arial"/>
            </a:endParaRPr>
          </a:p>
          <a:p>
            <a:pPr marL="1069340">
              <a:lnSpc>
                <a:spcPct val="100000"/>
              </a:lnSpc>
              <a:spcBef>
                <a:spcPts val="25"/>
              </a:spcBef>
            </a:pPr>
            <a:r>
              <a:rPr dirty="0" sz="1200" spc="-5">
                <a:latin typeface="Arial"/>
                <a:cs typeface="Arial"/>
              </a:rPr>
              <a:t>String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9939" y="5531611"/>
            <a:ext cx="744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Instrument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51477" y="5558028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C55A11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61341" y="546438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61341" y="546438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28334" y="5465914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4" h="161925">
                <a:moveTo>
                  <a:pt x="783077" y="107949"/>
                </a:moveTo>
                <a:lnTo>
                  <a:pt x="782995" y="161925"/>
                </a:lnTo>
                <a:lnTo>
                  <a:pt x="891273" y="107990"/>
                </a:lnTo>
                <a:lnTo>
                  <a:pt x="810064" y="107990"/>
                </a:lnTo>
                <a:lnTo>
                  <a:pt x="783077" y="107949"/>
                </a:lnTo>
                <a:close/>
              </a:path>
              <a:path w="945514" h="161925">
                <a:moveTo>
                  <a:pt x="783159" y="53974"/>
                </a:moveTo>
                <a:lnTo>
                  <a:pt x="783077" y="107949"/>
                </a:lnTo>
                <a:lnTo>
                  <a:pt x="810064" y="107990"/>
                </a:lnTo>
                <a:lnTo>
                  <a:pt x="810145" y="54015"/>
                </a:lnTo>
                <a:lnTo>
                  <a:pt x="783159" y="53974"/>
                </a:lnTo>
                <a:close/>
              </a:path>
              <a:path w="945514" h="161925">
                <a:moveTo>
                  <a:pt x="783240" y="0"/>
                </a:moveTo>
                <a:lnTo>
                  <a:pt x="783159" y="53974"/>
                </a:lnTo>
                <a:lnTo>
                  <a:pt x="810145" y="54015"/>
                </a:lnTo>
                <a:lnTo>
                  <a:pt x="810064" y="107990"/>
                </a:lnTo>
                <a:lnTo>
                  <a:pt x="891273" y="107990"/>
                </a:lnTo>
                <a:lnTo>
                  <a:pt x="945042" y="81207"/>
                </a:lnTo>
                <a:lnTo>
                  <a:pt x="783240" y="0"/>
                </a:lnTo>
                <a:close/>
              </a:path>
              <a:path w="945514" h="161925">
                <a:moveTo>
                  <a:pt x="81" y="52793"/>
                </a:moveTo>
                <a:lnTo>
                  <a:pt x="0" y="106768"/>
                </a:lnTo>
                <a:lnTo>
                  <a:pt x="783077" y="107949"/>
                </a:lnTo>
                <a:lnTo>
                  <a:pt x="783159" y="53974"/>
                </a:lnTo>
                <a:lnTo>
                  <a:pt x="81" y="52793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451558" y="2378455"/>
            <a:ext cx="1194435" cy="167893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68275" marR="763270" indent="1270">
              <a:lnSpc>
                <a:spcPct val="100400"/>
              </a:lnSpc>
              <a:spcBef>
                <a:spcPts val="90"/>
              </a:spcBef>
            </a:pPr>
            <a:r>
              <a:rPr dirty="0" sz="1500" spc="-5">
                <a:latin typeface="Arial"/>
                <a:cs typeface="Arial"/>
              </a:rPr>
              <a:t>TP  FN  FP  TN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ts val="2125"/>
              </a:lnSpc>
            </a:pPr>
            <a:r>
              <a:rPr dirty="0" sz="1800">
                <a:latin typeface="Arial"/>
                <a:cs typeface="Arial"/>
              </a:rPr>
              <a:t>TPR: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100%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>
                <a:latin typeface="Arial"/>
                <a:cs typeface="Arial"/>
              </a:rPr>
              <a:t>FPR: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0%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4"/>
              </a:rPr>
              <a:t>http://cs224w.stanford.edu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73</a:t>
            </a:fld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6432141" y="1709420"/>
            <a:ext cx="265493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0">
                <a:latin typeface="Arial"/>
                <a:cs typeface="Arial"/>
              </a:rPr>
              <a:t># </a:t>
            </a:r>
            <a:r>
              <a:rPr dirty="0" sz="1800" spc="-5" i="0">
                <a:latin typeface="Arial"/>
                <a:cs typeface="Arial"/>
              </a:rPr>
              <a:t>of string instruments:</a:t>
            </a:r>
            <a:r>
              <a:rPr dirty="0" sz="1800" spc="-50" i="0">
                <a:latin typeface="Arial"/>
                <a:cs typeface="Arial"/>
              </a:rPr>
              <a:t> </a:t>
            </a:r>
            <a:r>
              <a:rPr dirty="0" sz="1800" spc="-5" i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5400" y="1439999"/>
            <a:ext cx="5040000" cy="3691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5216" y="347472"/>
            <a:ext cx="4367784" cy="557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402000" y="312324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8580" y="0"/>
                </a:moveTo>
                <a:lnTo>
                  <a:pt x="41885" y="5389"/>
                </a:lnTo>
                <a:lnTo>
                  <a:pt x="20086" y="20086"/>
                </a:lnTo>
                <a:lnTo>
                  <a:pt x="5389" y="41885"/>
                </a:lnTo>
                <a:lnTo>
                  <a:pt x="0" y="68579"/>
                </a:lnTo>
                <a:lnTo>
                  <a:pt x="5389" y="95274"/>
                </a:lnTo>
                <a:lnTo>
                  <a:pt x="20086" y="117073"/>
                </a:lnTo>
                <a:lnTo>
                  <a:pt x="41885" y="131770"/>
                </a:lnTo>
                <a:lnTo>
                  <a:pt x="68580" y="137160"/>
                </a:lnTo>
                <a:lnTo>
                  <a:pt x="95274" y="131770"/>
                </a:lnTo>
                <a:lnTo>
                  <a:pt x="117073" y="117073"/>
                </a:lnTo>
                <a:lnTo>
                  <a:pt x="131770" y="95274"/>
                </a:lnTo>
                <a:lnTo>
                  <a:pt x="137160" y="68579"/>
                </a:lnTo>
                <a:lnTo>
                  <a:pt x="131770" y="41885"/>
                </a:lnTo>
                <a:lnTo>
                  <a:pt x="117073" y="20086"/>
                </a:lnTo>
                <a:lnTo>
                  <a:pt x="95274" y="5389"/>
                </a:lnTo>
                <a:lnTo>
                  <a:pt x="68580" y="0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403132" y="243744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8580" y="0"/>
                </a:moveTo>
                <a:lnTo>
                  <a:pt x="41885" y="5389"/>
                </a:lnTo>
                <a:lnTo>
                  <a:pt x="20086" y="20086"/>
                </a:lnTo>
                <a:lnTo>
                  <a:pt x="5389" y="41885"/>
                </a:lnTo>
                <a:lnTo>
                  <a:pt x="0" y="68579"/>
                </a:lnTo>
                <a:lnTo>
                  <a:pt x="5389" y="95274"/>
                </a:lnTo>
                <a:lnTo>
                  <a:pt x="20086" y="117073"/>
                </a:lnTo>
                <a:lnTo>
                  <a:pt x="41885" y="131770"/>
                </a:lnTo>
                <a:lnTo>
                  <a:pt x="68580" y="137160"/>
                </a:lnTo>
                <a:lnTo>
                  <a:pt x="95274" y="131770"/>
                </a:lnTo>
                <a:lnTo>
                  <a:pt x="117073" y="117073"/>
                </a:lnTo>
                <a:lnTo>
                  <a:pt x="131770" y="95274"/>
                </a:lnTo>
                <a:lnTo>
                  <a:pt x="137160" y="68579"/>
                </a:lnTo>
                <a:lnTo>
                  <a:pt x="131770" y="41885"/>
                </a:lnTo>
                <a:lnTo>
                  <a:pt x="117073" y="20086"/>
                </a:lnTo>
                <a:lnTo>
                  <a:pt x="95274" y="5389"/>
                </a:lnTo>
                <a:lnTo>
                  <a:pt x="68580" y="0"/>
                </a:lnTo>
                <a:close/>
              </a:path>
            </a:pathLst>
          </a:custGeom>
          <a:solidFill>
            <a:srgbClr val="D627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03132" y="266604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8580" y="0"/>
                </a:moveTo>
                <a:lnTo>
                  <a:pt x="41885" y="5389"/>
                </a:lnTo>
                <a:lnTo>
                  <a:pt x="20086" y="20086"/>
                </a:lnTo>
                <a:lnTo>
                  <a:pt x="5389" y="41885"/>
                </a:lnTo>
                <a:lnTo>
                  <a:pt x="0" y="68579"/>
                </a:lnTo>
                <a:lnTo>
                  <a:pt x="5389" y="95274"/>
                </a:lnTo>
                <a:lnTo>
                  <a:pt x="20086" y="117073"/>
                </a:lnTo>
                <a:lnTo>
                  <a:pt x="41885" y="131770"/>
                </a:lnTo>
                <a:lnTo>
                  <a:pt x="68580" y="137160"/>
                </a:lnTo>
                <a:lnTo>
                  <a:pt x="95274" y="131770"/>
                </a:lnTo>
                <a:lnTo>
                  <a:pt x="117073" y="117073"/>
                </a:lnTo>
                <a:lnTo>
                  <a:pt x="131770" y="95274"/>
                </a:lnTo>
                <a:lnTo>
                  <a:pt x="137160" y="68579"/>
                </a:lnTo>
                <a:lnTo>
                  <a:pt x="131770" y="41885"/>
                </a:lnTo>
                <a:lnTo>
                  <a:pt x="117073" y="20086"/>
                </a:lnTo>
                <a:lnTo>
                  <a:pt x="95274" y="5389"/>
                </a:lnTo>
                <a:lnTo>
                  <a:pt x="68580" y="0"/>
                </a:lnTo>
                <a:close/>
              </a:path>
            </a:pathLst>
          </a:custGeom>
          <a:solidFill>
            <a:srgbClr val="F492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02000" y="289464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8580" y="0"/>
                </a:moveTo>
                <a:lnTo>
                  <a:pt x="41885" y="5389"/>
                </a:lnTo>
                <a:lnTo>
                  <a:pt x="20086" y="20086"/>
                </a:lnTo>
                <a:lnTo>
                  <a:pt x="5389" y="41885"/>
                </a:lnTo>
                <a:lnTo>
                  <a:pt x="0" y="68579"/>
                </a:lnTo>
                <a:lnTo>
                  <a:pt x="5389" y="95274"/>
                </a:lnTo>
                <a:lnTo>
                  <a:pt x="20086" y="117073"/>
                </a:lnTo>
                <a:lnTo>
                  <a:pt x="41885" y="131770"/>
                </a:lnTo>
                <a:lnTo>
                  <a:pt x="68580" y="137160"/>
                </a:lnTo>
                <a:lnTo>
                  <a:pt x="95274" y="131770"/>
                </a:lnTo>
                <a:lnTo>
                  <a:pt x="117073" y="117073"/>
                </a:lnTo>
                <a:lnTo>
                  <a:pt x="131770" y="95274"/>
                </a:lnTo>
                <a:lnTo>
                  <a:pt x="137160" y="68579"/>
                </a:lnTo>
                <a:lnTo>
                  <a:pt x="131770" y="41885"/>
                </a:lnTo>
                <a:lnTo>
                  <a:pt x="117073" y="20086"/>
                </a:lnTo>
                <a:lnTo>
                  <a:pt x="95274" y="5389"/>
                </a:lnTo>
                <a:lnTo>
                  <a:pt x="68580" y="0"/>
                </a:lnTo>
                <a:close/>
              </a:path>
            </a:pathLst>
          </a:custGeom>
          <a:solidFill>
            <a:srgbClr val="229D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73376" y="546581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73376" y="546581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03299" y="4982971"/>
            <a:ext cx="7221855" cy="577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>
                <a:solidFill>
                  <a:srgbClr val="C00000"/>
                </a:solidFill>
                <a:latin typeface="Arial"/>
                <a:cs typeface="Arial"/>
              </a:rPr>
              <a:t>“List </a:t>
            </a:r>
            <a:r>
              <a:rPr dirty="0" sz="2400" spc="-70">
                <a:solidFill>
                  <a:srgbClr val="C00000"/>
                </a:solidFill>
                <a:latin typeface="Arial"/>
                <a:cs typeface="Arial"/>
              </a:rPr>
              <a:t>male </a:t>
            </a:r>
            <a:r>
              <a:rPr dirty="0" sz="2400" spc="-45" u="sng">
                <a:solidFill>
                  <a:srgbClr val="C00000"/>
                </a:solidFill>
                <a:latin typeface="Arial"/>
                <a:cs typeface="Arial"/>
              </a:rPr>
              <a:t>instrumentalists </a:t>
            </a:r>
            <a:r>
              <a:rPr dirty="0" sz="2400" spc="-5" u="sng">
                <a:solidFill>
                  <a:srgbClr val="C00000"/>
                </a:solidFill>
                <a:latin typeface="Arial"/>
                <a:cs typeface="Arial"/>
              </a:rPr>
              <a:t>who </a:t>
            </a:r>
            <a:r>
              <a:rPr dirty="0" sz="2400" spc="-60" u="sng">
                <a:solidFill>
                  <a:srgbClr val="C00000"/>
                </a:solidFill>
                <a:latin typeface="Arial"/>
                <a:cs typeface="Arial"/>
              </a:rPr>
              <a:t>play </a:t>
            </a:r>
            <a:r>
              <a:rPr dirty="0" sz="2400" spc="-35" u="sng">
                <a:solidFill>
                  <a:srgbClr val="C00000"/>
                </a:solidFill>
                <a:latin typeface="Arial"/>
                <a:cs typeface="Arial"/>
              </a:rPr>
              <a:t>string</a:t>
            </a:r>
            <a:r>
              <a:rPr dirty="0" sz="2400" spc="250" u="sng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30" u="sng">
                <a:solidFill>
                  <a:srgbClr val="C00000"/>
                </a:solidFill>
                <a:latin typeface="Arial"/>
                <a:cs typeface="Arial"/>
              </a:rPr>
              <a:t>instruments</a:t>
            </a:r>
            <a:r>
              <a:rPr dirty="0" sz="2400" spc="-30">
                <a:solidFill>
                  <a:srgbClr val="C00000"/>
                </a:solidFill>
                <a:latin typeface="Arial"/>
                <a:cs typeface="Arial"/>
              </a:rPr>
              <a:t>”</a:t>
            </a:r>
            <a:endParaRPr sz="2400">
              <a:latin typeface="Arial"/>
              <a:cs typeface="Arial"/>
            </a:endParaRPr>
          </a:p>
          <a:p>
            <a:pPr marL="1069340">
              <a:lnSpc>
                <a:spcPct val="100000"/>
              </a:lnSpc>
              <a:spcBef>
                <a:spcPts val="25"/>
              </a:spcBef>
            </a:pPr>
            <a:r>
              <a:rPr dirty="0" sz="1200" spc="-5">
                <a:latin typeface="Arial"/>
                <a:cs typeface="Arial"/>
              </a:rPr>
              <a:t>String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9939" y="5531611"/>
            <a:ext cx="744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Instrument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61341" y="546438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61341" y="546438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28334" y="5465914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4" h="161925">
                <a:moveTo>
                  <a:pt x="783077" y="107949"/>
                </a:moveTo>
                <a:lnTo>
                  <a:pt x="782995" y="161925"/>
                </a:lnTo>
                <a:lnTo>
                  <a:pt x="891273" y="107990"/>
                </a:lnTo>
                <a:lnTo>
                  <a:pt x="810064" y="107990"/>
                </a:lnTo>
                <a:lnTo>
                  <a:pt x="783077" y="107949"/>
                </a:lnTo>
                <a:close/>
              </a:path>
              <a:path w="945514" h="161925">
                <a:moveTo>
                  <a:pt x="783159" y="53974"/>
                </a:moveTo>
                <a:lnTo>
                  <a:pt x="783077" y="107949"/>
                </a:lnTo>
                <a:lnTo>
                  <a:pt x="810064" y="107990"/>
                </a:lnTo>
                <a:lnTo>
                  <a:pt x="810145" y="54015"/>
                </a:lnTo>
                <a:lnTo>
                  <a:pt x="783159" y="53974"/>
                </a:lnTo>
                <a:close/>
              </a:path>
              <a:path w="945514" h="161925">
                <a:moveTo>
                  <a:pt x="783240" y="0"/>
                </a:moveTo>
                <a:lnTo>
                  <a:pt x="783159" y="53974"/>
                </a:lnTo>
                <a:lnTo>
                  <a:pt x="810145" y="54015"/>
                </a:lnTo>
                <a:lnTo>
                  <a:pt x="810064" y="107990"/>
                </a:lnTo>
                <a:lnTo>
                  <a:pt x="891273" y="107990"/>
                </a:lnTo>
                <a:lnTo>
                  <a:pt x="945042" y="81207"/>
                </a:lnTo>
                <a:lnTo>
                  <a:pt x="783240" y="0"/>
                </a:lnTo>
                <a:close/>
              </a:path>
              <a:path w="945514" h="161925">
                <a:moveTo>
                  <a:pt x="81" y="52793"/>
                </a:moveTo>
                <a:lnTo>
                  <a:pt x="0" y="106768"/>
                </a:lnTo>
                <a:lnTo>
                  <a:pt x="783077" y="107949"/>
                </a:lnTo>
                <a:lnTo>
                  <a:pt x="783159" y="53974"/>
                </a:lnTo>
                <a:lnTo>
                  <a:pt x="81" y="52793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065158" y="5467452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3"/>
                </a:lnTo>
                <a:lnTo>
                  <a:pt x="83516" y="162612"/>
                </a:lnTo>
                <a:lnTo>
                  <a:pt x="116024" y="156223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065158" y="5467452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140362" y="5467510"/>
            <a:ext cx="925194" cy="161925"/>
          </a:xfrm>
          <a:custGeom>
            <a:avLst/>
            <a:gdLst/>
            <a:ahLst/>
            <a:cxnLst/>
            <a:rect l="l" t="t" r="r" b="b"/>
            <a:pathLst>
              <a:path w="925195" h="161925">
                <a:moveTo>
                  <a:pt x="762823" y="107950"/>
                </a:moveTo>
                <a:lnTo>
                  <a:pt x="762727" y="161925"/>
                </a:lnTo>
                <a:lnTo>
                  <a:pt x="871060" y="107998"/>
                </a:lnTo>
                <a:lnTo>
                  <a:pt x="789811" y="107998"/>
                </a:lnTo>
                <a:lnTo>
                  <a:pt x="762823" y="107950"/>
                </a:lnTo>
                <a:close/>
              </a:path>
              <a:path w="925195" h="161925">
                <a:moveTo>
                  <a:pt x="762919" y="53975"/>
                </a:moveTo>
                <a:lnTo>
                  <a:pt x="762823" y="107950"/>
                </a:lnTo>
                <a:lnTo>
                  <a:pt x="789811" y="107998"/>
                </a:lnTo>
                <a:lnTo>
                  <a:pt x="789906" y="54023"/>
                </a:lnTo>
                <a:lnTo>
                  <a:pt x="762919" y="53975"/>
                </a:lnTo>
                <a:close/>
              </a:path>
              <a:path w="925195" h="161925">
                <a:moveTo>
                  <a:pt x="763014" y="0"/>
                </a:moveTo>
                <a:lnTo>
                  <a:pt x="762919" y="53975"/>
                </a:lnTo>
                <a:lnTo>
                  <a:pt x="789906" y="54023"/>
                </a:lnTo>
                <a:lnTo>
                  <a:pt x="789811" y="107998"/>
                </a:lnTo>
                <a:lnTo>
                  <a:pt x="871060" y="107998"/>
                </a:lnTo>
                <a:lnTo>
                  <a:pt x="924796" y="81249"/>
                </a:lnTo>
                <a:lnTo>
                  <a:pt x="763014" y="0"/>
                </a:lnTo>
                <a:close/>
              </a:path>
              <a:path w="925195" h="161925">
                <a:moveTo>
                  <a:pt x="95" y="52623"/>
                </a:moveTo>
                <a:lnTo>
                  <a:pt x="0" y="106598"/>
                </a:lnTo>
                <a:lnTo>
                  <a:pt x="762823" y="107950"/>
                </a:lnTo>
                <a:lnTo>
                  <a:pt x="762919" y="53975"/>
                </a:lnTo>
                <a:lnTo>
                  <a:pt x="95" y="52623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051477" y="5570220"/>
            <a:ext cx="18840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4900" algn="l"/>
              </a:tabLst>
            </a:pPr>
            <a:r>
              <a:rPr dirty="0" baseline="3968" sz="2100" spc="-37">
                <a:solidFill>
                  <a:srgbClr val="C55A11"/>
                </a:solidFill>
                <a:latin typeface="Arial"/>
                <a:cs typeface="Arial"/>
              </a:rPr>
              <a:t>Projection	</a:t>
            </a:r>
            <a:r>
              <a:rPr dirty="0" sz="1400" spc="-25">
                <a:solidFill>
                  <a:srgbClr val="548235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898989"/>
                </a:solidFill>
                <a:latin typeface="Calibri"/>
                <a:cs typeface="Calibri"/>
              </a:rPr>
              <a:t>80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6432139" y="1709420"/>
            <a:ext cx="256603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0">
                <a:latin typeface="Arial"/>
                <a:cs typeface="Arial"/>
              </a:rPr>
              <a:t># </a:t>
            </a:r>
            <a:r>
              <a:rPr dirty="0" sz="1800" spc="-5" i="0">
                <a:latin typeface="Arial"/>
                <a:cs typeface="Arial"/>
              </a:rPr>
              <a:t>of instrumentalists:</a:t>
            </a:r>
            <a:r>
              <a:rPr dirty="0" sz="1800" spc="-55" i="0">
                <a:latin typeface="Arial"/>
                <a:cs typeface="Arial"/>
              </a:rPr>
              <a:t> </a:t>
            </a:r>
            <a:r>
              <a:rPr dirty="0" sz="1800" spc="-5" i="0">
                <a:latin typeface="Arial"/>
                <a:cs typeface="Arial"/>
              </a:rPr>
              <a:t>472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51556" y="2378455"/>
            <a:ext cx="1257935" cy="167893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68275" marR="826769" indent="1270">
              <a:lnSpc>
                <a:spcPct val="100400"/>
              </a:lnSpc>
              <a:spcBef>
                <a:spcPts val="90"/>
              </a:spcBef>
            </a:pPr>
            <a:r>
              <a:rPr dirty="0" sz="1500" spc="-5">
                <a:latin typeface="Arial"/>
                <a:cs typeface="Arial"/>
              </a:rPr>
              <a:t>TP  FN  FP  TN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ts val="2125"/>
              </a:lnSpc>
            </a:pPr>
            <a:r>
              <a:rPr dirty="0" sz="1800">
                <a:latin typeface="Arial"/>
                <a:cs typeface="Arial"/>
              </a:rPr>
              <a:t>TPR: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98.4%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>
                <a:latin typeface="Arial"/>
                <a:cs typeface="Arial"/>
              </a:rPr>
              <a:t>FPR: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0.01%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36778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03299" y="4982971"/>
            <a:ext cx="72231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>
                <a:solidFill>
                  <a:srgbClr val="C00000"/>
                </a:solidFill>
                <a:latin typeface="Arial"/>
                <a:cs typeface="Arial"/>
              </a:rPr>
              <a:t>“List </a:t>
            </a:r>
            <a:r>
              <a:rPr dirty="0" sz="2400" spc="-70">
                <a:solidFill>
                  <a:srgbClr val="C00000"/>
                </a:solidFill>
                <a:latin typeface="Arial"/>
                <a:cs typeface="Arial"/>
              </a:rPr>
              <a:t>male </a:t>
            </a:r>
            <a:r>
              <a:rPr dirty="0" sz="2400" spc="-45">
                <a:solidFill>
                  <a:srgbClr val="C00000"/>
                </a:solidFill>
                <a:latin typeface="Arial"/>
                <a:cs typeface="Arial"/>
              </a:rPr>
              <a:t>instrumentalists 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who </a:t>
            </a:r>
            <a:r>
              <a:rPr dirty="0" sz="2400" spc="-60">
                <a:solidFill>
                  <a:srgbClr val="C00000"/>
                </a:solidFill>
                <a:latin typeface="Arial"/>
                <a:cs typeface="Arial"/>
              </a:rPr>
              <a:t>play </a:t>
            </a:r>
            <a:r>
              <a:rPr dirty="0" sz="2400" spc="-35">
                <a:solidFill>
                  <a:srgbClr val="C00000"/>
                </a:solidFill>
                <a:latin typeface="Arial"/>
                <a:cs typeface="Arial"/>
              </a:rPr>
              <a:t>string</a:t>
            </a:r>
            <a:r>
              <a:rPr dirty="0" sz="2400" spc="2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C00000"/>
                </a:solidFill>
                <a:latin typeface="Arial"/>
                <a:cs typeface="Arial"/>
              </a:rPr>
              <a:t>instruments”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40147" y="647947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3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3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40147" y="647947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95400" y="1594003"/>
            <a:ext cx="5029200" cy="33545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01765" y="243744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8579" y="0"/>
                </a:moveTo>
                <a:lnTo>
                  <a:pt x="41885" y="5389"/>
                </a:lnTo>
                <a:lnTo>
                  <a:pt x="20086" y="20086"/>
                </a:lnTo>
                <a:lnTo>
                  <a:pt x="5389" y="41885"/>
                </a:lnTo>
                <a:lnTo>
                  <a:pt x="0" y="68579"/>
                </a:lnTo>
                <a:lnTo>
                  <a:pt x="5389" y="95274"/>
                </a:lnTo>
                <a:lnTo>
                  <a:pt x="20086" y="117073"/>
                </a:lnTo>
                <a:lnTo>
                  <a:pt x="41885" y="131770"/>
                </a:lnTo>
                <a:lnTo>
                  <a:pt x="68579" y="137160"/>
                </a:lnTo>
                <a:lnTo>
                  <a:pt x="95274" y="131770"/>
                </a:lnTo>
                <a:lnTo>
                  <a:pt x="117073" y="117073"/>
                </a:lnTo>
                <a:lnTo>
                  <a:pt x="131770" y="95274"/>
                </a:lnTo>
                <a:lnTo>
                  <a:pt x="137159" y="68579"/>
                </a:lnTo>
                <a:lnTo>
                  <a:pt x="131770" y="41885"/>
                </a:lnTo>
                <a:lnTo>
                  <a:pt x="117073" y="20086"/>
                </a:lnTo>
                <a:lnTo>
                  <a:pt x="95274" y="5389"/>
                </a:lnTo>
                <a:lnTo>
                  <a:pt x="68579" y="0"/>
                </a:lnTo>
                <a:close/>
              </a:path>
            </a:pathLst>
          </a:custGeom>
          <a:solidFill>
            <a:srgbClr val="1F77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607387" y="2378455"/>
            <a:ext cx="6305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Arial"/>
                <a:cs typeface="Arial"/>
              </a:rPr>
              <a:t>Anchor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73615" y="6475688"/>
            <a:ext cx="4343400" cy="3892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51535">
              <a:lnSpc>
                <a:spcPts val="1425"/>
              </a:lnSpc>
            </a:pPr>
            <a:r>
              <a:rPr dirty="0" sz="1200" spc="-5">
                <a:latin typeface="Arial"/>
                <a:cs typeface="Arial"/>
              </a:rPr>
              <a:t>Male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898989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898989"/>
                </a:solidFill>
                <a:latin typeface="Calibri"/>
                <a:cs typeface="Calibri"/>
                <a:hlinkClick r:id="rId4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82</a:t>
            </a:fld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36778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402000" y="312324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8580" y="0"/>
                </a:moveTo>
                <a:lnTo>
                  <a:pt x="41885" y="5389"/>
                </a:lnTo>
                <a:lnTo>
                  <a:pt x="20086" y="20086"/>
                </a:lnTo>
                <a:lnTo>
                  <a:pt x="5389" y="41885"/>
                </a:lnTo>
                <a:lnTo>
                  <a:pt x="0" y="68579"/>
                </a:lnTo>
                <a:lnTo>
                  <a:pt x="5389" y="95274"/>
                </a:lnTo>
                <a:lnTo>
                  <a:pt x="20086" y="117073"/>
                </a:lnTo>
                <a:lnTo>
                  <a:pt x="41885" y="131770"/>
                </a:lnTo>
                <a:lnTo>
                  <a:pt x="68580" y="137160"/>
                </a:lnTo>
                <a:lnTo>
                  <a:pt x="95274" y="131770"/>
                </a:lnTo>
                <a:lnTo>
                  <a:pt x="117073" y="117073"/>
                </a:lnTo>
                <a:lnTo>
                  <a:pt x="131770" y="95274"/>
                </a:lnTo>
                <a:lnTo>
                  <a:pt x="137160" y="68579"/>
                </a:lnTo>
                <a:lnTo>
                  <a:pt x="131770" y="41885"/>
                </a:lnTo>
                <a:lnTo>
                  <a:pt x="117073" y="20086"/>
                </a:lnTo>
                <a:lnTo>
                  <a:pt x="95274" y="5389"/>
                </a:lnTo>
                <a:lnTo>
                  <a:pt x="68580" y="0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403132" y="243744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8580" y="0"/>
                </a:moveTo>
                <a:lnTo>
                  <a:pt x="41885" y="5389"/>
                </a:lnTo>
                <a:lnTo>
                  <a:pt x="20086" y="20086"/>
                </a:lnTo>
                <a:lnTo>
                  <a:pt x="5389" y="41885"/>
                </a:lnTo>
                <a:lnTo>
                  <a:pt x="0" y="68579"/>
                </a:lnTo>
                <a:lnTo>
                  <a:pt x="5389" y="95274"/>
                </a:lnTo>
                <a:lnTo>
                  <a:pt x="20086" y="117073"/>
                </a:lnTo>
                <a:lnTo>
                  <a:pt x="41885" y="131770"/>
                </a:lnTo>
                <a:lnTo>
                  <a:pt x="68580" y="137160"/>
                </a:lnTo>
                <a:lnTo>
                  <a:pt x="95274" y="131770"/>
                </a:lnTo>
                <a:lnTo>
                  <a:pt x="117073" y="117073"/>
                </a:lnTo>
                <a:lnTo>
                  <a:pt x="131770" y="95274"/>
                </a:lnTo>
                <a:lnTo>
                  <a:pt x="137160" y="68579"/>
                </a:lnTo>
                <a:lnTo>
                  <a:pt x="131770" y="41885"/>
                </a:lnTo>
                <a:lnTo>
                  <a:pt x="117073" y="20086"/>
                </a:lnTo>
                <a:lnTo>
                  <a:pt x="95274" y="5389"/>
                </a:lnTo>
                <a:lnTo>
                  <a:pt x="68580" y="0"/>
                </a:lnTo>
                <a:close/>
              </a:path>
            </a:pathLst>
          </a:custGeom>
          <a:solidFill>
            <a:srgbClr val="D627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403132" y="266604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8580" y="0"/>
                </a:moveTo>
                <a:lnTo>
                  <a:pt x="41885" y="5389"/>
                </a:lnTo>
                <a:lnTo>
                  <a:pt x="20086" y="20086"/>
                </a:lnTo>
                <a:lnTo>
                  <a:pt x="5389" y="41885"/>
                </a:lnTo>
                <a:lnTo>
                  <a:pt x="0" y="68579"/>
                </a:lnTo>
                <a:lnTo>
                  <a:pt x="5389" y="95274"/>
                </a:lnTo>
                <a:lnTo>
                  <a:pt x="20086" y="117073"/>
                </a:lnTo>
                <a:lnTo>
                  <a:pt x="41885" y="131770"/>
                </a:lnTo>
                <a:lnTo>
                  <a:pt x="68580" y="137160"/>
                </a:lnTo>
                <a:lnTo>
                  <a:pt x="95274" y="131770"/>
                </a:lnTo>
                <a:lnTo>
                  <a:pt x="117073" y="117073"/>
                </a:lnTo>
                <a:lnTo>
                  <a:pt x="131770" y="95274"/>
                </a:lnTo>
                <a:lnTo>
                  <a:pt x="137160" y="68579"/>
                </a:lnTo>
                <a:lnTo>
                  <a:pt x="131770" y="41885"/>
                </a:lnTo>
                <a:lnTo>
                  <a:pt x="117073" y="20086"/>
                </a:lnTo>
                <a:lnTo>
                  <a:pt x="95274" y="5389"/>
                </a:lnTo>
                <a:lnTo>
                  <a:pt x="68580" y="0"/>
                </a:lnTo>
                <a:close/>
              </a:path>
            </a:pathLst>
          </a:custGeom>
          <a:solidFill>
            <a:srgbClr val="F492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02000" y="289464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8580" y="0"/>
                </a:moveTo>
                <a:lnTo>
                  <a:pt x="41885" y="5389"/>
                </a:lnTo>
                <a:lnTo>
                  <a:pt x="20086" y="20086"/>
                </a:lnTo>
                <a:lnTo>
                  <a:pt x="5389" y="41885"/>
                </a:lnTo>
                <a:lnTo>
                  <a:pt x="0" y="68579"/>
                </a:lnTo>
                <a:lnTo>
                  <a:pt x="5389" y="95274"/>
                </a:lnTo>
                <a:lnTo>
                  <a:pt x="20086" y="117073"/>
                </a:lnTo>
                <a:lnTo>
                  <a:pt x="41885" y="131770"/>
                </a:lnTo>
                <a:lnTo>
                  <a:pt x="68580" y="137160"/>
                </a:lnTo>
                <a:lnTo>
                  <a:pt x="95274" y="131770"/>
                </a:lnTo>
                <a:lnTo>
                  <a:pt x="117073" y="117073"/>
                </a:lnTo>
                <a:lnTo>
                  <a:pt x="131770" y="95274"/>
                </a:lnTo>
                <a:lnTo>
                  <a:pt x="137160" y="68579"/>
                </a:lnTo>
                <a:lnTo>
                  <a:pt x="131770" y="41885"/>
                </a:lnTo>
                <a:lnTo>
                  <a:pt x="117073" y="20086"/>
                </a:lnTo>
                <a:lnTo>
                  <a:pt x="95274" y="5389"/>
                </a:lnTo>
                <a:lnTo>
                  <a:pt x="68580" y="0"/>
                </a:lnTo>
                <a:close/>
              </a:path>
            </a:pathLst>
          </a:custGeom>
          <a:solidFill>
            <a:srgbClr val="229D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40147" y="647947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3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3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40147" y="647947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07179" y="6479822"/>
            <a:ext cx="955675" cy="161925"/>
          </a:xfrm>
          <a:custGeom>
            <a:avLst/>
            <a:gdLst/>
            <a:ahLst/>
            <a:cxnLst/>
            <a:rect l="l" t="t" r="r" b="b"/>
            <a:pathLst>
              <a:path w="955675" h="161925">
                <a:moveTo>
                  <a:pt x="793351" y="107949"/>
                </a:moveTo>
                <a:lnTo>
                  <a:pt x="793351" y="161925"/>
                </a:lnTo>
                <a:lnTo>
                  <a:pt x="901302" y="107950"/>
                </a:lnTo>
                <a:lnTo>
                  <a:pt x="793351" y="107949"/>
                </a:lnTo>
                <a:close/>
              </a:path>
              <a:path w="955675" h="161925">
                <a:moveTo>
                  <a:pt x="793352" y="53974"/>
                </a:moveTo>
                <a:lnTo>
                  <a:pt x="793351" y="107949"/>
                </a:lnTo>
                <a:lnTo>
                  <a:pt x="820339" y="107950"/>
                </a:lnTo>
                <a:lnTo>
                  <a:pt x="820339" y="53975"/>
                </a:lnTo>
                <a:lnTo>
                  <a:pt x="793352" y="53974"/>
                </a:lnTo>
                <a:close/>
              </a:path>
              <a:path w="955675" h="161925">
                <a:moveTo>
                  <a:pt x="793352" y="0"/>
                </a:moveTo>
                <a:lnTo>
                  <a:pt x="793352" y="53974"/>
                </a:lnTo>
                <a:lnTo>
                  <a:pt x="820339" y="53975"/>
                </a:lnTo>
                <a:lnTo>
                  <a:pt x="820339" y="107950"/>
                </a:lnTo>
                <a:lnTo>
                  <a:pt x="901303" y="107949"/>
                </a:lnTo>
                <a:lnTo>
                  <a:pt x="955277" y="80962"/>
                </a:lnTo>
                <a:lnTo>
                  <a:pt x="793352" y="0"/>
                </a:lnTo>
                <a:close/>
              </a:path>
              <a:path w="955675" h="161925">
                <a:moveTo>
                  <a:pt x="0" y="53974"/>
                </a:moveTo>
                <a:lnTo>
                  <a:pt x="0" y="107949"/>
                </a:lnTo>
                <a:lnTo>
                  <a:pt x="793351" y="107949"/>
                </a:lnTo>
                <a:lnTo>
                  <a:pt x="793352" y="53974"/>
                </a:lnTo>
                <a:lnTo>
                  <a:pt x="0" y="53974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062456" y="647947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3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3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62456" y="647947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51750" y="6243828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51556" y="2378455"/>
            <a:ext cx="1257935" cy="167893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68275" marR="826769" indent="1270">
              <a:lnSpc>
                <a:spcPct val="100400"/>
              </a:lnSpc>
              <a:spcBef>
                <a:spcPts val="90"/>
              </a:spcBef>
            </a:pPr>
            <a:r>
              <a:rPr dirty="0" sz="1500" spc="-5">
                <a:latin typeface="Arial"/>
                <a:cs typeface="Arial"/>
              </a:rPr>
              <a:t>TP  FN  FP  TN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ts val="2125"/>
              </a:lnSpc>
            </a:pPr>
            <a:r>
              <a:rPr dirty="0" sz="1800">
                <a:latin typeface="Arial"/>
                <a:cs typeface="Arial"/>
              </a:rPr>
              <a:t>TPR: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97.9%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>
                <a:latin typeface="Arial"/>
                <a:cs typeface="Arial"/>
              </a:rPr>
              <a:t>FPR: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0.01%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95400" y="1439999"/>
            <a:ext cx="5040000" cy="3693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03299" y="4982971"/>
            <a:ext cx="72212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>
                <a:solidFill>
                  <a:srgbClr val="C00000"/>
                </a:solidFill>
                <a:latin typeface="Arial"/>
                <a:cs typeface="Arial"/>
              </a:rPr>
              <a:t>“List </a:t>
            </a:r>
            <a:r>
              <a:rPr dirty="0" sz="2400" spc="-70" u="sng">
                <a:solidFill>
                  <a:srgbClr val="C00000"/>
                </a:solidFill>
                <a:latin typeface="Arial"/>
                <a:cs typeface="Arial"/>
              </a:rPr>
              <a:t>male</a:t>
            </a:r>
            <a:r>
              <a:rPr dirty="0" sz="2400" spc="-7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45">
                <a:solidFill>
                  <a:srgbClr val="C00000"/>
                </a:solidFill>
                <a:latin typeface="Arial"/>
                <a:cs typeface="Arial"/>
              </a:rPr>
              <a:t>instrumentalists 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who </a:t>
            </a:r>
            <a:r>
              <a:rPr dirty="0" sz="2400" spc="-60">
                <a:solidFill>
                  <a:srgbClr val="C00000"/>
                </a:solidFill>
                <a:latin typeface="Arial"/>
                <a:cs typeface="Arial"/>
              </a:rPr>
              <a:t>play </a:t>
            </a:r>
            <a:r>
              <a:rPr dirty="0" sz="2400" spc="-35">
                <a:solidFill>
                  <a:srgbClr val="C00000"/>
                </a:solidFill>
                <a:latin typeface="Arial"/>
                <a:cs typeface="Arial"/>
              </a:rPr>
              <a:t>string</a:t>
            </a:r>
            <a:r>
              <a:rPr dirty="0" sz="2400" spc="25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C00000"/>
                </a:solidFill>
                <a:latin typeface="Arial"/>
                <a:cs typeface="Arial"/>
              </a:rPr>
              <a:t>instruments”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73615" y="6475688"/>
            <a:ext cx="4343400" cy="3892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51535">
              <a:lnSpc>
                <a:spcPts val="1425"/>
              </a:lnSpc>
            </a:pPr>
            <a:r>
              <a:rPr dirty="0" sz="1200" spc="-5">
                <a:latin typeface="Arial"/>
                <a:cs typeface="Arial"/>
              </a:rPr>
              <a:t>Male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898989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898989"/>
                </a:solidFill>
                <a:latin typeface="Calibri"/>
                <a:cs typeface="Calibri"/>
                <a:hlinkClick r:id="rId4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82</a:t>
            </a:fld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6432139" y="1709420"/>
            <a:ext cx="154940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0">
                <a:latin typeface="Arial"/>
                <a:cs typeface="Arial"/>
              </a:rPr>
              <a:t># </a:t>
            </a:r>
            <a:r>
              <a:rPr dirty="0" sz="1800" spc="-5" i="0">
                <a:latin typeface="Arial"/>
                <a:cs typeface="Arial"/>
              </a:rPr>
              <a:t>of men:</a:t>
            </a:r>
            <a:r>
              <a:rPr dirty="0" sz="1800" spc="-95" i="0">
                <a:latin typeface="Arial"/>
                <a:cs typeface="Arial"/>
              </a:rPr>
              <a:t> </a:t>
            </a:r>
            <a:r>
              <a:rPr dirty="0" sz="1800" spc="-5" i="0">
                <a:latin typeface="Arial"/>
                <a:cs typeface="Arial"/>
              </a:rPr>
              <a:t>3555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36778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402000" y="312324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8580" y="0"/>
                </a:moveTo>
                <a:lnTo>
                  <a:pt x="41885" y="5389"/>
                </a:lnTo>
                <a:lnTo>
                  <a:pt x="20086" y="20086"/>
                </a:lnTo>
                <a:lnTo>
                  <a:pt x="5389" y="41885"/>
                </a:lnTo>
                <a:lnTo>
                  <a:pt x="0" y="68579"/>
                </a:lnTo>
                <a:lnTo>
                  <a:pt x="5389" y="95274"/>
                </a:lnTo>
                <a:lnTo>
                  <a:pt x="20086" y="117073"/>
                </a:lnTo>
                <a:lnTo>
                  <a:pt x="41885" y="131770"/>
                </a:lnTo>
                <a:lnTo>
                  <a:pt x="68580" y="137160"/>
                </a:lnTo>
                <a:lnTo>
                  <a:pt x="95274" y="131770"/>
                </a:lnTo>
                <a:lnTo>
                  <a:pt x="117073" y="117073"/>
                </a:lnTo>
                <a:lnTo>
                  <a:pt x="131770" y="95274"/>
                </a:lnTo>
                <a:lnTo>
                  <a:pt x="137160" y="68579"/>
                </a:lnTo>
                <a:lnTo>
                  <a:pt x="131770" y="41885"/>
                </a:lnTo>
                <a:lnTo>
                  <a:pt x="117073" y="20086"/>
                </a:lnTo>
                <a:lnTo>
                  <a:pt x="95274" y="5389"/>
                </a:lnTo>
                <a:lnTo>
                  <a:pt x="68580" y="0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403132" y="243744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8580" y="0"/>
                </a:moveTo>
                <a:lnTo>
                  <a:pt x="41885" y="5389"/>
                </a:lnTo>
                <a:lnTo>
                  <a:pt x="20086" y="20086"/>
                </a:lnTo>
                <a:lnTo>
                  <a:pt x="5389" y="41885"/>
                </a:lnTo>
                <a:lnTo>
                  <a:pt x="0" y="68579"/>
                </a:lnTo>
                <a:lnTo>
                  <a:pt x="5389" y="95274"/>
                </a:lnTo>
                <a:lnTo>
                  <a:pt x="20086" y="117073"/>
                </a:lnTo>
                <a:lnTo>
                  <a:pt x="41885" y="131770"/>
                </a:lnTo>
                <a:lnTo>
                  <a:pt x="68580" y="137160"/>
                </a:lnTo>
                <a:lnTo>
                  <a:pt x="95274" y="131770"/>
                </a:lnTo>
                <a:lnTo>
                  <a:pt x="117073" y="117073"/>
                </a:lnTo>
                <a:lnTo>
                  <a:pt x="131770" y="95274"/>
                </a:lnTo>
                <a:lnTo>
                  <a:pt x="137160" y="68579"/>
                </a:lnTo>
                <a:lnTo>
                  <a:pt x="131770" y="41885"/>
                </a:lnTo>
                <a:lnTo>
                  <a:pt x="117073" y="20086"/>
                </a:lnTo>
                <a:lnTo>
                  <a:pt x="95274" y="5389"/>
                </a:lnTo>
                <a:lnTo>
                  <a:pt x="68580" y="0"/>
                </a:lnTo>
                <a:close/>
              </a:path>
            </a:pathLst>
          </a:custGeom>
          <a:solidFill>
            <a:srgbClr val="D627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403132" y="266604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8580" y="0"/>
                </a:moveTo>
                <a:lnTo>
                  <a:pt x="41885" y="5389"/>
                </a:lnTo>
                <a:lnTo>
                  <a:pt x="20086" y="20086"/>
                </a:lnTo>
                <a:lnTo>
                  <a:pt x="5389" y="41885"/>
                </a:lnTo>
                <a:lnTo>
                  <a:pt x="0" y="68579"/>
                </a:lnTo>
                <a:lnTo>
                  <a:pt x="5389" y="95274"/>
                </a:lnTo>
                <a:lnTo>
                  <a:pt x="20086" y="117073"/>
                </a:lnTo>
                <a:lnTo>
                  <a:pt x="41885" y="131770"/>
                </a:lnTo>
                <a:lnTo>
                  <a:pt x="68580" y="137160"/>
                </a:lnTo>
                <a:lnTo>
                  <a:pt x="95274" y="131770"/>
                </a:lnTo>
                <a:lnTo>
                  <a:pt x="117073" y="117073"/>
                </a:lnTo>
                <a:lnTo>
                  <a:pt x="131770" y="95274"/>
                </a:lnTo>
                <a:lnTo>
                  <a:pt x="137160" y="68579"/>
                </a:lnTo>
                <a:lnTo>
                  <a:pt x="131770" y="41885"/>
                </a:lnTo>
                <a:lnTo>
                  <a:pt x="117073" y="20086"/>
                </a:lnTo>
                <a:lnTo>
                  <a:pt x="95274" y="5389"/>
                </a:lnTo>
                <a:lnTo>
                  <a:pt x="68580" y="0"/>
                </a:lnTo>
                <a:close/>
              </a:path>
            </a:pathLst>
          </a:custGeom>
          <a:solidFill>
            <a:srgbClr val="F492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02000" y="289464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68580" y="0"/>
                </a:moveTo>
                <a:lnTo>
                  <a:pt x="41885" y="5389"/>
                </a:lnTo>
                <a:lnTo>
                  <a:pt x="20086" y="20086"/>
                </a:lnTo>
                <a:lnTo>
                  <a:pt x="5389" y="41885"/>
                </a:lnTo>
                <a:lnTo>
                  <a:pt x="0" y="68579"/>
                </a:lnTo>
                <a:lnTo>
                  <a:pt x="5389" y="95274"/>
                </a:lnTo>
                <a:lnTo>
                  <a:pt x="20086" y="117073"/>
                </a:lnTo>
                <a:lnTo>
                  <a:pt x="41885" y="131770"/>
                </a:lnTo>
                <a:lnTo>
                  <a:pt x="68580" y="137160"/>
                </a:lnTo>
                <a:lnTo>
                  <a:pt x="95274" y="131770"/>
                </a:lnTo>
                <a:lnTo>
                  <a:pt x="117073" y="117073"/>
                </a:lnTo>
                <a:lnTo>
                  <a:pt x="131770" y="95274"/>
                </a:lnTo>
                <a:lnTo>
                  <a:pt x="137160" y="68579"/>
                </a:lnTo>
                <a:lnTo>
                  <a:pt x="131770" y="41885"/>
                </a:lnTo>
                <a:lnTo>
                  <a:pt x="117073" y="20086"/>
                </a:lnTo>
                <a:lnTo>
                  <a:pt x="95274" y="5389"/>
                </a:lnTo>
                <a:lnTo>
                  <a:pt x="68580" y="0"/>
                </a:lnTo>
                <a:close/>
              </a:path>
            </a:pathLst>
          </a:custGeom>
          <a:solidFill>
            <a:srgbClr val="229D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40147" y="647947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3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3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40147" y="647947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53903" y="603686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3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3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53903" y="6036863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5482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73376" y="546581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973376" y="5465815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059939" y="5531611"/>
            <a:ext cx="744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Instrument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13071" y="6461252"/>
            <a:ext cx="354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M</a:t>
            </a:r>
            <a:r>
              <a:rPr dirty="0" sz="1200" spc="-5">
                <a:latin typeface="Arial"/>
                <a:cs typeface="Arial"/>
              </a:rPr>
              <a:t>al</a:t>
            </a:r>
            <a:r>
              <a:rPr dirty="0" sz="1200"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61341" y="546438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3"/>
                </a:lnTo>
                <a:lnTo>
                  <a:pt x="6563" y="49657"/>
                </a:lnTo>
                <a:lnTo>
                  <a:pt x="0" y="81305"/>
                </a:lnTo>
                <a:lnTo>
                  <a:pt x="6563" y="112953"/>
                </a:lnTo>
                <a:lnTo>
                  <a:pt x="24461" y="138797"/>
                </a:lnTo>
                <a:lnTo>
                  <a:pt x="51007" y="156222"/>
                </a:lnTo>
                <a:lnTo>
                  <a:pt x="83516" y="162611"/>
                </a:lnTo>
                <a:lnTo>
                  <a:pt x="116024" y="156222"/>
                </a:lnTo>
                <a:lnTo>
                  <a:pt x="142571" y="138797"/>
                </a:lnTo>
                <a:lnTo>
                  <a:pt x="160469" y="112953"/>
                </a:lnTo>
                <a:lnTo>
                  <a:pt x="167032" y="81305"/>
                </a:lnTo>
                <a:lnTo>
                  <a:pt x="160469" y="49657"/>
                </a:lnTo>
                <a:lnTo>
                  <a:pt x="142571" y="23813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61341" y="5464389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28334" y="5465914"/>
            <a:ext cx="945515" cy="161925"/>
          </a:xfrm>
          <a:custGeom>
            <a:avLst/>
            <a:gdLst/>
            <a:ahLst/>
            <a:cxnLst/>
            <a:rect l="l" t="t" r="r" b="b"/>
            <a:pathLst>
              <a:path w="945514" h="161925">
                <a:moveTo>
                  <a:pt x="783077" y="107949"/>
                </a:moveTo>
                <a:lnTo>
                  <a:pt x="782995" y="161925"/>
                </a:lnTo>
                <a:lnTo>
                  <a:pt x="891273" y="107990"/>
                </a:lnTo>
                <a:lnTo>
                  <a:pt x="810064" y="107990"/>
                </a:lnTo>
                <a:lnTo>
                  <a:pt x="783077" y="107949"/>
                </a:lnTo>
                <a:close/>
              </a:path>
              <a:path w="945514" h="161925">
                <a:moveTo>
                  <a:pt x="783159" y="53974"/>
                </a:moveTo>
                <a:lnTo>
                  <a:pt x="783077" y="107949"/>
                </a:lnTo>
                <a:lnTo>
                  <a:pt x="810064" y="107990"/>
                </a:lnTo>
                <a:lnTo>
                  <a:pt x="810145" y="54015"/>
                </a:lnTo>
                <a:lnTo>
                  <a:pt x="783159" y="53974"/>
                </a:lnTo>
                <a:close/>
              </a:path>
              <a:path w="945514" h="161925">
                <a:moveTo>
                  <a:pt x="783240" y="0"/>
                </a:moveTo>
                <a:lnTo>
                  <a:pt x="783159" y="53974"/>
                </a:lnTo>
                <a:lnTo>
                  <a:pt x="810145" y="54015"/>
                </a:lnTo>
                <a:lnTo>
                  <a:pt x="810064" y="107990"/>
                </a:lnTo>
                <a:lnTo>
                  <a:pt x="891273" y="107990"/>
                </a:lnTo>
                <a:lnTo>
                  <a:pt x="945042" y="81207"/>
                </a:lnTo>
                <a:lnTo>
                  <a:pt x="783240" y="0"/>
                </a:lnTo>
                <a:close/>
              </a:path>
              <a:path w="945514" h="161925">
                <a:moveTo>
                  <a:pt x="81" y="52793"/>
                </a:moveTo>
                <a:lnTo>
                  <a:pt x="0" y="106768"/>
                </a:lnTo>
                <a:lnTo>
                  <a:pt x="783077" y="107949"/>
                </a:lnTo>
                <a:lnTo>
                  <a:pt x="783159" y="53974"/>
                </a:lnTo>
                <a:lnTo>
                  <a:pt x="81" y="52793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215432" y="5527606"/>
            <a:ext cx="662940" cy="533400"/>
          </a:xfrm>
          <a:custGeom>
            <a:avLst/>
            <a:gdLst/>
            <a:ahLst/>
            <a:cxnLst/>
            <a:rect l="l" t="t" r="r" b="b"/>
            <a:pathLst>
              <a:path w="662939" h="533400">
                <a:moveTo>
                  <a:pt x="33517" y="0"/>
                </a:moveTo>
                <a:lnTo>
                  <a:pt x="0" y="42307"/>
                </a:lnTo>
                <a:lnTo>
                  <a:pt x="42307" y="75824"/>
                </a:lnTo>
                <a:lnTo>
                  <a:pt x="75825" y="33516"/>
                </a:lnTo>
                <a:lnTo>
                  <a:pt x="33517" y="0"/>
                </a:lnTo>
                <a:close/>
              </a:path>
              <a:path w="662939" h="533400">
                <a:moveTo>
                  <a:pt x="118131" y="67034"/>
                </a:moveTo>
                <a:lnTo>
                  <a:pt x="84615" y="109341"/>
                </a:lnTo>
                <a:lnTo>
                  <a:pt x="126922" y="142858"/>
                </a:lnTo>
                <a:lnTo>
                  <a:pt x="160439" y="100551"/>
                </a:lnTo>
                <a:lnTo>
                  <a:pt x="118131" y="67034"/>
                </a:lnTo>
                <a:close/>
              </a:path>
              <a:path w="662939" h="533400">
                <a:moveTo>
                  <a:pt x="202746" y="134068"/>
                </a:moveTo>
                <a:lnTo>
                  <a:pt x="169230" y="176375"/>
                </a:lnTo>
                <a:lnTo>
                  <a:pt x="211536" y="209892"/>
                </a:lnTo>
                <a:lnTo>
                  <a:pt x="245054" y="167585"/>
                </a:lnTo>
                <a:lnTo>
                  <a:pt x="202746" y="134068"/>
                </a:lnTo>
                <a:close/>
              </a:path>
              <a:path w="662939" h="533400">
                <a:moveTo>
                  <a:pt x="287361" y="201102"/>
                </a:moveTo>
                <a:lnTo>
                  <a:pt x="253843" y="243409"/>
                </a:lnTo>
                <a:lnTo>
                  <a:pt x="296151" y="276926"/>
                </a:lnTo>
                <a:lnTo>
                  <a:pt x="329667" y="234619"/>
                </a:lnTo>
                <a:lnTo>
                  <a:pt x="287361" y="201102"/>
                </a:lnTo>
                <a:close/>
              </a:path>
              <a:path w="662939" h="533400">
                <a:moveTo>
                  <a:pt x="371975" y="268136"/>
                </a:moveTo>
                <a:lnTo>
                  <a:pt x="338458" y="310444"/>
                </a:lnTo>
                <a:lnTo>
                  <a:pt x="380766" y="343961"/>
                </a:lnTo>
                <a:lnTo>
                  <a:pt x="414282" y="301653"/>
                </a:lnTo>
                <a:lnTo>
                  <a:pt x="371975" y="268136"/>
                </a:lnTo>
                <a:close/>
              </a:path>
              <a:path w="662939" h="533400">
                <a:moveTo>
                  <a:pt x="519251" y="453673"/>
                </a:moveTo>
                <a:lnTo>
                  <a:pt x="485734" y="495981"/>
                </a:lnTo>
                <a:lnTo>
                  <a:pt x="662932" y="533071"/>
                </a:lnTo>
                <a:lnTo>
                  <a:pt x="633659" y="470432"/>
                </a:lnTo>
                <a:lnTo>
                  <a:pt x="540405" y="470432"/>
                </a:lnTo>
                <a:lnTo>
                  <a:pt x="519251" y="453673"/>
                </a:lnTo>
                <a:close/>
              </a:path>
              <a:path w="662939" h="533400">
                <a:moveTo>
                  <a:pt x="552768" y="411366"/>
                </a:moveTo>
                <a:lnTo>
                  <a:pt x="519251" y="453673"/>
                </a:lnTo>
                <a:lnTo>
                  <a:pt x="540405" y="470432"/>
                </a:lnTo>
                <a:lnTo>
                  <a:pt x="573923" y="428125"/>
                </a:lnTo>
                <a:lnTo>
                  <a:pt x="552768" y="411366"/>
                </a:lnTo>
                <a:close/>
              </a:path>
              <a:path w="662939" h="533400">
                <a:moveTo>
                  <a:pt x="586285" y="369059"/>
                </a:moveTo>
                <a:lnTo>
                  <a:pt x="552768" y="411366"/>
                </a:lnTo>
                <a:lnTo>
                  <a:pt x="573923" y="428125"/>
                </a:lnTo>
                <a:lnTo>
                  <a:pt x="540405" y="470432"/>
                </a:lnTo>
                <a:lnTo>
                  <a:pt x="633659" y="470432"/>
                </a:lnTo>
                <a:lnTo>
                  <a:pt x="586285" y="369059"/>
                </a:lnTo>
                <a:close/>
              </a:path>
              <a:path w="662939" h="533400">
                <a:moveTo>
                  <a:pt x="541204" y="402205"/>
                </a:moveTo>
                <a:lnTo>
                  <a:pt x="507687" y="444512"/>
                </a:lnTo>
                <a:lnTo>
                  <a:pt x="519251" y="453673"/>
                </a:lnTo>
                <a:lnTo>
                  <a:pt x="552768" y="411366"/>
                </a:lnTo>
                <a:lnTo>
                  <a:pt x="541204" y="402205"/>
                </a:lnTo>
                <a:close/>
              </a:path>
              <a:path w="662939" h="533400">
                <a:moveTo>
                  <a:pt x="456590" y="335171"/>
                </a:moveTo>
                <a:lnTo>
                  <a:pt x="423072" y="377478"/>
                </a:lnTo>
                <a:lnTo>
                  <a:pt x="465380" y="410995"/>
                </a:lnTo>
                <a:lnTo>
                  <a:pt x="498897" y="368688"/>
                </a:lnTo>
                <a:lnTo>
                  <a:pt x="456590" y="3351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107179" y="6479822"/>
            <a:ext cx="955675" cy="161925"/>
          </a:xfrm>
          <a:custGeom>
            <a:avLst/>
            <a:gdLst/>
            <a:ahLst/>
            <a:cxnLst/>
            <a:rect l="l" t="t" r="r" b="b"/>
            <a:pathLst>
              <a:path w="955675" h="161925">
                <a:moveTo>
                  <a:pt x="793351" y="107949"/>
                </a:moveTo>
                <a:lnTo>
                  <a:pt x="793351" y="161925"/>
                </a:lnTo>
                <a:lnTo>
                  <a:pt x="901302" y="107950"/>
                </a:lnTo>
                <a:lnTo>
                  <a:pt x="793351" y="107949"/>
                </a:lnTo>
                <a:close/>
              </a:path>
              <a:path w="955675" h="161925">
                <a:moveTo>
                  <a:pt x="793352" y="53974"/>
                </a:moveTo>
                <a:lnTo>
                  <a:pt x="793351" y="107949"/>
                </a:lnTo>
                <a:lnTo>
                  <a:pt x="820339" y="107950"/>
                </a:lnTo>
                <a:lnTo>
                  <a:pt x="820339" y="53975"/>
                </a:lnTo>
                <a:lnTo>
                  <a:pt x="793352" y="53974"/>
                </a:lnTo>
                <a:close/>
              </a:path>
              <a:path w="955675" h="161925">
                <a:moveTo>
                  <a:pt x="793352" y="0"/>
                </a:moveTo>
                <a:lnTo>
                  <a:pt x="793352" y="53974"/>
                </a:lnTo>
                <a:lnTo>
                  <a:pt x="820339" y="53975"/>
                </a:lnTo>
                <a:lnTo>
                  <a:pt x="820339" y="107950"/>
                </a:lnTo>
                <a:lnTo>
                  <a:pt x="901303" y="107949"/>
                </a:lnTo>
                <a:lnTo>
                  <a:pt x="955277" y="80962"/>
                </a:lnTo>
                <a:lnTo>
                  <a:pt x="793352" y="0"/>
                </a:lnTo>
                <a:close/>
              </a:path>
              <a:path w="955675" h="161925">
                <a:moveTo>
                  <a:pt x="0" y="53974"/>
                </a:moveTo>
                <a:lnTo>
                  <a:pt x="0" y="107949"/>
                </a:lnTo>
                <a:lnTo>
                  <a:pt x="793351" y="107949"/>
                </a:lnTo>
                <a:lnTo>
                  <a:pt x="793352" y="53974"/>
                </a:lnTo>
                <a:lnTo>
                  <a:pt x="0" y="53974"/>
                </a:lnTo>
                <a:close/>
              </a:path>
            </a:pathLst>
          </a:custGeom>
          <a:solidFill>
            <a:srgbClr val="BF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062456" y="647947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3"/>
                </a:lnTo>
                <a:lnTo>
                  <a:pt x="24461" y="138798"/>
                </a:lnTo>
                <a:lnTo>
                  <a:pt x="51007" y="156222"/>
                </a:lnTo>
                <a:lnTo>
                  <a:pt x="83516" y="162612"/>
                </a:lnTo>
                <a:lnTo>
                  <a:pt x="116024" y="156222"/>
                </a:lnTo>
                <a:lnTo>
                  <a:pt x="142571" y="138798"/>
                </a:lnTo>
                <a:lnTo>
                  <a:pt x="160469" y="112953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062456" y="6479478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65158" y="5467452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51007" y="6389"/>
                </a:lnTo>
                <a:lnTo>
                  <a:pt x="24461" y="23814"/>
                </a:lnTo>
                <a:lnTo>
                  <a:pt x="6563" y="49658"/>
                </a:lnTo>
                <a:lnTo>
                  <a:pt x="0" y="81306"/>
                </a:lnTo>
                <a:lnTo>
                  <a:pt x="6563" y="112954"/>
                </a:lnTo>
                <a:lnTo>
                  <a:pt x="24461" y="138798"/>
                </a:lnTo>
                <a:lnTo>
                  <a:pt x="51007" y="156223"/>
                </a:lnTo>
                <a:lnTo>
                  <a:pt x="83516" y="162612"/>
                </a:lnTo>
                <a:lnTo>
                  <a:pt x="116024" y="156223"/>
                </a:lnTo>
                <a:lnTo>
                  <a:pt x="142571" y="138798"/>
                </a:lnTo>
                <a:lnTo>
                  <a:pt x="160469" y="112954"/>
                </a:lnTo>
                <a:lnTo>
                  <a:pt x="167032" y="81306"/>
                </a:lnTo>
                <a:lnTo>
                  <a:pt x="160469" y="49658"/>
                </a:lnTo>
                <a:lnTo>
                  <a:pt x="142571" y="23814"/>
                </a:lnTo>
                <a:lnTo>
                  <a:pt x="116024" y="6389"/>
                </a:lnTo>
                <a:lnTo>
                  <a:pt x="83516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065158" y="5467452"/>
            <a:ext cx="167640" cy="163195"/>
          </a:xfrm>
          <a:custGeom>
            <a:avLst/>
            <a:gdLst/>
            <a:ahLst/>
            <a:cxnLst/>
            <a:rect l="l" t="t" r="r" b="b"/>
            <a:pathLst>
              <a:path w="167639" h="163195">
                <a:moveTo>
                  <a:pt x="83516" y="0"/>
                </a:moveTo>
                <a:lnTo>
                  <a:pt x="116024" y="6389"/>
                </a:lnTo>
                <a:lnTo>
                  <a:pt x="142571" y="23813"/>
                </a:lnTo>
                <a:lnTo>
                  <a:pt x="160469" y="49658"/>
                </a:lnTo>
                <a:lnTo>
                  <a:pt x="167033" y="81306"/>
                </a:lnTo>
                <a:lnTo>
                  <a:pt x="160469" y="112953"/>
                </a:lnTo>
                <a:lnTo>
                  <a:pt x="142571" y="138798"/>
                </a:lnTo>
                <a:lnTo>
                  <a:pt x="116024" y="156222"/>
                </a:lnTo>
                <a:lnTo>
                  <a:pt x="83516" y="162612"/>
                </a:lnTo>
                <a:lnTo>
                  <a:pt x="51008" y="156222"/>
                </a:lnTo>
                <a:lnTo>
                  <a:pt x="24461" y="138798"/>
                </a:lnTo>
                <a:lnTo>
                  <a:pt x="6563" y="112953"/>
                </a:lnTo>
                <a:lnTo>
                  <a:pt x="0" y="81306"/>
                </a:lnTo>
                <a:lnTo>
                  <a:pt x="6563" y="49658"/>
                </a:lnTo>
                <a:lnTo>
                  <a:pt x="24461" y="23813"/>
                </a:lnTo>
                <a:lnTo>
                  <a:pt x="51008" y="6389"/>
                </a:lnTo>
                <a:lnTo>
                  <a:pt x="83516" y="0"/>
                </a:lnTo>
                <a:close/>
              </a:path>
            </a:pathLst>
          </a:custGeom>
          <a:ln w="28575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215716" y="6175661"/>
            <a:ext cx="662940" cy="408940"/>
          </a:xfrm>
          <a:custGeom>
            <a:avLst/>
            <a:gdLst/>
            <a:ahLst/>
            <a:cxnLst/>
            <a:rect l="l" t="t" r="r" b="b"/>
            <a:pathLst>
              <a:path w="662939" h="408940">
                <a:moveTo>
                  <a:pt x="46414" y="334366"/>
                </a:moveTo>
                <a:lnTo>
                  <a:pt x="0" y="361915"/>
                </a:lnTo>
                <a:lnTo>
                  <a:pt x="27547" y="408330"/>
                </a:lnTo>
                <a:lnTo>
                  <a:pt x="73963" y="380782"/>
                </a:lnTo>
                <a:lnTo>
                  <a:pt x="46414" y="334366"/>
                </a:lnTo>
                <a:close/>
              </a:path>
              <a:path w="662939" h="408940">
                <a:moveTo>
                  <a:pt x="139245" y="279269"/>
                </a:moveTo>
                <a:lnTo>
                  <a:pt x="92830" y="306818"/>
                </a:lnTo>
                <a:lnTo>
                  <a:pt x="120378" y="353233"/>
                </a:lnTo>
                <a:lnTo>
                  <a:pt x="166794" y="325684"/>
                </a:lnTo>
                <a:lnTo>
                  <a:pt x="139245" y="279269"/>
                </a:lnTo>
                <a:close/>
              </a:path>
              <a:path w="662939" h="408940">
                <a:moveTo>
                  <a:pt x="232075" y="224172"/>
                </a:moveTo>
                <a:lnTo>
                  <a:pt x="185660" y="251720"/>
                </a:lnTo>
                <a:lnTo>
                  <a:pt x="213208" y="298136"/>
                </a:lnTo>
                <a:lnTo>
                  <a:pt x="259624" y="270587"/>
                </a:lnTo>
                <a:lnTo>
                  <a:pt x="232075" y="224172"/>
                </a:lnTo>
                <a:close/>
              </a:path>
              <a:path w="662939" h="408940">
                <a:moveTo>
                  <a:pt x="324906" y="169075"/>
                </a:moveTo>
                <a:lnTo>
                  <a:pt x="278490" y="196623"/>
                </a:lnTo>
                <a:lnTo>
                  <a:pt x="306039" y="243039"/>
                </a:lnTo>
                <a:lnTo>
                  <a:pt x="352455" y="215490"/>
                </a:lnTo>
                <a:lnTo>
                  <a:pt x="324906" y="169075"/>
                </a:lnTo>
                <a:close/>
              </a:path>
              <a:path w="662939" h="408940">
                <a:moveTo>
                  <a:pt x="417737" y="113978"/>
                </a:moveTo>
                <a:lnTo>
                  <a:pt x="371321" y="141526"/>
                </a:lnTo>
                <a:lnTo>
                  <a:pt x="398870" y="187941"/>
                </a:lnTo>
                <a:lnTo>
                  <a:pt x="445284" y="160393"/>
                </a:lnTo>
                <a:lnTo>
                  <a:pt x="417737" y="113978"/>
                </a:lnTo>
                <a:close/>
              </a:path>
              <a:path w="662939" h="408940">
                <a:moveTo>
                  <a:pt x="624783" y="58881"/>
                </a:moveTo>
                <a:lnTo>
                  <a:pt x="510567" y="58881"/>
                </a:lnTo>
                <a:lnTo>
                  <a:pt x="538115" y="105296"/>
                </a:lnTo>
                <a:lnTo>
                  <a:pt x="537177" y="105853"/>
                </a:lnTo>
                <a:lnTo>
                  <a:pt x="564725" y="152268"/>
                </a:lnTo>
                <a:lnTo>
                  <a:pt x="624783" y="58881"/>
                </a:lnTo>
                <a:close/>
              </a:path>
              <a:path w="662939" h="408940">
                <a:moveTo>
                  <a:pt x="509629" y="59438"/>
                </a:moveTo>
                <a:lnTo>
                  <a:pt x="464151" y="86429"/>
                </a:lnTo>
                <a:lnTo>
                  <a:pt x="491700" y="132844"/>
                </a:lnTo>
                <a:lnTo>
                  <a:pt x="537177" y="105853"/>
                </a:lnTo>
                <a:lnTo>
                  <a:pt x="509629" y="59438"/>
                </a:lnTo>
                <a:close/>
              </a:path>
              <a:path w="662939" h="408940">
                <a:moveTo>
                  <a:pt x="510567" y="58881"/>
                </a:moveTo>
                <a:lnTo>
                  <a:pt x="509629" y="59438"/>
                </a:lnTo>
                <a:lnTo>
                  <a:pt x="537177" y="105853"/>
                </a:lnTo>
                <a:lnTo>
                  <a:pt x="538115" y="105296"/>
                </a:lnTo>
                <a:lnTo>
                  <a:pt x="510567" y="58881"/>
                </a:lnTo>
                <a:close/>
              </a:path>
              <a:path w="662939" h="408940">
                <a:moveTo>
                  <a:pt x="662649" y="0"/>
                </a:moveTo>
                <a:lnTo>
                  <a:pt x="482080" y="13022"/>
                </a:lnTo>
                <a:lnTo>
                  <a:pt x="509629" y="59438"/>
                </a:lnTo>
                <a:lnTo>
                  <a:pt x="510567" y="58881"/>
                </a:lnTo>
                <a:lnTo>
                  <a:pt x="624783" y="58881"/>
                </a:lnTo>
                <a:lnTo>
                  <a:pt x="662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140362" y="5467510"/>
            <a:ext cx="925194" cy="161925"/>
          </a:xfrm>
          <a:custGeom>
            <a:avLst/>
            <a:gdLst/>
            <a:ahLst/>
            <a:cxnLst/>
            <a:rect l="l" t="t" r="r" b="b"/>
            <a:pathLst>
              <a:path w="925195" h="161925">
                <a:moveTo>
                  <a:pt x="762823" y="107950"/>
                </a:moveTo>
                <a:lnTo>
                  <a:pt x="762727" y="161925"/>
                </a:lnTo>
                <a:lnTo>
                  <a:pt x="871060" y="107998"/>
                </a:lnTo>
                <a:lnTo>
                  <a:pt x="789811" y="107998"/>
                </a:lnTo>
                <a:lnTo>
                  <a:pt x="762823" y="107950"/>
                </a:lnTo>
                <a:close/>
              </a:path>
              <a:path w="925195" h="161925">
                <a:moveTo>
                  <a:pt x="762919" y="53975"/>
                </a:moveTo>
                <a:lnTo>
                  <a:pt x="762823" y="107950"/>
                </a:lnTo>
                <a:lnTo>
                  <a:pt x="789811" y="107998"/>
                </a:lnTo>
                <a:lnTo>
                  <a:pt x="789906" y="54023"/>
                </a:lnTo>
                <a:lnTo>
                  <a:pt x="762919" y="53975"/>
                </a:lnTo>
                <a:close/>
              </a:path>
              <a:path w="925195" h="161925">
                <a:moveTo>
                  <a:pt x="763014" y="0"/>
                </a:moveTo>
                <a:lnTo>
                  <a:pt x="762919" y="53975"/>
                </a:lnTo>
                <a:lnTo>
                  <a:pt x="789906" y="54023"/>
                </a:lnTo>
                <a:lnTo>
                  <a:pt x="789811" y="107998"/>
                </a:lnTo>
                <a:lnTo>
                  <a:pt x="871060" y="107998"/>
                </a:lnTo>
                <a:lnTo>
                  <a:pt x="924796" y="81249"/>
                </a:lnTo>
                <a:lnTo>
                  <a:pt x="763014" y="0"/>
                </a:lnTo>
                <a:close/>
              </a:path>
              <a:path w="925195" h="161925">
                <a:moveTo>
                  <a:pt x="95" y="52623"/>
                </a:moveTo>
                <a:lnTo>
                  <a:pt x="0" y="106598"/>
                </a:lnTo>
                <a:lnTo>
                  <a:pt x="762823" y="107950"/>
                </a:lnTo>
                <a:lnTo>
                  <a:pt x="762919" y="53975"/>
                </a:lnTo>
                <a:lnTo>
                  <a:pt x="95" y="52623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151750" y="6243828"/>
            <a:ext cx="7912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BF9000"/>
                </a:solidFill>
                <a:latin typeface="Arial"/>
                <a:cs typeface="Arial"/>
              </a:rPr>
              <a:t>Projection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51477" y="5570220"/>
            <a:ext cx="3416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4900" algn="l"/>
                <a:tab pos="2513330" algn="l"/>
              </a:tabLst>
            </a:pPr>
            <a:r>
              <a:rPr dirty="0" baseline="3968" sz="2100" spc="-37">
                <a:solidFill>
                  <a:srgbClr val="C55A11"/>
                </a:solidFill>
                <a:latin typeface="Arial"/>
                <a:cs typeface="Arial"/>
              </a:rPr>
              <a:t>Projection	</a:t>
            </a:r>
            <a:r>
              <a:rPr dirty="0" sz="1400" spc="-25">
                <a:solidFill>
                  <a:srgbClr val="548235"/>
                </a:solidFill>
                <a:latin typeface="Arial"/>
                <a:cs typeface="Arial"/>
              </a:rPr>
              <a:t>Projection	</a:t>
            </a:r>
            <a:r>
              <a:rPr dirty="0" baseline="3968" sz="2100" spc="-37">
                <a:latin typeface="Arial"/>
                <a:cs typeface="Arial"/>
              </a:rPr>
              <a:t>Intersection</a:t>
            </a:r>
            <a:endParaRPr baseline="3968" sz="2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52798" y="6380988"/>
            <a:ext cx="9150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Intersection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295400" y="1439999"/>
            <a:ext cx="5040000" cy="3693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003299" y="4982971"/>
            <a:ext cx="7221855" cy="577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>
                <a:solidFill>
                  <a:srgbClr val="C00000"/>
                </a:solidFill>
                <a:latin typeface="Arial"/>
                <a:cs typeface="Arial"/>
              </a:rPr>
              <a:t>“</a:t>
            </a:r>
            <a:r>
              <a:rPr dirty="0" sz="2400" spc="-15" u="sng">
                <a:solidFill>
                  <a:srgbClr val="C00000"/>
                </a:solidFill>
                <a:latin typeface="Arial"/>
                <a:cs typeface="Arial"/>
              </a:rPr>
              <a:t>List </a:t>
            </a:r>
            <a:r>
              <a:rPr dirty="0" sz="2400" spc="-70" u="sng">
                <a:solidFill>
                  <a:srgbClr val="C00000"/>
                </a:solidFill>
                <a:latin typeface="Arial"/>
                <a:cs typeface="Arial"/>
              </a:rPr>
              <a:t>male </a:t>
            </a:r>
            <a:r>
              <a:rPr dirty="0" sz="2400" spc="-45" u="sng">
                <a:solidFill>
                  <a:srgbClr val="C00000"/>
                </a:solidFill>
                <a:latin typeface="Arial"/>
                <a:cs typeface="Arial"/>
              </a:rPr>
              <a:t>instrumentalists </a:t>
            </a:r>
            <a:r>
              <a:rPr dirty="0" sz="2400" spc="-5" u="sng">
                <a:solidFill>
                  <a:srgbClr val="C00000"/>
                </a:solidFill>
                <a:latin typeface="Arial"/>
                <a:cs typeface="Arial"/>
              </a:rPr>
              <a:t>who </a:t>
            </a:r>
            <a:r>
              <a:rPr dirty="0" sz="2400" spc="-60" u="sng">
                <a:solidFill>
                  <a:srgbClr val="C00000"/>
                </a:solidFill>
                <a:latin typeface="Arial"/>
                <a:cs typeface="Arial"/>
              </a:rPr>
              <a:t>play </a:t>
            </a:r>
            <a:r>
              <a:rPr dirty="0" sz="2400" spc="-35" u="sng">
                <a:solidFill>
                  <a:srgbClr val="C00000"/>
                </a:solidFill>
                <a:latin typeface="Arial"/>
                <a:cs typeface="Arial"/>
              </a:rPr>
              <a:t>string</a:t>
            </a:r>
            <a:r>
              <a:rPr dirty="0" sz="2400" spc="254" u="sng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30" u="sng">
                <a:solidFill>
                  <a:srgbClr val="C00000"/>
                </a:solidFill>
                <a:latin typeface="Arial"/>
                <a:cs typeface="Arial"/>
              </a:rPr>
              <a:t>instruments</a:t>
            </a:r>
            <a:r>
              <a:rPr dirty="0" sz="2400" spc="-30">
                <a:solidFill>
                  <a:srgbClr val="C00000"/>
                </a:solidFill>
                <a:latin typeface="Arial"/>
                <a:cs typeface="Arial"/>
              </a:rPr>
              <a:t>”</a:t>
            </a:r>
            <a:endParaRPr sz="2400">
              <a:latin typeface="Arial"/>
              <a:cs typeface="Arial"/>
            </a:endParaRPr>
          </a:p>
          <a:p>
            <a:pPr marL="1069340">
              <a:lnSpc>
                <a:spcPct val="100000"/>
              </a:lnSpc>
              <a:spcBef>
                <a:spcPts val="25"/>
              </a:spcBef>
            </a:pPr>
            <a:r>
              <a:rPr dirty="0" sz="1200" spc="-5">
                <a:latin typeface="Arial"/>
                <a:cs typeface="Arial"/>
              </a:rPr>
              <a:t>String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83</a:t>
            </a:fld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6432139" y="1709420"/>
            <a:ext cx="182943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0">
                <a:latin typeface="Arial"/>
                <a:cs typeface="Arial"/>
              </a:rPr>
              <a:t># </a:t>
            </a:r>
            <a:r>
              <a:rPr dirty="0" sz="1800" spc="-5" i="0">
                <a:latin typeface="Arial"/>
                <a:cs typeface="Arial"/>
              </a:rPr>
              <a:t>of answers:</a:t>
            </a:r>
            <a:r>
              <a:rPr dirty="0" sz="1800" spc="-75" i="0">
                <a:latin typeface="Arial"/>
                <a:cs typeface="Arial"/>
              </a:rPr>
              <a:t> </a:t>
            </a:r>
            <a:r>
              <a:rPr dirty="0" sz="1800" spc="-5" i="0">
                <a:latin typeface="Arial"/>
                <a:cs typeface="Arial"/>
              </a:rPr>
              <a:t>396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51556" y="2378455"/>
            <a:ext cx="1257935" cy="167893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68275" marR="826769" indent="1270">
              <a:lnSpc>
                <a:spcPct val="100400"/>
              </a:lnSpc>
              <a:spcBef>
                <a:spcPts val="90"/>
              </a:spcBef>
            </a:pPr>
            <a:r>
              <a:rPr dirty="0" sz="1500" spc="-5">
                <a:latin typeface="Arial"/>
                <a:cs typeface="Arial"/>
              </a:rPr>
              <a:t>TP  FN  FP  TN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ts val="2125"/>
              </a:lnSpc>
            </a:pPr>
            <a:r>
              <a:rPr dirty="0" sz="1800">
                <a:latin typeface="Arial"/>
                <a:cs typeface="Arial"/>
              </a:rPr>
              <a:t>TPR: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99.4%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>
                <a:latin typeface="Arial"/>
                <a:cs typeface="Arial"/>
              </a:rPr>
              <a:t>FPR: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0.01%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71856"/>
            <a:ext cx="2383536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63396"/>
            <a:ext cx="756729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 b="1" i="0">
                <a:latin typeface="Calibri"/>
                <a:cs typeface="Calibri"/>
              </a:rPr>
              <a:t>We </a:t>
            </a:r>
            <a:r>
              <a:rPr dirty="0" sz="3200" spc="-10" b="1" i="0">
                <a:latin typeface="Calibri"/>
                <a:cs typeface="Calibri"/>
              </a:rPr>
              <a:t>introduce answering predictive </a:t>
            </a:r>
            <a:r>
              <a:rPr dirty="0" sz="3200" spc="-5" b="1" i="0">
                <a:latin typeface="Calibri"/>
                <a:cs typeface="Calibri"/>
              </a:rPr>
              <a:t>queries  </a:t>
            </a:r>
            <a:r>
              <a:rPr dirty="0" sz="3200" b="1" i="0">
                <a:latin typeface="Calibri"/>
                <a:cs typeface="Calibri"/>
              </a:rPr>
              <a:t>on </a:t>
            </a:r>
            <a:r>
              <a:rPr dirty="0" sz="3200" spc="-20" b="1" i="0">
                <a:latin typeface="Calibri"/>
                <a:cs typeface="Calibri"/>
              </a:rPr>
              <a:t>large </a:t>
            </a:r>
            <a:r>
              <a:rPr dirty="0" sz="3200" spc="-10" b="1" i="0">
                <a:latin typeface="Calibri"/>
                <a:cs typeface="Calibri"/>
              </a:rPr>
              <a:t>knowledge</a:t>
            </a:r>
            <a:r>
              <a:rPr dirty="0" sz="3200" spc="-40" b="1" i="0">
                <a:latin typeface="Calibri"/>
                <a:cs typeface="Calibri"/>
              </a:rPr>
              <a:t> </a:t>
            </a:r>
            <a:r>
              <a:rPr dirty="0" sz="3200" spc="-15" b="1" i="0">
                <a:latin typeface="Calibri"/>
                <a:cs typeface="Calibri"/>
              </a:rPr>
              <a:t>graphs.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2/16/21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83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570988"/>
            <a:ext cx="7811770" cy="287782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32740" marR="1453515" indent="-320040">
              <a:lnSpc>
                <a:spcPts val="3820"/>
              </a:lnSpc>
              <a:spcBef>
                <a:spcPts val="2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6BB76D"/>
                </a:solidFill>
                <a:latin typeface="Calibri"/>
                <a:cs typeface="Calibri"/>
              </a:rPr>
              <a:t>The </a:t>
            </a:r>
            <a:r>
              <a:rPr dirty="0" sz="3200" spc="-40" b="1">
                <a:solidFill>
                  <a:srgbClr val="6BB76D"/>
                </a:solidFill>
                <a:latin typeface="Calibri"/>
                <a:cs typeface="Calibri"/>
              </a:rPr>
              <a:t>key </a:t>
            </a:r>
            <a:r>
              <a:rPr dirty="0" sz="3200" spc="-5" b="1">
                <a:solidFill>
                  <a:srgbClr val="6BB76D"/>
                </a:solidFill>
                <a:latin typeface="Calibri"/>
                <a:cs typeface="Calibri"/>
              </a:rPr>
              <a:t>idea </a:t>
            </a:r>
            <a:r>
              <a:rPr dirty="0" sz="3200" b="1">
                <a:solidFill>
                  <a:srgbClr val="6BB76D"/>
                </a:solidFill>
                <a:latin typeface="Calibri"/>
                <a:cs typeface="Calibri"/>
              </a:rPr>
              <a:t>is </a:t>
            </a:r>
            <a:r>
              <a:rPr dirty="0" sz="3200" spc="-15" b="1">
                <a:solidFill>
                  <a:srgbClr val="6BB76D"/>
                </a:solidFill>
                <a:latin typeface="Calibri"/>
                <a:cs typeface="Calibri"/>
              </a:rPr>
              <a:t>to </a:t>
            </a:r>
            <a:r>
              <a:rPr dirty="0" sz="3200" spc="-5" b="1">
                <a:solidFill>
                  <a:srgbClr val="6BB76D"/>
                </a:solidFill>
                <a:latin typeface="Calibri"/>
                <a:cs typeface="Calibri"/>
              </a:rPr>
              <a:t>embed queries </a:t>
            </a:r>
            <a:r>
              <a:rPr dirty="0" sz="3200" spc="-15" b="1">
                <a:solidFill>
                  <a:srgbClr val="6BB76D"/>
                </a:solidFill>
                <a:latin typeface="Calibri"/>
                <a:cs typeface="Calibri"/>
              </a:rPr>
              <a:t>by  </a:t>
            </a:r>
            <a:r>
              <a:rPr dirty="0" sz="3200" spc="-20" b="1">
                <a:solidFill>
                  <a:srgbClr val="6BB76D"/>
                </a:solidFill>
                <a:latin typeface="Calibri"/>
                <a:cs typeface="Calibri"/>
              </a:rPr>
              <a:t>navigating </a:t>
            </a:r>
            <a:r>
              <a:rPr dirty="0" sz="3200" spc="-5" b="1">
                <a:solidFill>
                  <a:srgbClr val="6BB76D"/>
                </a:solidFill>
                <a:latin typeface="Calibri"/>
                <a:cs typeface="Calibri"/>
              </a:rPr>
              <a:t>the embedding</a:t>
            </a:r>
            <a:r>
              <a:rPr dirty="0" sz="3200" spc="-10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6BB76D"/>
                </a:solidFill>
                <a:latin typeface="Calibri"/>
                <a:cs typeface="Calibri"/>
              </a:rPr>
              <a:t>space!</a:t>
            </a:r>
            <a:endParaRPr sz="3200">
              <a:latin typeface="Calibri"/>
              <a:cs typeface="Calibri"/>
            </a:endParaRPr>
          </a:p>
          <a:p>
            <a:pPr lvl="1" marL="625475" marR="741680" indent="-274320">
              <a:lnSpc>
                <a:spcPct val="101400"/>
              </a:lnSpc>
              <a:spcBef>
                <a:spcPts val="464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5" b="1">
                <a:latin typeface="Calibri"/>
                <a:cs typeface="Calibri"/>
              </a:rPr>
              <a:t>We </a:t>
            </a:r>
            <a:r>
              <a:rPr dirty="0" sz="2800" spc="-5" b="1">
                <a:latin typeface="Calibri"/>
                <a:cs typeface="Calibri"/>
              </a:rPr>
              <a:t>embed the </a:t>
            </a:r>
            <a:r>
              <a:rPr dirty="0" sz="2800" b="1">
                <a:latin typeface="Calibri"/>
                <a:cs typeface="Calibri"/>
              </a:rPr>
              <a:t>query </a:t>
            </a:r>
            <a:r>
              <a:rPr dirty="0" sz="2800" spc="-10" b="1">
                <a:latin typeface="Calibri"/>
                <a:cs typeface="Calibri"/>
              </a:rPr>
              <a:t>by composing </a:t>
            </a:r>
            <a:r>
              <a:rPr dirty="0" sz="2800" spc="-80" b="1">
                <a:latin typeface="Calibri"/>
                <a:cs typeface="Calibri"/>
              </a:rPr>
              <a:t>learned  </a:t>
            </a:r>
            <a:r>
              <a:rPr dirty="0" sz="2800" spc="-20" b="1">
                <a:latin typeface="Calibri"/>
                <a:cs typeface="Calibri"/>
              </a:rPr>
              <a:t>operators</a:t>
            </a:r>
            <a:endParaRPr sz="2800">
              <a:latin typeface="Calibri"/>
              <a:cs typeface="Calibri"/>
            </a:endParaRPr>
          </a:p>
          <a:p>
            <a:pPr lvl="1" marL="625475" marR="5080" indent="-274320">
              <a:lnSpc>
                <a:spcPct val="100699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latin typeface="Calibri"/>
                <a:cs typeface="Calibri"/>
              </a:rPr>
              <a:t>Embedding of the </a:t>
            </a:r>
            <a:r>
              <a:rPr dirty="0" sz="2800" b="1">
                <a:latin typeface="Calibri"/>
                <a:cs typeface="Calibri"/>
              </a:rPr>
              <a:t>query </a:t>
            </a:r>
            <a:r>
              <a:rPr dirty="0" sz="2800" spc="-5" b="1">
                <a:latin typeface="Calibri"/>
                <a:cs typeface="Calibri"/>
              </a:rPr>
              <a:t>is close </a:t>
            </a:r>
            <a:r>
              <a:rPr dirty="0" sz="2800" spc="-15" b="1">
                <a:latin typeface="Calibri"/>
                <a:cs typeface="Calibri"/>
              </a:rPr>
              <a:t>to </a:t>
            </a:r>
            <a:r>
              <a:rPr dirty="0" sz="2800" spc="-5" b="1">
                <a:latin typeface="Calibri"/>
                <a:cs typeface="Calibri"/>
              </a:rPr>
              <a:t>its </a:t>
            </a:r>
            <a:r>
              <a:rPr dirty="0" sz="2800" spc="-15" b="1">
                <a:latin typeface="Calibri"/>
                <a:cs typeface="Calibri"/>
              </a:rPr>
              <a:t>answers </a:t>
            </a:r>
            <a:r>
              <a:rPr dirty="0" sz="2800" spc="-295" b="1">
                <a:latin typeface="Calibri"/>
                <a:cs typeface="Calibri"/>
              </a:rPr>
              <a:t>in  </a:t>
            </a:r>
            <a:r>
              <a:rPr dirty="0" sz="2800" spc="-5" b="1">
                <a:latin typeface="Calibri"/>
                <a:cs typeface="Calibri"/>
              </a:rPr>
              <a:t>the embedding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space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2026-10-20T23:54:11Z</dcterms:created>
  <dcterms:modified xsi:type="dcterms:W3CDTF">2026-10-20T23:54:11Z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2021-02-16T00:00:00Z</vt:filetime>
  </property>
  <property fmtid="{D5CDD505-2E9C-101B-9397-08002B2CF9AE}" pid="3" name="LastSaved">
    <vt:filetime>2026-10-20T00:00:00Z</vt:filetime>
  </property>
</Properties>
</file>