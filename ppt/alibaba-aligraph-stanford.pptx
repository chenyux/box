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1075" y="392684"/>
            <a:ext cx="11169849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B9BD5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B9BD5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721" y="1276603"/>
            <a:ext cx="4168140" cy="414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5B9BD5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8489" y="938212"/>
            <a:ext cx="10982325" cy="0"/>
          </a:xfrm>
          <a:custGeom>
            <a:avLst/>
            <a:gdLst/>
            <a:ahLst/>
            <a:cxnLst/>
            <a:rect l="l" t="t" r="r" b="b"/>
            <a:pathLst>
              <a:path w="10982325" h="0">
                <a:moveTo>
                  <a:pt x="0" y="0"/>
                </a:moveTo>
                <a:lnTo>
                  <a:pt x="10982326" y="1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735311" y="524255"/>
            <a:ext cx="1834896" cy="28346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305" y="1169924"/>
            <a:ext cx="1106170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5B9BD5"/>
                </a:solidFill>
                <a:latin typeface="Franklin Gothic Medium"/>
                <a:cs typeface="Franklin Gothic Medi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5984" y="1983739"/>
            <a:ext cx="11100030" cy="2686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jp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Relationship Id="rId17" Type="http://schemas.openxmlformats.org/officeDocument/2006/relationships/image" Target="../media/image25.png"/><Relationship Id="rId18" Type="http://schemas.openxmlformats.org/officeDocument/2006/relationships/image" Target="../media/image26.png"/><Relationship Id="rId19" Type="http://schemas.openxmlformats.org/officeDocument/2006/relationships/image" Target="../media/image27.png"/><Relationship Id="rId20" Type="http://schemas.openxmlformats.org/officeDocument/2006/relationships/image" Target="../media/image28.png"/><Relationship Id="rId21" Type="http://schemas.openxmlformats.org/officeDocument/2006/relationships/image" Target="../media/image29.png"/><Relationship Id="rId22" Type="http://schemas.openxmlformats.org/officeDocument/2006/relationships/image" Target="../media/image30.png"/><Relationship Id="rId23" Type="http://schemas.openxmlformats.org/officeDocument/2006/relationships/image" Target="../media/image31.png"/><Relationship Id="rId24" Type="http://schemas.openxmlformats.org/officeDocument/2006/relationships/image" Target="../media/image32.png"/><Relationship Id="rId25" Type="http://schemas.openxmlformats.org/officeDocument/2006/relationships/image" Target="../media/image33.png"/><Relationship Id="rId26" Type="http://schemas.openxmlformats.org/officeDocument/2006/relationships/image" Target="../media/image34.png"/><Relationship Id="rId27" Type="http://schemas.openxmlformats.org/officeDocument/2006/relationships/image" Target="../media/image35.png"/><Relationship Id="rId28" Type="http://schemas.openxmlformats.org/officeDocument/2006/relationships/image" Target="../media/image36.png"/><Relationship Id="rId29" Type="http://schemas.openxmlformats.org/officeDocument/2006/relationships/image" Target="../media/image37.png"/><Relationship Id="rId30" Type="http://schemas.openxmlformats.org/officeDocument/2006/relationships/image" Target="../media/image38.png"/><Relationship Id="rId31" Type="http://schemas.openxmlformats.org/officeDocument/2006/relationships/image" Target="../media/image39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Relationship Id="rId16" Type="http://schemas.openxmlformats.org/officeDocument/2006/relationships/image" Target="../media/image54.png"/><Relationship Id="rId17" Type="http://schemas.openxmlformats.org/officeDocument/2006/relationships/image" Target="../media/image55.png"/><Relationship Id="rId18" Type="http://schemas.openxmlformats.org/officeDocument/2006/relationships/image" Target="../media/image56.png"/><Relationship Id="rId19" Type="http://schemas.openxmlformats.org/officeDocument/2006/relationships/image" Target="../media/image57.png"/><Relationship Id="rId20" Type="http://schemas.openxmlformats.org/officeDocument/2006/relationships/image" Target="../media/image58.png"/><Relationship Id="rId21" Type="http://schemas.openxmlformats.org/officeDocument/2006/relationships/image" Target="../media/image59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0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4.jpg"/><Relationship Id="rId3" Type="http://schemas.openxmlformats.org/officeDocument/2006/relationships/hyperlink" Target="http://www.alibabacloud.com/product/machine-learning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png"/><Relationship Id="rId3" Type="http://schemas.openxmlformats.org/officeDocument/2006/relationships/image" Target="../media/image76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8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8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8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9.jpg"/><Relationship Id="rId3" Type="http://schemas.openxmlformats.org/officeDocument/2006/relationships/image" Target="../media/image90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1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4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8.jpg"/><Relationship Id="rId3" Type="http://schemas.openxmlformats.org/officeDocument/2006/relationships/image" Target="../media/image99.jp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2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3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5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6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7.png"/><Relationship Id="rId3" Type="http://schemas.openxmlformats.org/officeDocument/2006/relationships/image" Target="../media/image108.png"/><Relationship Id="rId4" Type="http://schemas.openxmlformats.org/officeDocument/2006/relationships/image" Target="../media/image109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12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png"/><Relationship Id="rId3" Type="http://schemas.openxmlformats.org/officeDocument/2006/relationships/image" Target="../media/image114.png"/><Relationship Id="rId4" Type="http://schemas.openxmlformats.org/officeDocument/2006/relationships/image" Target="../media/image115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0.png"/><Relationship Id="rId3" Type="http://schemas.openxmlformats.org/officeDocument/2006/relationships/image" Target="../media/image12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2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23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129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0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Relationship Id="rId5" Type="http://schemas.openxmlformats.org/officeDocument/2006/relationships/image" Target="../media/image142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5.jpg"/><Relationship Id="rId3" Type="http://schemas.openxmlformats.org/officeDocument/2006/relationships/image" Target="../media/image146.jpg"/><Relationship Id="rId4" Type="http://schemas.openxmlformats.org/officeDocument/2006/relationships/image" Target="../media/image147.jp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8.jp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graph-learn@list.alibaba-inc.com" TargetMode="External"/><Relationship Id="rId3" Type="http://schemas.openxmlformats.org/officeDocument/2006/relationships/image" Target="../media/image149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5.png"/><Relationship Id="rId3" Type="http://schemas.openxmlformats.org/officeDocument/2006/relationships/image" Target="../media/image156.png"/><Relationship Id="rId4" Type="http://schemas.openxmlformats.org/officeDocument/2006/relationships/image" Target="../media/image157.jp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8.png"/><Relationship Id="rId3" Type="http://schemas.openxmlformats.org/officeDocument/2006/relationships/image" Target="../media/image159.jpg"/><Relationship Id="rId4" Type="http://schemas.openxmlformats.org/officeDocument/2006/relationships/image" Target="../media/image160.png"/><Relationship Id="rId5" Type="http://schemas.openxmlformats.org/officeDocument/2006/relationships/image" Target="../media/image161.jpg"/><Relationship Id="rId6" Type="http://schemas.openxmlformats.org/officeDocument/2006/relationships/image" Target="../media/image162.png"/><Relationship Id="rId7" Type="http://schemas.openxmlformats.org/officeDocument/2006/relationships/image" Target="../media/image163.jpg"/><Relationship Id="rId8" Type="http://schemas.openxmlformats.org/officeDocument/2006/relationships/image" Target="../media/image164.png"/><Relationship Id="rId9" Type="http://schemas.openxmlformats.org/officeDocument/2006/relationships/image" Target="../media/image165.jp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6.png"/><Relationship Id="rId3" Type="http://schemas.openxmlformats.org/officeDocument/2006/relationships/image" Target="../media/image167.jpg"/><Relationship Id="rId4" Type="http://schemas.openxmlformats.org/officeDocument/2006/relationships/image" Target="../media/image168.png"/><Relationship Id="rId5" Type="http://schemas.openxmlformats.org/officeDocument/2006/relationships/image" Target="../media/image169.jpg"/><Relationship Id="rId6" Type="http://schemas.openxmlformats.org/officeDocument/2006/relationships/image" Target="../media/image170.png"/><Relationship Id="rId7" Type="http://schemas.openxmlformats.org/officeDocument/2006/relationships/image" Target="../media/image171.jp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2.png"/><Relationship Id="rId3" Type="http://schemas.openxmlformats.org/officeDocument/2006/relationships/image" Target="../media/image173.jpg"/><Relationship Id="rId4" Type="http://schemas.openxmlformats.org/officeDocument/2006/relationships/image" Target="../media/image174.png"/><Relationship Id="rId5" Type="http://schemas.openxmlformats.org/officeDocument/2006/relationships/image" Target="../media/image175.jpg"/><Relationship Id="rId6" Type="http://schemas.openxmlformats.org/officeDocument/2006/relationships/image" Target="../media/image176.png"/><Relationship Id="rId7" Type="http://schemas.openxmlformats.org/officeDocument/2006/relationships/image" Target="../media/image177.jp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8.pn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9.png"/><Relationship Id="rId3" Type="http://schemas.openxmlformats.org/officeDocument/2006/relationships/image" Target="../media/image180.png"/><Relationship Id="rId4" Type="http://schemas.openxmlformats.org/officeDocument/2006/relationships/image" Target="../media/image181.jpg"/><Relationship Id="rId5" Type="http://schemas.openxmlformats.org/officeDocument/2006/relationships/image" Target="../media/image182.pn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3.jpg"/><Relationship Id="rId3" Type="http://schemas.openxmlformats.org/officeDocument/2006/relationships/image" Target="../media/image184.jpg"/><Relationship Id="rId4" Type="http://schemas.openxmlformats.org/officeDocument/2006/relationships/image" Target="../media/image185.jpg"/><Relationship Id="rId5" Type="http://schemas.openxmlformats.org/officeDocument/2006/relationships/image" Target="../media/image186.pn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jpg"/><Relationship Id="rId3" Type="http://schemas.openxmlformats.org/officeDocument/2006/relationships/image" Target="../media/image188.jpg"/><Relationship Id="rId4" Type="http://schemas.openxmlformats.org/officeDocument/2006/relationships/image" Target="../media/image189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0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1.jpg"/><Relationship Id="rId3" Type="http://schemas.openxmlformats.org/officeDocument/2006/relationships/image" Target="../media/image192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3.jpg"/><Relationship Id="rId3" Type="http://schemas.openxmlformats.org/officeDocument/2006/relationships/image" Target="../media/image194.jpg"/><Relationship Id="rId4" Type="http://schemas.openxmlformats.org/officeDocument/2006/relationships/image" Target="../media/image195.jpg"/><Relationship Id="rId5" Type="http://schemas.openxmlformats.org/officeDocument/2006/relationships/image" Target="../media/image196.jp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7.png"/><Relationship Id="rId3" Type="http://schemas.openxmlformats.org/officeDocument/2006/relationships/image" Target="../media/image198.jpg"/><Relationship Id="rId4" Type="http://schemas.openxmlformats.org/officeDocument/2006/relationships/image" Target="../media/image199.jp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4568" y="502919"/>
            <a:ext cx="2033016" cy="313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0915" y="1892300"/>
            <a:ext cx="11252200" cy="131191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859790" marR="5080" indent="-847725">
              <a:lnSpc>
                <a:spcPct val="101000"/>
              </a:lnSpc>
              <a:spcBef>
                <a:spcPts val="50"/>
              </a:spcBef>
            </a:pPr>
            <a:r>
              <a:rPr dirty="0" sz="4200" spc="190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4200" spc="-5" b="1">
                <a:solidFill>
                  <a:srgbClr val="FFFFFF"/>
                </a:solidFill>
                <a:latin typeface="微软雅黑"/>
                <a:cs typeface="微软雅黑"/>
              </a:rPr>
              <a:t>liGraph:</a:t>
            </a:r>
            <a:r>
              <a:rPr dirty="0" sz="4200" spc="1235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4200" b="1">
                <a:solidFill>
                  <a:srgbClr val="FFFFFF"/>
                </a:solidFill>
                <a:latin typeface="微软雅黑"/>
                <a:cs typeface="微软雅黑"/>
              </a:rPr>
              <a:t>n </a:t>
            </a:r>
            <a:r>
              <a:rPr dirty="0" sz="4200" spc="-10" b="1">
                <a:solidFill>
                  <a:srgbClr val="FFFFFF"/>
                </a:solidFill>
                <a:latin typeface="微软雅黑"/>
                <a:cs typeface="微软雅黑"/>
              </a:rPr>
              <a:t>Extremely Large </a:t>
            </a:r>
            <a:r>
              <a:rPr dirty="0" sz="4200" spc="-5" b="1">
                <a:solidFill>
                  <a:srgbClr val="FFFFFF"/>
                </a:solidFill>
                <a:latin typeface="微软雅黑"/>
                <a:cs typeface="微软雅黑"/>
              </a:rPr>
              <a:t>Scale Graph  </a:t>
            </a:r>
            <a:r>
              <a:rPr dirty="0" sz="4200" spc="-15" b="1">
                <a:solidFill>
                  <a:srgbClr val="FFFFFF"/>
                </a:solidFill>
                <a:latin typeface="微软雅黑"/>
                <a:cs typeface="微软雅黑"/>
              </a:rPr>
              <a:t>Representation </a:t>
            </a:r>
            <a:r>
              <a:rPr dirty="0" sz="4200" spc="-5" b="1">
                <a:solidFill>
                  <a:srgbClr val="FFFFFF"/>
                </a:solidFill>
                <a:latin typeface="微软雅黑"/>
                <a:cs typeface="微软雅黑"/>
              </a:rPr>
              <a:t>Learning in</a:t>
            </a:r>
            <a:r>
              <a:rPr dirty="0" sz="4200" spc="25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4200" spc="-5" b="1">
                <a:solidFill>
                  <a:srgbClr val="FFFFFF"/>
                </a:solidFill>
                <a:latin typeface="微软雅黑"/>
                <a:cs typeface="微软雅黑"/>
              </a:rPr>
              <a:t>Practice</a:t>
            </a:r>
            <a:endParaRPr sz="42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25675" y="3876547"/>
            <a:ext cx="1776095" cy="143573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ctr" marL="12700" marR="5080">
              <a:lnSpc>
                <a:spcPct val="101699"/>
              </a:lnSpc>
              <a:spcBef>
                <a:spcPts val="60"/>
              </a:spcBef>
            </a:pPr>
            <a:r>
              <a:rPr dirty="0" sz="1800" spc="-5" b="1">
                <a:solidFill>
                  <a:srgbClr val="FFFFFF"/>
                </a:solidFill>
                <a:latin typeface="微软雅黑"/>
                <a:cs typeface="微软雅黑"/>
              </a:rPr>
              <a:t>Xiaoyong </a:t>
            </a:r>
            <a:r>
              <a:rPr dirty="0" sz="1800" b="1">
                <a:solidFill>
                  <a:srgbClr val="FFFFFF"/>
                </a:solidFill>
                <a:latin typeface="微软雅黑"/>
                <a:cs typeface="微软雅黑"/>
              </a:rPr>
              <a:t>Liu 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Hongxia </a:t>
            </a:r>
            <a:r>
              <a:rPr dirty="0" sz="1800" spc="-50">
                <a:solidFill>
                  <a:srgbClr val="FFFFFF"/>
                </a:solidFill>
                <a:latin typeface="微软雅黑"/>
                <a:cs typeface="微软雅黑"/>
              </a:rPr>
              <a:t>Yang  </a:t>
            </a:r>
            <a:r>
              <a:rPr dirty="0" sz="1800" spc="-15">
                <a:solidFill>
                  <a:srgbClr val="FFFFFF"/>
                </a:solidFill>
                <a:latin typeface="微软雅黑"/>
                <a:cs typeface="微软雅黑"/>
              </a:rPr>
              <a:t>Wei</a:t>
            </a:r>
            <a:r>
              <a:rPr dirty="0" sz="1800" spc="-9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微软雅黑"/>
                <a:cs typeface="微软雅黑"/>
              </a:rPr>
              <a:t>Lin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145"/>
              </a:spcBef>
            </a:pPr>
            <a:r>
              <a:rPr dirty="0" sz="2000" spc="-15">
                <a:solidFill>
                  <a:srgbClr val="FFFFFF"/>
                </a:solidFill>
                <a:latin typeface="微软雅黑"/>
                <a:cs typeface="微软雅黑"/>
              </a:rPr>
              <a:t>Alibaba</a:t>
            </a:r>
            <a:r>
              <a:rPr dirty="0" sz="2000" spc="-5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微软雅黑"/>
                <a:cs typeface="微软雅黑"/>
              </a:rPr>
              <a:t>Group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489706" y="448973"/>
            <a:ext cx="2425456" cy="3731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14645" y="4093971"/>
            <a:ext cx="381381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Part </a:t>
            </a:r>
            <a:r>
              <a:rPr dirty="0" sz="2800" spc="1050">
                <a:latin typeface="微软雅黑"/>
                <a:cs typeface="微软雅黑"/>
              </a:rPr>
              <a:t>1: </a:t>
            </a:r>
            <a:r>
              <a:rPr dirty="0" sz="2800" spc="185">
                <a:latin typeface="微软雅黑"/>
                <a:cs typeface="微软雅黑"/>
              </a:rPr>
              <a:t>bout</a:t>
            </a:r>
            <a:r>
              <a:rPr dirty="0" sz="2800" spc="665">
                <a:latin typeface="微软雅黑"/>
                <a:cs typeface="微软雅黑"/>
              </a:rPr>
              <a:t> </a:t>
            </a:r>
            <a:r>
              <a:rPr dirty="0" sz="2800" spc="75">
                <a:latin typeface="微软雅黑"/>
                <a:cs typeface="微软雅黑"/>
              </a:rPr>
              <a:t>libaba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0351" y="999744"/>
            <a:ext cx="11180064" cy="5145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18827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8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415" b="1">
                <a:solidFill>
                  <a:srgbClr val="000000"/>
                </a:solidFill>
                <a:latin typeface="微软雅黑"/>
                <a:cs typeface="微软雅黑"/>
              </a:rPr>
              <a:t>ur</a:t>
            </a:r>
            <a:r>
              <a:rPr dirty="0" sz="2400" spc="-8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Mission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17894" y="1157992"/>
            <a:ext cx="3686175" cy="2497455"/>
          </a:xfrm>
          <a:custGeom>
            <a:avLst/>
            <a:gdLst/>
            <a:ahLst/>
            <a:cxnLst/>
            <a:rect l="l" t="t" r="r" b="b"/>
            <a:pathLst>
              <a:path w="3686175" h="2497454">
                <a:moveTo>
                  <a:pt x="0" y="2496854"/>
                </a:moveTo>
                <a:lnTo>
                  <a:pt x="3685593" y="2496854"/>
                </a:lnTo>
                <a:lnTo>
                  <a:pt x="3685593" y="0"/>
                </a:lnTo>
                <a:lnTo>
                  <a:pt x="0" y="0"/>
                </a:lnTo>
                <a:lnTo>
                  <a:pt x="0" y="2496854"/>
                </a:lnTo>
                <a:close/>
              </a:path>
            </a:pathLst>
          </a:custGeom>
          <a:solidFill>
            <a:srgbClr val="C3D3E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070520" y="1157992"/>
            <a:ext cx="3686175" cy="2497455"/>
          </a:xfrm>
          <a:custGeom>
            <a:avLst/>
            <a:gdLst/>
            <a:ahLst/>
            <a:cxnLst/>
            <a:rect l="l" t="t" r="r" b="b"/>
            <a:pathLst>
              <a:path w="3686175" h="2497454">
                <a:moveTo>
                  <a:pt x="0" y="2496854"/>
                </a:moveTo>
                <a:lnTo>
                  <a:pt x="3685594" y="2496854"/>
                </a:lnTo>
                <a:lnTo>
                  <a:pt x="3685594" y="0"/>
                </a:lnTo>
                <a:lnTo>
                  <a:pt x="0" y="0"/>
                </a:lnTo>
                <a:lnTo>
                  <a:pt x="0" y="2496854"/>
                </a:lnTo>
                <a:close/>
              </a:path>
            </a:pathLst>
          </a:custGeom>
          <a:solidFill>
            <a:srgbClr val="A1A29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07167" y="1145841"/>
            <a:ext cx="3714761" cy="45320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70520" y="2667646"/>
            <a:ext cx="3685594" cy="30101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15305" y="1719072"/>
            <a:ext cx="3129280" cy="80581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12700" marR="5080">
              <a:lnSpc>
                <a:spcPct val="103499"/>
              </a:lnSpc>
              <a:spcBef>
                <a:spcPts val="25"/>
              </a:spcBef>
            </a:pPr>
            <a:r>
              <a:rPr dirty="0" sz="1700" spc="-5">
                <a:solidFill>
                  <a:srgbClr val="5B9BD5"/>
                </a:solidFill>
                <a:latin typeface="Georgia"/>
                <a:cs typeface="Georgia"/>
              </a:rPr>
              <a:t>Enabling millions of commercial  and</a:t>
            </a:r>
            <a:endParaRPr sz="1700">
              <a:latin typeface="Georgia"/>
              <a:cs typeface="Georgia"/>
            </a:endParaRPr>
          </a:p>
          <a:p>
            <a:pPr marL="12700">
              <a:lnSpc>
                <a:spcPts val="1989"/>
              </a:lnSpc>
            </a:pPr>
            <a:r>
              <a:rPr dirty="0" sz="1700" spc="-5">
                <a:solidFill>
                  <a:srgbClr val="5B9BD5"/>
                </a:solidFill>
                <a:latin typeface="Georgia"/>
                <a:cs typeface="Georgia"/>
              </a:rPr>
              <a:t>social</a:t>
            </a:r>
            <a:r>
              <a:rPr dirty="0" sz="1700" spc="-30">
                <a:solidFill>
                  <a:srgbClr val="5B9BD5"/>
                </a:solidFill>
                <a:latin typeface="Georgia"/>
                <a:cs typeface="Georgia"/>
              </a:rPr>
              <a:t> </a:t>
            </a:r>
            <a:r>
              <a:rPr dirty="0" sz="1700" spc="-5">
                <a:solidFill>
                  <a:srgbClr val="5B9BD5"/>
                </a:solidFill>
                <a:latin typeface="Georgia"/>
                <a:cs typeface="Georgia"/>
              </a:rPr>
              <a:t>interactions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0520" y="1169924"/>
            <a:ext cx="3686175" cy="1363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33045">
              <a:lnSpc>
                <a:spcPct val="100000"/>
              </a:lnSpc>
              <a:spcBef>
                <a:spcPts val="100"/>
              </a:spcBef>
            </a:pPr>
            <a:r>
              <a:rPr dirty="0" sz="3600" spc="-20">
                <a:solidFill>
                  <a:srgbClr val="FFFFFF"/>
                </a:solidFill>
                <a:latin typeface="Franklin Gothic Medium"/>
                <a:cs typeface="Franklin Gothic Medium"/>
              </a:rPr>
              <a:t>WORK</a:t>
            </a:r>
            <a:endParaRPr sz="3600">
              <a:latin typeface="Franklin Gothic Medium"/>
              <a:cs typeface="Franklin Gothic Medium"/>
            </a:endParaRPr>
          </a:p>
          <a:p>
            <a:pPr marL="71755" marR="346710">
              <a:lnSpc>
                <a:spcPct val="100600"/>
              </a:lnSpc>
              <a:spcBef>
                <a:spcPts val="60"/>
              </a:spcBef>
            </a:pPr>
            <a:r>
              <a:rPr dirty="0" sz="1700" spc="-5">
                <a:solidFill>
                  <a:srgbClr val="FFFFFF"/>
                </a:solidFill>
                <a:latin typeface="Georgia"/>
                <a:cs typeface="Georgia"/>
              </a:rPr>
              <a:t>Empowering our customers with  data and infrastructure </a:t>
            </a:r>
            <a:r>
              <a:rPr dirty="0" sz="1700">
                <a:solidFill>
                  <a:srgbClr val="FFFFFF"/>
                </a:solidFill>
                <a:latin typeface="Georgia"/>
                <a:cs typeface="Georgia"/>
              </a:rPr>
              <a:t>to </a:t>
            </a:r>
            <a:r>
              <a:rPr dirty="0" sz="1700" spc="-5">
                <a:solidFill>
                  <a:srgbClr val="FFFFFF"/>
                </a:solidFill>
                <a:latin typeface="Georgia"/>
                <a:cs typeface="Georgia"/>
              </a:rPr>
              <a:t>manage  their</a:t>
            </a:r>
            <a:r>
              <a:rPr dirty="0" sz="1700" spc="-5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dirty="0" sz="1700" spc="-5">
                <a:solidFill>
                  <a:srgbClr val="FFFFFF"/>
                </a:solidFill>
                <a:latin typeface="Georgia"/>
                <a:cs typeface="Georgia"/>
              </a:rPr>
              <a:t>business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817894" y="1169924"/>
            <a:ext cx="3686175" cy="1104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solidFill>
                  <a:srgbClr val="A7A7A7"/>
                </a:solidFill>
                <a:latin typeface="Franklin Gothic Medium"/>
                <a:cs typeface="Franklin Gothic Medium"/>
              </a:rPr>
              <a:t>LIVE</a:t>
            </a:r>
            <a:endParaRPr sz="3600">
              <a:latin typeface="Franklin Gothic Medium"/>
              <a:cs typeface="Franklin Gothic Medium"/>
            </a:endParaRPr>
          </a:p>
          <a:p>
            <a:pPr marL="197485" marR="488315">
              <a:lnSpc>
                <a:spcPts val="2110"/>
              </a:lnSpc>
              <a:spcBef>
                <a:spcPts val="40"/>
              </a:spcBef>
            </a:pPr>
            <a:r>
              <a:rPr dirty="0" sz="1700" spc="-5">
                <a:solidFill>
                  <a:srgbClr val="A7A7A7"/>
                </a:solidFill>
                <a:latin typeface="Georgia"/>
                <a:cs typeface="Georgia"/>
              </a:rPr>
              <a:t>To become central </a:t>
            </a:r>
            <a:r>
              <a:rPr dirty="0" sz="1700">
                <a:solidFill>
                  <a:srgbClr val="A7A7A7"/>
                </a:solidFill>
                <a:latin typeface="Georgia"/>
                <a:cs typeface="Georgia"/>
              </a:rPr>
              <a:t>to </a:t>
            </a:r>
            <a:r>
              <a:rPr dirty="0" sz="1700" spc="-5">
                <a:solidFill>
                  <a:srgbClr val="A7A7A7"/>
                </a:solidFill>
                <a:latin typeface="Georgia"/>
                <a:cs typeface="Georgia"/>
              </a:rPr>
              <a:t>the  everyday </a:t>
            </a:r>
            <a:r>
              <a:rPr dirty="0" sz="1700">
                <a:solidFill>
                  <a:srgbClr val="A7A7A7"/>
                </a:solidFill>
                <a:latin typeface="Georgia"/>
                <a:cs typeface="Georgia"/>
              </a:rPr>
              <a:t>lives </a:t>
            </a:r>
            <a:r>
              <a:rPr dirty="0" sz="1700" spc="-5">
                <a:solidFill>
                  <a:srgbClr val="A7A7A7"/>
                </a:solidFill>
                <a:latin typeface="Georgia"/>
                <a:cs typeface="Georgia"/>
              </a:rPr>
              <a:t>of our customers</a:t>
            </a:r>
            <a:endParaRPr sz="17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7167" y="5740331"/>
            <a:ext cx="11184255" cy="492125"/>
          </a:xfrm>
          <a:prstGeom prst="rect">
            <a:avLst/>
          </a:prstGeom>
          <a:solidFill>
            <a:srgbClr val="EDEDED"/>
          </a:solidFill>
        </p:spPr>
        <p:txBody>
          <a:bodyPr wrap="square" lIns="0" tIns="33655" rIns="0" bIns="0" rtlCol="0" vert="horz">
            <a:spAutoFit/>
          </a:bodyPr>
          <a:lstStyle/>
          <a:p>
            <a:pPr algn="ctr" marR="280670">
              <a:lnSpc>
                <a:spcPct val="100000"/>
              </a:lnSpc>
              <a:spcBef>
                <a:spcPts val="265"/>
              </a:spcBef>
            </a:pPr>
            <a:r>
              <a:rPr dirty="0" sz="2550" spc="30">
                <a:solidFill>
                  <a:srgbClr val="A7A7A7"/>
                </a:solidFill>
                <a:latin typeface="Franklin Gothic Medium"/>
                <a:cs typeface="Franklin Gothic Medium"/>
              </a:rPr>
              <a:t>@</a:t>
            </a:r>
            <a:r>
              <a:rPr dirty="0" sz="2550" spc="-70">
                <a:solidFill>
                  <a:srgbClr val="A7A7A7"/>
                </a:solidFill>
                <a:latin typeface="Franklin Gothic Medium"/>
                <a:cs typeface="Franklin Gothic Medium"/>
              </a:rPr>
              <a:t> </a:t>
            </a:r>
            <a:r>
              <a:rPr dirty="0" sz="2550" spc="15">
                <a:solidFill>
                  <a:srgbClr val="A7A7A7"/>
                </a:solidFill>
                <a:latin typeface="Franklin Gothic Medium"/>
                <a:cs typeface="Franklin Gothic Medium"/>
              </a:rPr>
              <a:t>Alibaba</a:t>
            </a:r>
            <a:endParaRPr sz="2550">
              <a:latin typeface="Franklin Gothic Medium"/>
              <a:cs typeface="Franklin Gothic Medium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7894" y="2667646"/>
            <a:ext cx="3673092" cy="30101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4628" y="331724"/>
            <a:ext cx="163766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微软雅黑"/>
                <a:cs typeface="微软雅黑"/>
              </a:rPr>
              <a:t>Our </a:t>
            </a:r>
            <a:r>
              <a:rPr dirty="0" sz="2400" spc="405" b="1">
                <a:latin typeface="微软雅黑"/>
                <a:cs typeface="微软雅黑"/>
              </a:rPr>
              <a:t> </a:t>
            </a:r>
            <a:r>
              <a:rPr dirty="0" sz="2400" spc="90" b="1">
                <a:latin typeface="微软雅黑"/>
                <a:cs typeface="微软雅黑"/>
              </a:rPr>
              <a:t>ision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3944" y="6046723"/>
            <a:ext cx="16173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微软雅黑"/>
                <a:cs typeface="微软雅黑"/>
              </a:rPr>
              <a:t>OPER   </a:t>
            </a:r>
            <a:r>
              <a:rPr dirty="0" sz="1200" spc="-90" b="1">
                <a:latin typeface="微软雅黑"/>
                <a:cs typeface="微软雅黑"/>
              </a:rPr>
              <a:t>T$NG</a:t>
            </a:r>
            <a:r>
              <a:rPr dirty="0" sz="1200" spc="-229" b="1">
                <a:latin typeface="微软雅黑"/>
                <a:cs typeface="微软雅黑"/>
              </a:rPr>
              <a:t> </a:t>
            </a:r>
            <a:r>
              <a:rPr dirty="0" sz="1200" spc="-5" b="1">
                <a:latin typeface="微软雅黑"/>
                <a:cs typeface="微软雅黑"/>
              </a:rPr>
              <a:t>SYSTEM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09056" y="6046723"/>
            <a:ext cx="162052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CLOUD</a:t>
            </a:r>
            <a:r>
              <a:rPr dirty="0" sz="1200" spc="-30" b="1">
                <a:latin typeface="微软雅黑"/>
                <a:cs typeface="微软雅黑"/>
              </a:rPr>
              <a:t> </a:t>
            </a:r>
            <a:r>
              <a:rPr dirty="0" sz="1200" spc="-45" b="1">
                <a:latin typeface="微软雅黑"/>
                <a:cs typeface="微软雅黑"/>
              </a:rPr>
              <a:t>COMPUT$NG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502663" y="5654040"/>
            <a:ext cx="9491472" cy="3108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20874" y="5559044"/>
            <a:ext cx="47053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D </a:t>
            </a:r>
            <a:r>
              <a:rPr dirty="0" sz="1200" spc="80" b="1">
                <a:latin typeface="微软雅黑"/>
                <a:cs typeface="微软雅黑"/>
              </a:rPr>
              <a:t> </a:t>
            </a:r>
            <a:r>
              <a:rPr dirty="0" sz="1200" spc="355" b="1">
                <a:latin typeface="微软雅黑"/>
                <a:cs typeface="微软雅黑"/>
              </a:rPr>
              <a:t>T 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5656" y="5554840"/>
            <a:ext cx="2277110" cy="277495"/>
          </a:xfrm>
          <a:prstGeom prst="rect">
            <a:avLst/>
          </a:prstGeom>
          <a:solidFill>
            <a:srgbClr val="FCFCFC"/>
          </a:solidFill>
        </p:spPr>
        <p:txBody>
          <a:bodyPr wrap="square" lIns="0" tIns="44450" rIns="0" bIns="0" rtlCol="0" vert="horz">
            <a:spAutoFit/>
          </a:bodyPr>
          <a:lstStyle/>
          <a:p>
            <a:pPr marL="593725">
              <a:lnSpc>
                <a:spcPct val="100000"/>
              </a:lnSpc>
              <a:spcBef>
                <a:spcPts val="350"/>
              </a:spcBef>
            </a:pPr>
            <a:r>
              <a:rPr dirty="0" sz="1200" spc="-5" b="1">
                <a:latin typeface="微软雅黑"/>
                <a:cs typeface="微软雅黑"/>
              </a:rPr>
              <a:t>TECHNOLOGY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75284" y="5554840"/>
            <a:ext cx="1176020" cy="277495"/>
          </a:xfrm>
          <a:custGeom>
            <a:avLst/>
            <a:gdLst/>
            <a:ahLst/>
            <a:cxnLst/>
            <a:rect l="l" t="t" r="r" b="b"/>
            <a:pathLst>
              <a:path w="1176020" h="277495">
                <a:moveTo>
                  <a:pt x="0" y="276998"/>
                </a:moveTo>
                <a:lnTo>
                  <a:pt x="1175593" y="276998"/>
                </a:lnTo>
                <a:lnTo>
                  <a:pt x="1175593" y="0"/>
                </a:lnTo>
                <a:lnTo>
                  <a:pt x="0" y="0"/>
                </a:lnTo>
                <a:lnTo>
                  <a:pt x="0" y="27699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723368" y="5586476"/>
            <a:ext cx="479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微软雅黑"/>
                <a:cs typeface="微软雅黑"/>
              </a:rPr>
              <a:t>TE </a:t>
            </a:r>
            <a:r>
              <a:rPr dirty="0" sz="1200" spc="85" b="1">
                <a:latin typeface="微软雅黑"/>
                <a:cs typeface="微软雅黑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M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044280" y="5821611"/>
            <a:ext cx="1552840" cy="1974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38042" y="5857414"/>
            <a:ext cx="1382435" cy="1478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456944" y="1441703"/>
            <a:ext cx="9293352" cy="34381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73705" y="2379927"/>
            <a:ext cx="6863080" cy="2449195"/>
          </a:xfrm>
          <a:custGeom>
            <a:avLst/>
            <a:gdLst/>
            <a:ahLst/>
            <a:cxnLst/>
            <a:rect l="l" t="t" r="r" b="b"/>
            <a:pathLst>
              <a:path w="6863080" h="2449195">
                <a:moveTo>
                  <a:pt x="3370503" y="0"/>
                </a:moveTo>
                <a:lnTo>
                  <a:pt x="3321676" y="310"/>
                </a:lnTo>
                <a:lnTo>
                  <a:pt x="3269400" y="1678"/>
                </a:lnTo>
                <a:lnTo>
                  <a:pt x="3213844" y="4156"/>
                </a:lnTo>
                <a:lnTo>
                  <a:pt x="3155178" y="7801"/>
                </a:lnTo>
                <a:lnTo>
                  <a:pt x="3093568" y="12666"/>
                </a:lnTo>
                <a:lnTo>
                  <a:pt x="3029184" y="18806"/>
                </a:lnTo>
                <a:lnTo>
                  <a:pt x="2962194" y="26275"/>
                </a:lnTo>
                <a:lnTo>
                  <a:pt x="2892767" y="35128"/>
                </a:lnTo>
                <a:lnTo>
                  <a:pt x="2821071" y="45420"/>
                </a:lnTo>
                <a:lnTo>
                  <a:pt x="2747276" y="57205"/>
                </a:lnTo>
                <a:lnTo>
                  <a:pt x="2671548" y="70538"/>
                </a:lnTo>
                <a:lnTo>
                  <a:pt x="2594057" y="85473"/>
                </a:lnTo>
                <a:lnTo>
                  <a:pt x="2514972" y="102064"/>
                </a:lnTo>
                <a:lnTo>
                  <a:pt x="2434461" y="120367"/>
                </a:lnTo>
                <a:lnTo>
                  <a:pt x="2352692" y="140436"/>
                </a:lnTo>
                <a:lnTo>
                  <a:pt x="2269834" y="162325"/>
                </a:lnTo>
                <a:lnTo>
                  <a:pt x="2186056" y="186089"/>
                </a:lnTo>
                <a:lnTo>
                  <a:pt x="2143874" y="198691"/>
                </a:lnTo>
                <a:lnTo>
                  <a:pt x="2101525" y="211782"/>
                </a:lnTo>
                <a:lnTo>
                  <a:pt x="2059031" y="225370"/>
                </a:lnTo>
                <a:lnTo>
                  <a:pt x="2016412" y="239460"/>
                </a:lnTo>
                <a:lnTo>
                  <a:pt x="1973689" y="254060"/>
                </a:lnTo>
                <a:lnTo>
                  <a:pt x="1930883" y="269176"/>
                </a:lnTo>
                <a:lnTo>
                  <a:pt x="1888016" y="284815"/>
                </a:lnTo>
                <a:lnTo>
                  <a:pt x="1845108" y="300985"/>
                </a:lnTo>
                <a:lnTo>
                  <a:pt x="1802181" y="317691"/>
                </a:lnTo>
                <a:lnTo>
                  <a:pt x="1759255" y="334942"/>
                </a:lnTo>
                <a:lnTo>
                  <a:pt x="1716352" y="352742"/>
                </a:lnTo>
                <a:lnTo>
                  <a:pt x="1673493" y="371101"/>
                </a:lnTo>
                <a:lnTo>
                  <a:pt x="1630699" y="390023"/>
                </a:lnTo>
                <a:lnTo>
                  <a:pt x="1587990" y="409516"/>
                </a:lnTo>
                <a:lnTo>
                  <a:pt x="1545389" y="429588"/>
                </a:lnTo>
                <a:lnTo>
                  <a:pt x="1502915" y="450243"/>
                </a:lnTo>
                <a:lnTo>
                  <a:pt x="1460591" y="471491"/>
                </a:lnTo>
                <a:lnTo>
                  <a:pt x="1418437" y="493336"/>
                </a:lnTo>
                <a:lnTo>
                  <a:pt x="1376473" y="515787"/>
                </a:lnTo>
                <a:lnTo>
                  <a:pt x="1334723" y="538849"/>
                </a:lnTo>
                <a:lnTo>
                  <a:pt x="1293205" y="562531"/>
                </a:lnTo>
                <a:lnTo>
                  <a:pt x="1251942" y="586838"/>
                </a:lnTo>
                <a:lnTo>
                  <a:pt x="1210885" y="611820"/>
                </a:lnTo>
                <a:lnTo>
                  <a:pt x="1170263" y="637355"/>
                </a:lnTo>
                <a:lnTo>
                  <a:pt x="1129890" y="663580"/>
                </a:lnTo>
                <a:lnTo>
                  <a:pt x="1089855" y="690457"/>
                </a:lnTo>
                <a:lnTo>
                  <a:pt x="1050180" y="717994"/>
                </a:lnTo>
                <a:lnTo>
                  <a:pt x="1010886" y="746197"/>
                </a:lnTo>
                <a:lnTo>
                  <a:pt x="971993" y="775074"/>
                </a:lnTo>
                <a:lnTo>
                  <a:pt x="933524" y="804630"/>
                </a:lnTo>
                <a:lnTo>
                  <a:pt x="895498" y="834874"/>
                </a:lnTo>
                <a:lnTo>
                  <a:pt x="857938" y="865811"/>
                </a:lnTo>
                <a:lnTo>
                  <a:pt x="820863" y="897449"/>
                </a:lnTo>
                <a:lnTo>
                  <a:pt x="784296" y="929795"/>
                </a:lnTo>
                <a:lnTo>
                  <a:pt x="748258" y="962854"/>
                </a:lnTo>
                <a:lnTo>
                  <a:pt x="712768" y="996635"/>
                </a:lnTo>
                <a:lnTo>
                  <a:pt x="677849" y="1031143"/>
                </a:lnTo>
                <a:lnTo>
                  <a:pt x="643521" y="1066386"/>
                </a:lnTo>
                <a:lnTo>
                  <a:pt x="609806" y="1102370"/>
                </a:lnTo>
                <a:lnTo>
                  <a:pt x="576725" y="1139103"/>
                </a:lnTo>
                <a:lnTo>
                  <a:pt x="544298" y="1176591"/>
                </a:lnTo>
                <a:lnTo>
                  <a:pt x="512547" y="1214840"/>
                </a:lnTo>
                <a:lnTo>
                  <a:pt x="481492" y="1253859"/>
                </a:lnTo>
                <a:lnTo>
                  <a:pt x="451156" y="1293653"/>
                </a:lnTo>
                <a:lnTo>
                  <a:pt x="421558" y="1334229"/>
                </a:lnTo>
                <a:lnTo>
                  <a:pt x="392721" y="1375595"/>
                </a:lnTo>
                <a:lnTo>
                  <a:pt x="364664" y="1417756"/>
                </a:lnTo>
                <a:lnTo>
                  <a:pt x="337410" y="1460721"/>
                </a:lnTo>
                <a:lnTo>
                  <a:pt x="310979" y="1504495"/>
                </a:lnTo>
                <a:lnTo>
                  <a:pt x="285392" y="1549085"/>
                </a:lnTo>
                <a:lnTo>
                  <a:pt x="260670" y="1594499"/>
                </a:lnTo>
                <a:lnTo>
                  <a:pt x="236835" y="1640743"/>
                </a:lnTo>
                <a:lnTo>
                  <a:pt x="213908" y="1687824"/>
                </a:lnTo>
                <a:lnTo>
                  <a:pt x="191908" y="1735748"/>
                </a:lnTo>
                <a:lnTo>
                  <a:pt x="170859" y="1784523"/>
                </a:lnTo>
                <a:lnTo>
                  <a:pt x="150780" y="1834155"/>
                </a:lnTo>
                <a:lnTo>
                  <a:pt x="131693" y="1884652"/>
                </a:lnTo>
                <a:lnTo>
                  <a:pt x="113618" y="1936020"/>
                </a:lnTo>
                <a:lnTo>
                  <a:pt x="96578" y="1988265"/>
                </a:lnTo>
                <a:lnTo>
                  <a:pt x="80592" y="2041395"/>
                </a:lnTo>
                <a:lnTo>
                  <a:pt x="65682" y="2095417"/>
                </a:lnTo>
                <a:lnTo>
                  <a:pt x="51870" y="2150337"/>
                </a:lnTo>
                <a:lnTo>
                  <a:pt x="39175" y="2206162"/>
                </a:lnTo>
                <a:lnTo>
                  <a:pt x="27620" y="2262898"/>
                </a:lnTo>
                <a:lnTo>
                  <a:pt x="17225" y="2320554"/>
                </a:lnTo>
                <a:lnTo>
                  <a:pt x="8011" y="2379135"/>
                </a:lnTo>
                <a:lnTo>
                  <a:pt x="0" y="2438649"/>
                </a:lnTo>
                <a:lnTo>
                  <a:pt x="6863011" y="2449082"/>
                </a:lnTo>
                <a:lnTo>
                  <a:pt x="6856597" y="2410588"/>
                </a:lnTo>
                <a:lnTo>
                  <a:pt x="6849560" y="2372133"/>
                </a:lnTo>
                <a:lnTo>
                  <a:pt x="6841900" y="2333725"/>
                </a:lnTo>
                <a:lnTo>
                  <a:pt x="6833618" y="2295370"/>
                </a:lnTo>
                <a:lnTo>
                  <a:pt x="6824717" y="2257076"/>
                </a:lnTo>
                <a:lnTo>
                  <a:pt x="6815196" y="2218851"/>
                </a:lnTo>
                <a:lnTo>
                  <a:pt x="6805056" y="2180702"/>
                </a:lnTo>
                <a:lnTo>
                  <a:pt x="6794300" y="2142636"/>
                </a:lnTo>
                <a:lnTo>
                  <a:pt x="6782928" y="2104662"/>
                </a:lnTo>
                <a:lnTo>
                  <a:pt x="6770941" y="2066787"/>
                </a:lnTo>
                <a:lnTo>
                  <a:pt x="6758340" y="2029017"/>
                </a:lnTo>
                <a:lnTo>
                  <a:pt x="6745126" y="1991362"/>
                </a:lnTo>
                <a:lnTo>
                  <a:pt x="6731301" y="1953827"/>
                </a:lnTo>
                <a:lnTo>
                  <a:pt x="6716865" y="1916422"/>
                </a:lnTo>
                <a:lnTo>
                  <a:pt x="6701820" y="1879152"/>
                </a:lnTo>
                <a:lnTo>
                  <a:pt x="6686166" y="1842026"/>
                </a:lnTo>
                <a:lnTo>
                  <a:pt x="6669905" y="1805051"/>
                </a:lnTo>
                <a:lnTo>
                  <a:pt x="6653039" y="1768235"/>
                </a:lnTo>
                <a:lnTo>
                  <a:pt x="6635567" y="1731585"/>
                </a:lnTo>
                <a:lnTo>
                  <a:pt x="6617491" y="1695109"/>
                </a:lnTo>
                <a:lnTo>
                  <a:pt x="6598812" y="1658814"/>
                </a:lnTo>
                <a:lnTo>
                  <a:pt x="6579532" y="1622708"/>
                </a:lnTo>
                <a:lnTo>
                  <a:pt x="6559651" y="1586798"/>
                </a:lnTo>
                <a:lnTo>
                  <a:pt x="6539170" y="1551091"/>
                </a:lnTo>
                <a:lnTo>
                  <a:pt x="6518091" y="1515596"/>
                </a:lnTo>
                <a:lnTo>
                  <a:pt x="6496415" y="1480319"/>
                </a:lnTo>
                <a:lnTo>
                  <a:pt x="6474142" y="1445269"/>
                </a:lnTo>
                <a:lnTo>
                  <a:pt x="6451274" y="1410452"/>
                </a:lnTo>
                <a:lnTo>
                  <a:pt x="6427813" y="1375877"/>
                </a:lnTo>
                <a:lnTo>
                  <a:pt x="6403758" y="1341550"/>
                </a:lnTo>
                <a:lnTo>
                  <a:pt x="6379111" y="1307480"/>
                </a:lnTo>
                <a:lnTo>
                  <a:pt x="6353873" y="1273673"/>
                </a:lnTo>
                <a:lnTo>
                  <a:pt x="6328046" y="1240137"/>
                </a:lnTo>
                <a:lnTo>
                  <a:pt x="6301630" y="1206880"/>
                </a:lnTo>
                <a:lnTo>
                  <a:pt x="6274627" y="1173909"/>
                </a:lnTo>
                <a:lnTo>
                  <a:pt x="6247038" y="1141232"/>
                </a:lnTo>
                <a:lnTo>
                  <a:pt x="6218863" y="1108856"/>
                </a:lnTo>
                <a:lnTo>
                  <a:pt x="6190103" y="1076789"/>
                </a:lnTo>
                <a:lnTo>
                  <a:pt x="6160761" y="1045038"/>
                </a:lnTo>
                <a:lnTo>
                  <a:pt x="6130837" y="1013611"/>
                </a:lnTo>
                <a:lnTo>
                  <a:pt x="6100332" y="982515"/>
                </a:lnTo>
                <a:lnTo>
                  <a:pt x="6069247" y="951758"/>
                </a:lnTo>
                <a:lnTo>
                  <a:pt x="6037583" y="921347"/>
                </a:lnTo>
                <a:lnTo>
                  <a:pt x="6005341" y="891289"/>
                </a:lnTo>
                <a:lnTo>
                  <a:pt x="5972524" y="861593"/>
                </a:lnTo>
                <a:lnTo>
                  <a:pt x="5939130" y="832266"/>
                </a:lnTo>
                <a:lnTo>
                  <a:pt x="5905163" y="803314"/>
                </a:lnTo>
                <a:lnTo>
                  <a:pt x="5870622" y="774747"/>
                </a:lnTo>
                <a:lnTo>
                  <a:pt x="5835509" y="746571"/>
                </a:lnTo>
                <a:lnTo>
                  <a:pt x="5799824" y="718793"/>
                </a:lnTo>
                <a:lnTo>
                  <a:pt x="5763570" y="691422"/>
                </a:lnTo>
                <a:lnTo>
                  <a:pt x="5726747" y="664464"/>
                </a:lnTo>
                <a:lnTo>
                  <a:pt x="5689357" y="637928"/>
                </a:lnTo>
                <a:lnTo>
                  <a:pt x="5651334" y="611777"/>
                </a:lnTo>
                <a:lnTo>
                  <a:pt x="5612876" y="586149"/>
                </a:lnTo>
                <a:lnTo>
                  <a:pt x="5573789" y="560921"/>
                </a:lnTo>
                <a:lnTo>
                  <a:pt x="5534138" y="536145"/>
                </a:lnTo>
                <a:lnTo>
                  <a:pt x="5493925" y="511827"/>
                </a:lnTo>
                <a:lnTo>
                  <a:pt x="5453151" y="487975"/>
                </a:lnTo>
                <a:lnTo>
                  <a:pt x="5411816" y="464598"/>
                </a:lnTo>
                <a:lnTo>
                  <a:pt x="5369923" y="441701"/>
                </a:lnTo>
                <a:lnTo>
                  <a:pt x="5327472" y="419293"/>
                </a:lnTo>
                <a:lnTo>
                  <a:pt x="5284464" y="397382"/>
                </a:lnTo>
                <a:lnTo>
                  <a:pt x="5240900" y="375974"/>
                </a:lnTo>
                <a:lnTo>
                  <a:pt x="5196781" y="355078"/>
                </a:lnTo>
                <a:lnTo>
                  <a:pt x="5152109" y="334700"/>
                </a:lnTo>
                <a:lnTo>
                  <a:pt x="5106885" y="314848"/>
                </a:lnTo>
                <a:lnTo>
                  <a:pt x="5061109" y="295530"/>
                </a:lnTo>
                <a:lnTo>
                  <a:pt x="5014784" y="276754"/>
                </a:lnTo>
                <a:lnTo>
                  <a:pt x="4967909" y="258526"/>
                </a:lnTo>
                <a:lnTo>
                  <a:pt x="4920485" y="240855"/>
                </a:lnTo>
                <a:lnTo>
                  <a:pt x="4872515" y="223747"/>
                </a:lnTo>
                <a:lnTo>
                  <a:pt x="4824000" y="207210"/>
                </a:lnTo>
                <a:lnTo>
                  <a:pt x="4774939" y="191252"/>
                </a:lnTo>
                <a:lnTo>
                  <a:pt x="4725335" y="175881"/>
                </a:lnTo>
                <a:lnTo>
                  <a:pt x="4675188" y="161103"/>
                </a:lnTo>
                <a:lnTo>
                  <a:pt x="4624500" y="146927"/>
                </a:lnTo>
                <a:lnTo>
                  <a:pt x="4573271" y="133359"/>
                </a:lnTo>
                <a:lnTo>
                  <a:pt x="4521503" y="120407"/>
                </a:lnTo>
                <a:lnTo>
                  <a:pt x="4469197" y="108080"/>
                </a:lnTo>
                <a:lnTo>
                  <a:pt x="4416354" y="96383"/>
                </a:lnTo>
                <a:lnTo>
                  <a:pt x="4362975" y="85325"/>
                </a:lnTo>
                <a:lnTo>
                  <a:pt x="4309061" y="74914"/>
                </a:lnTo>
                <a:lnTo>
                  <a:pt x="4254613" y="65156"/>
                </a:lnTo>
                <a:lnTo>
                  <a:pt x="4199632" y="56060"/>
                </a:lnTo>
                <a:lnTo>
                  <a:pt x="4144120" y="47632"/>
                </a:lnTo>
                <a:lnTo>
                  <a:pt x="4088078" y="39881"/>
                </a:lnTo>
                <a:lnTo>
                  <a:pt x="4031506" y="32813"/>
                </a:lnTo>
                <a:lnTo>
                  <a:pt x="3974405" y="26437"/>
                </a:lnTo>
                <a:lnTo>
                  <a:pt x="3916778" y="20760"/>
                </a:lnTo>
                <a:lnTo>
                  <a:pt x="3858624" y="15788"/>
                </a:lnTo>
                <a:lnTo>
                  <a:pt x="3799945" y="11531"/>
                </a:lnTo>
                <a:lnTo>
                  <a:pt x="3740743" y="7995"/>
                </a:lnTo>
                <a:lnTo>
                  <a:pt x="3681017" y="5187"/>
                </a:lnTo>
                <a:lnTo>
                  <a:pt x="3620770" y="3116"/>
                </a:lnTo>
                <a:lnTo>
                  <a:pt x="3560002" y="1789"/>
                </a:lnTo>
                <a:lnTo>
                  <a:pt x="3436909" y="1395"/>
                </a:lnTo>
                <a:lnTo>
                  <a:pt x="3415713" y="691"/>
                </a:lnTo>
                <a:lnTo>
                  <a:pt x="3393571" y="223"/>
                </a:lnTo>
                <a:lnTo>
                  <a:pt x="3370503" y="0"/>
                </a:lnTo>
                <a:close/>
              </a:path>
              <a:path w="6863080" h="2449195">
                <a:moveTo>
                  <a:pt x="3498715" y="1213"/>
                </a:moveTo>
                <a:lnTo>
                  <a:pt x="3436909" y="1395"/>
                </a:lnTo>
                <a:lnTo>
                  <a:pt x="3518155" y="1395"/>
                </a:lnTo>
                <a:lnTo>
                  <a:pt x="3498715" y="121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673705" y="2379926"/>
            <a:ext cx="6863080" cy="2449195"/>
          </a:xfrm>
          <a:custGeom>
            <a:avLst/>
            <a:gdLst/>
            <a:ahLst/>
            <a:cxnLst/>
            <a:rect l="l" t="t" r="r" b="b"/>
            <a:pathLst>
              <a:path w="6863080" h="2449195">
                <a:moveTo>
                  <a:pt x="0" y="2438649"/>
                </a:moveTo>
                <a:lnTo>
                  <a:pt x="8011" y="2379136"/>
                </a:lnTo>
                <a:lnTo>
                  <a:pt x="17225" y="2320555"/>
                </a:lnTo>
                <a:lnTo>
                  <a:pt x="27620" y="2262899"/>
                </a:lnTo>
                <a:lnTo>
                  <a:pt x="39175" y="2206162"/>
                </a:lnTo>
                <a:lnTo>
                  <a:pt x="51869" y="2150337"/>
                </a:lnTo>
                <a:lnTo>
                  <a:pt x="65682" y="2095417"/>
                </a:lnTo>
                <a:lnTo>
                  <a:pt x="80592" y="2041396"/>
                </a:lnTo>
                <a:lnTo>
                  <a:pt x="96577" y="1988266"/>
                </a:lnTo>
                <a:lnTo>
                  <a:pt x="113618" y="1936020"/>
                </a:lnTo>
                <a:lnTo>
                  <a:pt x="131692" y="1884653"/>
                </a:lnTo>
                <a:lnTo>
                  <a:pt x="150780" y="1834156"/>
                </a:lnTo>
                <a:lnTo>
                  <a:pt x="170859" y="1784524"/>
                </a:lnTo>
                <a:lnTo>
                  <a:pt x="191908" y="1735748"/>
                </a:lnTo>
                <a:lnTo>
                  <a:pt x="213907" y="1687824"/>
                </a:lnTo>
                <a:lnTo>
                  <a:pt x="236835" y="1640743"/>
                </a:lnTo>
                <a:lnTo>
                  <a:pt x="260670" y="1594499"/>
                </a:lnTo>
                <a:lnTo>
                  <a:pt x="285392" y="1549086"/>
                </a:lnTo>
                <a:lnTo>
                  <a:pt x="310979" y="1504495"/>
                </a:lnTo>
                <a:lnTo>
                  <a:pt x="337410" y="1460721"/>
                </a:lnTo>
                <a:lnTo>
                  <a:pt x="364664" y="1417757"/>
                </a:lnTo>
                <a:lnTo>
                  <a:pt x="392721" y="1375595"/>
                </a:lnTo>
                <a:lnTo>
                  <a:pt x="421558" y="1334230"/>
                </a:lnTo>
                <a:lnTo>
                  <a:pt x="451156" y="1293653"/>
                </a:lnTo>
                <a:lnTo>
                  <a:pt x="481492" y="1253859"/>
                </a:lnTo>
                <a:lnTo>
                  <a:pt x="512547" y="1214841"/>
                </a:lnTo>
                <a:lnTo>
                  <a:pt x="544298" y="1176591"/>
                </a:lnTo>
                <a:lnTo>
                  <a:pt x="576725" y="1139103"/>
                </a:lnTo>
                <a:lnTo>
                  <a:pt x="609806" y="1102371"/>
                </a:lnTo>
                <a:lnTo>
                  <a:pt x="643521" y="1066386"/>
                </a:lnTo>
                <a:lnTo>
                  <a:pt x="677849" y="1031143"/>
                </a:lnTo>
                <a:lnTo>
                  <a:pt x="712768" y="996635"/>
                </a:lnTo>
                <a:lnTo>
                  <a:pt x="748257" y="962854"/>
                </a:lnTo>
                <a:lnTo>
                  <a:pt x="784296" y="929795"/>
                </a:lnTo>
                <a:lnTo>
                  <a:pt x="820863" y="897450"/>
                </a:lnTo>
                <a:lnTo>
                  <a:pt x="857938" y="865812"/>
                </a:lnTo>
                <a:lnTo>
                  <a:pt x="895498" y="834874"/>
                </a:lnTo>
                <a:lnTo>
                  <a:pt x="933523" y="804631"/>
                </a:lnTo>
                <a:lnTo>
                  <a:pt x="971993" y="775074"/>
                </a:lnTo>
                <a:lnTo>
                  <a:pt x="1010885" y="746197"/>
                </a:lnTo>
                <a:lnTo>
                  <a:pt x="1050180" y="717994"/>
                </a:lnTo>
                <a:lnTo>
                  <a:pt x="1089855" y="690457"/>
                </a:lnTo>
                <a:lnTo>
                  <a:pt x="1129890" y="663580"/>
                </a:lnTo>
                <a:lnTo>
                  <a:pt x="1170263" y="637356"/>
                </a:lnTo>
                <a:lnTo>
                  <a:pt x="1210954" y="611777"/>
                </a:lnTo>
                <a:lnTo>
                  <a:pt x="1251942" y="586838"/>
                </a:lnTo>
                <a:lnTo>
                  <a:pt x="1293205" y="562531"/>
                </a:lnTo>
                <a:lnTo>
                  <a:pt x="1334722" y="538850"/>
                </a:lnTo>
                <a:lnTo>
                  <a:pt x="1376473" y="515787"/>
                </a:lnTo>
                <a:lnTo>
                  <a:pt x="1418436" y="493336"/>
                </a:lnTo>
                <a:lnTo>
                  <a:pt x="1460591" y="471491"/>
                </a:lnTo>
                <a:lnTo>
                  <a:pt x="1502915" y="450244"/>
                </a:lnTo>
                <a:lnTo>
                  <a:pt x="1545389" y="429588"/>
                </a:lnTo>
                <a:lnTo>
                  <a:pt x="1587990" y="409517"/>
                </a:lnTo>
                <a:lnTo>
                  <a:pt x="1630699" y="390023"/>
                </a:lnTo>
                <a:lnTo>
                  <a:pt x="1673493" y="371101"/>
                </a:lnTo>
                <a:lnTo>
                  <a:pt x="1716352" y="352743"/>
                </a:lnTo>
                <a:lnTo>
                  <a:pt x="1759255" y="334942"/>
                </a:lnTo>
                <a:lnTo>
                  <a:pt x="1802181" y="317692"/>
                </a:lnTo>
                <a:lnTo>
                  <a:pt x="1845108" y="300985"/>
                </a:lnTo>
                <a:lnTo>
                  <a:pt x="1888016" y="284815"/>
                </a:lnTo>
                <a:lnTo>
                  <a:pt x="1930883" y="269176"/>
                </a:lnTo>
                <a:lnTo>
                  <a:pt x="1973689" y="254060"/>
                </a:lnTo>
                <a:lnTo>
                  <a:pt x="2016412" y="239460"/>
                </a:lnTo>
                <a:lnTo>
                  <a:pt x="2059031" y="225370"/>
                </a:lnTo>
                <a:lnTo>
                  <a:pt x="2101525" y="211782"/>
                </a:lnTo>
                <a:lnTo>
                  <a:pt x="2143874" y="198691"/>
                </a:lnTo>
                <a:lnTo>
                  <a:pt x="2186056" y="186089"/>
                </a:lnTo>
                <a:lnTo>
                  <a:pt x="2228049" y="173969"/>
                </a:lnTo>
                <a:lnTo>
                  <a:pt x="2269834" y="162325"/>
                </a:lnTo>
                <a:lnTo>
                  <a:pt x="2311389" y="151149"/>
                </a:lnTo>
                <a:lnTo>
                  <a:pt x="2352692" y="140436"/>
                </a:lnTo>
                <a:lnTo>
                  <a:pt x="2393723" y="130177"/>
                </a:lnTo>
                <a:lnTo>
                  <a:pt x="2434461" y="120367"/>
                </a:lnTo>
                <a:lnTo>
                  <a:pt x="2474884" y="110998"/>
                </a:lnTo>
                <a:lnTo>
                  <a:pt x="2514972" y="102064"/>
                </a:lnTo>
                <a:lnTo>
                  <a:pt x="2554704" y="93558"/>
                </a:lnTo>
                <a:lnTo>
                  <a:pt x="2594058" y="85473"/>
                </a:lnTo>
                <a:lnTo>
                  <a:pt x="2633013" y="77802"/>
                </a:lnTo>
                <a:lnTo>
                  <a:pt x="2671548" y="70538"/>
                </a:lnTo>
                <a:lnTo>
                  <a:pt x="2709643" y="63675"/>
                </a:lnTo>
                <a:lnTo>
                  <a:pt x="2747276" y="57205"/>
                </a:lnTo>
                <a:lnTo>
                  <a:pt x="2821072" y="45420"/>
                </a:lnTo>
                <a:lnTo>
                  <a:pt x="2892767" y="35128"/>
                </a:lnTo>
                <a:lnTo>
                  <a:pt x="2962194" y="26275"/>
                </a:lnTo>
                <a:lnTo>
                  <a:pt x="3029184" y="18806"/>
                </a:lnTo>
                <a:lnTo>
                  <a:pt x="3093568" y="12666"/>
                </a:lnTo>
                <a:lnTo>
                  <a:pt x="3155178" y="7801"/>
                </a:lnTo>
                <a:lnTo>
                  <a:pt x="3213845" y="4156"/>
                </a:lnTo>
                <a:lnTo>
                  <a:pt x="3269400" y="1678"/>
                </a:lnTo>
                <a:lnTo>
                  <a:pt x="3321676" y="310"/>
                </a:lnTo>
                <a:lnTo>
                  <a:pt x="3370503" y="0"/>
                </a:lnTo>
                <a:lnTo>
                  <a:pt x="3393571" y="223"/>
                </a:lnTo>
                <a:lnTo>
                  <a:pt x="3415713" y="691"/>
                </a:lnTo>
                <a:lnTo>
                  <a:pt x="3436910" y="1395"/>
                </a:lnTo>
                <a:lnTo>
                  <a:pt x="3498715" y="1213"/>
                </a:lnTo>
                <a:lnTo>
                  <a:pt x="3560003" y="1789"/>
                </a:lnTo>
                <a:lnTo>
                  <a:pt x="3620770" y="3116"/>
                </a:lnTo>
                <a:lnTo>
                  <a:pt x="3681018" y="5187"/>
                </a:lnTo>
                <a:lnTo>
                  <a:pt x="3740743" y="7995"/>
                </a:lnTo>
                <a:lnTo>
                  <a:pt x="3799946" y="11531"/>
                </a:lnTo>
                <a:lnTo>
                  <a:pt x="3858624" y="15788"/>
                </a:lnTo>
                <a:lnTo>
                  <a:pt x="3916778" y="20760"/>
                </a:lnTo>
                <a:lnTo>
                  <a:pt x="3974406" y="26437"/>
                </a:lnTo>
                <a:lnTo>
                  <a:pt x="4031506" y="32814"/>
                </a:lnTo>
                <a:lnTo>
                  <a:pt x="4088078" y="39881"/>
                </a:lnTo>
                <a:lnTo>
                  <a:pt x="4144120" y="47633"/>
                </a:lnTo>
                <a:lnTo>
                  <a:pt x="4199633" y="56060"/>
                </a:lnTo>
                <a:lnTo>
                  <a:pt x="4254613" y="65157"/>
                </a:lnTo>
                <a:lnTo>
                  <a:pt x="4309061" y="74914"/>
                </a:lnTo>
                <a:lnTo>
                  <a:pt x="4362975" y="85326"/>
                </a:lnTo>
                <a:lnTo>
                  <a:pt x="4416354" y="96383"/>
                </a:lnTo>
                <a:lnTo>
                  <a:pt x="4469197" y="108080"/>
                </a:lnTo>
                <a:lnTo>
                  <a:pt x="4521503" y="120408"/>
                </a:lnTo>
                <a:lnTo>
                  <a:pt x="4573271" y="133359"/>
                </a:lnTo>
                <a:lnTo>
                  <a:pt x="4624500" y="146927"/>
                </a:lnTo>
                <a:lnTo>
                  <a:pt x="4675188" y="161103"/>
                </a:lnTo>
                <a:lnTo>
                  <a:pt x="4725335" y="175881"/>
                </a:lnTo>
                <a:lnTo>
                  <a:pt x="4774939" y="191253"/>
                </a:lnTo>
                <a:lnTo>
                  <a:pt x="4824000" y="207210"/>
                </a:lnTo>
                <a:lnTo>
                  <a:pt x="4872516" y="223747"/>
                </a:lnTo>
                <a:lnTo>
                  <a:pt x="4920486" y="240855"/>
                </a:lnTo>
                <a:lnTo>
                  <a:pt x="4967909" y="258526"/>
                </a:lnTo>
                <a:lnTo>
                  <a:pt x="5014784" y="276754"/>
                </a:lnTo>
                <a:lnTo>
                  <a:pt x="5061109" y="295531"/>
                </a:lnTo>
                <a:lnTo>
                  <a:pt x="5106885" y="314849"/>
                </a:lnTo>
                <a:lnTo>
                  <a:pt x="5152109" y="334700"/>
                </a:lnTo>
                <a:lnTo>
                  <a:pt x="5196781" y="355078"/>
                </a:lnTo>
                <a:lnTo>
                  <a:pt x="5240900" y="375974"/>
                </a:lnTo>
                <a:lnTo>
                  <a:pt x="5284464" y="397382"/>
                </a:lnTo>
                <a:lnTo>
                  <a:pt x="5327472" y="419294"/>
                </a:lnTo>
                <a:lnTo>
                  <a:pt x="5369923" y="441701"/>
                </a:lnTo>
                <a:lnTo>
                  <a:pt x="5411816" y="464598"/>
                </a:lnTo>
                <a:lnTo>
                  <a:pt x="5453151" y="487976"/>
                </a:lnTo>
                <a:lnTo>
                  <a:pt x="5493925" y="511827"/>
                </a:lnTo>
                <a:lnTo>
                  <a:pt x="5534138" y="536145"/>
                </a:lnTo>
                <a:lnTo>
                  <a:pt x="5573789" y="560921"/>
                </a:lnTo>
                <a:lnTo>
                  <a:pt x="5612876" y="586149"/>
                </a:lnTo>
                <a:lnTo>
                  <a:pt x="5651399" y="611820"/>
                </a:lnTo>
                <a:lnTo>
                  <a:pt x="5689357" y="637928"/>
                </a:lnTo>
                <a:lnTo>
                  <a:pt x="5726747" y="664464"/>
                </a:lnTo>
                <a:lnTo>
                  <a:pt x="5763570" y="691422"/>
                </a:lnTo>
                <a:lnTo>
                  <a:pt x="5799824" y="718793"/>
                </a:lnTo>
                <a:lnTo>
                  <a:pt x="5835508" y="746571"/>
                </a:lnTo>
                <a:lnTo>
                  <a:pt x="5870622" y="774747"/>
                </a:lnTo>
                <a:lnTo>
                  <a:pt x="5905162" y="803315"/>
                </a:lnTo>
                <a:lnTo>
                  <a:pt x="5939130" y="832266"/>
                </a:lnTo>
                <a:lnTo>
                  <a:pt x="5972523" y="861593"/>
                </a:lnTo>
                <a:lnTo>
                  <a:pt x="6005341" y="891290"/>
                </a:lnTo>
                <a:lnTo>
                  <a:pt x="6037583" y="921347"/>
                </a:lnTo>
                <a:lnTo>
                  <a:pt x="6069247" y="951758"/>
                </a:lnTo>
                <a:lnTo>
                  <a:pt x="6100332" y="982515"/>
                </a:lnTo>
                <a:lnTo>
                  <a:pt x="6130837" y="1013611"/>
                </a:lnTo>
                <a:lnTo>
                  <a:pt x="6160761" y="1045039"/>
                </a:lnTo>
                <a:lnTo>
                  <a:pt x="6190103" y="1076789"/>
                </a:lnTo>
                <a:lnTo>
                  <a:pt x="6218862" y="1108857"/>
                </a:lnTo>
                <a:lnTo>
                  <a:pt x="6247037" y="1141232"/>
                </a:lnTo>
                <a:lnTo>
                  <a:pt x="6274627" y="1173910"/>
                </a:lnTo>
                <a:lnTo>
                  <a:pt x="6301630" y="1206880"/>
                </a:lnTo>
                <a:lnTo>
                  <a:pt x="6328046" y="1240137"/>
                </a:lnTo>
                <a:lnTo>
                  <a:pt x="6353873" y="1273673"/>
                </a:lnTo>
                <a:lnTo>
                  <a:pt x="6379111" y="1307480"/>
                </a:lnTo>
                <a:lnTo>
                  <a:pt x="6403758" y="1341550"/>
                </a:lnTo>
                <a:lnTo>
                  <a:pt x="6427812" y="1375877"/>
                </a:lnTo>
                <a:lnTo>
                  <a:pt x="6451274" y="1410453"/>
                </a:lnTo>
                <a:lnTo>
                  <a:pt x="6474142" y="1445269"/>
                </a:lnTo>
                <a:lnTo>
                  <a:pt x="6496415" y="1480320"/>
                </a:lnTo>
                <a:lnTo>
                  <a:pt x="6518091" y="1515596"/>
                </a:lnTo>
                <a:lnTo>
                  <a:pt x="6539170" y="1551092"/>
                </a:lnTo>
                <a:lnTo>
                  <a:pt x="6559651" y="1586798"/>
                </a:lnTo>
                <a:lnTo>
                  <a:pt x="6579532" y="1622708"/>
                </a:lnTo>
                <a:lnTo>
                  <a:pt x="6598812" y="1658814"/>
                </a:lnTo>
                <a:lnTo>
                  <a:pt x="6617491" y="1695109"/>
                </a:lnTo>
                <a:lnTo>
                  <a:pt x="6635567" y="1731586"/>
                </a:lnTo>
                <a:lnTo>
                  <a:pt x="6653038" y="1768236"/>
                </a:lnTo>
                <a:lnTo>
                  <a:pt x="6669905" y="1805052"/>
                </a:lnTo>
                <a:lnTo>
                  <a:pt x="6686166" y="1842026"/>
                </a:lnTo>
                <a:lnTo>
                  <a:pt x="6701820" y="1879152"/>
                </a:lnTo>
                <a:lnTo>
                  <a:pt x="6716865" y="1916422"/>
                </a:lnTo>
                <a:lnTo>
                  <a:pt x="6731301" y="1953828"/>
                </a:lnTo>
                <a:lnTo>
                  <a:pt x="6745126" y="1991362"/>
                </a:lnTo>
                <a:lnTo>
                  <a:pt x="6758339" y="2029018"/>
                </a:lnTo>
                <a:lnTo>
                  <a:pt x="6770940" y="2066787"/>
                </a:lnTo>
                <a:lnTo>
                  <a:pt x="6782928" y="2104663"/>
                </a:lnTo>
                <a:lnTo>
                  <a:pt x="6794300" y="2142637"/>
                </a:lnTo>
                <a:lnTo>
                  <a:pt x="6805056" y="2180702"/>
                </a:lnTo>
                <a:lnTo>
                  <a:pt x="6815195" y="2218851"/>
                </a:lnTo>
                <a:lnTo>
                  <a:pt x="6824716" y="2257076"/>
                </a:lnTo>
                <a:lnTo>
                  <a:pt x="6833618" y="2295370"/>
                </a:lnTo>
                <a:lnTo>
                  <a:pt x="6841900" y="2333725"/>
                </a:lnTo>
                <a:lnTo>
                  <a:pt x="6849560" y="2372134"/>
                </a:lnTo>
                <a:lnTo>
                  <a:pt x="6856597" y="2410589"/>
                </a:lnTo>
                <a:lnTo>
                  <a:pt x="6863011" y="2449082"/>
                </a:lnTo>
                <a:lnTo>
                  <a:pt x="0" y="2438649"/>
                </a:lnTo>
                <a:close/>
              </a:path>
            </a:pathLst>
          </a:custGeom>
          <a:ln w="38100">
            <a:solidFill>
              <a:srgbClr val="F97D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062675" y="3492380"/>
            <a:ext cx="1586769" cy="2217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70832" y="3602735"/>
            <a:ext cx="3547871" cy="13502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44752" y="4818888"/>
            <a:ext cx="9345168" cy="3810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837432" y="4818888"/>
            <a:ext cx="5327904" cy="48463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984067" y="4872228"/>
            <a:ext cx="3526154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Online </a:t>
            </a:r>
            <a:r>
              <a:rPr dirty="0" sz="1400" b="1">
                <a:latin typeface="微软雅黑"/>
                <a:cs typeface="微软雅黑"/>
              </a:rPr>
              <a:t>and </a:t>
            </a:r>
            <a:r>
              <a:rPr dirty="0" sz="1400" spc="-5" b="1">
                <a:latin typeface="微软雅黑"/>
                <a:cs typeface="微软雅黑"/>
              </a:rPr>
              <a:t>Mobile Commerce</a:t>
            </a:r>
            <a:r>
              <a:rPr dirty="0" sz="1400" spc="-80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Platform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885688" y="4383023"/>
            <a:ext cx="524256" cy="57911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6064046" y="4452620"/>
            <a:ext cx="1670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90" b="1">
                <a:latin typeface="微软雅黑"/>
                <a:cs typeface="微软雅黑"/>
              </a:rPr>
              <a:t>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16450" y="4395419"/>
            <a:ext cx="671195" cy="114300"/>
          </a:xfrm>
          <a:custGeom>
            <a:avLst/>
            <a:gdLst/>
            <a:ahLst/>
            <a:cxnLst/>
            <a:rect l="l" t="t" r="r" b="b"/>
            <a:pathLst>
              <a:path w="67119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671195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671195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671195" h="114300">
                <a:moveTo>
                  <a:pt x="671081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671081" y="76198"/>
                </a:lnTo>
                <a:lnTo>
                  <a:pt x="671081" y="38098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816450" y="4230554"/>
            <a:ext cx="671195" cy="114300"/>
          </a:xfrm>
          <a:custGeom>
            <a:avLst/>
            <a:gdLst/>
            <a:ahLst/>
            <a:cxnLst/>
            <a:rect l="l" t="t" r="r" b="b"/>
            <a:pathLst>
              <a:path w="671195" h="114300">
                <a:moveTo>
                  <a:pt x="556781" y="76201"/>
                </a:moveTo>
                <a:lnTo>
                  <a:pt x="556781" y="114299"/>
                </a:lnTo>
                <a:lnTo>
                  <a:pt x="632981" y="76201"/>
                </a:lnTo>
                <a:lnTo>
                  <a:pt x="556781" y="76201"/>
                </a:lnTo>
                <a:close/>
              </a:path>
              <a:path w="671195" h="114300">
                <a:moveTo>
                  <a:pt x="556781" y="38101"/>
                </a:moveTo>
                <a:lnTo>
                  <a:pt x="556781" y="76201"/>
                </a:lnTo>
                <a:lnTo>
                  <a:pt x="575831" y="76201"/>
                </a:lnTo>
                <a:lnTo>
                  <a:pt x="575831" y="38101"/>
                </a:lnTo>
                <a:lnTo>
                  <a:pt x="556781" y="38101"/>
                </a:lnTo>
                <a:close/>
              </a:path>
              <a:path w="671195" h="114300">
                <a:moveTo>
                  <a:pt x="556781" y="0"/>
                </a:moveTo>
                <a:lnTo>
                  <a:pt x="556781" y="38101"/>
                </a:lnTo>
                <a:lnTo>
                  <a:pt x="575831" y="38101"/>
                </a:lnTo>
                <a:lnTo>
                  <a:pt x="575831" y="76201"/>
                </a:lnTo>
                <a:lnTo>
                  <a:pt x="632983" y="76199"/>
                </a:lnTo>
                <a:lnTo>
                  <a:pt x="671081" y="57151"/>
                </a:lnTo>
                <a:lnTo>
                  <a:pt x="556781" y="0"/>
                </a:lnTo>
                <a:close/>
              </a:path>
              <a:path w="671195" h="114300">
                <a:moveTo>
                  <a:pt x="0" y="38099"/>
                </a:moveTo>
                <a:lnTo>
                  <a:pt x="0" y="76199"/>
                </a:lnTo>
                <a:lnTo>
                  <a:pt x="556781" y="76201"/>
                </a:lnTo>
                <a:lnTo>
                  <a:pt x="556781" y="38101"/>
                </a:lnTo>
                <a:lnTo>
                  <a:pt x="0" y="38099"/>
                </a:lnTo>
                <a:close/>
              </a:path>
            </a:pathLst>
          </a:custGeom>
          <a:solidFill>
            <a:srgbClr val="BFBFB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580631" y="4023359"/>
            <a:ext cx="1008887" cy="81686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726935" y="4255008"/>
            <a:ext cx="716279" cy="40843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06723" y="4050021"/>
            <a:ext cx="904875" cy="712470"/>
          </a:xfrm>
          <a:custGeom>
            <a:avLst/>
            <a:gdLst/>
            <a:ahLst/>
            <a:cxnLst/>
            <a:rect l="l" t="t" r="r" b="b"/>
            <a:pathLst>
              <a:path w="904875" h="712470">
                <a:moveTo>
                  <a:pt x="452172" y="0"/>
                </a:moveTo>
                <a:lnTo>
                  <a:pt x="399439" y="2395"/>
                </a:lnTo>
                <a:lnTo>
                  <a:pt x="348493" y="9405"/>
                </a:lnTo>
                <a:lnTo>
                  <a:pt x="299673" y="20760"/>
                </a:lnTo>
                <a:lnTo>
                  <a:pt x="253318" y="36195"/>
                </a:lnTo>
                <a:lnTo>
                  <a:pt x="209767" y="55441"/>
                </a:lnTo>
                <a:lnTo>
                  <a:pt x="169361" y="78233"/>
                </a:lnTo>
                <a:lnTo>
                  <a:pt x="132438" y="104302"/>
                </a:lnTo>
                <a:lnTo>
                  <a:pt x="99337" y="133381"/>
                </a:lnTo>
                <a:lnTo>
                  <a:pt x="70397" y="165203"/>
                </a:lnTo>
                <a:lnTo>
                  <a:pt x="45959" y="199501"/>
                </a:lnTo>
                <a:lnTo>
                  <a:pt x="26361" y="236008"/>
                </a:lnTo>
                <a:lnTo>
                  <a:pt x="11942" y="274456"/>
                </a:lnTo>
                <a:lnTo>
                  <a:pt x="3042" y="314579"/>
                </a:lnTo>
                <a:lnTo>
                  <a:pt x="0" y="356109"/>
                </a:lnTo>
                <a:lnTo>
                  <a:pt x="3042" y="397639"/>
                </a:lnTo>
                <a:lnTo>
                  <a:pt x="11942" y="437761"/>
                </a:lnTo>
                <a:lnTo>
                  <a:pt x="26361" y="476209"/>
                </a:lnTo>
                <a:lnTo>
                  <a:pt x="45959" y="512716"/>
                </a:lnTo>
                <a:lnTo>
                  <a:pt x="70397" y="547014"/>
                </a:lnTo>
                <a:lnTo>
                  <a:pt x="99337" y="578836"/>
                </a:lnTo>
                <a:lnTo>
                  <a:pt x="132438" y="607915"/>
                </a:lnTo>
                <a:lnTo>
                  <a:pt x="169361" y="633984"/>
                </a:lnTo>
                <a:lnTo>
                  <a:pt x="209767" y="656775"/>
                </a:lnTo>
                <a:lnTo>
                  <a:pt x="253318" y="676022"/>
                </a:lnTo>
                <a:lnTo>
                  <a:pt x="299673" y="691456"/>
                </a:lnTo>
                <a:lnTo>
                  <a:pt x="348493" y="702812"/>
                </a:lnTo>
                <a:lnTo>
                  <a:pt x="399439" y="709821"/>
                </a:lnTo>
                <a:lnTo>
                  <a:pt x="452172" y="712217"/>
                </a:lnTo>
                <a:lnTo>
                  <a:pt x="504904" y="709821"/>
                </a:lnTo>
                <a:lnTo>
                  <a:pt x="555850" y="702812"/>
                </a:lnTo>
                <a:lnTo>
                  <a:pt x="604670" y="691456"/>
                </a:lnTo>
                <a:lnTo>
                  <a:pt x="651025" y="676022"/>
                </a:lnTo>
                <a:lnTo>
                  <a:pt x="694575" y="656775"/>
                </a:lnTo>
                <a:lnTo>
                  <a:pt x="734981" y="633984"/>
                </a:lnTo>
                <a:lnTo>
                  <a:pt x="771904" y="607915"/>
                </a:lnTo>
                <a:lnTo>
                  <a:pt x="805005" y="578836"/>
                </a:lnTo>
                <a:lnTo>
                  <a:pt x="833945" y="547014"/>
                </a:lnTo>
                <a:lnTo>
                  <a:pt x="858383" y="512716"/>
                </a:lnTo>
                <a:lnTo>
                  <a:pt x="877981" y="476209"/>
                </a:lnTo>
                <a:lnTo>
                  <a:pt x="892400" y="437761"/>
                </a:lnTo>
                <a:lnTo>
                  <a:pt x="901300" y="397639"/>
                </a:lnTo>
                <a:lnTo>
                  <a:pt x="904342" y="356109"/>
                </a:lnTo>
                <a:lnTo>
                  <a:pt x="901300" y="314579"/>
                </a:lnTo>
                <a:lnTo>
                  <a:pt x="892400" y="274456"/>
                </a:lnTo>
                <a:lnTo>
                  <a:pt x="877981" y="236008"/>
                </a:lnTo>
                <a:lnTo>
                  <a:pt x="858383" y="199501"/>
                </a:lnTo>
                <a:lnTo>
                  <a:pt x="833945" y="165203"/>
                </a:lnTo>
                <a:lnTo>
                  <a:pt x="805005" y="133381"/>
                </a:lnTo>
                <a:lnTo>
                  <a:pt x="771904" y="104302"/>
                </a:lnTo>
                <a:lnTo>
                  <a:pt x="734981" y="78233"/>
                </a:lnTo>
                <a:lnTo>
                  <a:pt x="694575" y="55441"/>
                </a:lnTo>
                <a:lnTo>
                  <a:pt x="651025" y="36195"/>
                </a:lnTo>
                <a:lnTo>
                  <a:pt x="604670" y="20760"/>
                </a:lnTo>
                <a:lnTo>
                  <a:pt x="555850" y="9405"/>
                </a:lnTo>
                <a:lnTo>
                  <a:pt x="504904" y="2395"/>
                </a:lnTo>
                <a:lnTo>
                  <a:pt x="452172" y="0"/>
                </a:lnTo>
                <a:close/>
              </a:path>
            </a:pathLst>
          </a:custGeom>
          <a:solidFill>
            <a:srgbClr val="FFD9B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822514" y="4309872"/>
            <a:ext cx="49085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45" b="1">
                <a:latin typeface="微软雅黑"/>
                <a:cs typeface="微软雅黑"/>
              </a:rPr>
              <a:t>BUYE</a:t>
            </a:r>
            <a:r>
              <a:rPr dirty="0" sz="1100" spc="-150" b="1">
                <a:latin typeface="微软雅黑"/>
                <a:cs typeface="微软雅黑"/>
              </a:rPr>
              <a:t>R</a:t>
            </a:r>
            <a:r>
              <a:rPr dirty="0" sz="1100" b="1">
                <a:latin typeface="微软雅黑"/>
                <a:cs typeface="微软雅黑"/>
              </a:rPr>
              <a:t>S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767071" y="4026408"/>
            <a:ext cx="1008888" cy="81686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892040" y="4248911"/>
            <a:ext cx="758951" cy="40843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91043" y="4052769"/>
            <a:ext cx="906780" cy="712470"/>
          </a:xfrm>
          <a:custGeom>
            <a:avLst/>
            <a:gdLst/>
            <a:ahLst/>
            <a:cxnLst/>
            <a:rect l="l" t="t" r="r" b="b"/>
            <a:pathLst>
              <a:path w="906779" h="712470">
                <a:moveTo>
                  <a:pt x="453094" y="0"/>
                </a:moveTo>
                <a:lnTo>
                  <a:pt x="400253" y="2395"/>
                </a:lnTo>
                <a:lnTo>
                  <a:pt x="349203" y="9405"/>
                </a:lnTo>
                <a:lnTo>
                  <a:pt x="300284" y="20760"/>
                </a:lnTo>
                <a:lnTo>
                  <a:pt x="253834" y="36195"/>
                </a:lnTo>
                <a:lnTo>
                  <a:pt x="210195" y="55441"/>
                </a:lnTo>
                <a:lnTo>
                  <a:pt x="169706" y="78232"/>
                </a:lnTo>
                <a:lnTo>
                  <a:pt x="132708" y="104301"/>
                </a:lnTo>
                <a:lnTo>
                  <a:pt x="99539" y="133380"/>
                </a:lnTo>
                <a:lnTo>
                  <a:pt x="70541" y="165202"/>
                </a:lnTo>
                <a:lnTo>
                  <a:pt x="46052" y="199500"/>
                </a:lnTo>
                <a:lnTo>
                  <a:pt x="26414" y="236007"/>
                </a:lnTo>
                <a:lnTo>
                  <a:pt x="11966" y="274456"/>
                </a:lnTo>
                <a:lnTo>
                  <a:pt x="3048" y="314579"/>
                </a:lnTo>
                <a:lnTo>
                  <a:pt x="0" y="356109"/>
                </a:lnTo>
                <a:lnTo>
                  <a:pt x="3048" y="397639"/>
                </a:lnTo>
                <a:lnTo>
                  <a:pt x="11966" y="437761"/>
                </a:lnTo>
                <a:lnTo>
                  <a:pt x="26414" y="476209"/>
                </a:lnTo>
                <a:lnTo>
                  <a:pt x="46052" y="512716"/>
                </a:lnTo>
                <a:lnTo>
                  <a:pt x="70541" y="547014"/>
                </a:lnTo>
                <a:lnTo>
                  <a:pt x="99539" y="578836"/>
                </a:lnTo>
                <a:lnTo>
                  <a:pt x="132708" y="607915"/>
                </a:lnTo>
                <a:lnTo>
                  <a:pt x="169706" y="633984"/>
                </a:lnTo>
                <a:lnTo>
                  <a:pt x="210195" y="656775"/>
                </a:lnTo>
                <a:lnTo>
                  <a:pt x="253834" y="676022"/>
                </a:lnTo>
                <a:lnTo>
                  <a:pt x="300284" y="691456"/>
                </a:lnTo>
                <a:lnTo>
                  <a:pt x="349203" y="702812"/>
                </a:lnTo>
                <a:lnTo>
                  <a:pt x="400253" y="709821"/>
                </a:lnTo>
                <a:lnTo>
                  <a:pt x="453094" y="712217"/>
                </a:lnTo>
                <a:lnTo>
                  <a:pt x="505934" y="709821"/>
                </a:lnTo>
                <a:lnTo>
                  <a:pt x="556984" y="702812"/>
                </a:lnTo>
                <a:lnTo>
                  <a:pt x="605904" y="691456"/>
                </a:lnTo>
                <a:lnTo>
                  <a:pt x="652354" y="676022"/>
                </a:lnTo>
                <a:lnTo>
                  <a:pt x="695993" y="656775"/>
                </a:lnTo>
                <a:lnTo>
                  <a:pt x="736482" y="633984"/>
                </a:lnTo>
                <a:lnTo>
                  <a:pt x="773481" y="607915"/>
                </a:lnTo>
                <a:lnTo>
                  <a:pt x="806649" y="578836"/>
                </a:lnTo>
                <a:lnTo>
                  <a:pt x="835648" y="547014"/>
                </a:lnTo>
                <a:lnTo>
                  <a:pt x="860136" y="512716"/>
                </a:lnTo>
                <a:lnTo>
                  <a:pt x="879774" y="476209"/>
                </a:lnTo>
                <a:lnTo>
                  <a:pt x="894222" y="437761"/>
                </a:lnTo>
                <a:lnTo>
                  <a:pt x="903141" y="397639"/>
                </a:lnTo>
                <a:lnTo>
                  <a:pt x="906189" y="356109"/>
                </a:lnTo>
                <a:lnTo>
                  <a:pt x="903141" y="314579"/>
                </a:lnTo>
                <a:lnTo>
                  <a:pt x="894222" y="274456"/>
                </a:lnTo>
                <a:lnTo>
                  <a:pt x="879774" y="236007"/>
                </a:lnTo>
                <a:lnTo>
                  <a:pt x="860136" y="199500"/>
                </a:lnTo>
                <a:lnTo>
                  <a:pt x="835648" y="165202"/>
                </a:lnTo>
                <a:lnTo>
                  <a:pt x="806649" y="133380"/>
                </a:lnTo>
                <a:lnTo>
                  <a:pt x="773481" y="104301"/>
                </a:lnTo>
                <a:lnTo>
                  <a:pt x="736482" y="78232"/>
                </a:lnTo>
                <a:lnTo>
                  <a:pt x="695993" y="55441"/>
                </a:lnTo>
                <a:lnTo>
                  <a:pt x="652354" y="36195"/>
                </a:lnTo>
                <a:lnTo>
                  <a:pt x="605904" y="20760"/>
                </a:lnTo>
                <a:lnTo>
                  <a:pt x="556984" y="9405"/>
                </a:lnTo>
                <a:lnTo>
                  <a:pt x="505934" y="2395"/>
                </a:lnTo>
                <a:lnTo>
                  <a:pt x="453094" y="0"/>
                </a:lnTo>
                <a:close/>
              </a:path>
            </a:pathLst>
          </a:custGeom>
          <a:solidFill>
            <a:srgbClr val="FAC0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4987756" y="4303776"/>
            <a:ext cx="5257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0" b="1">
                <a:latin typeface="微软雅黑"/>
                <a:cs typeface="微软雅黑"/>
              </a:rPr>
              <a:t>S</a:t>
            </a:r>
            <a:r>
              <a:rPr dirty="0" sz="1100" spc="-105" b="1">
                <a:latin typeface="微软雅黑"/>
                <a:cs typeface="微软雅黑"/>
              </a:rPr>
              <a:t>ELLE</a:t>
            </a:r>
            <a:r>
              <a:rPr dirty="0" sz="1100" spc="-110" b="1">
                <a:latin typeface="微软雅黑"/>
                <a:cs typeface="微软雅黑"/>
              </a:rPr>
              <a:t>R</a:t>
            </a:r>
            <a:r>
              <a:rPr dirty="0" sz="1100" b="1">
                <a:latin typeface="微软雅黑"/>
                <a:cs typeface="微软雅黑"/>
              </a:rPr>
              <a:t>S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397595" y="2514116"/>
            <a:ext cx="167005" cy="152400"/>
          </a:xfrm>
          <a:custGeom>
            <a:avLst/>
            <a:gdLst/>
            <a:ahLst/>
            <a:cxnLst/>
            <a:rect l="l" t="t" r="r" b="b"/>
            <a:pathLst>
              <a:path w="167004" h="152400">
                <a:moveTo>
                  <a:pt x="41360" y="13376"/>
                </a:moveTo>
                <a:lnTo>
                  <a:pt x="0" y="18455"/>
                </a:lnTo>
                <a:lnTo>
                  <a:pt x="16390" y="151931"/>
                </a:lnTo>
                <a:lnTo>
                  <a:pt x="42070" y="148777"/>
                </a:lnTo>
                <a:lnTo>
                  <a:pt x="32799" y="73294"/>
                </a:lnTo>
                <a:lnTo>
                  <a:pt x="27541" y="39739"/>
                </a:lnTo>
                <a:lnTo>
                  <a:pt x="28317" y="39644"/>
                </a:lnTo>
                <a:lnTo>
                  <a:pt x="54536" y="39644"/>
                </a:lnTo>
                <a:lnTo>
                  <a:pt x="41360" y="13376"/>
                </a:lnTo>
                <a:close/>
              </a:path>
              <a:path w="167004" h="152400">
                <a:moveTo>
                  <a:pt x="54536" y="39644"/>
                </a:moveTo>
                <a:lnTo>
                  <a:pt x="28317" y="39644"/>
                </a:lnTo>
                <a:lnTo>
                  <a:pt x="31534" y="49220"/>
                </a:lnTo>
                <a:lnTo>
                  <a:pt x="33679" y="55050"/>
                </a:lnTo>
                <a:lnTo>
                  <a:pt x="79294" y="144207"/>
                </a:lnTo>
                <a:lnTo>
                  <a:pt x="101956" y="141423"/>
                </a:lnTo>
                <a:lnTo>
                  <a:pt x="109326" y="108677"/>
                </a:lnTo>
                <a:lnTo>
                  <a:pt x="87264" y="108677"/>
                </a:lnTo>
                <a:lnTo>
                  <a:pt x="85683" y="102924"/>
                </a:lnTo>
                <a:lnTo>
                  <a:pt x="83276" y="96864"/>
                </a:lnTo>
                <a:lnTo>
                  <a:pt x="80045" y="90496"/>
                </a:lnTo>
                <a:lnTo>
                  <a:pt x="54536" y="39644"/>
                </a:lnTo>
                <a:close/>
              </a:path>
              <a:path w="167004" h="152400">
                <a:moveTo>
                  <a:pt x="153668" y="27612"/>
                </a:moveTo>
                <a:lnTo>
                  <a:pt x="126291" y="27612"/>
                </a:lnTo>
                <a:lnTo>
                  <a:pt x="126849" y="36468"/>
                </a:lnTo>
                <a:lnTo>
                  <a:pt x="127358" y="43247"/>
                </a:lnTo>
                <a:lnTo>
                  <a:pt x="127969" y="49956"/>
                </a:lnTo>
                <a:lnTo>
                  <a:pt x="128697" y="56460"/>
                </a:lnTo>
                <a:lnTo>
                  <a:pt x="138578" y="136926"/>
                </a:lnTo>
                <a:lnTo>
                  <a:pt x="166669" y="133476"/>
                </a:lnTo>
                <a:lnTo>
                  <a:pt x="153668" y="27612"/>
                </a:lnTo>
                <a:close/>
              </a:path>
              <a:path w="167004" h="152400">
                <a:moveTo>
                  <a:pt x="150277" y="0"/>
                </a:moveTo>
                <a:lnTo>
                  <a:pt x="110037" y="4942"/>
                </a:lnTo>
                <a:lnTo>
                  <a:pt x="91053" y="88969"/>
                </a:lnTo>
                <a:lnTo>
                  <a:pt x="87867" y="108604"/>
                </a:lnTo>
                <a:lnTo>
                  <a:pt x="87264" y="108677"/>
                </a:lnTo>
                <a:lnTo>
                  <a:pt x="109326" y="108677"/>
                </a:lnTo>
                <a:lnTo>
                  <a:pt x="124252" y="42353"/>
                </a:lnTo>
                <a:lnTo>
                  <a:pt x="124929" y="36468"/>
                </a:lnTo>
                <a:lnTo>
                  <a:pt x="125601" y="27697"/>
                </a:lnTo>
                <a:lnTo>
                  <a:pt x="126291" y="27612"/>
                </a:lnTo>
                <a:lnTo>
                  <a:pt x="153668" y="27612"/>
                </a:lnTo>
                <a:lnTo>
                  <a:pt x="1502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76398" y="2505633"/>
            <a:ext cx="130810" cy="141605"/>
          </a:xfrm>
          <a:custGeom>
            <a:avLst/>
            <a:gdLst/>
            <a:ahLst/>
            <a:cxnLst/>
            <a:rect l="l" t="t" r="r" b="b"/>
            <a:pathLst>
              <a:path w="130810" h="141605">
                <a:moveTo>
                  <a:pt x="71227" y="0"/>
                </a:moveTo>
                <a:lnTo>
                  <a:pt x="37663" y="2851"/>
                </a:lnTo>
                <a:lnTo>
                  <a:pt x="0" y="141014"/>
                </a:lnTo>
                <a:lnTo>
                  <a:pt x="30968" y="138383"/>
                </a:lnTo>
                <a:lnTo>
                  <a:pt x="38220" y="106836"/>
                </a:lnTo>
                <a:lnTo>
                  <a:pt x="86923" y="102698"/>
                </a:lnTo>
                <a:lnTo>
                  <a:pt x="118249" y="102698"/>
                </a:lnTo>
                <a:lnTo>
                  <a:pt x="109801" y="84247"/>
                </a:lnTo>
                <a:lnTo>
                  <a:pt x="42575" y="84247"/>
                </a:lnTo>
                <a:lnTo>
                  <a:pt x="53932" y="36054"/>
                </a:lnTo>
                <a:lnTo>
                  <a:pt x="54813" y="32411"/>
                </a:lnTo>
                <a:lnTo>
                  <a:pt x="55176" y="29361"/>
                </a:lnTo>
                <a:lnTo>
                  <a:pt x="55283" y="24617"/>
                </a:lnTo>
                <a:lnTo>
                  <a:pt x="56061" y="24551"/>
                </a:lnTo>
                <a:lnTo>
                  <a:pt x="82469" y="24551"/>
                </a:lnTo>
                <a:lnTo>
                  <a:pt x="71227" y="0"/>
                </a:lnTo>
                <a:close/>
              </a:path>
              <a:path w="130810" h="141605">
                <a:moveTo>
                  <a:pt x="118249" y="102698"/>
                </a:moveTo>
                <a:lnTo>
                  <a:pt x="86923" y="102698"/>
                </a:lnTo>
                <a:lnTo>
                  <a:pt x="99566" y="132554"/>
                </a:lnTo>
                <a:lnTo>
                  <a:pt x="130708" y="129909"/>
                </a:lnTo>
                <a:lnTo>
                  <a:pt x="118249" y="102698"/>
                </a:lnTo>
                <a:close/>
              </a:path>
              <a:path w="130810" h="141605">
                <a:moveTo>
                  <a:pt x="82469" y="24551"/>
                </a:moveTo>
                <a:lnTo>
                  <a:pt x="56061" y="24551"/>
                </a:lnTo>
                <a:lnTo>
                  <a:pt x="56876" y="29361"/>
                </a:lnTo>
                <a:lnTo>
                  <a:pt x="57900" y="33195"/>
                </a:lnTo>
                <a:lnTo>
                  <a:pt x="59169" y="36148"/>
                </a:lnTo>
                <a:lnTo>
                  <a:pt x="78301" y="81212"/>
                </a:lnTo>
                <a:lnTo>
                  <a:pt x="42575" y="84247"/>
                </a:lnTo>
                <a:lnTo>
                  <a:pt x="109801" y="84247"/>
                </a:lnTo>
                <a:lnTo>
                  <a:pt x="82469" y="245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12221" y="2497810"/>
            <a:ext cx="119380" cy="137160"/>
          </a:xfrm>
          <a:custGeom>
            <a:avLst/>
            <a:gdLst/>
            <a:ahLst/>
            <a:cxnLst/>
            <a:rect l="l" t="t" r="r" b="b"/>
            <a:pathLst>
              <a:path w="119379" h="137160">
                <a:moveTo>
                  <a:pt x="47057" y="0"/>
                </a:moveTo>
                <a:lnTo>
                  <a:pt x="0" y="2818"/>
                </a:lnTo>
                <a:lnTo>
                  <a:pt x="8037" y="137055"/>
                </a:lnTo>
                <a:lnTo>
                  <a:pt x="36636" y="135343"/>
                </a:lnTo>
                <a:lnTo>
                  <a:pt x="33522" y="83347"/>
                </a:lnTo>
                <a:lnTo>
                  <a:pt x="45308" y="82641"/>
                </a:lnTo>
                <a:lnTo>
                  <a:pt x="83081" y="82641"/>
                </a:lnTo>
                <a:lnTo>
                  <a:pt x="79511" y="79028"/>
                </a:lnTo>
                <a:lnTo>
                  <a:pt x="74248" y="75103"/>
                </a:lnTo>
                <a:lnTo>
                  <a:pt x="69340" y="72939"/>
                </a:lnTo>
                <a:lnTo>
                  <a:pt x="69320" y="72593"/>
                </a:lnTo>
                <a:lnTo>
                  <a:pt x="75822" y="69839"/>
                </a:lnTo>
                <a:lnTo>
                  <a:pt x="81527" y="66405"/>
                </a:lnTo>
                <a:lnTo>
                  <a:pt x="86437" y="62289"/>
                </a:lnTo>
                <a:lnTo>
                  <a:pt x="87107" y="61508"/>
                </a:lnTo>
                <a:lnTo>
                  <a:pt x="32214" y="61508"/>
                </a:lnTo>
                <a:lnTo>
                  <a:pt x="29900" y="22857"/>
                </a:lnTo>
                <a:lnTo>
                  <a:pt x="44460" y="21986"/>
                </a:lnTo>
                <a:lnTo>
                  <a:pt x="94265" y="21986"/>
                </a:lnTo>
                <a:lnTo>
                  <a:pt x="93211" y="17784"/>
                </a:lnTo>
                <a:lnTo>
                  <a:pt x="83544" y="6947"/>
                </a:lnTo>
                <a:lnTo>
                  <a:pt x="68160" y="1019"/>
                </a:lnTo>
                <a:lnTo>
                  <a:pt x="47057" y="0"/>
                </a:lnTo>
                <a:close/>
              </a:path>
              <a:path w="119379" h="137160">
                <a:moveTo>
                  <a:pt x="83081" y="82641"/>
                </a:moveTo>
                <a:lnTo>
                  <a:pt x="45308" y="82641"/>
                </a:lnTo>
                <a:lnTo>
                  <a:pt x="48317" y="83505"/>
                </a:lnTo>
                <a:lnTo>
                  <a:pt x="54113" y="87332"/>
                </a:lnTo>
                <a:lnTo>
                  <a:pt x="57945" y="91771"/>
                </a:lnTo>
                <a:lnTo>
                  <a:pt x="85859" y="132396"/>
                </a:lnTo>
                <a:lnTo>
                  <a:pt x="118790" y="130425"/>
                </a:lnTo>
                <a:lnTo>
                  <a:pt x="91104" y="92162"/>
                </a:lnTo>
                <a:lnTo>
                  <a:pt x="85130" y="84714"/>
                </a:lnTo>
                <a:lnTo>
                  <a:pt x="83081" y="82641"/>
                </a:lnTo>
                <a:close/>
              </a:path>
              <a:path w="119379" h="137160">
                <a:moveTo>
                  <a:pt x="94265" y="21986"/>
                </a:moveTo>
                <a:lnTo>
                  <a:pt x="44460" y="21986"/>
                </a:lnTo>
                <a:lnTo>
                  <a:pt x="54044" y="22553"/>
                </a:lnTo>
                <a:lnTo>
                  <a:pt x="61046" y="25558"/>
                </a:lnTo>
                <a:lnTo>
                  <a:pt x="65465" y="31001"/>
                </a:lnTo>
                <a:lnTo>
                  <a:pt x="67302" y="38882"/>
                </a:lnTo>
                <a:lnTo>
                  <a:pt x="67651" y="44717"/>
                </a:lnTo>
                <a:lnTo>
                  <a:pt x="65906" y="49706"/>
                </a:lnTo>
                <a:lnTo>
                  <a:pt x="58226" y="57994"/>
                </a:lnTo>
                <a:lnTo>
                  <a:pt x="52956" y="60266"/>
                </a:lnTo>
                <a:lnTo>
                  <a:pt x="32214" y="61508"/>
                </a:lnTo>
                <a:lnTo>
                  <a:pt x="87107" y="61508"/>
                </a:lnTo>
                <a:lnTo>
                  <a:pt x="90550" y="57494"/>
                </a:lnTo>
                <a:lnTo>
                  <a:pt x="95503" y="50645"/>
                </a:lnTo>
                <a:lnTo>
                  <a:pt x="97707" y="42656"/>
                </a:lnTo>
                <a:lnTo>
                  <a:pt x="97160" y="33529"/>
                </a:lnTo>
                <a:lnTo>
                  <a:pt x="94265" y="219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35413" y="2489540"/>
            <a:ext cx="114935" cy="139065"/>
          </a:xfrm>
          <a:custGeom>
            <a:avLst/>
            <a:gdLst/>
            <a:ahLst/>
            <a:cxnLst/>
            <a:rect l="l" t="t" r="r" b="b"/>
            <a:pathLst>
              <a:path w="114935" h="139064">
                <a:moveTo>
                  <a:pt x="28627" y="2959"/>
                </a:moveTo>
                <a:lnTo>
                  <a:pt x="0" y="4060"/>
                </a:lnTo>
                <a:lnTo>
                  <a:pt x="5166" y="138438"/>
                </a:lnTo>
                <a:lnTo>
                  <a:pt x="33794" y="137337"/>
                </a:lnTo>
                <a:lnTo>
                  <a:pt x="31266" y="71579"/>
                </a:lnTo>
                <a:lnTo>
                  <a:pt x="31700" y="71563"/>
                </a:lnTo>
                <a:lnTo>
                  <a:pt x="64476" y="71563"/>
                </a:lnTo>
                <a:lnTo>
                  <a:pt x="60385" y="66461"/>
                </a:lnTo>
                <a:lnTo>
                  <a:pt x="31069" y="66461"/>
                </a:lnTo>
                <a:lnTo>
                  <a:pt x="28627" y="2959"/>
                </a:lnTo>
                <a:close/>
              </a:path>
              <a:path w="114935" h="139064">
                <a:moveTo>
                  <a:pt x="64476" y="71563"/>
                </a:moveTo>
                <a:lnTo>
                  <a:pt x="31700" y="71563"/>
                </a:lnTo>
                <a:lnTo>
                  <a:pt x="33153" y="74692"/>
                </a:lnTo>
                <a:lnTo>
                  <a:pt x="34428" y="76989"/>
                </a:lnTo>
                <a:lnTo>
                  <a:pt x="78472" y="135620"/>
                </a:lnTo>
                <a:lnTo>
                  <a:pt x="114735" y="134226"/>
                </a:lnTo>
                <a:lnTo>
                  <a:pt x="64476" y="71563"/>
                </a:lnTo>
                <a:close/>
              </a:path>
              <a:path w="114935" h="139064">
                <a:moveTo>
                  <a:pt x="105576" y="0"/>
                </a:moveTo>
                <a:lnTo>
                  <a:pt x="35043" y="59098"/>
                </a:lnTo>
                <a:lnTo>
                  <a:pt x="31503" y="66445"/>
                </a:lnTo>
                <a:lnTo>
                  <a:pt x="31069" y="66461"/>
                </a:lnTo>
                <a:lnTo>
                  <a:pt x="60385" y="66461"/>
                </a:lnTo>
                <a:lnTo>
                  <a:pt x="59980" y="65957"/>
                </a:lnTo>
                <a:lnTo>
                  <a:pt x="10557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58673" y="2487687"/>
            <a:ext cx="82550" cy="136525"/>
          </a:xfrm>
          <a:custGeom>
            <a:avLst/>
            <a:gdLst/>
            <a:ahLst/>
            <a:cxnLst/>
            <a:rect l="l" t="t" r="r" b="b"/>
            <a:pathLst>
              <a:path w="82550" h="136525">
                <a:moveTo>
                  <a:pt x="76469" y="0"/>
                </a:moveTo>
                <a:lnTo>
                  <a:pt x="0" y="1558"/>
                </a:lnTo>
                <a:lnTo>
                  <a:pt x="2739" y="136009"/>
                </a:lnTo>
                <a:lnTo>
                  <a:pt x="82334" y="134387"/>
                </a:lnTo>
                <a:lnTo>
                  <a:pt x="81877" y="111989"/>
                </a:lnTo>
                <a:lnTo>
                  <a:pt x="30905" y="111989"/>
                </a:lnTo>
                <a:lnTo>
                  <a:pt x="30242" y="79441"/>
                </a:lnTo>
                <a:lnTo>
                  <a:pt x="74683" y="78535"/>
                </a:lnTo>
                <a:lnTo>
                  <a:pt x="74225" y="56092"/>
                </a:lnTo>
                <a:lnTo>
                  <a:pt x="29766" y="56092"/>
                </a:lnTo>
                <a:lnTo>
                  <a:pt x="29121" y="24410"/>
                </a:lnTo>
                <a:lnTo>
                  <a:pt x="76946" y="23436"/>
                </a:lnTo>
                <a:lnTo>
                  <a:pt x="76469" y="0"/>
                </a:lnTo>
                <a:close/>
              </a:path>
              <a:path w="82550" h="136525">
                <a:moveTo>
                  <a:pt x="81856" y="110952"/>
                </a:moveTo>
                <a:lnTo>
                  <a:pt x="30905" y="111989"/>
                </a:lnTo>
                <a:lnTo>
                  <a:pt x="81877" y="111989"/>
                </a:lnTo>
                <a:lnTo>
                  <a:pt x="81856" y="110952"/>
                </a:lnTo>
                <a:close/>
              </a:path>
              <a:path w="82550" h="136525">
                <a:moveTo>
                  <a:pt x="74207" y="55186"/>
                </a:moveTo>
                <a:lnTo>
                  <a:pt x="29766" y="56092"/>
                </a:lnTo>
                <a:lnTo>
                  <a:pt x="74225" y="56092"/>
                </a:lnTo>
                <a:lnTo>
                  <a:pt x="74207" y="551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100143" y="2510736"/>
            <a:ext cx="0" cy="111125"/>
          </a:xfrm>
          <a:custGeom>
            <a:avLst/>
            <a:gdLst/>
            <a:ahLst/>
            <a:cxnLst/>
            <a:rect l="l" t="t" r="r" b="b"/>
            <a:pathLst>
              <a:path w="0" h="111125">
                <a:moveTo>
                  <a:pt x="0" y="0"/>
                </a:moveTo>
                <a:lnTo>
                  <a:pt x="0" y="111037"/>
                </a:lnTo>
              </a:path>
            </a:pathLst>
          </a:custGeom>
          <a:ln w="291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047216" y="2499360"/>
            <a:ext cx="105410" cy="0"/>
          </a:xfrm>
          <a:custGeom>
            <a:avLst/>
            <a:gdLst/>
            <a:ahLst/>
            <a:cxnLst/>
            <a:rect l="l" t="t" r="r" b="b"/>
            <a:pathLst>
              <a:path w="105410" h="0">
                <a:moveTo>
                  <a:pt x="0" y="0"/>
                </a:moveTo>
                <a:lnTo>
                  <a:pt x="105396" y="0"/>
                </a:lnTo>
              </a:path>
            </a:pathLst>
          </a:custGeom>
          <a:ln w="228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085833" y="2487295"/>
            <a:ext cx="67310" cy="0"/>
          </a:xfrm>
          <a:custGeom>
            <a:avLst/>
            <a:gdLst/>
            <a:ahLst/>
            <a:cxnLst/>
            <a:rect l="l" t="t" r="r" b="b"/>
            <a:pathLst>
              <a:path w="67310" h="0">
                <a:moveTo>
                  <a:pt x="0" y="0"/>
                </a:moveTo>
                <a:lnTo>
                  <a:pt x="6673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166933" y="2487172"/>
            <a:ext cx="97790" cy="135255"/>
          </a:xfrm>
          <a:custGeom>
            <a:avLst/>
            <a:gdLst/>
            <a:ahLst/>
            <a:cxnLst/>
            <a:rect l="l" t="t" r="r" b="b"/>
            <a:pathLst>
              <a:path w="97789" h="135255">
                <a:moveTo>
                  <a:pt x="1744" y="0"/>
                </a:moveTo>
                <a:lnTo>
                  <a:pt x="0" y="134467"/>
                </a:lnTo>
                <a:lnTo>
                  <a:pt x="28647" y="134839"/>
                </a:lnTo>
                <a:lnTo>
                  <a:pt x="29255" y="87962"/>
                </a:lnTo>
                <a:lnTo>
                  <a:pt x="49093" y="87962"/>
                </a:lnTo>
                <a:lnTo>
                  <a:pt x="88774" y="70053"/>
                </a:lnTo>
                <a:lnTo>
                  <a:pt x="91217" y="66160"/>
                </a:lnTo>
                <a:lnTo>
                  <a:pt x="41954" y="66160"/>
                </a:lnTo>
                <a:lnTo>
                  <a:pt x="29540" y="65999"/>
                </a:lnTo>
                <a:lnTo>
                  <a:pt x="30104" y="22594"/>
                </a:lnTo>
                <a:lnTo>
                  <a:pt x="92992" y="22594"/>
                </a:lnTo>
                <a:lnTo>
                  <a:pt x="85507" y="11723"/>
                </a:lnTo>
                <a:lnTo>
                  <a:pt x="69931" y="3544"/>
                </a:lnTo>
                <a:lnTo>
                  <a:pt x="48014" y="600"/>
                </a:lnTo>
                <a:lnTo>
                  <a:pt x="1744" y="0"/>
                </a:lnTo>
                <a:close/>
              </a:path>
              <a:path w="97789" h="135255">
                <a:moveTo>
                  <a:pt x="49093" y="87962"/>
                </a:moveTo>
                <a:lnTo>
                  <a:pt x="29255" y="87962"/>
                </a:lnTo>
                <a:lnTo>
                  <a:pt x="44013" y="88153"/>
                </a:lnTo>
                <a:lnTo>
                  <a:pt x="49093" y="87962"/>
                </a:lnTo>
                <a:close/>
              </a:path>
              <a:path w="97789" h="135255">
                <a:moveTo>
                  <a:pt x="92992" y="22594"/>
                </a:moveTo>
                <a:lnTo>
                  <a:pt x="30104" y="22594"/>
                </a:lnTo>
                <a:lnTo>
                  <a:pt x="42777" y="22759"/>
                </a:lnTo>
                <a:lnTo>
                  <a:pt x="53698" y="24241"/>
                </a:lnTo>
                <a:lnTo>
                  <a:pt x="61458" y="28363"/>
                </a:lnTo>
                <a:lnTo>
                  <a:pt x="66059" y="35124"/>
                </a:lnTo>
                <a:lnTo>
                  <a:pt x="67500" y="44526"/>
                </a:lnTo>
                <a:lnTo>
                  <a:pt x="65796" y="54114"/>
                </a:lnTo>
                <a:lnTo>
                  <a:pt x="60971" y="60916"/>
                </a:lnTo>
                <a:lnTo>
                  <a:pt x="53023" y="64931"/>
                </a:lnTo>
                <a:lnTo>
                  <a:pt x="41954" y="66160"/>
                </a:lnTo>
                <a:lnTo>
                  <a:pt x="91217" y="66160"/>
                </a:lnTo>
                <a:lnTo>
                  <a:pt x="93609" y="62348"/>
                </a:lnTo>
                <a:lnTo>
                  <a:pt x="96563" y="53593"/>
                </a:lnTo>
                <a:lnTo>
                  <a:pt x="97637" y="43788"/>
                </a:lnTo>
                <a:lnTo>
                  <a:pt x="94743" y="25137"/>
                </a:lnTo>
                <a:lnTo>
                  <a:pt x="92992" y="22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281933" y="2489034"/>
            <a:ext cx="80010" cy="137160"/>
          </a:xfrm>
          <a:custGeom>
            <a:avLst/>
            <a:gdLst/>
            <a:ahLst/>
            <a:cxnLst/>
            <a:rect l="l" t="t" r="r" b="b"/>
            <a:pathLst>
              <a:path w="80010" h="137160">
                <a:moveTo>
                  <a:pt x="4006" y="0"/>
                </a:moveTo>
                <a:lnTo>
                  <a:pt x="0" y="134418"/>
                </a:lnTo>
                <a:lnTo>
                  <a:pt x="78880" y="136770"/>
                </a:lnTo>
                <a:lnTo>
                  <a:pt x="79579" y="113339"/>
                </a:lnTo>
                <a:lnTo>
                  <a:pt x="29334" y="111842"/>
                </a:lnTo>
                <a:lnTo>
                  <a:pt x="32644" y="853"/>
                </a:lnTo>
                <a:lnTo>
                  <a:pt x="40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61531" y="2493722"/>
            <a:ext cx="131445" cy="138430"/>
          </a:xfrm>
          <a:custGeom>
            <a:avLst/>
            <a:gdLst/>
            <a:ahLst/>
            <a:cxnLst/>
            <a:rect l="l" t="t" r="r" b="b"/>
            <a:pathLst>
              <a:path w="131445" h="138430">
                <a:moveTo>
                  <a:pt x="120301" y="103131"/>
                </a:moveTo>
                <a:lnTo>
                  <a:pt x="42437" y="103131"/>
                </a:lnTo>
                <a:lnTo>
                  <a:pt x="91255" y="105523"/>
                </a:lnTo>
                <a:lnTo>
                  <a:pt x="99806" y="136798"/>
                </a:lnTo>
                <a:lnTo>
                  <a:pt x="131022" y="138327"/>
                </a:lnTo>
                <a:lnTo>
                  <a:pt x="120301" y="103131"/>
                </a:lnTo>
                <a:close/>
              </a:path>
              <a:path w="131445" h="138430">
                <a:moveTo>
                  <a:pt x="55745" y="0"/>
                </a:moveTo>
                <a:lnTo>
                  <a:pt x="0" y="131909"/>
                </a:lnTo>
                <a:lnTo>
                  <a:pt x="31043" y="133430"/>
                </a:lnTo>
                <a:lnTo>
                  <a:pt x="42437" y="103131"/>
                </a:lnTo>
                <a:lnTo>
                  <a:pt x="120301" y="103131"/>
                </a:lnTo>
                <a:lnTo>
                  <a:pt x="114193" y="83079"/>
                </a:lnTo>
                <a:lnTo>
                  <a:pt x="85575" y="83079"/>
                </a:lnTo>
                <a:lnTo>
                  <a:pt x="49762" y="81325"/>
                </a:lnTo>
                <a:lnTo>
                  <a:pt x="67409" y="35166"/>
                </a:lnTo>
                <a:lnTo>
                  <a:pt x="68800" y="31583"/>
                </a:lnTo>
                <a:lnTo>
                  <a:pt x="69767" y="27835"/>
                </a:lnTo>
                <a:lnTo>
                  <a:pt x="70305" y="23921"/>
                </a:lnTo>
                <a:lnTo>
                  <a:pt x="96174" y="23921"/>
                </a:lnTo>
                <a:lnTo>
                  <a:pt x="89390" y="1648"/>
                </a:lnTo>
                <a:lnTo>
                  <a:pt x="55745" y="0"/>
                </a:lnTo>
                <a:close/>
              </a:path>
              <a:path w="131445" h="138430">
                <a:moveTo>
                  <a:pt x="96174" y="23921"/>
                </a:moveTo>
                <a:lnTo>
                  <a:pt x="70305" y="23921"/>
                </a:lnTo>
                <a:lnTo>
                  <a:pt x="71086" y="23959"/>
                </a:lnTo>
                <a:lnTo>
                  <a:pt x="71253" y="28835"/>
                </a:lnTo>
                <a:lnTo>
                  <a:pt x="71756" y="32771"/>
                </a:lnTo>
                <a:lnTo>
                  <a:pt x="72594" y="35768"/>
                </a:lnTo>
                <a:lnTo>
                  <a:pt x="85575" y="83079"/>
                </a:lnTo>
                <a:lnTo>
                  <a:pt x="114193" y="83079"/>
                </a:lnTo>
                <a:lnTo>
                  <a:pt x="96174" y="2392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502527" y="2501251"/>
            <a:ext cx="109220" cy="139065"/>
          </a:xfrm>
          <a:custGeom>
            <a:avLst/>
            <a:gdLst/>
            <a:ahLst/>
            <a:cxnLst/>
            <a:rect l="l" t="t" r="r" b="b"/>
            <a:pathLst>
              <a:path w="109220" h="139064">
                <a:moveTo>
                  <a:pt x="76387" y="0"/>
                </a:moveTo>
                <a:lnTo>
                  <a:pt x="34921" y="8440"/>
                </a:lnTo>
                <a:lnTo>
                  <a:pt x="7052" y="38551"/>
                </a:lnTo>
                <a:lnTo>
                  <a:pt x="0" y="67081"/>
                </a:lnTo>
                <a:lnTo>
                  <a:pt x="76" y="81517"/>
                </a:lnTo>
                <a:lnTo>
                  <a:pt x="23411" y="125362"/>
                </a:lnTo>
                <a:lnTo>
                  <a:pt x="61097" y="138338"/>
                </a:lnTo>
                <a:lnTo>
                  <a:pt x="72348" y="138698"/>
                </a:lnTo>
                <a:lnTo>
                  <a:pt x="82550" y="138080"/>
                </a:lnTo>
                <a:lnTo>
                  <a:pt x="91701" y="136482"/>
                </a:lnTo>
                <a:lnTo>
                  <a:pt x="99802" y="133906"/>
                </a:lnTo>
                <a:lnTo>
                  <a:pt x="101235" y="114064"/>
                </a:lnTo>
                <a:lnTo>
                  <a:pt x="77227" y="114064"/>
                </a:lnTo>
                <a:lnTo>
                  <a:pt x="68426" y="113973"/>
                </a:lnTo>
                <a:lnTo>
                  <a:pt x="34655" y="92903"/>
                </a:lnTo>
                <a:lnTo>
                  <a:pt x="30210" y="67081"/>
                </a:lnTo>
                <a:lnTo>
                  <a:pt x="31629" y="57575"/>
                </a:lnTo>
                <a:lnTo>
                  <a:pt x="58767" y="26778"/>
                </a:lnTo>
                <a:lnTo>
                  <a:pt x="76680" y="24914"/>
                </a:lnTo>
                <a:lnTo>
                  <a:pt x="107666" y="24914"/>
                </a:lnTo>
                <a:lnTo>
                  <a:pt x="108924" y="7482"/>
                </a:lnTo>
                <a:lnTo>
                  <a:pt x="102060" y="4741"/>
                </a:lnTo>
                <a:lnTo>
                  <a:pt x="94350" y="2580"/>
                </a:lnTo>
                <a:lnTo>
                  <a:pt x="85792" y="999"/>
                </a:lnTo>
                <a:lnTo>
                  <a:pt x="76387" y="0"/>
                </a:lnTo>
                <a:close/>
              </a:path>
              <a:path w="109220" h="139064">
                <a:moveTo>
                  <a:pt x="101696" y="107669"/>
                </a:moveTo>
                <a:lnTo>
                  <a:pt x="93862" y="110912"/>
                </a:lnTo>
                <a:lnTo>
                  <a:pt x="85705" y="113043"/>
                </a:lnTo>
                <a:lnTo>
                  <a:pt x="77227" y="114064"/>
                </a:lnTo>
                <a:lnTo>
                  <a:pt x="101235" y="114064"/>
                </a:lnTo>
                <a:lnTo>
                  <a:pt x="101696" y="107669"/>
                </a:lnTo>
                <a:close/>
              </a:path>
              <a:path w="109220" h="139064">
                <a:moveTo>
                  <a:pt x="107666" y="24914"/>
                </a:moveTo>
                <a:lnTo>
                  <a:pt x="76680" y="24914"/>
                </a:lnTo>
                <a:lnTo>
                  <a:pt x="85032" y="26018"/>
                </a:lnTo>
                <a:lnTo>
                  <a:pt x="92858" y="28084"/>
                </a:lnTo>
                <a:lnTo>
                  <a:pt x="100157" y="31113"/>
                </a:lnTo>
                <a:lnTo>
                  <a:pt x="106931" y="35105"/>
                </a:lnTo>
                <a:lnTo>
                  <a:pt x="107666" y="2491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6622363" y="2508002"/>
            <a:ext cx="88900" cy="141605"/>
          </a:xfrm>
          <a:custGeom>
            <a:avLst/>
            <a:gdLst/>
            <a:ahLst/>
            <a:cxnLst/>
            <a:rect l="l" t="t" r="r" b="b"/>
            <a:pathLst>
              <a:path w="88900" h="141605">
                <a:moveTo>
                  <a:pt x="12755" y="0"/>
                </a:moveTo>
                <a:lnTo>
                  <a:pt x="0" y="133871"/>
                </a:lnTo>
                <a:lnTo>
                  <a:pt x="79251" y="141423"/>
                </a:lnTo>
                <a:lnTo>
                  <a:pt x="81475" y="118088"/>
                </a:lnTo>
                <a:lnTo>
                  <a:pt x="30744" y="113254"/>
                </a:lnTo>
                <a:lnTo>
                  <a:pt x="33831" y="80845"/>
                </a:lnTo>
                <a:lnTo>
                  <a:pt x="78482" y="80845"/>
                </a:lnTo>
                <a:lnTo>
                  <a:pt x="80297" y="61813"/>
                </a:lnTo>
                <a:lnTo>
                  <a:pt x="36047" y="57597"/>
                </a:lnTo>
                <a:lnTo>
                  <a:pt x="39052" y="26051"/>
                </a:lnTo>
                <a:lnTo>
                  <a:pt x="87105" y="26051"/>
                </a:lnTo>
                <a:lnTo>
                  <a:pt x="88896" y="7255"/>
                </a:lnTo>
                <a:lnTo>
                  <a:pt x="12755" y="0"/>
                </a:lnTo>
                <a:close/>
              </a:path>
              <a:path w="88900" h="141605">
                <a:moveTo>
                  <a:pt x="78482" y="80845"/>
                </a:moveTo>
                <a:lnTo>
                  <a:pt x="33831" y="80845"/>
                </a:lnTo>
                <a:lnTo>
                  <a:pt x="78080" y="85062"/>
                </a:lnTo>
                <a:lnTo>
                  <a:pt x="78482" y="80845"/>
                </a:lnTo>
                <a:close/>
              </a:path>
              <a:path w="88900" h="141605">
                <a:moveTo>
                  <a:pt x="87105" y="26051"/>
                </a:moveTo>
                <a:lnTo>
                  <a:pt x="39052" y="26051"/>
                </a:lnTo>
                <a:lnTo>
                  <a:pt x="86673" y="30589"/>
                </a:lnTo>
                <a:lnTo>
                  <a:pt x="87105" y="2605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15331" y="2520563"/>
            <a:ext cx="99695" cy="138430"/>
          </a:xfrm>
          <a:custGeom>
            <a:avLst/>
            <a:gdLst/>
            <a:ahLst/>
            <a:cxnLst/>
            <a:rect l="l" t="t" r="r" b="b"/>
            <a:pathLst>
              <a:path w="99695" h="138430">
                <a:moveTo>
                  <a:pt x="3454" y="96633"/>
                </a:moveTo>
                <a:lnTo>
                  <a:pt x="16046" y="132744"/>
                </a:lnTo>
                <a:lnTo>
                  <a:pt x="48579" y="137924"/>
                </a:lnTo>
                <a:lnTo>
                  <a:pt x="59199" y="137292"/>
                </a:lnTo>
                <a:lnTo>
                  <a:pt x="90727" y="115367"/>
                </a:lnTo>
                <a:lnTo>
                  <a:pt x="46222" y="115367"/>
                </a:lnTo>
                <a:lnTo>
                  <a:pt x="38465" y="114427"/>
                </a:lnTo>
                <a:lnTo>
                  <a:pt x="28585" y="112383"/>
                </a:lnTo>
                <a:lnTo>
                  <a:pt x="19457" y="108736"/>
                </a:lnTo>
                <a:lnTo>
                  <a:pt x="11079" y="103486"/>
                </a:lnTo>
                <a:lnTo>
                  <a:pt x="3454" y="96633"/>
                </a:lnTo>
                <a:close/>
              </a:path>
              <a:path w="99695" h="138430">
                <a:moveTo>
                  <a:pt x="55834" y="0"/>
                </a:moveTo>
                <a:lnTo>
                  <a:pt x="16102" y="17546"/>
                </a:lnTo>
                <a:lnTo>
                  <a:pt x="10556" y="33653"/>
                </a:lnTo>
                <a:lnTo>
                  <a:pt x="11068" y="45805"/>
                </a:lnTo>
                <a:lnTo>
                  <a:pt x="15674" y="56923"/>
                </a:lnTo>
                <a:lnTo>
                  <a:pt x="24373" y="67006"/>
                </a:lnTo>
                <a:lnTo>
                  <a:pt x="37166" y="76054"/>
                </a:lnTo>
                <a:lnTo>
                  <a:pt x="45692" y="81065"/>
                </a:lnTo>
                <a:lnTo>
                  <a:pt x="52364" y="85415"/>
                </a:lnTo>
                <a:lnTo>
                  <a:pt x="57181" y="89102"/>
                </a:lnTo>
                <a:lnTo>
                  <a:pt x="60143" y="92128"/>
                </a:lnTo>
                <a:lnTo>
                  <a:pt x="62856" y="95722"/>
                </a:lnTo>
                <a:lnTo>
                  <a:pt x="63994" y="99329"/>
                </a:lnTo>
                <a:lnTo>
                  <a:pt x="63046" y="107142"/>
                </a:lnTo>
                <a:lnTo>
                  <a:pt x="60678" y="110339"/>
                </a:lnTo>
                <a:lnTo>
                  <a:pt x="52216" y="114737"/>
                </a:lnTo>
                <a:lnTo>
                  <a:pt x="46222" y="115367"/>
                </a:lnTo>
                <a:lnTo>
                  <a:pt x="90727" y="115367"/>
                </a:lnTo>
                <a:lnTo>
                  <a:pt x="91818" y="113006"/>
                </a:lnTo>
                <a:lnTo>
                  <a:pt x="93764" y="104070"/>
                </a:lnTo>
                <a:lnTo>
                  <a:pt x="94822" y="95336"/>
                </a:lnTo>
                <a:lnTo>
                  <a:pt x="93248" y="87509"/>
                </a:lnTo>
                <a:lnTo>
                  <a:pt x="63860" y="59260"/>
                </a:lnTo>
                <a:lnTo>
                  <a:pt x="53140" y="52947"/>
                </a:lnTo>
                <a:lnTo>
                  <a:pt x="46518" y="48167"/>
                </a:lnTo>
                <a:lnTo>
                  <a:pt x="41475" y="41668"/>
                </a:lnTo>
                <a:lnTo>
                  <a:pt x="40424" y="38319"/>
                </a:lnTo>
                <a:lnTo>
                  <a:pt x="41362" y="30562"/>
                </a:lnTo>
                <a:lnTo>
                  <a:pt x="43875" y="27383"/>
                </a:lnTo>
                <a:lnTo>
                  <a:pt x="52884" y="23285"/>
                </a:lnTo>
                <a:lnTo>
                  <a:pt x="58640" y="22686"/>
                </a:lnTo>
                <a:lnTo>
                  <a:pt x="97673" y="22686"/>
                </a:lnTo>
                <a:lnTo>
                  <a:pt x="99237" y="9762"/>
                </a:lnTo>
                <a:lnTo>
                  <a:pt x="92477" y="6686"/>
                </a:lnTo>
                <a:lnTo>
                  <a:pt x="84854" y="4150"/>
                </a:lnTo>
                <a:lnTo>
                  <a:pt x="76367" y="2155"/>
                </a:lnTo>
                <a:lnTo>
                  <a:pt x="67016" y="701"/>
                </a:lnTo>
                <a:lnTo>
                  <a:pt x="55834" y="0"/>
                </a:lnTo>
                <a:close/>
              </a:path>
              <a:path w="99695" h="138430">
                <a:moveTo>
                  <a:pt x="97673" y="22686"/>
                </a:moveTo>
                <a:lnTo>
                  <a:pt x="58640" y="22686"/>
                </a:lnTo>
                <a:lnTo>
                  <a:pt x="65651" y="23534"/>
                </a:lnTo>
                <a:lnTo>
                  <a:pt x="74302" y="25161"/>
                </a:lnTo>
                <a:lnTo>
                  <a:pt x="82245" y="27861"/>
                </a:lnTo>
                <a:lnTo>
                  <a:pt x="89479" y="31634"/>
                </a:lnTo>
                <a:lnTo>
                  <a:pt x="96003" y="36479"/>
                </a:lnTo>
                <a:lnTo>
                  <a:pt x="97673" y="22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2387666" y="3456940"/>
            <a:ext cx="6496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0">
                <a:latin typeface="微软雅黑"/>
                <a:cs typeface="微软雅黑"/>
              </a:rPr>
              <a:t>M&amp;rket-ng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32891" y="4343908"/>
            <a:ext cx="10991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70180">
              <a:lnSpc>
                <a:spcPct val="100000"/>
              </a:lnSpc>
              <a:spcBef>
                <a:spcPts val="100"/>
              </a:spcBef>
            </a:pPr>
            <a:r>
              <a:rPr dirty="0" sz="1000" spc="-80">
                <a:latin typeface="微软雅黑"/>
                <a:cs typeface="微软雅黑"/>
              </a:rPr>
              <a:t>F-n&amp;nc-ng </a:t>
            </a:r>
            <a:r>
              <a:rPr dirty="0" sz="1000">
                <a:latin typeface="微软雅黑"/>
                <a:cs typeface="微软雅黑"/>
              </a:rPr>
              <a:t>&amp;  </a:t>
            </a:r>
            <a:r>
              <a:rPr dirty="0" sz="1000" spc="-50">
                <a:latin typeface="微软雅黑"/>
                <a:cs typeface="微软雅黑"/>
              </a:rPr>
              <a:t>P&amp;yment</a:t>
            </a:r>
            <a:r>
              <a:rPr dirty="0" sz="1000" spc="-70">
                <a:latin typeface="微软雅黑"/>
                <a:cs typeface="微软雅黑"/>
              </a:rPr>
              <a:t> </a:t>
            </a:r>
            <a:r>
              <a:rPr dirty="0" sz="1000" spc="-25">
                <a:latin typeface="微软雅黑"/>
                <a:cs typeface="微软雅黑"/>
              </a:rPr>
              <a:t>Solut-on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08533" y="2246110"/>
            <a:ext cx="376555" cy="299085"/>
          </a:xfrm>
          <a:custGeom>
            <a:avLst/>
            <a:gdLst/>
            <a:ahLst/>
            <a:cxnLst/>
            <a:rect l="l" t="t" r="r" b="b"/>
            <a:pathLst>
              <a:path w="376554" h="299085">
                <a:moveTo>
                  <a:pt x="188010" y="0"/>
                </a:moveTo>
                <a:lnTo>
                  <a:pt x="138030" y="5340"/>
                </a:lnTo>
                <a:lnTo>
                  <a:pt x="93118" y="20410"/>
                </a:lnTo>
                <a:lnTo>
                  <a:pt x="55067" y="43787"/>
                </a:lnTo>
                <a:lnTo>
                  <a:pt x="25669" y="74044"/>
                </a:lnTo>
                <a:lnTo>
                  <a:pt x="6715" y="109756"/>
                </a:lnTo>
                <a:lnTo>
                  <a:pt x="0" y="149499"/>
                </a:lnTo>
                <a:lnTo>
                  <a:pt x="6715" y="189241"/>
                </a:lnTo>
                <a:lnTo>
                  <a:pt x="25669" y="224953"/>
                </a:lnTo>
                <a:lnTo>
                  <a:pt x="55067" y="255210"/>
                </a:lnTo>
                <a:lnTo>
                  <a:pt x="93118" y="278586"/>
                </a:lnTo>
                <a:lnTo>
                  <a:pt x="138030" y="293657"/>
                </a:lnTo>
                <a:lnTo>
                  <a:pt x="188010" y="298997"/>
                </a:lnTo>
                <a:lnTo>
                  <a:pt x="237991" y="293657"/>
                </a:lnTo>
                <a:lnTo>
                  <a:pt x="282904" y="278586"/>
                </a:lnTo>
                <a:lnTo>
                  <a:pt x="320955" y="255210"/>
                </a:lnTo>
                <a:lnTo>
                  <a:pt x="350353" y="224953"/>
                </a:lnTo>
                <a:lnTo>
                  <a:pt x="369306" y="189241"/>
                </a:lnTo>
                <a:lnTo>
                  <a:pt x="376022" y="149499"/>
                </a:lnTo>
                <a:lnTo>
                  <a:pt x="369306" y="109756"/>
                </a:lnTo>
                <a:lnTo>
                  <a:pt x="350353" y="74044"/>
                </a:lnTo>
                <a:lnTo>
                  <a:pt x="320955" y="43787"/>
                </a:lnTo>
                <a:lnTo>
                  <a:pt x="282904" y="20410"/>
                </a:lnTo>
                <a:lnTo>
                  <a:pt x="237991" y="5340"/>
                </a:lnTo>
                <a:lnTo>
                  <a:pt x="188010" y="0"/>
                </a:lnTo>
                <a:close/>
              </a:path>
            </a:pathLst>
          </a:custGeom>
          <a:solidFill>
            <a:srgbClr val="F3702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343389" y="2374918"/>
            <a:ext cx="104775" cy="103505"/>
          </a:xfrm>
          <a:custGeom>
            <a:avLst/>
            <a:gdLst/>
            <a:ahLst/>
            <a:cxnLst/>
            <a:rect l="l" t="t" r="r" b="b"/>
            <a:pathLst>
              <a:path w="104775" h="103505">
                <a:moveTo>
                  <a:pt x="53329" y="60867"/>
                </a:moveTo>
                <a:lnTo>
                  <a:pt x="13333" y="68706"/>
                </a:lnTo>
                <a:lnTo>
                  <a:pt x="4638" y="77467"/>
                </a:lnTo>
                <a:lnTo>
                  <a:pt x="2319" y="79311"/>
                </a:lnTo>
                <a:lnTo>
                  <a:pt x="2319" y="84844"/>
                </a:lnTo>
                <a:lnTo>
                  <a:pt x="0" y="88534"/>
                </a:lnTo>
                <a:lnTo>
                  <a:pt x="2319" y="88534"/>
                </a:lnTo>
                <a:lnTo>
                  <a:pt x="0" y="90378"/>
                </a:lnTo>
                <a:lnTo>
                  <a:pt x="0" y="97756"/>
                </a:lnTo>
                <a:lnTo>
                  <a:pt x="6957" y="103290"/>
                </a:lnTo>
                <a:lnTo>
                  <a:pt x="99703" y="103290"/>
                </a:lnTo>
                <a:lnTo>
                  <a:pt x="104341" y="97756"/>
                </a:lnTo>
                <a:lnTo>
                  <a:pt x="104341" y="79311"/>
                </a:lnTo>
                <a:lnTo>
                  <a:pt x="102022" y="77467"/>
                </a:lnTo>
                <a:lnTo>
                  <a:pt x="96769" y="72568"/>
                </a:lnTo>
                <a:lnTo>
                  <a:pt x="65140" y="61155"/>
                </a:lnTo>
                <a:lnTo>
                  <a:pt x="53329" y="60867"/>
                </a:lnTo>
                <a:close/>
              </a:path>
              <a:path w="104775" h="103505">
                <a:moveTo>
                  <a:pt x="53329" y="0"/>
                </a:moveTo>
                <a:lnTo>
                  <a:pt x="41772" y="1642"/>
                </a:lnTo>
                <a:lnTo>
                  <a:pt x="32172" y="6225"/>
                </a:lnTo>
                <a:lnTo>
                  <a:pt x="25614" y="13228"/>
                </a:lnTo>
                <a:lnTo>
                  <a:pt x="23187" y="22133"/>
                </a:lnTo>
                <a:lnTo>
                  <a:pt x="25289" y="32479"/>
                </a:lnTo>
                <a:lnTo>
                  <a:pt x="31303" y="42653"/>
                </a:lnTo>
                <a:lnTo>
                  <a:pt x="40795" y="50406"/>
                </a:lnTo>
                <a:lnTo>
                  <a:pt x="53329" y="53489"/>
                </a:lnTo>
                <a:lnTo>
                  <a:pt x="65503" y="50406"/>
                </a:lnTo>
                <a:lnTo>
                  <a:pt x="74198" y="42653"/>
                </a:lnTo>
                <a:lnTo>
                  <a:pt x="79415" y="32479"/>
                </a:lnTo>
                <a:lnTo>
                  <a:pt x="81154" y="22133"/>
                </a:lnTo>
                <a:lnTo>
                  <a:pt x="79089" y="13228"/>
                </a:lnTo>
                <a:lnTo>
                  <a:pt x="73329" y="6225"/>
                </a:lnTo>
                <a:lnTo>
                  <a:pt x="64525" y="1642"/>
                </a:lnTo>
                <a:lnTo>
                  <a:pt x="5332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273499" y="2419186"/>
            <a:ext cx="90805" cy="40640"/>
          </a:xfrm>
          <a:custGeom>
            <a:avLst/>
            <a:gdLst/>
            <a:ahLst/>
            <a:cxnLst/>
            <a:rect l="l" t="t" r="r" b="b"/>
            <a:pathLst>
              <a:path w="90804" h="40639">
                <a:moveTo>
                  <a:pt x="65017" y="0"/>
                </a:moveTo>
                <a:lnTo>
                  <a:pt x="48762" y="0"/>
                </a:lnTo>
                <a:lnTo>
                  <a:pt x="36935" y="573"/>
                </a:lnTo>
                <a:lnTo>
                  <a:pt x="29025" y="1835"/>
                </a:lnTo>
                <a:lnTo>
                  <a:pt x="24599" y="3097"/>
                </a:lnTo>
                <a:lnTo>
                  <a:pt x="23220" y="3671"/>
                </a:lnTo>
                <a:lnTo>
                  <a:pt x="13931" y="5506"/>
                </a:lnTo>
                <a:lnTo>
                  <a:pt x="9288" y="9178"/>
                </a:lnTo>
                <a:lnTo>
                  <a:pt x="2321" y="16520"/>
                </a:lnTo>
                <a:lnTo>
                  <a:pt x="0" y="18356"/>
                </a:lnTo>
                <a:lnTo>
                  <a:pt x="0" y="34876"/>
                </a:lnTo>
                <a:lnTo>
                  <a:pt x="4644" y="40383"/>
                </a:lnTo>
                <a:lnTo>
                  <a:pt x="60374" y="40383"/>
                </a:lnTo>
                <a:lnTo>
                  <a:pt x="60374" y="33041"/>
                </a:lnTo>
                <a:lnTo>
                  <a:pt x="62696" y="31205"/>
                </a:lnTo>
                <a:lnTo>
                  <a:pt x="68356" y="24981"/>
                </a:lnTo>
                <a:lnTo>
                  <a:pt x="74886" y="19961"/>
                </a:lnTo>
                <a:lnTo>
                  <a:pt x="82288" y="15975"/>
                </a:lnTo>
                <a:lnTo>
                  <a:pt x="90561" y="12848"/>
                </a:lnTo>
                <a:lnTo>
                  <a:pt x="81272" y="5506"/>
                </a:lnTo>
                <a:lnTo>
                  <a:pt x="71984" y="3671"/>
                </a:lnTo>
                <a:lnTo>
                  <a:pt x="6501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294171" y="2362493"/>
            <a:ext cx="53340" cy="51435"/>
          </a:xfrm>
          <a:custGeom>
            <a:avLst/>
            <a:gdLst/>
            <a:ahLst/>
            <a:cxnLst/>
            <a:rect l="l" t="t" r="r" b="b"/>
            <a:pathLst>
              <a:path w="53339" h="51435">
                <a:moveTo>
                  <a:pt x="27732" y="0"/>
                </a:moveTo>
                <a:lnTo>
                  <a:pt x="16574" y="1887"/>
                </a:lnTo>
                <a:lnTo>
                  <a:pt x="7800" y="6864"/>
                </a:lnTo>
                <a:lnTo>
                  <a:pt x="2058" y="13900"/>
                </a:lnTo>
                <a:lnTo>
                  <a:pt x="0" y="21967"/>
                </a:lnTo>
                <a:lnTo>
                  <a:pt x="1733" y="31949"/>
                </a:lnTo>
                <a:lnTo>
                  <a:pt x="6933" y="41417"/>
                </a:lnTo>
                <a:lnTo>
                  <a:pt x="15599" y="48482"/>
                </a:lnTo>
                <a:lnTo>
                  <a:pt x="27732" y="51257"/>
                </a:lnTo>
                <a:lnTo>
                  <a:pt x="38530" y="48482"/>
                </a:lnTo>
                <a:lnTo>
                  <a:pt x="46511" y="41417"/>
                </a:lnTo>
                <a:lnTo>
                  <a:pt x="51458" y="31949"/>
                </a:lnTo>
                <a:lnTo>
                  <a:pt x="53155" y="21967"/>
                </a:lnTo>
                <a:lnTo>
                  <a:pt x="51133" y="13900"/>
                </a:lnTo>
                <a:lnTo>
                  <a:pt x="45644" y="6864"/>
                </a:lnTo>
                <a:lnTo>
                  <a:pt x="37555" y="1887"/>
                </a:lnTo>
                <a:lnTo>
                  <a:pt x="27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29027" y="2419186"/>
            <a:ext cx="90805" cy="40640"/>
          </a:xfrm>
          <a:custGeom>
            <a:avLst/>
            <a:gdLst/>
            <a:ahLst/>
            <a:cxnLst/>
            <a:rect l="l" t="t" r="r" b="b"/>
            <a:pathLst>
              <a:path w="90804" h="40639">
                <a:moveTo>
                  <a:pt x="41796" y="0"/>
                </a:moveTo>
                <a:lnTo>
                  <a:pt x="29969" y="573"/>
                </a:lnTo>
                <a:lnTo>
                  <a:pt x="22059" y="1835"/>
                </a:lnTo>
                <a:lnTo>
                  <a:pt x="17633" y="3097"/>
                </a:lnTo>
                <a:lnTo>
                  <a:pt x="16254" y="3671"/>
                </a:lnTo>
                <a:lnTo>
                  <a:pt x="9288" y="5506"/>
                </a:lnTo>
                <a:lnTo>
                  <a:pt x="0" y="12848"/>
                </a:lnTo>
                <a:lnTo>
                  <a:pt x="7945" y="15975"/>
                </a:lnTo>
                <a:lnTo>
                  <a:pt x="14803" y="19961"/>
                </a:lnTo>
                <a:lnTo>
                  <a:pt x="21225" y="24981"/>
                </a:lnTo>
                <a:lnTo>
                  <a:pt x="27865" y="31205"/>
                </a:lnTo>
                <a:lnTo>
                  <a:pt x="27865" y="33041"/>
                </a:lnTo>
                <a:lnTo>
                  <a:pt x="30186" y="36711"/>
                </a:lnTo>
                <a:lnTo>
                  <a:pt x="30186" y="40383"/>
                </a:lnTo>
                <a:lnTo>
                  <a:pt x="85916" y="40383"/>
                </a:lnTo>
                <a:lnTo>
                  <a:pt x="90561" y="34876"/>
                </a:lnTo>
                <a:lnTo>
                  <a:pt x="90561" y="23863"/>
                </a:lnTo>
                <a:lnTo>
                  <a:pt x="88238" y="18356"/>
                </a:lnTo>
                <a:lnTo>
                  <a:pt x="85916" y="16520"/>
                </a:lnTo>
                <a:lnTo>
                  <a:pt x="81272" y="9178"/>
                </a:lnTo>
                <a:lnTo>
                  <a:pt x="74306" y="5506"/>
                </a:lnTo>
                <a:lnTo>
                  <a:pt x="67340" y="3671"/>
                </a:lnTo>
                <a:lnTo>
                  <a:pt x="65961" y="3097"/>
                </a:lnTo>
                <a:lnTo>
                  <a:pt x="61534" y="1835"/>
                </a:lnTo>
                <a:lnTo>
                  <a:pt x="53625" y="573"/>
                </a:lnTo>
                <a:lnTo>
                  <a:pt x="4179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442808" y="2362493"/>
            <a:ext cx="56515" cy="51435"/>
          </a:xfrm>
          <a:custGeom>
            <a:avLst/>
            <a:gdLst/>
            <a:ahLst/>
            <a:cxnLst/>
            <a:rect l="l" t="t" r="r" b="b"/>
            <a:pathLst>
              <a:path w="56514" h="51435">
                <a:moveTo>
                  <a:pt x="28054" y="0"/>
                </a:moveTo>
                <a:lnTo>
                  <a:pt x="16766" y="1887"/>
                </a:lnTo>
                <a:lnTo>
                  <a:pt x="7890" y="6864"/>
                </a:lnTo>
                <a:lnTo>
                  <a:pt x="2082" y="13900"/>
                </a:lnTo>
                <a:lnTo>
                  <a:pt x="0" y="21967"/>
                </a:lnTo>
                <a:lnTo>
                  <a:pt x="1753" y="31949"/>
                </a:lnTo>
                <a:lnTo>
                  <a:pt x="7013" y="41417"/>
                </a:lnTo>
                <a:lnTo>
                  <a:pt x="15780" y="48482"/>
                </a:lnTo>
                <a:lnTo>
                  <a:pt x="28054" y="51257"/>
                </a:lnTo>
                <a:lnTo>
                  <a:pt x="40327" y="48482"/>
                </a:lnTo>
                <a:lnTo>
                  <a:pt x="49094" y="41417"/>
                </a:lnTo>
                <a:lnTo>
                  <a:pt x="54355" y="31949"/>
                </a:lnTo>
                <a:lnTo>
                  <a:pt x="56108" y="21967"/>
                </a:lnTo>
                <a:lnTo>
                  <a:pt x="53697" y="13900"/>
                </a:lnTo>
                <a:lnTo>
                  <a:pt x="47341" y="6864"/>
                </a:lnTo>
                <a:lnTo>
                  <a:pt x="38355" y="1887"/>
                </a:lnTo>
                <a:lnTo>
                  <a:pt x="2805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2885422" y="2563876"/>
            <a:ext cx="1061085" cy="318135"/>
          </a:xfrm>
          <a:prstGeom prst="rect">
            <a:avLst/>
          </a:prstGeom>
        </p:spPr>
        <p:txBody>
          <a:bodyPr wrap="square" lIns="0" tIns="27940" rIns="0" bIns="0" rtlCol="0" vert="horz">
            <a:spAutoFit/>
          </a:bodyPr>
          <a:lstStyle/>
          <a:p>
            <a:pPr marL="12700" marR="5080" indent="149225">
              <a:lnSpc>
                <a:spcPts val="1100"/>
              </a:lnSpc>
              <a:spcBef>
                <a:spcPts val="220"/>
              </a:spcBef>
            </a:pPr>
            <a:r>
              <a:rPr dirty="0" sz="1000" spc="-45">
                <a:latin typeface="微软雅黑"/>
                <a:cs typeface="微软雅黑"/>
              </a:rPr>
              <a:t>Profess-on&amp;l  </a:t>
            </a:r>
            <a:r>
              <a:rPr dirty="0" sz="1000" spc="-30">
                <a:latin typeface="微软雅黑"/>
                <a:cs typeface="微软雅黑"/>
              </a:rPr>
              <a:t>Serv-ce</a:t>
            </a:r>
            <a:r>
              <a:rPr dirty="0" sz="1000" spc="-25">
                <a:latin typeface="微软雅黑"/>
                <a:cs typeface="微软雅黑"/>
              </a:rPr>
              <a:t> Prov-ders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222742" y="3371596"/>
            <a:ext cx="88582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32410">
              <a:lnSpc>
                <a:spcPct val="100000"/>
              </a:lnSpc>
              <a:spcBef>
                <a:spcPts val="100"/>
              </a:spcBef>
            </a:pPr>
            <a:r>
              <a:rPr dirty="0" sz="1000" spc="-100">
                <a:latin typeface="微软雅黑"/>
                <a:cs typeface="微软雅黑"/>
              </a:rPr>
              <a:t>D-g-t&amp;l  </a:t>
            </a:r>
            <a:r>
              <a:rPr dirty="0" sz="1000">
                <a:latin typeface="微软雅黑"/>
                <a:cs typeface="微软雅黑"/>
              </a:rPr>
              <a:t>E</a:t>
            </a:r>
            <a:r>
              <a:rPr dirty="0" sz="1000" spc="-5">
                <a:latin typeface="微软雅黑"/>
                <a:cs typeface="微软雅黑"/>
              </a:rPr>
              <a:t>n</a:t>
            </a:r>
            <a:r>
              <a:rPr dirty="0" sz="1000">
                <a:latin typeface="微软雅黑"/>
                <a:cs typeface="微软雅黑"/>
              </a:rPr>
              <a:t>t</a:t>
            </a:r>
            <a:r>
              <a:rPr dirty="0" sz="1000" spc="-5">
                <a:latin typeface="微软雅黑"/>
                <a:cs typeface="微软雅黑"/>
              </a:rPr>
              <a:t>e</a:t>
            </a:r>
            <a:r>
              <a:rPr dirty="0" sz="1000" spc="0">
                <a:latin typeface="微软雅黑"/>
                <a:cs typeface="微软雅黑"/>
              </a:rPr>
              <a:t>r</a:t>
            </a:r>
            <a:r>
              <a:rPr dirty="0" sz="1000">
                <a:latin typeface="微软雅黑"/>
                <a:cs typeface="微软雅黑"/>
              </a:rPr>
              <a:t>t</a:t>
            </a:r>
            <a:r>
              <a:rPr dirty="0" sz="1000" spc="-325">
                <a:latin typeface="微软雅黑"/>
                <a:cs typeface="微软雅黑"/>
              </a:rPr>
              <a:t>&amp;</a:t>
            </a:r>
            <a:r>
              <a:rPr dirty="0" sz="1000" spc="-175">
                <a:latin typeface="微软雅黑"/>
                <a:cs typeface="微软雅黑"/>
              </a:rPr>
              <a:t>-</a:t>
            </a:r>
            <a:r>
              <a:rPr dirty="0" sz="1000" spc="-5">
                <a:latin typeface="微软雅黑"/>
                <a:cs typeface="微软雅黑"/>
              </a:rPr>
              <a:t>n</a:t>
            </a:r>
            <a:r>
              <a:rPr dirty="0" sz="1000">
                <a:latin typeface="微软雅黑"/>
                <a:cs typeface="微软雅黑"/>
              </a:rPr>
              <a:t>m</a:t>
            </a:r>
            <a:r>
              <a:rPr dirty="0" sz="1000" spc="-5">
                <a:latin typeface="微软雅黑"/>
                <a:cs typeface="微软雅黑"/>
              </a:rPr>
              <a:t>en</a:t>
            </a:r>
            <a:r>
              <a:rPr dirty="0" sz="1000">
                <a:latin typeface="微软雅黑"/>
                <a:cs typeface="微软雅黑"/>
              </a:rPr>
              <a:t>t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970264" y="3124200"/>
            <a:ext cx="1005840" cy="23774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9726076" y="4337811"/>
            <a:ext cx="548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45">
                <a:latin typeface="微软雅黑"/>
                <a:cs typeface="微软雅黑"/>
              </a:rPr>
              <a:t>Log-st-cs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8310135" y="2701036"/>
            <a:ext cx="975994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35">
                <a:latin typeface="微软雅黑"/>
                <a:cs typeface="微软雅黑"/>
              </a:rPr>
              <a:t>Mob-le</a:t>
            </a:r>
            <a:r>
              <a:rPr dirty="0" sz="1000" spc="-60">
                <a:latin typeface="微软雅黑"/>
                <a:cs typeface="微软雅黑"/>
              </a:rPr>
              <a:t> </a:t>
            </a:r>
            <a:r>
              <a:rPr dirty="0" sz="1000" spc="-5">
                <a:latin typeface="微软雅黑"/>
                <a:cs typeface="微软雅黑"/>
              </a:rPr>
              <a:t>Browser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450692" y="1534435"/>
            <a:ext cx="1310431" cy="38981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7220938" y="2198116"/>
            <a:ext cx="96139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latin typeface="微软雅黑"/>
                <a:cs typeface="微软雅黑"/>
              </a:rPr>
              <a:t>Loc&amp;t-on</a:t>
            </a:r>
            <a:r>
              <a:rPr dirty="0" sz="1000" spc="60">
                <a:latin typeface="微软雅黑"/>
                <a:cs typeface="微软雅黑"/>
              </a:rPr>
              <a:t> </a:t>
            </a:r>
            <a:r>
              <a:rPr dirty="0" sz="1000" spc="-70">
                <a:latin typeface="微软雅黑"/>
                <a:cs typeface="微软雅黑"/>
              </a:rPr>
              <a:t>B&amp;sed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4023359" y="1874520"/>
            <a:ext cx="502920" cy="32003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4269604" y="1889252"/>
            <a:ext cx="872490" cy="51752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60045">
              <a:lnSpc>
                <a:spcPct val="100000"/>
              </a:lnSpc>
              <a:spcBef>
                <a:spcPts val="770"/>
              </a:spcBef>
            </a:pPr>
            <a:r>
              <a:rPr dirty="0" sz="1200" spc="-5" b="1">
                <a:latin typeface="微软雅黑"/>
                <a:cs typeface="微软雅黑"/>
              </a:rPr>
              <a:t>W</a:t>
            </a:r>
            <a:r>
              <a:rPr dirty="0" sz="1200" b="1">
                <a:latin typeface="微软雅黑"/>
                <a:cs typeface="微软雅黑"/>
              </a:rPr>
              <a:t>e</a:t>
            </a:r>
            <a:r>
              <a:rPr dirty="0" sz="1200" spc="-5" b="1">
                <a:latin typeface="微软雅黑"/>
                <a:cs typeface="微软雅黑"/>
              </a:rPr>
              <a:t>i</a:t>
            </a:r>
            <a:r>
              <a:rPr dirty="0" sz="1200" b="1">
                <a:latin typeface="微软雅黑"/>
                <a:cs typeface="微软雅黑"/>
              </a:rPr>
              <a:t>bo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dirty="0" sz="1000" spc="-85">
                <a:latin typeface="微软雅黑"/>
                <a:cs typeface="微软雅黑"/>
              </a:rPr>
              <a:t>Soc-&amp;l</a:t>
            </a:r>
            <a:r>
              <a:rPr dirty="0" sz="1000" spc="-80">
                <a:latin typeface="微软雅黑"/>
                <a:cs typeface="微软雅黑"/>
              </a:rPr>
              <a:t> </a:t>
            </a:r>
            <a:r>
              <a:rPr dirty="0" sz="1000" spc="-105">
                <a:latin typeface="微软雅黑"/>
                <a:cs typeface="微软雅黑"/>
              </a:rPr>
              <a:t>Med-&amp;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934455" y="4123944"/>
            <a:ext cx="542544" cy="22555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971237" y="3893620"/>
            <a:ext cx="380365" cy="300355"/>
          </a:xfrm>
          <a:custGeom>
            <a:avLst/>
            <a:gdLst/>
            <a:ahLst/>
            <a:cxnLst/>
            <a:rect l="l" t="t" r="r" b="b"/>
            <a:pathLst>
              <a:path w="380364" h="300354">
                <a:moveTo>
                  <a:pt x="190152" y="0"/>
                </a:moveTo>
                <a:lnTo>
                  <a:pt x="139602" y="5354"/>
                </a:lnTo>
                <a:lnTo>
                  <a:pt x="94178" y="20467"/>
                </a:lnTo>
                <a:lnTo>
                  <a:pt x="55694" y="43907"/>
                </a:lnTo>
                <a:lnTo>
                  <a:pt x="25961" y="74247"/>
                </a:lnTo>
                <a:lnTo>
                  <a:pt x="6792" y="110057"/>
                </a:lnTo>
                <a:lnTo>
                  <a:pt x="0" y="149909"/>
                </a:lnTo>
                <a:lnTo>
                  <a:pt x="6792" y="189761"/>
                </a:lnTo>
                <a:lnTo>
                  <a:pt x="25961" y="225571"/>
                </a:lnTo>
                <a:lnTo>
                  <a:pt x="55694" y="255910"/>
                </a:lnTo>
                <a:lnTo>
                  <a:pt x="94178" y="279351"/>
                </a:lnTo>
                <a:lnTo>
                  <a:pt x="139602" y="294462"/>
                </a:lnTo>
                <a:lnTo>
                  <a:pt x="190152" y="299817"/>
                </a:lnTo>
                <a:lnTo>
                  <a:pt x="240702" y="294462"/>
                </a:lnTo>
                <a:lnTo>
                  <a:pt x="286125" y="279351"/>
                </a:lnTo>
                <a:lnTo>
                  <a:pt x="324610" y="255910"/>
                </a:lnTo>
                <a:lnTo>
                  <a:pt x="354342" y="225571"/>
                </a:lnTo>
                <a:lnTo>
                  <a:pt x="373511" y="189761"/>
                </a:lnTo>
                <a:lnTo>
                  <a:pt x="380304" y="149909"/>
                </a:lnTo>
                <a:lnTo>
                  <a:pt x="373511" y="110057"/>
                </a:lnTo>
                <a:lnTo>
                  <a:pt x="354342" y="74247"/>
                </a:lnTo>
                <a:lnTo>
                  <a:pt x="324610" y="43907"/>
                </a:lnTo>
                <a:lnTo>
                  <a:pt x="286125" y="20467"/>
                </a:lnTo>
                <a:lnTo>
                  <a:pt x="240702" y="5354"/>
                </a:lnTo>
                <a:lnTo>
                  <a:pt x="190152" y="0"/>
                </a:lnTo>
                <a:close/>
              </a:path>
            </a:pathLst>
          </a:custGeom>
          <a:solidFill>
            <a:srgbClr val="FF7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001511" y="3941064"/>
            <a:ext cx="313943" cy="19202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629143" y="3822191"/>
            <a:ext cx="1368552" cy="429768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264408" y="3810000"/>
            <a:ext cx="1210056" cy="45415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587240" y="2889504"/>
            <a:ext cx="1155191" cy="53035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847481" y="3795731"/>
            <a:ext cx="836671" cy="42667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2294130" y="3155426"/>
            <a:ext cx="903605" cy="26755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8244840" y="2526792"/>
            <a:ext cx="1094231" cy="16459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544957" y="3487032"/>
            <a:ext cx="1616189" cy="16816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348984" y="3002279"/>
            <a:ext cx="1706880" cy="34137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9427464" y="3983735"/>
            <a:ext cx="1143000" cy="37490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909559" y="4142232"/>
            <a:ext cx="1621536" cy="90830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915697" y="4353952"/>
            <a:ext cx="1296426" cy="43117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062216" y="1895855"/>
            <a:ext cx="1164335" cy="3048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288861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libaba</a:t>
            </a:r>
            <a:r>
              <a:rPr dirty="0" sz="2400" spc="-8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Ecosystem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82840" y="1987295"/>
            <a:ext cx="1975103" cy="2688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04061" y="2109829"/>
            <a:ext cx="1732280" cy="2444750"/>
          </a:xfrm>
          <a:custGeom>
            <a:avLst/>
            <a:gdLst/>
            <a:ahLst/>
            <a:cxnLst/>
            <a:rect l="l" t="t" r="r" b="b"/>
            <a:pathLst>
              <a:path w="1732279" h="2444750">
                <a:moveTo>
                  <a:pt x="1648258" y="0"/>
                </a:moveTo>
                <a:lnTo>
                  <a:pt x="83958" y="0"/>
                </a:lnTo>
                <a:lnTo>
                  <a:pt x="51278" y="6598"/>
                </a:lnTo>
                <a:lnTo>
                  <a:pt x="24590" y="24591"/>
                </a:lnTo>
                <a:lnTo>
                  <a:pt x="6597" y="51279"/>
                </a:lnTo>
                <a:lnTo>
                  <a:pt x="0" y="83959"/>
                </a:lnTo>
                <a:lnTo>
                  <a:pt x="0" y="2360709"/>
                </a:lnTo>
                <a:lnTo>
                  <a:pt x="6597" y="2393389"/>
                </a:lnTo>
                <a:lnTo>
                  <a:pt x="24590" y="2420077"/>
                </a:lnTo>
                <a:lnTo>
                  <a:pt x="51278" y="2438070"/>
                </a:lnTo>
                <a:lnTo>
                  <a:pt x="83958" y="2444668"/>
                </a:lnTo>
                <a:lnTo>
                  <a:pt x="1648258" y="2444668"/>
                </a:lnTo>
                <a:lnTo>
                  <a:pt x="1680938" y="2438070"/>
                </a:lnTo>
                <a:lnTo>
                  <a:pt x="1707626" y="2420077"/>
                </a:lnTo>
                <a:lnTo>
                  <a:pt x="1725619" y="2393389"/>
                </a:lnTo>
                <a:lnTo>
                  <a:pt x="1732217" y="2360709"/>
                </a:lnTo>
                <a:lnTo>
                  <a:pt x="1732217" y="83959"/>
                </a:lnTo>
                <a:lnTo>
                  <a:pt x="1725619" y="51279"/>
                </a:lnTo>
                <a:lnTo>
                  <a:pt x="1707626" y="24591"/>
                </a:lnTo>
                <a:lnTo>
                  <a:pt x="1680938" y="6598"/>
                </a:lnTo>
                <a:lnTo>
                  <a:pt x="164825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04061" y="2109829"/>
            <a:ext cx="1732280" cy="2444750"/>
          </a:xfrm>
          <a:custGeom>
            <a:avLst/>
            <a:gdLst/>
            <a:ahLst/>
            <a:cxnLst/>
            <a:rect l="l" t="t" r="r" b="b"/>
            <a:pathLst>
              <a:path w="1732279" h="2444750">
                <a:moveTo>
                  <a:pt x="0" y="83959"/>
                </a:moveTo>
                <a:lnTo>
                  <a:pt x="6597" y="51278"/>
                </a:lnTo>
                <a:lnTo>
                  <a:pt x="24591" y="24591"/>
                </a:lnTo>
                <a:lnTo>
                  <a:pt x="51278" y="6597"/>
                </a:lnTo>
                <a:lnTo>
                  <a:pt x="83959" y="0"/>
                </a:lnTo>
                <a:lnTo>
                  <a:pt x="1648259" y="0"/>
                </a:lnTo>
                <a:lnTo>
                  <a:pt x="1680939" y="6597"/>
                </a:lnTo>
                <a:lnTo>
                  <a:pt x="1707626" y="24591"/>
                </a:lnTo>
                <a:lnTo>
                  <a:pt x="1725620" y="51278"/>
                </a:lnTo>
                <a:lnTo>
                  <a:pt x="1732218" y="83959"/>
                </a:lnTo>
                <a:lnTo>
                  <a:pt x="1732218" y="2360709"/>
                </a:lnTo>
                <a:lnTo>
                  <a:pt x="1725620" y="2393389"/>
                </a:lnTo>
                <a:lnTo>
                  <a:pt x="1707626" y="2420076"/>
                </a:lnTo>
                <a:lnTo>
                  <a:pt x="1680939" y="2438070"/>
                </a:lnTo>
                <a:lnTo>
                  <a:pt x="1648259" y="2444668"/>
                </a:lnTo>
                <a:lnTo>
                  <a:pt x="83959" y="2444668"/>
                </a:lnTo>
                <a:lnTo>
                  <a:pt x="51278" y="2438070"/>
                </a:lnTo>
                <a:lnTo>
                  <a:pt x="24591" y="2420076"/>
                </a:lnTo>
                <a:lnTo>
                  <a:pt x="6597" y="2393389"/>
                </a:lnTo>
                <a:lnTo>
                  <a:pt x="0" y="2360709"/>
                </a:lnTo>
                <a:lnTo>
                  <a:pt x="0" y="83959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717535" y="3575303"/>
            <a:ext cx="1490472" cy="161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017464" y="1557767"/>
            <a:ext cx="914400" cy="3848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01600">
              <a:lnSpc>
                <a:spcPct val="102600"/>
              </a:lnSpc>
              <a:spcBef>
                <a:spcPts val="90"/>
              </a:spcBef>
            </a:pP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Wholesale  </a:t>
            </a: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Mar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ke</a:t>
            </a: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tp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l</a:t>
            </a: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ac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e</a:t>
            </a: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05136" y="1563863"/>
            <a:ext cx="711835" cy="3816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33985" marR="5080" indent="-121920">
              <a:lnSpc>
                <a:spcPct val="100899"/>
              </a:lnSpc>
              <a:spcBef>
                <a:spcPts val="115"/>
              </a:spcBef>
            </a:pPr>
            <a:r>
              <a:rPr dirty="0" sz="1150" spc="35">
                <a:solidFill>
                  <a:srgbClr val="F97D00"/>
                </a:solidFill>
                <a:latin typeface="Franklin Gothic Medium"/>
                <a:cs typeface="Franklin Gothic Medium"/>
              </a:rPr>
              <a:t>W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h</a:t>
            </a: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o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l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e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s</a:t>
            </a: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a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l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e  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Sellers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00348" y="4988984"/>
            <a:ext cx="1990725" cy="114300"/>
          </a:xfrm>
          <a:custGeom>
            <a:avLst/>
            <a:gdLst/>
            <a:ahLst/>
            <a:cxnLst/>
            <a:rect l="l" t="t" r="r" b="b"/>
            <a:pathLst>
              <a:path w="199072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48" y="76200"/>
                </a:lnTo>
                <a:lnTo>
                  <a:pt x="95248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1990725" h="114300">
                <a:moveTo>
                  <a:pt x="114300" y="38099"/>
                </a:moveTo>
                <a:lnTo>
                  <a:pt x="95248" y="38100"/>
                </a:lnTo>
                <a:lnTo>
                  <a:pt x="95248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1990725" h="114300">
                <a:moveTo>
                  <a:pt x="114300" y="76199"/>
                </a:moveTo>
                <a:lnTo>
                  <a:pt x="95248" y="76200"/>
                </a:lnTo>
                <a:lnTo>
                  <a:pt x="114300" y="76200"/>
                </a:lnTo>
                <a:close/>
              </a:path>
              <a:path w="1990725" h="114300">
                <a:moveTo>
                  <a:pt x="1990590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1990590" y="76198"/>
                </a:lnTo>
                <a:lnTo>
                  <a:pt x="1990590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62159" y="1987295"/>
            <a:ext cx="1917192" cy="268833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83374" y="2109829"/>
            <a:ext cx="1673860" cy="2444750"/>
          </a:xfrm>
          <a:custGeom>
            <a:avLst/>
            <a:gdLst/>
            <a:ahLst/>
            <a:cxnLst/>
            <a:rect l="l" t="t" r="r" b="b"/>
            <a:pathLst>
              <a:path w="1673859" h="2444750">
                <a:moveTo>
                  <a:pt x="1592676" y="0"/>
                </a:moveTo>
                <a:lnTo>
                  <a:pt x="81127" y="0"/>
                </a:lnTo>
                <a:lnTo>
                  <a:pt x="49549" y="6375"/>
                </a:lnTo>
                <a:lnTo>
                  <a:pt x="23761" y="23762"/>
                </a:lnTo>
                <a:lnTo>
                  <a:pt x="6375" y="49550"/>
                </a:lnTo>
                <a:lnTo>
                  <a:pt x="0" y="81128"/>
                </a:lnTo>
                <a:lnTo>
                  <a:pt x="0" y="2363539"/>
                </a:lnTo>
                <a:lnTo>
                  <a:pt x="6375" y="2395119"/>
                </a:lnTo>
                <a:lnTo>
                  <a:pt x="23761" y="2420906"/>
                </a:lnTo>
                <a:lnTo>
                  <a:pt x="49549" y="2438293"/>
                </a:lnTo>
                <a:lnTo>
                  <a:pt x="81127" y="2444668"/>
                </a:lnTo>
                <a:lnTo>
                  <a:pt x="1592676" y="2444668"/>
                </a:lnTo>
                <a:lnTo>
                  <a:pt x="1624255" y="2438293"/>
                </a:lnTo>
                <a:lnTo>
                  <a:pt x="1650042" y="2420906"/>
                </a:lnTo>
                <a:lnTo>
                  <a:pt x="1667428" y="2395119"/>
                </a:lnTo>
                <a:lnTo>
                  <a:pt x="1673804" y="2363539"/>
                </a:lnTo>
                <a:lnTo>
                  <a:pt x="1673804" y="81128"/>
                </a:lnTo>
                <a:lnTo>
                  <a:pt x="1667428" y="49550"/>
                </a:lnTo>
                <a:lnTo>
                  <a:pt x="1650042" y="23762"/>
                </a:lnTo>
                <a:lnTo>
                  <a:pt x="1624255" y="6375"/>
                </a:lnTo>
                <a:lnTo>
                  <a:pt x="159267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783374" y="2109829"/>
            <a:ext cx="1673860" cy="2444750"/>
          </a:xfrm>
          <a:custGeom>
            <a:avLst/>
            <a:gdLst/>
            <a:ahLst/>
            <a:cxnLst/>
            <a:rect l="l" t="t" r="r" b="b"/>
            <a:pathLst>
              <a:path w="1673859" h="2444750">
                <a:moveTo>
                  <a:pt x="0" y="81128"/>
                </a:moveTo>
                <a:lnTo>
                  <a:pt x="6375" y="49549"/>
                </a:lnTo>
                <a:lnTo>
                  <a:pt x="23761" y="23761"/>
                </a:lnTo>
                <a:lnTo>
                  <a:pt x="49549" y="6375"/>
                </a:lnTo>
                <a:lnTo>
                  <a:pt x="81128" y="0"/>
                </a:lnTo>
                <a:lnTo>
                  <a:pt x="1592676" y="0"/>
                </a:lnTo>
                <a:lnTo>
                  <a:pt x="1624254" y="6375"/>
                </a:lnTo>
                <a:lnTo>
                  <a:pt x="1650042" y="23761"/>
                </a:lnTo>
                <a:lnTo>
                  <a:pt x="1667428" y="49549"/>
                </a:lnTo>
                <a:lnTo>
                  <a:pt x="1673804" y="81128"/>
                </a:lnTo>
                <a:lnTo>
                  <a:pt x="1673804" y="2363540"/>
                </a:lnTo>
                <a:lnTo>
                  <a:pt x="1667428" y="2395118"/>
                </a:lnTo>
                <a:lnTo>
                  <a:pt x="1650042" y="2420906"/>
                </a:lnTo>
                <a:lnTo>
                  <a:pt x="1624254" y="2438292"/>
                </a:lnTo>
                <a:lnTo>
                  <a:pt x="1592676" y="2444668"/>
                </a:lnTo>
                <a:lnTo>
                  <a:pt x="81128" y="2444668"/>
                </a:lnTo>
                <a:lnTo>
                  <a:pt x="49549" y="2438292"/>
                </a:lnTo>
                <a:lnTo>
                  <a:pt x="23761" y="2420906"/>
                </a:lnTo>
                <a:lnTo>
                  <a:pt x="6375" y="2395118"/>
                </a:lnTo>
                <a:lnTo>
                  <a:pt x="0" y="2363540"/>
                </a:lnTo>
                <a:lnTo>
                  <a:pt x="0" y="81128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730240" y="1987295"/>
            <a:ext cx="1572767" cy="26883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53869" y="2109829"/>
            <a:ext cx="1328420" cy="2444750"/>
          </a:xfrm>
          <a:custGeom>
            <a:avLst/>
            <a:gdLst/>
            <a:ahLst/>
            <a:cxnLst/>
            <a:rect l="l" t="t" r="r" b="b"/>
            <a:pathLst>
              <a:path w="1328420" h="2444750">
                <a:moveTo>
                  <a:pt x="1263448" y="0"/>
                </a:moveTo>
                <a:lnTo>
                  <a:pt x="64358" y="0"/>
                </a:lnTo>
                <a:lnTo>
                  <a:pt x="39307" y="5057"/>
                </a:lnTo>
                <a:lnTo>
                  <a:pt x="18849" y="18850"/>
                </a:lnTo>
                <a:lnTo>
                  <a:pt x="5057" y="39308"/>
                </a:lnTo>
                <a:lnTo>
                  <a:pt x="0" y="64359"/>
                </a:lnTo>
                <a:lnTo>
                  <a:pt x="0" y="2380308"/>
                </a:lnTo>
                <a:lnTo>
                  <a:pt x="5057" y="2405360"/>
                </a:lnTo>
                <a:lnTo>
                  <a:pt x="18849" y="2425818"/>
                </a:lnTo>
                <a:lnTo>
                  <a:pt x="39307" y="2439610"/>
                </a:lnTo>
                <a:lnTo>
                  <a:pt x="64358" y="2444668"/>
                </a:lnTo>
                <a:lnTo>
                  <a:pt x="1263448" y="2444668"/>
                </a:lnTo>
                <a:lnTo>
                  <a:pt x="1288499" y="2439610"/>
                </a:lnTo>
                <a:lnTo>
                  <a:pt x="1308957" y="2425818"/>
                </a:lnTo>
                <a:lnTo>
                  <a:pt x="1322750" y="2405360"/>
                </a:lnTo>
                <a:lnTo>
                  <a:pt x="1327807" y="2380308"/>
                </a:lnTo>
                <a:lnTo>
                  <a:pt x="1327807" y="64359"/>
                </a:lnTo>
                <a:lnTo>
                  <a:pt x="1322750" y="39308"/>
                </a:lnTo>
                <a:lnTo>
                  <a:pt x="1308957" y="18850"/>
                </a:lnTo>
                <a:lnTo>
                  <a:pt x="1288499" y="5057"/>
                </a:lnTo>
                <a:lnTo>
                  <a:pt x="12634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53869" y="2109829"/>
            <a:ext cx="1328420" cy="2444750"/>
          </a:xfrm>
          <a:custGeom>
            <a:avLst/>
            <a:gdLst/>
            <a:ahLst/>
            <a:cxnLst/>
            <a:rect l="l" t="t" r="r" b="b"/>
            <a:pathLst>
              <a:path w="1328420" h="2444750">
                <a:moveTo>
                  <a:pt x="0" y="64359"/>
                </a:moveTo>
                <a:lnTo>
                  <a:pt x="5057" y="39307"/>
                </a:lnTo>
                <a:lnTo>
                  <a:pt x="18850" y="18850"/>
                </a:lnTo>
                <a:lnTo>
                  <a:pt x="39308" y="5057"/>
                </a:lnTo>
                <a:lnTo>
                  <a:pt x="64359" y="0"/>
                </a:lnTo>
                <a:lnTo>
                  <a:pt x="1263448" y="0"/>
                </a:lnTo>
                <a:lnTo>
                  <a:pt x="1288499" y="5057"/>
                </a:lnTo>
                <a:lnTo>
                  <a:pt x="1308957" y="18850"/>
                </a:lnTo>
                <a:lnTo>
                  <a:pt x="1322750" y="39307"/>
                </a:lnTo>
                <a:lnTo>
                  <a:pt x="1327808" y="64359"/>
                </a:lnTo>
                <a:lnTo>
                  <a:pt x="1327808" y="2380308"/>
                </a:lnTo>
                <a:lnTo>
                  <a:pt x="1322750" y="2405359"/>
                </a:lnTo>
                <a:lnTo>
                  <a:pt x="1308957" y="2425817"/>
                </a:lnTo>
                <a:lnTo>
                  <a:pt x="1288499" y="2439610"/>
                </a:lnTo>
                <a:lnTo>
                  <a:pt x="1263448" y="2444668"/>
                </a:lnTo>
                <a:lnTo>
                  <a:pt x="64359" y="2444668"/>
                </a:lnTo>
                <a:lnTo>
                  <a:pt x="39308" y="2439610"/>
                </a:lnTo>
                <a:lnTo>
                  <a:pt x="18850" y="2425817"/>
                </a:lnTo>
                <a:lnTo>
                  <a:pt x="5057" y="2405359"/>
                </a:lnTo>
                <a:lnTo>
                  <a:pt x="0" y="2380308"/>
                </a:lnTo>
                <a:lnTo>
                  <a:pt x="0" y="64359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923032" y="1990344"/>
            <a:ext cx="2551175" cy="26883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473" y="2112530"/>
            <a:ext cx="2307590" cy="2444750"/>
          </a:xfrm>
          <a:custGeom>
            <a:avLst/>
            <a:gdLst/>
            <a:ahLst/>
            <a:cxnLst/>
            <a:rect l="l" t="t" r="r" b="b"/>
            <a:pathLst>
              <a:path w="2307590" h="2444750">
                <a:moveTo>
                  <a:pt x="2195539" y="0"/>
                </a:moveTo>
                <a:lnTo>
                  <a:pt x="111838" y="0"/>
                </a:lnTo>
                <a:lnTo>
                  <a:pt x="68306" y="8788"/>
                </a:lnTo>
                <a:lnTo>
                  <a:pt x="32756" y="32756"/>
                </a:lnTo>
                <a:lnTo>
                  <a:pt x="8788" y="68306"/>
                </a:lnTo>
                <a:lnTo>
                  <a:pt x="0" y="111838"/>
                </a:lnTo>
                <a:lnTo>
                  <a:pt x="0" y="2332829"/>
                </a:lnTo>
                <a:lnTo>
                  <a:pt x="8788" y="2376362"/>
                </a:lnTo>
                <a:lnTo>
                  <a:pt x="32756" y="2411911"/>
                </a:lnTo>
                <a:lnTo>
                  <a:pt x="68306" y="2435879"/>
                </a:lnTo>
                <a:lnTo>
                  <a:pt x="111838" y="2444668"/>
                </a:lnTo>
                <a:lnTo>
                  <a:pt x="2195539" y="2444668"/>
                </a:lnTo>
                <a:lnTo>
                  <a:pt x="2239071" y="2435879"/>
                </a:lnTo>
                <a:lnTo>
                  <a:pt x="2274620" y="2411911"/>
                </a:lnTo>
                <a:lnTo>
                  <a:pt x="2298589" y="2376362"/>
                </a:lnTo>
                <a:lnTo>
                  <a:pt x="2307377" y="2332829"/>
                </a:lnTo>
                <a:lnTo>
                  <a:pt x="2307377" y="111838"/>
                </a:lnTo>
                <a:lnTo>
                  <a:pt x="2298589" y="68306"/>
                </a:lnTo>
                <a:lnTo>
                  <a:pt x="2274620" y="32756"/>
                </a:lnTo>
                <a:lnTo>
                  <a:pt x="2239071" y="8788"/>
                </a:lnTo>
                <a:lnTo>
                  <a:pt x="219553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473" y="2112530"/>
            <a:ext cx="2307590" cy="2444750"/>
          </a:xfrm>
          <a:custGeom>
            <a:avLst/>
            <a:gdLst/>
            <a:ahLst/>
            <a:cxnLst/>
            <a:rect l="l" t="t" r="r" b="b"/>
            <a:pathLst>
              <a:path w="2307590" h="2444750">
                <a:moveTo>
                  <a:pt x="0" y="111838"/>
                </a:moveTo>
                <a:lnTo>
                  <a:pt x="8788" y="68306"/>
                </a:lnTo>
                <a:lnTo>
                  <a:pt x="32756" y="32756"/>
                </a:lnTo>
                <a:lnTo>
                  <a:pt x="68306" y="8788"/>
                </a:lnTo>
                <a:lnTo>
                  <a:pt x="111838" y="0"/>
                </a:lnTo>
                <a:lnTo>
                  <a:pt x="2195539" y="0"/>
                </a:lnTo>
                <a:lnTo>
                  <a:pt x="2239071" y="8788"/>
                </a:lnTo>
                <a:lnTo>
                  <a:pt x="2274621" y="32756"/>
                </a:lnTo>
                <a:lnTo>
                  <a:pt x="2298589" y="68306"/>
                </a:lnTo>
                <a:lnTo>
                  <a:pt x="2307378" y="111838"/>
                </a:lnTo>
                <a:lnTo>
                  <a:pt x="2307378" y="2332829"/>
                </a:lnTo>
                <a:lnTo>
                  <a:pt x="2298589" y="2376361"/>
                </a:lnTo>
                <a:lnTo>
                  <a:pt x="2274621" y="2411911"/>
                </a:lnTo>
                <a:lnTo>
                  <a:pt x="2239071" y="2435879"/>
                </a:lnTo>
                <a:lnTo>
                  <a:pt x="2195539" y="2444668"/>
                </a:lnTo>
                <a:lnTo>
                  <a:pt x="111838" y="2444668"/>
                </a:lnTo>
                <a:lnTo>
                  <a:pt x="68306" y="2435879"/>
                </a:lnTo>
                <a:lnTo>
                  <a:pt x="32756" y="2411911"/>
                </a:lnTo>
                <a:lnTo>
                  <a:pt x="8788" y="2376361"/>
                </a:lnTo>
                <a:lnTo>
                  <a:pt x="0" y="2332829"/>
                </a:lnTo>
                <a:lnTo>
                  <a:pt x="0" y="111838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58951" y="1987295"/>
            <a:ext cx="1914144" cy="268833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82089" y="2109829"/>
            <a:ext cx="1669414" cy="2444750"/>
          </a:xfrm>
          <a:custGeom>
            <a:avLst/>
            <a:gdLst/>
            <a:ahLst/>
            <a:cxnLst/>
            <a:rect l="l" t="t" r="r" b="b"/>
            <a:pathLst>
              <a:path w="1669414" h="2444750">
                <a:moveTo>
                  <a:pt x="1588482" y="0"/>
                </a:moveTo>
                <a:lnTo>
                  <a:pt x="80916" y="0"/>
                </a:lnTo>
                <a:lnTo>
                  <a:pt x="49420" y="6358"/>
                </a:lnTo>
                <a:lnTo>
                  <a:pt x="23700" y="23700"/>
                </a:lnTo>
                <a:lnTo>
                  <a:pt x="6358" y="49420"/>
                </a:lnTo>
                <a:lnTo>
                  <a:pt x="0" y="80916"/>
                </a:lnTo>
                <a:lnTo>
                  <a:pt x="0" y="2363751"/>
                </a:lnTo>
                <a:lnTo>
                  <a:pt x="6358" y="2395248"/>
                </a:lnTo>
                <a:lnTo>
                  <a:pt x="23700" y="2420968"/>
                </a:lnTo>
                <a:lnTo>
                  <a:pt x="49420" y="2438309"/>
                </a:lnTo>
                <a:lnTo>
                  <a:pt x="80916" y="2444668"/>
                </a:lnTo>
                <a:lnTo>
                  <a:pt x="1588482" y="2444668"/>
                </a:lnTo>
                <a:lnTo>
                  <a:pt x="1619979" y="2438309"/>
                </a:lnTo>
                <a:lnTo>
                  <a:pt x="1645699" y="2420968"/>
                </a:lnTo>
                <a:lnTo>
                  <a:pt x="1663040" y="2395248"/>
                </a:lnTo>
                <a:lnTo>
                  <a:pt x="1669399" y="2363751"/>
                </a:lnTo>
                <a:lnTo>
                  <a:pt x="1669399" y="80916"/>
                </a:lnTo>
                <a:lnTo>
                  <a:pt x="1663040" y="49420"/>
                </a:lnTo>
                <a:lnTo>
                  <a:pt x="1645699" y="23700"/>
                </a:lnTo>
                <a:lnTo>
                  <a:pt x="1619979" y="6358"/>
                </a:lnTo>
                <a:lnTo>
                  <a:pt x="15884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82089" y="2109829"/>
            <a:ext cx="1669414" cy="2444750"/>
          </a:xfrm>
          <a:custGeom>
            <a:avLst/>
            <a:gdLst/>
            <a:ahLst/>
            <a:cxnLst/>
            <a:rect l="l" t="t" r="r" b="b"/>
            <a:pathLst>
              <a:path w="1669414" h="2444750">
                <a:moveTo>
                  <a:pt x="0" y="80916"/>
                </a:moveTo>
                <a:lnTo>
                  <a:pt x="6358" y="49420"/>
                </a:lnTo>
                <a:lnTo>
                  <a:pt x="23700" y="23699"/>
                </a:lnTo>
                <a:lnTo>
                  <a:pt x="49420" y="6358"/>
                </a:lnTo>
                <a:lnTo>
                  <a:pt x="80916" y="0"/>
                </a:lnTo>
                <a:lnTo>
                  <a:pt x="1588483" y="0"/>
                </a:lnTo>
                <a:lnTo>
                  <a:pt x="1619979" y="6358"/>
                </a:lnTo>
                <a:lnTo>
                  <a:pt x="1645699" y="23699"/>
                </a:lnTo>
                <a:lnTo>
                  <a:pt x="1663041" y="49420"/>
                </a:lnTo>
                <a:lnTo>
                  <a:pt x="1669400" y="80916"/>
                </a:lnTo>
                <a:lnTo>
                  <a:pt x="1669400" y="2363751"/>
                </a:lnTo>
                <a:lnTo>
                  <a:pt x="1663041" y="2395247"/>
                </a:lnTo>
                <a:lnTo>
                  <a:pt x="1645699" y="2420967"/>
                </a:lnTo>
                <a:lnTo>
                  <a:pt x="1619979" y="2438309"/>
                </a:lnTo>
                <a:lnTo>
                  <a:pt x="1588483" y="2444668"/>
                </a:lnTo>
                <a:lnTo>
                  <a:pt x="80916" y="2444668"/>
                </a:lnTo>
                <a:lnTo>
                  <a:pt x="49420" y="2438309"/>
                </a:lnTo>
                <a:lnTo>
                  <a:pt x="23700" y="2420967"/>
                </a:lnTo>
                <a:lnTo>
                  <a:pt x="6358" y="2395247"/>
                </a:lnTo>
                <a:lnTo>
                  <a:pt x="0" y="2363751"/>
                </a:lnTo>
                <a:lnTo>
                  <a:pt x="0" y="80916"/>
                </a:lnTo>
                <a:close/>
              </a:path>
            </a:pathLst>
          </a:custGeom>
          <a:ln w="12700">
            <a:solidFill>
              <a:srgbClr val="D9D9D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483280" y="1761983"/>
            <a:ext cx="46609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B</a:t>
            </a:r>
            <a:r>
              <a:rPr dirty="0" sz="1150" spc="25">
                <a:solidFill>
                  <a:srgbClr val="F97D00"/>
                </a:solidFill>
                <a:latin typeface="Franklin Gothic Medium"/>
                <a:cs typeface="Franklin Gothic Medium"/>
              </a:rPr>
              <a:t>u</a:t>
            </a:r>
            <a:r>
              <a:rPr dirty="0" sz="1150" spc="5">
                <a:solidFill>
                  <a:srgbClr val="F97D00"/>
                </a:solidFill>
                <a:latin typeface="Franklin Gothic Medium"/>
                <a:cs typeface="Franklin Gothic Medium"/>
              </a:rPr>
              <a:t>y</a:t>
            </a:r>
            <a:r>
              <a:rPr dirty="0" sz="1150" spc="20">
                <a:solidFill>
                  <a:srgbClr val="F97D00"/>
                </a:solidFill>
                <a:latin typeface="Franklin Gothic Medium"/>
                <a:cs typeface="Franklin Gothic Medium"/>
              </a:rPr>
              <a:t>e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rs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579458" y="1563863"/>
            <a:ext cx="1337945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Retail</a:t>
            </a:r>
            <a:r>
              <a:rPr dirty="0" sz="1150" spc="-40">
                <a:solidFill>
                  <a:srgbClr val="F97D00"/>
                </a:solidFill>
                <a:latin typeface="Franklin Gothic Medium"/>
                <a:cs typeface="Franklin Gothic Medium"/>
              </a:rPr>
              <a:t> </a:t>
            </a: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Marketplaces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096399" y="1563863"/>
            <a:ext cx="891540" cy="2051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50" spc="15">
                <a:solidFill>
                  <a:srgbClr val="F97D00"/>
                </a:solidFill>
                <a:latin typeface="Franklin Gothic Medium"/>
                <a:cs typeface="Franklin Gothic Medium"/>
              </a:rPr>
              <a:t>Retail</a:t>
            </a:r>
            <a:r>
              <a:rPr dirty="0" sz="1150" spc="-40">
                <a:solidFill>
                  <a:srgbClr val="F97D00"/>
                </a:solidFill>
                <a:latin typeface="Franklin Gothic Medium"/>
                <a:cs typeface="Franklin Gothic Medium"/>
              </a:rPr>
              <a:t> </a:t>
            </a:r>
            <a:r>
              <a:rPr dirty="0" sz="1150" spc="10">
                <a:solidFill>
                  <a:srgbClr val="F97D00"/>
                </a:solidFill>
                <a:latin typeface="Franklin Gothic Medium"/>
                <a:cs typeface="Franklin Gothic Medium"/>
              </a:rPr>
              <a:t>Sellers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44797" y="2678300"/>
            <a:ext cx="75374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Chinese</a:t>
            </a:r>
            <a:r>
              <a:rPr dirty="0" sz="650" spc="-90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Consumers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78342" y="3473828"/>
            <a:ext cx="69786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Global</a:t>
            </a:r>
            <a:r>
              <a:rPr dirty="0" sz="650" spc="-80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Consumers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387358" y="4248020"/>
            <a:ext cx="681990" cy="2336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10185">
              <a:lnSpc>
                <a:spcPct val="104600"/>
              </a:lnSpc>
              <a:spcBef>
                <a:spcPts val="100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Global  Wholesale</a:t>
            </a:r>
            <a:r>
              <a:rPr dirty="0" sz="650" spc="-80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Buyers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229481" y="3010532"/>
            <a:ext cx="791845" cy="2311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86360" marR="5080" indent="-74295">
              <a:lnSpc>
                <a:spcPct val="101499"/>
              </a:lnSpc>
              <a:spcBef>
                <a:spcPts val="12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Chinese</a:t>
            </a:r>
            <a:r>
              <a:rPr dirty="0" sz="650" spc="-75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Wholesalers  </a:t>
            </a:r>
            <a:r>
              <a:rPr dirty="0" sz="650" spc="30">
                <a:solidFill>
                  <a:srgbClr val="696969"/>
                </a:solidFill>
                <a:latin typeface="Franklin Gothic Medium"/>
                <a:cs typeface="Franklin Gothic Medium"/>
              </a:rPr>
              <a:t>&amp;</a:t>
            </a:r>
            <a:r>
              <a:rPr dirty="0" sz="650" spc="-65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0">
                <a:solidFill>
                  <a:srgbClr val="696969"/>
                </a:solidFill>
                <a:latin typeface="Franklin Gothic Medium"/>
                <a:cs typeface="Franklin Gothic Medium"/>
              </a:rPr>
              <a:t>Manufacturers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0255019" y="3976748"/>
            <a:ext cx="7359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L="12700" marR="5080">
              <a:lnSpc>
                <a:spcPct val="101499"/>
              </a:lnSpc>
              <a:spcBef>
                <a:spcPts val="12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Global</a:t>
            </a:r>
            <a:r>
              <a:rPr dirty="0" sz="650" spc="-80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Wholesalers  </a:t>
            </a:r>
            <a:r>
              <a:rPr dirty="0" sz="650" spc="30">
                <a:solidFill>
                  <a:srgbClr val="696969"/>
                </a:solidFill>
                <a:latin typeface="Franklin Gothic Medium"/>
                <a:cs typeface="Franklin Gothic Medium"/>
              </a:rPr>
              <a:t>&amp;</a:t>
            </a:r>
            <a:endParaRPr sz="650">
              <a:latin typeface="Franklin Gothic Medium"/>
              <a:cs typeface="Franklin Gothic Medium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dirty="0" sz="650" spc="0">
                <a:solidFill>
                  <a:srgbClr val="696969"/>
                </a:solidFill>
                <a:latin typeface="Franklin Gothic Medium"/>
                <a:cs typeface="Franklin Gothic Medium"/>
              </a:rPr>
              <a:t>Manufacturers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65689" y="2672204"/>
            <a:ext cx="507365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Small</a:t>
            </a:r>
            <a:r>
              <a:rPr dirty="0" sz="650" spc="-75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0">
                <a:solidFill>
                  <a:srgbClr val="696969"/>
                </a:solidFill>
                <a:latin typeface="Franklin Gothic Medium"/>
                <a:cs typeface="Franklin Gothic Medium"/>
              </a:rPr>
              <a:t>Sellers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14230" y="3897500"/>
            <a:ext cx="60579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5">
                <a:solidFill>
                  <a:srgbClr val="696969"/>
                </a:solidFill>
                <a:latin typeface="Franklin Gothic Medium"/>
                <a:cs typeface="Franklin Gothic Medium"/>
              </a:rPr>
              <a:t>Branded</a:t>
            </a:r>
            <a:r>
              <a:rPr dirty="0" sz="650" spc="-70">
                <a:solidFill>
                  <a:srgbClr val="696969"/>
                </a:solidFill>
                <a:latin typeface="Franklin Gothic Medium"/>
                <a:cs typeface="Franklin Gothic Medium"/>
              </a:rPr>
              <a:t> </a:t>
            </a:r>
            <a:r>
              <a:rPr dirty="0" sz="650" spc="0">
                <a:solidFill>
                  <a:srgbClr val="696969"/>
                </a:solidFill>
                <a:latin typeface="Franklin Gothic Medium"/>
                <a:cs typeface="Franklin Gothic Medium"/>
              </a:rPr>
              <a:t>Sellers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062471" y="3425952"/>
            <a:ext cx="911351" cy="463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190488" y="2270760"/>
            <a:ext cx="612647" cy="41757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264919" y="2974848"/>
            <a:ext cx="960119" cy="4998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283208" y="3739896"/>
            <a:ext cx="923543" cy="51815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274063" y="2157983"/>
            <a:ext cx="941832" cy="5242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204704" y="2310383"/>
            <a:ext cx="832103" cy="6949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930383" y="3471671"/>
            <a:ext cx="1380744" cy="4998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560184" y="3771124"/>
            <a:ext cx="5978525" cy="652780"/>
          </a:xfrm>
          <a:custGeom>
            <a:avLst/>
            <a:gdLst/>
            <a:ahLst/>
            <a:cxnLst/>
            <a:rect l="l" t="t" r="r" b="b"/>
            <a:pathLst>
              <a:path w="5978525" h="652779">
                <a:moveTo>
                  <a:pt x="5901941" y="614403"/>
                </a:moveTo>
                <a:lnTo>
                  <a:pt x="0" y="614403"/>
                </a:lnTo>
                <a:lnTo>
                  <a:pt x="0" y="652503"/>
                </a:lnTo>
                <a:lnTo>
                  <a:pt x="5920983" y="652503"/>
                </a:lnTo>
                <a:lnTo>
                  <a:pt x="5928397" y="651006"/>
                </a:lnTo>
                <a:lnTo>
                  <a:pt x="5934451" y="646926"/>
                </a:lnTo>
                <a:lnTo>
                  <a:pt x="5938534" y="640873"/>
                </a:lnTo>
                <a:lnTo>
                  <a:pt x="5940033" y="633444"/>
                </a:lnTo>
                <a:lnTo>
                  <a:pt x="5901933" y="633444"/>
                </a:lnTo>
                <a:lnTo>
                  <a:pt x="5901941" y="614403"/>
                </a:lnTo>
                <a:close/>
              </a:path>
              <a:path w="5978525" h="652779">
                <a:moveTo>
                  <a:pt x="5902151" y="114067"/>
                </a:moveTo>
                <a:lnTo>
                  <a:pt x="5901933" y="633444"/>
                </a:lnTo>
                <a:lnTo>
                  <a:pt x="5920983" y="614403"/>
                </a:lnTo>
                <a:lnTo>
                  <a:pt x="5940041" y="614403"/>
                </a:lnTo>
                <a:lnTo>
                  <a:pt x="5940251" y="114521"/>
                </a:lnTo>
                <a:lnTo>
                  <a:pt x="5902151" y="114067"/>
                </a:lnTo>
                <a:close/>
              </a:path>
              <a:path w="5978525" h="652779">
                <a:moveTo>
                  <a:pt x="5940041" y="614403"/>
                </a:moveTo>
                <a:lnTo>
                  <a:pt x="5920983" y="614403"/>
                </a:lnTo>
                <a:lnTo>
                  <a:pt x="5901933" y="633444"/>
                </a:lnTo>
                <a:lnTo>
                  <a:pt x="5940033" y="633444"/>
                </a:lnTo>
                <a:lnTo>
                  <a:pt x="5940041" y="614403"/>
                </a:lnTo>
                <a:close/>
              </a:path>
              <a:path w="5978525" h="652779">
                <a:moveTo>
                  <a:pt x="5968553" y="95234"/>
                </a:moveTo>
                <a:lnTo>
                  <a:pt x="5902159" y="95234"/>
                </a:lnTo>
                <a:lnTo>
                  <a:pt x="5940259" y="95251"/>
                </a:lnTo>
                <a:lnTo>
                  <a:pt x="5940251" y="114521"/>
                </a:lnTo>
                <a:lnTo>
                  <a:pt x="5978130" y="114971"/>
                </a:lnTo>
                <a:lnTo>
                  <a:pt x="5968553" y="95234"/>
                </a:lnTo>
                <a:close/>
              </a:path>
              <a:path w="5978525" h="652779">
                <a:moveTo>
                  <a:pt x="5902159" y="95234"/>
                </a:moveTo>
                <a:lnTo>
                  <a:pt x="5902151" y="114067"/>
                </a:lnTo>
                <a:lnTo>
                  <a:pt x="5940251" y="114521"/>
                </a:lnTo>
                <a:lnTo>
                  <a:pt x="5940259" y="95251"/>
                </a:lnTo>
                <a:lnTo>
                  <a:pt x="5902159" y="95234"/>
                </a:lnTo>
                <a:close/>
              </a:path>
              <a:path w="5978525" h="652779">
                <a:moveTo>
                  <a:pt x="5922344" y="0"/>
                </a:moveTo>
                <a:lnTo>
                  <a:pt x="5863837" y="113611"/>
                </a:lnTo>
                <a:lnTo>
                  <a:pt x="5902151" y="114067"/>
                </a:lnTo>
                <a:lnTo>
                  <a:pt x="5902159" y="95234"/>
                </a:lnTo>
                <a:lnTo>
                  <a:pt x="5968553" y="95234"/>
                </a:lnTo>
                <a:lnTo>
                  <a:pt x="5922344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181678" y="2375484"/>
            <a:ext cx="492125" cy="114300"/>
          </a:xfrm>
          <a:custGeom>
            <a:avLst/>
            <a:gdLst/>
            <a:ahLst/>
            <a:cxnLst/>
            <a:rect l="l" t="t" r="r" b="b"/>
            <a:pathLst>
              <a:path w="492125" h="114300">
                <a:moveTo>
                  <a:pt x="377731" y="0"/>
                </a:moveTo>
                <a:lnTo>
                  <a:pt x="377731" y="114300"/>
                </a:lnTo>
                <a:lnTo>
                  <a:pt x="453932" y="76200"/>
                </a:lnTo>
                <a:lnTo>
                  <a:pt x="396781" y="76200"/>
                </a:lnTo>
                <a:lnTo>
                  <a:pt x="396781" y="38100"/>
                </a:lnTo>
                <a:lnTo>
                  <a:pt x="453929" y="38100"/>
                </a:lnTo>
                <a:lnTo>
                  <a:pt x="377731" y="0"/>
                </a:lnTo>
                <a:close/>
              </a:path>
              <a:path w="492125" h="114300">
                <a:moveTo>
                  <a:pt x="3777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731" y="76200"/>
                </a:lnTo>
                <a:lnTo>
                  <a:pt x="377731" y="38100"/>
                </a:lnTo>
                <a:close/>
              </a:path>
              <a:path w="492125" h="114300">
                <a:moveTo>
                  <a:pt x="453929" y="38100"/>
                </a:moveTo>
                <a:lnTo>
                  <a:pt x="396781" y="38100"/>
                </a:lnTo>
                <a:lnTo>
                  <a:pt x="396781" y="76200"/>
                </a:lnTo>
                <a:lnTo>
                  <a:pt x="453932" y="76200"/>
                </a:lnTo>
                <a:lnTo>
                  <a:pt x="492031" y="57151"/>
                </a:lnTo>
                <a:lnTo>
                  <a:pt x="453929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9259891" y="3527585"/>
            <a:ext cx="276860" cy="114300"/>
          </a:xfrm>
          <a:custGeom>
            <a:avLst/>
            <a:gdLst/>
            <a:ahLst/>
            <a:cxnLst/>
            <a:rect l="l" t="t" r="r" b="b"/>
            <a:pathLst>
              <a:path w="276859" h="114300">
                <a:moveTo>
                  <a:pt x="114300" y="0"/>
                </a:moveTo>
                <a:lnTo>
                  <a:pt x="0" y="57150"/>
                </a:lnTo>
                <a:lnTo>
                  <a:pt x="114300" y="114299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276859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276859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276859" h="114300">
                <a:moveTo>
                  <a:pt x="276345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276345" y="76198"/>
                </a:lnTo>
                <a:lnTo>
                  <a:pt x="276345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536238" y="2691957"/>
            <a:ext cx="258445" cy="0"/>
          </a:xfrm>
          <a:custGeom>
            <a:avLst/>
            <a:gdLst/>
            <a:ahLst/>
            <a:cxnLst/>
            <a:rect l="l" t="t" r="r" b="b"/>
            <a:pathLst>
              <a:path w="258445" h="0">
                <a:moveTo>
                  <a:pt x="0" y="0"/>
                </a:moveTo>
                <a:lnTo>
                  <a:pt x="258373" y="1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764279" y="2520695"/>
            <a:ext cx="877824" cy="79857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895344" y="2639567"/>
            <a:ext cx="615696" cy="557784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896979" y="2641469"/>
            <a:ext cx="613410" cy="554355"/>
          </a:xfrm>
          <a:custGeom>
            <a:avLst/>
            <a:gdLst/>
            <a:ahLst/>
            <a:cxnLst/>
            <a:rect l="l" t="t" r="r" b="b"/>
            <a:pathLst>
              <a:path w="613410" h="554355">
                <a:moveTo>
                  <a:pt x="0" y="276882"/>
                </a:moveTo>
                <a:lnTo>
                  <a:pt x="153338" y="276882"/>
                </a:lnTo>
                <a:lnTo>
                  <a:pt x="153338" y="0"/>
                </a:lnTo>
                <a:lnTo>
                  <a:pt x="460015" y="0"/>
                </a:lnTo>
                <a:lnTo>
                  <a:pt x="460015" y="276882"/>
                </a:lnTo>
                <a:lnTo>
                  <a:pt x="613354" y="276882"/>
                </a:lnTo>
                <a:lnTo>
                  <a:pt x="306677" y="553764"/>
                </a:lnTo>
                <a:lnTo>
                  <a:pt x="0" y="276882"/>
                </a:lnTo>
                <a:close/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4478952" y="2806316"/>
            <a:ext cx="25781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spc="0">
                <a:solidFill>
                  <a:srgbClr val="696969"/>
                </a:solidFill>
                <a:latin typeface="Franklin Gothic Medium"/>
                <a:cs typeface="Franklin Gothic Medium"/>
              </a:rPr>
              <a:t>Traffic</a:t>
            </a:r>
            <a:endParaRPr sz="650">
              <a:latin typeface="Franklin Gothic Medium"/>
              <a:cs typeface="Franklin Gothic Medium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851181" y="2278236"/>
            <a:ext cx="614680" cy="1516380"/>
          </a:xfrm>
          <a:custGeom>
            <a:avLst/>
            <a:gdLst/>
            <a:ahLst/>
            <a:cxnLst/>
            <a:rect l="l" t="t" r="r" b="b"/>
            <a:pathLst>
              <a:path w="614679" h="1516379">
                <a:moveTo>
                  <a:pt x="500129" y="1401970"/>
                </a:moveTo>
                <a:lnTo>
                  <a:pt x="500129" y="1516270"/>
                </a:lnTo>
                <a:lnTo>
                  <a:pt x="576329" y="1478170"/>
                </a:lnTo>
                <a:lnTo>
                  <a:pt x="519178" y="1478170"/>
                </a:lnTo>
                <a:lnTo>
                  <a:pt x="519178" y="1440070"/>
                </a:lnTo>
                <a:lnTo>
                  <a:pt x="576329" y="1440070"/>
                </a:lnTo>
                <a:lnTo>
                  <a:pt x="500129" y="1401970"/>
                </a:lnTo>
                <a:close/>
              </a:path>
              <a:path w="614679" h="1516379">
                <a:moveTo>
                  <a:pt x="500129" y="38100"/>
                </a:moveTo>
                <a:lnTo>
                  <a:pt x="19050" y="38100"/>
                </a:lnTo>
                <a:lnTo>
                  <a:pt x="11635" y="39597"/>
                </a:lnTo>
                <a:lnTo>
                  <a:pt x="5579" y="43679"/>
                </a:lnTo>
                <a:lnTo>
                  <a:pt x="1497" y="49735"/>
                </a:lnTo>
                <a:lnTo>
                  <a:pt x="0" y="57150"/>
                </a:lnTo>
                <a:lnTo>
                  <a:pt x="0" y="1459120"/>
                </a:lnTo>
                <a:lnTo>
                  <a:pt x="1497" y="1466535"/>
                </a:lnTo>
                <a:lnTo>
                  <a:pt x="5579" y="1472591"/>
                </a:lnTo>
                <a:lnTo>
                  <a:pt x="11635" y="1476673"/>
                </a:lnTo>
                <a:lnTo>
                  <a:pt x="19050" y="1478170"/>
                </a:lnTo>
                <a:lnTo>
                  <a:pt x="500129" y="1478170"/>
                </a:lnTo>
                <a:lnTo>
                  <a:pt x="500129" y="1459120"/>
                </a:lnTo>
                <a:lnTo>
                  <a:pt x="38100" y="1459120"/>
                </a:lnTo>
                <a:lnTo>
                  <a:pt x="19050" y="1440070"/>
                </a:lnTo>
                <a:lnTo>
                  <a:pt x="38100" y="1440070"/>
                </a:lnTo>
                <a:lnTo>
                  <a:pt x="38100" y="76200"/>
                </a:lnTo>
                <a:lnTo>
                  <a:pt x="19050" y="76200"/>
                </a:lnTo>
                <a:lnTo>
                  <a:pt x="38100" y="57150"/>
                </a:lnTo>
                <a:lnTo>
                  <a:pt x="500129" y="57150"/>
                </a:lnTo>
                <a:lnTo>
                  <a:pt x="500129" y="38100"/>
                </a:lnTo>
                <a:close/>
              </a:path>
              <a:path w="614679" h="1516379">
                <a:moveTo>
                  <a:pt x="576329" y="1440070"/>
                </a:moveTo>
                <a:lnTo>
                  <a:pt x="519178" y="1440070"/>
                </a:lnTo>
                <a:lnTo>
                  <a:pt x="519178" y="1478170"/>
                </a:lnTo>
                <a:lnTo>
                  <a:pt x="576329" y="1478170"/>
                </a:lnTo>
                <a:lnTo>
                  <a:pt x="614429" y="1459120"/>
                </a:lnTo>
                <a:lnTo>
                  <a:pt x="576329" y="1440070"/>
                </a:lnTo>
                <a:close/>
              </a:path>
              <a:path w="614679" h="1516379">
                <a:moveTo>
                  <a:pt x="38100" y="1440070"/>
                </a:moveTo>
                <a:lnTo>
                  <a:pt x="19050" y="1440070"/>
                </a:lnTo>
                <a:lnTo>
                  <a:pt x="38100" y="1459120"/>
                </a:lnTo>
                <a:lnTo>
                  <a:pt x="38100" y="1440070"/>
                </a:lnTo>
                <a:close/>
              </a:path>
              <a:path w="614679" h="1516379">
                <a:moveTo>
                  <a:pt x="500129" y="1440070"/>
                </a:moveTo>
                <a:lnTo>
                  <a:pt x="38100" y="1440070"/>
                </a:lnTo>
                <a:lnTo>
                  <a:pt x="38100" y="1459120"/>
                </a:lnTo>
                <a:lnTo>
                  <a:pt x="500129" y="1459120"/>
                </a:lnTo>
                <a:lnTo>
                  <a:pt x="500129" y="1440070"/>
                </a:lnTo>
                <a:close/>
              </a:path>
              <a:path w="614679" h="1516379">
                <a:moveTo>
                  <a:pt x="500129" y="0"/>
                </a:moveTo>
                <a:lnTo>
                  <a:pt x="500129" y="114300"/>
                </a:lnTo>
                <a:lnTo>
                  <a:pt x="576329" y="76200"/>
                </a:lnTo>
                <a:lnTo>
                  <a:pt x="519178" y="76200"/>
                </a:lnTo>
                <a:lnTo>
                  <a:pt x="519178" y="38100"/>
                </a:lnTo>
                <a:lnTo>
                  <a:pt x="576329" y="38100"/>
                </a:lnTo>
                <a:lnTo>
                  <a:pt x="500129" y="0"/>
                </a:lnTo>
                <a:close/>
              </a:path>
              <a:path w="614679" h="1516379">
                <a:moveTo>
                  <a:pt x="38100" y="57150"/>
                </a:moveTo>
                <a:lnTo>
                  <a:pt x="19050" y="76200"/>
                </a:lnTo>
                <a:lnTo>
                  <a:pt x="38100" y="76200"/>
                </a:lnTo>
                <a:lnTo>
                  <a:pt x="38100" y="57150"/>
                </a:lnTo>
                <a:close/>
              </a:path>
              <a:path w="614679" h="1516379">
                <a:moveTo>
                  <a:pt x="500129" y="57150"/>
                </a:moveTo>
                <a:lnTo>
                  <a:pt x="38100" y="57150"/>
                </a:lnTo>
                <a:lnTo>
                  <a:pt x="38100" y="76200"/>
                </a:lnTo>
                <a:lnTo>
                  <a:pt x="500129" y="76200"/>
                </a:lnTo>
                <a:lnTo>
                  <a:pt x="500129" y="57150"/>
                </a:lnTo>
                <a:close/>
              </a:path>
              <a:path w="614679" h="1516379">
                <a:moveTo>
                  <a:pt x="576329" y="38100"/>
                </a:moveTo>
                <a:lnTo>
                  <a:pt x="519178" y="38100"/>
                </a:lnTo>
                <a:lnTo>
                  <a:pt x="519178" y="76200"/>
                </a:lnTo>
                <a:lnTo>
                  <a:pt x="576329" y="76200"/>
                </a:lnTo>
                <a:lnTo>
                  <a:pt x="614429" y="57150"/>
                </a:lnTo>
                <a:lnTo>
                  <a:pt x="576329" y="3810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557937" y="2806763"/>
            <a:ext cx="312420" cy="0"/>
          </a:xfrm>
          <a:custGeom>
            <a:avLst/>
            <a:gdLst/>
            <a:ahLst/>
            <a:cxnLst/>
            <a:rect l="l" t="t" r="r" b="b"/>
            <a:pathLst>
              <a:path w="312419" h="0">
                <a:moveTo>
                  <a:pt x="0" y="0"/>
                </a:moveTo>
                <a:lnTo>
                  <a:pt x="312294" y="1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101220" y="3637267"/>
            <a:ext cx="755015" cy="157480"/>
          </a:xfrm>
          <a:custGeom>
            <a:avLst/>
            <a:gdLst/>
            <a:ahLst/>
            <a:cxnLst/>
            <a:rect l="l" t="t" r="r" b="b"/>
            <a:pathLst>
              <a:path w="755014" h="157479">
                <a:moveTo>
                  <a:pt x="114300" y="42939"/>
                </a:moveTo>
                <a:lnTo>
                  <a:pt x="0" y="100089"/>
                </a:lnTo>
                <a:lnTo>
                  <a:pt x="114300" y="157239"/>
                </a:lnTo>
                <a:lnTo>
                  <a:pt x="114300" y="119139"/>
                </a:lnTo>
                <a:lnTo>
                  <a:pt x="95250" y="119139"/>
                </a:lnTo>
                <a:lnTo>
                  <a:pt x="95250" y="81039"/>
                </a:lnTo>
                <a:lnTo>
                  <a:pt x="114300" y="81039"/>
                </a:lnTo>
                <a:lnTo>
                  <a:pt x="114300" y="42939"/>
                </a:lnTo>
                <a:close/>
              </a:path>
              <a:path w="755014" h="157479">
                <a:moveTo>
                  <a:pt x="114300" y="81039"/>
                </a:moveTo>
                <a:lnTo>
                  <a:pt x="95250" y="81039"/>
                </a:lnTo>
                <a:lnTo>
                  <a:pt x="95250" y="119139"/>
                </a:lnTo>
                <a:lnTo>
                  <a:pt x="114300" y="119139"/>
                </a:lnTo>
                <a:lnTo>
                  <a:pt x="114300" y="81039"/>
                </a:lnTo>
                <a:close/>
              </a:path>
              <a:path w="755014" h="157479">
                <a:moveTo>
                  <a:pt x="358397" y="81039"/>
                </a:moveTo>
                <a:lnTo>
                  <a:pt x="114300" y="81039"/>
                </a:lnTo>
                <a:lnTo>
                  <a:pt x="114300" y="119139"/>
                </a:lnTo>
                <a:lnTo>
                  <a:pt x="377447" y="119139"/>
                </a:lnTo>
                <a:lnTo>
                  <a:pt x="384862" y="117642"/>
                </a:lnTo>
                <a:lnTo>
                  <a:pt x="390918" y="113560"/>
                </a:lnTo>
                <a:lnTo>
                  <a:pt x="395000" y="107504"/>
                </a:lnTo>
                <a:lnTo>
                  <a:pt x="396497" y="100089"/>
                </a:lnTo>
                <a:lnTo>
                  <a:pt x="358397" y="100089"/>
                </a:lnTo>
                <a:lnTo>
                  <a:pt x="358397" y="81039"/>
                </a:lnTo>
                <a:close/>
              </a:path>
              <a:path w="755014" h="157479">
                <a:moveTo>
                  <a:pt x="754896" y="0"/>
                </a:moveTo>
                <a:lnTo>
                  <a:pt x="377447" y="0"/>
                </a:lnTo>
                <a:lnTo>
                  <a:pt x="370032" y="1497"/>
                </a:lnTo>
                <a:lnTo>
                  <a:pt x="363977" y="5579"/>
                </a:lnTo>
                <a:lnTo>
                  <a:pt x="359894" y="11635"/>
                </a:lnTo>
                <a:lnTo>
                  <a:pt x="358397" y="19050"/>
                </a:lnTo>
                <a:lnTo>
                  <a:pt x="358397" y="100089"/>
                </a:lnTo>
                <a:lnTo>
                  <a:pt x="377447" y="81039"/>
                </a:lnTo>
                <a:lnTo>
                  <a:pt x="396497" y="81039"/>
                </a:lnTo>
                <a:lnTo>
                  <a:pt x="396497" y="38100"/>
                </a:lnTo>
                <a:lnTo>
                  <a:pt x="377447" y="38100"/>
                </a:lnTo>
                <a:lnTo>
                  <a:pt x="396497" y="19050"/>
                </a:lnTo>
                <a:lnTo>
                  <a:pt x="754896" y="19050"/>
                </a:lnTo>
                <a:lnTo>
                  <a:pt x="754896" y="0"/>
                </a:lnTo>
                <a:close/>
              </a:path>
              <a:path w="755014" h="157479">
                <a:moveTo>
                  <a:pt x="396497" y="81039"/>
                </a:moveTo>
                <a:lnTo>
                  <a:pt x="377447" y="81039"/>
                </a:lnTo>
                <a:lnTo>
                  <a:pt x="358397" y="100089"/>
                </a:lnTo>
                <a:lnTo>
                  <a:pt x="396497" y="100089"/>
                </a:lnTo>
                <a:lnTo>
                  <a:pt x="396497" y="81039"/>
                </a:lnTo>
                <a:close/>
              </a:path>
              <a:path w="755014" h="157479">
                <a:moveTo>
                  <a:pt x="396497" y="19050"/>
                </a:moveTo>
                <a:lnTo>
                  <a:pt x="377447" y="38100"/>
                </a:lnTo>
                <a:lnTo>
                  <a:pt x="396497" y="38100"/>
                </a:lnTo>
                <a:lnTo>
                  <a:pt x="396497" y="19050"/>
                </a:lnTo>
                <a:close/>
              </a:path>
              <a:path w="755014" h="157479">
                <a:moveTo>
                  <a:pt x="754896" y="19050"/>
                </a:moveTo>
                <a:lnTo>
                  <a:pt x="396497" y="19050"/>
                </a:lnTo>
                <a:lnTo>
                  <a:pt x="396497" y="38100"/>
                </a:lnTo>
                <a:lnTo>
                  <a:pt x="754896" y="38100"/>
                </a:lnTo>
                <a:lnTo>
                  <a:pt x="754896" y="1905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480915" y="2442088"/>
            <a:ext cx="0" cy="1646555"/>
          </a:xfrm>
          <a:custGeom>
            <a:avLst/>
            <a:gdLst/>
            <a:ahLst/>
            <a:cxnLst/>
            <a:rect l="l" t="t" r="r" b="b"/>
            <a:pathLst>
              <a:path w="0" h="1646554">
                <a:moveTo>
                  <a:pt x="0" y="0"/>
                </a:moveTo>
                <a:lnTo>
                  <a:pt x="1" y="1646437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103467" y="2397094"/>
            <a:ext cx="391160" cy="114300"/>
          </a:xfrm>
          <a:custGeom>
            <a:avLst/>
            <a:gdLst/>
            <a:ahLst/>
            <a:cxnLst/>
            <a:rect l="l" t="t" r="r" b="b"/>
            <a:pathLst>
              <a:path w="391160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100"/>
                </a:lnTo>
                <a:lnTo>
                  <a:pt x="114300" y="0"/>
                </a:lnTo>
                <a:close/>
              </a:path>
              <a:path w="391160" h="114300">
                <a:moveTo>
                  <a:pt x="114300" y="38100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200"/>
                </a:lnTo>
                <a:lnTo>
                  <a:pt x="114300" y="38100"/>
                </a:lnTo>
                <a:close/>
              </a:path>
              <a:path w="391160" h="114300">
                <a:moveTo>
                  <a:pt x="390928" y="38100"/>
                </a:moveTo>
                <a:lnTo>
                  <a:pt x="114300" y="38100"/>
                </a:lnTo>
                <a:lnTo>
                  <a:pt x="114300" y="76200"/>
                </a:lnTo>
                <a:lnTo>
                  <a:pt x="390928" y="76200"/>
                </a:lnTo>
                <a:lnTo>
                  <a:pt x="390928" y="3810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103467" y="4019220"/>
            <a:ext cx="395605" cy="114300"/>
          </a:xfrm>
          <a:custGeom>
            <a:avLst/>
            <a:gdLst/>
            <a:ahLst/>
            <a:cxnLst/>
            <a:rect l="l" t="t" r="r" b="b"/>
            <a:pathLst>
              <a:path w="395604" h="114300">
                <a:moveTo>
                  <a:pt x="114300" y="0"/>
                </a:moveTo>
                <a:lnTo>
                  <a:pt x="0" y="57149"/>
                </a:lnTo>
                <a:lnTo>
                  <a:pt x="114300" y="114299"/>
                </a:lnTo>
                <a:lnTo>
                  <a:pt x="114300" y="76199"/>
                </a:lnTo>
                <a:lnTo>
                  <a:pt x="95250" y="76199"/>
                </a:lnTo>
                <a:lnTo>
                  <a:pt x="95250" y="38099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95604" h="114300">
                <a:moveTo>
                  <a:pt x="114300" y="38099"/>
                </a:moveTo>
                <a:lnTo>
                  <a:pt x="95250" y="38099"/>
                </a:lnTo>
                <a:lnTo>
                  <a:pt x="95250" y="76199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95604" h="114300">
                <a:moveTo>
                  <a:pt x="114300" y="76199"/>
                </a:moveTo>
                <a:lnTo>
                  <a:pt x="95250" y="76199"/>
                </a:lnTo>
                <a:lnTo>
                  <a:pt x="114300" y="76199"/>
                </a:lnTo>
                <a:close/>
              </a:path>
              <a:path w="395604" h="114300">
                <a:moveTo>
                  <a:pt x="395422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95422" y="76198"/>
                </a:lnTo>
                <a:lnTo>
                  <a:pt x="395422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9259891" y="3682909"/>
            <a:ext cx="523875" cy="114300"/>
          </a:xfrm>
          <a:custGeom>
            <a:avLst/>
            <a:gdLst/>
            <a:ahLst/>
            <a:cxnLst/>
            <a:rect l="l" t="t" r="r" b="b"/>
            <a:pathLst>
              <a:path w="523875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523875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523875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523875" h="114300">
                <a:moveTo>
                  <a:pt x="523483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523483" y="76198"/>
                </a:lnTo>
                <a:lnTo>
                  <a:pt x="523483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181678" y="2458541"/>
            <a:ext cx="492125" cy="1217295"/>
          </a:xfrm>
          <a:custGeom>
            <a:avLst/>
            <a:gdLst/>
            <a:ahLst/>
            <a:cxnLst/>
            <a:rect l="l" t="t" r="r" b="b"/>
            <a:pathLst>
              <a:path w="492125" h="1217295">
                <a:moveTo>
                  <a:pt x="229698" y="1178727"/>
                </a:moveTo>
                <a:lnTo>
                  <a:pt x="0" y="1178727"/>
                </a:lnTo>
                <a:lnTo>
                  <a:pt x="0" y="1216827"/>
                </a:lnTo>
                <a:lnTo>
                  <a:pt x="253912" y="1216827"/>
                </a:lnTo>
                <a:lnTo>
                  <a:pt x="258772" y="1214807"/>
                </a:lnTo>
                <a:lnTo>
                  <a:pt x="265922" y="1207621"/>
                </a:lnTo>
                <a:lnTo>
                  <a:pt x="267919" y="1202750"/>
                </a:lnTo>
                <a:lnTo>
                  <a:pt x="267894" y="1197871"/>
                </a:lnTo>
                <a:lnTo>
                  <a:pt x="229793" y="1197871"/>
                </a:lnTo>
                <a:lnTo>
                  <a:pt x="229698" y="1178727"/>
                </a:lnTo>
                <a:close/>
              </a:path>
              <a:path w="492125" h="1217295">
                <a:moveTo>
                  <a:pt x="377621" y="38099"/>
                </a:moveTo>
                <a:lnTo>
                  <a:pt x="243077" y="38884"/>
                </a:lnTo>
                <a:lnTo>
                  <a:pt x="224175" y="57840"/>
                </a:lnTo>
                <a:lnTo>
                  <a:pt x="224232" y="76984"/>
                </a:lnTo>
                <a:lnTo>
                  <a:pt x="229793" y="1197871"/>
                </a:lnTo>
                <a:lnTo>
                  <a:pt x="248843" y="1178727"/>
                </a:lnTo>
                <a:lnTo>
                  <a:pt x="267800" y="1178727"/>
                </a:lnTo>
                <a:lnTo>
                  <a:pt x="262333" y="76984"/>
                </a:lnTo>
                <a:lnTo>
                  <a:pt x="243300" y="76984"/>
                </a:lnTo>
                <a:lnTo>
                  <a:pt x="262238" y="57840"/>
                </a:lnTo>
                <a:lnTo>
                  <a:pt x="377736" y="57840"/>
                </a:lnTo>
                <a:lnTo>
                  <a:pt x="377621" y="38099"/>
                </a:lnTo>
                <a:close/>
              </a:path>
              <a:path w="492125" h="1217295">
                <a:moveTo>
                  <a:pt x="267800" y="1178727"/>
                </a:moveTo>
                <a:lnTo>
                  <a:pt x="248843" y="1178727"/>
                </a:lnTo>
                <a:lnTo>
                  <a:pt x="229793" y="1197871"/>
                </a:lnTo>
                <a:lnTo>
                  <a:pt x="267894" y="1197871"/>
                </a:lnTo>
                <a:lnTo>
                  <a:pt x="267800" y="1178727"/>
                </a:lnTo>
                <a:close/>
              </a:path>
              <a:path w="492125" h="1217295">
                <a:moveTo>
                  <a:pt x="454497" y="37988"/>
                </a:moveTo>
                <a:lnTo>
                  <a:pt x="396671" y="37988"/>
                </a:lnTo>
                <a:lnTo>
                  <a:pt x="396894" y="76088"/>
                </a:lnTo>
                <a:lnTo>
                  <a:pt x="377844" y="76199"/>
                </a:lnTo>
                <a:lnTo>
                  <a:pt x="378066" y="114298"/>
                </a:lnTo>
                <a:lnTo>
                  <a:pt x="492031" y="56481"/>
                </a:lnTo>
                <a:lnTo>
                  <a:pt x="454497" y="37988"/>
                </a:lnTo>
                <a:close/>
              </a:path>
              <a:path w="492125" h="1217295">
                <a:moveTo>
                  <a:pt x="262238" y="57840"/>
                </a:moveTo>
                <a:lnTo>
                  <a:pt x="243300" y="76984"/>
                </a:lnTo>
                <a:lnTo>
                  <a:pt x="262332" y="76873"/>
                </a:lnTo>
                <a:lnTo>
                  <a:pt x="262238" y="57840"/>
                </a:lnTo>
                <a:close/>
              </a:path>
              <a:path w="492125" h="1217295">
                <a:moveTo>
                  <a:pt x="262332" y="76873"/>
                </a:moveTo>
                <a:lnTo>
                  <a:pt x="243300" y="76984"/>
                </a:lnTo>
                <a:lnTo>
                  <a:pt x="262333" y="76984"/>
                </a:lnTo>
                <a:close/>
              </a:path>
              <a:path w="492125" h="1217295">
                <a:moveTo>
                  <a:pt x="377736" y="57840"/>
                </a:moveTo>
                <a:lnTo>
                  <a:pt x="262238" y="57840"/>
                </a:lnTo>
                <a:lnTo>
                  <a:pt x="262332" y="76873"/>
                </a:lnTo>
                <a:lnTo>
                  <a:pt x="377844" y="76199"/>
                </a:lnTo>
                <a:lnTo>
                  <a:pt x="377736" y="57840"/>
                </a:lnTo>
                <a:close/>
              </a:path>
              <a:path w="492125" h="1217295">
                <a:moveTo>
                  <a:pt x="396671" y="37988"/>
                </a:moveTo>
                <a:lnTo>
                  <a:pt x="377621" y="38099"/>
                </a:lnTo>
                <a:lnTo>
                  <a:pt x="377844" y="76199"/>
                </a:lnTo>
                <a:lnTo>
                  <a:pt x="396894" y="76088"/>
                </a:lnTo>
                <a:lnTo>
                  <a:pt x="396671" y="37988"/>
                </a:lnTo>
                <a:close/>
              </a:path>
              <a:path w="492125" h="1217295">
                <a:moveTo>
                  <a:pt x="377399" y="0"/>
                </a:moveTo>
                <a:lnTo>
                  <a:pt x="377621" y="38099"/>
                </a:lnTo>
                <a:lnTo>
                  <a:pt x="454497" y="37988"/>
                </a:lnTo>
                <a:lnTo>
                  <a:pt x="377399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551197" y="3483295"/>
            <a:ext cx="915035" cy="753745"/>
          </a:xfrm>
          <a:custGeom>
            <a:avLst/>
            <a:gdLst/>
            <a:ahLst/>
            <a:cxnLst/>
            <a:rect l="l" t="t" r="r" b="b"/>
            <a:pathLst>
              <a:path w="915035" h="753745">
                <a:moveTo>
                  <a:pt x="876458" y="677050"/>
                </a:moveTo>
                <a:lnTo>
                  <a:pt x="819133" y="677050"/>
                </a:lnTo>
                <a:lnTo>
                  <a:pt x="819191" y="715150"/>
                </a:lnTo>
                <a:lnTo>
                  <a:pt x="800142" y="715180"/>
                </a:lnTo>
                <a:lnTo>
                  <a:pt x="800200" y="753280"/>
                </a:lnTo>
                <a:lnTo>
                  <a:pt x="914412" y="695956"/>
                </a:lnTo>
                <a:lnTo>
                  <a:pt x="876458" y="677050"/>
                </a:lnTo>
                <a:close/>
              </a:path>
              <a:path w="915035" h="753745">
                <a:moveTo>
                  <a:pt x="198187" y="19110"/>
                </a:moveTo>
                <a:lnTo>
                  <a:pt x="160087" y="19110"/>
                </a:lnTo>
                <a:lnTo>
                  <a:pt x="179137" y="38100"/>
                </a:lnTo>
                <a:lnTo>
                  <a:pt x="160148" y="38100"/>
                </a:lnTo>
                <a:lnTo>
                  <a:pt x="162259" y="697134"/>
                </a:lnTo>
                <a:lnTo>
                  <a:pt x="181338" y="716123"/>
                </a:lnTo>
                <a:lnTo>
                  <a:pt x="800142" y="715180"/>
                </a:lnTo>
                <a:lnTo>
                  <a:pt x="800114" y="697012"/>
                </a:lnTo>
                <a:lnTo>
                  <a:pt x="200359" y="697012"/>
                </a:lnTo>
                <a:lnTo>
                  <a:pt x="181279" y="678023"/>
                </a:lnTo>
                <a:lnTo>
                  <a:pt x="200298" y="677994"/>
                </a:lnTo>
                <a:lnTo>
                  <a:pt x="198248" y="38100"/>
                </a:lnTo>
                <a:lnTo>
                  <a:pt x="179137" y="38100"/>
                </a:lnTo>
                <a:lnTo>
                  <a:pt x="160087" y="19110"/>
                </a:lnTo>
                <a:lnTo>
                  <a:pt x="198187" y="19110"/>
                </a:lnTo>
                <a:close/>
              </a:path>
              <a:path w="915035" h="753745">
                <a:moveTo>
                  <a:pt x="819133" y="677050"/>
                </a:moveTo>
                <a:lnTo>
                  <a:pt x="800084" y="677080"/>
                </a:lnTo>
                <a:lnTo>
                  <a:pt x="800142" y="715180"/>
                </a:lnTo>
                <a:lnTo>
                  <a:pt x="819191" y="715150"/>
                </a:lnTo>
                <a:lnTo>
                  <a:pt x="819133" y="677050"/>
                </a:lnTo>
                <a:close/>
              </a:path>
              <a:path w="915035" h="753745">
                <a:moveTo>
                  <a:pt x="200298" y="677994"/>
                </a:moveTo>
                <a:lnTo>
                  <a:pt x="181279" y="678023"/>
                </a:lnTo>
                <a:lnTo>
                  <a:pt x="200359" y="697012"/>
                </a:lnTo>
                <a:lnTo>
                  <a:pt x="200298" y="677994"/>
                </a:lnTo>
                <a:close/>
              </a:path>
              <a:path w="915035" h="753745">
                <a:moveTo>
                  <a:pt x="800084" y="677080"/>
                </a:moveTo>
                <a:lnTo>
                  <a:pt x="200298" y="677994"/>
                </a:lnTo>
                <a:lnTo>
                  <a:pt x="200359" y="697012"/>
                </a:lnTo>
                <a:lnTo>
                  <a:pt x="800114" y="697012"/>
                </a:lnTo>
                <a:lnTo>
                  <a:pt x="800084" y="677080"/>
                </a:lnTo>
                <a:close/>
              </a:path>
              <a:path w="915035" h="753745">
                <a:moveTo>
                  <a:pt x="800026" y="638980"/>
                </a:moveTo>
                <a:lnTo>
                  <a:pt x="800084" y="677080"/>
                </a:lnTo>
                <a:lnTo>
                  <a:pt x="876458" y="677050"/>
                </a:lnTo>
                <a:lnTo>
                  <a:pt x="800026" y="638980"/>
                </a:lnTo>
                <a:close/>
              </a:path>
              <a:path w="915035" h="753745">
                <a:moveTo>
                  <a:pt x="179137" y="0"/>
                </a:moveTo>
                <a:lnTo>
                  <a:pt x="0" y="0"/>
                </a:lnTo>
                <a:lnTo>
                  <a:pt x="0" y="38100"/>
                </a:lnTo>
                <a:lnTo>
                  <a:pt x="160148" y="38100"/>
                </a:lnTo>
                <a:lnTo>
                  <a:pt x="160087" y="19110"/>
                </a:lnTo>
                <a:lnTo>
                  <a:pt x="198187" y="19110"/>
                </a:lnTo>
                <a:lnTo>
                  <a:pt x="196672" y="11593"/>
                </a:lnTo>
                <a:lnTo>
                  <a:pt x="192585" y="5557"/>
                </a:lnTo>
                <a:lnTo>
                  <a:pt x="186537" y="1490"/>
                </a:lnTo>
                <a:lnTo>
                  <a:pt x="179137" y="0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41751" y="5340573"/>
            <a:ext cx="5520055" cy="538480"/>
          </a:xfrm>
          <a:custGeom>
            <a:avLst/>
            <a:gdLst/>
            <a:ahLst/>
            <a:cxnLst/>
            <a:rect l="l" t="t" r="r" b="b"/>
            <a:pathLst>
              <a:path w="5520055" h="538479">
                <a:moveTo>
                  <a:pt x="5430274" y="0"/>
                </a:moveTo>
                <a:lnTo>
                  <a:pt x="89705" y="0"/>
                </a:lnTo>
                <a:lnTo>
                  <a:pt x="54788" y="7049"/>
                </a:lnTo>
                <a:lnTo>
                  <a:pt x="26274" y="26274"/>
                </a:lnTo>
                <a:lnTo>
                  <a:pt x="7049" y="54788"/>
                </a:lnTo>
                <a:lnTo>
                  <a:pt x="0" y="89706"/>
                </a:lnTo>
                <a:lnTo>
                  <a:pt x="0" y="448514"/>
                </a:lnTo>
                <a:lnTo>
                  <a:pt x="7049" y="483432"/>
                </a:lnTo>
                <a:lnTo>
                  <a:pt x="26274" y="511946"/>
                </a:lnTo>
                <a:lnTo>
                  <a:pt x="54788" y="531171"/>
                </a:lnTo>
                <a:lnTo>
                  <a:pt x="89705" y="538220"/>
                </a:lnTo>
                <a:lnTo>
                  <a:pt x="5430274" y="538220"/>
                </a:lnTo>
                <a:lnTo>
                  <a:pt x="5465191" y="531171"/>
                </a:lnTo>
                <a:lnTo>
                  <a:pt x="5493705" y="511946"/>
                </a:lnTo>
                <a:lnTo>
                  <a:pt x="5512929" y="483432"/>
                </a:lnTo>
                <a:lnTo>
                  <a:pt x="5519979" y="448514"/>
                </a:lnTo>
                <a:lnTo>
                  <a:pt x="5519979" y="89706"/>
                </a:lnTo>
                <a:lnTo>
                  <a:pt x="5512929" y="54788"/>
                </a:lnTo>
                <a:lnTo>
                  <a:pt x="5493705" y="26274"/>
                </a:lnTo>
                <a:lnTo>
                  <a:pt x="5465191" y="7049"/>
                </a:lnTo>
                <a:lnTo>
                  <a:pt x="5430274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41751" y="5340573"/>
            <a:ext cx="5520055" cy="538480"/>
          </a:xfrm>
          <a:custGeom>
            <a:avLst/>
            <a:gdLst/>
            <a:ahLst/>
            <a:cxnLst/>
            <a:rect l="l" t="t" r="r" b="b"/>
            <a:pathLst>
              <a:path w="5520055" h="538479">
                <a:moveTo>
                  <a:pt x="0" y="89706"/>
                </a:moveTo>
                <a:lnTo>
                  <a:pt x="7049" y="54788"/>
                </a:lnTo>
                <a:lnTo>
                  <a:pt x="26274" y="26274"/>
                </a:lnTo>
                <a:lnTo>
                  <a:pt x="54788" y="7049"/>
                </a:lnTo>
                <a:lnTo>
                  <a:pt x="89705" y="0"/>
                </a:lnTo>
                <a:lnTo>
                  <a:pt x="5430274" y="0"/>
                </a:lnTo>
                <a:lnTo>
                  <a:pt x="5465191" y="7049"/>
                </a:lnTo>
                <a:lnTo>
                  <a:pt x="5493705" y="26274"/>
                </a:lnTo>
                <a:lnTo>
                  <a:pt x="5512930" y="54788"/>
                </a:lnTo>
                <a:lnTo>
                  <a:pt x="5519980" y="89706"/>
                </a:lnTo>
                <a:lnTo>
                  <a:pt x="5519980" y="448514"/>
                </a:lnTo>
                <a:lnTo>
                  <a:pt x="5512930" y="483432"/>
                </a:lnTo>
                <a:lnTo>
                  <a:pt x="5493705" y="511946"/>
                </a:lnTo>
                <a:lnTo>
                  <a:pt x="5465191" y="531171"/>
                </a:lnTo>
                <a:lnTo>
                  <a:pt x="5430274" y="538221"/>
                </a:lnTo>
                <a:lnTo>
                  <a:pt x="89705" y="538221"/>
                </a:lnTo>
                <a:lnTo>
                  <a:pt x="54788" y="531171"/>
                </a:lnTo>
                <a:lnTo>
                  <a:pt x="26274" y="511946"/>
                </a:lnTo>
                <a:lnTo>
                  <a:pt x="7049" y="483432"/>
                </a:lnTo>
                <a:lnTo>
                  <a:pt x="0" y="448514"/>
                </a:lnTo>
                <a:lnTo>
                  <a:pt x="0" y="89706"/>
                </a:lnTo>
                <a:close/>
              </a:path>
            </a:pathLst>
          </a:custGeom>
          <a:ln w="12700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2473848" y="5401295"/>
            <a:ext cx="1856105" cy="3816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64769" marR="5080" indent="-52705">
              <a:lnSpc>
                <a:spcPct val="100899"/>
              </a:lnSpc>
              <a:spcBef>
                <a:spcPts val="115"/>
              </a:spcBef>
            </a:pP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Cross Promotion Across </a:t>
            </a:r>
            <a:r>
              <a:rPr dirty="0" sz="1150" spc="25">
                <a:solidFill>
                  <a:srgbClr val="FFFFFF"/>
                </a:solidFill>
                <a:latin typeface="Franklin Gothic Medium"/>
                <a:cs typeface="Franklin Gothic Medium"/>
              </a:rPr>
              <a:t>Our  </a:t>
            </a: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China Retail</a:t>
            </a:r>
            <a:r>
              <a:rPr dirty="0" sz="1150" spc="-25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Marketplaces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641751" y="4988984"/>
            <a:ext cx="3318510" cy="114300"/>
          </a:xfrm>
          <a:custGeom>
            <a:avLst/>
            <a:gdLst/>
            <a:ahLst/>
            <a:cxnLst/>
            <a:rect l="l" t="t" r="r" b="b"/>
            <a:pathLst>
              <a:path w="3318510" h="114300">
                <a:moveTo>
                  <a:pt x="3203896" y="76199"/>
                </a:moveTo>
                <a:lnTo>
                  <a:pt x="3203896" y="114300"/>
                </a:lnTo>
                <a:lnTo>
                  <a:pt x="3280096" y="76200"/>
                </a:lnTo>
                <a:lnTo>
                  <a:pt x="3203896" y="76199"/>
                </a:lnTo>
                <a:close/>
              </a:path>
              <a:path w="3318510" h="114300">
                <a:moveTo>
                  <a:pt x="3203896" y="38099"/>
                </a:moveTo>
                <a:lnTo>
                  <a:pt x="3203896" y="76199"/>
                </a:lnTo>
                <a:lnTo>
                  <a:pt x="3222948" y="76200"/>
                </a:lnTo>
                <a:lnTo>
                  <a:pt x="3222948" y="38100"/>
                </a:lnTo>
                <a:lnTo>
                  <a:pt x="3203896" y="38099"/>
                </a:lnTo>
                <a:close/>
              </a:path>
              <a:path w="3318510" h="114300">
                <a:moveTo>
                  <a:pt x="3203896" y="0"/>
                </a:moveTo>
                <a:lnTo>
                  <a:pt x="3203896" y="38099"/>
                </a:lnTo>
                <a:lnTo>
                  <a:pt x="3222948" y="38100"/>
                </a:lnTo>
                <a:lnTo>
                  <a:pt x="3222948" y="76200"/>
                </a:lnTo>
                <a:lnTo>
                  <a:pt x="3280099" y="76198"/>
                </a:lnTo>
                <a:lnTo>
                  <a:pt x="3318196" y="57150"/>
                </a:lnTo>
                <a:lnTo>
                  <a:pt x="3203896" y="0"/>
                </a:lnTo>
                <a:close/>
              </a:path>
              <a:path w="3318510" h="114300">
                <a:moveTo>
                  <a:pt x="0" y="38098"/>
                </a:moveTo>
                <a:lnTo>
                  <a:pt x="0" y="76198"/>
                </a:lnTo>
                <a:lnTo>
                  <a:pt x="3203896" y="76199"/>
                </a:lnTo>
                <a:lnTo>
                  <a:pt x="3203896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2039706" y="4745208"/>
            <a:ext cx="52578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696969"/>
                </a:solidFill>
                <a:latin typeface="Franklin Gothic Medium"/>
                <a:cs typeface="Franklin Gothic Medium"/>
              </a:rPr>
              <a:t>B</a:t>
            </a:r>
            <a:r>
              <a:rPr dirty="0" sz="1350" spc="-10">
                <a:solidFill>
                  <a:srgbClr val="696969"/>
                </a:solidFill>
                <a:latin typeface="Franklin Gothic Medium"/>
                <a:cs typeface="Franklin Gothic Medium"/>
              </a:rPr>
              <a:t>u</a:t>
            </a:r>
            <a:r>
              <a:rPr dirty="0" sz="1350">
                <a:solidFill>
                  <a:srgbClr val="696969"/>
                </a:solidFill>
                <a:latin typeface="Franklin Gothic Medium"/>
                <a:cs typeface="Franklin Gothic Medium"/>
              </a:rPr>
              <a:t>yin</a:t>
            </a:r>
            <a:r>
              <a:rPr dirty="0" sz="1350" spc="25">
                <a:solidFill>
                  <a:srgbClr val="696969"/>
                </a:solidFill>
                <a:latin typeface="Franklin Gothic Medium"/>
                <a:cs typeface="Franklin Gothic Medium"/>
              </a:rPr>
              <a:t>g</a:t>
            </a:r>
            <a:endParaRPr sz="1350">
              <a:latin typeface="Franklin Gothic Medium"/>
              <a:cs typeface="Franklin Gothic Medium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935292" y="4745208"/>
            <a:ext cx="52387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1D69BD"/>
                </a:solidFill>
                <a:latin typeface="Franklin Gothic Medium"/>
                <a:cs typeface="Franklin Gothic Medium"/>
              </a:rPr>
              <a:t>Se</a:t>
            </a:r>
            <a:r>
              <a:rPr dirty="0" sz="1350" spc="-10">
                <a:solidFill>
                  <a:srgbClr val="1D69BD"/>
                </a:solidFill>
                <a:latin typeface="Franklin Gothic Medium"/>
                <a:cs typeface="Franklin Gothic Medium"/>
              </a:rPr>
              <a:t>lli</a:t>
            </a:r>
            <a:r>
              <a:rPr dirty="0" sz="1350">
                <a:solidFill>
                  <a:srgbClr val="1D69BD"/>
                </a:solidFill>
                <a:latin typeface="Franklin Gothic Medium"/>
                <a:cs typeface="Franklin Gothic Medium"/>
              </a:rPr>
              <a:t>n</a:t>
            </a:r>
            <a:r>
              <a:rPr dirty="0" sz="1350" spc="25">
                <a:solidFill>
                  <a:srgbClr val="1D69BD"/>
                </a:solidFill>
                <a:latin typeface="Franklin Gothic Medium"/>
                <a:cs typeface="Franklin Gothic Medium"/>
              </a:rPr>
              <a:t>g</a:t>
            </a:r>
            <a:endParaRPr sz="1350">
              <a:latin typeface="Franklin Gothic Medium"/>
              <a:cs typeface="Franklin Gothic Medium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6429033" y="4988643"/>
            <a:ext cx="1813560" cy="114300"/>
          </a:xfrm>
          <a:custGeom>
            <a:avLst/>
            <a:gdLst/>
            <a:ahLst/>
            <a:cxnLst/>
            <a:rect l="l" t="t" r="r" b="b"/>
            <a:pathLst>
              <a:path w="1813559" h="114300">
                <a:moveTo>
                  <a:pt x="1698801" y="76199"/>
                </a:moveTo>
                <a:lnTo>
                  <a:pt x="1698687" y="114298"/>
                </a:lnTo>
                <a:lnTo>
                  <a:pt x="1775344" y="76255"/>
                </a:lnTo>
                <a:lnTo>
                  <a:pt x="1717848" y="76255"/>
                </a:lnTo>
                <a:lnTo>
                  <a:pt x="1698801" y="76199"/>
                </a:lnTo>
                <a:close/>
              </a:path>
              <a:path w="1813559" h="114300">
                <a:moveTo>
                  <a:pt x="1698914" y="38099"/>
                </a:moveTo>
                <a:lnTo>
                  <a:pt x="1698801" y="76199"/>
                </a:lnTo>
                <a:lnTo>
                  <a:pt x="1717848" y="76255"/>
                </a:lnTo>
                <a:lnTo>
                  <a:pt x="1717962" y="38155"/>
                </a:lnTo>
                <a:lnTo>
                  <a:pt x="1698914" y="38099"/>
                </a:lnTo>
                <a:close/>
              </a:path>
              <a:path w="1813559" h="114300">
                <a:moveTo>
                  <a:pt x="1699028" y="0"/>
                </a:moveTo>
                <a:lnTo>
                  <a:pt x="1698914" y="38099"/>
                </a:lnTo>
                <a:lnTo>
                  <a:pt x="1717962" y="38155"/>
                </a:lnTo>
                <a:lnTo>
                  <a:pt x="1717848" y="76255"/>
                </a:lnTo>
                <a:lnTo>
                  <a:pt x="1775344" y="76255"/>
                </a:lnTo>
                <a:lnTo>
                  <a:pt x="1813157" y="57490"/>
                </a:lnTo>
                <a:lnTo>
                  <a:pt x="1699028" y="0"/>
                </a:lnTo>
                <a:close/>
              </a:path>
              <a:path w="1813559" h="114300">
                <a:moveTo>
                  <a:pt x="113" y="33036"/>
                </a:moveTo>
                <a:lnTo>
                  <a:pt x="0" y="71136"/>
                </a:lnTo>
                <a:lnTo>
                  <a:pt x="1698801" y="76199"/>
                </a:lnTo>
                <a:lnTo>
                  <a:pt x="1698914" y="38099"/>
                </a:lnTo>
                <a:lnTo>
                  <a:pt x="113" y="33036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7074496" y="4745208"/>
            <a:ext cx="525780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696969"/>
                </a:solidFill>
                <a:latin typeface="Franklin Gothic Medium"/>
                <a:cs typeface="Franklin Gothic Medium"/>
              </a:rPr>
              <a:t>B</a:t>
            </a:r>
            <a:r>
              <a:rPr dirty="0" sz="1350" spc="-10">
                <a:solidFill>
                  <a:srgbClr val="696969"/>
                </a:solidFill>
                <a:latin typeface="Franklin Gothic Medium"/>
                <a:cs typeface="Franklin Gothic Medium"/>
              </a:rPr>
              <a:t>u</a:t>
            </a:r>
            <a:r>
              <a:rPr dirty="0" sz="1350">
                <a:solidFill>
                  <a:srgbClr val="696969"/>
                </a:solidFill>
                <a:latin typeface="Franklin Gothic Medium"/>
                <a:cs typeface="Franklin Gothic Medium"/>
              </a:rPr>
              <a:t>yin</a:t>
            </a:r>
            <a:r>
              <a:rPr dirty="0" sz="1350" spc="25">
                <a:solidFill>
                  <a:srgbClr val="696969"/>
                </a:solidFill>
                <a:latin typeface="Franklin Gothic Medium"/>
                <a:cs typeface="Franklin Gothic Medium"/>
              </a:rPr>
              <a:t>g</a:t>
            </a:r>
            <a:endParaRPr sz="1350">
              <a:latin typeface="Franklin Gothic Medium"/>
              <a:cs typeface="Franklin Gothic Medium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8480342" y="4988984"/>
            <a:ext cx="3192780" cy="114300"/>
          </a:xfrm>
          <a:custGeom>
            <a:avLst/>
            <a:gdLst/>
            <a:ahLst/>
            <a:cxnLst/>
            <a:rect l="l" t="t" r="r" b="b"/>
            <a:pathLst>
              <a:path w="319277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48" y="76200"/>
                </a:lnTo>
                <a:lnTo>
                  <a:pt x="95248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192779" h="114300">
                <a:moveTo>
                  <a:pt x="114300" y="38099"/>
                </a:moveTo>
                <a:lnTo>
                  <a:pt x="95248" y="38100"/>
                </a:lnTo>
                <a:lnTo>
                  <a:pt x="95248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192779" h="114300">
                <a:moveTo>
                  <a:pt x="114300" y="76199"/>
                </a:moveTo>
                <a:lnTo>
                  <a:pt x="95248" y="76200"/>
                </a:lnTo>
                <a:lnTo>
                  <a:pt x="114300" y="76200"/>
                </a:lnTo>
                <a:close/>
              </a:path>
              <a:path w="3192779" h="114300">
                <a:moveTo>
                  <a:pt x="3192581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192581" y="76198"/>
                </a:lnTo>
                <a:lnTo>
                  <a:pt x="3192581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9816283" y="4745208"/>
            <a:ext cx="523875" cy="2349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>
                <a:solidFill>
                  <a:srgbClr val="1D69BD"/>
                </a:solidFill>
                <a:latin typeface="Franklin Gothic Medium"/>
                <a:cs typeface="Franklin Gothic Medium"/>
              </a:rPr>
              <a:t>Se</a:t>
            </a:r>
            <a:r>
              <a:rPr dirty="0" sz="1350" spc="-10">
                <a:solidFill>
                  <a:srgbClr val="1D69BD"/>
                </a:solidFill>
                <a:latin typeface="Franklin Gothic Medium"/>
                <a:cs typeface="Franklin Gothic Medium"/>
              </a:rPr>
              <a:t>lli</a:t>
            </a:r>
            <a:r>
              <a:rPr dirty="0" sz="1350">
                <a:solidFill>
                  <a:srgbClr val="1D69BD"/>
                </a:solidFill>
                <a:latin typeface="Franklin Gothic Medium"/>
                <a:cs typeface="Franklin Gothic Medium"/>
              </a:rPr>
              <a:t>n</a:t>
            </a:r>
            <a:r>
              <a:rPr dirty="0" sz="1350" spc="25">
                <a:solidFill>
                  <a:srgbClr val="1D69BD"/>
                </a:solidFill>
                <a:latin typeface="Franklin Gothic Medium"/>
                <a:cs typeface="Franklin Gothic Medium"/>
              </a:rPr>
              <a:t>g</a:t>
            </a:r>
            <a:endParaRPr sz="1350">
              <a:latin typeface="Franklin Gothic Medium"/>
              <a:cs typeface="Franklin Gothic Medium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327988" y="5340572"/>
            <a:ext cx="5345430" cy="538480"/>
          </a:xfrm>
          <a:custGeom>
            <a:avLst/>
            <a:gdLst/>
            <a:ahLst/>
            <a:cxnLst/>
            <a:rect l="l" t="t" r="r" b="b"/>
            <a:pathLst>
              <a:path w="5345430" h="538479">
                <a:moveTo>
                  <a:pt x="5255235" y="0"/>
                </a:moveTo>
                <a:lnTo>
                  <a:pt x="89701" y="0"/>
                </a:lnTo>
                <a:lnTo>
                  <a:pt x="54785" y="7049"/>
                </a:lnTo>
                <a:lnTo>
                  <a:pt x="26272" y="26273"/>
                </a:lnTo>
                <a:lnTo>
                  <a:pt x="7049" y="54786"/>
                </a:lnTo>
                <a:lnTo>
                  <a:pt x="0" y="89702"/>
                </a:lnTo>
                <a:lnTo>
                  <a:pt x="0" y="448519"/>
                </a:lnTo>
                <a:lnTo>
                  <a:pt x="7049" y="483435"/>
                </a:lnTo>
                <a:lnTo>
                  <a:pt x="26272" y="511948"/>
                </a:lnTo>
                <a:lnTo>
                  <a:pt x="54785" y="531172"/>
                </a:lnTo>
                <a:lnTo>
                  <a:pt x="89701" y="538222"/>
                </a:lnTo>
                <a:lnTo>
                  <a:pt x="5255235" y="538222"/>
                </a:lnTo>
                <a:lnTo>
                  <a:pt x="5290151" y="531172"/>
                </a:lnTo>
                <a:lnTo>
                  <a:pt x="5318664" y="511948"/>
                </a:lnTo>
                <a:lnTo>
                  <a:pt x="5337888" y="483435"/>
                </a:lnTo>
                <a:lnTo>
                  <a:pt x="5344937" y="448519"/>
                </a:lnTo>
                <a:lnTo>
                  <a:pt x="5344937" y="89702"/>
                </a:lnTo>
                <a:lnTo>
                  <a:pt x="5337888" y="54786"/>
                </a:lnTo>
                <a:lnTo>
                  <a:pt x="5318664" y="26273"/>
                </a:lnTo>
                <a:lnTo>
                  <a:pt x="5290151" y="7049"/>
                </a:lnTo>
                <a:lnTo>
                  <a:pt x="5255235" y="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327988" y="5340572"/>
            <a:ext cx="5345430" cy="538480"/>
          </a:xfrm>
          <a:custGeom>
            <a:avLst/>
            <a:gdLst/>
            <a:ahLst/>
            <a:cxnLst/>
            <a:rect l="l" t="t" r="r" b="b"/>
            <a:pathLst>
              <a:path w="5345430" h="538479">
                <a:moveTo>
                  <a:pt x="0" y="89702"/>
                </a:moveTo>
                <a:lnTo>
                  <a:pt x="7049" y="54786"/>
                </a:lnTo>
                <a:lnTo>
                  <a:pt x="26273" y="26273"/>
                </a:lnTo>
                <a:lnTo>
                  <a:pt x="54785" y="7049"/>
                </a:lnTo>
                <a:lnTo>
                  <a:pt x="89701" y="0"/>
                </a:lnTo>
                <a:lnTo>
                  <a:pt x="5255236" y="0"/>
                </a:lnTo>
                <a:lnTo>
                  <a:pt x="5290152" y="7049"/>
                </a:lnTo>
                <a:lnTo>
                  <a:pt x="5318664" y="26273"/>
                </a:lnTo>
                <a:lnTo>
                  <a:pt x="5337888" y="54786"/>
                </a:lnTo>
                <a:lnTo>
                  <a:pt x="5344938" y="89702"/>
                </a:lnTo>
                <a:lnTo>
                  <a:pt x="5344938" y="448518"/>
                </a:lnTo>
                <a:lnTo>
                  <a:pt x="5337888" y="483434"/>
                </a:lnTo>
                <a:lnTo>
                  <a:pt x="5318664" y="511947"/>
                </a:lnTo>
                <a:lnTo>
                  <a:pt x="5290152" y="531171"/>
                </a:lnTo>
                <a:lnTo>
                  <a:pt x="5255236" y="538221"/>
                </a:lnTo>
                <a:lnTo>
                  <a:pt x="89701" y="538221"/>
                </a:lnTo>
                <a:lnTo>
                  <a:pt x="54785" y="531171"/>
                </a:lnTo>
                <a:lnTo>
                  <a:pt x="26273" y="511947"/>
                </a:lnTo>
                <a:lnTo>
                  <a:pt x="7049" y="483434"/>
                </a:lnTo>
                <a:lnTo>
                  <a:pt x="0" y="448518"/>
                </a:lnTo>
                <a:lnTo>
                  <a:pt x="0" y="89702"/>
                </a:lnTo>
                <a:close/>
              </a:path>
            </a:pathLst>
          </a:custGeom>
          <a:ln w="12700">
            <a:solidFill>
              <a:srgbClr val="46AAC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/>
          <p:nvPr/>
        </p:nvSpPr>
        <p:spPr>
          <a:xfrm>
            <a:off x="7895556" y="5401295"/>
            <a:ext cx="2209165" cy="38163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 marR="5080" indent="102870">
              <a:lnSpc>
                <a:spcPct val="100899"/>
              </a:lnSpc>
              <a:spcBef>
                <a:spcPts val="115"/>
              </a:spcBef>
            </a:pP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Strong Synergies Between </a:t>
            </a:r>
            <a:r>
              <a:rPr dirty="0" sz="1150" spc="25">
                <a:solidFill>
                  <a:srgbClr val="FFFFFF"/>
                </a:solidFill>
                <a:latin typeface="Franklin Gothic Medium"/>
                <a:cs typeface="Franklin Gothic Medium"/>
              </a:rPr>
              <a:t>Our  </a:t>
            </a: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Retail </a:t>
            </a:r>
            <a:r>
              <a:rPr dirty="0" sz="1150" spc="30">
                <a:solidFill>
                  <a:srgbClr val="FFFFFF"/>
                </a:solidFill>
                <a:latin typeface="Franklin Gothic Medium"/>
                <a:cs typeface="Franklin Gothic Medium"/>
              </a:rPr>
              <a:t>&amp; </a:t>
            </a: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Wholesale</a:t>
            </a:r>
            <a:r>
              <a:rPr dirty="0" sz="1150" spc="-30">
                <a:solidFill>
                  <a:srgbClr val="FFFFFF"/>
                </a:solidFill>
                <a:latin typeface="Franklin Gothic Medium"/>
                <a:cs typeface="Franklin Gothic Medium"/>
              </a:rPr>
              <a:t> </a:t>
            </a:r>
            <a:r>
              <a:rPr dirty="0" sz="1150" spc="15">
                <a:solidFill>
                  <a:srgbClr val="FFFFFF"/>
                </a:solidFill>
                <a:latin typeface="Franklin Gothic Medium"/>
                <a:cs typeface="Franklin Gothic Medium"/>
              </a:rPr>
              <a:t>Marketplaces</a:t>
            </a:r>
            <a:endParaRPr sz="1150">
              <a:latin typeface="Franklin Gothic Medium"/>
              <a:cs typeface="Franklin Gothic Medium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631445" y="3613098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0"/>
                </a:moveTo>
                <a:lnTo>
                  <a:pt x="0" y="58754"/>
                </a:lnTo>
                <a:lnTo>
                  <a:pt x="96608" y="58754"/>
                </a:lnTo>
                <a:lnTo>
                  <a:pt x="89017" y="35884"/>
                </a:lnTo>
                <a:lnTo>
                  <a:pt x="68313" y="17208"/>
                </a:lnTo>
                <a:lnTo>
                  <a:pt x="37604" y="46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631445" y="3613098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0"/>
                </a:moveTo>
                <a:lnTo>
                  <a:pt x="37604" y="4617"/>
                </a:lnTo>
                <a:lnTo>
                  <a:pt x="68312" y="17208"/>
                </a:lnTo>
                <a:lnTo>
                  <a:pt x="89016" y="35884"/>
                </a:lnTo>
                <a:lnTo>
                  <a:pt x="96609" y="58753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539329" y="3613098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96608" y="0"/>
                </a:moveTo>
                <a:lnTo>
                  <a:pt x="59004" y="4617"/>
                </a:lnTo>
                <a:lnTo>
                  <a:pt x="28296" y="17208"/>
                </a:lnTo>
                <a:lnTo>
                  <a:pt x="7592" y="35884"/>
                </a:lnTo>
                <a:lnTo>
                  <a:pt x="0" y="58754"/>
                </a:lnTo>
                <a:lnTo>
                  <a:pt x="96608" y="58754"/>
                </a:lnTo>
                <a:lnTo>
                  <a:pt x="96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539329" y="3613098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58753"/>
                </a:moveTo>
                <a:lnTo>
                  <a:pt x="7592" y="35884"/>
                </a:lnTo>
                <a:lnTo>
                  <a:pt x="28296" y="17208"/>
                </a:lnTo>
                <a:lnTo>
                  <a:pt x="59004" y="4617"/>
                </a:lnTo>
                <a:lnTo>
                  <a:pt x="96609" y="0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101217" y="2541896"/>
            <a:ext cx="1033780" cy="1671320"/>
          </a:xfrm>
          <a:custGeom>
            <a:avLst/>
            <a:gdLst/>
            <a:ahLst/>
            <a:cxnLst/>
            <a:rect l="l" t="t" r="r" b="b"/>
            <a:pathLst>
              <a:path w="1033779" h="1671320">
                <a:moveTo>
                  <a:pt x="114300" y="1557012"/>
                </a:moveTo>
                <a:lnTo>
                  <a:pt x="0" y="1614162"/>
                </a:lnTo>
                <a:lnTo>
                  <a:pt x="114300" y="1671312"/>
                </a:lnTo>
                <a:lnTo>
                  <a:pt x="114300" y="1633212"/>
                </a:lnTo>
                <a:lnTo>
                  <a:pt x="95250" y="1633212"/>
                </a:lnTo>
                <a:lnTo>
                  <a:pt x="95250" y="1595112"/>
                </a:lnTo>
                <a:lnTo>
                  <a:pt x="114300" y="1595112"/>
                </a:lnTo>
                <a:lnTo>
                  <a:pt x="114300" y="1557012"/>
                </a:lnTo>
                <a:close/>
              </a:path>
              <a:path w="1033779" h="1671320">
                <a:moveTo>
                  <a:pt x="114300" y="1595112"/>
                </a:moveTo>
                <a:lnTo>
                  <a:pt x="95250" y="1595112"/>
                </a:lnTo>
                <a:lnTo>
                  <a:pt x="95250" y="1633212"/>
                </a:lnTo>
                <a:lnTo>
                  <a:pt x="114300" y="1633212"/>
                </a:lnTo>
                <a:lnTo>
                  <a:pt x="114300" y="1595112"/>
                </a:lnTo>
                <a:close/>
              </a:path>
              <a:path w="1033779" h="1671320">
                <a:moveTo>
                  <a:pt x="511851" y="1595112"/>
                </a:moveTo>
                <a:lnTo>
                  <a:pt x="114300" y="1595112"/>
                </a:lnTo>
                <a:lnTo>
                  <a:pt x="114300" y="1633212"/>
                </a:lnTo>
                <a:lnTo>
                  <a:pt x="530901" y="1633212"/>
                </a:lnTo>
                <a:lnTo>
                  <a:pt x="538316" y="1631715"/>
                </a:lnTo>
                <a:lnTo>
                  <a:pt x="544372" y="1627632"/>
                </a:lnTo>
                <a:lnTo>
                  <a:pt x="548454" y="1621577"/>
                </a:lnTo>
                <a:lnTo>
                  <a:pt x="549951" y="1614162"/>
                </a:lnTo>
                <a:lnTo>
                  <a:pt x="511851" y="1614162"/>
                </a:lnTo>
                <a:lnTo>
                  <a:pt x="511851" y="1595112"/>
                </a:lnTo>
                <a:close/>
              </a:path>
              <a:path w="1033779" h="1671320">
                <a:moveTo>
                  <a:pt x="1033490" y="0"/>
                </a:moveTo>
                <a:lnTo>
                  <a:pt x="530903" y="0"/>
                </a:lnTo>
                <a:lnTo>
                  <a:pt x="523488" y="1497"/>
                </a:lnTo>
                <a:lnTo>
                  <a:pt x="517432" y="5579"/>
                </a:lnTo>
                <a:lnTo>
                  <a:pt x="513350" y="11635"/>
                </a:lnTo>
                <a:lnTo>
                  <a:pt x="511853" y="19050"/>
                </a:lnTo>
                <a:lnTo>
                  <a:pt x="511851" y="1614162"/>
                </a:lnTo>
                <a:lnTo>
                  <a:pt x="530901" y="1595112"/>
                </a:lnTo>
                <a:lnTo>
                  <a:pt x="549951" y="1595112"/>
                </a:lnTo>
                <a:lnTo>
                  <a:pt x="549953" y="38100"/>
                </a:lnTo>
                <a:lnTo>
                  <a:pt x="530903" y="38100"/>
                </a:lnTo>
                <a:lnTo>
                  <a:pt x="549953" y="19050"/>
                </a:lnTo>
                <a:lnTo>
                  <a:pt x="1033490" y="19050"/>
                </a:lnTo>
                <a:lnTo>
                  <a:pt x="1033490" y="0"/>
                </a:lnTo>
                <a:close/>
              </a:path>
              <a:path w="1033779" h="1671320">
                <a:moveTo>
                  <a:pt x="549951" y="1595112"/>
                </a:moveTo>
                <a:lnTo>
                  <a:pt x="530901" y="1595112"/>
                </a:lnTo>
                <a:lnTo>
                  <a:pt x="511851" y="1614162"/>
                </a:lnTo>
                <a:lnTo>
                  <a:pt x="549951" y="1614162"/>
                </a:lnTo>
                <a:lnTo>
                  <a:pt x="549951" y="1595112"/>
                </a:lnTo>
                <a:close/>
              </a:path>
              <a:path w="1033779" h="1671320">
                <a:moveTo>
                  <a:pt x="549953" y="19050"/>
                </a:moveTo>
                <a:lnTo>
                  <a:pt x="530903" y="38100"/>
                </a:lnTo>
                <a:lnTo>
                  <a:pt x="549953" y="38100"/>
                </a:lnTo>
                <a:lnTo>
                  <a:pt x="549953" y="19050"/>
                </a:lnTo>
                <a:close/>
              </a:path>
              <a:path w="1033779" h="1671320">
                <a:moveTo>
                  <a:pt x="1033490" y="19050"/>
                </a:moveTo>
                <a:lnTo>
                  <a:pt x="549953" y="19050"/>
                </a:lnTo>
                <a:lnTo>
                  <a:pt x="549953" y="38100"/>
                </a:lnTo>
                <a:lnTo>
                  <a:pt x="1033490" y="38100"/>
                </a:lnTo>
                <a:lnTo>
                  <a:pt x="1033490" y="19050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9533990" y="3698189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0"/>
                </a:moveTo>
                <a:lnTo>
                  <a:pt x="0" y="58754"/>
                </a:lnTo>
                <a:lnTo>
                  <a:pt x="96608" y="58754"/>
                </a:lnTo>
                <a:lnTo>
                  <a:pt x="89016" y="35883"/>
                </a:lnTo>
                <a:lnTo>
                  <a:pt x="68312" y="17208"/>
                </a:lnTo>
                <a:lnTo>
                  <a:pt x="37604" y="46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9533990" y="3698189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0"/>
                </a:moveTo>
                <a:lnTo>
                  <a:pt x="37604" y="4617"/>
                </a:lnTo>
                <a:lnTo>
                  <a:pt x="68312" y="17208"/>
                </a:lnTo>
                <a:lnTo>
                  <a:pt x="89016" y="35884"/>
                </a:lnTo>
                <a:lnTo>
                  <a:pt x="96609" y="58753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9441874" y="3698187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96608" y="0"/>
                </a:moveTo>
                <a:lnTo>
                  <a:pt x="59004" y="4617"/>
                </a:lnTo>
                <a:lnTo>
                  <a:pt x="28296" y="17208"/>
                </a:lnTo>
                <a:lnTo>
                  <a:pt x="7592" y="35883"/>
                </a:lnTo>
                <a:lnTo>
                  <a:pt x="0" y="58754"/>
                </a:lnTo>
                <a:lnTo>
                  <a:pt x="96608" y="58752"/>
                </a:lnTo>
                <a:lnTo>
                  <a:pt x="966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9441874" y="3698187"/>
            <a:ext cx="97155" cy="59055"/>
          </a:xfrm>
          <a:custGeom>
            <a:avLst/>
            <a:gdLst/>
            <a:ahLst/>
            <a:cxnLst/>
            <a:rect l="l" t="t" r="r" b="b"/>
            <a:pathLst>
              <a:path w="97154" h="59054">
                <a:moveTo>
                  <a:pt x="0" y="58753"/>
                </a:moveTo>
                <a:lnTo>
                  <a:pt x="7592" y="35884"/>
                </a:lnTo>
                <a:lnTo>
                  <a:pt x="28296" y="17208"/>
                </a:lnTo>
                <a:lnTo>
                  <a:pt x="59004" y="4617"/>
                </a:lnTo>
                <a:lnTo>
                  <a:pt x="96609" y="0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31444" y="2297568"/>
            <a:ext cx="0" cy="1791335"/>
          </a:xfrm>
          <a:custGeom>
            <a:avLst/>
            <a:gdLst/>
            <a:ahLst/>
            <a:cxnLst/>
            <a:rect l="l" t="t" r="r" b="b"/>
            <a:pathLst>
              <a:path w="0" h="1791335">
                <a:moveTo>
                  <a:pt x="0" y="0"/>
                </a:moveTo>
                <a:lnTo>
                  <a:pt x="1" y="1790956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5098971" y="2240419"/>
            <a:ext cx="557530" cy="114300"/>
          </a:xfrm>
          <a:custGeom>
            <a:avLst/>
            <a:gdLst/>
            <a:ahLst/>
            <a:cxnLst/>
            <a:rect l="l" t="t" r="r" b="b"/>
            <a:pathLst>
              <a:path w="557529" h="114300">
                <a:moveTo>
                  <a:pt x="114300" y="0"/>
                </a:moveTo>
                <a:lnTo>
                  <a:pt x="0" y="57150"/>
                </a:lnTo>
                <a:lnTo>
                  <a:pt x="114300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557529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557529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557529" h="114300">
                <a:moveTo>
                  <a:pt x="557185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557187" y="76198"/>
                </a:lnTo>
                <a:lnTo>
                  <a:pt x="557185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101220" y="2443356"/>
            <a:ext cx="4454525" cy="1849755"/>
          </a:xfrm>
          <a:custGeom>
            <a:avLst/>
            <a:gdLst/>
            <a:ahLst/>
            <a:cxnLst/>
            <a:rect l="l" t="t" r="r" b="b"/>
            <a:pathLst>
              <a:path w="4454525" h="1849754">
                <a:moveTo>
                  <a:pt x="114300" y="1735240"/>
                </a:moveTo>
                <a:lnTo>
                  <a:pt x="0" y="1792390"/>
                </a:lnTo>
                <a:lnTo>
                  <a:pt x="114300" y="1849540"/>
                </a:lnTo>
                <a:lnTo>
                  <a:pt x="114300" y="1811440"/>
                </a:lnTo>
                <a:lnTo>
                  <a:pt x="95252" y="1811440"/>
                </a:lnTo>
                <a:lnTo>
                  <a:pt x="95252" y="1773340"/>
                </a:lnTo>
                <a:lnTo>
                  <a:pt x="114300" y="1773340"/>
                </a:lnTo>
                <a:lnTo>
                  <a:pt x="114300" y="1735240"/>
                </a:lnTo>
                <a:close/>
              </a:path>
              <a:path w="4454525" h="1849754">
                <a:moveTo>
                  <a:pt x="114300" y="1773340"/>
                </a:moveTo>
                <a:lnTo>
                  <a:pt x="95252" y="1773340"/>
                </a:lnTo>
                <a:lnTo>
                  <a:pt x="95252" y="1811440"/>
                </a:lnTo>
                <a:lnTo>
                  <a:pt x="114300" y="1811440"/>
                </a:lnTo>
                <a:lnTo>
                  <a:pt x="114300" y="1773340"/>
                </a:lnTo>
                <a:close/>
              </a:path>
              <a:path w="4454525" h="1849754">
                <a:moveTo>
                  <a:pt x="4415967" y="1773340"/>
                </a:moveTo>
                <a:lnTo>
                  <a:pt x="114300" y="1773340"/>
                </a:lnTo>
                <a:lnTo>
                  <a:pt x="114300" y="1811440"/>
                </a:lnTo>
                <a:lnTo>
                  <a:pt x="4435017" y="1811440"/>
                </a:lnTo>
                <a:lnTo>
                  <a:pt x="4442432" y="1809943"/>
                </a:lnTo>
                <a:lnTo>
                  <a:pt x="4448488" y="1805860"/>
                </a:lnTo>
                <a:lnTo>
                  <a:pt x="4452570" y="1799805"/>
                </a:lnTo>
                <a:lnTo>
                  <a:pt x="4454067" y="1792390"/>
                </a:lnTo>
                <a:lnTo>
                  <a:pt x="4415967" y="1792390"/>
                </a:lnTo>
                <a:lnTo>
                  <a:pt x="4415967" y="1773340"/>
                </a:lnTo>
                <a:close/>
              </a:path>
              <a:path w="4454525" h="1849754">
                <a:moveTo>
                  <a:pt x="4415967" y="79873"/>
                </a:moveTo>
                <a:lnTo>
                  <a:pt x="4415967" y="1792390"/>
                </a:lnTo>
                <a:lnTo>
                  <a:pt x="4435017" y="1773340"/>
                </a:lnTo>
                <a:lnTo>
                  <a:pt x="4454067" y="1773340"/>
                </a:lnTo>
                <a:lnTo>
                  <a:pt x="4454067" y="80364"/>
                </a:lnTo>
                <a:lnTo>
                  <a:pt x="4434513" y="80364"/>
                </a:lnTo>
                <a:lnTo>
                  <a:pt x="4415967" y="79873"/>
                </a:lnTo>
                <a:close/>
              </a:path>
              <a:path w="4454525" h="1849754">
                <a:moveTo>
                  <a:pt x="4454067" y="1773340"/>
                </a:moveTo>
                <a:lnTo>
                  <a:pt x="4435017" y="1773340"/>
                </a:lnTo>
                <a:lnTo>
                  <a:pt x="4415967" y="1792390"/>
                </a:lnTo>
                <a:lnTo>
                  <a:pt x="4454067" y="1792390"/>
                </a:lnTo>
                <a:lnTo>
                  <a:pt x="4454067" y="1773340"/>
                </a:lnTo>
                <a:close/>
              </a:path>
              <a:path w="4454525" h="1849754">
                <a:moveTo>
                  <a:pt x="4278019" y="0"/>
                </a:moveTo>
                <a:lnTo>
                  <a:pt x="4162248" y="54108"/>
                </a:lnTo>
                <a:lnTo>
                  <a:pt x="4274997" y="114259"/>
                </a:lnTo>
                <a:lnTo>
                  <a:pt x="4276004" y="76172"/>
                </a:lnTo>
                <a:lnTo>
                  <a:pt x="4256962" y="75669"/>
                </a:lnTo>
                <a:lnTo>
                  <a:pt x="4257969" y="37583"/>
                </a:lnTo>
                <a:lnTo>
                  <a:pt x="4277025" y="37583"/>
                </a:lnTo>
                <a:lnTo>
                  <a:pt x="4278019" y="0"/>
                </a:lnTo>
                <a:close/>
              </a:path>
              <a:path w="4454525" h="1849754">
                <a:moveTo>
                  <a:pt x="4415967" y="61320"/>
                </a:moveTo>
                <a:lnTo>
                  <a:pt x="4415967" y="79873"/>
                </a:lnTo>
                <a:lnTo>
                  <a:pt x="4434513" y="80364"/>
                </a:lnTo>
                <a:lnTo>
                  <a:pt x="4415967" y="61320"/>
                </a:lnTo>
                <a:close/>
              </a:path>
              <a:path w="4454525" h="1849754">
                <a:moveTo>
                  <a:pt x="4454067" y="61320"/>
                </a:moveTo>
                <a:lnTo>
                  <a:pt x="4415967" y="61320"/>
                </a:lnTo>
                <a:lnTo>
                  <a:pt x="4434513" y="80364"/>
                </a:lnTo>
                <a:lnTo>
                  <a:pt x="4454067" y="80364"/>
                </a:lnTo>
                <a:lnTo>
                  <a:pt x="4454067" y="61320"/>
                </a:lnTo>
                <a:close/>
              </a:path>
              <a:path w="4454525" h="1849754">
                <a:moveTo>
                  <a:pt x="4277012" y="38086"/>
                </a:moveTo>
                <a:lnTo>
                  <a:pt x="4276004" y="76172"/>
                </a:lnTo>
                <a:lnTo>
                  <a:pt x="4415967" y="79873"/>
                </a:lnTo>
                <a:lnTo>
                  <a:pt x="4415967" y="61320"/>
                </a:lnTo>
                <a:lnTo>
                  <a:pt x="4454067" y="61320"/>
                </a:lnTo>
                <a:lnTo>
                  <a:pt x="4452621" y="54027"/>
                </a:lnTo>
                <a:lnTo>
                  <a:pt x="4448664" y="48029"/>
                </a:lnTo>
                <a:lnTo>
                  <a:pt x="4442772" y="43915"/>
                </a:lnTo>
                <a:lnTo>
                  <a:pt x="4435520" y="42277"/>
                </a:lnTo>
                <a:lnTo>
                  <a:pt x="4277012" y="38086"/>
                </a:lnTo>
                <a:close/>
              </a:path>
              <a:path w="4454525" h="1849754">
                <a:moveTo>
                  <a:pt x="4257969" y="37583"/>
                </a:moveTo>
                <a:lnTo>
                  <a:pt x="4256962" y="75669"/>
                </a:lnTo>
                <a:lnTo>
                  <a:pt x="4276004" y="76172"/>
                </a:lnTo>
                <a:lnTo>
                  <a:pt x="4277012" y="38086"/>
                </a:lnTo>
                <a:lnTo>
                  <a:pt x="4257969" y="37583"/>
                </a:lnTo>
                <a:close/>
              </a:path>
              <a:path w="4454525" h="1849754">
                <a:moveTo>
                  <a:pt x="4277025" y="37583"/>
                </a:moveTo>
                <a:lnTo>
                  <a:pt x="4257969" y="37583"/>
                </a:lnTo>
                <a:lnTo>
                  <a:pt x="4277012" y="38086"/>
                </a:lnTo>
                <a:lnTo>
                  <a:pt x="4277025" y="37583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479156" y="4189824"/>
            <a:ext cx="97790" cy="59055"/>
          </a:xfrm>
          <a:custGeom>
            <a:avLst/>
            <a:gdLst/>
            <a:ahLst/>
            <a:cxnLst/>
            <a:rect l="l" t="t" r="r" b="b"/>
            <a:pathLst>
              <a:path w="97790" h="59054">
                <a:moveTo>
                  <a:pt x="0" y="0"/>
                </a:moveTo>
                <a:lnTo>
                  <a:pt x="0" y="58752"/>
                </a:lnTo>
                <a:lnTo>
                  <a:pt x="97732" y="58752"/>
                </a:lnTo>
                <a:lnTo>
                  <a:pt x="90052" y="35883"/>
                </a:lnTo>
                <a:lnTo>
                  <a:pt x="69107" y="17208"/>
                </a:lnTo>
                <a:lnTo>
                  <a:pt x="38041" y="46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479156" y="4189824"/>
            <a:ext cx="97790" cy="59055"/>
          </a:xfrm>
          <a:custGeom>
            <a:avLst/>
            <a:gdLst/>
            <a:ahLst/>
            <a:cxnLst/>
            <a:rect l="l" t="t" r="r" b="b"/>
            <a:pathLst>
              <a:path w="97790" h="59054">
                <a:moveTo>
                  <a:pt x="0" y="0"/>
                </a:moveTo>
                <a:lnTo>
                  <a:pt x="38041" y="4617"/>
                </a:lnTo>
                <a:lnTo>
                  <a:pt x="69107" y="17208"/>
                </a:lnTo>
                <a:lnTo>
                  <a:pt x="90052" y="35883"/>
                </a:lnTo>
                <a:lnTo>
                  <a:pt x="97732" y="58753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8385916" y="4189824"/>
            <a:ext cx="97790" cy="59055"/>
          </a:xfrm>
          <a:custGeom>
            <a:avLst/>
            <a:gdLst/>
            <a:ahLst/>
            <a:cxnLst/>
            <a:rect l="l" t="t" r="r" b="b"/>
            <a:pathLst>
              <a:path w="97790" h="59054">
                <a:moveTo>
                  <a:pt x="97732" y="0"/>
                </a:moveTo>
                <a:lnTo>
                  <a:pt x="59690" y="4617"/>
                </a:lnTo>
                <a:lnTo>
                  <a:pt x="28625" y="17208"/>
                </a:lnTo>
                <a:lnTo>
                  <a:pt x="7680" y="35883"/>
                </a:lnTo>
                <a:lnTo>
                  <a:pt x="0" y="58752"/>
                </a:lnTo>
                <a:lnTo>
                  <a:pt x="97732" y="58752"/>
                </a:lnTo>
                <a:lnTo>
                  <a:pt x="9773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385916" y="4189823"/>
            <a:ext cx="97790" cy="59055"/>
          </a:xfrm>
          <a:custGeom>
            <a:avLst/>
            <a:gdLst/>
            <a:ahLst/>
            <a:cxnLst/>
            <a:rect l="l" t="t" r="r" b="b"/>
            <a:pathLst>
              <a:path w="97790" h="59054">
                <a:moveTo>
                  <a:pt x="0" y="58753"/>
                </a:moveTo>
                <a:lnTo>
                  <a:pt x="7680" y="35883"/>
                </a:lnTo>
                <a:lnTo>
                  <a:pt x="28625" y="17208"/>
                </a:lnTo>
                <a:lnTo>
                  <a:pt x="59690" y="4617"/>
                </a:lnTo>
                <a:lnTo>
                  <a:pt x="97732" y="0"/>
                </a:lnTo>
              </a:path>
            </a:pathLst>
          </a:custGeom>
          <a:ln w="38100">
            <a:solidFill>
              <a:srgbClr val="8064A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482527" y="4208733"/>
            <a:ext cx="0" cy="118110"/>
          </a:xfrm>
          <a:custGeom>
            <a:avLst/>
            <a:gdLst/>
            <a:ahLst/>
            <a:cxnLst/>
            <a:rect l="l" t="t" r="r" b="b"/>
            <a:pathLst>
              <a:path w="0" h="118110">
                <a:moveTo>
                  <a:pt x="1" y="0"/>
                </a:moveTo>
                <a:lnTo>
                  <a:pt x="0" y="117506"/>
                </a:lnTo>
              </a:path>
            </a:pathLst>
          </a:custGeom>
          <a:ln w="3810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7751064" y="2301239"/>
            <a:ext cx="1426464" cy="34137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761232" y="3590544"/>
            <a:ext cx="1045463" cy="30175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636264" y="2130551"/>
            <a:ext cx="1295400" cy="45720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483433" y="3312436"/>
            <a:ext cx="1601604" cy="1271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881462" y="3312831"/>
            <a:ext cx="584200" cy="114300"/>
          </a:xfrm>
          <a:custGeom>
            <a:avLst/>
            <a:gdLst/>
            <a:ahLst/>
            <a:cxnLst/>
            <a:rect l="l" t="t" r="r" b="b"/>
            <a:pathLst>
              <a:path w="584200" h="114300">
                <a:moveTo>
                  <a:pt x="469847" y="76199"/>
                </a:moveTo>
                <a:lnTo>
                  <a:pt x="469847" y="114300"/>
                </a:lnTo>
                <a:lnTo>
                  <a:pt x="546047" y="76200"/>
                </a:lnTo>
                <a:lnTo>
                  <a:pt x="469847" y="76199"/>
                </a:lnTo>
                <a:close/>
              </a:path>
              <a:path w="584200" h="114300">
                <a:moveTo>
                  <a:pt x="469847" y="38099"/>
                </a:moveTo>
                <a:lnTo>
                  <a:pt x="469847" y="76199"/>
                </a:lnTo>
                <a:lnTo>
                  <a:pt x="488897" y="76200"/>
                </a:lnTo>
                <a:lnTo>
                  <a:pt x="488897" y="38100"/>
                </a:lnTo>
                <a:lnTo>
                  <a:pt x="469847" y="38099"/>
                </a:lnTo>
                <a:close/>
              </a:path>
              <a:path w="584200" h="114300">
                <a:moveTo>
                  <a:pt x="469847" y="0"/>
                </a:moveTo>
                <a:lnTo>
                  <a:pt x="469847" y="38099"/>
                </a:lnTo>
                <a:lnTo>
                  <a:pt x="488897" y="38100"/>
                </a:lnTo>
                <a:lnTo>
                  <a:pt x="488897" y="76200"/>
                </a:lnTo>
                <a:lnTo>
                  <a:pt x="546050" y="76198"/>
                </a:lnTo>
                <a:lnTo>
                  <a:pt x="584147" y="57150"/>
                </a:lnTo>
                <a:lnTo>
                  <a:pt x="469847" y="0"/>
                </a:lnTo>
                <a:close/>
              </a:path>
              <a:path w="584200" h="114300">
                <a:moveTo>
                  <a:pt x="0" y="38098"/>
                </a:moveTo>
                <a:lnTo>
                  <a:pt x="0" y="76198"/>
                </a:lnTo>
                <a:lnTo>
                  <a:pt x="469847" y="76199"/>
                </a:lnTo>
                <a:lnTo>
                  <a:pt x="469847" y="38099"/>
                </a:lnTo>
                <a:lnTo>
                  <a:pt x="0" y="38098"/>
                </a:lnTo>
                <a:close/>
              </a:path>
            </a:pathLst>
          </a:custGeom>
          <a:solidFill>
            <a:srgbClr val="A6A6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101219" y="3338495"/>
            <a:ext cx="366395" cy="114300"/>
          </a:xfrm>
          <a:custGeom>
            <a:avLst/>
            <a:gdLst/>
            <a:ahLst/>
            <a:cxnLst/>
            <a:rect l="l" t="t" r="r" b="b"/>
            <a:pathLst>
              <a:path w="366395" h="114300">
                <a:moveTo>
                  <a:pt x="114300" y="0"/>
                </a:moveTo>
                <a:lnTo>
                  <a:pt x="0" y="57150"/>
                </a:lnTo>
                <a:lnTo>
                  <a:pt x="114301" y="114300"/>
                </a:lnTo>
                <a:lnTo>
                  <a:pt x="114300" y="76200"/>
                </a:lnTo>
                <a:lnTo>
                  <a:pt x="95250" y="76200"/>
                </a:lnTo>
                <a:lnTo>
                  <a:pt x="95250" y="38100"/>
                </a:lnTo>
                <a:lnTo>
                  <a:pt x="114300" y="38099"/>
                </a:lnTo>
                <a:lnTo>
                  <a:pt x="114300" y="0"/>
                </a:lnTo>
                <a:close/>
              </a:path>
              <a:path w="366395" h="114300">
                <a:moveTo>
                  <a:pt x="114300" y="38099"/>
                </a:moveTo>
                <a:lnTo>
                  <a:pt x="95250" y="38100"/>
                </a:lnTo>
                <a:lnTo>
                  <a:pt x="95250" y="76200"/>
                </a:lnTo>
                <a:lnTo>
                  <a:pt x="114300" y="76199"/>
                </a:lnTo>
                <a:lnTo>
                  <a:pt x="114300" y="38099"/>
                </a:lnTo>
                <a:close/>
              </a:path>
              <a:path w="366395" h="114300">
                <a:moveTo>
                  <a:pt x="114300" y="76199"/>
                </a:moveTo>
                <a:lnTo>
                  <a:pt x="95250" y="76200"/>
                </a:lnTo>
                <a:lnTo>
                  <a:pt x="114300" y="76200"/>
                </a:lnTo>
                <a:close/>
              </a:path>
              <a:path w="366395" h="114300">
                <a:moveTo>
                  <a:pt x="366215" y="38098"/>
                </a:moveTo>
                <a:lnTo>
                  <a:pt x="114300" y="38099"/>
                </a:lnTo>
                <a:lnTo>
                  <a:pt x="114300" y="76199"/>
                </a:lnTo>
                <a:lnTo>
                  <a:pt x="366215" y="76198"/>
                </a:lnTo>
                <a:lnTo>
                  <a:pt x="366215" y="38098"/>
                </a:lnTo>
                <a:close/>
              </a:path>
            </a:pathLst>
          </a:custGeom>
          <a:solidFill>
            <a:srgbClr val="8064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505200" y="4081271"/>
            <a:ext cx="1557527" cy="24079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51142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Our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Marketplaces are  </a:t>
            </a:r>
            <a:r>
              <a:rPr dirty="0" sz="2400" spc="6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etworked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83372" y="4115307"/>
            <a:ext cx="535559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Part </a:t>
            </a:r>
            <a:r>
              <a:rPr dirty="0" sz="2800" spc="415">
                <a:latin typeface="微软雅黑"/>
                <a:cs typeface="微软雅黑"/>
              </a:rPr>
              <a:t>2:Why </a:t>
            </a:r>
            <a:r>
              <a:rPr dirty="0" sz="2800" spc="500">
                <a:latin typeface="微软雅黑"/>
                <a:cs typeface="微软雅黑"/>
              </a:rPr>
              <a:t>G </a:t>
            </a:r>
            <a:r>
              <a:rPr dirty="0" sz="2800" spc="-5">
                <a:latin typeface="微软雅黑"/>
                <a:cs typeface="微软雅黑"/>
              </a:rPr>
              <a:t>and </a:t>
            </a:r>
            <a:r>
              <a:rPr dirty="0" sz="2800" spc="-65">
                <a:latin typeface="微软雅黑"/>
                <a:cs typeface="微软雅黑"/>
              </a:rPr>
              <a:t>Two</a:t>
            </a:r>
            <a:r>
              <a:rPr dirty="0" sz="2800" spc="35">
                <a:latin typeface="微软雅黑"/>
                <a:cs typeface="微软雅黑"/>
              </a:rPr>
              <a:t> </a:t>
            </a:r>
            <a:r>
              <a:rPr dirty="0" sz="2800" spc="-5">
                <a:latin typeface="微软雅黑"/>
                <a:cs typeface="微软雅黑"/>
              </a:rPr>
              <a:t>works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54394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Why Graph and Graph </a:t>
            </a:r>
            <a:r>
              <a:rPr dirty="0" sz="2400" spc="6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mbedding?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628" y="996188"/>
            <a:ext cx="11084560" cy="5568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5080" indent="-285750">
              <a:lnSpc>
                <a:spcPct val="1211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25">
                <a:latin typeface="微软雅黑"/>
                <a:cs typeface="微软雅黑"/>
              </a:rPr>
              <a:t>)C2ph </a:t>
            </a:r>
            <a:r>
              <a:rPr dirty="0" sz="1800" spc="5">
                <a:latin typeface="微软雅黑"/>
                <a:cs typeface="微软雅黑"/>
              </a:rPr>
              <a:t>comput:n8 </a:t>
            </a:r>
            <a:r>
              <a:rPr dirty="0" sz="1800" spc="-5">
                <a:latin typeface="微软雅黑"/>
                <a:cs typeface="微软雅黑"/>
              </a:rPr>
              <a:t>models </a:t>
            </a:r>
            <a:r>
              <a:rPr dirty="0" sz="1800" spc="-204">
                <a:latin typeface="微软雅黑"/>
                <a:cs typeface="微软雅黑"/>
              </a:rPr>
              <a:t>2Ce </a:t>
            </a:r>
            <a:r>
              <a:rPr dirty="0" sz="1800" spc="-215">
                <a:latin typeface="微软雅黑"/>
                <a:cs typeface="微软雅黑"/>
              </a:rPr>
              <a:t>GeCy </a:t>
            </a:r>
            <a:r>
              <a:rPr dirty="0" sz="1800" spc="-85">
                <a:latin typeface="微软雅黑"/>
                <a:cs typeface="微软雅黑"/>
              </a:rPr>
              <a:t>popul2C </a:t>
            </a:r>
            <a:r>
              <a:rPr dirty="0" sz="1800" spc="15">
                <a:latin typeface="微软雅黑"/>
                <a:cs typeface="微软雅黑"/>
              </a:rPr>
              <a:t>:n </a:t>
            </a:r>
            <a:r>
              <a:rPr dirty="0" sz="1800" spc="40">
                <a:latin typeface="微软雅黑"/>
                <a:cs typeface="微软雅黑"/>
              </a:rPr>
              <a:t>b:8 </a:t>
            </a:r>
            <a:r>
              <a:rPr dirty="0" sz="1800" spc="-35">
                <a:latin typeface="微软雅黑"/>
                <a:cs typeface="微软雅黑"/>
              </a:rPr>
              <a:t>d2t2 </a:t>
            </a:r>
            <a:r>
              <a:rPr dirty="0" sz="1800" spc="-5">
                <a:latin typeface="微软雅黑"/>
                <a:cs typeface="微软雅黑"/>
              </a:rPr>
              <a:t>comp2n:es, espec:2lly </a:t>
            </a:r>
            <a:r>
              <a:rPr dirty="0" sz="1800" spc="290">
                <a:latin typeface="微软雅黑"/>
                <a:cs typeface="微软雅黑"/>
              </a:rPr>
              <a:t>I. </a:t>
            </a:r>
            <a:r>
              <a:rPr dirty="0" sz="1800" spc="-5">
                <a:latin typeface="微软雅黑"/>
                <a:cs typeface="微软雅黑"/>
              </a:rPr>
              <a:t>comp2n:es, </a:t>
            </a:r>
            <a:r>
              <a:rPr dirty="0" sz="1800" spc="-35">
                <a:latin typeface="微软雅黑"/>
                <a:cs typeface="微软雅黑"/>
              </a:rPr>
              <a:t>2s </a:t>
            </a:r>
            <a:r>
              <a:rPr dirty="0" sz="1800">
                <a:latin typeface="微软雅黑"/>
                <a:cs typeface="微软雅黑"/>
              </a:rPr>
              <a:t>they  </a:t>
            </a:r>
            <a:r>
              <a:rPr dirty="0" sz="1800" spc="-204">
                <a:latin typeface="微软雅黑"/>
                <a:cs typeface="微软雅黑"/>
              </a:rPr>
              <a:t>2Ce  </a:t>
            </a:r>
            <a:r>
              <a:rPr dirty="0" sz="1800">
                <a:latin typeface="微软雅黑"/>
                <a:cs typeface="微软雅黑"/>
              </a:rPr>
              <a:t>the most </a:t>
            </a:r>
            <a:r>
              <a:rPr dirty="0" sz="1800" spc="-105">
                <a:latin typeface="微软雅黑"/>
                <a:cs typeface="微软雅黑"/>
              </a:rPr>
              <a:t>stC2:8htfoCw2Cd </a:t>
            </a:r>
            <a:r>
              <a:rPr dirty="0" sz="1800">
                <a:latin typeface="微软雅黑"/>
                <a:cs typeface="微软雅黑"/>
              </a:rPr>
              <a:t>solut:ons </a:t>
            </a:r>
            <a:r>
              <a:rPr dirty="0" sz="1800" spc="-10">
                <a:latin typeface="微软雅黑"/>
                <a:cs typeface="微软雅黑"/>
              </a:rPr>
              <a:t>to </a:t>
            </a:r>
            <a:r>
              <a:rPr dirty="0" sz="1800" spc="-20">
                <a:latin typeface="微软雅黑"/>
                <a:cs typeface="微软雅黑"/>
              </a:rPr>
              <a:t>m2ny </a:t>
            </a:r>
            <a:r>
              <a:rPr dirty="0" sz="1800" spc="-70">
                <a:latin typeface="微软雅黑"/>
                <a:cs typeface="微软雅黑"/>
              </a:rPr>
              <a:t>pC2ct:c2l</a:t>
            </a:r>
            <a:r>
              <a:rPr dirty="0" sz="1800" spc="185">
                <a:latin typeface="微软雅黑"/>
                <a:cs typeface="微软雅黑"/>
              </a:rPr>
              <a:t> </a:t>
            </a:r>
            <a:r>
              <a:rPr dirty="0" sz="1800" spc="-75">
                <a:latin typeface="微软雅黑"/>
                <a:cs typeface="微软雅黑"/>
              </a:rPr>
              <a:t>pCoblems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8450" marR="95250" indent="-285750">
              <a:lnSpc>
                <a:spcPct val="1211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15">
                <a:latin typeface="微软雅黑"/>
                <a:cs typeface="微软雅黑"/>
              </a:rPr>
              <a:t>.C2d:t:on2l </a:t>
            </a:r>
            <a:r>
              <a:rPr dirty="0" sz="1800" spc="-45">
                <a:latin typeface="微软雅黑"/>
                <a:cs typeface="微软雅黑"/>
              </a:rPr>
              <a:t>Cecommend2t:on </a:t>
            </a:r>
            <a:r>
              <a:rPr dirty="0" sz="1800" spc="-25">
                <a:latin typeface="微软雅黑"/>
                <a:cs typeface="微软雅黑"/>
              </a:rPr>
              <a:t>2nd </a:t>
            </a:r>
            <a:r>
              <a:rPr dirty="0" sz="1800" spc="425">
                <a:latin typeface="微软雅黑"/>
                <a:cs typeface="微软雅黑"/>
              </a:rPr>
              <a:t>(.-/(/- </a:t>
            </a:r>
            <a:r>
              <a:rPr dirty="0" sz="1800" spc="-50">
                <a:latin typeface="微软雅黑"/>
                <a:cs typeface="微软雅黑"/>
              </a:rPr>
              <a:t>pCed:ct:on </a:t>
            </a:r>
            <a:r>
              <a:rPr dirty="0" sz="1800" spc="-75">
                <a:latin typeface="微软雅黑"/>
                <a:cs typeface="微软雅黑"/>
              </a:rPr>
              <a:t>pCoblems </a:t>
            </a:r>
            <a:r>
              <a:rPr dirty="0" sz="1800" spc="-25">
                <a:latin typeface="微软雅黑"/>
                <a:cs typeface="微软雅黑"/>
              </a:rPr>
              <a:t>c2n </a:t>
            </a:r>
            <a:r>
              <a:rPr dirty="0" sz="1800" spc="-5">
                <a:latin typeface="微软雅黑"/>
                <a:cs typeface="微软雅黑"/>
              </a:rPr>
              <a:t>be </a:t>
            </a:r>
            <a:r>
              <a:rPr dirty="0" sz="1800" spc="-40">
                <a:latin typeface="微软雅黑"/>
                <a:cs typeface="微软雅黑"/>
              </a:rPr>
              <a:t>eBu:G2lently </a:t>
            </a:r>
            <a:r>
              <a:rPr dirty="0" sz="1800" spc="-5">
                <a:latin typeface="微软雅黑"/>
                <a:cs typeface="微软雅黑"/>
              </a:rPr>
              <a:t>modeled </a:t>
            </a:r>
            <a:r>
              <a:rPr dirty="0" sz="1800" spc="5">
                <a:latin typeface="微软雅黑"/>
                <a:cs typeface="微软雅黑"/>
              </a:rPr>
              <a:t>w:th  </a:t>
            </a:r>
            <a:r>
              <a:rPr dirty="0" sz="1800">
                <a:latin typeface="微软雅黑"/>
                <a:cs typeface="微软雅黑"/>
              </a:rPr>
              <a:t>the </a:t>
            </a:r>
            <a:r>
              <a:rPr dirty="0" sz="1800" spc="-55">
                <a:latin typeface="微软雅黑"/>
                <a:cs typeface="微软雅黑"/>
              </a:rPr>
              <a:t>2ttC:buted </a:t>
            </a:r>
            <a:r>
              <a:rPr dirty="0" sz="1800" spc="-70">
                <a:latin typeface="微软雅黑"/>
                <a:cs typeface="微软雅黑"/>
              </a:rPr>
              <a:t>useC-:tem </a:t>
            </a:r>
            <a:r>
              <a:rPr dirty="0" sz="1800" spc="-55">
                <a:latin typeface="微软雅黑"/>
                <a:cs typeface="微软雅黑"/>
              </a:rPr>
              <a:t>b:p2Ct:te</a:t>
            </a:r>
            <a:r>
              <a:rPr dirty="0" sz="1800" spc="90">
                <a:latin typeface="微软雅黑"/>
                <a:cs typeface="微软雅黑"/>
              </a:rPr>
              <a:t> </a:t>
            </a:r>
            <a:r>
              <a:rPr dirty="0" sz="1800" spc="-85">
                <a:latin typeface="微软雅黑"/>
                <a:cs typeface="微软雅黑"/>
              </a:rPr>
              <a:t>8C2phs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8450" marR="1330960" indent="-285750">
              <a:lnSpc>
                <a:spcPct val="121100"/>
              </a:lnSpc>
              <a:buFont typeface="Arial"/>
              <a:buChar char="•"/>
              <a:tabLst>
                <a:tab pos="297815" algn="l"/>
                <a:tab pos="298450" algn="l"/>
                <a:tab pos="4549140" algn="l"/>
              </a:tabLst>
            </a:pPr>
            <a:r>
              <a:rPr dirty="0" sz="1800" spc="-45">
                <a:latin typeface="微软雅黑"/>
                <a:cs typeface="微软雅黑"/>
              </a:rPr>
              <a:t>Object:Ge </a:t>
            </a:r>
            <a:r>
              <a:rPr dirty="0" sz="1800">
                <a:latin typeface="微软雅黑"/>
                <a:cs typeface="微软雅黑"/>
              </a:rPr>
              <a:t>funct:ons </a:t>
            </a:r>
            <a:r>
              <a:rPr dirty="0" sz="1800" spc="-204">
                <a:latin typeface="微软雅黑"/>
                <a:cs typeface="微软雅黑"/>
              </a:rPr>
              <a:t>2Ce</a:t>
            </a:r>
            <a:r>
              <a:rPr dirty="0" sz="1800" spc="105">
                <a:latin typeface="微软雅黑"/>
                <a:cs typeface="微软雅黑"/>
              </a:rPr>
              <a:t> </a:t>
            </a:r>
            <a:r>
              <a:rPr dirty="0" sz="1800" spc="-140">
                <a:latin typeface="微软雅黑"/>
                <a:cs typeface="微软雅黑"/>
              </a:rPr>
              <a:t>moCe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-65">
                <a:latin typeface="微软雅黑"/>
                <a:cs typeface="微软雅黑"/>
              </a:rPr>
              <a:t>8eneC2l:	</a:t>
            </a:r>
            <a:r>
              <a:rPr dirty="0" sz="1800">
                <a:latin typeface="微软雅黑"/>
                <a:cs typeface="微软雅黑"/>
              </a:rPr>
              <a:t>8lob2l </a:t>
            </a:r>
            <a:r>
              <a:rPr dirty="0" sz="1800" spc="0">
                <a:latin typeface="微软雅黑"/>
                <a:cs typeface="微软雅黑"/>
              </a:rPr>
              <a:t>opt:m:z2t:on </a:t>
            </a:r>
            <a:r>
              <a:rPr dirty="0" sz="1800" spc="-200">
                <a:latin typeface="微软雅黑"/>
                <a:cs typeface="微软雅黑"/>
              </a:rPr>
              <a:t>Gs</a:t>
            </a:r>
            <a:r>
              <a:rPr dirty="0" sz="1800">
                <a:latin typeface="微软雅黑"/>
                <a:cs typeface="微软雅黑"/>
              </a:rPr>
              <a:t> cond:t:on2l</a:t>
            </a:r>
            <a:r>
              <a:rPr dirty="0" sz="1800" spc="-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:ndependent  </a:t>
            </a:r>
            <a:r>
              <a:rPr dirty="0" sz="1800" spc="0">
                <a:latin typeface="微软雅黑"/>
                <a:cs typeface="微软雅黑"/>
              </a:rPr>
              <a:t>opt:m:z2t:on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200">
              <a:latin typeface="Times New Roman"/>
              <a:cs typeface="Times New Roman"/>
            </a:endParaRPr>
          </a:p>
          <a:p>
            <a:pPr marL="298450" marR="427990" indent="-285750">
              <a:lnSpc>
                <a:spcPct val="1211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40">
                <a:latin typeface="微软雅黑"/>
                <a:cs typeface="微软雅黑"/>
              </a:rPr>
              <a:t>IntCoduc:n8 </a:t>
            </a:r>
            <a:r>
              <a:rPr dirty="0" sz="1800" spc="-30">
                <a:latin typeface="微软雅黑"/>
                <a:cs typeface="微软雅黑"/>
              </a:rPr>
              <a:t>h:8h-leGel </a:t>
            </a:r>
            <a:r>
              <a:rPr dirty="0" sz="1800" spc="-15">
                <a:latin typeface="微软雅黑"/>
                <a:cs typeface="微软雅黑"/>
              </a:rPr>
              <a:t>pCoI:m:ty </a:t>
            </a:r>
            <a:r>
              <a:rPr dirty="0" sz="1800" spc="-10">
                <a:latin typeface="微软雅黑"/>
                <a:cs typeface="微软雅黑"/>
              </a:rPr>
              <a:t>s2mples </a:t>
            </a:r>
            <a:r>
              <a:rPr dirty="0" sz="1800" spc="-25">
                <a:latin typeface="微软雅黑"/>
                <a:cs typeface="微软雅黑"/>
              </a:rPr>
              <a:t>2nd </a:t>
            </a:r>
            <a:r>
              <a:rPr dirty="0" sz="1800" spc="-100">
                <a:latin typeface="微软雅黑"/>
                <a:cs typeface="微软雅黑"/>
              </a:rPr>
              <a:t>the:C </a:t>
            </a:r>
            <a:r>
              <a:rPr dirty="0" sz="1800" spc="10">
                <a:latin typeface="微软雅黑"/>
                <a:cs typeface="微软雅黑"/>
              </a:rPr>
              <a:t>model:n8 </a:t>
            </a:r>
            <a:r>
              <a:rPr dirty="0" sz="1800" spc="-65">
                <a:latin typeface="微软雅黑"/>
                <a:cs typeface="微软雅黑"/>
              </a:rPr>
              <a:t>bC:n8s </a:t>
            </a:r>
            <a:r>
              <a:rPr dirty="0" sz="1800">
                <a:latin typeface="微软雅黑"/>
                <a:cs typeface="微软雅黑"/>
              </a:rPr>
              <a:t>both </a:t>
            </a:r>
            <a:r>
              <a:rPr dirty="0" sz="1800" spc="-100">
                <a:latin typeface="微软雅黑"/>
                <a:cs typeface="微软雅黑"/>
              </a:rPr>
              <a:t>C:sks </a:t>
            </a:r>
            <a:r>
              <a:rPr dirty="0" sz="1800" spc="5">
                <a:latin typeface="微软雅黑"/>
                <a:cs typeface="微软雅黑"/>
              </a:rPr>
              <a:t>(e.8., </a:t>
            </a:r>
            <a:r>
              <a:rPr dirty="0" sz="1800" spc="0">
                <a:latin typeface="微软雅黑"/>
                <a:cs typeface="微软雅黑"/>
              </a:rPr>
              <a:t>no:se </a:t>
            </a:r>
            <a:r>
              <a:rPr dirty="0" sz="1800" spc="-25">
                <a:latin typeface="微软雅黑"/>
                <a:cs typeface="微软雅黑"/>
              </a:rPr>
              <a:t>2nd  </a:t>
            </a:r>
            <a:r>
              <a:rPr dirty="0" sz="1800" spc="0">
                <a:latin typeface="微软雅黑"/>
                <a:cs typeface="微软雅黑"/>
              </a:rPr>
              <a:t>benef:ts </a:t>
            </a:r>
            <a:r>
              <a:rPr dirty="0" sz="1800" spc="5">
                <a:latin typeface="微软雅黑"/>
                <a:cs typeface="微软雅黑"/>
              </a:rPr>
              <a:t>(e.8., </a:t>
            </a:r>
            <a:r>
              <a:rPr dirty="0" sz="1800" spc="-140">
                <a:latin typeface="微软雅黑"/>
                <a:cs typeface="微软雅黑"/>
              </a:rPr>
              <a:t>moCe  </a:t>
            </a:r>
            <a:r>
              <a:rPr dirty="0" sz="1800" spc="-35">
                <a:latin typeface="微软雅黑"/>
                <a:cs typeface="微软雅黑"/>
              </a:rPr>
              <a:t>8eneC2l:z2t:on </a:t>
            </a:r>
            <a:r>
              <a:rPr dirty="0" sz="1800" spc="-25">
                <a:latin typeface="微软雅黑"/>
                <a:cs typeface="微软雅黑"/>
              </a:rPr>
              <a:t>2nd </a:t>
            </a:r>
            <a:r>
              <a:rPr dirty="0" sz="1800" spc="-15">
                <a:latin typeface="微软雅黑"/>
                <a:cs typeface="微软雅黑"/>
              </a:rPr>
              <a:t>eIploC2t:on, </a:t>
            </a:r>
            <a:r>
              <a:rPr dirty="0" sz="1800" spc="-90">
                <a:latin typeface="微软雅黑"/>
                <a:cs typeface="微软雅黑"/>
              </a:rPr>
              <a:t>pCed:ct:Ge </a:t>
            </a:r>
            <a:r>
              <a:rPr dirty="0" sz="1800" spc="-100">
                <a:latin typeface="微软雅黑"/>
                <a:cs typeface="微软雅黑"/>
              </a:rPr>
              <a:t>8C2ph</a:t>
            </a:r>
            <a:r>
              <a:rPr dirty="0" sz="1800" spc="4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ch2n8es</a:t>
            </a:r>
            <a:r>
              <a:rPr dirty="0" sz="1800" spc="60">
                <a:latin typeface="微软雅黑"/>
                <a:cs typeface="微软雅黑"/>
              </a:rPr>
              <a:t> 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2150">
              <a:latin typeface="Times New Roman"/>
              <a:cs typeface="Times New Roman"/>
            </a:endParaRPr>
          </a:p>
          <a:p>
            <a:pPr marL="298450" marR="271145" indent="-285750">
              <a:lnSpc>
                <a:spcPct val="1206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25">
                <a:latin typeface="微软雅黑"/>
                <a:cs typeface="微软雅黑"/>
              </a:rPr>
              <a:t>,uCe </a:t>
            </a:r>
            <a:r>
              <a:rPr dirty="0" sz="1800" spc="-5">
                <a:latin typeface="微软雅黑"/>
                <a:cs typeface="微软雅黑"/>
              </a:rPr>
              <a:t>deep </a:t>
            </a:r>
            <a:r>
              <a:rPr dirty="0" sz="1800" spc="-60">
                <a:latin typeface="微软雅黑"/>
                <a:cs typeface="微软雅黑"/>
              </a:rPr>
              <a:t>le2Cn:n8 </a:t>
            </a:r>
            <a:r>
              <a:rPr dirty="0" sz="1800" spc="15">
                <a:latin typeface="微软雅黑"/>
                <a:cs typeface="微软雅黑"/>
              </a:rPr>
              <a:t>:s </a:t>
            </a:r>
            <a:r>
              <a:rPr dirty="0" sz="1800" spc="-90">
                <a:latin typeface="微软雅黑"/>
                <a:cs typeface="微软雅黑"/>
              </a:rPr>
              <a:t>m2tuCe, </a:t>
            </a:r>
            <a:r>
              <a:rPr dirty="0" sz="1800" spc="-100">
                <a:latin typeface="微软雅黑"/>
                <a:cs typeface="微软雅黑"/>
              </a:rPr>
              <a:t>8C2ph </a:t>
            </a:r>
            <a:r>
              <a:rPr dirty="0" sz="1800" spc="5">
                <a:latin typeface="微软雅黑"/>
                <a:cs typeface="微软雅黑"/>
              </a:rPr>
              <a:t>embedd:n8 </a:t>
            </a:r>
            <a:r>
              <a:rPr dirty="0" sz="1800" spc="-20">
                <a:latin typeface="微软雅黑"/>
                <a:cs typeface="微软雅黑"/>
              </a:rPr>
              <a:t>th2t </a:t>
            </a:r>
            <a:r>
              <a:rPr dirty="0" sz="1800">
                <a:latin typeface="微软雅黑"/>
                <a:cs typeface="微软雅黑"/>
              </a:rPr>
              <a:t>comb:nes both </a:t>
            </a:r>
            <a:r>
              <a:rPr dirty="0" sz="1800" spc="-5">
                <a:latin typeface="微软雅黑"/>
                <a:cs typeface="微软雅黑"/>
              </a:rPr>
              <a:t>deep </a:t>
            </a:r>
            <a:r>
              <a:rPr dirty="0" sz="1800" spc="-60">
                <a:latin typeface="微软雅黑"/>
                <a:cs typeface="微软雅黑"/>
              </a:rPr>
              <a:t>le2Cn:n8 </a:t>
            </a:r>
            <a:r>
              <a:rPr dirty="0" sz="1800" spc="-25">
                <a:latin typeface="微软雅黑"/>
                <a:cs typeface="微软雅黑"/>
              </a:rPr>
              <a:t>2nd </a:t>
            </a:r>
            <a:r>
              <a:rPr dirty="0" sz="1800" spc="-100">
                <a:latin typeface="微软雅黑"/>
                <a:cs typeface="微软雅黑"/>
              </a:rPr>
              <a:t>8C2ph  </a:t>
            </a:r>
            <a:r>
              <a:rPr dirty="0" sz="1800" spc="5">
                <a:latin typeface="微软雅黑"/>
                <a:cs typeface="微软雅黑"/>
              </a:rPr>
              <a:t>comput:n8 </a:t>
            </a:r>
            <a:r>
              <a:rPr dirty="0" sz="1800" spc="-30">
                <a:latin typeface="微软雅黑"/>
                <a:cs typeface="微软雅黑"/>
              </a:rPr>
              <a:t>:nte8C2t:n8 </a:t>
            </a:r>
            <a:r>
              <a:rPr dirty="0" sz="1800" spc="-5">
                <a:latin typeface="微软雅黑"/>
                <a:cs typeface="微软雅黑"/>
              </a:rPr>
              <a:t>end-to-end </a:t>
            </a:r>
            <a:r>
              <a:rPr dirty="0" sz="1800" spc="-60">
                <a:latin typeface="微软雅黑"/>
                <a:cs typeface="微软雅黑"/>
              </a:rPr>
              <a:t>le2Cn:n8 </a:t>
            </a:r>
            <a:r>
              <a:rPr dirty="0" sz="1800" spc="5">
                <a:latin typeface="微软雅黑"/>
                <a:cs typeface="微软雅黑"/>
              </a:rPr>
              <a:t>w:th </a:t>
            </a:r>
            <a:r>
              <a:rPr dirty="0" sz="1800" spc="-40">
                <a:latin typeface="微软雅黑"/>
                <a:cs typeface="微软雅黑"/>
              </a:rPr>
              <a:t>:nduct:Ge </a:t>
            </a:r>
            <a:r>
              <a:rPr dirty="0" sz="1800" spc="-50">
                <a:latin typeface="微软雅黑"/>
                <a:cs typeface="微软雅黑"/>
              </a:rPr>
              <a:t>Ce2son:n8, </a:t>
            </a:r>
            <a:r>
              <a:rPr dirty="0" sz="1800" spc="0">
                <a:latin typeface="微软雅黑"/>
                <a:cs typeface="微软雅黑"/>
              </a:rPr>
              <a:t>wh:ch </a:t>
            </a:r>
            <a:r>
              <a:rPr dirty="0" sz="1800" spc="15">
                <a:latin typeface="微软雅黑"/>
                <a:cs typeface="微软雅黑"/>
              </a:rPr>
              <a:t>:s </a:t>
            </a:r>
            <a:r>
              <a:rPr dirty="0" sz="1800" spc="35">
                <a:latin typeface="微软雅黑"/>
                <a:cs typeface="微软雅黑"/>
              </a:rPr>
              <a:t>eIpected </a:t>
            </a:r>
            <a:r>
              <a:rPr dirty="0" sz="1800" spc="-10">
                <a:latin typeface="微软雅黑"/>
                <a:cs typeface="微软雅黑"/>
              </a:rPr>
              <a:t>to </a:t>
            </a:r>
            <a:r>
              <a:rPr dirty="0" sz="1800" spc="-85">
                <a:latin typeface="微软雅黑"/>
                <a:cs typeface="微软雅黑"/>
              </a:rPr>
              <a:t>solGe  </a:t>
            </a:r>
            <a:r>
              <a:rPr dirty="0" sz="1800">
                <a:latin typeface="微软雅黑"/>
                <a:cs typeface="微软雅黑"/>
              </a:rPr>
              <a:t>the </a:t>
            </a:r>
            <a:r>
              <a:rPr dirty="0" sz="1800" spc="-65">
                <a:latin typeface="微软雅黑"/>
                <a:cs typeface="微软雅黑"/>
              </a:rPr>
              <a:t>Cel2t:on2l </a:t>
            </a:r>
            <a:r>
              <a:rPr dirty="0" sz="1800" spc="-55">
                <a:latin typeface="微软雅黑"/>
                <a:cs typeface="微软雅黑"/>
              </a:rPr>
              <a:t>Ce2son:n8 </a:t>
            </a:r>
            <a:r>
              <a:rPr dirty="0" sz="1800" spc="-20">
                <a:latin typeface="微软雅黑"/>
                <a:cs typeface="微软雅黑"/>
              </a:rPr>
              <a:t>th2t </a:t>
            </a:r>
            <a:r>
              <a:rPr dirty="0" sz="1800" spc="-5">
                <a:latin typeface="微软雅黑"/>
                <a:cs typeface="微软雅黑"/>
              </a:rPr>
              <a:t>deep </a:t>
            </a:r>
            <a:r>
              <a:rPr dirty="0" sz="1800" spc="-60">
                <a:latin typeface="微软雅黑"/>
                <a:cs typeface="微软雅黑"/>
              </a:rPr>
              <a:t>le2Cn:n8 </a:t>
            </a:r>
            <a:r>
              <a:rPr dirty="0" sz="1800" spc="-15">
                <a:latin typeface="微软雅黑"/>
                <a:cs typeface="微软雅黑"/>
              </a:rPr>
              <a:t>c2nnot</a:t>
            </a:r>
            <a:r>
              <a:rPr dirty="0" sz="1800" spc="325">
                <a:latin typeface="微软雅黑"/>
                <a:cs typeface="微软雅黑"/>
              </a:rPr>
              <a:t> </a:t>
            </a:r>
            <a:r>
              <a:rPr dirty="0" sz="1800" spc="-114">
                <a:latin typeface="微软雅黑"/>
                <a:cs typeface="微软雅黑"/>
              </a:rPr>
              <a:t>peCfoCm</a:t>
            </a:r>
            <a:r>
              <a:rPr dirty="0" baseline="23148" sz="1800" spc="-172">
                <a:latin typeface="微软雅黑"/>
                <a:cs typeface="微软雅黑"/>
              </a:rPr>
              <a:t>0l1</a:t>
            </a:r>
            <a:r>
              <a:rPr dirty="0" sz="1800" spc="-114">
                <a:latin typeface="微软雅黑"/>
                <a:cs typeface="微软雅黑"/>
              </a:rPr>
              <a:t>.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4691" sz="1350" spc="-75">
                <a:latin typeface="微软雅黑"/>
                <a:cs typeface="微软雅黑"/>
              </a:rPr>
              <a:t>0l1 </a:t>
            </a:r>
            <a:r>
              <a:rPr dirty="0" sz="1400" spc="10">
                <a:latin typeface="微软雅黑"/>
                <a:cs typeface="微软雅黑"/>
              </a:rPr>
              <a:t>-el2t:on2l </a:t>
            </a:r>
            <a:r>
              <a:rPr dirty="0" sz="1400" spc="-30">
                <a:latin typeface="微软雅黑"/>
                <a:cs typeface="微软雅黑"/>
              </a:rPr>
              <a:t>:nduct:Ge </a:t>
            </a:r>
            <a:r>
              <a:rPr dirty="0" sz="1400" spc="-5">
                <a:latin typeface="微软雅黑"/>
                <a:cs typeface="微软雅黑"/>
              </a:rPr>
              <a:t>b:2ses, </a:t>
            </a:r>
            <a:r>
              <a:rPr dirty="0" sz="1400">
                <a:latin typeface="微软雅黑"/>
                <a:cs typeface="微软雅黑"/>
              </a:rPr>
              <a:t>deep </a:t>
            </a:r>
            <a:r>
              <a:rPr dirty="0" sz="1400" spc="-45">
                <a:latin typeface="微软雅黑"/>
                <a:cs typeface="微软雅黑"/>
              </a:rPr>
              <a:t>le2Cn:n8 </a:t>
            </a:r>
            <a:r>
              <a:rPr dirty="0" sz="1400" spc="-20">
                <a:latin typeface="微软雅黑"/>
                <a:cs typeface="微软雅黑"/>
              </a:rPr>
              <a:t>2nd </a:t>
            </a:r>
            <a:r>
              <a:rPr dirty="0" sz="1400" spc="-75">
                <a:latin typeface="微软雅黑"/>
                <a:cs typeface="微软雅黑"/>
              </a:rPr>
              <a:t>8C2ph </a:t>
            </a:r>
            <a:r>
              <a:rPr dirty="0" sz="1400" spc="-50">
                <a:latin typeface="微软雅黑"/>
                <a:cs typeface="微软雅黑"/>
              </a:rPr>
              <a:t>netwoCks, </a:t>
            </a:r>
            <a:r>
              <a:rPr dirty="0" sz="1400" spc="-5">
                <a:latin typeface="微软雅黑"/>
                <a:cs typeface="微软雅黑"/>
              </a:rPr>
              <a:t>B2tt28l:2 </a:t>
            </a:r>
            <a:r>
              <a:rPr dirty="0" sz="1400" spc="-10">
                <a:latin typeface="微软雅黑"/>
                <a:cs typeface="微软雅黑"/>
              </a:rPr>
              <a:t>etc, </a:t>
            </a:r>
            <a:r>
              <a:rPr dirty="0" sz="1400" spc="-80">
                <a:latin typeface="微软雅黑"/>
                <a:cs typeface="微软雅黑"/>
              </a:rPr>
              <a:t>2CI:G, </a:t>
            </a:r>
            <a:r>
              <a:rPr dirty="0" sz="1400" spc="-5">
                <a:latin typeface="微软雅黑"/>
                <a:cs typeface="微软雅黑"/>
              </a:rPr>
              <a:t> </a:t>
            </a:r>
            <a:r>
              <a:rPr dirty="0" sz="1400" spc="80">
                <a:latin typeface="微软雅黑"/>
                <a:cs typeface="微软雅黑"/>
              </a:rPr>
              <a:t>20l8.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94170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5" b="1">
                <a:solidFill>
                  <a:srgbClr val="000000"/>
                </a:solidFill>
                <a:latin typeface="微软雅黑"/>
                <a:cs typeface="微软雅黑"/>
              </a:rPr>
              <a:t>RepreAent1t8De 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Work: </a:t>
            </a:r>
            <a:r>
              <a:rPr dirty="0" sz="2400" spc="-25" b="1">
                <a:solidFill>
                  <a:srgbClr val="000000"/>
                </a:solidFill>
                <a:latin typeface="微软雅黑"/>
                <a:cs typeface="微软雅黑"/>
              </a:rPr>
              <a:t>Gr1ph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E;2edd8ng </a:t>
            </a:r>
            <a:r>
              <a:rPr dirty="0" sz="2400" spc="-385" b="1">
                <a:solidFill>
                  <a:srgbClr val="000000"/>
                </a:solidFill>
                <a:latin typeface="微软雅黑"/>
                <a:cs typeface="微软雅黑"/>
              </a:rPr>
              <a:t>8n  </a:t>
            </a:r>
            <a:r>
              <a:rPr dirty="0" sz="2400" spc="-40" b="1">
                <a:solidFill>
                  <a:srgbClr val="000000"/>
                </a:solidFill>
                <a:latin typeface="微软雅黑"/>
                <a:cs typeface="微软雅黑"/>
              </a:rPr>
              <a:t>Fr1Cd</a:t>
            </a:r>
            <a:r>
              <a:rPr dirty="0" sz="2400" spc="-35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0" b="1">
                <a:solidFill>
                  <a:srgbClr val="000000"/>
                </a:solidFill>
                <a:latin typeface="微软雅黑"/>
                <a:cs typeface="微软雅黑"/>
              </a:rPr>
              <a:t>Detect8on</a:t>
            </a:r>
            <a:r>
              <a:rPr dirty="0" baseline="24305" sz="2400" spc="-150" b="1">
                <a:solidFill>
                  <a:srgbClr val="000000"/>
                </a:solidFill>
                <a:latin typeface="微软雅黑"/>
                <a:cs typeface="微软雅黑"/>
              </a:rPr>
              <a:t>[10</a:t>
            </a:r>
            <a:endParaRPr baseline="24305"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239" y="1027684"/>
            <a:ext cx="10780395" cy="552196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50">
                <a:latin typeface="微软雅黑"/>
                <a:cs typeface="微软雅黑"/>
              </a:rPr>
              <a:t>Ch,llen2es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50">
                <a:latin typeface="微软雅黑"/>
                <a:cs typeface="微软雅黑"/>
              </a:rPr>
              <a:t>mo-ile </a:t>
            </a:r>
            <a:r>
              <a:rPr dirty="0" sz="1600" spc="90">
                <a:latin typeface="微软雅黑"/>
                <a:cs typeface="微软雅黑"/>
              </a:rPr>
              <a:t>fr,ud</a:t>
            </a:r>
            <a:r>
              <a:rPr dirty="0" sz="1600" spc="-114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detection:</a:t>
            </a:r>
            <a:endParaRPr sz="16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Billions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50">
                <a:latin typeface="微软雅黑"/>
                <a:cs typeface="微软雅黑"/>
              </a:rPr>
              <a:t>mo-ile </a:t>
            </a:r>
            <a:r>
              <a:rPr dirty="0" sz="1600" spc="25">
                <a:latin typeface="微软雅黑"/>
                <a:cs typeface="微软雅黑"/>
              </a:rPr>
              <a:t>lo22in2 </a:t>
            </a:r>
            <a:r>
              <a:rPr dirty="0" sz="1600" spc="-10">
                <a:latin typeface="微软雅黑"/>
                <a:cs typeface="微软雅黑"/>
              </a:rPr>
              <a:t>records </a:t>
            </a:r>
            <a:r>
              <a:rPr dirty="0" sz="1600" spc="204">
                <a:latin typeface="微软雅黑"/>
                <a:cs typeface="微软雅黑"/>
              </a:rPr>
              <a:t>:er</a:t>
            </a:r>
            <a:r>
              <a:rPr dirty="0" sz="1600" spc="-70">
                <a:latin typeface="微软雅黑"/>
                <a:cs typeface="微软雅黑"/>
              </a:rPr>
              <a:t> </a:t>
            </a:r>
            <a:r>
              <a:rPr dirty="0" sz="1600" spc="105">
                <a:latin typeface="微软雅黑"/>
                <a:cs typeface="微软雅黑"/>
              </a:rPr>
              <a:t>d,B</a:t>
            </a:r>
            <a:endParaRPr sz="16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36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Device ids </a:t>
            </a:r>
            <a:r>
              <a:rPr dirty="0" sz="1600" spc="150">
                <a:latin typeface="微软雅黑"/>
                <a:cs typeface="微软雅黑"/>
              </a:rPr>
              <a:t>,re</a:t>
            </a:r>
            <a:r>
              <a:rPr dirty="0" sz="1600" spc="-15">
                <a:latin typeface="微软雅黑"/>
                <a:cs typeface="微软雅黑"/>
              </a:rPr>
              <a:t> </a:t>
            </a:r>
            <a:r>
              <a:rPr dirty="0" sz="1600" spc="0">
                <a:latin typeface="微软雅黑"/>
                <a:cs typeface="微软雅黑"/>
              </a:rPr>
              <a:t>missin2</a:t>
            </a:r>
            <a:endParaRPr sz="16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Devices </a:t>
            </a:r>
            <a:r>
              <a:rPr dirty="0" sz="1600" spc="150">
                <a:latin typeface="微软雅黑"/>
                <a:cs typeface="微软雅黑"/>
              </a:rPr>
              <a:t>,re</a:t>
            </a:r>
            <a:r>
              <a:rPr dirty="0" sz="1600" spc="-50">
                <a:latin typeface="微软雅黑"/>
                <a:cs typeface="微软雅黑"/>
              </a:rPr>
              <a:t> </a:t>
            </a:r>
            <a:r>
              <a:rPr dirty="0" sz="1600" spc="140">
                <a:latin typeface="微软雅黑"/>
                <a:cs typeface="微软雅黑"/>
              </a:rPr>
              <a:t>,-norm,l:</a:t>
            </a:r>
            <a:endParaRPr sz="1600">
              <a:latin typeface="微软雅黑"/>
              <a:cs typeface="微软雅黑"/>
            </a:endParaRPr>
          </a:p>
          <a:p>
            <a:pPr lvl="1" marL="768350" marR="4150360" indent="-298450">
              <a:lnSpc>
                <a:spcPct val="12000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114">
                <a:latin typeface="微软雅黑"/>
                <a:cs typeface="微软雅黑"/>
              </a:rPr>
              <a:t>Du,l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sim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85">
                <a:latin typeface="微软雅黑"/>
                <a:cs typeface="微软雅黑"/>
              </a:rPr>
              <a:t>c,rds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114">
                <a:latin typeface="微软雅黑"/>
                <a:cs typeface="微软雅黑"/>
              </a:rPr>
              <a:t>du,l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st,nd-B: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one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device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h,s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tAo</a:t>
            </a:r>
            <a:r>
              <a:rPr dirty="0" sz="1600" spc="-5">
                <a:latin typeface="微软雅黑"/>
                <a:cs typeface="微软雅黑"/>
              </a:rPr>
              <a:t> imei,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10">
                <a:latin typeface="微软雅黑"/>
                <a:cs typeface="微软雅黑"/>
              </a:rPr>
              <a:t>imsi</a:t>
            </a:r>
            <a:r>
              <a:rPr dirty="0" baseline="25252" sz="1650" spc="-15">
                <a:latin typeface="微软雅黑"/>
                <a:cs typeface="微软雅黑"/>
              </a:rPr>
              <a:t>[2] </a:t>
            </a:r>
            <a:r>
              <a:rPr dirty="0" sz="1100" spc="-10">
                <a:latin typeface="微软雅黑"/>
                <a:cs typeface="微软雅黑"/>
              </a:rPr>
              <a:t> </a:t>
            </a:r>
            <a:r>
              <a:rPr dirty="0" sz="1600" spc="25">
                <a:latin typeface="微软雅黑"/>
                <a:cs typeface="微软雅黑"/>
              </a:rPr>
              <a:t>Aith </a:t>
            </a:r>
            <a:r>
              <a:rPr dirty="0" sz="1600" spc="75">
                <a:latin typeface="微软雅黑"/>
                <a:cs typeface="微软雅黑"/>
              </a:rPr>
              <a:t>r,ndom</a:t>
            </a:r>
            <a:r>
              <a:rPr dirty="0" sz="1600" spc="-105">
                <a:latin typeface="微软雅黑"/>
                <a:cs typeface="微软雅黑"/>
              </a:rPr>
              <a:t> </a:t>
            </a:r>
            <a:r>
              <a:rPr dirty="0" sz="1600" spc="15">
                <a:latin typeface="微软雅黑"/>
                <a:cs typeface="微软雅黑"/>
              </a:rPr>
              <a:t>sAitchin2</a:t>
            </a:r>
            <a:endParaRPr sz="1600">
              <a:latin typeface="微软雅黑"/>
              <a:cs typeface="微软雅黑"/>
            </a:endParaRPr>
          </a:p>
          <a:p>
            <a:pPr lvl="1" marL="768350" indent="-298450">
              <a:lnSpc>
                <a:spcPct val="100000"/>
              </a:lnSpc>
              <a:spcBef>
                <a:spcPts val="48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150">
                <a:latin typeface="微软雅黑"/>
                <a:cs typeface="微软雅黑"/>
              </a:rPr>
              <a:t>Re:l,ce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-5">
                <a:latin typeface="微软雅黑"/>
                <a:cs typeface="微软雅黑"/>
              </a:rPr>
              <a:t>sim </a:t>
            </a:r>
            <a:r>
              <a:rPr dirty="0" sz="1600" spc="85">
                <a:latin typeface="微软雅黑"/>
                <a:cs typeface="微软雅黑"/>
              </a:rPr>
              <a:t>c,rd: </a:t>
            </a:r>
            <a:r>
              <a:rPr dirty="0" sz="1600" spc="-5">
                <a:latin typeface="微软雅黑"/>
                <a:cs typeface="微软雅黑"/>
              </a:rPr>
              <a:t>one device </a:t>
            </a:r>
            <a:r>
              <a:rPr dirty="0" sz="1600" spc="50">
                <a:latin typeface="微软雅黑"/>
                <a:cs typeface="微软雅黑"/>
              </a:rPr>
              <a:t>corres:onds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75">
                <a:latin typeface="微软雅黑"/>
                <a:cs typeface="微软雅黑"/>
              </a:rPr>
              <a:t>multi:le</a:t>
            </a:r>
            <a:r>
              <a:rPr dirty="0" sz="1600" spc="-204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imsi</a:t>
            </a:r>
            <a:endParaRPr sz="1600">
              <a:latin typeface="微软雅黑"/>
              <a:cs typeface="微软雅黑"/>
            </a:endParaRPr>
          </a:p>
          <a:p>
            <a:pPr lvl="1" marL="768350" indent="-29845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-40">
                <a:latin typeface="微软雅黑"/>
                <a:cs typeface="微软雅黑"/>
              </a:rPr>
              <a:t>SBstem </a:t>
            </a:r>
            <a:r>
              <a:rPr dirty="0" sz="1600" spc="-15">
                <a:latin typeface="微软雅黑"/>
                <a:cs typeface="微软雅黑"/>
              </a:rPr>
              <a:t>Restore: </a:t>
            </a:r>
            <a:r>
              <a:rPr dirty="0" sz="1600" spc="-5">
                <a:latin typeface="微软雅黑"/>
                <a:cs typeface="微软雅黑"/>
              </a:rPr>
              <a:t>One device </a:t>
            </a:r>
            <a:r>
              <a:rPr dirty="0" sz="1600" spc="50">
                <a:latin typeface="微软雅黑"/>
                <a:cs typeface="微软雅黑"/>
              </a:rPr>
              <a:t>corres:onds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75">
                <a:latin typeface="微软雅黑"/>
                <a:cs typeface="微软雅黑"/>
              </a:rPr>
              <a:t>multi:le </a:t>
            </a:r>
            <a:r>
              <a:rPr dirty="0" sz="1600" spc="-5">
                <a:latin typeface="微软雅黑"/>
                <a:cs typeface="微软雅黑"/>
              </a:rPr>
              <a:t>device</a:t>
            </a:r>
            <a:r>
              <a:rPr dirty="0" sz="1600" spc="2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ids</a:t>
            </a:r>
            <a:endParaRPr sz="1600">
              <a:latin typeface="微软雅黑"/>
              <a:cs typeface="微软雅黑"/>
            </a:endParaRPr>
          </a:p>
          <a:p>
            <a:pPr lvl="1" marL="768350" indent="-298450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50">
                <a:latin typeface="微软雅黑"/>
                <a:cs typeface="微软雅黑"/>
              </a:rPr>
              <a:t>Simul,tor: </a:t>
            </a:r>
            <a:r>
              <a:rPr dirty="0" sz="1600" spc="-5">
                <a:latin typeface="微软雅黑"/>
                <a:cs typeface="微软雅黑"/>
              </a:rPr>
              <a:t>One device </a:t>
            </a:r>
            <a:r>
              <a:rPr dirty="0" sz="1600" spc="50">
                <a:latin typeface="微软雅黑"/>
                <a:cs typeface="微软雅黑"/>
              </a:rPr>
              <a:t>corres:onds </a:t>
            </a:r>
            <a:r>
              <a:rPr dirty="0" sz="1600" spc="-10">
                <a:latin typeface="微软雅黑"/>
                <a:cs typeface="微软雅黑"/>
              </a:rPr>
              <a:t>to </a:t>
            </a:r>
            <a:r>
              <a:rPr dirty="0" sz="1600" spc="490">
                <a:latin typeface="微软雅黑"/>
                <a:cs typeface="微软雅黑"/>
              </a:rPr>
              <a:t>,</a:t>
            </a:r>
            <a:r>
              <a:rPr dirty="0" sz="1600" spc="-145">
                <a:latin typeface="微软雅黑"/>
                <a:cs typeface="微软雅黑"/>
              </a:rPr>
              <a:t> </a:t>
            </a:r>
            <a:r>
              <a:rPr dirty="0" sz="1600" spc="105">
                <a:latin typeface="微软雅黑"/>
                <a:cs typeface="微软雅黑"/>
              </a:rPr>
              <a:t>l,r2e </a:t>
            </a:r>
            <a:r>
              <a:rPr dirty="0" sz="1600" spc="50">
                <a:latin typeface="微软雅黑"/>
                <a:cs typeface="微软雅黑"/>
              </a:rPr>
              <a:t>num-er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-5">
                <a:latin typeface="微软雅黑"/>
                <a:cs typeface="微软雅黑"/>
              </a:rPr>
              <a:t>device ids</a:t>
            </a:r>
            <a:endParaRPr sz="1600">
              <a:latin typeface="微软雅黑"/>
              <a:cs typeface="微软雅黑"/>
            </a:endParaRPr>
          </a:p>
          <a:p>
            <a:pPr lvl="1" marL="768350" indent="-298450">
              <a:lnSpc>
                <a:spcPct val="100000"/>
              </a:lnSpc>
              <a:spcBef>
                <a:spcPts val="355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75">
                <a:latin typeface="微软雅黑"/>
                <a:cs typeface="微软雅黑"/>
              </a:rPr>
              <a:t>Cott,2e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5">
                <a:latin typeface="微软雅黑"/>
                <a:cs typeface="微软雅黑"/>
              </a:rPr>
              <a:t>m,chine: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490">
                <a:latin typeface="微软雅黑"/>
                <a:cs typeface="微软雅黑"/>
              </a:rPr>
              <a:t>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05">
                <a:latin typeface="微软雅黑"/>
                <a:cs typeface="微软雅黑"/>
              </a:rPr>
              <a:t>l,r2e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0">
                <a:latin typeface="微软雅黑"/>
                <a:cs typeface="微软雅黑"/>
              </a:rPr>
              <a:t>num-er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20">
                <a:latin typeface="微软雅黑"/>
                <a:cs typeface="微软雅黑"/>
              </a:rPr>
              <a:t>of</a:t>
            </a:r>
            <a:r>
              <a:rPr dirty="0" sz="1600" spc="-5">
                <a:latin typeface="微软雅黑"/>
                <a:cs typeface="微软雅黑"/>
              </a:rPr>
              <a:t> devices </a:t>
            </a:r>
            <a:r>
              <a:rPr dirty="0" sz="1600" spc="85">
                <a:latin typeface="微软雅黑"/>
                <a:cs typeface="微软雅黑"/>
              </a:rPr>
              <a:t>sh,re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one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14">
                <a:latin typeface="微软雅黑"/>
                <a:cs typeface="微软雅黑"/>
              </a:rPr>
              <a:t>s,me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id</a:t>
            </a:r>
            <a:endParaRPr sz="1600">
              <a:latin typeface="微软雅黑"/>
              <a:cs typeface="微软雅黑"/>
            </a:endParaRPr>
          </a:p>
          <a:p>
            <a:pPr marL="298450" indent="-285750">
              <a:lnSpc>
                <a:spcPct val="100000"/>
              </a:lnSpc>
              <a:spcBef>
                <a:spcPts val="19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Devices </a:t>
            </a:r>
            <a:r>
              <a:rPr dirty="0" sz="1600" spc="60">
                <a:latin typeface="微软雅黑"/>
                <a:cs typeface="微软雅黑"/>
              </a:rPr>
              <a:t>cont,in </a:t>
            </a:r>
            <a:r>
              <a:rPr dirty="0" sz="1600" spc="-5">
                <a:latin typeface="微软雅黑"/>
                <a:cs typeface="微软雅黑"/>
              </a:rPr>
              <a:t>rich</a:t>
            </a:r>
            <a:r>
              <a:rPr dirty="0" sz="1600" spc="-75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,ttri-utes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1950">
              <a:latin typeface="Times New Roman"/>
              <a:cs typeface="Times New Roman"/>
            </a:endParaRPr>
          </a:p>
          <a:p>
            <a:pPr marL="12700" marR="5080">
              <a:lnSpc>
                <a:spcPts val="1900"/>
              </a:lnSpc>
            </a:pPr>
            <a:r>
              <a:rPr dirty="0" sz="1600" spc="-25">
                <a:latin typeface="微软雅黑"/>
                <a:cs typeface="微软雅黑"/>
              </a:rPr>
              <a:t>We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75">
                <a:latin typeface="微软雅黑"/>
                <a:cs typeface="微软雅黑"/>
              </a:rPr>
              <a:t>:ro:ose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490">
                <a:latin typeface="微软雅黑"/>
                <a:cs typeface="微软雅黑"/>
              </a:rPr>
              <a:t>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5">
                <a:latin typeface="微软雅黑"/>
                <a:cs typeface="微软雅黑"/>
              </a:rPr>
              <a:t>distri-uted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50">
                <a:latin typeface="微软雅黑"/>
                <a:cs typeface="微软雅黑"/>
              </a:rPr>
              <a:t>dee: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65">
                <a:latin typeface="微软雅黑"/>
                <a:cs typeface="微软雅黑"/>
              </a:rPr>
              <a:t>le,rnin2</a:t>
            </a:r>
            <a:r>
              <a:rPr dirty="0" sz="1600" spc="225">
                <a:latin typeface="微软雅黑"/>
                <a:cs typeface="微软雅黑"/>
              </a:rPr>
              <a:t> </a:t>
            </a:r>
            <a:r>
              <a:rPr dirty="0" sz="1600" spc="155">
                <a:latin typeface="微软雅黑"/>
                <a:cs typeface="微软雅黑"/>
              </a:rPr>
              <a:t>-,sed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re:resent,tion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65">
                <a:latin typeface="微软雅黑"/>
                <a:cs typeface="微软雅黑"/>
              </a:rPr>
              <a:t>le,rnin2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model,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ANRL,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5">
                <a:latin typeface="微软雅黑"/>
                <a:cs typeface="微软雅黑"/>
              </a:rPr>
              <a:t>Ahich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75">
                <a:latin typeface="微软雅黑"/>
                <a:cs typeface="微软雅黑"/>
              </a:rPr>
              <a:t>m,:s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in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>
                <a:latin typeface="微软雅黑"/>
                <a:cs typeface="微软雅黑"/>
              </a:rPr>
              <a:t>the  </a:t>
            </a:r>
            <a:r>
              <a:rPr dirty="0" sz="1600" spc="235">
                <a:latin typeface="微软雅黑"/>
                <a:cs typeface="微软雅黑"/>
              </a:rPr>
              <a:t>2r,:h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75">
                <a:latin typeface="微软雅黑"/>
                <a:cs typeface="微软雅黑"/>
              </a:rPr>
              <a:t>re:resent,tion </a:t>
            </a:r>
            <a:r>
              <a:rPr dirty="0" sz="1600" spc="-5">
                <a:latin typeface="微软雅黑"/>
                <a:cs typeface="微软雅黑"/>
              </a:rPr>
              <a:t>vectors in </a:t>
            </a:r>
            <a:r>
              <a:rPr dirty="0" sz="1600" spc="35">
                <a:latin typeface="微软雅黑"/>
                <a:cs typeface="微软雅黑"/>
              </a:rPr>
              <a:t>loA dimension,l </a:t>
            </a:r>
            <a:r>
              <a:rPr dirty="0" sz="1600" spc="215">
                <a:latin typeface="微软雅黑"/>
                <a:cs typeface="微软雅黑"/>
              </a:rPr>
              <a:t>s:,ce</a:t>
            </a:r>
            <a:r>
              <a:rPr dirty="0" sz="1600" spc="-29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90">
                <a:latin typeface="微软雅黑"/>
                <a:cs typeface="微软雅黑"/>
              </a:rPr>
              <a:t>f,cilit,te </a:t>
            </a:r>
            <a:r>
              <a:rPr dirty="0" sz="1600" spc="25">
                <a:latin typeface="微软雅黑"/>
                <a:cs typeface="微软雅黑"/>
              </a:rPr>
              <a:t>su-sequent </a:t>
            </a:r>
            <a:r>
              <a:rPr dirty="0" sz="1600" spc="60">
                <a:latin typeface="微软雅黑"/>
                <a:cs typeface="微软雅黑"/>
              </a:rPr>
              <a:t>:rocessin2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60">
                <a:latin typeface="微软雅黑"/>
                <a:cs typeface="微软雅黑"/>
              </a:rPr>
              <a:t>rel,ted </a:t>
            </a:r>
            <a:r>
              <a:rPr dirty="0" sz="1600" spc="90">
                <a:latin typeface="微软雅黑"/>
                <a:cs typeface="微软雅黑"/>
              </a:rPr>
              <a:t>t,sks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ts val="1825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35">
                <a:latin typeface="微软雅黑"/>
                <a:cs typeface="微软雅黑"/>
              </a:rPr>
              <a:t>Com-inin2 </a:t>
            </a:r>
            <a:r>
              <a:rPr dirty="0" sz="1600" spc="75">
                <a:latin typeface="微软雅黑"/>
                <a:cs typeface="微软雅黑"/>
              </a:rPr>
              <a:t>-oth </a:t>
            </a:r>
            <a:r>
              <a:rPr dirty="0" sz="1600" spc="10">
                <a:latin typeface="微软雅黑"/>
                <a:cs typeface="微软雅黑"/>
              </a:rPr>
              <a:t>netAork </a:t>
            </a:r>
            <a:r>
              <a:rPr dirty="0" sz="1600" spc="-5">
                <a:latin typeface="微软雅黑"/>
                <a:cs typeface="微软雅黑"/>
              </a:rPr>
              <a:t>structure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-32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 </a:t>
            </a:r>
            <a:r>
              <a:rPr dirty="0" sz="1600" spc="85">
                <a:latin typeface="微软雅黑"/>
                <a:cs typeface="微软雅黑"/>
              </a:rPr>
              <a:t>,ttri-ute </a:t>
            </a:r>
            <a:r>
              <a:rPr dirty="0" sz="1600" spc="35">
                <a:latin typeface="微软雅黑"/>
                <a:cs typeface="微软雅黑"/>
              </a:rPr>
              <a:t>inform,tion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50">
                <a:latin typeface="微软雅黑"/>
                <a:cs typeface="微软雅黑"/>
              </a:rPr>
              <a:t>-etter </a:t>
            </a:r>
            <a:r>
              <a:rPr dirty="0" sz="1600" spc="114">
                <a:latin typeface="微软雅黑"/>
                <a:cs typeface="微软雅黑"/>
              </a:rPr>
              <a:t>m,int,in </a:t>
            </a:r>
            <a:r>
              <a:rPr dirty="0" sz="1600" spc="10">
                <a:latin typeface="微软雅黑"/>
                <a:cs typeface="微软雅黑"/>
              </a:rPr>
              <a:t>netAork</a:t>
            </a:r>
            <a:endParaRPr sz="1600">
              <a:latin typeface="微软雅黑"/>
              <a:cs typeface="微软雅黑"/>
            </a:endParaRPr>
          </a:p>
          <a:p>
            <a:pPr marL="755650">
              <a:lnSpc>
                <a:spcPts val="1895"/>
              </a:lnSpc>
            </a:pPr>
            <a:r>
              <a:rPr dirty="0" sz="1600" spc="55">
                <a:latin typeface="微软雅黑"/>
                <a:cs typeface="微软雅黑"/>
              </a:rPr>
              <a:t>ch,r,cteristics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ts val="1910"/>
              </a:lnSpc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75">
                <a:latin typeface="微软雅黑"/>
                <a:cs typeface="微软雅黑"/>
              </a:rPr>
              <a:t>Neur,l </a:t>
            </a:r>
            <a:r>
              <a:rPr dirty="0" sz="1600" spc="10">
                <a:latin typeface="微软雅黑"/>
                <a:cs typeface="微软雅黑"/>
              </a:rPr>
              <a:t>netAorks </a:t>
            </a:r>
            <a:r>
              <a:rPr dirty="0" sz="1600" spc="155">
                <a:latin typeface="微软雅黑"/>
                <a:cs typeface="微软雅黑"/>
              </a:rPr>
              <a:t>c,n</a:t>
            </a:r>
            <a:r>
              <a:rPr dirty="0" sz="1600" spc="-31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mine </a:t>
            </a:r>
            <a:r>
              <a:rPr dirty="0" sz="1600" spc="100">
                <a:latin typeface="微软雅黑"/>
                <a:cs typeface="微软雅黑"/>
              </a:rPr>
              <a:t>dee:er </a:t>
            </a:r>
            <a:r>
              <a:rPr dirty="0" sz="1600" spc="30">
                <a:latin typeface="微软雅黑"/>
                <a:cs typeface="微软雅黑"/>
              </a:rPr>
              <a:t>correl,tions </a:t>
            </a:r>
            <a:r>
              <a:rPr dirty="0" sz="1600" spc="60">
                <a:latin typeface="微软雅黑"/>
                <a:cs typeface="微软雅黑"/>
              </a:rPr>
              <a:t>-etAeen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35">
                <a:latin typeface="微软雅黑"/>
                <a:cs typeface="微软雅黑"/>
              </a:rPr>
              <a:t>tAo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00">
              <a:latin typeface="Times New Roman"/>
              <a:cs typeface="Times New Roman"/>
            </a:endParaRPr>
          </a:p>
          <a:p>
            <a:pPr marL="195580">
              <a:lnSpc>
                <a:spcPct val="100000"/>
              </a:lnSpc>
            </a:pPr>
            <a:r>
              <a:rPr dirty="0" baseline="24691" sz="1350" spc="-97" b="1">
                <a:latin typeface="微软雅黑"/>
                <a:cs typeface="微软雅黑"/>
              </a:rPr>
              <a:t>[10 </a:t>
            </a:r>
            <a:r>
              <a:rPr dirty="0" sz="1400" spc="150" b="1">
                <a:latin typeface="微软雅黑"/>
                <a:cs typeface="微软雅黑"/>
              </a:rPr>
              <a:t>A,RL: </a:t>
            </a:r>
            <a:r>
              <a:rPr dirty="0" sz="1400" spc="-50" b="1">
                <a:latin typeface="微软雅黑"/>
                <a:cs typeface="微软雅黑"/>
              </a:rPr>
              <a:t>Attr82Cted </a:t>
            </a:r>
            <a:r>
              <a:rPr dirty="0" sz="1400" spc="155" b="1">
                <a:latin typeface="微软雅黑"/>
                <a:cs typeface="微软雅黑"/>
              </a:rPr>
              <a:t>,etEork </a:t>
            </a:r>
            <a:r>
              <a:rPr dirty="0" sz="1400" spc="-70" b="1">
                <a:latin typeface="微软雅黑"/>
                <a:cs typeface="微软雅黑"/>
              </a:rPr>
              <a:t>RepreAent1t8on Le1rn8ng </a:t>
            </a:r>
            <a:r>
              <a:rPr dirty="0" sz="1400" spc="-270" b="1">
                <a:latin typeface="微软雅黑"/>
                <a:cs typeface="微软雅黑"/>
              </a:rPr>
              <a:t>D81   </a:t>
            </a:r>
            <a:r>
              <a:rPr dirty="0" sz="1400" spc="-5" b="1">
                <a:latin typeface="微软雅黑"/>
                <a:cs typeface="微软雅黑"/>
              </a:rPr>
              <a:t>Deep </a:t>
            </a:r>
            <a:r>
              <a:rPr dirty="0" sz="1400" spc="110" b="1">
                <a:latin typeface="微软雅黑"/>
                <a:cs typeface="微软雅黑"/>
              </a:rPr>
              <a:t>,eCr1: </a:t>
            </a:r>
            <a:r>
              <a:rPr dirty="0" sz="1400" spc="80" b="1">
                <a:latin typeface="微软雅黑"/>
                <a:cs typeface="微软雅黑"/>
              </a:rPr>
              <a:t>,etEorkA, </a:t>
            </a:r>
            <a:r>
              <a:rPr dirty="0" sz="1400" spc="-5" b="1">
                <a:latin typeface="微软雅黑"/>
                <a:cs typeface="微软雅黑"/>
              </a:rPr>
              <a:t>IJCAI 2</a:t>
            </a:r>
            <a:r>
              <a:rPr dirty="0" sz="1400" spc="140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18</a:t>
            </a:r>
            <a:endParaRPr sz="1400">
              <a:latin typeface="微软雅黑"/>
              <a:cs typeface="微软雅黑"/>
            </a:endParaRPr>
          </a:p>
          <a:p>
            <a:pPr marL="195580">
              <a:lnSpc>
                <a:spcPct val="100000"/>
              </a:lnSpc>
              <a:spcBef>
                <a:spcPts val="20"/>
              </a:spcBef>
            </a:pPr>
            <a:r>
              <a:rPr dirty="0" baseline="24691" sz="1350" spc="-97" b="1">
                <a:latin typeface="微软雅黑"/>
                <a:cs typeface="微软雅黑"/>
              </a:rPr>
              <a:t>[20 </a:t>
            </a:r>
            <a:r>
              <a:rPr dirty="0" sz="1400" spc="5" b="1">
                <a:latin typeface="微软雅黑"/>
                <a:cs typeface="微软雅黑"/>
              </a:rPr>
              <a:t>8;e8: </a:t>
            </a:r>
            <a:r>
              <a:rPr dirty="0" sz="1400" spc="-80" b="1">
                <a:latin typeface="微软雅黑"/>
                <a:cs typeface="微软雅黑"/>
              </a:rPr>
              <a:t>8ntern1t8on1: </a:t>
            </a:r>
            <a:r>
              <a:rPr dirty="0" sz="1400" spc="90" b="1">
                <a:latin typeface="微软雅黑"/>
                <a:cs typeface="微软雅黑"/>
              </a:rPr>
              <a:t>;o28:e </a:t>
            </a:r>
            <a:r>
              <a:rPr dirty="0" sz="1400" spc="50" b="1">
                <a:latin typeface="微软雅黑"/>
                <a:cs typeface="微软雅黑"/>
              </a:rPr>
              <a:t>eqC8p;ent </a:t>
            </a:r>
            <a:r>
              <a:rPr dirty="0" sz="1400" spc="-105" b="1">
                <a:latin typeface="微软雅黑"/>
                <a:cs typeface="微软雅黑"/>
              </a:rPr>
              <a:t>8dent8tF; </a:t>
            </a:r>
            <a:r>
              <a:rPr dirty="0" sz="1400" spc="-65" b="1">
                <a:latin typeface="微软雅黑"/>
                <a:cs typeface="微软雅黑"/>
              </a:rPr>
              <a:t>8;A8:   </a:t>
            </a:r>
            <a:r>
              <a:rPr dirty="0" sz="1400" spc="-80" b="1">
                <a:latin typeface="微软雅黑"/>
                <a:cs typeface="微软雅黑"/>
              </a:rPr>
              <a:t>8ntern1t8on1: </a:t>
            </a:r>
            <a:r>
              <a:rPr dirty="0" sz="1400" spc="90" b="1">
                <a:latin typeface="微软雅黑"/>
                <a:cs typeface="微软雅黑"/>
              </a:rPr>
              <a:t>;o28:e </a:t>
            </a:r>
            <a:r>
              <a:rPr dirty="0" sz="1400" spc="-110" b="1">
                <a:latin typeface="微软雅黑"/>
                <a:cs typeface="微软雅黑"/>
              </a:rPr>
              <a:t>AC2Acr82er</a:t>
            </a:r>
            <a:r>
              <a:rPr dirty="0" sz="1400" spc="-160" b="1">
                <a:latin typeface="微软雅黑"/>
                <a:cs typeface="微软雅黑"/>
              </a:rPr>
              <a:t> </a:t>
            </a:r>
            <a:r>
              <a:rPr dirty="0" sz="1400" spc="-114" b="1">
                <a:latin typeface="微软雅黑"/>
                <a:cs typeface="微软雅黑"/>
              </a:rPr>
              <a:t>8dent8tF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20199" y="1030110"/>
            <a:ext cx="4171800" cy="32003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913384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Representative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Work: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Graph Embedding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in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Fraud </a:t>
            </a:r>
            <a:r>
              <a:rPr dirty="0" sz="2400" spc="4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90" b="1">
                <a:solidFill>
                  <a:srgbClr val="000000"/>
                </a:solidFill>
                <a:latin typeface="微软雅黑"/>
                <a:cs typeface="微软雅黑"/>
              </a:rPr>
              <a:t>etection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5787" y="1276603"/>
            <a:ext cx="22078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Calibri"/>
                <a:cs typeface="Calibri"/>
              </a:rPr>
              <a:t>Objective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Functions: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5787" y="3739388"/>
            <a:ext cx="6032500" cy="24974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98450" marR="5080" indent="-285750">
              <a:lnSpc>
                <a:spcPct val="100400"/>
              </a:lnSpc>
              <a:spcBef>
                <a:spcPts val="9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10">
                <a:latin typeface="Calibri"/>
                <a:cs typeface="Calibri"/>
              </a:rPr>
              <a:t>Existing </a:t>
            </a:r>
            <a:r>
              <a:rPr dirty="0" sz="1800" spc="-5">
                <a:latin typeface="Calibri"/>
                <a:cs typeface="Calibri"/>
              </a:rPr>
              <a:t>methods </a:t>
            </a:r>
            <a:r>
              <a:rPr dirty="0" sz="1800" spc="-10">
                <a:latin typeface="Calibri"/>
                <a:cs typeface="Calibri"/>
              </a:rPr>
              <a:t>generally incorporate attribute information  </a:t>
            </a:r>
            <a:r>
              <a:rPr dirty="0" sz="1800" spc="-15">
                <a:latin typeface="Calibri"/>
                <a:cs typeface="Calibri"/>
              </a:rPr>
              <a:t>into </a:t>
            </a:r>
            <a:r>
              <a:rPr dirty="0" sz="1800" spc="-10">
                <a:latin typeface="Calibri"/>
                <a:cs typeface="Calibri"/>
              </a:rPr>
              <a:t>representation </a:t>
            </a:r>
            <a:r>
              <a:rPr dirty="0" sz="1800" spc="-5">
                <a:latin typeface="Calibri"/>
                <a:cs typeface="Calibri"/>
              </a:rPr>
              <a:t>learning by </a:t>
            </a:r>
            <a:r>
              <a:rPr dirty="0" sz="1800" spc="-10">
                <a:latin typeface="Calibri"/>
                <a:cs typeface="Calibri"/>
              </a:rPr>
              <a:t>matrix </a:t>
            </a:r>
            <a:r>
              <a:rPr dirty="0" sz="1800" spc="-5">
                <a:latin typeface="Calibri"/>
                <a:cs typeface="Calibri"/>
              </a:rPr>
              <a:t>decomposition </a:t>
            </a:r>
            <a:r>
              <a:rPr dirty="0" sz="1800">
                <a:latin typeface="Calibri"/>
                <a:cs typeface="Calibri"/>
              </a:rPr>
              <a:t>or </a:t>
            </a:r>
            <a:r>
              <a:rPr dirty="0" sz="1800" spc="-5">
                <a:latin typeface="Calibri"/>
                <a:cs typeface="Calibri"/>
              </a:rPr>
              <a:t>by  adding auxiliary nodes. This shallow </a:t>
            </a:r>
            <a:r>
              <a:rPr dirty="0" sz="1800" spc="-10">
                <a:latin typeface="Calibri"/>
                <a:cs typeface="Calibri"/>
              </a:rPr>
              <a:t>level </a:t>
            </a:r>
            <a:r>
              <a:rPr dirty="0" sz="1800" spc="-5">
                <a:latin typeface="Calibri"/>
                <a:cs typeface="Calibri"/>
              </a:rPr>
              <a:t>model can't </a:t>
            </a:r>
            <a:r>
              <a:rPr dirty="0" sz="1800" spc="-10">
                <a:latin typeface="Calibri"/>
                <a:cs typeface="Calibri"/>
              </a:rPr>
              <a:t>capture  </a:t>
            </a:r>
            <a:r>
              <a:rPr dirty="0" sz="1800" spc="-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deep </a:t>
            </a:r>
            <a:r>
              <a:rPr dirty="0" sz="1800" spc="-5">
                <a:latin typeface="Calibri"/>
                <a:cs typeface="Calibri"/>
              </a:rPr>
              <a:t>inner </a:t>
            </a:r>
            <a:r>
              <a:rPr dirty="0" sz="1800" spc="-10">
                <a:latin typeface="Calibri"/>
                <a:cs typeface="Calibri"/>
              </a:rPr>
              <a:t>relationship </a:t>
            </a:r>
            <a:r>
              <a:rPr dirty="0" sz="1800" spc="-5">
                <a:latin typeface="Calibri"/>
                <a:cs typeface="Calibri"/>
              </a:rPr>
              <a:t>between the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two.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"/>
              <a:buChar char="•"/>
            </a:pPr>
            <a:endParaRPr sz="1800">
              <a:latin typeface="Times New Roman"/>
              <a:cs typeface="Times New Roman"/>
            </a:endParaRPr>
          </a:p>
          <a:p>
            <a:pPr marL="298450" marR="355600" indent="-285750">
              <a:lnSpc>
                <a:spcPct val="1004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Calibri"/>
                <a:cs typeface="Calibri"/>
              </a:rPr>
              <a:t>Compared with the </a:t>
            </a:r>
            <a:r>
              <a:rPr dirty="0" sz="1800" spc="-10">
                <a:latin typeface="Calibri"/>
                <a:cs typeface="Calibri"/>
              </a:rPr>
              <a:t>existing </a:t>
            </a:r>
            <a:r>
              <a:rPr dirty="0" sz="1800" spc="-15">
                <a:latin typeface="Calibri"/>
                <a:cs typeface="Calibri"/>
              </a:rPr>
              <a:t>state-of-the-art </a:t>
            </a:r>
            <a:r>
              <a:rPr dirty="0" sz="1800" spc="-5">
                <a:latin typeface="Calibri"/>
                <a:cs typeface="Calibri"/>
              </a:rPr>
              <a:t>method, </a:t>
            </a:r>
            <a:r>
              <a:rPr dirty="0" sz="1800">
                <a:latin typeface="Calibri"/>
                <a:cs typeface="Calibri"/>
              </a:rPr>
              <a:t>our  </a:t>
            </a:r>
            <a:r>
              <a:rPr dirty="0" sz="1800" spc="-5">
                <a:latin typeface="Calibri"/>
                <a:cs typeface="Calibri"/>
              </a:rPr>
              <a:t>model ANRL </a:t>
            </a:r>
            <a:r>
              <a:rPr dirty="0" sz="1800">
                <a:latin typeface="Calibri"/>
                <a:cs typeface="Calibri"/>
              </a:rPr>
              <a:t>has a </a:t>
            </a:r>
            <a:r>
              <a:rPr dirty="0" sz="1800" spc="-5">
                <a:latin typeface="Calibri"/>
                <a:cs typeface="Calibri"/>
              </a:rPr>
              <a:t>certain degree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improvement </a:t>
            </a:r>
            <a:r>
              <a:rPr dirty="0" sz="1800">
                <a:latin typeface="Calibri"/>
                <a:cs typeface="Calibri"/>
              </a:rPr>
              <a:t>in </a:t>
            </a:r>
            <a:r>
              <a:rPr dirty="0" sz="1800" spc="-15">
                <a:latin typeface="Calibri"/>
                <a:cs typeface="Calibri"/>
              </a:rPr>
              <a:t>tasks  </a:t>
            </a:r>
            <a:r>
              <a:rPr dirty="0" sz="1800" spc="-5">
                <a:latin typeface="Calibri"/>
                <a:cs typeface="Calibri"/>
              </a:rPr>
              <a:t>such as ink prediction and </a:t>
            </a:r>
            <a:r>
              <a:rPr dirty="0" sz="1800">
                <a:latin typeface="Calibri"/>
                <a:cs typeface="Calibri"/>
              </a:rPr>
              <a:t>node </a:t>
            </a:r>
            <a:r>
              <a:rPr dirty="0" sz="1800" spc="-10">
                <a:latin typeface="Calibri"/>
                <a:cs typeface="Calibri"/>
              </a:rPr>
              <a:t>classification </a:t>
            </a:r>
            <a:r>
              <a:rPr dirty="0" sz="1800" spc="-5">
                <a:latin typeface="Calibri"/>
                <a:cs typeface="Calibri"/>
              </a:rPr>
              <a:t>by using the  </a:t>
            </a:r>
            <a:r>
              <a:rPr dirty="0" sz="1800">
                <a:latin typeface="Calibri"/>
                <a:cs typeface="Calibri"/>
              </a:rPr>
              <a:t>deep </a:t>
            </a:r>
            <a:r>
              <a:rPr dirty="0" sz="1800" spc="-5">
                <a:latin typeface="Calibri"/>
                <a:cs typeface="Calibri"/>
              </a:rPr>
              <a:t>learning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2769" y="1703904"/>
            <a:ext cx="5204429" cy="17820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11581" y="1703904"/>
            <a:ext cx="5003893" cy="14708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094939" y="3458479"/>
            <a:ext cx="4920536" cy="22674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97828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Representative </a:t>
            </a:r>
            <a:r>
              <a:rPr dirty="0" sz="2400" spc="365" b="1">
                <a:solidFill>
                  <a:srgbClr val="000000"/>
                </a:solidFill>
                <a:latin typeface="微软雅黑"/>
                <a:cs typeface="微软雅黑"/>
              </a:rPr>
              <a:t>,or8: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Graph </a:t>
            </a:r>
            <a:r>
              <a:rPr dirty="0" sz="2400" spc="215" b="1">
                <a:solidFill>
                  <a:srgbClr val="000000"/>
                </a:solidFill>
                <a:latin typeface="微软雅黑"/>
                <a:cs typeface="微软雅黑"/>
              </a:rPr>
              <a:t>E:0e22ing</a:t>
            </a:r>
            <a:r>
              <a:rPr dirty="0" sz="2400" spc="-34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in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Entity </a:t>
            </a:r>
            <a:r>
              <a:rPr dirty="0" sz="2400" spc="-25" b="1">
                <a:solidFill>
                  <a:srgbClr val="000000"/>
                </a:solidFill>
                <a:latin typeface="微软雅黑"/>
                <a:cs typeface="微软雅黑"/>
              </a:rPr>
              <a:t>Re1ognition</a:t>
            </a:r>
            <a:r>
              <a:rPr dirty="0" baseline="24305" sz="2400" spc="-37" b="1">
                <a:solidFill>
                  <a:srgbClr val="000000"/>
                </a:solidFill>
                <a:latin typeface="微软雅黑"/>
                <a:cs typeface="微软雅黑"/>
              </a:rPr>
              <a:t>[1]</a:t>
            </a:r>
            <a:endParaRPr baseline="24305"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96239" y="1027684"/>
            <a:ext cx="10873740" cy="562864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 spc="40">
                <a:latin typeface="微软雅黑"/>
                <a:cs typeface="微软雅黑"/>
              </a:rPr>
              <a:t>Ch,llenges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50">
                <a:latin typeface="微软雅黑"/>
                <a:cs typeface="微软雅黑"/>
              </a:rPr>
              <a:t>mo-ile </a:t>
            </a:r>
            <a:r>
              <a:rPr dirty="0" sz="1600" spc="-30">
                <a:latin typeface="微软雅黑"/>
                <a:cs typeface="微软雅黑"/>
              </a:rPr>
              <a:t>entitB</a:t>
            </a:r>
            <a:r>
              <a:rPr dirty="0" sz="1600" spc="-105">
                <a:latin typeface="微软雅黑"/>
                <a:cs typeface="微软雅黑"/>
              </a:rPr>
              <a:t> </a:t>
            </a:r>
            <a:r>
              <a:rPr dirty="0" sz="1600" spc="25">
                <a:latin typeface="微软雅黑"/>
                <a:cs typeface="微软雅黑"/>
              </a:rPr>
              <a:t>re.ognition:</a:t>
            </a:r>
            <a:endParaRPr sz="1600">
              <a:latin typeface="微软雅黑"/>
              <a:cs typeface="微软雅黑"/>
            </a:endParaRPr>
          </a:p>
          <a:p>
            <a:pPr marL="314325" indent="-301625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240">
                <a:latin typeface="微软雅黑"/>
                <a:cs typeface="微软雅黑"/>
              </a:rPr>
              <a:t>D,t,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05">
                <a:latin typeface="微软雅黑"/>
                <a:cs typeface="微软雅黑"/>
              </a:rPr>
              <a:t>.ont,ins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14">
                <a:latin typeface="微软雅黑"/>
                <a:cs typeface="微软雅黑"/>
              </a:rPr>
              <a:t>l,rge-s.,le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180">
                <a:latin typeface="微软雅黑"/>
                <a:cs typeface="微软雅黑"/>
              </a:rPr>
              <a:t>s:,rse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network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stru.ture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inform,tion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00">
                <a:latin typeface="微软雅黑"/>
                <a:cs typeface="微软雅黑"/>
              </a:rPr>
              <a:t>ri.h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nodes.</a:t>
            </a:r>
            <a:endParaRPr sz="1600">
              <a:latin typeface="微软雅黑"/>
              <a:cs typeface="微软雅黑"/>
            </a:endParaRPr>
          </a:p>
          <a:p>
            <a:pPr marL="313690">
              <a:lnSpc>
                <a:spcPct val="100000"/>
              </a:lnSpc>
              <a:spcBef>
                <a:spcPts val="360"/>
              </a:spcBef>
            </a:pPr>
            <a:r>
              <a:rPr dirty="0" sz="1600" spc="85">
                <a:latin typeface="微软雅黑"/>
                <a:cs typeface="微软雅黑"/>
              </a:rPr>
              <a:t>,ttri-ute</a:t>
            </a:r>
            <a:r>
              <a:rPr dirty="0" sz="1600" spc="-6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inform,tion</a:t>
            </a:r>
            <a:endParaRPr sz="1600">
              <a:latin typeface="微软雅黑"/>
              <a:cs typeface="微软雅黑"/>
            </a:endParaRPr>
          </a:p>
          <a:p>
            <a:pPr marL="314325" marR="3823335" indent="-301625">
              <a:lnSpc>
                <a:spcPct val="12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Both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inform,tion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300">
                <a:latin typeface="微软雅黑"/>
                <a:cs typeface="微软雅黑"/>
              </a:rPr>
              <a:t>.,n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155">
                <a:latin typeface="微软雅黑"/>
                <a:cs typeface="微软雅黑"/>
              </a:rPr>
              <a:t>-e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used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85">
                <a:latin typeface="微软雅黑"/>
                <a:cs typeface="微软雅黑"/>
              </a:rPr>
              <a:t>des.ri-e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>
                <a:latin typeface="微软雅黑"/>
                <a:cs typeface="微软雅黑"/>
              </a:rPr>
              <a:t>the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85">
                <a:latin typeface="微软雅黑"/>
                <a:cs typeface="微软雅黑"/>
              </a:rPr>
              <a:t>rel,tionshi: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90">
                <a:latin typeface="微软雅黑"/>
                <a:cs typeface="微软雅黑"/>
              </a:rPr>
              <a:t>,mong</a:t>
            </a:r>
            <a:r>
              <a:rPr dirty="0" sz="1600">
                <a:latin typeface="微软雅黑"/>
                <a:cs typeface="微软雅黑"/>
              </a:rPr>
              <a:t> the  </a:t>
            </a:r>
            <a:r>
              <a:rPr dirty="0" sz="1600" spc="-5">
                <a:latin typeface="微软雅黑"/>
                <a:cs typeface="微软雅黑"/>
              </a:rPr>
              <a:t>nodes, however </a:t>
            </a:r>
            <a:r>
              <a:rPr dirty="0" sz="1600" spc="105">
                <a:latin typeface="微软雅黑"/>
                <a:cs typeface="微软雅黑"/>
              </a:rPr>
              <a:t>dist,n.e </a:t>
            </a:r>
            <a:r>
              <a:rPr dirty="0" sz="1600" spc="50">
                <a:latin typeface="微软雅黑"/>
                <a:cs typeface="微软雅黑"/>
              </a:rPr>
              <a:t>me,sures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-5">
                <a:latin typeface="微软雅黑"/>
                <a:cs typeface="微软雅黑"/>
              </a:rPr>
              <a:t>two </a:t>
            </a:r>
            <a:r>
              <a:rPr dirty="0" sz="1600" spc="150">
                <a:latin typeface="微软雅黑"/>
                <a:cs typeface="微软雅黑"/>
              </a:rPr>
              <a:t>,re </a:t>
            </a:r>
            <a:r>
              <a:rPr dirty="0" sz="1600" spc="190">
                <a:latin typeface="微软雅黑"/>
                <a:cs typeface="微软雅黑"/>
              </a:rPr>
              <a:t>:ro-,-lB </a:t>
            </a:r>
            <a:r>
              <a:rPr dirty="0" sz="1600" spc="-5">
                <a:latin typeface="微软雅黑"/>
                <a:cs typeface="微软雅黑"/>
              </a:rPr>
              <a:t>not  </a:t>
            </a:r>
            <a:r>
              <a:rPr dirty="0" sz="1600" spc="50">
                <a:latin typeface="微软雅黑"/>
                <a:cs typeface="微软雅黑"/>
              </a:rPr>
              <a:t>monotoni.,llB </a:t>
            </a:r>
            <a:r>
              <a:rPr dirty="0" sz="1600" spc="80">
                <a:latin typeface="微软雅黑"/>
                <a:cs typeface="微软雅黑"/>
              </a:rPr>
              <a:t>in.re,sing </a:t>
            </a:r>
            <a:r>
              <a:rPr dirty="0" sz="1600" spc="-5">
                <a:latin typeface="微软雅黑"/>
                <a:cs typeface="微软雅黑"/>
              </a:rPr>
              <a:t>or </a:t>
            </a:r>
            <a:r>
              <a:rPr dirty="0" sz="1600" spc="80">
                <a:latin typeface="微软雅黑"/>
                <a:cs typeface="微软雅黑"/>
              </a:rPr>
              <a:t>de.re,sing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114">
                <a:latin typeface="微软雅黑"/>
                <a:cs typeface="微软雅黑"/>
              </a:rPr>
              <a:t>s,me</a:t>
            </a:r>
            <a:r>
              <a:rPr dirty="0" sz="1600" spc="-15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nodes</a:t>
            </a:r>
            <a:endParaRPr sz="1600">
              <a:latin typeface="微软雅黑"/>
              <a:cs typeface="微软雅黑"/>
            </a:endParaRPr>
          </a:p>
          <a:p>
            <a:pPr marL="314325" marR="3687445" indent="-301625">
              <a:lnSpc>
                <a:spcPct val="120000"/>
              </a:lnSpc>
              <a:spcBef>
                <a:spcPts val="9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Consider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490">
                <a:latin typeface="微软雅黑"/>
                <a:cs typeface="微软雅黑"/>
              </a:rPr>
              <a:t>,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40">
                <a:latin typeface="微软雅黑"/>
                <a:cs typeface="微软雅黑"/>
              </a:rPr>
              <a:t>non-:ositive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rel,tionshi:,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we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300">
                <a:latin typeface="微软雅黑"/>
                <a:cs typeface="微软雅黑"/>
              </a:rPr>
              <a:t>.,n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10">
                <a:latin typeface="微软雅黑"/>
                <a:cs typeface="微软雅黑"/>
              </a:rPr>
              <a:t>.,:ture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10">
                <a:latin typeface="微软雅黑"/>
                <a:cs typeface="微软雅黑"/>
              </a:rPr>
              <a:t>more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inform,tion 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150">
                <a:latin typeface="微软雅黑"/>
                <a:cs typeface="微软雅黑"/>
              </a:rPr>
              <a:t>hel: </a:t>
            </a:r>
            <a:r>
              <a:rPr dirty="0" sz="1600" spc="75">
                <a:latin typeface="微软雅黑"/>
                <a:cs typeface="微软雅黑"/>
              </a:rPr>
              <a:t>im:rove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55">
                <a:latin typeface="微软雅黑"/>
                <a:cs typeface="微软雅黑"/>
              </a:rPr>
              <a:t>le,rning</a:t>
            </a:r>
            <a:r>
              <a:rPr dirty="0" sz="1600" spc="-254">
                <a:latin typeface="微软雅黑"/>
                <a:cs typeface="微软雅黑"/>
              </a:rPr>
              <a:t> </a:t>
            </a:r>
            <a:r>
              <a:rPr dirty="0" sz="1600" spc="135">
                <a:latin typeface="微软雅黑"/>
                <a:cs typeface="微软雅黑"/>
              </a:rPr>
              <a:t>:erform,n.e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Arial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600" spc="-25">
                <a:latin typeface="微软雅黑"/>
                <a:cs typeface="微软雅黑"/>
              </a:rPr>
              <a:t>We </a:t>
            </a:r>
            <a:r>
              <a:rPr dirty="0" sz="1600" spc="175">
                <a:latin typeface="微软雅黑"/>
                <a:cs typeface="微软雅黑"/>
              </a:rPr>
              <a:t>:ro:ose </a:t>
            </a:r>
            <a:r>
              <a:rPr dirty="0" sz="1600" spc="-5">
                <a:latin typeface="微软雅黑"/>
                <a:cs typeface="微软雅黑"/>
              </a:rPr>
              <a:t>to </a:t>
            </a:r>
            <a:r>
              <a:rPr dirty="0" sz="1600" spc="35">
                <a:latin typeface="微软雅黑"/>
                <a:cs typeface="微软雅黑"/>
              </a:rPr>
              <a:t>investig,te </a:t>
            </a:r>
            <a:r>
              <a:rPr dirty="0" sz="1600" spc="75">
                <a:latin typeface="微软雅黑"/>
                <a:cs typeface="微软雅黑"/>
              </a:rPr>
              <a:t>,ttri-uted </a:t>
            </a:r>
            <a:r>
              <a:rPr dirty="0" sz="1600" spc="-5">
                <a:latin typeface="微软雅黑"/>
                <a:cs typeface="微软雅黑"/>
              </a:rPr>
              <a:t>network </a:t>
            </a:r>
            <a:r>
              <a:rPr dirty="0" sz="1600" spc="30">
                <a:latin typeface="微软雅黑"/>
                <a:cs typeface="微软雅黑"/>
              </a:rPr>
              <a:t>em-edding</a:t>
            </a:r>
            <a:r>
              <a:rPr dirty="0" sz="1600" spc="-24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through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 spc="75">
                <a:latin typeface="微软雅黑"/>
                <a:cs typeface="微软雅黑"/>
              </a:rPr>
              <a:t>t,king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60">
                <a:latin typeface="微软雅黑"/>
                <a:cs typeface="微软雅黑"/>
              </a:rPr>
              <a:t>un.orrel,tion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40">
                <a:latin typeface="微软雅黑"/>
                <a:cs typeface="微软雅黑"/>
              </a:rPr>
              <a:t>-etween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0">
                <a:latin typeface="微软雅黑"/>
                <a:cs typeface="微软雅黑"/>
              </a:rPr>
              <a:t>to:ologB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stru.ture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85">
                <a:latin typeface="微软雅黑"/>
                <a:cs typeface="微软雅黑"/>
              </a:rPr>
              <a:t>,ttri-ute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into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180">
                <a:latin typeface="微软雅黑"/>
                <a:cs typeface="微软雅黑"/>
              </a:rPr>
              <a:t>,..ount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10">
                <a:latin typeface="微软雅黑"/>
                <a:cs typeface="微软雅黑"/>
              </a:rPr>
              <a:t>m,ke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>
                <a:latin typeface="微软雅黑"/>
                <a:cs typeface="微软雅黑"/>
              </a:rPr>
              <a:t>the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10">
                <a:latin typeface="微软雅黑"/>
                <a:cs typeface="微软雅黑"/>
              </a:rPr>
              <a:t>following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600" spc="50">
                <a:latin typeface="微软雅黑"/>
                <a:cs typeface="微软雅黑"/>
              </a:rPr>
              <a:t>.ontri-utions.</a:t>
            </a:r>
            <a:endParaRPr sz="1600">
              <a:latin typeface="微软雅黑"/>
              <a:cs typeface="微软雅黑"/>
            </a:endParaRPr>
          </a:p>
          <a:p>
            <a:pPr marL="314325" indent="-30162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25">
                <a:latin typeface="微软雅黑"/>
                <a:cs typeface="微软雅黑"/>
              </a:rPr>
              <a:t>We</a:t>
            </a:r>
            <a:r>
              <a:rPr dirty="0" sz="1600" spc="5">
                <a:latin typeface="微软雅黑"/>
                <a:cs typeface="微软雅黑"/>
              </a:rPr>
              <a:t> re.ogniCe </a:t>
            </a:r>
            <a:r>
              <a:rPr dirty="0" sz="1600">
                <a:latin typeface="微软雅黑"/>
                <a:cs typeface="微软雅黑"/>
              </a:rPr>
              <a:t>the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60">
                <a:latin typeface="微软雅黑"/>
                <a:cs typeface="微软雅黑"/>
              </a:rPr>
              <a:t>un.orrel,tion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5">
                <a:latin typeface="微软雅黑"/>
                <a:cs typeface="微软雅黑"/>
              </a:rPr>
              <a:t>:henomenon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40">
                <a:latin typeface="微软雅黑"/>
                <a:cs typeface="微软雅黑"/>
              </a:rPr>
              <a:t>-etween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0">
                <a:latin typeface="微软雅黑"/>
                <a:cs typeface="微软雅黑"/>
              </a:rPr>
              <a:t>to:ologB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stru.ture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85">
                <a:latin typeface="微软雅黑"/>
                <a:cs typeface="微软雅黑"/>
              </a:rPr>
              <a:t>,ttri-ute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whi.h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25">
                <a:latin typeface="微软雅黑"/>
                <a:cs typeface="微软雅黑"/>
              </a:rPr>
              <a:t>,ffe.ts</a:t>
            </a:r>
            <a:r>
              <a:rPr dirty="0" sz="1600">
                <a:latin typeface="微软雅黑"/>
                <a:cs typeface="微软雅黑"/>
              </a:rPr>
              <a:t> the</a:t>
            </a:r>
            <a:endParaRPr sz="1600">
              <a:latin typeface="微软雅黑"/>
              <a:cs typeface="微软雅黑"/>
            </a:endParaRPr>
          </a:p>
          <a:p>
            <a:pPr marL="297815">
              <a:lnSpc>
                <a:spcPct val="100000"/>
              </a:lnSpc>
              <a:spcBef>
                <a:spcPts val="380"/>
              </a:spcBef>
            </a:pPr>
            <a:r>
              <a:rPr dirty="0" sz="1600" spc="229">
                <a:latin typeface="微软雅黑"/>
                <a:cs typeface="微软雅黑"/>
              </a:rPr>
              <a:t>,.tu,l </a:t>
            </a:r>
            <a:r>
              <a:rPr dirty="0" sz="1600" spc="40">
                <a:latin typeface="微软雅黑"/>
                <a:cs typeface="微软雅黑"/>
              </a:rPr>
              <a:t>:roximitB </a:t>
            </a:r>
            <a:r>
              <a:rPr dirty="0" sz="1600" spc="90">
                <a:latin typeface="微软雅黑"/>
                <a:cs typeface="微软雅黑"/>
              </a:rPr>
              <a:t>,mong</a:t>
            </a:r>
            <a:r>
              <a:rPr dirty="0" sz="1600" spc="-29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nodes in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30">
                <a:latin typeface="微软雅黑"/>
                <a:cs typeface="微软雅黑"/>
              </a:rPr>
              <a:t>em-edding </a:t>
            </a:r>
            <a:r>
              <a:rPr dirty="0" sz="1600" spc="250">
                <a:latin typeface="微软雅黑"/>
                <a:cs typeface="微软雅黑"/>
              </a:rPr>
              <a:t>s:,.e.</a:t>
            </a:r>
            <a:endParaRPr sz="1600">
              <a:latin typeface="微软雅黑"/>
              <a:cs typeface="微软雅黑"/>
            </a:endParaRPr>
          </a:p>
          <a:p>
            <a:pPr marL="298450" marR="5080" indent="-285750">
              <a:lnSpc>
                <a:spcPct val="118700"/>
              </a:lnSpc>
              <a:spcBef>
                <a:spcPts val="2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25">
                <a:latin typeface="微软雅黑"/>
                <a:cs typeface="微软雅黑"/>
              </a:rPr>
              <a:t>We </a:t>
            </a:r>
            <a:r>
              <a:rPr dirty="0" sz="1600" spc="175">
                <a:latin typeface="微软雅黑"/>
                <a:cs typeface="微软雅黑"/>
              </a:rPr>
              <a:t>:ro:ose </a:t>
            </a:r>
            <a:r>
              <a:rPr dirty="0" sz="1600" spc="490">
                <a:latin typeface="微软雅黑"/>
                <a:cs typeface="微软雅黑"/>
              </a:rPr>
              <a:t>,</a:t>
            </a:r>
            <a:r>
              <a:rPr dirty="0" sz="1600" spc="-270">
                <a:latin typeface="微软雅黑"/>
                <a:cs typeface="微软雅黑"/>
              </a:rPr>
              <a:t> </a:t>
            </a:r>
            <a:r>
              <a:rPr dirty="0" sz="1600" spc="40">
                <a:latin typeface="微软雅黑"/>
                <a:cs typeface="微软雅黑"/>
              </a:rPr>
              <a:t>(erson,liCed </a:t>
            </a:r>
            <a:r>
              <a:rPr dirty="0" sz="1600" spc="-5">
                <a:latin typeface="微软雅黑"/>
                <a:cs typeface="微软雅黑"/>
              </a:rPr>
              <a:t>node </a:t>
            </a:r>
            <a:r>
              <a:rPr dirty="0" sz="1600" spc="110">
                <a:latin typeface="微软雅黑"/>
                <a:cs typeface="微软雅黑"/>
              </a:rPr>
              <a:t>)el,tion </a:t>
            </a:r>
            <a:r>
              <a:rPr dirty="0" sz="1600" spc="135">
                <a:latin typeface="微软雅黑"/>
                <a:cs typeface="微软雅黑"/>
              </a:rPr>
              <a:t>),nking </a:t>
            </a:r>
            <a:r>
              <a:rPr dirty="0" sz="1600" spc="30">
                <a:latin typeface="微软雅黑"/>
                <a:cs typeface="微软雅黑"/>
              </a:rPr>
              <a:t>Em-edding </a:t>
            </a:r>
            <a:r>
              <a:rPr dirty="0" sz="1600" spc="285">
                <a:latin typeface="微软雅黑"/>
                <a:cs typeface="微软雅黑"/>
              </a:rPr>
              <a:t>(())E </a:t>
            </a:r>
            <a:r>
              <a:rPr dirty="0" sz="1600" spc="-5">
                <a:latin typeface="微软雅黑"/>
                <a:cs typeface="微软雅黑"/>
              </a:rPr>
              <a:t>model </a:t>
            </a:r>
            <a:r>
              <a:rPr dirty="0" sz="1600" spc="100">
                <a:latin typeface="微软雅黑"/>
                <a:cs typeface="微软雅黑"/>
              </a:rPr>
              <a:t>su.h </a:t>
            </a:r>
            <a:r>
              <a:rPr dirty="0" sz="1600" spc="114">
                <a:latin typeface="微软雅黑"/>
                <a:cs typeface="微软雅黑"/>
              </a:rPr>
              <a:t>th,t </a:t>
            </a:r>
            <a:r>
              <a:rPr dirty="0" sz="1600">
                <a:latin typeface="微软雅黑"/>
                <a:cs typeface="微软雅黑"/>
              </a:rPr>
              <a:t>the </a:t>
            </a:r>
            <a:r>
              <a:rPr dirty="0" sz="1600" spc="-5">
                <a:latin typeface="微软雅黑"/>
                <a:cs typeface="微软雅黑"/>
              </a:rPr>
              <a:t>resulting network  </a:t>
            </a:r>
            <a:r>
              <a:rPr dirty="0" sz="1600" spc="25">
                <a:latin typeface="微软雅黑"/>
                <a:cs typeface="微软雅黑"/>
              </a:rPr>
              <a:t>em-edding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300">
                <a:latin typeface="微软雅黑"/>
                <a:cs typeface="微软雅黑"/>
              </a:rPr>
              <a:t>.,n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10">
                <a:latin typeface="微软雅黑"/>
                <a:cs typeface="微软雅黑"/>
              </a:rPr>
              <a:t>.,:ture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>
                <a:latin typeface="微软雅黑"/>
                <a:cs typeface="微软雅黑"/>
              </a:rPr>
              <a:t>the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60">
                <a:latin typeface="微软雅黑"/>
                <a:cs typeface="微软雅黑"/>
              </a:rPr>
              <a:t>un.orrel,tion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40">
                <a:latin typeface="微软雅黑"/>
                <a:cs typeface="微软雅黑"/>
              </a:rPr>
              <a:t>,s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well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240">
                <a:latin typeface="微软雅黑"/>
                <a:cs typeface="微软雅黑"/>
              </a:rPr>
              <a:t>,s</a:t>
            </a:r>
            <a:r>
              <a:rPr dirty="0" sz="1600">
                <a:latin typeface="微软雅黑"/>
                <a:cs typeface="微软雅黑"/>
              </a:rPr>
              <a:t> </a:t>
            </a:r>
            <a:r>
              <a:rPr dirty="0" sz="1600" spc="75">
                <a:latin typeface="微软雅黑"/>
                <a:cs typeface="微软雅黑"/>
              </a:rPr>
              <a:t>:reserve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good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40">
                <a:latin typeface="微软雅黑"/>
                <a:cs typeface="微软雅黑"/>
              </a:rPr>
              <a:t>:roximitB</a:t>
            </a:r>
            <a:r>
              <a:rPr dirty="0" sz="1600" spc="10">
                <a:latin typeface="微软雅黑"/>
                <a:cs typeface="微软雅黑"/>
              </a:rPr>
              <a:t> </a:t>
            </a:r>
            <a:r>
              <a:rPr dirty="0" sz="1600" spc="90">
                <a:latin typeface="微软雅黑"/>
                <a:cs typeface="微软雅黑"/>
              </a:rPr>
              <a:t>,mong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nodes.</a:t>
            </a:r>
            <a:endParaRPr sz="1600">
              <a:latin typeface="微软雅黑"/>
              <a:cs typeface="微软雅黑"/>
            </a:endParaRPr>
          </a:p>
          <a:p>
            <a:pPr marL="314325" indent="-301625">
              <a:lnSpc>
                <a:spcPct val="100000"/>
              </a:lnSpc>
              <a:spcBef>
                <a:spcPts val="38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135">
                <a:latin typeface="微软雅黑"/>
                <a:cs typeface="微软雅黑"/>
              </a:rPr>
              <a:t>S,m:ling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with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10">
                <a:latin typeface="微软雅黑"/>
                <a:cs typeface="微软雅黑"/>
              </a:rPr>
              <a:t>Mini--,t.h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5">
                <a:latin typeface="微软雅黑"/>
                <a:cs typeface="微软雅黑"/>
              </a:rPr>
              <a:t>Gr,dient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0">
                <a:latin typeface="微软雅黑"/>
                <a:cs typeface="微软雅黑"/>
              </a:rPr>
              <a:t>Des.ent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for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effi.ient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50">
                <a:latin typeface="微软雅黑"/>
                <a:cs typeface="微软雅黑"/>
              </a:rPr>
              <a:t>iter,tion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60">
                <a:latin typeface="微软雅黑"/>
                <a:cs typeface="微软雅黑"/>
              </a:rPr>
              <a:t>,nd</a:t>
            </a:r>
            <a:r>
              <a:rPr dirty="0" sz="1600" spc="0">
                <a:latin typeface="微软雅黑"/>
                <a:cs typeface="微软雅黑"/>
              </a:rPr>
              <a:t> </a:t>
            </a:r>
            <a:r>
              <a:rPr dirty="0" sz="1600" spc="155">
                <a:latin typeface="微软雅黑"/>
                <a:cs typeface="微软雅黑"/>
              </a:rPr>
              <a:t>u:d,te.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baseline="24691" sz="1350" spc="0" b="1">
                <a:latin typeface="微软雅黑"/>
                <a:cs typeface="微软雅黑"/>
              </a:rPr>
              <a:t>[1] </a:t>
            </a:r>
            <a:r>
              <a:rPr dirty="0" sz="1400" spc="-5" b="1">
                <a:latin typeface="微软雅黑"/>
                <a:cs typeface="微软雅黑"/>
              </a:rPr>
              <a:t>PRRE: </a:t>
            </a:r>
            <a:r>
              <a:rPr dirty="0" sz="1400" spc="-10" b="1">
                <a:latin typeface="微软雅黑"/>
                <a:cs typeface="微软雅黑"/>
              </a:rPr>
              <a:t>PersonaliEe2 Relation Ran8ing </a:t>
            </a:r>
            <a:r>
              <a:rPr dirty="0" sz="1400" spc="125" b="1">
                <a:latin typeface="微软雅黑"/>
                <a:cs typeface="微软雅黑"/>
              </a:rPr>
              <a:t>E:0e22ing </a:t>
            </a:r>
            <a:r>
              <a:rPr dirty="0" sz="1400" spc="-5" b="1">
                <a:latin typeface="微软雅黑"/>
                <a:cs typeface="微软雅黑"/>
              </a:rPr>
              <a:t>for </a:t>
            </a:r>
            <a:r>
              <a:rPr dirty="0" sz="1400" spc="-10" b="1">
                <a:latin typeface="微软雅黑"/>
                <a:cs typeface="微软雅黑"/>
              </a:rPr>
              <a:t>Attri0Ate2 </a:t>
            </a:r>
            <a:r>
              <a:rPr dirty="0" sz="1400" spc="10" b="1">
                <a:latin typeface="微软雅黑"/>
                <a:cs typeface="微软雅黑"/>
              </a:rPr>
              <a:t>NetCor8s, </a:t>
            </a:r>
            <a:r>
              <a:rPr dirty="0" sz="1400" spc="-5" b="1">
                <a:latin typeface="微软雅黑"/>
                <a:cs typeface="微软雅黑"/>
              </a:rPr>
              <a:t>CIKM 2</a:t>
            </a:r>
            <a:r>
              <a:rPr dirty="0" sz="1400" spc="315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18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970519" y="1170432"/>
            <a:ext cx="4218432" cy="28681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94983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Representative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Work: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Graph   mbedding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in  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ntity</a:t>
            </a:r>
            <a:r>
              <a:rPr dirty="0" sz="2400" spc="-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Recognition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4628" y="1108963"/>
            <a:ext cx="4446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800" spc="-5">
                <a:latin typeface="Calibri"/>
                <a:cs typeface="Calibri"/>
              </a:rPr>
              <a:t>Objective function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5">
                <a:latin typeface="Calibri"/>
                <a:cs typeface="Calibri"/>
              </a:rPr>
              <a:t>algorithm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framework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73023" y="3142488"/>
            <a:ext cx="3998976" cy="3453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498847" y="1600200"/>
            <a:ext cx="3855720" cy="1533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11623" y="4212335"/>
            <a:ext cx="6553200" cy="19232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080247" y="1271016"/>
            <a:ext cx="2795016" cy="29809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79119" y="1661160"/>
            <a:ext cx="3761232" cy="12740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921705" y="2204211"/>
            <a:ext cx="127381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spc="30">
                <a:latin typeface="微软雅黑"/>
                <a:cs typeface="微软雅黑"/>
              </a:rPr>
              <a:t>N-des </a:t>
            </a:r>
            <a:r>
              <a:rPr dirty="0" sz="1000" spc="-5">
                <a:latin typeface="微软雅黑"/>
                <a:cs typeface="微软雅黑"/>
              </a:rPr>
              <a:t>are mapped  </a:t>
            </a:r>
            <a:r>
              <a:rPr dirty="0" sz="1000" spc="40">
                <a:latin typeface="微软雅黑"/>
                <a:cs typeface="微软雅黑"/>
              </a:rPr>
              <a:t>int- </a:t>
            </a:r>
            <a:r>
              <a:rPr dirty="0" sz="1000" spc="-5">
                <a:latin typeface="微软雅黑"/>
                <a:cs typeface="微软雅黑"/>
              </a:rPr>
              <a:t>the </a:t>
            </a:r>
            <a:r>
              <a:rPr dirty="0" sz="1000">
                <a:latin typeface="微软雅黑"/>
                <a:cs typeface="微软雅黑"/>
              </a:rPr>
              <a:t>-D </a:t>
            </a:r>
            <a:r>
              <a:rPr dirty="0" sz="1000" spc="-5">
                <a:latin typeface="微软雅黑"/>
                <a:cs typeface="微软雅黑"/>
              </a:rPr>
              <a:t>space  </a:t>
            </a:r>
            <a:r>
              <a:rPr dirty="0" sz="1000">
                <a:latin typeface="微软雅黑"/>
                <a:cs typeface="微软雅黑"/>
              </a:rPr>
              <a:t>2sing </a:t>
            </a:r>
            <a:r>
              <a:rPr dirty="0" sz="1000" spc="-5">
                <a:latin typeface="微软雅黑"/>
                <a:cs typeface="微软雅黑"/>
              </a:rPr>
              <a:t>t-SNE with  learned</a:t>
            </a:r>
            <a:r>
              <a:rPr dirty="0" sz="1000" spc="-75">
                <a:latin typeface="微软雅黑"/>
                <a:cs typeface="微软雅黑"/>
              </a:rPr>
              <a:t> </a:t>
            </a:r>
            <a:r>
              <a:rPr dirty="0" sz="1000" spc="-5">
                <a:latin typeface="微软雅黑"/>
                <a:cs typeface="微软雅黑"/>
              </a:rPr>
              <a:t>embeddings</a:t>
            </a:r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72256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)t1e8 </a:t>
            </a:r>
            <a:r>
              <a:rPr dirty="0" sz="2400" spc="75" b="1">
                <a:solidFill>
                  <a:srgbClr val="000000"/>
                </a:solidFill>
                <a:latin typeface="微软雅黑"/>
                <a:cs typeface="微软雅黑"/>
              </a:rPr>
              <a:t>G8,71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Embe..2n0 </a:t>
            </a:r>
            <a:r>
              <a:rPr dirty="0" sz="2400" spc="-40" b="1">
                <a:solidFill>
                  <a:srgbClr val="000000"/>
                </a:solidFill>
                <a:latin typeface="微软雅黑"/>
                <a:cs typeface="微软雅黑"/>
              </a:rPr>
              <a:t>Re78esent,t2ve</a:t>
            </a:r>
            <a:r>
              <a:rPr dirty="0" sz="2400" spc="-32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14" b="1">
                <a:solidFill>
                  <a:srgbClr val="000000"/>
                </a:solidFill>
                <a:latin typeface="微软雅黑"/>
                <a:cs typeface="微软雅黑"/>
              </a:rPr>
              <a:t>Wo8ks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51461" y="1068323"/>
            <a:ext cx="10480675" cy="538734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90">
                <a:latin typeface="微软雅黑"/>
                <a:cs typeface="微软雅黑"/>
              </a:rPr>
              <a:t>SSBGPApH-ASGLEMRED </a:t>
            </a:r>
            <a:r>
              <a:rPr dirty="0" sz="1400" spc="-220">
                <a:latin typeface="微软雅黑"/>
                <a:cs typeface="微软雅黑"/>
              </a:rPr>
              <a:t>PARH  </a:t>
            </a:r>
            <a:r>
              <a:rPr dirty="0" sz="1400" spc="-55">
                <a:latin typeface="微软雅黑"/>
                <a:cs typeface="微软雅黑"/>
              </a:rPr>
              <a:t>1LBEDDIMG </a:t>
            </a:r>
            <a:r>
              <a:rPr dirty="0" sz="1400" spc="-280">
                <a:latin typeface="微软雅黑"/>
                <a:cs typeface="微软雅黑"/>
              </a:rPr>
              <a:t>FNP   </a:t>
            </a:r>
            <a:r>
              <a:rPr dirty="0" sz="1400" spc="-100">
                <a:latin typeface="微软雅黑"/>
                <a:cs typeface="微软雅黑"/>
              </a:rPr>
              <a:t>SELAMRIC </a:t>
            </a:r>
            <a:r>
              <a:rPr dirty="0" sz="1400" spc="10">
                <a:latin typeface="微软雅黑"/>
                <a:cs typeface="微软雅黑"/>
              </a:rPr>
              <a:t>?sEP </a:t>
            </a:r>
            <a:r>
              <a:rPr dirty="0" sz="1400" spc="-165">
                <a:latin typeface="微软雅黑"/>
                <a:cs typeface="微软雅黑"/>
              </a:rPr>
              <a:t>SEAPCH  </a:t>
            </a:r>
            <a:r>
              <a:rPr dirty="0" sz="1400" spc="-380">
                <a:latin typeface="微软雅黑"/>
                <a:cs typeface="微软雅黑"/>
              </a:rPr>
              <a:t>NM             </a:t>
            </a:r>
            <a:r>
              <a:rPr dirty="0" sz="1400" spc="-120">
                <a:latin typeface="微软雅黑"/>
                <a:cs typeface="微软雅黑"/>
              </a:rPr>
              <a:t>4EREPNGEMENSs  </a:t>
            </a:r>
            <a:r>
              <a:rPr dirty="0" sz="1400" spc="-210">
                <a:latin typeface="微软雅黑"/>
                <a:cs typeface="微软雅黑"/>
              </a:rPr>
              <a:t>SNCIAK  </a:t>
            </a:r>
            <a:r>
              <a:rPr dirty="0" sz="1400" spc="15">
                <a:latin typeface="微软雅黑"/>
                <a:cs typeface="微软雅黑"/>
              </a:rPr>
              <a:t>:ERUNPJ, </a:t>
            </a:r>
            <a:r>
              <a:rPr dirty="0" sz="1400" spc="-25">
                <a:latin typeface="微软雅黑"/>
                <a:cs typeface="微软雅黑"/>
              </a:rPr>
              <a:t>WWW,</a:t>
            </a:r>
            <a:r>
              <a:rPr dirty="0" sz="1400" spc="135">
                <a:latin typeface="微软雅黑"/>
                <a:cs typeface="微软雅黑"/>
              </a:rPr>
              <a:t> </a:t>
            </a:r>
            <a:r>
              <a:rPr dirty="0" sz="1400" spc="65">
                <a:latin typeface="微软雅黑"/>
                <a:cs typeface="微软雅黑"/>
              </a:rPr>
              <a:t>201).</a:t>
            </a:r>
            <a:endParaRPr sz="14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204">
                <a:latin typeface="微软雅黑"/>
                <a:cs typeface="微软雅黑"/>
              </a:rPr>
              <a:t>-:R8: </a:t>
            </a:r>
            <a:r>
              <a:rPr dirty="0" sz="1400" spc="-130">
                <a:latin typeface="微软雅黑"/>
                <a:cs typeface="微软雅黑"/>
              </a:rPr>
              <a:t>-RRPIBSRED  </a:t>
            </a:r>
            <a:r>
              <a:rPr dirty="0" sz="1400" spc="10">
                <a:latin typeface="微软雅黑"/>
                <a:cs typeface="微软雅黑"/>
              </a:rPr>
              <a:t>:ERUNPJ </a:t>
            </a:r>
            <a:r>
              <a:rPr dirty="0" sz="1400" spc="-190">
                <a:latin typeface="微软雅黑"/>
                <a:cs typeface="微软雅黑"/>
              </a:rPr>
              <a:t>REpPEsEMRARINM  </a:t>
            </a:r>
            <a:r>
              <a:rPr dirty="0" sz="1400" spc="-229">
                <a:latin typeface="微软雅黑"/>
                <a:cs typeface="微软雅黑"/>
              </a:rPr>
              <a:t>8EAPMIMG  </a:t>
            </a:r>
            <a:r>
              <a:rPr dirty="0" sz="1400" spc="-110">
                <a:latin typeface="微软雅黑"/>
                <a:cs typeface="微软雅黑"/>
              </a:rPr>
              <a:t>TIA </a:t>
            </a:r>
            <a:r>
              <a:rPr dirty="0" sz="1400" spc="65">
                <a:latin typeface="微软雅黑"/>
                <a:cs typeface="微软雅黑"/>
              </a:rPr>
              <a:t>0EEp </a:t>
            </a:r>
            <a:r>
              <a:rPr dirty="0" sz="1400" spc="-30">
                <a:latin typeface="微软雅黑"/>
                <a:cs typeface="微软雅黑"/>
              </a:rPr>
              <a:t>:ESPAK </a:t>
            </a:r>
            <a:r>
              <a:rPr dirty="0" sz="1400" spc="5">
                <a:latin typeface="微软雅黑"/>
                <a:cs typeface="微软雅黑"/>
              </a:rPr>
              <a:t>:ERUNPJs, </a:t>
            </a:r>
            <a:r>
              <a:rPr dirty="0" sz="1400" spc="-120">
                <a:latin typeface="微软雅黑"/>
                <a:cs typeface="微软雅黑"/>
              </a:rPr>
              <a:t>56C-5,</a:t>
            </a:r>
            <a:r>
              <a:rPr dirty="0" sz="1400" spc="-215">
                <a:latin typeface="微软雅黑"/>
                <a:cs typeface="微软雅黑"/>
              </a:rPr>
              <a:t> </a:t>
            </a:r>
            <a:r>
              <a:rPr dirty="0" sz="1400" spc="65">
                <a:latin typeface="微软雅黑"/>
                <a:cs typeface="微软雅黑"/>
              </a:rPr>
              <a:t>201).</a:t>
            </a:r>
            <a:endParaRPr sz="14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135">
                <a:latin typeface="微软雅黑"/>
                <a:cs typeface="微软雅黑"/>
              </a:rPr>
              <a:t>-DTEPsAPIAK  </a:t>
            </a:r>
            <a:r>
              <a:rPr dirty="0" sz="1400" spc="-175">
                <a:latin typeface="微软雅黑"/>
                <a:cs typeface="微软雅黑"/>
              </a:rPr>
              <a:t>0ERECRINM  </a:t>
            </a:r>
            <a:r>
              <a:rPr dirty="0" sz="1400" spc="-155">
                <a:latin typeface="微软雅黑"/>
                <a:cs typeface="微软雅黑"/>
              </a:rPr>
              <a:t>UIRH  </a:t>
            </a:r>
            <a:r>
              <a:rPr dirty="0" sz="1400" spc="-80">
                <a:latin typeface="微软雅黑"/>
                <a:cs typeface="微软雅黑"/>
              </a:rPr>
              <a:t>9NDEK </a:t>
            </a:r>
            <a:r>
              <a:rPr dirty="0" sz="1400" spc="-250">
                <a:latin typeface="微软雅黑"/>
                <a:cs typeface="微软雅黑"/>
              </a:rPr>
              <a:t>5MREPpPERARINM.   </a:t>
            </a:r>
            <a:r>
              <a:rPr dirty="0" sz="1400" spc="80" b="1">
                <a:solidFill>
                  <a:srgbClr val="800000"/>
                </a:solidFill>
                <a:latin typeface="微软雅黑"/>
                <a:cs typeface="微软雅黑"/>
              </a:rPr>
              <a:t>(DD,</a:t>
            </a:r>
            <a:r>
              <a:rPr dirty="0" sz="1400" spc="-260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2018.</a:t>
            </a:r>
            <a:endParaRPr sz="14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30">
                <a:latin typeface="微软雅黑"/>
                <a:cs typeface="微软雅黑"/>
              </a:rPr>
              <a:t>SP-RC: </a:t>
            </a:r>
            <a:r>
              <a:rPr dirty="0" sz="1400" spc="-150">
                <a:latin typeface="微软雅黑"/>
                <a:cs typeface="微软雅黑"/>
              </a:rPr>
              <a:t>SEKF-PACED  </a:t>
            </a:r>
            <a:r>
              <a:rPr dirty="0" sz="1400" spc="10">
                <a:latin typeface="微软雅黑"/>
                <a:cs typeface="微软雅黑"/>
              </a:rPr>
              <a:t>:ERUNPJ </a:t>
            </a:r>
            <a:r>
              <a:rPr dirty="0" sz="1400" spc="-190">
                <a:latin typeface="微软雅黑"/>
                <a:cs typeface="微软雅黑"/>
              </a:rPr>
              <a:t>REpPEsEMRARINM  </a:t>
            </a:r>
            <a:r>
              <a:rPr dirty="0" sz="1400" spc="-280">
                <a:latin typeface="微软雅黑"/>
                <a:cs typeface="微软雅黑"/>
              </a:rPr>
              <a:t>FNP   </a:t>
            </a:r>
            <a:r>
              <a:rPr dirty="0" sz="1400" spc="-114">
                <a:latin typeface="微软雅黑"/>
                <a:cs typeface="微软雅黑"/>
              </a:rPr>
              <a:t>2EU-SHNR </a:t>
            </a:r>
            <a:r>
              <a:rPr dirty="0" sz="1400" spc="-135">
                <a:latin typeface="微软雅黑"/>
                <a:cs typeface="微软雅黑"/>
              </a:rPr>
              <a:t>RAPE  </a:t>
            </a:r>
            <a:r>
              <a:rPr dirty="0" sz="1400" spc="-245">
                <a:latin typeface="微软雅黑"/>
                <a:cs typeface="微软雅黑"/>
              </a:rPr>
              <a:t>CAREGNPW  </a:t>
            </a:r>
            <a:r>
              <a:rPr dirty="0" sz="1400" spc="-200">
                <a:latin typeface="微软雅黑"/>
                <a:cs typeface="微软雅黑"/>
              </a:rPr>
              <a:t>CHAPACREPIzARINM.  </a:t>
            </a:r>
            <a:r>
              <a:rPr dirty="0" sz="1400" spc="80" b="1">
                <a:solidFill>
                  <a:srgbClr val="800000"/>
                </a:solidFill>
                <a:latin typeface="微软雅黑"/>
                <a:cs typeface="微软雅黑"/>
              </a:rPr>
              <a:t>(DD,</a:t>
            </a:r>
            <a:r>
              <a:rPr dirty="0" sz="1400" spc="10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2018.</a:t>
            </a:r>
            <a:endParaRPr sz="14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7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40">
                <a:latin typeface="微软雅黑"/>
                <a:cs typeface="微软雅黑"/>
              </a:rPr>
              <a:t>9NBIKE </a:t>
            </a:r>
            <a:r>
              <a:rPr dirty="0" sz="1400" spc="-114">
                <a:latin typeface="微软雅黑"/>
                <a:cs typeface="微软雅黑"/>
              </a:rPr>
              <a:t>ACCEss  </a:t>
            </a:r>
            <a:r>
              <a:rPr dirty="0" sz="1400" spc="-225">
                <a:latin typeface="微软雅黑"/>
                <a:cs typeface="微软雅黑"/>
              </a:rPr>
              <a:t>PECNPD  PEsNKSRINM  </a:t>
            </a:r>
            <a:r>
              <a:rPr dirty="0" sz="1400" spc="-380">
                <a:latin typeface="微软雅黑"/>
                <a:cs typeface="微软雅黑"/>
              </a:rPr>
              <a:t>NM            </a:t>
            </a:r>
            <a:r>
              <a:rPr dirty="0" sz="1400" spc="-195">
                <a:latin typeface="微软雅黑"/>
                <a:cs typeface="微软雅黑"/>
              </a:rPr>
              <a:t>KAPGE-sCAKE  </a:t>
            </a:r>
            <a:r>
              <a:rPr dirty="0" sz="1400" spc="-170">
                <a:latin typeface="微软雅黑"/>
                <a:cs typeface="微软雅黑"/>
              </a:rPr>
              <a:t>IDEMRIFIEP-KIMJAGE  </a:t>
            </a:r>
            <a:r>
              <a:rPr dirty="0" sz="1400" spc="-130">
                <a:latin typeface="微软雅黑"/>
                <a:cs typeface="微软雅黑"/>
              </a:rPr>
              <a:t>GPApHs.  </a:t>
            </a:r>
            <a:r>
              <a:rPr dirty="0" sz="1400" spc="80" b="1">
                <a:solidFill>
                  <a:srgbClr val="800000"/>
                </a:solidFill>
                <a:latin typeface="微软雅黑"/>
                <a:cs typeface="微软雅黑"/>
              </a:rPr>
              <a:t>(DD,</a:t>
            </a:r>
            <a:r>
              <a:rPr dirty="0" sz="1400" spc="-254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2018.</a:t>
            </a:r>
            <a:endParaRPr sz="14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AutoNum type="arabicPeriod"/>
              <a:tabLst>
                <a:tab pos="354965" algn="l"/>
                <a:tab pos="355600" algn="l"/>
              </a:tabLst>
            </a:pPr>
            <a:r>
              <a:rPr dirty="0" sz="1400" spc="-235">
                <a:latin typeface="微软雅黑"/>
                <a:cs typeface="微软雅黑"/>
              </a:rPr>
              <a:t>5MREPACRITE </a:t>
            </a:r>
            <a:r>
              <a:rPr dirty="0" sz="1400" spc="-60">
                <a:latin typeface="微软雅黑"/>
                <a:cs typeface="微软雅黑"/>
              </a:rPr>
              <a:t> </a:t>
            </a:r>
            <a:r>
              <a:rPr dirty="0" sz="1400" spc="-175">
                <a:latin typeface="微软雅黑"/>
                <a:cs typeface="微软雅黑"/>
              </a:rPr>
              <a:t>PARHs  </a:t>
            </a:r>
            <a:r>
              <a:rPr dirty="0" sz="1400" spc="-55">
                <a:latin typeface="微软雅黑"/>
                <a:cs typeface="微软雅黑"/>
              </a:rPr>
              <a:t>1LBEDDIMG </a:t>
            </a:r>
            <a:r>
              <a:rPr dirty="0" sz="1400" spc="-280">
                <a:latin typeface="微软雅黑"/>
                <a:cs typeface="微软雅黑"/>
              </a:rPr>
              <a:t>FNP   </a:t>
            </a:r>
            <a:r>
              <a:rPr dirty="0" sz="1400" spc="-100">
                <a:latin typeface="微软雅黑"/>
                <a:cs typeface="微软雅黑"/>
              </a:rPr>
              <a:t>SELAMRIC </a:t>
            </a:r>
            <a:r>
              <a:rPr dirty="0" sz="1400" spc="-135">
                <a:latin typeface="微软雅黑"/>
                <a:cs typeface="微软雅黑"/>
              </a:rPr>
              <a:t>PPNxILIRW  </a:t>
            </a:r>
            <a:r>
              <a:rPr dirty="0" sz="1400" spc="-165">
                <a:latin typeface="微软雅黑"/>
                <a:cs typeface="微软雅黑"/>
              </a:rPr>
              <a:t>SEAPCH  </a:t>
            </a:r>
            <a:r>
              <a:rPr dirty="0" sz="1400" spc="-380">
                <a:latin typeface="微软雅黑"/>
                <a:cs typeface="微软雅黑"/>
              </a:rPr>
              <a:t>NM             </a:t>
            </a:r>
            <a:r>
              <a:rPr dirty="0" sz="1400" spc="-120">
                <a:latin typeface="微软雅黑"/>
                <a:cs typeface="微软雅黑"/>
              </a:rPr>
              <a:t>4EREPNGEMENSs  </a:t>
            </a:r>
            <a:r>
              <a:rPr dirty="0" sz="1400" spc="-80">
                <a:latin typeface="微软雅黑"/>
                <a:cs typeface="微软雅黑"/>
              </a:rPr>
              <a:t>3PApHs. </a:t>
            </a:r>
            <a:r>
              <a:rPr dirty="0" sz="1400" spc="80" b="1">
                <a:solidFill>
                  <a:srgbClr val="800000"/>
                </a:solidFill>
                <a:latin typeface="微软雅黑"/>
                <a:cs typeface="微软雅黑"/>
              </a:rPr>
              <a:t>(DD,</a:t>
            </a:r>
            <a:r>
              <a:rPr dirty="0" sz="1400" spc="-195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2018.</a:t>
            </a:r>
            <a:endParaRPr sz="1400">
              <a:latin typeface="微软雅黑"/>
              <a:cs typeface="微软雅黑"/>
            </a:endParaRPr>
          </a:p>
          <a:p>
            <a:pPr marL="355600" marR="580390" indent="-342900">
              <a:lnSpc>
                <a:spcPct val="137100"/>
              </a:lnSpc>
              <a:spcBef>
                <a:spcPts val="90"/>
              </a:spcBef>
              <a:tabLst>
                <a:tab pos="354965" algn="l"/>
              </a:tabLst>
            </a:pPr>
            <a:r>
              <a:rPr dirty="0" sz="1400" spc="175">
                <a:latin typeface="微软雅黑"/>
                <a:cs typeface="微软雅黑"/>
              </a:rPr>
              <a:t>(.	</a:t>
            </a:r>
            <a:r>
              <a:rPr dirty="0" sz="1400" spc="-15">
                <a:latin typeface="微软雅黑"/>
                <a:cs typeface="微软雅黑"/>
              </a:rPr>
              <a:t>PRR1: </a:t>
            </a:r>
            <a:r>
              <a:rPr dirty="0" sz="1400" spc="-170">
                <a:latin typeface="微软雅黑"/>
                <a:cs typeface="微软雅黑"/>
              </a:rPr>
              <a:t>PEPsNMAKIzED  </a:t>
            </a:r>
            <a:r>
              <a:rPr dirty="0" sz="1400" spc="-245">
                <a:latin typeface="微软雅黑"/>
                <a:cs typeface="微软雅黑"/>
              </a:rPr>
              <a:t>REKARINM  </a:t>
            </a:r>
            <a:r>
              <a:rPr dirty="0" sz="1400" spc="-175">
                <a:latin typeface="微软雅黑"/>
                <a:cs typeface="微软雅黑"/>
              </a:rPr>
              <a:t>RAMJIMG  </a:t>
            </a:r>
            <a:r>
              <a:rPr dirty="0" sz="1400" spc="-55">
                <a:latin typeface="微软雅黑"/>
                <a:cs typeface="微软雅黑"/>
              </a:rPr>
              <a:t>1LBEDDIMG </a:t>
            </a:r>
            <a:r>
              <a:rPr dirty="0" sz="1400" spc="-280">
                <a:latin typeface="微软雅黑"/>
                <a:cs typeface="微软雅黑"/>
              </a:rPr>
              <a:t>FNP   </a:t>
            </a:r>
            <a:r>
              <a:rPr dirty="0" sz="1400" spc="-130">
                <a:latin typeface="微软雅黑"/>
                <a:cs typeface="微软雅黑"/>
              </a:rPr>
              <a:t>-RRPIBSRED </a:t>
            </a:r>
            <a:r>
              <a:rPr dirty="0" sz="1400" spc="15">
                <a:latin typeface="微软雅黑"/>
                <a:cs typeface="微软雅黑"/>
              </a:rPr>
              <a:t>:ERUNPJ. </a:t>
            </a:r>
            <a:r>
              <a:rPr dirty="0" sz="1400" spc="-65">
                <a:latin typeface="微软雅黑"/>
                <a:cs typeface="微软雅黑"/>
              </a:rPr>
              <a:t>2(RH </a:t>
            </a:r>
            <a:r>
              <a:rPr dirty="0" sz="1400" spc="300">
                <a:latin typeface="微软雅黑"/>
                <a:cs typeface="微软雅黑"/>
              </a:rPr>
              <a:t>-C9 </a:t>
            </a:r>
            <a:r>
              <a:rPr dirty="0" sz="1400" spc="-330">
                <a:latin typeface="微软雅黑"/>
                <a:cs typeface="微软雅黑"/>
              </a:rPr>
              <a:t>5MREPMARINMAK    </a:t>
            </a:r>
            <a:r>
              <a:rPr dirty="0" sz="1400" spc="-315">
                <a:latin typeface="微软雅黑"/>
                <a:cs typeface="微软雅黑"/>
              </a:rPr>
              <a:t> </a:t>
            </a:r>
            <a:r>
              <a:rPr dirty="0" sz="1400" spc="-204">
                <a:latin typeface="微软雅黑"/>
                <a:cs typeface="微软雅黑"/>
              </a:rPr>
              <a:t>CNMFEPEMCE </a:t>
            </a:r>
            <a:r>
              <a:rPr dirty="0" sz="1400" spc="-195">
                <a:latin typeface="微软雅黑"/>
                <a:cs typeface="微软雅黑"/>
              </a:rPr>
              <a:t> </a:t>
            </a:r>
            <a:r>
              <a:rPr dirty="0" sz="1400" spc="-380">
                <a:latin typeface="微软雅黑"/>
                <a:cs typeface="微软雅黑"/>
              </a:rPr>
              <a:t>NM </a:t>
            </a:r>
            <a:r>
              <a:rPr dirty="0" sz="1400" spc="-155">
                <a:latin typeface="微软雅黑"/>
                <a:cs typeface="微软雅黑"/>
              </a:rPr>
              <a:t> </a:t>
            </a:r>
            <a:r>
              <a:rPr dirty="0" sz="1400" spc="-235">
                <a:latin typeface="微软雅黑"/>
                <a:cs typeface="微软雅黑"/>
              </a:rPr>
              <a:t>5MFNPLARINM  </a:t>
            </a:r>
            <a:r>
              <a:rPr dirty="0" sz="1400" spc="-300">
                <a:latin typeface="微软雅黑"/>
                <a:cs typeface="微软雅黑"/>
              </a:rPr>
              <a:t>AMD    </a:t>
            </a:r>
            <a:r>
              <a:rPr dirty="0" sz="1400" spc="-160">
                <a:latin typeface="微软雅黑"/>
                <a:cs typeface="微软雅黑"/>
              </a:rPr>
              <a:t>7MNUKEDGE  </a:t>
            </a:r>
            <a:r>
              <a:rPr dirty="0" sz="1400" spc="-80">
                <a:latin typeface="微软雅黑"/>
                <a:cs typeface="微软雅黑"/>
              </a:rPr>
              <a:t>9AMAGELEMR </a:t>
            </a:r>
            <a:r>
              <a:rPr dirty="0" sz="1400" spc="30">
                <a:latin typeface="微软雅黑"/>
                <a:cs typeface="微软雅黑"/>
              </a:rPr>
              <a:t>(C579 </a:t>
            </a:r>
            <a:r>
              <a:rPr dirty="0" sz="1400">
                <a:latin typeface="微软雅黑"/>
                <a:cs typeface="微软雅黑"/>
              </a:rPr>
              <a:t>,</a:t>
            </a:r>
            <a:r>
              <a:rPr dirty="0" sz="1400" spc="-30">
                <a:latin typeface="微软雅黑"/>
                <a:cs typeface="微软雅黑"/>
              </a:rPr>
              <a:t> </a:t>
            </a:r>
            <a:r>
              <a:rPr dirty="0" sz="1400" spc="65">
                <a:latin typeface="微软雅黑"/>
                <a:cs typeface="微软雅黑"/>
              </a:rPr>
              <a:t>201).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354965" algn="l"/>
              </a:tabLst>
            </a:pPr>
            <a:r>
              <a:rPr dirty="0" sz="1400" spc="175">
                <a:latin typeface="微软雅黑"/>
                <a:cs typeface="微软雅黑"/>
              </a:rPr>
              <a:t>).	</a:t>
            </a:r>
            <a:r>
              <a:rPr dirty="0" sz="1400" spc="-120">
                <a:latin typeface="微软雅黑"/>
                <a:cs typeface="微软雅黑"/>
              </a:rPr>
              <a:t>4EREPNGEMENSs  </a:t>
            </a:r>
            <a:r>
              <a:rPr dirty="0" sz="1400" spc="-55">
                <a:latin typeface="微软雅黑"/>
                <a:cs typeface="微软雅黑"/>
              </a:rPr>
              <a:t>1LBEDDIMG </a:t>
            </a:r>
            <a:r>
              <a:rPr dirty="0" sz="1400" spc="-220">
                <a:latin typeface="微软雅黑"/>
                <a:cs typeface="微软雅黑"/>
              </a:rPr>
              <a:t>PPNpAGARINM  </a:t>
            </a:r>
            <a:r>
              <a:rPr dirty="0" sz="1400" spc="-280">
                <a:latin typeface="微软雅黑"/>
                <a:cs typeface="微软雅黑"/>
              </a:rPr>
              <a:t>FNP   </a:t>
            </a:r>
            <a:r>
              <a:rPr dirty="0" sz="1400" spc="-160">
                <a:latin typeface="微软雅黑"/>
                <a:cs typeface="微软雅黑"/>
              </a:rPr>
              <a:t>8APGE-sCAKE</a:t>
            </a:r>
            <a:r>
              <a:rPr dirty="0" sz="1400" spc="50">
                <a:latin typeface="微软雅黑"/>
                <a:cs typeface="微软雅黑"/>
              </a:rPr>
              <a:t> </a:t>
            </a:r>
            <a:r>
              <a:rPr dirty="0" sz="1400" spc="-30">
                <a:latin typeface="微软雅黑"/>
                <a:cs typeface="微软雅黑"/>
              </a:rPr>
              <a:t>1-</a:t>
            </a:r>
            <a:endParaRPr sz="14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595"/>
              </a:spcBef>
            </a:pPr>
            <a:r>
              <a:rPr dirty="0" sz="1400" spc="50">
                <a:latin typeface="微软雅黑"/>
                <a:cs typeface="微软雅黑"/>
              </a:rPr>
              <a:t>CNLLEPCE </a:t>
            </a:r>
            <a:r>
              <a:rPr dirty="0" sz="1400" spc="10">
                <a:latin typeface="微软雅黑"/>
                <a:cs typeface="微软雅黑"/>
              </a:rPr>
              <a:t>?sEP </a:t>
            </a:r>
            <a:r>
              <a:rPr dirty="0" sz="1400" spc="-114">
                <a:latin typeface="微软雅黑"/>
                <a:cs typeface="微软雅黑"/>
              </a:rPr>
              <a:t>-KIGMLEMR,   </a:t>
            </a:r>
            <a:r>
              <a:rPr dirty="0" sz="1400" spc="80">
                <a:latin typeface="微软雅黑"/>
                <a:cs typeface="微软雅黑"/>
              </a:rPr>
              <a:t>201) </a:t>
            </a:r>
            <a:r>
              <a:rPr dirty="0" sz="1400" spc="-145">
                <a:latin typeface="微软雅黑"/>
                <a:cs typeface="微软雅黑"/>
              </a:rPr>
              <a:t>5111  </a:t>
            </a:r>
            <a:r>
              <a:rPr dirty="0" sz="1400" spc="-330">
                <a:latin typeface="微软雅黑"/>
                <a:cs typeface="微软雅黑"/>
              </a:rPr>
              <a:t>5MREPMARINMAK          </a:t>
            </a:r>
            <a:r>
              <a:rPr dirty="0" sz="1400" spc="-204">
                <a:latin typeface="微软雅黑"/>
                <a:cs typeface="微软雅黑"/>
              </a:rPr>
              <a:t>CNMFEPEMCE  </a:t>
            </a:r>
            <a:r>
              <a:rPr dirty="0" sz="1400" spc="-380">
                <a:latin typeface="微软雅黑"/>
                <a:cs typeface="微软雅黑"/>
              </a:rPr>
              <a:t>NM            </a:t>
            </a:r>
            <a:r>
              <a:rPr dirty="0" sz="1400" spc="-145">
                <a:latin typeface="微软雅黑"/>
                <a:cs typeface="微软雅黑"/>
              </a:rPr>
              <a:t>0ARA  </a:t>
            </a:r>
            <a:r>
              <a:rPr dirty="0" sz="1400" spc="-120">
                <a:latin typeface="微软雅黑"/>
                <a:cs typeface="微软雅黑"/>
              </a:rPr>
              <a:t>9IMIMG </a:t>
            </a:r>
            <a:r>
              <a:rPr dirty="0" sz="1400" spc="15">
                <a:latin typeface="微软雅黑"/>
                <a:cs typeface="微软雅黑"/>
              </a:rPr>
              <a:t>(5C09 </a:t>
            </a:r>
            <a:r>
              <a:rPr dirty="0" sz="1400" spc="125">
                <a:latin typeface="微软雅黑"/>
                <a:cs typeface="微软雅黑"/>
              </a:rPr>
              <a:t>,</a:t>
            </a:r>
            <a:r>
              <a:rPr dirty="0" sz="1400" spc="-130">
                <a:latin typeface="微软雅黑"/>
                <a:cs typeface="微软雅黑"/>
              </a:rPr>
              <a:t> </a:t>
            </a:r>
            <a:r>
              <a:rPr dirty="0" sz="1400" spc="80">
                <a:latin typeface="微软雅黑"/>
                <a:cs typeface="微软雅黑"/>
              </a:rPr>
              <a:t>201)</a:t>
            </a:r>
            <a:endParaRPr sz="1400">
              <a:latin typeface="微软雅黑"/>
              <a:cs typeface="微软雅黑"/>
            </a:endParaRPr>
          </a:p>
          <a:p>
            <a:pPr marL="355600" marR="739775" indent="-342900">
              <a:lnSpc>
                <a:spcPct val="137100"/>
              </a:lnSpc>
              <a:spcBef>
                <a:spcPts val="90"/>
              </a:spcBef>
              <a:buAutoNum type="arabicPeriod" startAt="9"/>
              <a:tabLst>
                <a:tab pos="354965" algn="l"/>
                <a:tab pos="355600" algn="l"/>
              </a:tabLst>
            </a:pPr>
            <a:r>
              <a:rPr dirty="0" sz="1400" spc="-270">
                <a:latin typeface="微软雅黑"/>
                <a:cs typeface="微软雅黑"/>
              </a:rPr>
              <a:t>8NCAK </a:t>
            </a:r>
            <a:r>
              <a:rPr dirty="0" sz="1400" spc="-105">
                <a:latin typeface="微软雅黑"/>
                <a:cs typeface="微软雅黑"/>
              </a:rPr>
              <a:t>-KGNPIRHL </a:t>
            </a:r>
            <a:r>
              <a:rPr dirty="0" sz="1400" spc="-280">
                <a:latin typeface="微软雅黑"/>
                <a:cs typeface="微软雅黑"/>
              </a:rPr>
              <a:t>FNP </a:t>
            </a:r>
            <a:r>
              <a:rPr dirty="0" sz="1400" spc="10">
                <a:latin typeface="微软雅黑"/>
                <a:cs typeface="微软雅黑"/>
              </a:rPr>
              <a:t>?sEP </a:t>
            </a:r>
            <a:r>
              <a:rPr dirty="0" sz="1400" spc="-175">
                <a:latin typeface="微软雅黑"/>
                <a:cs typeface="微软雅黑"/>
              </a:rPr>
              <a:t>-CRINM </a:t>
            </a:r>
            <a:r>
              <a:rPr dirty="0" sz="1400" spc="-200">
                <a:latin typeface="微软雅黑"/>
                <a:cs typeface="微软雅黑"/>
              </a:rPr>
              <a:t>PPEDICRINM </a:t>
            </a:r>
            <a:r>
              <a:rPr dirty="0" sz="1400" spc="-160">
                <a:latin typeface="微软雅黑"/>
                <a:cs typeface="微软雅黑"/>
              </a:rPr>
              <a:t>TNUAPDs </a:t>
            </a:r>
            <a:r>
              <a:rPr dirty="0" sz="1400" spc="-175">
                <a:latin typeface="微软雅黑"/>
                <a:cs typeface="微软雅黑"/>
              </a:rPr>
              <a:t>0IspKAW </a:t>
            </a:r>
            <a:r>
              <a:rPr dirty="0" sz="1400" spc="50">
                <a:latin typeface="微软雅黑"/>
                <a:cs typeface="微软雅黑"/>
              </a:rPr>
              <a:t>-Ds. </a:t>
            </a:r>
            <a:r>
              <a:rPr dirty="0" sz="1400" spc="-130">
                <a:latin typeface="微软雅黑"/>
                <a:cs typeface="微软雅黑"/>
              </a:rPr>
              <a:t>23PD </a:t>
            </a:r>
            <a:r>
              <a:rPr dirty="0" sz="1400" spc="300">
                <a:latin typeface="微软雅黑"/>
                <a:cs typeface="微软雅黑"/>
              </a:rPr>
              <a:t>-C9 </a:t>
            </a:r>
            <a:r>
              <a:rPr dirty="0" sz="1400" spc="50">
                <a:latin typeface="微软雅黑"/>
                <a:cs typeface="微软雅黑"/>
              </a:rPr>
              <a:t>S53700 </a:t>
            </a:r>
            <a:r>
              <a:rPr dirty="0" sz="1400" spc="-204">
                <a:latin typeface="微软雅黑"/>
                <a:cs typeface="微软雅黑"/>
              </a:rPr>
              <a:t>CNMFEPEMCE </a:t>
            </a:r>
            <a:r>
              <a:rPr dirty="0" sz="1400" spc="-380">
                <a:latin typeface="微软雅黑"/>
                <a:cs typeface="微软雅黑"/>
              </a:rPr>
              <a:t>NM </a:t>
            </a:r>
            <a:r>
              <a:rPr dirty="0" sz="1400" spc="-160">
                <a:latin typeface="微软雅黑"/>
                <a:cs typeface="微软雅黑"/>
              </a:rPr>
              <a:t>7MNUKEDGE  </a:t>
            </a:r>
            <a:r>
              <a:rPr dirty="0" sz="1400" spc="-145">
                <a:latin typeface="微软雅黑"/>
                <a:cs typeface="微软雅黑"/>
              </a:rPr>
              <a:t>0IsCNTEPW </a:t>
            </a:r>
            <a:r>
              <a:rPr dirty="0" sz="1400" spc="-300">
                <a:latin typeface="微软雅黑"/>
                <a:cs typeface="微软雅黑"/>
              </a:rPr>
              <a:t>AMD    </a:t>
            </a:r>
            <a:r>
              <a:rPr dirty="0" sz="1400" spc="-145">
                <a:latin typeface="微软雅黑"/>
                <a:cs typeface="微软雅黑"/>
              </a:rPr>
              <a:t>0ARA  </a:t>
            </a:r>
            <a:r>
              <a:rPr dirty="0" sz="1400" spc="-120">
                <a:latin typeface="微软雅黑"/>
                <a:cs typeface="微软雅黑"/>
              </a:rPr>
              <a:t>9IMIMG </a:t>
            </a:r>
            <a:r>
              <a:rPr dirty="0" sz="1400" spc="125" b="1">
                <a:solidFill>
                  <a:srgbClr val="800000"/>
                </a:solidFill>
                <a:latin typeface="微软雅黑"/>
                <a:cs typeface="微软雅黑"/>
              </a:rPr>
              <a:t>((DD </a:t>
            </a:r>
            <a:r>
              <a:rPr dirty="0" sz="1400" spc="10" b="1">
                <a:solidFill>
                  <a:srgbClr val="800000"/>
                </a:solidFill>
                <a:latin typeface="微软雅黑"/>
                <a:cs typeface="微软雅黑"/>
              </a:rPr>
              <a:t>,</a:t>
            </a:r>
            <a:r>
              <a:rPr dirty="0" sz="1400" spc="-50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2017</a:t>
            </a:r>
            <a:r>
              <a:rPr dirty="0" sz="1400" spc="-5">
                <a:latin typeface="微软雅黑"/>
                <a:cs typeface="微软雅黑"/>
              </a:rPr>
              <a:t>.</a:t>
            </a:r>
            <a:endParaRPr sz="1400">
              <a:latin typeface="微软雅黑"/>
              <a:cs typeface="微软雅黑"/>
            </a:endParaRPr>
          </a:p>
          <a:p>
            <a:pPr marL="355600" marR="5080" indent="-342900">
              <a:lnSpc>
                <a:spcPct val="137100"/>
              </a:lnSpc>
              <a:spcBef>
                <a:spcPts val="90"/>
              </a:spcBef>
              <a:buAutoNum type="arabicPeriod" startAt="9"/>
              <a:tabLst>
                <a:tab pos="355600" algn="l"/>
              </a:tabLst>
            </a:pPr>
            <a:r>
              <a:rPr dirty="0" sz="1400" spc="-160">
                <a:latin typeface="微软雅黑"/>
                <a:cs typeface="微软雅黑"/>
              </a:rPr>
              <a:t>4WBPID </a:t>
            </a:r>
            <a:r>
              <a:rPr dirty="0" sz="1400" spc="-35">
                <a:latin typeface="微软雅黑"/>
                <a:cs typeface="微软雅黑"/>
              </a:rPr>
              <a:t>2PALEUNPJ </a:t>
            </a:r>
            <a:r>
              <a:rPr dirty="0" sz="1400" spc="-280">
                <a:latin typeface="微软雅黑"/>
                <a:cs typeface="微软雅黑"/>
              </a:rPr>
              <a:t>FNP </a:t>
            </a:r>
            <a:r>
              <a:rPr dirty="0" sz="1400" spc="-135">
                <a:latin typeface="微软雅黑"/>
                <a:cs typeface="微软雅黑"/>
              </a:rPr>
              <a:t>TExR 9NDEKIMG </a:t>
            </a:r>
            <a:r>
              <a:rPr dirty="0" sz="1400" spc="-155">
                <a:latin typeface="微软雅黑"/>
                <a:cs typeface="微软雅黑"/>
              </a:rPr>
              <a:t>UIRH </a:t>
            </a:r>
            <a:r>
              <a:rPr dirty="0" sz="1400" spc="-270">
                <a:latin typeface="微软雅黑"/>
                <a:cs typeface="微软雅黑"/>
              </a:rPr>
              <a:t>CNMTNKSRINMAK </a:t>
            </a:r>
            <a:r>
              <a:rPr dirty="0" sz="1400" spc="390">
                <a:latin typeface="微软雅黑"/>
                <a:cs typeface="微软雅黑"/>
              </a:rPr>
              <a:t>R::. </a:t>
            </a:r>
            <a:r>
              <a:rPr dirty="0" sz="1400" spc="-130">
                <a:latin typeface="微软雅黑"/>
                <a:cs typeface="微软雅黑"/>
              </a:rPr>
              <a:t>23PD </a:t>
            </a:r>
            <a:r>
              <a:rPr dirty="0" sz="1400" spc="300">
                <a:latin typeface="微软雅黑"/>
                <a:cs typeface="微软雅黑"/>
              </a:rPr>
              <a:t>-C9 </a:t>
            </a:r>
            <a:r>
              <a:rPr dirty="0" sz="1400" spc="50">
                <a:latin typeface="微软雅黑"/>
                <a:cs typeface="微软雅黑"/>
              </a:rPr>
              <a:t>S53700 </a:t>
            </a:r>
            <a:r>
              <a:rPr dirty="0" sz="1400" spc="-204">
                <a:latin typeface="微软雅黑"/>
                <a:cs typeface="微软雅黑"/>
              </a:rPr>
              <a:t>CNMFEPEMCE </a:t>
            </a:r>
            <a:r>
              <a:rPr dirty="0" sz="1400" spc="-380">
                <a:latin typeface="微软雅黑"/>
                <a:cs typeface="微软雅黑"/>
              </a:rPr>
              <a:t>NM </a:t>
            </a:r>
            <a:r>
              <a:rPr dirty="0" sz="1400" spc="-160">
                <a:latin typeface="微软雅黑"/>
                <a:cs typeface="微软雅黑"/>
              </a:rPr>
              <a:t>7MNUKEDGE </a:t>
            </a:r>
            <a:r>
              <a:rPr dirty="0" sz="1400" spc="-145">
                <a:latin typeface="微软雅黑"/>
                <a:cs typeface="微软雅黑"/>
              </a:rPr>
              <a:t>0IsCNTEPW  </a:t>
            </a:r>
            <a:r>
              <a:rPr dirty="0" sz="1400" spc="-300">
                <a:latin typeface="微软雅黑"/>
                <a:cs typeface="微软雅黑"/>
              </a:rPr>
              <a:t>AMD    </a:t>
            </a:r>
            <a:r>
              <a:rPr dirty="0" sz="1400" spc="-145">
                <a:latin typeface="微软雅黑"/>
                <a:cs typeface="微软雅黑"/>
              </a:rPr>
              <a:t>0ARA  </a:t>
            </a:r>
            <a:r>
              <a:rPr dirty="0" sz="1400" spc="-120">
                <a:latin typeface="微软雅黑"/>
                <a:cs typeface="微软雅黑"/>
              </a:rPr>
              <a:t>9IMIMG </a:t>
            </a:r>
            <a:r>
              <a:rPr dirty="0" sz="1400" spc="125" b="1">
                <a:solidFill>
                  <a:srgbClr val="800000"/>
                </a:solidFill>
                <a:latin typeface="微软雅黑"/>
                <a:cs typeface="微软雅黑"/>
              </a:rPr>
              <a:t>((DD </a:t>
            </a:r>
            <a:r>
              <a:rPr dirty="0" sz="1400" spc="10" b="1">
                <a:solidFill>
                  <a:srgbClr val="800000"/>
                </a:solidFill>
                <a:latin typeface="微软雅黑"/>
                <a:cs typeface="微软雅黑"/>
              </a:rPr>
              <a:t>,</a:t>
            </a:r>
            <a:r>
              <a:rPr dirty="0" sz="1400" spc="-200" b="1">
                <a:solidFill>
                  <a:srgbClr val="800000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800000"/>
                </a:solidFill>
                <a:latin typeface="微软雅黑"/>
                <a:cs typeface="微软雅黑"/>
              </a:rPr>
              <a:t>2017</a:t>
            </a:r>
            <a:r>
              <a:rPr dirty="0" sz="1400" spc="-5">
                <a:latin typeface="微软雅黑"/>
                <a:cs typeface="微软雅黑"/>
              </a:rPr>
              <a:t>.</a:t>
            </a:r>
            <a:endParaRPr sz="1400">
              <a:latin typeface="微软雅黑"/>
              <a:cs typeface="微软雅黑"/>
            </a:endParaRPr>
          </a:p>
          <a:p>
            <a:pPr marL="355600" marR="182245" indent="-342900">
              <a:lnSpc>
                <a:spcPct val="137100"/>
              </a:lnSpc>
              <a:spcBef>
                <a:spcPts val="90"/>
              </a:spcBef>
              <a:buAutoNum type="arabicPeriod" startAt="9"/>
              <a:tabLst>
                <a:tab pos="355600" algn="l"/>
              </a:tabLst>
            </a:pPr>
            <a:r>
              <a:rPr dirty="0" sz="1400" spc="-140">
                <a:latin typeface="微软雅黑"/>
                <a:cs typeface="微软雅黑"/>
              </a:rPr>
              <a:t>.AWEsIAM </a:t>
            </a:r>
            <a:r>
              <a:rPr dirty="0" sz="1400" spc="-130">
                <a:latin typeface="微软雅黑"/>
                <a:cs typeface="微软雅黑"/>
              </a:rPr>
              <a:t>4EREPNsCEDAsRIC </a:t>
            </a:r>
            <a:r>
              <a:rPr dirty="0" sz="1400" spc="-75">
                <a:latin typeface="微软雅黑"/>
                <a:cs typeface="微软雅黑"/>
              </a:rPr>
              <a:t>9ARPIx </a:t>
            </a:r>
            <a:r>
              <a:rPr dirty="0" sz="1400" spc="-235">
                <a:latin typeface="微软雅黑"/>
                <a:cs typeface="微软雅黑"/>
              </a:rPr>
              <a:t>2ACRNPIzARINM </a:t>
            </a:r>
            <a:r>
              <a:rPr dirty="0" sz="1400" spc="-280">
                <a:latin typeface="微软雅黑"/>
                <a:cs typeface="微软雅黑"/>
              </a:rPr>
              <a:t>FNP </a:t>
            </a:r>
            <a:r>
              <a:rPr dirty="0" sz="1400" spc="-195">
                <a:latin typeface="微软雅黑"/>
                <a:cs typeface="微软雅黑"/>
              </a:rPr>
              <a:t>CNMTEPsINM </a:t>
            </a:r>
            <a:r>
              <a:rPr dirty="0" sz="1400" spc="-150">
                <a:latin typeface="微软雅黑"/>
                <a:cs typeface="微软雅黑"/>
              </a:rPr>
              <a:t>RARE </a:t>
            </a:r>
            <a:r>
              <a:rPr dirty="0" sz="1400" spc="-180">
                <a:latin typeface="微软雅黑"/>
                <a:cs typeface="微软雅黑"/>
              </a:rPr>
              <a:t>PPEDICRINM. </a:t>
            </a:r>
            <a:r>
              <a:rPr dirty="0" sz="1400" spc="-155">
                <a:latin typeface="微软雅黑"/>
                <a:cs typeface="微软雅黑"/>
              </a:rPr>
              <a:t>26RH </a:t>
            </a:r>
            <a:r>
              <a:rPr dirty="0" sz="1400" spc="300">
                <a:latin typeface="微软雅黑"/>
                <a:cs typeface="微软雅黑"/>
              </a:rPr>
              <a:t>-C9 </a:t>
            </a:r>
            <a:r>
              <a:rPr dirty="0" sz="1400" spc="-330">
                <a:latin typeface="微软雅黑"/>
                <a:cs typeface="微软雅黑"/>
              </a:rPr>
              <a:t>5MREPMARINMAK </a:t>
            </a:r>
            <a:r>
              <a:rPr dirty="0" sz="1400" spc="-204">
                <a:latin typeface="微软雅黑"/>
                <a:cs typeface="微软雅黑"/>
              </a:rPr>
              <a:t>CNMFEPEMCE </a:t>
            </a:r>
            <a:r>
              <a:rPr dirty="0" sz="1400" spc="-380">
                <a:latin typeface="微软雅黑"/>
                <a:cs typeface="微软雅黑"/>
              </a:rPr>
              <a:t>NM  </a:t>
            </a:r>
            <a:r>
              <a:rPr dirty="0" sz="1400" spc="-235">
                <a:latin typeface="微软雅黑"/>
                <a:cs typeface="微软雅黑"/>
              </a:rPr>
              <a:t>5MFNPLARINM  </a:t>
            </a:r>
            <a:r>
              <a:rPr dirty="0" sz="1400" spc="-300">
                <a:latin typeface="微软雅黑"/>
                <a:cs typeface="微软雅黑"/>
              </a:rPr>
              <a:t>AMD    </a:t>
            </a:r>
            <a:r>
              <a:rPr dirty="0" sz="1400" spc="-160">
                <a:latin typeface="微软雅黑"/>
                <a:cs typeface="微软雅黑"/>
              </a:rPr>
              <a:t>7MNUKEDGE  </a:t>
            </a:r>
            <a:r>
              <a:rPr dirty="0" sz="1400" spc="-80">
                <a:latin typeface="微软雅黑"/>
                <a:cs typeface="微软雅黑"/>
              </a:rPr>
              <a:t>9AMAGELEMR </a:t>
            </a:r>
            <a:r>
              <a:rPr dirty="0" sz="1400" spc="30">
                <a:latin typeface="微软雅黑"/>
                <a:cs typeface="微软雅黑"/>
              </a:rPr>
              <a:t>(C579 </a:t>
            </a:r>
            <a:r>
              <a:rPr dirty="0" sz="1400">
                <a:latin typeface="微软雅黑"/>
                <a:cs typeface="微软雅黑"/>
              </a:rPr>
              <a:t>,</a:t>
            </a:r>
            <a:r>
              <a:rPr dirty="0" sz="1400" spc="-30">
                <a:latin typeface="微软雅黑"/>
                <a:cs typeface="微软雅黑"/>
              </a:rPr>
              <a:t> </a:t>
            </a:r>
            <a:r>
              <a:rPr dirty="0" sz="1400" spc="65">
                <a:latin typeface="微软雅黑"/>
                <a:cs typeface="微软雅黑"/>
              </a:rPr>
              <a:t>201(.</a:t>
            </a:r>
            <a:endParaRPr sz="1400">
              <a:latin typeface="微软雅黑"/>
              <a:cs typeface="微软雅黑"/>
            </a:endParaRPr>
          </a:p>
          <a:p>
            <a:pPr marL="355600" marR="23495" indent="-342900">
              <a:lnSpc>
                <a:spcPct val="137100"/>
              </a:lnSpc>
              <a:spcBef>
                <a:spcPts val="90"/>
              </a:spcBef>
              <a:buAutoNum type="arabicPeriod" startAt="9"/>
              <a:tabLst>
                <a:tab pos="355600" algn="l"/>
              </a:tabLst>
            </a:pPr>
            <a:r>
              <a:rPr dirty="0" sz="1400" spc="-270">
                <a:latin typeface="微软雅黑"/>
                <a:cs typeface="微软雅黑"/>
              </a:rPr>
              <a:t>WIKK </a:t>
            </a:r>
            <a:r>
              <a:rPr dirty="0" sz="1400" spc="-165">
                <a:latin typeface="微软雅黑"/>
                <a:cs typeface="微软雅黑"/>
              </a:rPr>
              <a:t>TPIADIC </a:t>
            </a:r>
            <a:r>
              <a:rPr dirty="0" sz="1400" spc="-150">
                <a:latin typeface="微软雅黑"/>
                <a:cs typeface="微软雅黑"/>
              </a:rPr>
              <a:t>CKNsSPE </a:t>
            </a:r>
            <a:r>
              <a:rPr dirty="0" sz="1400" spc="-254">
                <a:latin typeface="微软雅黑"/>
                <a:cs typeface="微软雅黑"/>
              </a:rPr>
              <a:t>SRPEMGRHEM </a:t>
            </a:r>
            <a:r>
              <a:rPr dirty="0" sz="1400" spc="-5">
                <a:latin typeface="微软雅黑"/>
                <a:cs typeface="微软雅黑"/>
              </a:rPr>
              <a:t>TIEs </a:t>
            </a:r>
            <a:r>
              <a:rPr dirty="0" sz="1400" spc="-275">
                <a:latin typeface="微软雅黑"/>
                <a:cs typeface="微软雅黑"/>
              </a:rPr>
              <a:t>IM </a:t>
            </a:r>
            <a:r>
              <a:rPr dirty="0" sz="1400" spc="-210">
                <a:latin typeface="微软雅黑"/>
                <a:cs typeface="微软雅黑"/>
              </a:rPr>
              <a:t>SNCIAK </a:t>
            </a:r>
            <a:r>
              <a:rPr dirty="0" sz="1400" spc="35">
                <a:latin typeface="微软雅黑"/>
                <a:cs typeface="微软雅黑"/>
              </a:rPr>
              <a:t>:ERUNPJs,, </a:t>
            </a:r>
            <a:r>
              <a:rPr dirty="0" sz="1400" spc="300">
                <a:latin typeface="微软雅黑"/>
                <a:cs typeface="微软雅黑"/>
              </a:rPr>
              <a:t>-C9 </a:t>
            </a:r>
            <a:r>
              <a:rPr dirty="0" sz="1400" spc="-240">
                <a:latin typeface="微软雅黑"/>
                <a:cs typeface="微软雅黑"/>
              </a:rPr>
              <a:t>TPAMsACRINMs </a:t>
            </a:r>
            <a:r>
              <a:rPr dirty="0" sz="1400" spc="-380">
                <a:latin typeface="微软雅黑"/>
                <a:cs typeface="微软雅黑"/>
              </a:rPr>
              <a:t>NM </a:t>
            </a:r>
            <a:r>
              <a:rPr dirty="0" sz="1400" spc="-160">
                <a:latin typeface="微软雅黑"/>
                <a:cs typeface="微软雅黑"/>
              </a:rPr>
              <a:t>7MNUKEDGE </a:t>
            </a:r>
            <a:r>
              <a:rPr dirty="0" sz="1400" spc="-145">
                <a:latin typeface="微软雅黑"/>
                <a:cs typeface="微软雅黑"/>
              </a:rPr>
              <a:t>0IsCNTEPW </a:t>
            </a:r>
            <a:r>
              <a:rPr dirty="0" sz="1400" spc="-70">
                <a:latin typeface="微软雅黑"/>
                <a:cs typeface="微软雅黑"/>
              </a:rPr>
              <a:t>FPNL </a:t>
            </a:r>
            <a:r>
              <a:rPr dirty="0" sz="1400" spc="-145">
                <a:latin typeface="微软雅黑"/>
                <a:cs typeface="微软雅黑"/>
              </a:rPr>
              <a:t>0ARA </a:t>
            </a:r>
            <a:r>
              <a:rPr dirty="0" sz="1400" spc="100">
                <a:latin typeface="微软雅黑"/>
                <a:cs typeface="微软雅黑"/>
              </a:rPr>
              <a:t>(T700 </a:t>
            </a:r>
            <a:r>
              <a:rPr dirty="0" sz="1400">
                <a:latin typeface="微软雅黑"/>
                <a:cs typeface="微软雅黑"/>
              </a:rPr>
              <a:t>,  </a:t>
            </a:r>
            <a:r>
              <a:rPr dirty="0" sz="1400" spc="65">
                <a:latin typeface="微软雅黑"/>
                <a:cs typeface="微软雅黑"/>
              </a:rPr>
              <a:t>201(.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67964" y="4127500"/>
            <a:ext cx="69056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Part   </a:t>
            </a:r>
            <a:r>
              <a:rPr dirty="0" sz="2800" spc="465">
                <a:latin typeface="微软雅黑"/>
                <a:cs typeface="微软雅黑"/>
              </a:rPr>
              <a:t>:PAI </a:t>
            </a:r>
            <a:r>
              <a:rPr dirty="0" sz="2800">
                <a:latin typeface="微软雅黑"/>
                <a:cs typeface="微软雅黑"/>
              </a:rPr>
              <a:t>- </a:t>
            </a:r>
            <a:r>
              <a:rPr dirty="0" sz="2800" spc="-5">
                <a:latin typeface="微软雅黑"/>
                <a:cs typeface="微软雅黑"/>
              </a:rPr>
              <a:t>AliGraph Algorithm</a:t>
            </a:r>
            <a:r>
              <a:rPr dirty="0" sz="2800" spc="-459">
                <a:latin typeface="微软雅黑"/>
                <a:cs typeface="微软雅黑"/>
              </a:rPr>
              <a:t> </a:t>
            </a:r>
            <a:r>
              <a:rPr dirty="0" sz="2800" spc="-10">
                <a:latin typeface="微软雅黑"/>
                <a:cs typeface="微软雅黑"/>
              </a:rPr>
              <a:t>Sy-tem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2753" y="389636"/>
            <a:ext cx="70973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" b="1">
                <a:solidFill>
                  <a:srgbClr val="000000"/>
                </a:solidFill>
                <a:latin typeface="微软雅黑"/>
                <a:cs typeface="微软雅黑"/>
              </a:rPr>
              <a:t>PA </a:t>
            </a:r>
            <a:r>
              <a:rPr dirty="0" sz="2400" spc="200" b="1">
                <a:solidFill>
                  <a:srgbClr val="000000"/>
                </a:solidFill>
                <a:latin typeface="微软雅黑"/>
                <a:cs typeface="微软雅黑"/>
              </a:rPr>
              <a:t>:Alibaba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Machine Learning Platform </a:t>
            </a:r>
            <a:r>
              <a:rPr dirty="0" sz="2400" spc="-25" b="1">
                <a:solidFill>
                  <a:srgbClr val="000000"/>
                </a:solidFill>
                <a:latin typeface="微软雅黑"/>
                <a:cs typeface="微软雅黑"/>
              </a:rPr>
              <a:t>of</a:t>
            </a:r>
            <a:r>
              <a:rPr dirty="0" sz="2400" spc="-4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A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1377696"/>
            <a:ext cx="10893552" cy="50627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88095" y="5050535"/>
            <a:ext cx="3191255" cy="14020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4003" y="438404"/>
            <a:ext cx="25158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85" b="1">
                <a:solidFill>
                  <a:srgbClr val="000000"/>
                </a:solidFill>
                <a:latin typeface="微软雅黑"/>
                <a:cs typeface="微软雅黑"/>
              </a:rPr>
              <a:t>PA 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Architecture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0985" y="1056904"/>
            <a:ext cx="11129958" cy="52317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403385" y="6488684"/>
            <a:ext cx="54502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https:/</a:t>
            </a:r>
            <a:r>
              <a:rPr dirty="0" sz="1800" spc="-10">
                <a:latin typeface="Calibri"/>
                <a:cs typeface="Calibri"/>
                <a:hlinkClick r:id="rId3"/>
              </a:rPr>
              <a:t>/www.alibabacloud.com/product/machine-learning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54857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75" b="1">
                <a:solidFill>
                  <a:srgbClr val="000000"/>
                </a:solidFill>
                <a:latin typeface="微软雅黑"/>
                <a:cs typeface="微软雅黑"/>
              </a:rPr>
              <a:t>P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I-  liGraph  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lgori-hm</a:t>
            </a:r>
            <a:r>
              <a:rPr dirty="0" sz="2400" spc="50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Framework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77101" y="1611883"/>
            <a:ext cx="4674870" cy="781685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241300" marR="5080" indent="-228600">
              <a:lnSpc>
                <a:spcPts val="1900"/>
              </a:lnSpc>
              <a:spcBef>
                <a:spcPts val="38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-5">
                <a:latin typeface="微软雅黑"/>
                <a:cs typeface="微软雅黑"/>
              </a:rPr>
              <a:t>usiness needs to </a:t>
            </a:r>
            <a:r>
              <a:rPr dirty="0" sz="1800" spc="5">
                <a:latin typeface="微软雅黑"/>
                <a:cs typeface="微软雅黑"/>
              </a:rPr>
              <a:t>carry </a:t>
            </a:r>
            <a:r>
              <a:rPr dirty="0" sz="1800">
                <a:latin typeface="微软雅黑"/>
                <a:cs typeface="微软雅黑"/>
              </a:rPr>
              <a:t>out </a:t>
            </a:r>
            <a:r>
              <a:rPr dirty="0" sz="1800" spc="-10">
                <a:latin typeface="微软雅黑"/>
                <a:cs typeface="微软雅黑"/>
              </a:rPr>
              <a:t>more </a:t>
            </a:r>
            <a:r>
              <a:rPr dirty="0" sz="1800" spc="-5">
                <a:latin typeface="微软雅黑"/>
                <a:cs typeface="微软雅黑"/>
              </a:rPr>
              <a:t>model  innovations based </a:t>
            </a:r>
            <a:r>
              <a:rPr dirty="0" sz="1800">
                <a:latin typeface="微软雅黑"/>
                <a:cs typeface="微软雅黑"/>
              </a:rPr>
              <a:t>on the </a:t>
            </a:r>
            <a:r>
              <a:rPr dirty="0" sz="1800" spc="-5">
                <a:latin typeface="微软雅黑"/>
                <a:cs typeface="微软雅黑"/>
              </a:rPr>
              <a:t>AliGraph  Algorithm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Framework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77101" y="3873500"/>
            <a:ext cx="3920490" cy="111252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15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-5">
                <a:latin typeface="微软雅黑"/>
                <a:cs typeface="微软雅黑"/>
              </a:rPr>
              <a:t>Need </a:t>
            </a:r>
            <a:r>
              <a:rPr dirty="0" sz="1800" spc="-10">
                <a:latin typeface="微软雅黑"/>
                <a:cs typeface="微软雅黑"/>
              </a:rPr>
              <a:t>more </a:t>
            </a:r>
            <a:r>
              <a:rPr dirty="0" sz="1800" spc="-5">
                <a:latin typeface="微软雅黑"/>
                <a:cs typeface="微软雅黑"/>
              </a:rPr>
              <a:t>flexible programming  framework </a:t>
            </a:r>
            <a:r>
              <a:rPr dirty="0" sz="1800" spc="-10">
                <a:latin typeface="微软雅黑"/>
                <a:cs typeface="微软雅黑"/>
              </a:rPr>
              <a:t>to </a:t>
            </a:r>
            <a:r>
              <a:rPr dirty="0" sz="1800" spc="0">
                <a:latin typeface="微软雅黑"/>
                <a:cs typeface="微软雅黑"/>
              </a:rPr>
              <a:t>support </a:t>
            </a:r>
            <a:r>
              <a:rPr dirty="0" sz="1800" spc="-5">
                <a:latin typeface="微软雅黑"/>
                <a:cs typeface="微软雅黑"/>
              </a:rPr>
              <a:t>algorithm  innovation</a:t>
            </a:r>
            <a:endParaRPr sz="1800">
              <a:latin typeface="微软雅黑"/>
              <a:cs typeface="微软雅黑"/>
            </a:endParaRPr>
          </a:p>
          <a:p>
            <a:pPr lvl="1" marL="698500" indent="-228600">
              <a:lnSpc>
                <a:spcPct val="100000"/>
              </a:lnSpc>
              <a:spcBef>
                <a:spcPts val="830"/>
              </a:spcBef>
              <a:buFont typeface="Wingdings 2"/>
              <a:buChar char=""/>
              <a:tabLst>
                <a:tab pos="697865" algn="l"/>
                <a:tab pos="698500" algn="l"/>
              </a:tabLst>
            </a:pPr>
            <a:r>
              <a:rPr dirty="0" sz="1400" spc="-40">
                <a:latin typeface="微软雅黑"/>
                <a:cs typeface="微软雅黑"/>
              </a:rPr>
              <a:t>PAI</a:t>
            </a:r>
            <a:r>
              <a:rPr dirty="0" sz="1400" spc="-90">
                <a:latin typeface="微软雅黑"/>
                <a:cs typeface="微软雅黑"/>
              </a:rPr>
              <a:t> </a:t>
            </a:r>
            <a:r>
              <a:rPr dirty="0" sz="1400" spc="-15">
                <a:latin typeface="微软雅黑"/>
                <a:cs typeface="微软雅黑"/>
              </a:rPr>
              <a:t>Tensorflow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" y="947927"/>
            <a:ext cx="6672072" cy="3066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1610" y="3841296"/>
            <a:ext cx="6167333" cy="278513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25627"/>
            <a:ext cx="414845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" b="1">
                <a:solidFill>
                  <a:srgbClr val="000000"/>
                </a:solidFill>
                <a:latin typeface="微软雅黑"/>
                <a:cs typeface="微软雅黑"/>
              </a:rPr>
              <a:t>liGraph-S-stem</a:t>
            </a:r>
            <a:r>
              <a:rPr dirty="0" sz="2400" spc="-3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0" b="1">
                <a:solidFill>
                  <a:srgbClr val="000000"/>
                </a:solidFill>
                <a:latin typeface="微软雅黑"/>
                <a:cs typeface="微软雅黑"/>
              </a:rPr>
              <a:t>Overview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350" y="1355852"/>
            <a:ext cx="105689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100">
                <a:latin typeface="微软雅黑"/>
                <a:cs typeface="微软雅黑"/>
              </a:rPr>
              <a:t>Gr'ph </a:t>
            </a:r>
            <a:r>
              <a:rPr dirty="0" sz="1800" spc="75">
                <a:latin typeface="微软雅黑"/>
                <a:cs typeface="微软雅黑"/>
              </a:rPr>
              <a:t>stor'-+    </a:t>
            </a:r>
            <a:r>
              <a:rPr dirty="0" sz="1800" spc="105">
                <a:latin typeface="微软雅黑"/>
                <a:cs typeface="微软雅黑"/>
              </a:rPr>
              <a:t>s'mplin-    </a:t>
            </a:r>
            <a:r>
              <a:rPr dirty="0" sz="1800" spc="25">
                <a:latin typeface="微软雅黑"/>
                <a:cs typeface="微软雅黑"/>
              </a:rPr>
              <a:t>op+r'tor </a:t>
            </a:r>
            <a:r>
              <a:rPr dirty="0" sz="1800" spc="-160">
                <a:latin typeface="微软雅黑"/>
                <a:cs typeface="微软雅黑"/>
              </a:rPr>
              <a:t>n++d </a:t>
            </a:r>
            <a:r>
              <a:rPr dirty="0" sz="1800" spc="-5">
                <a:latin typeface="微软雅黑"/>
                <a:cs typeface="微软雅黑"/>
              </a:rPr>
              <a:t>to </a:t>
            </a:r>
            <a:r>
              <a:rPr dirty="0" sz="1800" spc="-160">
                <a:latin typeface="微软雅黑"/>
                <a:cs typeface="微软雅黑"/>
              </a:rPr>
              <a:t>b+ </a:t>
            </a:r>
            <a:r>
              <a:rPr dirty="0" sz="1800" spc="50">
                <a:latin typeface="微软雅黑"/>
                <a:cs typeface="微软雅黑"/>
              </a:rPr>
              <a:t>ti-htly </a:t>
            </a:r>
            <a:r>
              <a:rPr dirty="0" sz="1800" spc="-45">
                <a:latin typeface="微软雅黑"/>
                <a:cs typeface="微软雅黑"/>
              </a:rPr>
              <a:t>combin+d </a:t>
            </a:r>
            <a:r>
              <a:rPr dirty="0" sz="1800">
                <a:latin typeface="微软雅黑"/>
                <a:cs typeface="微软雅黑"/>
              </a:rPr>
              <a:t>for </a:t>
            </a:r>
            <a:r>
              <a:rPr dirty="0" sz="1800" spc="-160">
                <a:latin typeface="微软雅黑"/>
                <a:cs typeface="微软雅黑"/>
              </a:rPr>
              <a:t>d++p </a:t>
            </a:r>
            <a:r>
              <a:rPr dirty="0" sz="1800" spc="65">
                <a:latin typeface="微软雅黑"/>
                <a:cs typeface="微软雅黑"/>
              </a:rPr>
              <a:t>l+'rnin-</a:t>
            </a:r>
            <a:r>
              <a:rPr dirty="0" sz="1800" spc="300">
                <a:latin typeface="微软雅黑"/>
                <a:cs typeface="微软雅黑"/>
              </a:rPr>
              <a:t> </a:t>
            </a:r>
            <a:r>
              <a:rPr dirty="0" sz="1800" spc="-35">
                <a:latin typeface="微软雅黑"/>
                <a:cs typeface="微软雅黑"/>
              </a:rPr>
              <a:t>to-+th+r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1114" y="2882900"/>
            <a:ext cx="4093845" cy="240601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1300" marR="10795" indent="-228600">
              <a:lnSpc>
                <a:spcPts val="1989"/>
              </a:lnSpc>
              <a:spcBef>
                <a:spcPts val="305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105">
                <a:latin typeface="微软雅黑"/>
                <a:cs typeface="微软雅黑"/>
              </a:rPr>
              <a:t>Ali-r'ph </a:t>
            </a:r>
            <a:r>
              <a:rPr dirty="0" sz="1800" spc="30">
                <a:latin typeface="微软雅黑"/>
                <a:cs typeface="微软雅黑"/>
              </a:rPr>
              <a:t>Al-orithm </a:t>
            </a:r>
            <a:r>
              <a:rPr dirty="0" sz="1800" spc="15">
                <a:latin typeface="微软雅黑"/>
                <a:cs typeface="微软雅黑"/>
              </a:rPr>
              <a:t>Fr'm+work  </a:t>
            </a:r>
            <a:r>
              <a:rPr dirty="0" sz="1800" spc="30">
                <a:latin typeface="微软雅黑"/>
                <a:cs typeface="微软雅黑"/>
              </a:rPr>
              <a:t>b's+d </a:t>
            </a:r>
            <a:r>
              <a:rPr dirty="0" sz="1800">
                <a:latin typeface="微软雅黑"/>
                <a:cs typeface="微软雅黑"/>
              </a:rPr>
              <a:t>on </a:t>
            </a:r>
            <a:r>
              <a:rPr dirty="0" sz="1800" spc="-50">
                <a:latin typeface="微软雅黑"/>
                <a:cs typeface="微软雅黑"/>
              </a:rPr>
              <a:t>PAI-T+nsorflow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75">
                <a:latin typeface="微软雅黑"/>
                <a:cs typeface="微软雅黑"/>
              </a:rPr>
              <a:t>+xt+nsion</a:t>
            </a:r>
            <a:endParaRPr sz="1800">
              <a:latin typeface="微软雅黑"/>
              <a:cs typeface="微软雅黑"/>
            </a:endParaRPr>
          </a:p>
          <a:p>
            <a:pPr lvl="1" marL="698500" marR="214629" indent="-228600">
              <a:lnSpc>
                <a:spcPts val="1900"/>
              </a:lnSpc>
              <a:spcBef>
                <a:spcPts val="980"/>
              </a:spcBef>
              <a:buFont typeface="Wingdings 2"/>
              <a:buChar char=""/>
              <a:tabLst>
                <a:tab pos="697865" algn="l"/>
                <a:tab pos="698500" algn="l"/>
              </a:tabLst>
            </a:pPr>
            <a:r>
              <a:rPr dirty="0" sz="1800" spc="-105">
                <a:latin typeface="微软雅黑"/>
                <a:cs typeface="微软雅黑"/>
              </a:rPr>
              <a:t>Us+ </a:t>
            </a:r>
            <a:r>
              <a:rPr dirty="0" sz="1800" spc="-20">
                <a:latin typeface="微软雅黑"/>
                <a:cs typeface="微软雅黑"/>
              </a:rPr>
              <a:t>TF's </a:t>
            </a:r>
            <a:r>
              <a:rPr dirty="0" sz="1800" spc="-85">
                <a:latin typeface="微软雅黑"/>
                <a:cs typeface="微软雅黑"/>
              </a:rPr>
              <a:t>fl+xibl+ </a:t>
            </a:r>
            <a:r>
              <a:rPr dirty="0" sz="1800" spc="-5">
                <a:latin typeface="微软雅黑"/>
                <a:cs typeface="微软雅黑"/>
              </a:rPr>
              <a:t>composition  </a:t>
            </a:r>
            <a:r>
              <a:rPr dirty="0" sz="1800" spc="-55">
                <a:latin typeface="微软雅黑"/>
                <a:cs typeface="微软雅黑"/>
              </a:rPr>
              <a:t>m+thod</a:t>
            </a:r>
            <a:endParaRPr sz="1800">
              <a:latin typeface="微软雅黑"/>
              <a:cs typeface="微软雅黑"/>
            </a:endParaRPr>
          </a:p>
          <a:p>
            <a:pPr lvl="1" marL="698500" marR="5080" indent="-228600">
              <a:lnSpc>
                <a:spcPts val="1900"/>
              </a:lnSpc>
              <a:spcBef>
                <a:spcPts val="1095"/>
              </a:spcBef>
              <a:buFont typeface="Wingdings 2"/>
              <a:buChar char=""/>
              <a:tabLst>
                <a:tab pos="697865" algn="l"/>
                <a:tab pos="698500" algn="l"/>
              </a:tabLst>
            </a:pPr>
            <a:r>
              <a:rPr dirty="0" sz="1800" spc="-105">
                <a:latin typeface="微软雅黑"/>
                <a:cs typeface="微软雅黑"/>
              </a:rPr>
              <a:t>Us+ </a:t>
            </a:r>
            <a:r>
              <a:rPr dirty="0" sz="1800" spc="-20">
                <a:latin typeface="微软雅黑"/>
                <a:cs typeface="微软雅黑"/>
              </a:rPr>
              <a:t>TF's </a:t>
            </a:r>
            <a:r>
              <a:rPr dirty="0" sz="1800" spc="85">
                <a:latin typeface="微软雅黑"/>
                <a:cs typeface="微软雅黑"/>
              </a:rPr>
              <a:t>-ood </a:t>
            </a:r>
            <a:r>
              <a:rPr dirty="0" sz="1800" spc="0">
                <a:latin typeface="微软雅黑"/>
                <a:cs typeface="微软雅黑"/>
              </a:rPr>
              <a:t>d+si-n </a:t>
            </a:r>
            <a:r>
              <a:rPr dirty="0" sz="1800" spc="-40">
                <a:latin typeface="微软雅黑"/>
                <a:cs typeface="微软雅黑"/>
              </a:rPr>
              <a:t>structur+  </a:t>
            </a:r>
            <a:r>
              <a:rPr dirty="0" sz="1800">
                <a:latin typeface="微软雅黑"/>
                <a:cs typeface="微软雅黑"/>
              </a:rPr>
              <a:t>for </a:t>
            </a:r>
            <a:r>
              <a:rPr dirty="0" sz="1800" spc="-110">
                <a:latin typeface="微软雅黑"/>
                <a:cs typeface="微软雅黑"/>
              </a:rPr>
              <a:t>+ff+ctiv+</a:t>
            </a:r>
            <a:r>
              <a:rPr dirty="0" sz="1800" spc="-50">
                <a:latin typeface="微软雅黑"/>
                <a:cs typeface="微软雅黑"/>
              </a:rPr>
              <a:t> </a:t>
            </a:r>
            <a:r>
              <a:rPr dirty="0" sz="1800" spc="15">
                <a:latin typeface="微软雅黑"/>
                <a:cs typeface="微软雅黑"/>
              </a:rPr>
              <a:t>+xp'nsion</a:t>
            </a:r>
            <a:endParaRPr sz="1800">
              <a:latin typeface="微软雅黑"/>
              <a:cs typeface="微软雅黑"/>
            </a:endParaRPr>
          </a:p>
          <a:p>
            <a:pPr lvl="1" marL="698500" marR="58419" indent="-228600">
              <a:lnSpc>
                <a:spcPts val="1900"/>
              </a:lnSpc>
              <a:spcBef>
                <a:spcPts val="1095"/>
              </a:spcBef>
              <a:buFont typeface="Wingdings 2"/>
              <a:buChar char=""/>
              <a:tabLst>
                <a:tab pos="697865" algn="l"/>
                <a:tab pos="698500" algn="l"/>
              </a:tabLst>
            </a:pPr>
            <a:r>
              <a:rPr dirty="0" sz="1800">
                <a:latin typeface="微软雅黑"/>
                <a:cs typeface="微软雅黑"/>
              </a:rPr>
              <a:t>Most </a:t>
            </a:r>
            <a:r>
              <a:rPr dirty="0" sz="1800" spc="-15">
                <a:latin typeface="微软雅黑"/>
                <a:cs typeface="微软雅黑"/>
              </a:rPr>
              <a:t>of </a:t>
            </a:r>
            <a:r>
              <a:rPr dirty="0" sz="1800" spc="-105">
                <a:latin typeface="微软雅黑"/>
                <a:cs typeface="微软雅黑"/>
              </a:rPr>
              <a:t>th+ </a:t>
            </a:r>
            <a:r>
              <a:rPr dirty="0" sz="1800" spc="0">
                <a:latin typeface="微软雅黑"/>
                <a:cs typeface="微软雅黑"/>
              </a:rPr>
              <a:t>+xistin- </a:t>
            </a:r>
            <a:r>
              <a:rPr dirty="0" sz="1800" spc="90">
                <a:latin typeface="微软雅黑"/>
                <a:cs typeface="微软雅黑"/>
              </a:rPr>
              <a:t>'l-orithm  </a:t>
            </a:r>
            <a:r>
              <a:rPr dirty="0" sz="1800" spc="35">
                <a:latin typeface="微软雅黑"/>
                <a:cs typeface="微软雅黑"/>
              </a:rPr>
              <a:t>innov'tions </a:t>
            </a:r>
            <a:r>
              <a:rPr dirty="0" sz="1800" spc="55">
                <a:latin typeface="微软雅黑"/>
                <a:cs typeface="微软雅黑"/>
              </a:rPr>
              <a:t>'r+ </a:t>
            </a:r>
            <a:r>
              <a:rPr dirty="0" sz="1800" spc="30">
                <a:latin typeface="微软雅黑"/>
                <a:cs typeface="微软雅黑"/>
              </a:rPr>
              <a:t>b's+d </a:t>
            </a:r>
            <a:r>
              <a:rPr dirty="0" sz="1800">
                <a:latin typeface="微软雅黑"/>
                <a:cs typeface="微软雅黑"/>
              </a:rPr>
              <a:t>on</a:t>
            </a:r>
            <a:r>
              <a:rPr dirty="0" sz="1800" spc="-10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TF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23589" y="2137558"/>
            <a:ext cx="7000368" cy="4413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3396" y="429259"/>
            <a:ext cx="28822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liGraph-The</a:t>
            </a:r>
            <a:r>
              <a:rPr dirty="0" sz="2400" spc="-5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Flow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5204" y="1250553"/>
            <a:ext cx="11046574" cy="54487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682495" y="4169664"/>
            <a:ext cx="1694814" cy="622300"/>
          </a:xfrm>
          <a:custGeom>
            <a:avLst/>
            <a:gdLst/>
            <a:ahLst/>
            <a:cxnLst/>
            <a:rect l="l" t="t" r="r" b="b"/>
            <a:pathLst>
              <a:path w="1694814" h="622300">
                <a:moveTo>
                  <a:pt x="0" y="103634"/>
                </a:moveTo>
                <a:lnTo>
                  <a:pt x="8144" y="63295"/>
                </a:lnTo>
                <a:lnTo>
                  <a:pt x="30353" y="30353"/>
                </a:lnTo>
                <a:lnTo>
                  <a:pt x="63295" y="8144"/>
                </a:lnTo>
                <a:lnTo>
                  <a:pt x="103634" y="0"/>
                </a:lnTo>
                <a:lnTo>
                  <a:pt x="1591053" y="0"/>
                </a:lnTo>
                <a:lnTo>
                  <a:pt x="1631392" y="8144"/>
                </a:lnTo>
                <a:lnTo>
                  <a:pt x="1664334" y="30353"/>
                </a:lnTo>
                <a:lnTo>
                  <a:pt x="1686543" y="63295"/>
                </a:lnTo>
                <a:lnTo>
                  <a:pt x="1694688" y="103634"/>
                </a:lnTo>
                <a:lnTo>
                  <a:pt x="1694688" y="518157"/>
                </a:lnTo>
                <a:lnTo>
                  <a:pt x="1686543" y="558496"/>
                </a:lnTo>
                <a:lnTo>
                  <a:pt x="1664334" y="591438"/>
                </a:lnTo>
                <a:lnTo>
                  <a:pt x="1631392" y="613647"/>
                </a:lnTo>
                <a:lnTo>
                  <a:pt x="1591053" y="621792"/>
                </a:lnTo>
                <a:lnTo>
                  <a:pt x="103634" y="621792"/>
                </a:lnTo>
                <a:lnTo>
                  <a:pt x="63295" y="613647"/>
                </a:lnTo>
                <a:lnTo>
                  <a:pt x="30353" y="591438"/>
                </a:lnTo>
                <a:lnTo>
                  <a:pt x="8144" y="558496"/>
                </a:lnTo>
                <a:lnTo>
                  <a:pt x="0" y="518157"/>
                </a:lnTo>
                <a:lnTo>
                  <a:pt x="0" y="103634"/>
                </a:lnTo>
                <a:close/>
              </a:path>
            </a:pathLst>
          </a:custGeom>
          <a:ln w="3175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38131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liGraph-Graph</a:t>
            </a:r>
            <a:r>
              <a:rPr dirty="0" sz="2400" spc="-5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Building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3143" y="1075174"/>
            <a:ext cx="11008424" cy="52707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11569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0" b="1">
                <a:solidFill>
                  <a:srgbClr val="000000"/>
                </a:solidFill>
                <a:latin typeface="微软雅黑"/>
                <a:cs typeface="微软雅黑"/>
              </a:rPr>
              <a:t>S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a</a:t>
            </a:r>
            <a:r>
              <a:rPr dirty="0" sz="2400" spc="0" b="1">
                <a:solidFill>
                  <a:srgbClr val="000000"/>
                </a:solidFill>
                <a:latin typeface="微软雅黑"/>
                <a:cs typeface="微软雅黑"/>
              </a:rPr>
              <a:t>m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ple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0350" y="1959355"/>
            <a:ext cx="6033770" cy="11563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4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75">
                <a:latin typeface="微软雅黑"/>
                <a:cs typeface="微软雅黑"/>
              </a:rPr>
              <a:t>Vari,us </a:t>
            </a:r>
            <a:r>
              <a:rPr dirty="0" sz="1800" spc="-5">
                <a:latin typeface="微软雅黑"/>
                <a:cs typeface="微软雅黑"/>
              </a:rPr>
              <a:t>sampling </a:t>
            </a:r>
            <a:r>
              <a:rPr dirty="0" sz="1800" spc="135">
                <a:latin typeface="微软雅黑"/>
                <a:cs typeface="微软雅黑"/>
              </a:rPr>
              <a:t>m,des </a:t>
            </a:r>
            <a:r>
              <a:rPr dirty="0" sz="1800" spc="-10">
                <a:latin typeface="微软雅黑"/>
                <a:cs typeface="微软雅黑"/>
              </a:rPr>
              <a:t>require </a:t>
            </a:r>
            <a:r>
              <a:rPr dirty="0" sz="1800" spc="-5">
                <a:latin typeface="微软雅黑"/>
                <a:cs typeface="微软雅黑"/>
              </a:rPr>
              <a:t>flexible</a:t>
            </a:r>
            <a:r>
              <a:rPr dirty="0" sz="1800" spc="-160">
                <a:latin typeface="微软雅黑"/>
                <a:cs typeface="微软雅黑"/>
              </a:rPr>
              <a:t> </a:t>
            </a:r>
            <a:r>
              <a:rPr dirty="0" sz="1800" spc="100">
                <a:latin typeface="微软雅黑"/>
                <a:cs typeface="微软雅黑"/>
              </a:rPr>
              <a:t>supp,rt</a:t>
            </a:r>
            <a:endParaRPr sz="18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84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90">
                <a:latin typeface="微软雅黑"/>
                <a:cs typeface="微软雅黑"/>
              </a:rPr>
              <a:t>Pr,vide </a:t>
            </a:r>
            <a:r>
              <a:rPr dirty="0" sz="1800" spc="-5">
                <a:latin typeface="微软雅黑"/>
                <a:cs typeface="微软雅黑"/>
              </a:rPr>
              <a:t>traverse, </a:t>
            </a:r>
            <a:r>
              <a:rPr dirty="0" sz="1800" spc="155">
                <a:latin typeface="微软雅黑"/>
                <a:cs typeface="微软雅黑"/>
              </a:rPr>
              <a:t>neighb,rh,,d, </a:t>
            </a:r>
            <a:r>
              <a:rPr dirty="0" sz="1800" spc="-5">
                <a:latin typeface="微软雅黑"/>
                <a:cs typeface="微软雅黑"/>
              </a:rPr>
              <a:t>negative three</a:t>
            </a:r>
            <a:r>
              <a:rPr dirty="0" sz="1800" spc="-15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ways</a:t>
            </a:r>
            <a:endParaRPr sz="1800">
              <a:latin typeface="微软雅黑"/>
              <a:cs typeface="微软雅黑"/>
            </a:endParaRPr>
          </a:p>
          <a:p>
            <a:pPr marL="241300" indent="-228600">
              <a:lnSpc>
                <a:spcPct val="100000"/>
              </a:lnSpc>
              <a:spcBef>
                <a:spcPts val="745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90">
                <a:latin typeface="微软雅黑"/>
                <a:cs typeface="微软雅黑"/>
              </a:rPr>
              <a:t>verlap </a:t>
            </a:r>
            <a:r>
              <a:rPr dirty="0" sz="1800" spc="-5">
                <a:latin typeface="微软雅黑"/>
                <a:cs typeface="微软雅黑"/>
              </a:rPr>
              <a:t>sampling </a:t>
            </a:r>
            <a:r>
              <a:rPr dirty="0" sz="1800">
                <a:latin typeface="微软雅黑"/>
                <a:cs typeface="微软雅黑"/>
              </a:rPr>
              <a:t>and</a:t>
            </a:r>
            <a:r>
              <a:rPr dirty="0" sz="1800" spc="-130">
                <a:latin typeface="微软雅黑"/>
                <a:cs typeface="微软雅黑"/>
              </a:rPr>
              <a:t> </a:t>
            </a:r>
            <a:r>
              <a:rPr dirty="0" sz="1800" spc="55">
                <a:latin typeface="微软雅黑"/>
                <a:cs typeface="微软雅黑"/>
              </a:rPr>
              <a:t>calculati,n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61047" y="1048511"/>
            <a:ext cx="4840224" cy="2526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857705" y="1044812"/>
            <a:ext cx="4847590" cy="2534285"/>
          </a:xfrm>
          <a:custGeom>
            <a:avLst/>
            <a:gdLst/>
            <a:ahLst/>
            <a:cxnLst/>
            <a:rect l="l" t="t" r="r" b="b"/>
            <a:pathLst>
              <a:path w="4847590" h="2534285">
                <a:moveTo>
                  <a:pt x="0" y="0"/>
                </a:moveTo>
                <a:lnTo>
                  <a:pt x="4847095" y="0"/>
                </a:lnTo>
                <a:lnTo>
                  <a:pt x="4847095" y="2534237"/>
                </a:lnTo>
                <a:lnTo>
                  <a:pt x="0" y="253423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380626" y="4180893"/>
            <a:ext cx="6966856" cy="23704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658177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Graph </a:t>
            </a:r>
            <a:r>
              <a:rPr dirty="0" sz="2400" spc="165" b="1">
                <a:solidFill>
                  <a:srgbClr val="000000"/>
                </a:solidFill>
                <a:latin typeface="微软雅黑"/>
                <a:cs typeface="微软雅黑"/>
              </a:rPr>
              <a:t>Storage(   </a:t>
            </a:r>
            <a:r>
              <a:rPr dirty="0" sz="2400" spc="10" b="1">
                <a:solidFill>
                  <a:srgbClr val="000000"/>
                </a:solidFill>
                <a:latin typeface="微软雅黑"/>
                <a:cs typeface="微软雅黑"/>
              </a:rPr>
              <a:t>emory</a:t>
            </a:r>
            <a:r>
              <a:rPr dirty="0" sz="2400" spc="-24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Representation)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5435" indent="-228600">
              <a:lnSpc>
                <a:spcPct val="100000"/>
              </a:lnSpc>
              <a:spcBef>
                <a:spcPts val="100"/>
              </a:spcBef>
              <a:buFont typeface="Wingdings 2"/>
              <a:buChar char=""/>
              <a:tabLst>
                <a:tab pos="304800" algn="l"/>
                <a:tab pos="305435" algn="l"/>
              </a:tabLst>
            </a:pPr>
            <a:r>
              <a:rPr dirty="0" spc="-50"/>
              <a:t>Tens </a:t>
            </a:r>
            <a:r>
              <a:rPr dirty="0" spc="-20"/>
              <a:t>of </a:t>
            </a:r>
            <a:r>
              <a:rPr dirty="0" spc="0"/>
              <a:t>bi,,ions </a:t>
            </a:r>
            <a:r>
              <a:rPr dirty="0" spc="-20"/>
              <a:t>of </a:t>
            </a:r>
            <a:r>
              <a:rPr dirty="0" spc="-5"/>
              <a:t>edge</a:t>
            </a:r>
            <a:r>
              <a:rPr dirty="0" spc="85"/>
              <a:t> </a:t>
            </a:r>
            <a:r>
              <a:rPr dirty="0"/>
              <a:t>re,ations</a:t>
            </a:r>
          </a:p>
          <a:p>
            <a:pPr marL="64135">
              <a:lnSpc>
                <a:spcPct val="100000"/>
              </a:lnSpc>
              <a:spcBef>
                <a:spcPts val="5"/>
              </a:spcBef>
              <a:buFont typeface="Wingdings 2"/>
              <a:buChar char=""/>
            </a:pPr>
            <a:endParaRPr sz="3250">
              <a:latin typeface="Times New Roman"/>
              <a:cs typeface="Times New Roman"/>
            </a:endParaRPr>
          </a:p>
          <a:p>
            <a:pPr marL="305435" indent="-228600">
              <a:lnSpc>
                <a:spcPct val="100000"/>
              </a:lnSpc>
              <a:buFont typeface="Wingdings 2"/>
              <a:buChar char=""/>
              <a:tabLst>
                <a:tab pos="304800" algn="l"/>
                <a:tab pos="305435" algn="l"/>
              </a:tabLst>
            </a:pPr>
            <a:r>
              <a:rPr dirty="0"/>
              <a:t>The </a:t>
            </a:r>
            <a:r>
              <a:rPr dirty="0" spc="-5"/>
              <a:t>adjacency </a:t>
            </a:r>
            <a:r>
              <a:rPr dirty="0"/>
              <a:t>re,ationship </a:t>
            </a:r>
            <a:r>
              <a:rPr dirty="0" spc="-5"/>
              <a:t>is </a:t>
            </a:r>
            <a:r>
              <a:rPr dirty="0"/>
              <a:t>the </a:t>
            </a:r>
            <a:r>
              <a:rPr dirty="0" spc="-10"/>
              <a:t>basis </a:t>
            </a:r>
            <a:r>
              <a:rPr dirty="0" spc="-15"/>
              <a:t>of </a:t>
            </a:r>
            <a:r>
              <a:rPr dirty="0"/>
              <a:t>the </a:t>
            </a:r>
            <a:r>
              <a:rPr dirty="0" spc="-5"/>
              <a:t>GNN </a:t>
            </a:r>
            <a:r>
              <a:rPr dirty="0"/>
              <a:t>a,gorithm, and </a:t>
            </a:r>
            <a:r>
              <a:rPr dirty="0" spc="0"/>
              <a:t>,oca,ity </a:t>
            </a:r>
            <a:r>
              <a:rPr dirty="0" spc="-5"/>
              <a:t>needs </a:t>
            </a:r>
            <a:r>
              <a:rPr dirty="0" spc="-10"/>
              <a:t>to </a:t>
            </a:r>
            <a:r>
              <a:rPr dirty="0" spc="-5"/>
              <a:t>be </a:t>
            </a:r>
            <a:r>
              <a:rPr dirty="0" spc="10"/>
              <a:t>fu,,y</a:t>
            </a:r>
            <a:r>
              <a:rPr dirty="0" spc="204"/>
              <a:t> </a:t>
            </a:r>
            <a:r>
              <a:rPr dirty="0"/>
              <a:t>uti,ized</a:t>
            </a:r>
          </a:p>
          <a:p>
            <a:pPr marL="64135">
              <a:lnSpc>
                <a:spcPct val="100000"/>
              </a:lnSpc>
              <a:spcBef>
                <a:spcPts val="5"/>
              </a:spcBef>
              <a:buFont typeface="Wingdings 2"/>
              <a:buChar char=""/>
            </a:pPr>
            <a:endParaRPr sz="3250">
              <a:latin typeface="Times New Roman"/>
              <a:cs typeface="Times New Roman"/>
            </a:endParaRPr>
          </a:p>
          <a:p>
            <a:pPr marL="305435" indent="-228600">
              <a:lnSpc>
                <a:spcPct val="100000"/>
              </a:lnSpc>
              <a:buFont typeface="Wingdings 2"/>
              <a:buChar char=""/>
              <a:tabLst>
                <a:tab pos="304800" algn="l"/>
                <a:tab pos="305435" algn="l"/>
              </a:tabLst>
            </a:pPr>
            <a:r>
              <a:rPr dirty="0" spc="-30"/>
              <a:t>Tradeoff </a:t>
            </a:r>
            <a:r>
              <a:rPr dirty="0" spc="-5"/>
              <a:t>between data fragmentation </a:t>
            </a:r>
            <a:r>
              <a:rPr dirty="0"/>
              <a:t>and</a:t>
            </a:r>
            <a:r>
              <a:rPr dirty="0" spc="150"/>
              <a:t> </a:t>
            </a:r>
            <a:r>
              <a:rPr dirty="0" spc="-5"/>
              <a:t>communication</a:t>
            </a:r>
          </a:p>
          <a:p>
            <a:pPr lvl="1" marL="762635" indent="-228600">
              <a:lnSpc>
                <a:spcPct val="100000"/>
              </a:lnSpc>
              <a:spcBef>
                <a:spcPts val="830"/>
              </a:spcBef>
              <a:buFont typeface="Wingdings 2"/>
              <a:buChar char=""/>
              <a:tabLst>
                <a:tab pos="762000" algn="l"/>
                <a:tab pos="762635" algn="l"/>
              </a:tabLst>
            </a:pPr>
            <a:r>
              <a:rPr dirty="0" sz="1400" spc="-5">
                <a:latin typeface="微软雅黑"/>
                <a:cs typeface="微软雅黑"/>
              </a:rPr>
              <a:t>Effective caching strategy  </a:t>
            </a:r>
            <a:r>
              <a:rPr dirty="0" sz="1400">
                <a:latin typeface="微软雅黑"/>
                <a:cs typeface="微软雅黑"/>
              </a:rPr>
              <a:t>importance metric </a:t>
            </a:r>
            <a:r>
              <a:rPr dirty="0" sz="1400" spc="-5">
                <a:latin typeface="微软雅黑"/>
                <a:cs typeface="微软雅黑"/>
              </a:rPr>
              <a:t>based on</a:t>
            </a:r>
            <a:r>
              <a:rPr dirty="0" sz="1400" spc="10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vertices</a:t>
            </a:r>
            <a:endParaRPr sz="1400">
              <a:latin typeface="微软雅黑"/>
              <a:cs typeface="微软雅黑"/>
            </a:endParaRPr>
          </a:p>
          <a:p>
            <a:pPr lvl="1" marL="64135">
              <a:lnSpc>
                <a:spcPct val="100000"/>
              </a:lnSpc>
              <a:spcBef>
                <a:spcPts val="10"/>
              </a:spcBef>
              <a:buFont typeface="Wingdings 2"/>
              <a:buChar char=""/>
            </a:pPr>
            <a:endParaRPr sz="2000">
              <a:latin typeface="Times New Roman"/>
              <a:cs typeface="Times New Roman"/>
            </a:endParaRPr>
          </a:p>
          <a:p>
            <a:pPr marL="305435" indent="-228600">
              <a:lnSpc>
                <a:spcPct val="100000"/>
              </a:lnSpc>
              <a:buFont typeface="Wingdings 2"/>
              <a:buChar char=""/>
              <a:tabLst>
                <a:tab pos="304800" algn="l"/>
                <a:tab pos="305435" algn="l"/>
              </a:tabLst>
            </a:pPr>
            <a:r>
              <a:rPr dirty="0" spc="-5"/>
              <a:t>Easy </a:t>
            </a:r>
            <a:r>
              <a:rPr dirty="0" spc="-10"/>
              <a:t>to </a:t>
            </a:r>
            <a:r>
              <a:rPr dirty="0" spc="-5"/>
              <a:t>traverse </a:t>
            </a:r>
            <a:r>
              <a:rPr dirty="0"/>
              <a:t>and </a:t>
            </a:r>
            <a:r>
              <a:rPr dirty="0" spc="0"/>
              <a:t>samp,e </a:t>
            </a:r>
            <a:r>
              <a:rPr dirty="0" spc="-5"/>
              <a:t>by</a:t>
            </a:r>
            <a:r>
              <a:rPr dirty="0" spc="30"/>
              <a:t> </a:t>
            </a:r>
            <a:r>
              <a:rPr dirty="0" spc="-15"/>
              <a:t>batch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37687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0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50" b="1">
                <a:solidFill>
                  <a:srgbClr val="000000"/>
                </a:solidFill>
                <a:latin typeface="微软雅黑"/>
                <a:cs typeface="微软雅黑"/>
              </a:rPr>
              <a:t>ache/Memory</a:t>
            </a:r>
            <a:r>
              <a:rPr dirty="0" sz="2400" spc="-4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Strategy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222247" y="3471671"/>
            <a:ext cx="3471672" cy="2301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23688" y="3471671"/>
            <a:ext cx="5937504" cy="24140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222247" y="1161288"/>
            <a:ext cx="3471672" cy="21549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23688" y="1161288"/>
            <a:ext cx="5937504" cy="215493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550262" y="6217411"/>
            <a:ext cx="903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Cache </a:t>
            </a:r>
            <a:r>
              <a:rPr dirty="0" sz="1800" spc="0">
                <a:latin typeface="微软雅黑"/>
                <a:cs typeface="微软雅黑"/>
              </a:rPr>
              <a:t>accelerat,0n: </a:t>
            </a:r>
            <a:r>
              <a:rPr dirty="0" sz="1800" spc="-10">
                <a:latin typeface="微软雅黑"/>
                <a:cs typeface="微软雅黑"/>
              </a:rPr>
              <a:t>50% </a:t>
            </a:r>
            <a:r>
              <a:rPr dirty="0" sz="1800" spc="-5">
                <a:latin typeface="微软雅黑"/>
                <a:cs typeface="微软雅黑"/>
              </a:rPr>
              <a:t>faster </a:t>
            </a:r>
            <a:r>
              <a:rPr dirty="0" sz="1800">
                <a:latin typeface="微软雅黑"/>
                <a:cs typeface="微软雅黑"/>
              </a:rPr>
              <a:t>than </a:t>
            </a:r>
            <a:r>
              <a:rPr dirty="0" sz="1800" spc="5">
                <a:latin typeface="微软雅黑"/>
                <a:cs typeface="微软雅黑"/>
              </a:rPr>
              <a:t>rand0m meth0d  </a:t>
            </a:r>
            <a:r>
              <a:rPr dirty="0" sz="1800" spc="-10">
                <a:latin typeface="微软雅黑"/>
                <a:cs typeface="微软雅黑"/>
              </a:rPr>
              <a:t>60% </a:t>
            </a:r>
            <a:r>
              <a:rPr dirty="0" sz="1800" spc="-5">
                <a:latin typeface="微软雅黑"/>
                <a:cs typeface="微软雅黑"/>
              </a:rPr>
              <a:t>faster </a:t>
            </a:r>
            <a:r>
              <a:rPr dirty="0" sz="1800">
                <a:latin typeface="微软雅黑"/>
                <a:cs typeface="微软雅黑"/>
              </a:rPr>
              <a:t>than </a:t>
            </a:r>
            <a:r>
              <a:rPr dirty="0" sz="1800" spc="-90">
                <a:latin typeface="微软雅黑"/>
                <a:cs typeface="微软雅黑"/>
              </a:rPr>
              <a:t>LR%</a:t>
            </a:r>
            <a:r>
              <a:rPr dirty="0" sz="1800" spc="-80">
                <a:latin typeface="微软雅黑"/>
                <a:cs typeface="微软雅黑"/>
              </a:rPr>
              <a:t> </a:t>
            </a:r>
            <a:r>
              <a:rPr dirty="0" sz="1800" spc="5">
                <a:latin typeface="微软雅黑"/>
                <a:cs typeface="微软雅黑"/>
              </a:rPr>
              <a:t>meth0d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4628" y="331724"/>
            <a:ext cx="351409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Oper 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tor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Optimiz</a:t>
            </a:r>
            <a:r>
              <a:rPr dirty="0" sz="2400" spc="-32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90" b="1">
                <a:solidFill>
                  <a:srgbClr val="000000"/>
                </a:solidFill>
                <a:latin typeface="微软雅黑"/>
                <a:cs typeface="微软雅黑"/>
              </a:rPr>
              <a:t>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69083" y="3961891"/>
            <a:ext cx="6552565" cy="2293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-15">
                <a:latin typeface="微软雅黑"/>
                <a:cs typeface="微软雅黑"/>
              </a:rPr>
              <a:t>Reduce </a:t>
            </a:r>
            <a:r>
              <a:rPr dirty="0" sz="1800" spc="-55">
                <a:latin typeface="微软雅黑"/>
                <a:cs typeface="微软雅黑"/>
              </a:rPr>
              <a:t>doub-e </a:t>
            </a:r>
            <a:r>
              <a:rPr dirty="0" sz="1800" spc="-60">
                <a:latin typeface="微软雅黑"/>
                <a:cs typeface="微软雅黑"/>
              </a:rPr>
              <a:t>ca-cu-ation </a:t>
            </a:r>
            <a:r>
              <a:rPr dirty="0" sz="1800" spc="-5">
                <a:latin typeface="微软雅黑"/>
                <a:cs typeface="微软雅黑"/>
              </a:rPr>
              <a:t>by caching </a:t>
            </a:r>
            <a:r>
              <a:rPr dirty="0" sz="1800" spc="-204">
                <a:latin typeface="微软雅黑"/>
                <a:cs typeface="微软雅黑"/>
              </a:rPr>
              <a:t>a--  </a:t>
            </a:r>
            <a:r>
              <a:rPr dirty="0" sz="1800" spc="-105">
                <a:latin typeface="微软雅黑"/>
                <a:cs typeface="微软雅黑"/>
              </a:rPr>
              <a:t>-eve-s </a:t>
            </a:r>
            <a:r>
              <a:rPr dirty="0" sz="1800" spc="-15">
                <a:latin typeface="微软雅黑"/>
                <a:cs typeface="微软雅黑"/>
              </a:rPr>
              <a:t>of</a:t>
            </a:r>
            <a:r>
              <a:rPr dirty="0" sz="1800" spc="17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h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 2"/>
              <a:buChar char=""/>
            </a:pPr>
            <a:endParaRPr sz="345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1920"/>
              </a:lnSpc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-5">
                <a:latin typeface="微软雅黑"/>
                <a:cs typeface="微软雅黑"/>
              </a:rPr>
              <a:t>Co </a:t>
            </a:r>
            <a:r>
              <a:rPr dirty="0" sz="1800" spc="-55">
                <a:latin typeface="微软雅黑"/>
                <a:cs typeface="微软雅黑"/>
              </a:rPr>
              <a:t>-ocate </a:t>
            </a:r>
            <a:r>
              <a:rPr dirty="0" sz="1800" spc="-65">
                <a:latin typeface="微软雅黑"/>
                <a:cs typeface="微软雅黑"/>
              </a:rPr>
              <a:t>mode- </a:t>
            </a:r>
            <a:r>
              <a:rPr dirty="0" sz="1800" spc="-5">
                <a:latin typeface="微软雅黑"/>
                <a:cs typeface="微软雅黑"/>
              </a:rPr>
              <a:t>parameters, </a:t>
            </a:r>
            <a:r>
              <a:rPr dirty="0" sz="1800" spc="-204">
                <a:latin typeface="微软雅黑"/>
                <a:cs typeface="微软雅黑"/>
              </a:rPr>
              <a:t>a-- </a:t>
            </a:r>
            <a:r>
              <a:rPr dirty="0" sz="1800" spc="-105">
                <a:latin typeface="微软雅黑"/>
                <a:cs typeface="微软雅黑"/>
              </a:rPr>
              <a:t>-eve-s </a:t>
            </a:r>
            <a:r>
              <a:rPr dirty="0" sz="1800" spc="-15">
                <a:latin typeface="微软雅黑"/>
                <a:cs typeface="微软雅黑"/>
              </a:rPr>
              <a:t>of </a:t>
            </a:r>
            <a:r>
              <a:rPr dirty="0" sz="1800">
                <a:latin typeface="微软雅黑"/>
                <a:cs typeface="微软雅黑"/>
              </a:rPr>
              <a:t>h and the </a:t>
            </a:r>
            <a:r>
              <a:rPr dirty="0" sz="1800" spc="-5">
                <a:latin typeface="微软雅黑"/>
                <a:cs typeface="微软雅黑"/>
              </a:rPr>
              <a:t>graph  </a:t>
            </a:r>
            <a:r>
              <a:rPr dirty="0" sz="1800" spc="-65">
                <a:latin typeface="微软雅黑"/>
                <a:cs typeface="微软雅黑"/>
              </a:rPr>
              <a:t>itse-f, </a:t>
            </a:r>
            <a:r>
              <a:rPr dirty="0" sz="1800" spc="-50">
                <a:latin typeface="微软雅黑"/>
                <a:cs typeface="微软雅黑"/>
              </a:rPr>
              <a:t>great-y </a:t>
            </a:r>
            <a:r>
              <a:rPr dirty="0" sz="1800" spc="-10">
                <a:latin typeface="微软雅黑"/>
                <a:cs typeface="微软雅黑"/>
              </a:rPr>
              <a:t>reduce </a:t>
            </a:r>
            <a:r>
              <a:rPr dirty="0" sz="1800" spc="75">
                <a:latin typeface="微软雅黑"/>
                <a:cs typeface="微软雅黑"/>
              </a:rPr>
              <a:t>networ, </a:t>
            </a:r>
            <a:r>
              <a:rPr dirty="0" sz="1800" spc="-5">
                <a:latin typeface="微软雅黑"/>
                <a:cs typeface="微软雅黑"/>
              </a:rPr>
              <a:t>communication </a:t>
            </a:r>
            <a:r>
              <a:rPr dirty="0" sz="1800">
                <a:latin typeface="微软雅黑"/>
                <a:cs typeface="微软雅黑"/>
              </a:rPr>
              <a:t>and</a:t>
            </a:r>
            <a:r>
              <a:rPr dirty="0" sz="1800" spc="125">
                <a:latin typeface="微软雅黑"/>
                <a:cs typeface="微软雅黑"/>
              </a:rPr>
              <a:t> </a:t>
            </a:r>
            <a:r>
              <a:rPr dirty="0" sz="1800" spc="-65">
                <a:latin typeface="微软雅黑"/>
                <a:cs typeface="微软雅黑"/>
              </a:rPr>
              <a:t>de-ay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 2"/>
              <a:buChar char=""/>
            </a:pPr>
            <a:endParaRPr sz="3350">
              <a:latin typeface="Times New Roman"/>
              <a:cs typeface="Times New Roman"/>
            </a:endParaRPr>
          </a:p>
          <a:p>
            <a:pPr marL="241300" marR="25400" indent="-228600">
              <a:lnSpc>
                <a:spcPts val="2020"/>
              </a:lnSpc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-40">
                <a:latin typeface="微软雅黑"/>
                <a:cs typeface="微软雅黑"/>
              </a:rPr>
              <a:t>A-gorithm </a:t>
            </a:r>
            <a:r>
              <a:rPr dirty="0" sz="1800">
                <a:latin typeface="微软雅黑"/>
                <a:cs typeface="微软雅黑"/>
              </a:rPr>
              <a:t>and </a:t>
            </a:r>
            <a:r>
              <a:rPr dirty="0" sz="1800" spc="-15">
                <a:latin typeface="微软雅黑"/>
                <a:cs typeface="微软雅黑"/>
              </a:rPr>
              <a:t>System </a:t>
            </a:r>
            <a:r>
              <a:rPr dirty="0" sz="1800" spc="-5">
                <a:latin typeface="微软雅黑"/>
                <a:cs typeface="微软雅黑"/>
              </a:rPr>
              <a:t>co design: </a:t>
            </a:r>
            <a:r>
              <a:rPr dirty="0" sz="1800">
                <a:latin typeface="微软雅黑"/>
                <a:cs typeface="微软雅黑"/>
              </a:rPr>
              <a:t>need </a:t>
            </a:r>
            <a:r>
              <a:rPr dirty="0" sz="1800" spc="-10">
                <a:latin typeface="微软雅黑"/>
                <a:cs typeface="微软雅黑"/>
              </a:rPr>
              <a:t>to </a:t>
            </a:r>
            <a:r>
              <a:rPr dirty="0" sz="1800" spc="-5">
                <a:latin typeface="微软雅黑"/>
                <a:cs typeface="微软雅黑"/>
              </a:rPr>
              <a:t>cooperate with  training strategy </a:t>
            </a:r>
            <a:r>
              <a:rPr dirty="0" sz="1800">
                <a:latin typeface="微软雅黑"/>
                <a:cs typeface="微软雅黑"/>
              </a:rPr>
              <a:t>and </a:t>
            </a:r>
            <a:r>
              <a:rPr dirty="0" sz="1800" spc="-30">
                <a:latin typeface="微软雅黑"/>
                <a:cs typeface="微软雅黑"/>
              </a:rPr>
              <a:t>upper  </a:t>
            </a:r>
            <a:r>
              <a:rPr dirty="0" sz="1800" spc="-125">
                <a:latin typeface="微软雅黑"/>
                <a:cs typeface="微软雅黑"/>
              </a:rPr>
              <a:t>-eve-</a:t>
            </a:r>
            <a:r>
              <a:rPr dirty="0" sz="1800" spc="-210">
                <a:latin typeface="微软雅黑"/>
                <a:cs typeface="微软雅黑"/>
              </a:rPr>
              <a:t> </a:t>
            </a:r>
            <a:r>
              <a:rPr dirty="0" sz="1800" spc="-35">
                <a:latin typeface="微软雅黑"/>
                <a:cs typeface="微软雅黑"/>
              </a:rPr>
              <a:t>a-gorithm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01746" y="1531522"/>
            <a:ext cx="4256792" cy="34697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87567" y="1481327"/>
            <a:ext cx="4425695" cy="20970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2073" y="438404"/>
            <a:ext cx="58534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25" b="1">
                <a:solidFill>
                  <a:srgbClr val="000000"/>
                </a:solidFill>
                <a:latin typeface="微软雅黑"/>
                <a:cs typeface="微软雅黑"/>
              </a:rPr>
              <a:t>liGraph-Mod-le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Development</a:t>
            </a:r>
            <a:r>
              <a:rPr dirty="0" sz="2400" spc="-4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Demo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78839" y="1400961"/>
            <a:ext cx="227393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1115" rIns="0" bIns="0" rtlCol="0" vert="horz">
            <a:spAutoFit/>
          </a:bodyPr>
          <a:lstStyle/>
          <a:p>
            <a:pPr marL="556260">
              <a:lnSpc>
                <a:spcPct val="100000"/>
              </a:lnSpc>
              <a:spcBef>
                <a:spcPts val="245"/>
              </a:spcBef>
            </a:pP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PrepareData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8838" y="2049391"/>
            <a:ext cx="227393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2384" rIns="0" bIns="0" rtlCol="0" vert="horz">
            <a:spAutoFit/>
          </a:bodyPr>
          <a:lstStyle/>
          <a:p>
            <a:pPr marL="616585">
              <a:lnSpc>
                <a:spcPct val="100000"/>
              </a:lnSpc>
              <a:spcBef>
                <a:spcPts val="254"/>
              </a:spcBef>
            </a:pP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BuildGraph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743" y="2694321"/>
            <a:ext cx="226377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365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265"/>
              </a:spcBef>
            </a:pP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GSL</a:t>
            </a:r>
            <a:r>
              <a:rPr dirty="0" sz="1800" spc="-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SampleStream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8743" y="3334780"/>
            <a:ext cx="226377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3020" rIns="0" bIns="0" rtlCol="0" vert="horz">
            <a:spAutoFit/>
          </a:bodyPr>
          <a:lstStyle/>
          <a:p>
            <a:pPr marL="165735">
              <a:lnSpc>
                <a:spcPct val="100000"/>
              </a:lnSpc>
              <a:spcBef>
                <a:spcPts val="260"/>
              </a:spcBef>
            </a:pPr>
            <a:r>
              <a:rPr dirty="0" sz="1800" spc="-15">
                <a:solidFill>
                  <a:srgbClr val="FFFFFF"/>
                </a:solidFill>
                <a:latin typeface="Calibri"/>
                <a:cs typeface="Calibri"/>
              </a:rPr>
              <a:t>FeatureVectorization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8743" y="3987683"/>
            <a:ext cx="226377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2384" rIns="0" bIns="0" rtlCol="0" vert="horz">
            <a:spAutoFit/>
          </a:bodyPr>
          <a:lstStyle/>
          <a:p>
            <a:pPr marL="523240">
              <a:lnSpc>
                <a:spcPct val="100000"/>
              </a:lnSpc>
              <a:spcBef>
                <a:spcPts val="254"/>
              </a:spcBef>
            </a:pPr>
            <a:r>
              <a:rPr dirty="0" sz="1800">
                <a:solidFill>
                  <a:srgbClr val="FFFFFF"/>
                </a:solidFill>
                <a:latin typeface="Calibri"/>
                <a:cs typeface="Calibri"/>
              </a:rPr>
              <a:t>GNN</a:t>
            </a:r>
            <a:r>
              <a:rPr dirty="0" sz="18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Module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8742" y="4637091"/>
            <a:ext cx="226377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2384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254"/>
              </a:spcBef>
            </a:pPr>
            <a:r>
              <a:rPr dirty="0" sz="1800" spc="-5">
                <a:solidFill>
                  <a:srgbClr val="FFFFFF"/>
                </a:solidFill>
                <a:latin typeface="Calibri"/>
                <a:cs typeface="Calibri"/>
              </a:rPr>
              <a:t>DefineLossFunction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838" y="5277549"/>
            <a:ext cx="227393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1750" rIns="0" bIns="0" rtlCol="0" vert="horz">
            <a:spAutoFit/>
          </a:bodyPr>
          <a:lstStyle/>
          <a:p>
            <a:pPr marL="370205">
              <a:lnSpc>
                <a:spcPct val="100000"/>
              </a:lnSpc>
              <a:spcBef>
                <a:spcPts val="250"/>
              </a:spcBef>
            </a:pPr>
            <a:r>
              <a:rPr dirty="0" sz="1800" spc="-20">
                <a:solidFill>
                  <a:srgbClr val="FFFFFF"/>
                </a:solidFill>
                <a:latin typeface="Calibri"/>
                <a:cs typeface="Calibri"/>
              </a:rPr>
              <a:t>TrainingIteration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8838" y="5918008"/>
            <a:ext cx="2273935" cy="369570"/>
          </a:xfrm>
          <a:prstGeom prst="rect">
            <a:avLst/>
          </a:prstGeom>
          <a:solidFill>
            <a:srgbClr val="0070C0"/>
          </a:solidFill>
        </p:spPr>
        <p:txBody>
          <a:bodyPr wrap="square" lIns="0" tIns="31750" rIns="0" bIns="0" rtlCol="0" vert="horz">
            <a:spAutoFit/>
          </a:bodyPr>
          <a:lstStyle/>
          <a:p>
            <a:pPr marL="125095">
              <a:lnSpc>
                <a:spcPct val="100000"/>
              </a:lnSpc>
              <a:spcBef>
                <a:spcPts val="250"/>
              </a:spcBef>
            </a:pPr>
            <a:r>
              <a:rPr dirty="0" sz="1800" spc="-10">
                <a:solidFill>
                  <a:srgbClr val="FFFFFF"/>
                </a:solidFill>
                <a:latin typeface="Calibri"/>
                <a:cs typeface="Calibri"/>
              </a:rPr>
              <a:t>ExportModule/Vector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7130" y="1770293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0"/>
                </a:moveTo>
                <a:lnTo>
                  <a:pt x="0" y="170040"/>
                </a:lnTo>
                <a:lnTo>
                  <a:pt x="109056" y="279097"/>
                </a:lnTo>
                <a:lnTo>
                  <a:pt x="218113" y="170040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7" y="0"/>
                </a:lnTo>
                <a:lnTo>
                  <a:pt x="54527" y="170040"/>
                </a:lnTo>
                <a:lnTo>
                  <a:pt x="163584" y="170040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577130" y="1770293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77130" y="241872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1"/>
                </a:moveTo>
                <a:lnTo>
                  <a:pt x="0" y="170041"/>
                </a:lnTo>
                <a:lnTo>
                  <a:pt x="109056" y="279099"/>
                </a:lnTo>
                <a:lnTo>
                  <a:pt x="218113" y="170041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7" y="0"/>
                </a:lnTo>
                <a:lnTo>
                  <a:pt x="54527" y="170041"/>
                </a:lnTo>
                <a:lnTo>
                  <a:pt x="163584" y="170041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77130" y="241872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577130" y="305568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0"/>
                </a:moveTo>
                <a:lnTo>
                  <a:pt x="0" y="170040"/>
                </a:lnTo>
                <a:lnTo>
                  <a:pt x="109056" y="279097"/>
                </a:lnTo>
                <a:lnTo>
                  <a:pt x="218113" y="170040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7" y="0"/>
                </a:lnTo>
                <a:lnTo>
                  <a:pt x="54527" y="170040"/>
                </a:lnTo>
                <a:lnTo>
                  <a:pt x="163584" y="170040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77130" y="305568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77130" y="3718604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0"/>
                </a:moveTo>
                <a:lnTo>
                  <a:pt x="0" y="170040"/>
                </a:lnTo>
                <a:lnTo>
                  <a:pt x="109056" y="279097"/>
                </a:lnTo>
                <a:lnTo>
                  <a:pt x="218113" y="170040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7" y="0"/>
                </a:lnTo>
                <a:lnTo>
                  <a:pt x="54527" y="170040"/>
                </a:lnTo>
                <a:lnTo>
                  <a:pt x="163584" y="170040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577130" y="3718604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06490" y="437174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1"/>
                </a:moveTo>
                <a:lnTo>
                  <a:pt x="0" y="170041"/>
                </a:lnTo>
                <a:lnTo>
                  <a:pt x="109056" y="279097"/>
                </a:lnTo>
                <a:lnTo>
                  <a:pt x="218113" y="170041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8" y="0"/>
                </a:lnTo>
                <a:lnTo>
                  <a:pt x="54528" y="170041"/>
                </a:lnTo>
                <a:lnTo>
                  <a:pt x="163584" y="170041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606490" y="4371742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577130" y="4992674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1"/>
                </a:moveTo>
                <a:lnTo>
                  <a:pt x="0" y="170041"/>
                </a:lnTo>
                <a:lnTo>
                  <a:pt x="109056" y="279097"/>
                </a:lnTo>
                <a:lnTo>
                  <a:pt x="218113" y="170041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7" y="0"/>
                </a:lnTo>
                <a:lnTo>
                  <a:pt x="54527" y="170041"/>
                </a:lnTo>
                <a:lnTo>
                  <a:pt x="163584" y="170041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577130" y="4992674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606490" y="5647861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218113" y="170040"/>
                </a:moveTo>
                <a:lnTo>
                  <a:pt x="0" y="170040"/>
                </a:lnTo>
                <a:lnTo>
                  <a:pt x="109056" y="279097"/>
                </a:lnTo>
                <a:lnTo>
                  <a:pt x="218113" y="170040"/>
                </a:lnTo>
                <a:close/>
              </a:path>
              <a:path w="218439" h="279400">
                <a:moveTo>
                  <a:pt x="163584" y="0"/>
                </a:moveTo>
                <a:lnTo>
                  <a:pt x="54528" y="0"/>
                </a:lnTo>
                <a:lnTo>
                  <a:pt x="54528" y="170040"/>
                </a:lnTo>
                <a:lnTo>
                  <a:pt x="163584" y="170040"/>
                </a:lnTo>
                <a:lnTo>
                  <a:pt x="163584" y="0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06490" y="5647861"/>
            <a:ext cx="218440" cy="279400"/>
          </a:xfrm>
          <a:custGeom>
            <a:avLst/>
            <a:gdLst/>
            <a:ahLst/>
            <a:cxnLst/>
            <a:rect l="l" t="t" r="r" b="b"/>
            <a:pathLst>
              <a:path w="218439" h="279400">
                <a:moveTo>
                  <a:pt x="0" y="170041"/>
                </a:moveTo>
                <a:lnTo>
                  <a:pt x="54528" y="170041"/>
                </a:lnTo>
                <a:lnTo>
                  <a:pt x="54528" y="0"/>
                </a:lnTo>
                <a:lnTo>
                  <a:pt x="163585" y="0"/>
                </a:lnTo>
                <a:lnTo>
                  <a:pt x="163585" y="170041"/>
                </a:lnTo>
                <a:lnTo>
                  <a:pt x="218114" y="170041"/>
                </a:lnTo>
                <a:lnTo>
                  <a:pt x="109057" y="279098"/>
                </a:lnTo>
                <a:lnTo>
                  <a:pt x="0" y="170041"/>
                </a:lnTo>
                <a:close/>
              </a:path>
            </a:pathLst>
          </a:custGeom>
          <a:ln w="12700">
            <a:solidFill>
              <a:srgbClr val="AA351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976382" y="1400961"/>
            <a:ext cx="7575257" cy="5066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6890599" y="977900"/>
            <a:ext cx="1090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example.py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4628" y="331724"/>
            <a:ext cx="66725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075" b="1">
                <a:latin typeface="微软雅黑"/>
                <a:cs typeface="微软雅黑"/>
              </a:rPr>
              <a:t> </a:t>
            </a:r>
            <a:r>
              <a:rPr dirty="0" sz="2400" spc="-5" b="1">
                <a:latin typeface="微软雅黑"/>
                <a:cs typeface="微软雅黑"/>
              </a:rPr>
              <a:t>liGraph-   </a:t>
            </a:r>
            <a:r>
              <a:rPr dirty="0" sz="2400" spc="-10" b="1">
                <a:latin typeface="微软雅黑"/>
                <a:cs typeface="微软雅黑"/>
              </a:rPr>
              <a:t>lgori-hm Deploymen- </a:t>
            </a:r>
            <a:r>
              <a:rPr dirty="0" sz="2400" spc="-5" b="1">
                <a:latin typeface="微软雅黑"/>
                <a:cs typeface="微软雅黑"/>
              </a:rPr>
              <a:t>and</a:t>
            </a:r>
            <a:r>
              <a:rPr dirty="0" sz="2400" spc="-295" b="1">
                <a:latin typeface="微软雅黑"/>
                <a:cs typeface="微软雅黑"/>
              </a:rPr>
              <a:t> </a:t>
            </a:r>
            <a:r>
              <a:rPr dirty="0" sz="2400" spc="-5" b="1">
                <a:latin typeface="微软雅黑"/>
                <a:cs typeface="微软雅黑"/>
              </a:rPr>
              <a:t>Share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3117" y="1246124"/>
            <a:ext cx="93992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Wingdings 2"/>
              <a:buChar char=""/>
              <a:tabLst>
                <a:tab pos="240665" algn="l"/>
                <a:tab pos="241300" algn="l"/>
              </a:tabLst>
            </a:pPr>
            <a:r>
              <a:rPr dirty="0" sz="1800" spc="330">
                <a:latin typeface="微软雅黑"/>
                <a:cs typeface="微软雅黑"/>
              </a:rPr>
              <a:t>P </a:t>
            </a:r>
            <a:r>
              <a:rPr dirty="0" sz="1800">
                <a:latin typeface="微软雅黑"/>
                <a:cs typeface="微软雅黑"/>
              </a:rPr>
              <a:t>I </a:t>
            </a:r>
            <a:r>
              <a:rPr dirty="0" sz="1800" spc="75">
                <a:latin typeface="微软雅黑"/>
                <a:cs typeface="微软雅黑"/>
              </a:rPr>
              <a:t>pr,vides </a:t>
            </a:r>
            <a:r>
              <a:rPr dirty="0" sz="1800" spc="75">
                <a:latin typeface="微软雅黑"/>
                <a:cs typeface="微软雅黑"/>
              </a:rPr>
              <a:t>alg,rithm wareh,use </a:t>
            </a:r>
            <a:r>
              <a:rPr dirty="0" sz="1800" spc="229">
                <a:latin typeface="微软雅黑"/>
                <a:cs typeface="微软雅黑"/>
              </a:rPr>
              <a:t>f,r</a:t>
            </a:r>
            <a:r>
              <a:rPr dirty="0" sz="1800" spc="-275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alg,rithm </a:t>
            </a:r>
            <a:r>
              <a:rPr dirty="0" sz="1800" spc="-10">
                <a:latin typeface="微软雅黑"/>
                <a:cs typeface="微软雅黑"/>
              </a:rPr>
              <a:t>package, </a:t>
            </a:r>
            <a:r>
              <a:rPr dirty="0" sz="1800" spc="-5">
                <a:latin typeface="微软雅黑"/>
                <a:cs typeface="微软雅黑"/>
              </a:rPr>
              <a:t>management </a:t>
            </a:r>
            <a:r>
              <a:rPr dirty="0" sz="1800">
                <a:latin typeface="微软雅黑"/>
                <a:cs typeface="微软雅黑"/>
              </a:rPr>
              <a:t>and </a:t>
            </a:r>
            <a:r>
              <a:rPr dirty="0" sz="1800" spc="-5">
                <a:latin typeface="微软雅黑"/>
                <a:cs typeface="微软雅黑"/>
              </a:rPr>
              <a:t>release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82395" y="1872335"/>
            <a:ext cx="4358718" cy="4114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04033" y="1872335"/>
            <a:ext cx="5207316" cy="411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3560" y="4115307"/>
            <a:ext cx="45370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00">
                <a:latin typeface="微软雅黑"/>
                <a:cs typeface="微软雅黑"/>
              </a:rPr>
              <a:t> </a:t>
            </a:r>
            <a:r>
              <a:rPr dirty="0" sz="2800" spc="215">
                <a:latin typeface="微软雅黑"/>
                <a:cs typeface="微软雅黑"/>
              </a:rPr>
              <a:t>art </a:t>
            </a:r>
            <a:r>
              <a:rPr dirty="0" sz="2800" spc="180">
                <a:latin typeface="微软雅黑"/>
                <a:cs typeface="微软雅黑"/>
              </a:rPr>
              <a:t>4:</a:t>
            </a:r>
            <a:r>
              <a:rPr dirty="0" sz="2800" spc="180">
                <a:latin typeface="Calibri"/>
                <a:cs typeface="Calibri"/>
              </a:rPr>
              <a:t>Algorithm</a:t>
            </a:r>
            <a:r>
              <a:rPr dirty="0" sz="2800" spc="-2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Warehouse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6277" y="289052"/>
            <a:ext cx="96361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Microsoft Tai Le"/>
                <a:cs typeface="Microsoft Tai Le"/>
              </a:rPr>
              <a:t>Sampling </a:t>
            </a:r>
            <a:r>
              <a:rPr dirty="0" sz="1200" spc="-5" b="1">
                <a:solidFill>
                  <a:srgbClr val="000000"/>
                </a:solidFill>
                <a:latin typeface="Arial"/>
                <a:cs typeface="Arial"/>
              </a:rPr>
              <a:t>Subgraph-augmented Path Embedding 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for </a:t>
            </a:r>
            <a:r>
              <a:rPr dirty="0" sz="1200" spc="-5" b="1">
                <a:solidFill>
                  <a:srgbClr val="000000"/>
                </a:solidFill>
                <a:latin typeface="Arial"/>
                <a:cs typeface="Arial"/>
              </a:rPr>
              <a:t>Semantic </a:t>
            </a:r>
            <a:r>
              <a:rPr dirty="0" sz="1200" spc="-10" b="1">
                <a:solidFill>
                  <a:srgbClr val="000000"/>
                </a:solidFill>
                <a:latin typeface="Arial"/>
                <a:cs typeface="Arial"/>
              </a:rPr>
              <a:t>User </a:t>
            </a:r>
            <a:r>
              <a:rPr dirty="0" sz="1200" spc="-5" b="1">
                <a:solidFill>
                  <a:srgbClr val="000000"/>
                </a:solidFill>
                <a:latin typeface="Arial"/>
                <a:cs typeface="Arial"/>
              </a:rPr>
              <a:t>Search 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on </a:t>
            </a:r>
            <a:r>
              <a:rPr dirty="0" sz="1200" spc="-5" b="1">
                <a:solidFill>
                  <a:srgbClr val="000000"/>
                </a:solidFill>
                <a:latin typeface="Arial"/>
                <a:cs typeface="Arial"/>
              </a:rPr>
              <a:t>Heterogeneous Social Network, </a:t>
            </a:r>
            <a:r>
              <a:rPr dirty="0" sz="1200" b="1">
                <a:solidFill>
                  <a:srgbClr val="000000"/>
                </a:solidFill>
                <a:latin typeface="Arial"/>
                <a:cs typeface="Arial"/>
              </a:rPr>
              <a:t>WWW</a:t>
            </a:r>
            <a:r>
              <a:rPr dirty="0" sz="1200" spc="275" b="1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200" spc="-5" b="1">
                <a:solidFill>
                  <a:srgbClr val="000000"/>
                </a:solidFill>
                <a:latin typeface="Arial"/>
                <a:cs typeface="Arial"/>
              </a:rPr>
              <a:t>2018.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4030" y="1130300"/>
            <a:ext cx="6933565" cy="14033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100">
                <a:latin typeface="微软雅黑"/>
                <a:cs typeface="微软雅黑"/>
              </a:rPr>
              <a:t>R+pr+s+ntativ+ </a:t>
            </a:r>
            <a:r>
              <a:rPr dirty="0" sz="1800">
                <a:latin typeface="微软雅黑"/>
                <a:cs typeface="微软雅黑"/>
              </a:rPr>
              <a:t>and </a:t>
            </a:r>
            <a:r>
              <a:rPr dirty="0" sz="1800" spc="-35">
                <a:latin typeface="微软雅黑"/>
                <a:cs typeface="微软雅黑"/>
              </a:rPr>
              <a:t>n+-ativ+</a:t>
            </a:r>
            <a:r>
              <a:rPr dirty="0" sz="1800" spc="75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samplin-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微软雅黑"/>
                <a:cs typeface="微软雅黑"/>
              </a:rPr>
              <a:t>Borrow </a:t>
            </a:r>
            <a:r>
              <a:rPr dirty="0" sz="1800" spc="-85">
                <a:latin typeface="微软雅黑"/>
                <a:cs typeface="微软雅黑"/>
              </a:rPr>
              <a:t>id+a </a:t>
            </a:r>
            <a:r>
              <a:rPr dirty="0" sz="1800" spc="-10">
                <a:latin typeface="微软雅黑"/>
                <a:cs typeface="微软雅黑"/>
              </a:rPr>
              <a:t>from </a:t>
            </a:r>
            <a:r>
              <a:rPr dirty="0" sz="1800">
                <a:latin typeface="微软雅黑"/>
                <a:cs typeface="微软雅黑"/>
              </a:rPr>
              <a:t>importan)+</a:t>
            </a:r>
            <a:r>
              <a:rPr dirty="0" sz="1800" spc="100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samplin-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ts val="2135"/>
              </a:lnSpc>
              <a:spcBef>
                <a:spcPts val="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60">
                <a:latin typeface="微软雅黑"/>
                <a:cs typeface="微软雅黑"/>
              </a:rPr>
              <a:t>Ext+nd </a:t>
            </a:r>
            <a:r>
              <a:rPr dirty="0" sz="1800" spc="-75">
                <a:latin typeface="微软雅黑"/>
                <a:cs typeface="微软雅黑"/>
              </a:rPr>
              <a:t>nod+-wis+ </a:t>
            </a:r>
            <a:r>
              <a:rPr dirty="0" sz="1800" spc="-10">
                <a:latin typeface="微软雅黑"/>
                <a:cs typeface="微软雅黑"/>
              </a:rPr>
              <a:t>to </a:t>
            </a:r>
            <a:r>
              <a:rPr dirty="0" sz="1800" spc="40">
                <a:latin typeface="微软雅黑"/>
                <a:cs typeface="微软雅黑"/>
              </a:rPr>
              <a:t>(at)h-wis+</a:t>
            </a:r>
            <a:r>
              <a:rPr dirty="0" sz="1800" spc="155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samplin-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ts val="2135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100">
                <a:latin typeface="微软雅黑"/>
                <a:cs typeface="微软雅黑"/>
              </a:rPr>
              <a:t>Typ+-d+p+nd+nt </a:t>
            </a:r>
            <a:r>
              <a:rPr dirty="0" sz="1800">
                <a:latin typeface="微软雅黑"/>
                <a:cs typeface="微软雅黑"/>
              </a:rPr>
              <a:t>&amp; </a:t>
            </a:r>
            <a:r>
              <a:rPr dirty="0" sz="1800" spc="-5">
                <a:latin typeface="微软雅黑"/>
                <a:cs typeface="微软雅黑"/>
              </a:rPr>
              <a:t>-fusion </a:t>
            </a:r>
            <a:r>
              <a:rPr dirty="0" sz="1800" spc="40">
                <a:latin typeface="微软雅黑"/>
                <a:cs typeface="微软雅黑"/>
              </a:rPr>
              <a:t>samplin- </a:t>
            </a:r>
            <a:r>
              <a:rPr dirty="0" sz="1800" spc="-5">
                <a:latin typeface="微软雅黑"/>
                <a:cs typeface="微软雅黑"/>
              </a:rPr>
              <a:t>with</a:t>
            </a:r>
            <a:r>
              <a:rPr dirty="0" sz="1800" spc="65">
                <a:latin typeface="微软雅黑"/>
                <a:cs typeface="微软雅黑"/>
              </a:rPr>
              <a:t> </a:t>
            </a:r>
            <a:r>
              <a:rPr dirty="0" sz="1800" spc="-25">
                <a:latin typeface="微软雅黑"/>
                <a:cs typeface="微软雅黑"/>
              </a:rPr>
              <a:t>s+lf-normalization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微软雅黑"/>
                <a:cs typeface="微软雅黑"/>
              </a:rPr>
              <a:t>Computational )ompl+xity </a:t>
            </a:r>
            <a:r>
              <a:rPr dirty="0" sz="1800" spc="-10">
                <a:latin typeface="微软雅黑"/>
                <a:cs typeface="微软雅黑"/>
              </a:rPr>
              <a:t>drops from </a:t>
            </a:r>
            <a:r>
              <a:rPr dirty="0" sz="1800" spc="-55">
                <a:latin typeface="微软雅黑"/>
                <a:cs typeface="微软雅黑"/>
              </a:rPr>
              <a:t>O(IEI+I&amp;I) </a:t>
            </a:r>
            <a:r>
              <a:rPr dirty="0" sz="1800" spc="-10">
                <a:latin typeface="微软雅黑"/>
                <a:cs typeface="微软雅黑"/>
              </a:rPr>
              <a:t>to</a:t>
            </a:r>
            <a:r>
              <a:rPr dirty="0" sz="1800" spc="165">
                <a:latin typeface="微软雅黑"/>
                <a:cs typeface="微软雅黑"/>
              </a:rPr>
              <a:t> </a:t>
            </a:r>
            <a:r>
              <a:rPr dirty="0" sz="1800" spc="-80">
                <a:latin typeface="微软雅黑"/>
                <a:cs typeface="微软雅黑"/>
              </a:rPr>
              <a:t>O(I&amp;I)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2896" y="2880360"/>
            <a:ext cx="4956048" cy="3977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08191" y="2840735"/>
            <a:ext cx="5071871" cy="4017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32560" y="751331"/>
            <a:ext cx="9126220" cy="0"/>
          </a:xfrm>
          <a:custGeom>
            <a:avLst/>
            <a:gdLst/>
            <a:ahLst/>
            <a:cxnLst/>
            <a:rect l="l" t="t" r="r" b="b"/>
            <a:pathLst>
              <a:path w="9126220" h="0">
                <a:moveTo>
                  <a:pt x="0" y="0"/>
                </a:moveTo>
                <a:lnTo>
                  <a:pt x="9125712" y="0"/>
                </a:lnTo>
              </a:path>
            </a:pathLst>
          </a:custGeom>
          <a:ln w="15240">
            <a:solidFill>
              <a:srgbClr val="4B484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32560" y="3938015"/>
            <a:ext cx="9124315" cy="0"/>
          </a:xfrm>
          <a:custGeom>
            <a:avLst/>
            <a:gdLst/>
            <a:ahLst/>
            <a:cxnLst/>
            <a:rect l="l" t="t" r="r" b="b"/>
            <a:pathLst>
              <a:path w="9124315" h="0">
                <a:moveTo>
                  <a:pt x="0" y="0"/>
                </a:moveTo>
                <a:lnTo>
                  <a:pt x="9124188" y="0"/>
                </a:lnTo>
              </a:path>
            </a:pathLst>
          </a:custGeom>
          <a:ln w="15240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35679" y="2881883"/>
            <a:ext cx="802005" cy="0"/>
          </a:xfrm>
          <a:custGeom>
            <a:avLst/>
            <a:gdLst/>
            <a:ahLst/>
            <a:cxnLst/>
            <a:rect l="l" t="t" r="r" b="b"/>
            <a:pathLst>
              <a:path w="802004" h="0">
                <a:moveTo>
                  <a:pt x="0" y="0"/>
                </a:moveTo>
                <a:lnTo>
                  <a:pt x="801624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53711" y="2881883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 h="0">
                <a:moveTo>
                  <a:pt x="0" y="0"/>
                </a:moveTo>
                <a:lnTo>
                  <a:pt x="806196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71744" y="2881883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4671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0856" y="2881883"/>
            <a:ext cx="807720" cy="0"/>
          </a:xfrm>
          <a:custGeom>
            <a:avLst/>
            <a:gdLst/>
            <a:ahLst/>
            <a:cxnLst/>
            <a:rect l="l" t="t" r="r" b="b"/>
            <a:pathLst>
              <a:path w="807720" h="0">
                <a:moveTo>
                  <a:pt x="0" y="0"/>
                </a:moveTo>
                <a:lnTo>
                  <a:pt x="807720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628888" y="2881883"/>
            <a:ext cx="806450" cy="0"/>
          </a:xfrm>
          <a:custGeom>
            <a:avLst/>
            <a:gdLst/>
            <a:ahLst/>
            <a:cxnLst/>
            <a:rect l="l" t="t" r="r" b="b"/>
            <a:pathLst>
              <a:path w="806450" h="0">
                <a:moveTo>
                  <a:pt x="0" y="0"/>
                </a:moveTo>
                <a:lnTo>
                  <a:pt x="806195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46919" y="2881883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4672" y="0"/>
                </a:lnTo>
              </a:path>
            </a:pathLst>
          </a:custGeom>
          <a:ln w="12192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535679" y="6071615"/>
            <a:ext cx="803275" cy="0"/>
          </a:xfrm>
          <a:custGeom>
            <a:avLst/>
            <a:gdLst/>
            <a:ahLst/>
            <a:cxnLst/>
            <a:rect l="l" t="t" r="r" b="b"/>
            <a:pathLst>
              <a:path w="803275" h="0">
                <a:moveTo>
                  <a:pt x="0" y="0"/>
                </a:moveTo>
                <a:lnTo>
                  <a:pt x="803148" y="0"/>
                </a:lnTo>
              </a:path>
            </a:pathLst>
          </a:custGeom>
          <a:ln w="12192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71744" y="6071615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4671" y="0"/>
                </a:lnTo>
              </a:path>
            </a:pathLst>
          </a:custGeom>
          <a:ln w="12192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646919" y="6071615"/>
            <a:ext cx="805180" cy="0"/>
          </a:xfrm>
          <a:custGeom>
            <a:avLst/>
            <a:gdLst/>
            <a:ahLst/>
            <a:cxnLst/>
            <a:rect l="l" t="t" r="r" b="b"/>
            <a:pathLst>
              <a:path w="805179" h="0">
                <a:moveTo>
                  <a:pt x="0" y="0"/>
                </a:moveTo>
                <a:lnTo>
                  <a:pt x="804672" y="0"/>
                </a:lnTo>
              </a:path>
            </a:pathLst>
          </a:custGeom>
          <a:ln w="12192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406905" y="265684"/>
            <a:ext cx="9150350" cy="373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5080" indent="-13335">
              <a:lnSpc>
                <a:spcPct val="113999"/>
              </a:lnSpc>
              <a:spcBef>
                <a:spcPts val="100"/>
              </a:spcBef>
            </a:pP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Table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4: </a:t>
            </a:r>
            <a:r>
              <a:rPr dirty="0" sz="1000" spc="185">
                <a:solidFill>
                  <a:srgbClr val="1F1A1F"/>
                </a:solidFill>
                <a:latin typeface="Times New Roman"/>
                <a:cs typeface="Times New Roman"/>
              </a:rPr>
              <a:t>Micro/Macro-Fl 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scores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for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multi-class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classification </a:t>
            </a:r>
            <a:r>
              <a:rPr dirty="0" sz="1000" spc="210">
                <a:solidFill>
                  <a:srgbClr val="1F1A1F"/>
                </a:solidFill>
                <a:latin typeface="Times New Roman"/>
                <a:cs typeface="Times New Roman"/>
              </a:rPr>
              <a:t>on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Aminer.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Excluding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HEP, </a:t>
            </a:r>
            <a:r>
              <a:rPr dirty="0" sz="1000" spc="130">
                <a:solidFill>
                  <a:srgbClr val="1F1A1F"/>
                </a:solidFill>
                <a:latin typeface="Times New Roman"/>
                <a:cs typeface="Times New Roman"/>
              </a:rPr>
              <a:t>the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best </a:t>
            </a:r>
            <a:r>
              <a:rPr dirty="0" sz="1000" spc="225">
                <a:solidFill>
                  <a:srgbClr val="1F1A1F"/>
                </a:solidFill>
                <a:latin typeface="Times New Roman"/>
                <a:cs typeface="Times New Roman"/>
              </a:rPr>
              <a:t>method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is </a:t>
            </a:r>
            <a:r>
              <a:rPr dirty="0" sz="1000" spc="185">
                <a:solidFill>
                  <a:srgbClr val="1F1A1F"/>
                </a:solidFill>
                <a:latin typeface="Times New Roman"/>
                <a:cs typeface="Times New Roman"/>
              </a:rPr>
              <a:t>bolded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and </a:t>
            </a:r>
            <a:r>
              <a:rPr dirty="0" sz="1000" spc="160">
                <a:solidFill>
                  <a:srgbClr val="1F1A1F"/>
                </a:solidFill>
                <a:latin typeface="Times New Roman"/>
                <a:cs typeface="Times New Roman"/>
              </a:rPr>
              <a:t>the 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second</a:t>
            </a:r>
            <a:r>
              <a:rPr dirty="0" sz="1000" spc="5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best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35">
                <a:solidFill>
                  <a:srgbClr val="1F1A1F"/>
                </a:solidFill>
                <a:latin typeface="Times New Roman"/>
                <a:cs typeface="Times New Roman"/>
              </a:rPr>
              <a:t>is</a:t>
            </a:r>
            <a:r>
              <a:rPr dirty="0" sz="1000" spc="4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underlined.</a:t>
            </a:r>
            <a:r>
              <a:rPr dirty="0" sz="1000" spc="1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Percentages</a:t>
            </a:r>
            <a:r>
              <a:rPr dirty="0" sz="1000" spc="8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in</a:t>
            </a:r>
            <a:r>
              <a:rPr dirty="0" sz="1000" spc="10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parenthesis</a:t>
            </a:r>
            <a:r>
              <a:rPr dirty="0" sz="1000" spc="6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indicate</a:t>
            </a:r>
            <a:r>
              <a:rPr dirty="0" sz="1000" spc="10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the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200">
                <a:solidFill>
                  <a:srgbClr val="1F1A1F"/>
                </a:solidFill>
                <a:latin typeface="Times New Roman"/>
                <a:cs typeface="Times New Roman"/>
              </a:rPr>
              <a:t>performance</a:t>
            </a:r>
            <a:r>
              <a:rPr dirty="0" sz="1000" spc="114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35">
                <a:solidFill>
                  <a:srgbClr val="1F1A1F"/>
                </a:solidFill>
                <a:latin typeface="Times New Roman"/>
                <a:cs typeface="Times New Roman"/>
              </a:rPr>
              <a:t>level,</a:t>
            </a:r>
            <a:r>
              <a:rPr dirty="0" sz="1000" spc="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treating</a:t>
            </a:r>
            <a:r>
              <a:rPr dirty="0" sz="1000" spc="7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85">
                <a:solidFill>
                  <a:srgbClr val="1F1A1F"/>
                </a:solidFill>
                <a:latin typeface="Times New Roman"/>
                <a:cs typeface="Times New Roman"/>
              </a:rPr>
              <a:t>HEP-nil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as</a:t>
            </a:r>
            <a:r>
              <a:rPr dirty="0" sz="1000" spc="5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0%</a:t>
            </a:r>
            <a:r>
              <a:rPr dirty="0" sz="1000" spc="2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30">
                <a:solidFill>
                  <a:srgbClr val="1F1A1F"/>
                </a:solidFill>
                <a:latin typeface="Times New Roman"/>
                <a:cs typeface="Times New Roman"/>
              </a:rPr>
              <a:t>and  </a:t>
            </a:r>
            <a:r>
              <a:rPr dirty="0" sz="1000" spc="6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HEP </a:t>
            </a:r>
            <a:r>
              <a:rPr dirty="0" sz="1000" spc="29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25">
                <a:solidFill>
                  <a:srgbClr val="1F1A1F"/>
                </a:solidFill>
                <a:latin typeface="Times New Roman"/>
                <a:cs typeface="Times New Roman"/>
              </a:rPr>
              <a:t>as</a:t>
            </a:r>
            <a:r>
              <a:rPr dirty="0" sz="1000" spc="27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1F1A1F"/>
                </a:solidFill>
                <a:latin typeface="Times New Roman"/>
                <a:cs typeface="Times New Roman"/>
              </a:rPr>
              <a:t>100%.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425702" y="795527"/>
          <a:ext cx="9146540" cy="24955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"/>
                <a:gridCol w="1018793"/>
                <a:gridCol w="1020318"/>
                <a:gridCol w="1018031"/>
                <a:gridCol w="1014984"/>
                <a:gridCol w="1023366"/>
                <a:gridCol w="1018793"/>
                <a:gridCol w="1018032"/>
                <a:gridCol w="1018031"/>
              </a:tblGrid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R="6350">
                        <a:lnSpc>
                          <a:spcPts val="1135"/>
                        </a:lnSpc>
                      </a:pP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Micro-Fl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ctr" marR="14604">
                        <a:lnSpc>
                          <a:spcPts val="1135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Macro-Fl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Sampling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ts val="1110"/>
                        </a:lnSpc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512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</a:pPr>
                      <a:r>
                        <a:rPr dirty="0" sz="1000" spc="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1024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11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2048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0"/>
                        </a:lnSpc>
                      </a:pPr>
                      <a:r>
                        <a:rPr dirty="0" sz="1000" spc="7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4096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1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512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10"/>
                        </a:lnSpc>
                      </a:pP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1024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07070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11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2048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0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11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4096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T w="12700">
                      <a:solidFill>
                        <a:srgbClr val="808080"/>
                      </a:solidFill>
                      <a:prstDash val="solid"/>
                    </a:lnT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3340">
                        <a:lnSpc>
                          <a:spcPts val="1195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-3%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46990">
                        <a:lnSpc>
                          <a:spcPts val="1195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-6%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ts val="1195"/>
                        </a:lnSpc>
                      </a:pPr>
                      <a:r>
                        <a:rPr dirty="0" sz="1000" spc="2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-12%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5"/>
                        </a:lnSpc>
                        <a:spcBef>
                          <a:spcPts val="90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24%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4455">
                        <a:lnSpc>
                          <a:spcPts val="1195"/>
                        </a:lnSpc>
                      </a:pPr>
                      <a:r>
                        <a:rPr dirty="0" sz="1000" spc="2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-3%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8900">
                        <a:lnSpc>
                          <a:spcPts val="1195"/>
                        </a:lnSpc>
                      </a:pP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-6%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07070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22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-12%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0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185"/>
                        </a:lnSpc>
                        <a:spcBef>
                          <a:spcPts val="90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24%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1430">
                    <a:lnL w="12700">
                      <a:solidFill>
                        <a:srgbClr val="747474"/>
                      </a:solidFill>
                      <a:prstDash val="solid"/>
                    </a:lnL>
                    <a:lnB w="9525">
                      <a:solidFill>
                        <a:srgbClr val="777777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HEP-Nil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12700">
                      <a:solidFill>
                        <a:srgbClr val="838383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040130">
                        <a:lnSpc>
                          <a:spcPts val="116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0.2084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000" spc="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12700">
                      <a:solidFill>
                        <a:srgbClr val="8383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045210">
                        <a:lnSpc>
                          <a:spcPts val="116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0.2027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T w="9525">
                      <a:solidFill>
                        <a:srgbClr val="777777"/>
                      </a:solidFill>
                      <a:prstDash val="solid"/>
                    </a:lnT>
                    <a:lnB w="12700">
                      <a:solidFill>
                        <a:srgbClr val="83838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algn="ctr" marL="10160">
                        <a:lnSpc>
                          <a:spcPts val="1160"/>
                        </a:lnSpc>
                      </a:pPr>
                      <a:r>
                        <a:rPr dirty="0" sz="1000" spc="1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HEP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838383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034415">
                        <a:lnSpc>
                          <a:spcPts val="116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0.9566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12700">
                      <a:solidFill>
                        <a:srgbClr val="838383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038860">
                        <a:lnSpc>
                          <a:spcPts val="1160"/>
                        </a:lnSpc>
                      </a:pP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11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9551</a:t>
                      </a:r>
                      <a:r>
                        <a:rPr dirty="0" sz="1000" spc="-1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upper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T w="12700">
                      <a:solidFill>
                        <a:srgbClr val="838383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AS-GCN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0.2866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7790">
                        <a:lnSpc>
                          <a:spcPts val="1140"/>
                        </a:lnSpc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0.2901</a:t>
                      </a:r>
                      <a:r>
                        <a:rPr dirty="0" sz="1000" spc="-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(11</a:t>
                      </a:r>
                      <a:r>
                        <a:rPr dirty="0" sz="1000" spc="4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14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0.2951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0.3050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(13%)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6050">
                        <a:lnSpc>
                          <a:spcPts val="114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0.2721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ts val="1140"/>
                        </a:lnSpc>
                      </a:pP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5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27 70</a:t>
                      </a:r>
                      <a:r>
                        <a:rPr dirty="0" sz="1000" spc="-1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0.2788 </a:t>
                      </a:r>
                      <a:r>
                        <a:rPr dirty="0" sz="1000" spc="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140"/>
                        </a:lnSpc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28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  <a:r>
                        <a:rPr dirty="0" sz="1000" spc="-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T w="12700">
                      <a:solidFill>
                        <a:srgbClr val="7C7C7C"/>
                      </a:solidFill>
                      <a:prstDash val="solid"/>
                    </a:lnT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Unif-TD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0.3089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9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0.3934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195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0.5227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0.6861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119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0.2864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19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0.3679</a:t>
                      </a:r>
                      <a:r>
                        <a:rPr dirty="0" sz="1000" spc="-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(21</a:t>
                      </a:r>
                      <a:r>
                        <a:rPr dirty="0" sz="1000" spc="4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0.4978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3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664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 </a:t>
                      </a:r>
                      <a:r>
                        <a:rPr dirty="0" sz="1000" spc="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(61</a:t>
                      </a:r>
                      <a:r>
                        <a:rPr dirty="0" sz="1000" spc="-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Unif-TF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0.2877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(11</a:t>
                      </a:r>
                      <a:r>
                        <a:rPr dirty="0" sz="1000" spc="4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0.4010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(26%)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0.5574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5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73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29</a:t>
                      </a:r>
                      <a:r>
                        <a:rPr dirty="0" sz="1000" spc="-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(70%)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0.2897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(11</a:t>
                      </a:r>
                      <a:r>
                        <a:rPr dirty="0" sz="1000" spc="4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0.3941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0.5371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716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1000" spc="-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R="889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dirty="0" sz="1000" spc="-1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195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让</a:t>
                      </a:r>
                      <a:r>
                        <a:rPr dirty="0" sz="1000" spc="-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'-TD</a:t>
                      </a:r>
                      <a:r>
                        <a:rPr dirty="0" sz="1000" spc="-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-S</a:t>
                      </a:r>
                      <a:r>
                        <a:rPr dirty="0" sz="1000" spc="-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0.2283</a:t>
                      </a:r>
                      <a:r>
                        <a:rPr dirty="0" sz="1000" spc="-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0.2955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(12%)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0.4816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0.7260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(69%)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0.1768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(-4%)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0.2286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0.4431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0.7209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R="16510">
                        <a:lnSpc>
                          <a:spcPts val="1185"/>
                        </a:lnSpc>
                      </a:pPr>
                      <a:r>
                        <a:rPr dirty="0" sz="1000" spc="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dirty="0" sz="1000" spc="-1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0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让</a:t>
                      </a:r>
                      <a:r>
                        <a:rPr dirty="0" sz="1000" spc="-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'-TF</a:t>
                      </a:r>
                      <a:r>
                        <a:rPr dirty="0" sz="1000" spc="-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-S</a:t>
                      </a:r>
                      <a:r>
                        <a:rPr dirty="0" sz="1000" spc="-7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0.1631</a:t>
                      </a:r>
                      <a:r>
                        <a:rPr dirty="0" sz="1000" spc="-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(-6%)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0.2951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0.4489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0.7101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131 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dirty="0" sz="1000" spc="-1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(-10%)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6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2655</a:t>
                      </a:r>
                      <a:r>
                        <a:rPr dirty="0" sz="1000" spc="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0.4302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5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6954</a:t>
                      </a: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VarR-1D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0.3423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0.4911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0.5734</a:t>
                      </a:r>
                      <a:r>
                        <a:rPr dirty="0" sz="1000" spc="-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{49%)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0.6408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0.3258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0.4663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0.5516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0.6185</a:t>
                      </a:r>
                      <a:r>
                        <a:rPr dirty="0" sz="1000" spc="-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{55%)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0.6200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0.7472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(72%)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0.7931</a:t>
                      </a:r>
                      <a:r>
                        <a:rPr dirty="0" sz="1000" spc="-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{78%)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0.7920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(78%)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0.6087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0.7388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(71%)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0.7812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(77%)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0.7822</a:t>
                      </a:r>
                      <a:r>
                        <a:rPr dirty="0" sz="1000" spc="-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{77%)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VarR-TD-SN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0.2353</a:t>
                      </a:r>
                      <a:r>
                        <a:rPr dirty="0" sz="1000" spc="-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0.3245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(16%)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0.5210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0.7078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2128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0.1999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(-1%)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0.2853</a:t>
                      </a:r>
                      <a:r>
                        <a:rPr dirty="0" sz="1000" spc="-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(10</a:t>
                      </a:r>
                      <a:r>
                        <a:rPr dirty="0" sz="1000" spc="3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%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0.5008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0.6921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VarR-TF-SN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0.5960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4769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0.8124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0.9008</a:t>
                      </a:r>
                      <a:r>
                        <a:rPr dirty="0" sz="1000" spc="-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{93%)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777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0.9311</a:t>
                      </a:r>
                      <a:r>
                        <a:rPr dirty="0" sz="1000" spc="-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0.5843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0.8170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0.9047</a:t>
                      </a:r>
                      <a:r>
                        <a:rPr dirty="0" sz="1000" spc="-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{93%)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0.9327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B w="19050">
                      <a:solidFill>
                        <a:srgbClr val="443F3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406905" y="3459988"/>
            <a:ext cx="914590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 marR="5080" indent="-13335">
              <a:lnSpc>
                <a:spcPct val="110000"/>
              </a:lnSpc>
              <a:spcBef>
                <a:spcPts val="100"/>
              </a:spcBef>
            </a:pP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Table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5: 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Fl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and </a:t>
            </a:r>
            <a:r>
              <a:rPr dirty="0" sz="1000" spc="265">
                <a:solidFill>
                  <a:srgbClr val="1F1A1F"/>
                </a:solidFill>
                <a:latin typeface="Times New Roman"/>
                <a:cs typeface="Times New Roman"/>
              </a:rPr>
              <a:t>AUC </a:t>
            </a:r>
            <a:r>
              <a:rPr dirty="0" sz="1000" spc="160">
                <a:solidFill>
                  <a:srgbClr val="1F1A1F"/>
                </a:solidFill>
                <a:latin typeface="Times New Roman"/>
                <a:cs typeface="Times New Roman"/>
              </a:rPr>
              <a:t>scores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for </a:t>
            </a:r>
            <a:r>
              <a:rPr dirty="0" sz="1000" spc="200">
                <a:solidFill>
                  <a:srgbClr val="1F1A1F"/>
                </a:solidFill>
                <a:latin typeface="Times New Roman"/>
                <a:cs typeface="Times New Roman"/>
              </a:rPr>
              <a:t>binary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purchase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prediction </a:t>
            </a:r>
            <a:r>
              <a:rPr dirty="0" sz="1000" spc="225">
                <a:solidFill>
                  <a:srgbClr val="1F1A1F"/>
                </a:solidFill>
                <a:latin typeface="Times New Roman"/>
                <a:cs typeface="Times New Roman"/>
              </a:rPr>
              <a:t>on 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Alibaba.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Excluding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HEP, </a:t>
            </a:r>
            <a:r>
              <a:rPr dirty="0" sz="1000" spc="130">
                <a:solidFill>
                  <a:srgbClr val="1F1A1F"/>
                </a:solidFill>
                <a:latin typeface="Times New Roman"/>
                <a:cs typeface="Times New Roman"/>
              </a:rPr>
              <a:t>the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best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Inethod </a:t>
            </a:r>
            <a:r>
              <a:rPr dirty="0" sz="1000" spc="135">
                <a:solidFill>
                  <a:srgbClr val="1F1A1F"/>
                </a:solidFill>
                <a:latin typeface="Times New Roman"/>
                <a:cs typeface="Times New Roman"/>
              </a:rPr>
              <a:t>is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bolded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and 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the 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second</a:t>
            </a:r>
            <a:r>
              <a:rPr dirty="0" sz="1000" spc="8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5">
                <a:solidFill>
                  <a:srgbClr val="1F1A1F"/>
                </a:solidFill>
                <a:latin typeface="Times New Roman"/>
                <a:cs typeface="Times New Roman"/>
              </a:rPr>
              <a:t>best</a:t>
            </a:r>
            <a:r>
              <a:rPr dirty="0" sz="1000" spc="8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35">
                <a:solidFill>
                  <a:srgbClr val="1F1A1F"/>
                </a:solidFill>
                <a:latin typeface="Times New Roman"/>
                <a:cs typeface="Times New Roman"/>
              </a:rPr>
              <a:t>is</a:t>
            </a:r>
            <a:r>
              <a:rPr dirty="0" sz="1000" spc="4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underlined.</a:t>
            </a:r>
            <a:r>
              <a:rPr dirty="0" sz="1000" spc="4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Percentages</a:t>
            </a:r>
            <a:r>
              <a:rPr dirty="0" sz="1000" spc="16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55">
                <a:solidFill>
                  <a:srgbClr val="1F1A1F"/>
                </a:solidFill>
                <a:latin typeface="Times New Roman"/>
                <a:cs typeface="Times New Roman"/>
              </a:rPr>
              <a:t>in</a:t>
            </a:r>
            <a:r>
              <a:rPr dirty="0" sz="1000" spc="11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90">
                <a:solidFill>
                  <a:srgbClr val="1F1A1F"/>
                </a:solidFill>
                <a:latin typeface="Times New Roman"/>
                <a:cs typeface="Times New Roman"/>
              </a:rPr>
              <a:t>parenthesis</a:t>
            </a:r>
            <a:r>
              <a:rPr dirty="0" sz="1000" spc="10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indicate</a:t>
            </a:r>
            <a:r>
              <a:rPr dirty="0" sz="1000" spc="10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the</a:t>
            </a:r>
            <a:r>
              <a:rPr dirty="0" sz="1000" spc="15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perforinance</a:t>
            </a:r>
            <a:r>
              <a:rPr dirty="0" sz="1000" spc="12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1F1A1F"/>
                </a:solidFill>
                <a:latin typeface="Times New Roman"/>
                <a:cs typeface="Times New Roman"/>
              </a:rPr>
              <a:t>level,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75">
                <a:solidFill>
                  <a:srgbClr val="1F1A1F"/>
                </a:solidFill>
                <a:latin typeface="Times New Roman"/>
                <a:cs typeface="Times New Roman"/>
              </a:rPr>
              <a:t>treating</a:t>
            </a:r>
            <a:r>
              <a:rPr dirty="0" sz="1000" spc="5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1F1A1F"/>
                </a:solidFill>
                <a:latin typeface="Times New Roman"/>
                <a:cs typeface="Times New Roman"/>
              </a:rPr>
              <a:t>HEP-nil</a:t>
            </a:r>
            <a:r>
              <a:rPr dirty="0" sz="1000" spc="13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0">
                <a:solidFill>
                  <a:srgbClr val="1F1A1F"/>
                </a:solidFill>
                <a:latin typeface="Times New Roman"/>
                <a:cs typeface="Times New Roman"/>
              </a:rPr>
              <a:t>as</a:t>
            </a:r>
            <a:r>
              <a:rPr dirty="0" sz="1000" spc="3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200">
                <a:solidFill>
                  <a:srgbClr val="1F1A1F"/>
                </a:solidFill>
                <a:latin typeface="Times New Roman"/>
                <a:cs typeface="Times New Roman"/>
              </a:rPr>
              <a:t>0%and</a:t>
            </a:r>
            <a:r>
              <a:rPr dirty="0" sz="1000" spc="13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250">
                <a:solidFill>
                  <a:srgbClr val="1F1A1F"/>
                </a:solidFill>
                <a:latin typeface="Times New Roman"/>
                <a:cs typeface="Times New Roman"/>
              </a:rPr>
              <a:t>HEP</a:t>
            </a:r>
            <a:r>
              <a:rPr dirty="0" sz="1000" spc="25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60">
                <a:solidFill>
                  <a:srgbClr val="1F1A1F"/>
                </a:solidFill>
                <a:latin typeface="Times New Roman"/>
                <a:cs typeface="Times New Roman"/>
              </a:rPr>
              <a:t>as</a:t>
            </a:r>
            <a:r>
              <a:rPr dirty="0" sz="1000" spc="30">
                <a:solidFill>
                  <a:srgbClr val="1F1A1F"/>
                </a:solidFill>
                <a:latin typeface="Times New Roman"/>
                <a:cs typeface="Times New Roman"/>
              </a:rPr>
              <a:t> </a:t>
            </a:r>
            <a:r>
              <a:rPr dirty="0" sz="1000" spc="105">
                <a:solidFill>
                  <a:srgbClr val="1F1A1F"/>
                </a:solidFill>
                <a:latin typeface="Times New Roman"/>
                <a:cs typeface="Times New Roman"/>
              </a:rPr>
              <a:t>100%</a:t>
            </a:r>
            <a:endParaRPr sz="1000">
              <a:latin typeface="Times New Roman"/>
              <a:cs typeface="Times New Roman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1425702" y="3979164"/>
          <a:ext cx="9146540" cy="25025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5360"/>
                <a:gridCol w="1018793"/>
                <a:gridCol w="1020318"/>
                <a:gridCol w="1018031"/>
                <a:gridCol w="1014984"/>
                <a:gridCol w="1023366"/>
                <a:gridCol w="1018793"/>
                <a:gridCol w="1018032"/>
                <a:gridCol w="1018031"/>
              </a:tblGrid>
              <a:tr h="1651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ts val="1150"/>
                        </a:lnSpc>
                      </a:pPr>
                      <a:r>
                        <a:rPr dirty="0" sz="1000" spc="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Fl-score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algn="ctr" marL="20955">
                        <a:lnSpc>
                          <a:spcPts val="1170"/>
                        </a:lnSpc>
                      </a:pPr>
                      <a:r>
                        <a:rPr dirty="0" sz="1000" spc="20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AUC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B w="6350">
                      <a:solidFill>
                        <a:srgbClr val="3F3F3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marL="171450">
                        <a:lnSpc>
                          <a:spcPts val="1170"/>
                        </a:lnSpc>
                      </a:pPr>
                      <a:r>
                        <a:rPr dirty="0" sz="1000" spc="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Sampling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685">
                        <a:lnSpc>
                          <a:spcPts val="1145"/>
                        </a:lnSpc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512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000" spc="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1024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2048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4096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512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ts val="1170"/>
                        </a:lnSpc>
                      </a:pP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1024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07070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ts val="114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2048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0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4096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T w="6350">
                      <a:solidFill>
                        <a:srgbClr val="3F3F3F"/>
                      </a:solidFill>
                      <a:prstDash val="solid"/>
                    </a:lnT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size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2.5%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318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-5%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4800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2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-10%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55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4640">
                        <a:lnSpc>
                          <a:spcPts val="1200"/>
                        </a:lnSpc>
                        <a:spcBef>
                          <a:spcPts val="55"/>
                        </a:spcBef>
                      </a:pP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 </a:t>
                      </a:r>
                      <a:r>
                        <a:rPr dirty="0" sz="1000" spc="1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2.5%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8445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-5%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07070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225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-10%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0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2540">
                        <a:lnSpc>
                          <a:spcPts val="1200"/>
                        </a:lnSpc>
                        <a:spcBef>
                          <a:spcPts val="55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20%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B w="12700">
                      <a:solidFill>
                        <a:srgbClr val="808080"/>
                      </a:solidFill>
                      <a:prstDash val="solid"/>
                    </a:lnB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207645">
                        <a:lnSpc>
                          <a:spcPts val="1145"/>
                        </a:lnSpc>
                      </a:pPr>
                      <a:r>
                        <a:rPr dirty="0" sz="1000" spc="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HEP-Nil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70707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040130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0.3994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000" spc="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1270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70707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045210">
                        <a:lnSpc>
                          <a:spcPts val="114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0.5134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lower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T w="12700">
                      <a:solidFill>
                        <a:srgbClr val="808080"/>
                      </a:solidFill>
                      <a:prstDash val="solid"/>
                    </a:lnT>
                    <a:lnB w="9525">
                      <a:solidFill>
                        <a:srgbClr val="70707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algn="ctr" marL="10160">
                        <a:lnSpc>
                          <a:spcPts val="1170"/>
                        </a:lnSpc>
                      </a:pPr>
                      <a:r>
                        <a:rPr dirty="0" sz="1000" spc="1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HEP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9525">
                      <a:solidFill>
                        <a:srgbClr val="707070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1034415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0.5793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07070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 marL="1038860">
                        <a:lnSpc>
                          <a:spcPts val="1170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7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7777 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(intuitive </a:t>
                      </a: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upper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bound)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77777"/>
                      </a:solidFill>
                      <a:prstDash val="solid"/>
                    </a:lnL>
                    <a:lnT w="9525">
                      <a:solidFill>
                        <a:srgbClr val="707070"/>
                      </a:solidFill>
                      <a:prstDash val="solid"/>
                    </a:lnT>
                    <a:lnB w="12700">
                      <a:solidFill>
                        <a:srgbClr val="7C7C7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65100">
                <a:tc>
                  <a:txBody>
                    <a:bodyPr/>
                    <a:lstStyle/>
                    <a:p>
                      <a:pPr marL="196850">
                        <a:lnSpc>
                          <a:spcPts val="1085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AS-GCN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12700">
                      <a:solidFill>
                        <a:srgbClr val="7C7C7C"/>
                      </a:solidFill>
                      <a:prstDash val="solid"/>
                    </a:lnT>
                    <a:lnB w="6350">
                      <a:solidFill>
                        <a:srgbClr val="4F4F4F"/>
                      </a:solidFill>
                      <a:prstDash val="solid"/>
                    </a:lnB>
                  </a:tcPr>
                </a:tc>
                <a:tc gridSpan="8">
                  <a:txBody>
                    <a:bodyPr/>
                    <a:lstStyle/>
                    <a:p>
                      <a:pPr marL="2508885">
                        <a:lnSpc>
                          <a:spcPts val="1110"/>
                        </a:lnSpc>
                      </a:pPr>
                      <a:r>
                        <a:rPr dirty="0" sz="1000" spc="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(unable </a:t>
                      </a:r>
                      <a:r>
                        <a:rPr dirty="0" sz="1000" spc="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000" spc="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complete </a:t>
                      </a: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due </a:t>
                      </a:r>
                      <a:r>
                        <a:rPr dirty="0" sz="1000" spc="10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to </a:t>
                      </a:r>
                      <a:r>
                        <a:rPr dirty="0" sz="1000" spc="1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memory</a:t>
                      </a:r>
                      <a:r>
                        <a:rPr dirty="0" sz="1000" spc="1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constraint)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T w="12700">
                      <a:solidFill>
                        <a:srgbClr val="7C7C7C"/>
                      </a:solidFill>
                      <a:prstDash val="solid"/>
                    </a:lnT>
                    <a:lnB w="6350">
                      <a:solidFill>
                        <a:srgbClr val="4F4F4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52400">
                <a:tc>
                  <a:txBody>
                    <a:bodyPr/>
                    <a:lstStyle/>
                    <a:p>
                      <a:pPr marL="209550">
                        <a:lnSpc>
                          <a:spcPts val="1085"/>
                        </a:lnSpc>
                      </a:pPr>
                      <a:r>
                        <a:rPr dirty="0" sz="1000" spc="-7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950" spc="-165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江</a:t>
                      </a:r>
                      <a:r>
                        <a:rPr dirty="0" sz="1000" spc="-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:...TD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0.3883</a:t>
                      </a:r>
                      <a:r>
                        <a:rPr dirty="0" sz="1000" spc="-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(-6%)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135"/>
                        </a:lnSpc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0.4353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135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0.4692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5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.4</a:t>
                      </a:r>
                      <a:r>
                        <a:rPr dirty="0" sz="1000" spc="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891</a:t>
                      </a: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1135"/>
                        </a:lnSpc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0.5999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13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0.6616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(56%)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35"/>
                        </a:lnSpc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0.7158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(77%)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ts val="1135"/>
                        </a:lnSpc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7463</a:t>
                      </a:r>
                      <a:r>
                        <a:rPr dirty="0" sz="1000" spc="1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747474"/>
                      </a:solidFill>
                      <a:prstDash val="solid"/>
                    </a:lnL>
                    <a:lnT w="6350">
                      <a:solidFill>
                        <a:srgbClr val="4F4F4F"/>
                      </a:solidFill>
                      <a:prstDash val="solid"/>
                    </a:lnT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227329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dirty="0" sz="1000" spc="-14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60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让</a:t>
                      </a:r>
                      <a:r>
                        <a:rPr dirty="0" sz="1000" spc="-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'-TF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0.4051</a:t>
                      </a:r>
                      <a:r>
                        <a:rPr dirty="0" sz="1000" spc="-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0.4281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0.4558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0.4858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0.6207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0.6584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0.6992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(70%)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7413</a:t>
                      </a:r>
                      <a:r>
                        <a:rPr dirty="0" sz="1000" spc="1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81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8763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 </a:t>
                      </a:r>
                      <a:r>
                        <a:rPr dirty="0" sz="900" spc="-229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让 </a:t>
                      </a:r>
                      <a:r>
                        <a:rPr dirty="0" sz="1000" spc="-17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"-TD </a:t>
                      </a:r>
                      <a:r>
                        <a:rPr dirty="0" sz="1000" spc="-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4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-S    </a:t>
                      </a:r>
                      <a:r>
                        <a:rPr dirty="0" sz="1000" spc="-2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0.3884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000" spc="2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0.4322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(18%)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0.4470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0.4920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(51%)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0.5982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0.6635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(57%)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0.6873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(66%)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0"/>
                        </a:lnSpc>
                        <a:spcBef>
                          <a:spcPts val="1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0.7500</a:t>
                      </a:r>
                      <a:r>
                        <a:rPr dirty="0" sz="1000" spc="-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{90%)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27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105410">
                        <a:lnSpc>
                          <a:spcPts val="1175"/>
                        </a:lnSpc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dirty="0" sz="900" spc="-215">
                          <a:solidFill>
                            <a:srgbClr val="1F1A1F"/>
                          </a:solidFill>
                          <a:latin typeface="宋体"/>
                          <a:cs typeface="宋体"/>
                        </a:rPr>
                        <a:t>让</a:t>
                      </a:r>
                      <a:r>
                        <a:rPr dirty="0" sz="1000" spc="-2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._TF            </a:t>
                      </a:r>
                      <a:r>
                        <a:rPr dirty="0" sz="1000" spc="-1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1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-S      </a:t>
                      </a:r>
                      <a:r>
                        <a:rPr dirty="0" sz="1000" spc="-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-3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127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0.3928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000" spc="2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0.4219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0.4435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0.4917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(51</a:t>
                      </a:r>
                      <a:r>
                        <a:rPr dirty="0" sz="1000" spc="50">
                          <a:solidFill>
                            <a:srgbClr val="2F2B31"/>
                          </a:solidFill>
                          <a:latin typeface="Times New Roman"/>
                          <a:cs typeface="Times New Roman"/>
                        </a:rPr>
                        <a:t>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0.6028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(34%)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0.6496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(52%)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0.6836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0.7489</a:t>
                      </a:r>
                      <a:r>
                        <a:rPr dirty="0" sz="1000" spc="-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{89%)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marL="1905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</a:t>
                      </a:r>
                      <a:r>
                        <a:rPr dirty="0" sz="1000" spc="-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dirty="0" sz="1000" spc="35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TD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0.4476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0.4518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0.4852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0.4743</a:t>
                      </a:r>
                      <a:r>
                        <a:rPr dirty="0" sz="1000" spc="-1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0.6829</a:t>
                      </a:r>
                      <a:r>
                        <a:rPr dirty="0" sz="1000" spc="-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{64%)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0.6969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0.7314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3D3D3D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731 </a:t>
                      </a:r>
                      <a:r>
                        <a:rPr dirty="0" sz="1000" spc="5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r>
                        <a:rPr dirty="0" sz="1000" spc="-114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VarR-TF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0.4774</a:t>
                      </a:r>
                      <a:r>
                        <a:rPr dirty="0" sz="1000" spc="-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0.4863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0.5019</a:t>
                      </a:r>
                      <a:r>
                        <a:rPr dirty="0" sz="1000" spc="-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{57%)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0.5090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(61%)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0.7374</a:t>
                      </a:r>
                      <a:r>
                        <a:rPr dirty="0" sz="1000" spc="-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(85%)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0.7466</a:t>
                      </a:r>
                      <a:r>
                        <a:rPr dirty="0" sz="1000" spc="2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0.7513</a:t>
                      </a:r>
                      <a:r>
                        <a:rPr dirty="0" sz="1000" spc="-1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{90%)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65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7548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(91%)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9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VarR-TD-SN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0.4293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(17%)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0.4497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(28%)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0.4720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0.5038</a:t>
                      </a:r>
                      <a:r>
                        <a:rPr dirty="0" sz="1000" spc="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0.6645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(57%)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0.6941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0.7293</a:t>
                      </a:r>
                      <a:r>
                        <a:rPr dirty="0" sz="100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(82%)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R="63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dirty="0" sz="1000" spc="40">
                          <a:solidFill>
                            <a:srgbClr val="60606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7501</a:t>
                      </a:r>
                      <a:r>
                        <a:rPr dirty="0" sz="1000" spc="1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985">
                    <a:lnL w="12700">
                      <a:solidFill>
                        <a:srgbClr val="747474"/>
                      </a:solidFill>
                      <a:prstDash val="solid"/>
                    </a:lnL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VarR-TF-SN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R w="12700">
                      <a:solidFill>
                        <a:srgbClr val="747474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0.4766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(43%)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R w="9525">
                      <a:solidFill>
                        <a:srgbClr val="4B4B4B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6604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0.4896</a:t>
                      </a:r>
                      <a:r>
                        <a:rPr dirty="0" sz="1000" spc="-10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{50%)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B4B4B"/>
                      </a:solidFill>
                      <a:prstDash val="solid"/>
                    </a:lnL>
                    <a:lnR w="12700">
                      <a:solidFill>
                        <a:srgbClr val="7C7C7C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160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0.4970</a:t>
                      </a:r>
                      <a:r>
                        <a:rPr dirty="0" sz="1000" spc="4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(54%)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C7C7C"/>
                      </a:solidFill>
                      <a:prstDash val="solid"/>
                    </a:lnL>
                    <a:lnR w="12700">
                      <a:solidFill>
                        <a:srgbClr val="777474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0.5097</a:t>
                      </a:r>
                      <a:r>
                        <a:rPr dirty="0" sz="1000" spc="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(61%)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77474"/>
                      </a:solidFill>
                      <a:prstDash val="solid"/>
                    </a:lnL>
                    <a:lnR w="9525">
                      <a:solidFill>
                        <a:srgbClr val="7C7C77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0.7347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(84%)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7C7C77"/>
                      </a:solidFill>
                      <a:prstDash val="solid"/>
                    </a:lnL>
                    <a:lnR w="9525">
                      <a:solidFill>
                        <a:srgbClr val="484848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8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0.7453</a:t>
                      </a:r>
                      <a:r>
                        <a:rPr dirty="0" sz="1000" spc="-2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(88%)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9525">
                      <a:solidFill>
                        <a:srgbClr val="484848"/>
                      </a:solidFill>
                      <a:prstDash val="solid"/>
                    </a:lnL>
                    <a:lnR w="12700">
                      <a:solidFill>
                        <a:srgbClr val="747070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6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0.7496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3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(89%)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070"/>
                      </a:solidFill>
                      <a:prstDash val="solid"/>
                    </a:lnL>
                    <a:lnR w="12700">
                      <a:solidFill>
                        <a:srgbClr val="747474"/>
                      </a:solidFill>
                      <a:prstDash val="solid"/>
                    </a:lnR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71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000" spc="15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0.7551</a:t>
                      </a:r>
                      <a:r>
                        <a:rPr dirty="0" sz="1000" spc="-110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000" spc="75">
                          <a:solidFill>
                            <a:srgbClr val="1F1A1F"/>
                          </a:solidFill>
                          <a:latin typeface="Times New Roman"/>
                          <a:cs typeface="Times New Roman"/>
                        </a:rPr>
                        <a:t>(91%)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">
                    <a:lnL w="12700">
                      <a:solidFill>
                        <a:srgbClr val="747474"/>
                      </a:solidFill>
                      <a:prstDash val="solid"/>
                    </a:lnL>
                    <a:lnB w="19050">
                      <a:solidFill>
                        <a:srgbClr val="38383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5374" y="441451"/>
            <a:ext cx="79489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Microsoft Tai Le"/>
                <a:cs typeface="Microsoft Tai Le"/>
              </a:rPr>
              <a:t>Multiplex </a:t>
            </a:r>
            <a:r>
              <a:rPr dirty="0" sz="1200" spc="-5" b="1">
                <a:latin typeface="Microsoft Tai Le"/>
                <a:cs typeface="Microsoft Tai Le"/>
              </a:rPr>
              <a:t>ANRL: Attributed Network Representation Learning via </a:t>
            </a:r>
            <a:r>
              <a:rPr dirty="0" sz="1200" b="1">
                <a:latin typeface="Microsoft Tai Le"/>
                <a:cs typeface="Microsoft Tai Le"/>
              </a:rPr>
              <a:t>Deep </a:t>
            </a:r>
            <a:r>
              <a:rPr dirty="0" sz="1200" spc="-5" b="1">
                <a:latin typeface="Microsoft Tai Le"/>
                <a:cs typeface="Microsoft Tai Le"/>
              </a:rPr>
              <a:t>Neural Networks, IJCAI</a:t>
            </a:r>
            <a:r>
              <a:rPr dirty="0" sz="1200" spc="130" b="1">
                <a:latin typeface="Microsoft Tai Le"/>
                <a:cs typeface="Microsoft Tai Le"/>
              </a:rPr>
              <a:t> </a:t>
            </a:r>
            <a:r>
              <a:rPr dirty="0" sz="1200" spc="-5" b="1">
                <a:latin typeface="Microsoft Tai Le"/>
                <a:cs typeface="Microsoft Tai Le"/>
              </a:rPr>
              <a:t>2018</a:t>
            </a:r>
            <a:endParaRPr sz="12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32894" y="1002283"/>
            <a:ext cx="9236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latin typeface="Microsoft Tai Le"/>
                <a:cs typeface="Microsoft Tai Le"/>
              </a:rPr>
              <a:t>Representation Learning for Attributed Multiplex Heterogeneous Network, KDD</a:t>
            </a:r>
            <a:r>
              <a:rPr dirty="0" sz="1800" spc="75" b="1">
                <a:latin typeface="Microsoft Tai Le"/>
                <a:cs typeface="Microsoft Tai Le"/>
              </a:rPr>
              <a:t> </a:t>
            </a:r>
            <a:r>
              <a:rPr dirty="0" sz="1800" b="1">
                <a:latin typeface="Microsoft Tai Le"/>
                <a:cs typeface="Microsoft Tai Le"/>
              </a:rPr>
              <a:t>2018</a:t>
            </a:r>
            <a:endParaRPr sz="1800">
              <a:latin typeface="Microsoft Tai Le"/>
              <a:cs typeface="Microsoft Tai Le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97408" y="1493519"/>
            <a:ext cx="10844784" cy="49469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03448" y="731519"/>
            <a:ext cx="5184648" cy="1956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745735" y="2862072"/>
            <a:ext cx="3319271" cy="3596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12415" y="243331"/>
            <a:ext cx="26054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20">
                <a:latin typeface="微软雅黑"/>
                <a:cs typeface="微软雅黑"/>
              </a:rPr>
              <a:t>Transudative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Model</a:t>
            </a:r>
            <a:r>
              <a:rPr dirty="0" sz="2400" spc="-5" b="0">
                <a:latin typeface="Calibri Light"/>
                <a:cs typeface="Calibri Light"/>
              </a:rPr>
              <a:t>: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2415" y="2541523"/>
            <a:ext cx="2193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微软雅黑"/>
                <a:cs typeface="微软雅黑"/>
              </a:rPr>
              <a:t>Inductive</a:t>
            </a:r>
            <a:r>
              <a:rPr dirty="0" sz="1800" spc="-17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Model</a:t>
            </a:r>
            <a:r>
              <a:rPr dirty="0" sz="1800" spc="-5"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24127" y="3325367"/>
            <a:ext cx="10149840" cy="32522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92223" y="633983"/>
            <a:ext cx="3816096" cy="20604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120128" y="658368"/>
            <a:ext cx="2816352" cy="17190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925453" y="2214879"/>
            <a:ext cx="817244" cy="495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100"/>
              </a:spcBef>
            </a:pPr>
            <a:r>
              <a:rPr dirty="0" sz="1300" spc="-5">
                <a:solidFill>
                  <a:srgbClr val="565257"/>
                </a:solidFill>
                <a:latin typeface="Arial"/>
                <a:cs typeface="Arial"/>
              </a:rPr>
              <a:t>GAT</a:t>
            </a:r>
            <a:r>
              <a:rPr dirty="0" sz="1300" spc="-114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65257"/>
                </a:solidFill>
                <a:latin typeface="Arial"/>
                <a:cs typeface="Arial"/>
              </a:rPr>
              <a:t>N</a:t>
            </a:r>
            <a:r>
              <a:rPr dirty="0" sz="1300" spc="-175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565257"/>
                </a:solidFill>
                <a:latin typeface="Arial"/>
                <a:cs typeface="Arial"/>
              </a:rPr>
              <a:t>E</a:t>
            </a:r>
            <a:r>
              <a:rPr dirty="0" sz="1300" spc="-70">
                <a:solidFill>
                  <a:srgbClr val="7E7782"/>
                </a:solidFill>
                <a:latin typeface="Arial"/>
                <a:cs typeface="Arial"/>
              </a:rPr>
              <a:t>-</a:t>
            </a:r>
            <a:r>
              <a:rPr dirty="0" sz="1300" spc="-215">
                <a:solidFill>
                  <a:srgbClr val="7E7782"/>
                </a:solidFill>
                <a:latin typeface="Arial"/>
                <a:cs typeface="Arial"/>
              </a:rPr>
              <a:t> </a:t>
            </a:r>
            <a:r>
              <a:rPr dirty="0" sz="1300" spc="-315">
                <a:solidFill>
                  <a:srgbClr val="756262"/>
                </a:solidFill>
                <a:latin typeface="Arial"/>
                <a:cs typeface="Arial"/>
              </a:rPr>
              <a:t>1  </a:t>
            </a:r>
            <a:r>
              <a:rPr dirty="0" sz="1300" spc="-5">
                <a:solidFill>
                  <a:srgbClr val="565257"/>
                </a:solidFill>
                <a:latin typeface="Arial"/>
                <a:cs typeface="Arial"/>
              </a:rPr>
              <a:t>GAT</a:t>
            </a:r>
            <a:r>
              <a:rPr dirty="0" sz="1300" spc="-130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65257"/>
                </a:solidFill>
                <a:latin typeface="Arial"/>
                <a:cs typeface="Arial"/>
              </a:rPr>
              <a:t>N</a:t>
            </a:r>
            <a:r>
              <a:rPr dirty="0" sz="1300" spc="-185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 spc="-70">
                <a:solidFill>
                  <a:srgbClr val="565257"/>
                </a:solidFill>
                <a:latin typeface="Arial"/>
                <a:cs typeface="Arial"/>
              </a:rPr>
              <a:t>E</a:t>
            </a:r>
            <a:r>
              <a:rPr dirty="0" sz="1300" spc="-70">
                <a:solidFill>
                  <a:srgbClr val="7E7782"/>
                </a:solidFill>
                <a:latin typeface="Arial"/>
                <a:cs typeface="Arial"/>
              </a:rPr>
              <a:t>-</a:t>
            </a:r>
            <a:r>
              <a:rPr dirty="0" sz="1300" spc="-210">
                <a:solidFill>
                  <a:srgbClr val="7E7782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565257"/>
                </a:solidFill>
                <a:latin typeface="Arial"/>
                <a:cs typeface="Arial"/>
              </a:rPr>
              <a:t>T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17877" y="2820416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7E7782"/>
                </a:solidFill>
                <a:latin typeface="Times New Roman"/>
                <a:cs typeface="Times New Roman"/>
              </a:rPr>
              <a:t>50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0263" y="741680"/>
            <a:ext cx="9398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30">
                <a:solidFill>
                  <a:srgbClr val="7E7782"/>
                </a:solidFill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34810" y="994155"/>
            <a:ext cx="31305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60">
                <a:solidFill>
                  <a:srgbClr val="565257"/>
                </a:solidFill>
                <a:latin typeface="宋体"/>
                <a:cs typeface="宋体"/>
              </a:rPr>
              <a:t>--</a:t>
            </a:r>
            <a:r>
              <a:rPr dirty="0" sz="1000" spc="-320">
                <a:solidFill>
                  <a:srgbClr val="565257"/>
                </a:solidFill>
                <a:latin typeface="宋体"/>
                <a:cs typeface="宋体"/>
              </a:rPr>
              <a:t>巳</a:t>
            </a:r>
            <a:r>
              <a:rPr dirty="0" sz="1000" spc="-160">
                <a:solidFill>
                  <a:srgbClr val="565257"/>
                </a:solidFill>
                <a:latin typeface="宋体"/>
                <a:cs typeface="宋体"/>
              </a:rPr>
              <a:t>-</a:t>
            </a:r>
            <a:r>
              <a:rPr dirty="0" sz="1000" spc="-360">
                <a:solidFill>
                  <a:srgbClr val="565257"/>
                </a:solidFill>
                <a:latin typeface="宋体"/>
                <a:cs typeface="宋体"/>
              </a:rPr>
              <a:t> </a:t>
            </a:r>
            <a:r>
              <a:rPr dirty="0" sz="850" spc="-155">
                <a:solidFill>
                  <a:srgbClr val="7E7782"/>
                </a:solidFill>
                <a:latin typeface="Arial"/>
                <a:cs typeface="Arial"/>
              </a:rPr>
              <a:t>6</a:t>
            </a:r>
            <a:endParaRPr sz="8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4127" y="1183131"/>
            <a:ext cx="339725" cy="617220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505"/>
              </a:spcBef>
            </a:pPr>
            <a:r>
              <a:rPr dirty="0" baseline="-17361" sz="2400" spc="-2032">
                <a:solidFill>
                  <a:srgbClr val="565257"/>
                </a:solidFill>
                <a:latin typeface="宋体"/>
                <a:cs typeface="宋体"/>
              </a:rPr>
              <a:t>、</a:t>
            </a:r>
            <a:r>
              <a:rPr dirty="0" sz="900">
                <a:solidFill>
                  <a:srgbClr val="565257"/>
                </a:solidFill>
                <a:latin typeface="宋体"/>
                <a:cs typeface="宋体"/>
              </a:rPr>
              <a:t>工</a:t>
            </a:r>
            <a:r>
              <a:rPr dirty="0" sz="900" spc="250">
                <a:solidFill>
                  <a:srgbClr val="565257"/>
                </a:solidFill>
                <a:latin typeface="宋体"/>
                <a:cs typeface="宋体"/>
              </a:rPr>
              <a:t> </a:t>
            </a:r>
            <a:r>
              <a:rPr dirty="0" sz="650" spc="25">
                <a:solidFill>
                  <a:srgbClr val="7E7782"/>
                </a:solidFill>
                <a:latin typeface="Arial"/>
                <a:cs typeface="Arial"/>
              </a:rPr>
              <a:t>3</a:t>
            </a:r>
            <a:endParaRPr sz="650">
              <a:latin typeface="Arial"/>
              <a:cs typeface="Arial"/>
            </a:endParaRPr>
          </a:p>
          <a:p>
            <a:pPr algn="ctr" marL="77470">
              <a:lnSpc>
                <a:spcPct val="100000"/>
              </a:lnSpc>
              <a:spcBef>
                <a:spcPts val="405"/>
              </a:spcBef>
            </a:pPr>
            <a:r>
              <a:rPr dirty="0" sz="1600" spc="-755">
                <a:solidFill>
                  <a:srgbClr val="565257"/>
                </a:solidFill>
                <a:latin typeface="宋体"/>
                <a:cs typeface="宋体"/>
              </a:rPr>
              <a:t>皂             </a:t>
            </a:r>
            <a:r>
              <a:rPr dirty="0" sz="1600" spc="-735">
                <a:solidFill>
                  <a:srgbClr val="565257"/>
                </a:solidFill>
                <a:latin typeface="宋体"/>
                <a:cs typeface="宋体"/>
              </a:rPr>
              <a:t> </a:t>
            </a:r>
            <a:r>
              <a:rPr dirty="0" sz="900" spc="-240">
                <a:solidFill>
                  <a:srgbClr val="7E7782"/>
                </a:solidFill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90564" y="1951989"/>
            <a:ext cx="23495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120">
                <a:solidFill>
                  <a:srgbClr val="565257"/>
                </a:solidFill>
                <a:latin typeface="宋体"/>
                <a:cs typeface="宋体"/>
              </a:rPr>
              <a:t> </a:t>
            </a:r>
            <a:r>
              <a:rPr dirty="0" sz="500" spc="-235">
                <a:solidFill>
                  <a:srgbClr val="565257"/>
                </a:solidFill>
                <a:latin typeface="宋体"/>
                <a:cs typeface="宋体"/>
              </a:rPr>
              <a:t>仁                               </a:t>
            </a:r>
            <a:r>
              <a:rPr dirty="0" sz="850" spc="-90">
                <a:solidFill>
                  <a:srgbClr val="7E7782"/>
                </a:solidFill>
                <a:latin typeface="Arial"/>
                <a:cs typeface="Arial"/>
              </a:rPr>
              <a:t>3</a:t>
            </a:r>
            <a:endParaRPr sz="8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83492" y="2084564"/>
            <a:ext cx="374650" cy="55435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algn="r" marR="48260">
              <a:lnSpc>
                <a:spcPct val="100000"/>
              </a:lnSpc>
              <a:spcBef>
                <a:spcPts val="925"/>
              </a:spcBef>
            </a:pPr>
            <a:r>
              <a:rPr dirty="0" sz="1450" spc="-1090">
                <a:solidFill>
                  <a:srgbClr val="565257"/>
                </a:solidFill>
                <a:latin typeface="宋体"/>
                <a:cs typeface="宋体"/>
              </a:rPr>
              <a:t>·</a:t>
            </a:r>
            <a:r>
              <a:rPr dirty="0" sz="1200" spc="-520">
                <a:solidFill>
                  <a:srgbClr val="565257"/>
                </a:solidFill>
                <a:latin typeface="宋体"/>
                <a:cs typeface="宋体"/>
              </a:rPr>
              <a:t>-</a:t>
            </a:r>
            <a:r>
              <a:rPr dirty="0" sz="1200" spc="-95">
                <a:solidFill>
                  <a:srgbClr val="565257"/>
                </a:solidFill>
                <a:latin typeface="Times New Roman"/>
                <a:cs typeface="Times New Roman"/>
              </a:rPr>
              <a:t>I</a:t>
            </a:r>
            <a:r>
              <a:rPr dirty="0" sz="1450" spc="-1410">
                <a:solidFill>
                  <a:srgbClr val="565257"/>
                </a:solidFill>
                <a:latin typeface="宋体"/>
                <a:cs typeface="宋体"/>
              </a:rPr>
              <a:t>｀</a:t>
            </a:r>
            <a:r>
              <a:rPr dirty="0" sz="1200" spc="-400">
                <a:solidFill>
                  <a:srgbClr val="565257"/>
                </a:solidFill>
                <a:latin typeface="Times New Roman"/>
                <a:cs typeface="Times New Roman"/>
              </a:rPr>
              <a:t>-</a:t>
            </a:r>
            <a:r>
              <a:rPr dirty="0" sz="1200" spc="-1140">
                <a:solidFill>
                  <a:srgbClr val="565257"/>
                </a:solidFill>
                <a:latin typeface="宋体"/>
                <a:cs typeface="宋体"/>
              </a:rPr>
              <a:t>｀</a:t>
            </a:r>
            <a:r>
              <a:rPr dirty="0" sz="500" spc="-85">
                <a:solidFill>
                  <a:srgbClr val="565257"/>
                </a:solidFill>
                <a:latin typeface="Times New Roman"/>
                <a:cs typeface="Times New Roman"/>
              </a:rPr>
              <a:t>(</a:t>
            </a:r>
            <a:r>
              <a:rPr dirty="0" sz="500" spc="-75">
                <a:solidFill>
                  <a:srgbClr val="565257"/>
                </a:solidFill>
                <a:latin typeface="Times New Roman"/>
                <a:cs typeface="Times New Roman"/>
              </a:rPr>
              <a:t>t</a:t>
            </a:r>
            <a:r>
              <a:rPr dirty="0" sz="500" spc="-70">
                <a:solidFill>
                  <a:srgbClr val="565257"/>
                </a:solidFill>
                <a:latin typeface="Times New Roman"/>
                <a:cs typeface="Times New Roman"/>
              </a:rPr>
              <a:t>i</a:t>
            </a:r>
            <a:r>
              <a:rPr dirty="0" sz="500">
                <a:solidFill>
                  <a:srgbClr val="565257"/>
                </a:solidFill>
                <a:latin typeface="Times New Roman"/>
                <a:cs typeface="Times New Roman"/>
              </a:rPr>
              <a:t>    </a:t>
            </a:r>
            <a:r>
              <a:rPr dirty="0" sz="500" spc="10">
                <a:solidFill>
                  <a:srgbClr val="565257"/>
                </a:solidFill>
                <a:latin typeface="Times New Roman"/>
                <a:cs typeface="Times New Roman"/>
              </a:rPr>
              <a:t> </a:t>
            </a:r>
            <a:r>
              <a:rPr dirty="0" sz="950" spc="-105">
                <a:solidFill>
                  <a:srgbClr val="7E7782"/>
                </a:solidFill>
                <a:latin typeface="Times New Roman"/>
                <a:cs typeface="Times New Roman"/>
              </a:rPr>
              <a:t>2</a:t>
            </a:r>
            <a:endParaRPr sz="9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  <a:spcBef>
                <a:spcPts val="509"/>
              </a:spcBef>
            </a:pPr>
            <a:r>
              <a:rPr dirty="0" sz="900" spc="-100">
                <a:solidFill>
                  <a:srgbClr val="756262"/>
                </a:solidFill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36606" y="2517648"/>
            <a:ext cx="323850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555">
                <a:solidFill>
                  <a:srgbClr val="7E7782"/>
                </a:solidFill>
                <a:latin typeface="宋体"/>
                <a:cs typeface="宋体"/>
              </a:rPr>
              <a:t>。</a:t>
            </a:r>
            <a:endParaRPr sz="2900">
              <a:latin typeface="宋体"/>
              <a:cs typeface="宋体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803093" y="721360"/>
            <a:ext cx="1410335" cy="549910"/>
          </a:xfrm>
          <a:prstGeom prst="rect">
            <a:avLst/>
          </a:prstGeom>
        </p:spPr>
        <p:txBody>
          <a:bodyPr wrap="square" lIns="0" tIns="76200" rIns="0" bIns="0" rtlCol="0" vert="horz">
            <a:spAutoFit/>
          </a:bodyPr>
          <a:lstStyle/>
          <a:p>
            <a:pPr marL="600075" indent="-423545">
              <a:lnSpc>
                <a:spcPct val="100000"/>
              </a:lnSpc>
              <a:spcBef>
                <a:spcPts val="600"/>
              </a:spcBef>
              <a:buClr>
                <a:srgbClr val="90A344"/>
              </a:buClr>
              <a:buChar char="•"/>
              <a:tabLst>
                <a:tab pos="600075" algn="l"/>
                <a:tab pos="600710" algn="l"/>
              </a:tabLst>
            </a:pPr>
            <a:r>
              <a:rPr dirty="0" sz="1300" spc="-5">
                <a:solidFill>
                  <a:srgbClr val="565257"/>
                </a:solidFill>
                <a:latin typeface="Arial"/>
                <a:cs typeface="Arial"/>
              </a:rPr>
              <a:t>GAT</a:t>
            </a:r>
            <a:r>
              <a:rPr dirty="0" sz="1300" spc="-185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 spc="60">
                <a:solidFill>
                  <a:srgbClr val="3F3A3F"/>
                </a:solidFill>
                <a:latin typeface="Arial"/>
                <a:cs typeface="Arial"/>
              </a:rPr>
              <a:t>N</a:t>
            </a:r>
            <a:r>
              <a:rPr dirty="0" sz="1300" spc="60">
                <a:solidFill>
                  <a:srgbClr val="565257"/>
                </a:solidFill>
                <a:latin typeface="Arial"/>
                <a:cs typeface="Arial"/>
              </a:rPr>
              <a:t>E</a:t>
            </a:r>
            <a:r>
              <a:rPr dirty="0" sz="1300" spc="60">
                <a:solidFill>
                  <a:srgbClr val="7E7782"/>
                </a:solidFill>
                <a:latin typeface="Arial"/>
                <a:cs typeface="Arial"/>
              </a:rPr>
              <a:t>-</a:t>
            </a:r>
            <a:r>
              <a:rPr dirty="0" sz="1300" spc="60">
                <a:solidFill>
                  <a:srgbClr val="565257"/>
                </a:solidFill>
                <a:latin typeface="Arial"/>
                <a:cs typeface="Arial"/>
              </a:rPr>
              <a:t>T</a:t>
            </a: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600075" algn="l"/>
              </a:tabLst>
            </a:pPr>
            <a:r>
              <a:rPr dirty="0" sz="1300" spc="440">
                <a:solidFill>
                  <a:srgbClr val="3F5B8C"/>
                </a:solidFill>
                <a:latin typeface="Arial"/>
                <a:cs typeface="Arial"/>
              </a:rPr>
              <a:t>----	</a:t>
            </a:r>
            <a:r>
              <a:rPr dirty="0" sz="1300" spc="-5">
                <a:solidFill>
                  <a:srgbClr val="565257"/>
                </a:solidFill>
                <a:latin typeface="Arial"/>
                <a:cs typeface="Arial"/>
              </a:rPr>
              <a:t>GAT</a:t>
            </a:r>
            <a:r>
              <a:rPr dirty="0" sz="1300" spc="-185">
                <a:solidFill>
                  <a:srgbClr val="565257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3F3A3F"/>
                </a:solidFill>
                <a:latin typeface="Arial"/>
                <a:cs typeface="Arial"/>
              </a:rPr>
              <a:t>N</a:t>
            </a:r>
            <a:r>
              <a:rPr dirty="0" sz="1300" spc="-20">
                <a:solidFill>
                  <a:srgbClr val="565257"/>
                </a:solidFill>
                <a:latin typeface="Arial"/>
                <a:cs typeface="Arial"/>
              </a:rPr>
              <a:t>E</a:t>
            </a:r>
            <a:r>
              <a:rPr dirty="0" sz="1300" spc="-20">
                <a:solidFill>
                  <a:srgbClr val="7E7782"/>
                </a:solidFill>
                <a:latin typeface="Arial"/>
                <a:cs typeface="Arial"/>
              </a:rPr>
              <a:t>-</a:t>
            </a:r>
            <a:r>
              <a:rPr dirty="0" sz="1300" spc="-20">
                <a:solidFill>
                  <a:srgbClr val="565257"/>
                </a:solidFill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2194560" y="2846832"/>
          <a:ext cx="82296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0146"/>
                <a:gridCol w="2492759"/>
                <a:gridCol w="1038405"/>
                <a:gridCol w="558984"/>
                <a:gridCol w="442696"/>
                <a:gridCol w="1811018"/>
                <a:gridCol w="412541"/>
                <a:gridCol w="603046"/>
              </a:tblGrid>
              <a:tr h="16510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  <a:tabLst>
                          <a:tab pos="762000" algn="l"/>
                        </a:tabLst>
                      </a:pPr>
                      <a:r>
                        <a:rPr dirty="0" sz="900" spc="-100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0	</a:t>
                      </a:r>
                      <a:r>
                        <a:rPr dirty="0" baseline="-23391" sz="1425" spc="-157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baseline="-23391" sz="1425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320675">
                        <a:lnSpc>
                          <a:spcPts val="1085"/>
                        </a:lnSpc>
                        <a:spcBef>
                          <a:spcPts val="200"/>
                        </a:spcBef>
                        <a:tabLst>
                          <a:tab pos="737235" algn="l"/>
                          <a:tab pos="1480185" algn="l"/>
                        </a:tabLst>
                      </a:pPr>
                      <a:r>
                        <a:rPr dirty="0" sz="950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r>
                        <a:rPr dirty="0" sz="950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50">
                          <a:solidFill>
                            <a:srgbClr val="6D648C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  <a:r>
                        <a:rPr dirty="0" sz="950">
                          <a:solidFill>
                            <a:srgbClr val="6D648C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900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28295">
                        <a:lnSpc>
                          <a:spcPts val="1085"/>
                        </a:lnSpc>
                        <a:spcBef>
                          <a:spcPts val="200"/>
                        </a:spcBef>
                      </a:pPr>
                      <a:r>
                        <a:rPr dirty="0" sz="950" spc="-90">
                          <a:solidFill>
                            <a:srgbClr val="756262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dirty="0" sz="950" spc="-90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!5</a:t>
                      </a:r>
                      <a:endParaRPr sz="9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540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22225">
                        <a:lnSpc>
                          <a:spcPts val="1035"/>
                        </a:lnSpc>
                        <a:spcBef>
                          <a:spcPts val="250"/>
                        </a:spcBef>
                      </a:pPr>
                      <a:r>
                        <a:rPr dirty="0" sz="900" spc="-165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40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1140">
                        <a:lnSpc>
                          <a:spcPts val="1035"/>
                        </a:lnSpc>
                        <a:spcBef>
                          <a:spcPts val="250"/>
                        </a:spcBef>
                      </a:pPr>
                      <a:r>
                        <a:rPr dirty="0" sz="900" spc="-165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60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4445">
                        <a:lnSpc>
                          <a:spcPts val="1035"/>
                        </a:lnSpc>
                        <a:spcBef>
                          <a:spcPts val="250"/>
                        </a:spcBef>
                        <a:tabLst>
                          <a:tab pos="508634" algn="l"/>
                          <a:tab pos="1035685" algn="l"/>
                        </a:tabLst>
                      </a:pPr>
                      <a:r>
                        <a:rPr dirty="0" sz="900" spc="-165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80	100	</a:t>
                      </a:r>
                      <a:r>
                        <a:rPr dirty="0" sz="900" spc="-165">
                          <a:solidFill>
                            <a:srgbClr val="6D648C"/>
                          </a:solidFill>
                          <a:latin typeface="Times New Roman"/>
                          <a:cs typeface="Times New Roman"/>
                        </a:rPr>
                        <a:t>120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ts val="1035"/>
                        </a:lnSpc>
                        <a:spcBef>
                          <a:spcPts val="250"/>
                        </a:spcBef>
                      </a:pPr>
                      <a:r>
                        <a:rPr dirty="0" sz="900" spc="-165">
                          <a:solidFill>
                            <a:srgbClr val="6D648C"/>
                          </a:solidFill>
                          <a:latin typeface="Times New Roman"/>
                          <a:cs typeface="Times New Roman"/>
                        </a:rPr>
                        <a:t>140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R="55880">
                        <a:lnSpc>
                          <a:spcPts val="1035"/>
                        </a:lnSpc>
                        <a:spcBef>
                          <a:spcPts val="250"/>
                        </a:spcBef>
                      </a:pPr>
                      <a:r>
                        <a:rPr dirty="0" sz="900" spc="-165">
                          <a:solidFill>
                            <a:srgbClr val="7E7782"/>
                          </a:solidFill>
                          <a:latin typeface="Times New Roman"/>
                          <a:cs typeface="Times New Roman"/>
                        </a:rPr>
                        <a:t>160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750">
                    <a:lnT w="12700">
                      <a:solidFill>
                        <a:srgbClr val="939393"/>
                      </a:solidFill>
                      <a:prstDash val="solid"/>
                    </a:lnT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21945">
                        <a:lnSpc>
                          <a:spcPts val="1380"/>
                        </a:lnSpc>
                      </a:pPr>
                      <a:r>
                        <a:rPr dirty="0" sz="1300" spc="-7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ill  </a:t>
                      </a:r>
                      <a:r>
                        <a:rPr dirty="0" sz="1300" spc="0">
                          <a:solidFill>
                            <a:srgbClr val="7E7782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00" spc="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ons </a:t>
                      </a:r>
                      <a:r>
                        <a:rPr dirty="0" sz="1300" spc="-6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of   </a:t>
                      </a:r>
                      <a:r>
                        <a:rPr dirty="0" sz="1300" spc="-8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T </a:t>
                      </a:r>
                      <a:r>
                        <a:rPr dirty="0" sz="1300" spc="-5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rai </a:t>
                      </a:r>
                      <a:r>
                        <a:rPr dirty="0" sz="1300" spc="6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n</a:t>
                      </a:r>
                      <a:r>
                        <a:rPr dirty="0" sz="1300" spc="60">
                          <a:solidFill>
                            <a:srgbClr val="7E7782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1300" spc="6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ng</a:t>
                      </a:r>
                      <a:r>
                        <a:rPr dirty="0" sz="1300" spc="-229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35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Batches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9530">
                        <a:lnSpc>
                          <a:spcPts val="1380"/>
                        </a:lnSpc>
                      </a:pPr>
                      <a:r>
                        <a:rPr dirty="0" sz="1300" spc="6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Number </a:t>
                      </a:r>
                      <a:r>
                        <a:rPr dirty="0" sz="1300" spc="40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of</a:t>
                      </a:r>
                      <a:r>
                        <a:rPr dirty="0" sz="1300" spc="215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300" spc="35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Wor</a:t>
                      </a:r>
                      <a:r>
                        <a:rPr dirty="0" sz="1300" spc="35">
                          <a:solidFill>
                            <a:srgbClr val="3F3A3F"/>
                          </a:solidFill>
                          <a:latin typeface="Arial"/>
                          <a:cs typeface="Arial"/>
                        </a:rPr>
                        <a:t>k</a:t>
                      </a:r>
                      <a:r>
                        <a:rPr dirty="0" sz="1300" spc="35">
                          <a:solidFill>
                            <a:srgbClr val="565257"/>
                          </a:solidFill>
                          <a:latin typeface="Arial"/>
                          <a:cs typeface="Arial"/>
                        </a:rPr>
                        <a:t>ers</a:t>
                      </a:r>
                      <a:endParaRPr sz="13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4" name="object 14"/>
          <p:cNvSpPr txBox="1"/>
          <p:nvPr/>
        </p:nvSpPr>
        <p:spPr>
          <a:xfrm>
            <a:off x="3002324" y="3395726"/>
            <a:ext cx="160464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335" algn="l"/>
              </a:tabLst>
            </a:pPr>
            <a:r>
              <a:rPr dirty="0" sz="1650" spc="5">
                <a:solidFill>
                  <a:srgbClr val="262126"/>
                </a:solidFill>
                <a:latin typeface="Times New Roman"/>
                <a:cs typeface="Times New Roman"/>
              </a:rPr>
              <a:t>(a)	</a:t>
            </a:r>
            <a:r>
              <a:rPr dirty="0" sz="1650" spc="25">
                <a:solidFill>
                  <a:srgbClr val="262126"/>
                </a:solidFill>
                <a:latin typeface="Times New Roman"/>
                <a:cs typeface="Times New Roman"/>
              </a:rPr>
              <a:t>C</a:t>
            </a:r>
            <a:r>
              <a:rPr dirty="0" sz="1650" spc="-204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15">
                <a:solidFill>
                  <a:srgbClr val="262126"/>
                </a:solidFill>
                <a:latin typeface="Times New Roman"/>
                <a:cs typeface="Times New Roman"/>
              </a:rPr>
              <a:t>o</a:t>
            </a:r>
            <a:r>
              <a:rPr dirty="0" sz="1650" spc="-26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15">
                <a:solidFill>
                  <a:srgbClr val="262126"/>
                </a:solidFill>
                <a:latin typeface="Times New Roman"/>
                <a:cs typeface="Times New Roman"/>
              </a:rPr>
              <a:t>n</a:t>
            </a:r>
            <a:r>
              <a:rPr dirty="0" sz="1650" spc="-10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15">
                <a:solidFill>
                  <a:srgbClr val="262126"/>
                </a:solidFill>
                <a:latin typeface="Times New Roman"/>
                <a:cs typeface="Times New Roman"/>
              </a:rPr>
              <a:t>v</a:t>
            </a:r>
            <a:r>
              <a:rPr dirty="0" sz="1650" spc="-26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15">
                <a:solidFill>
                  <a:srgbClr val="262126"/>
                </a:solidFill>
                <a:latin typeface="Times New Roman"/>
                <a:cs typeface="Times New Roman"/>
              </a:rPr>
              <a:t>e</a:t>
            </a:r>
            <a:r>
              <a:rPr dirty="0" sz="1650" spc="-26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-270">
                <a:solidFill>
                  <a:srgbClr val="262126"/>
                </a:solidFill>
                <a:latin typeface="Times New Roman"/>
                <a:cs typeface="Times New Roman"/>
              </a:rPr>
              <a:t>r</a:t>
            </a:r>
            <a:r>
              <a:rPr dirty="0" sz="1650" spc="-270">
                <a:solidFill>
                  <a:srgbClr val="CCAF79"/>
                </a:solidFill>
                <a:latin typeface="Times New Roman"/>
                <a:cs typeface="Times New Roman"/>
              </a:rPr>
              <a:t>,</a:t>
            </a:r>
            <a:r>
              <a:rPr dirty="0" sz="1650" spc="-270">
                <a:solidFill>
                  <a:srgbClr val="262126"/>
                </a:solidFill>
                <a:latin typeface="Times New Roman"/>
                <a:cs typeface="Times New Roman"/>
              </a:rPr>
              <a:t>g    </a:t>
            </a:r>
            <a:r>
              <a:rPr dirty="0" sz="1650" spc="-229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-550">
                <a:solidFill>
                  <a:srgbClr val="262126"/>
                </a:solidFill>
                <a:latin typeface="Times New Roman"/>
                <a:cs typeface="Times New Roman"/>
              </a:rPr>
              <a:t>e</a:t>
            </a:r>
            <a:r>
              <a:rPr dirty="0" sz="1650" spc="30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-620">
                <a:solidFill>
                  <a:srgbClr val="262126"/>
                </a:solidFill>
                <a:latin typeface="Times New Roman"/>
                <a:cs typeface="Times New Roman"/>
              </a:rPr>
              <a:t>n</a:t>
            </a:r>
            <a:r>
              <a:rPr dirty="0" sz="1650" spc="459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-550">
                <a:solidFill>
                  <a:srgbClr val="262126"/>
                </a:solidFill>
                <a:latin typeface="Times New Roman"/>
                <a:cs typeface="Times New Roman"/>
              </a:rPr>
              <a:t>c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89043" y="3383026"/>
            <a:ext cx="1517015" cy="292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-515">
                <a:solidFill>
                  <a:srgbClr val="262126"/>
                </a:solidFill>
                <a:latin typeface="Times New Roman"/>
                <a:cs typeface="Times New Roman"/>
              </a:rPr>
              <a:t>(b)</a:t>
            </a:r>
            <a:r>
              <a:rPr dirty="0" sz="1750" spc="1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1650" spc="135">
                <a:solidFill>
                  <a:srgbClr val="262126"/>
                </a:solidFill>
                <a:latin typeface="Times New Roman"/>
                <a:cs typeface="Times New Roman"/>
              </a:rPr>
              <a:t>Scalability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01419" y="4149090"/>
            <a:ext cx="281432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2530" algn="l"/>
                <a:tab pos="1657350" algn="l"/>
                <a:tab pos="2224405" algn="l"/>
              </a:tabLst>
            </a:pP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Figur</a:t>
            </a:r>
            <a:r>
              <a:rPr dirty="0" sz="2150" spc="335">
                <a:solidFill>
                  <a:srgbClr val="262126"/>
                </a:solidFill>
                <a:latin typeface="Times New Roman"/>
                <a:cs typeface="Times New Roman"/>
              </a:rPr>
              <a:t>e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1950" spc="265">
                <a:solidFill>
                  <a:srgbClr val="262126"/>
                </a:solidFill>
                <a:latin typeface="Times New Roman"/>
                <a:cs typeface="Times New Roman"/>
              </a:rPr>
              <a:t>3:</a:t>
            </a:r>
            <a:r>
              <a:rPr dirty="0" sz="19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295">
                <a:solidFill>
                  <a:srgbClr val="262126"/>
                </a:solidFill>
                <a:latin typeface="Times New Roman"/>
                <a:cs typeface="Times New Roman"/>
              </a:rPr>
              <a:t>(a</a:t>
            </a:r>
            <a:r>
              <a:rPr dirty="0" sz="2150" spc="250">
                <a:solidFill>
                  <a:srgbClr val="262126"/>
                </a:solidFill>
                <a:latin typeface="Times New Roman"/>
                <a:cs typeface="Times New Roman"/>
              </a:rPr>
              <a:t>)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395">
                <a:solidFill>
                  <a:srgbClr val="262126"/>
                </a:solidFill>
                <a:latin typeface="Times New Roman"/>
                <a:cs typeface="Times New Roman"/>
              </a:rPr>
              <a:t>The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16799" y="4149090"/>
            <a:ext cx="191198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355">
                <a:solidFill>
                  <a:srgbClr val="262126"/>
                </a:solidFill>
                <a:latin typeface="Times New Roman"/>
                <a:cs typeface="Times New Roman"/>
              </a:rPr>
              <a:t>convergence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19919" y="4149090"/>
            <a:ext cx="86106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350">
                <a:solidFill>
                  <a:srgbClr val="262126"/>
                </a:solidFill>
                <a:latin typeface="Times New Roman"/>
                <a:cs typeface="Times New Roman"/>
              </a:rPr>
              <a:t>curve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761516" y="4149090"/>
            <a:ext cx="2795905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9135" algn="l"/>
                <a:tab pos="2314575" algn="l"/>
              </a:tabLst>
            </a:pPr>
            <a:r>
              <a:rPr dirty="0" sz="2150" spc="330">
                <a:solidFill>
                  <a:srgbClr val="262126"/>
                </a:solidFill>
                <a:latin typeface="Times New Roman"/>
                <a:cs typeface="Times New Roman"/>
              </a:rPr>
              <a:t>fo</a:t>
            </a:r>
            <a:r>
              <a:rPr dirty="0" sz="2150" spc="265">
                <a:solidFill>
                  <a:srgbClr val="262126"/>
                </a:solidFill>
                <a:latin typeface="Times New Roman"/>
                <a:cs typeface="Times New Roman"/>
              </a:rPr>
              <a:t>r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245">
                <a:solidFill>
                  <a:srgbClr val="262126"/>
                </a:solidFill>
                <a:latin typeface="Times New Roman"/>
                <a:cs typeface="Times New Roman"/>
              </a:rPr>
              <a:t>GATNE-</a:t>
            </a:r>
            <a:r>
              <a:rPr dirty="0" sz="2150" spc="240">
                <a:solidFill>
                  <a:srgbClr val="262126"/>
                </a:solidFill>
                <a:latin typeface="Times New Roman"/>
                <a:cs typeface="Times New Roman"/>
              </a:rPr>
              <a:t>T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185">
                <a:solidFill>
                  <a:srgbClr val="262126"/>
                </a:solidFill>
                <a:latin typeface="Times New Roman"/>
                <a:cs typeface="Times New Roman"/>
              </a:rPr>
              <a:t>and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20615" y="4493514"/>
            <a:ext cx="520065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03830" algn="l"/>
                <a:tab pos="3213735" algn="l"/>
                <a:tab pos="4130675" algn="l"/>
                <a:tab pos="4425315" algn="l"/>
                <a:tab pos="5043170" algn="l"/>
              </a:tabLst>
            </a:pPr>
            <a:r>
              <a:rPr dirty="0" sz="2150" spc="220">
                <a:solidFill>
                  <a:srgbClr val="262126"/>
                </a:solidFill>
                <a:latin typeface="Times New Roman"/>
                <a:cs typeface="Times New Roman"/>
              </a:rPr>
              <a:t>GATNE-</a:t>
            </a:r>
            <a:r>
              <a:rPr dirty="0" sz="2150" spc="175">
                <a:solidFill>
                  <a:srgbClr val="262126"/>
                </a:solidFill>
                <a:latin typeface="Times New Roman"/>
                <a:cs typeface="Times New Roman"/>
              </a:rPr>
              <a:t>1</a:t>
            </a:r>
            <a:r>
              <a:rPr dirty="0" sz="2150" spc="229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400">
                <a:solidFill>
                  <a:srgbClr val="262126"/>
                </a:solidFill>
                <a:latin typeface="Times New Roman"/>
                <a:cs typeface="Times New Roman"/>
              </a:rPr>
              <a:t>model</a:t>
            </a:r>
            <a:r>
              <a:rPr dirty="0" sz="2150" spc="310">
                <a:solidFill>
                  <a:srgbClr val="262126"/>
                </a:solidFill>
                <a:latin typeface="Times New Roman"/>
                <a:cs typeface="Times New Roman"/>
              </a:rPr>
              <a:t>s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400">
                <a:solidFill>
                  <a:srgbClr val="262126"/>
                </a:solidFill>
                <a:latin typeface="Times New Roman"/>
                <a:cs typeface="Times New Roman"/>
              </a:rPr>
              <a:t>on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580">
                <a:solidFill>
                  <a:srgbClr val="262126"/>
                </a:solidFill>
                <a:latin typeface="Times New Roman"/>
                <a:cs typeface="Times New Roman"/>
              </a:rPr>
              <a:t>A</a:t>
            </a:r>
            <a:r>
              <a:rPr dirty="0" sz="2150" spc="455">
                <a:solidFill>
                  <a:srgbClr val="262126"/>
                </a:solidFill>
                <a:latin typeface="Times New Roman"/>
                <a:cs typeface="Times New Roman"/>
              </a:rPr>
              <a:t>+</a:t>
            </a:r>
            <a:r>
              <a:rPr dirty="0" sz="2150" spc="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265">
                <a:solidFill>
                  <a:srgbClr val="262126"/>
                </a:solidFill>
                <a:latin typeface="Times New Roman"/>
                <a:cs typeface="Times New Roman"/>
              </a:rPr>
              <a:t>d</a:t>
            </a:r>
            <a:r>
              <a:rPr dirty="0" sz="2150" spc="-380">
                <a:solidFill>
                  <a:srgbClr val="B3A889"/>
                </a:solidFill>
                <a:latin typeface="Times New Roman"/>
                <a:cs typeface="Times New Roman"/>
              </a:rPr>
              <a:t>,</a:t>
            </a:r>
            <a:r>
              <a:rPr dirty="0" sz="2150" spc="-630">
                <a:solidFill>
                  <a:srgbClr val="262126"/>
                </a:solidFill>
                <a:latin typeface="Times New Roman"/>
                <a:cs typeface="Times New Roman"/>
              </a:rPr>
              <a:t>a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-395">
                <a:solidFill>
                  <a:srgbClr val="262126"/>
                </a:solidFill>
                <a:latin typeface="Times New Roman"/>
                <a:cs typeface="Times New Roman"/>
              </a:rPr>
              <a:t>t</a:t>
            </a:r>
            <a:r>
              <a:rPr dirty="0" sz="2150" spc="16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630">
                <a:solidFill>
                  <a:srgbClr val="262126"/>
                </a:solidFill>
                <a:latin typeface="Times New Roman"/>
                <a:cs typeface="Times New Roman"/>
              </a:rPr>
              <a:t>a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-555">
                <a:solidFill>
                  <a:srgbClr val="262126"/>
                </a:solidFill>
                <a:latin typeface="Times New Roman"/>
                <a:cs typeface="Times New Roman"/>
              </a:rPr>
              <a:t>s</a:t>
            </a:r>
            <a:r>
              <a:rPr dirty="0" sz="2150" spc="25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630">
                <a:solidFill>
                  <a:srgbClr val="262126"/>
                </a:solidFill>
                <a:latin typeface="Times New Roman"/>
                <a:cs typeface="Times New Roman"/>
              </a:rPr>
              <a:t>e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9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395">
                <a:solidFill>
                  <a:srgbClr val="262126"/>
                </a:solidFill>
                <a:latin typeface="Times New Roman"/>
                <a:cs typeface="Times New Roman"/>
              </a:rPr>
              <a:t>t</a:t>
            </a:r>
            <a:r>
              <a:rPr dirty="0" sz="2150" spc="17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355">
                <a:solidFill>
                  <a:srgbClr val="262126"/>
                </a:solidFill>
                <a:latin typeface="Times New Roman"/>
                <a:cs typeface="Times New Roman"/>
              </a:rPr>
              <a:t>.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-745">
                <a:solidFill>
                  <a:srgbClr val="262126"/>
                </a:solidFill>
                <a:latin typeface="Times New Roman"/>
                <a:cs typeface="Times New Roman"/>
              </a:rPr>
              <a:t>The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591245" y="4831841"/>
            <a:ext cx="5340350" cy="353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53160" algn="l"/>
                <a:tab pos="2221230" algn="l"/>
                <a:tab pos="2967990" algn="l"/>
                <a:tab pos="4432300" algn="l"/>
              </a:tabLst>
            </a:pP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verges</a:t>
            </a: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360">
                <a:solidFill>
                  <a:srgbClr val="262126"/>
                </a:solidFill>
                <a:latin typeface="Times New Roman"/>
                <a:cs typeface="Times New Roman"/>
              </a:rPr>
              <a:t>faste</a:t>
            </a: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r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455">
                <a:solidFill>
                  <a:srgbClr val="262126"/>
                </a:solidFill>
                <a:latin typeface="Times New Roman"/>
                <a:cs typeface="Times New Roman"/>
              </a:rPr>
              <a:t>an</a:t>
            </a:r>
            <a:r>
              <a:rPr dirty="0" sz="2150" spc="484">
                <a:solidFill>
                  <a:srgbClr val="262126"/>
                </a:solidFill>
                <a:latin typeface="Times New Roman"/>
                <a:cs typeface="Times New Roman"/>
              </a:rPr>
              <a:t>d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achieve</a:t>
            </a:r>
            <a:r>
              <a:rPr dirty="0" sz="2150" spc="300">
                <a:solidFill>
                  <a:srgbClr val="262126"/>
                </a:solidFill>
                <a:latin typeface="Times New Roman"/>
                <a:cs typeface="Times New Roman"/>
              </a:rPr>
              <a:t>s</a:t>
            </a:r>
            <a:r>
              <a:rPr dirty="0" sz="2150">
                <a:solidFill>
                  <a:srgbClr val="262126"/>
                </a:solidFill>
                <a:latin typeface="Times New Roman"/>
                <a:cs typeface="Times New Roman"/>
              </a:rPr>
              <a:t>	</a:t>
            </a:r>
            <a:r>
              <a:rPr dirty="0" sz="2150" spc="350">
                <a:solidFill>
                  <a:srgbClr val="262126"/>
                </a:solidFill>
                <a:latin typeface="Times New Roman"/>
                <a:cs typeface="Times New Roman"/>
              </a:rPr>
              <a:t>better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99375" y="4493514"/>
            <a:ext cx="3623310" cy="69151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80" indent="283210">
              <a:lnSpc>
                <a:spcPct val="103299"/>
              </a:lnSpc>
              <a:spcBef>
                <a:spcPts val="15"/>
              </a:spcBef>
              <a:tabLst>
                <a:tab pos="1856105" algn="l"/>
                <a:tab pos="2163445" algn="l"/>
                <a:tab pos="3056255" algn="l"/>
              </a:tabLst>
            </a:pPr>
            <a:r>
              <a:rPr dirty="0" sz="2150" spc="335">
                <a:solidFill>
                  <a:srgbClr val="262126"/>
                </a:solidFill>
                <a:latin typeface="Times New Roman"/>
                <a:cs typeface="Times New Roman"/>
              </a:rPr>
              <a:t>inductive	</a:t>
            </a:r>
            <a:r>
              <a:rPr dirty="0" sz="2150" spc="425">
                <a:solidFill>
                  <a:srgbClr val="262126"/>
                </a:solidFill>
                <a:latin typeface="Times New Roman"/>
                <a:cs typeface="Times New Roman"/>
              </a:rPr>
              <a:t>model</a:t>
            </a:r>
            <a:r>
              <a:rPr dirty="0" sz="2150" spc="36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360">
                <a:solidFill>
                  <a:srgbClr val="262126"/>
                </a:solidFill>
                <a:latin typeface="Times New Roman"/>
                <a:cs typeface="Times New Roman"/>
              </a:rPr>
              <a:t>con­ </a:t>
            </a:r>
            <a:r>
              <a:rPr dirty="0" sz="2150" spc="20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400">
                <a:solidFill>
                  <a:srgbClr val="262126"/>
                </a:solidFill>
                <a:latin typeface="Times New Roman"/>
                <a:cs typeface="Times New Roman"/>
              </a:rPr>
              <a:t>performance	</a:t>
            </a:r>
            <a:r>
              <a:rPr dirty="0" sz="2150" spc="459">
                <a:solidFill>
                  <a:srgbClr val="262126"/>
                </a:solidFill>
                <a:latin typeface="Times New Roman"/>
                <a:cs typeface="Times New Roman"/>
              </a:rPr>
              <a:t>than	</a:t>
            </a:r>
            <a:r>
              <a:rPr dirty="0" sz="2150" spc="434">
                <a:solidFill>
                  <a:srgbClr val="262126"/>
                </a:solidFill>
                <a:latin typeface="Times New Roman"/>
                <a:cs typeface="Times New Roman"/>
              </a:rPr>
              <a:t>tne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03057" y="5166614"/>
            <a:ext cx="9053195" cy="10490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algn="just" marL="12700" marR="5080">
              <a:lnSpc>
                <a:spcPct val="103699"/>
              </a:lnSpc>
            </a:pPr>
            <a:r>
              <a:rPr dirty="0" sz="2150" spc="355">
                <a:solidFill>
                  <a:srgbClr val="262126"/>
                </a:solidFill>
                <a:latin typeface="Times New Roman"/>
                <a:cs typeface="Times New Roman"/>
              </a:rPr>
              <a:t>transductive </a:t>
            </a:r>
            <a:r>
              <a:rPr dirty="0" sz="2150" spc="365">
                <a:solidFill>
                  <a:srgbClr val="262126"/>
                </a:solidFill>
                <a:latin typeface="Times New Roman"/>
                <a:cs typeface="Times New Roman"/>
              </a:rPr>
              <a:t>model. </a:t>
            </a:r>
            <a:r>
              <a:rPr dirty="0" sz="2250" spc="400">
                <a:solidFill>
                  <a:srgbClr val="262126"/>
                </a:solidFill>
                <a:latin typeface="Times New Roman"/>
                <a:cs typeface="Times New Roman"/>
              </a:rPr>
              <a:t>(b)</a:t>
            </a:r>
            <a:r>
              <a:rPr dirty="0" sz="2150" spc="400">
                <a:solidFill>
                  <a:srgbClr val="262126"/>
                </a:solidFill>
                <a:latin typeface="Times New Roman"/>
                <a:cs typeface="Times New Roman"/>
              </a:rPr>
              <a:t>The </a:t>
            </a:r>
            <a:r>
              <a:rPr dirty="0" sz="2150" spc="365">
                <a:solidFill>
                  <a:srgbClr val="262126"/>
                </a:solidFill>
                <a:latin typeface="Times New Roman"/>
                <a:cs typeface="Times New Roman"/>
              </a:rPr>
              <a:t>training </a:t>
            </a:r>
            <a:r>
              <a:rPr dirty="0" sz="2150" spc="409">
                <a:solidFill>
                  <a:srgbClr val="262126"/>
                </a:solidFill>
                <a:latin typeface="Times New Roman"/>
                <a:cs typeface="Times New Roman"/>
              </a:rPr>
              <a:t>time </a:t>
            </a:r>
            <a:r>
              <a:rPr dirty="0" sz="2150" spc="330">
                <a:solidFill>
                  <a:srgbClr val="262126"/>
                </a:solidFill>
                <a:latin typeface="Times New Roman"/>
                <a:cs typeface="Times New Roman"/>
              </a:rPr>
              <a:t>decreases </a:t>
            </a:r>
            <a:r>
              <a:rPr dirty="0" sz="2150" spc="325">
                <a:solidFill>
                  <a:srgbClr val="262126"/>
                </a:solidFill>
                <a:latin typeface="Times New Roman"/>
                <a:cs typeface="Times New Roman"/>
              </a:rPr>
              <a:t>as </a:t>
            </a:r>
            <a:r>
              <a:rPr dirty="0" sz="2150" spc="310">
                <a:solidFill>
                  <a:srgbClr val="262126"/>
                </a:solidFill>
                <a:latin typeface="Times New Roman"/>
                <a:cs typeface="Times New Roman"/>
              </a:rPr>
              <a:t>the  </a:t>
            </a:r>
            <a:r>
              <a:rPr dirty="0" sz="2150" spc="475">
                <a:solidFill>
                  <a:srgbClr val="262126"/>
                </a:solidFill>
                <a:latin typeface="Times New Roman"/>
                <a:cs typeface="Times New Roman"/>
              </a:rPr>
              <a:t>number </a:t>
            </a:r>
            <a:r>
              <a:rPr dirty="0" sz="2150" spc="385">
                <a:solidFill>
                  <a:srgbClr val="262126"/>
                </a:solidFill>
                <a:latin typeface="Times New Roman"/>
                <a:cs typeface="Times New Roman"/>
              </a:rPr>
              <a:t>of </a:t>
            </a:r>
            <a:r>
              <a:rPr dirty="0" sz="2150" spc="405">
                <a:solidFill>
                  <a:srgbClr val="262126"/>
                </a:solidFill>
                <a:latin typeface="Times New Roman"/>
                <a:cs typeface="Times New Roman"/>
              </a:rPr>
              <a:t>workers </a:t>
            </a:r>
            <a:r>
              <a:rPr dirty="0" sz="2150" spc="225">
                <a:solidFill>
                  <a:srgbClr val="262126"/>
                </a:solidFill>
                <a:latin typeface="Times New Roman"/>
                <a:cs typeface="Times New Roman"/>
              </a:rPr>
              <a:t>increases</a:t>
            </a:r>
            <a:r>
              <a:rPr dirty="0" sz="2150" spc="225">
                <a:solidFill>
                  <a:srgbClr val="D8BF8E"/>
                </a:solidFill>
                <a:latin typeface="Times New Roman"/>
                <a:cs typeface="Times New Roman"/>
              </a:rPr>
              <a:t>,</a:t>
            </a:r>
            <a:r>
              <a:rPr dirty="0" sz="2150" spc="225">
                <a:solidFill>
                  <a:srgbClr val="262126"/>
                </a:solidFill>
                <a:latin typeface="Times New Roman"/>
                <a:cs typeface="Times New Roman"/>
              </a:rPr>
              <a:t>. </a:t>
            </a:r>
            <a:r>
              <a:rPr dirty="0" sz="2150" spc="-1460">
                <a:solidFill>
                  <a:srgbClr val="262126"/>
                </a:solidFill>
                <a:latin typeface="Times New Roman"/>
                <a:cs typeface="Times New Roman"/>
              </a:rPr>
              <a:t>G</a:t>
            </a:r>
            <a:r>
              <a:rPr dirty="0" sz="2150" spc="110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1460">
                <a:solidFill>
                  <a:srgbClr val="262126"/>
                </a:solidFill>
                <a:latin typeface="Times New Roman"/>
                <a:cs typeface="Times New Roman"/>
              </a:rPr>
              <a:t>A</a:t>
            </a:r>
            <a:r>
              <a:rPr dirty="0" sz="2150" spc="133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-1315">
                <a:solidFill>
                  <a:srgbClr val="262126"/>
                </a:solidFill>
                <a:latin typeface="Times New Roman"/>
                <a:cs typeface="Times New Roman"/>
              </a:rPr>
              <a:t>TNE</a:t>
            </a:r>
            <a:r>
              <a:rPr dirty="0" sz="2150" spc="4100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25">
                <a:solidFill>
                  <a:srgbClr val="262126"/>
                </a:solidFill>
                <a:latin typeface="Times New Roman"/>
                <a:cs typeface="Times New Roman"/>
              </a:rPr>
              <a:t>-1takes </a:t>
            </a:r>
            <a:r>
              <a:rPr dirty="0" sz="2150" spc="305">
                <a:solidFill>
                  <a:srgbClr val="262126"/>
                </a:solidFill>
                <a:latin typeface="Times New Roman"/>
                <a:cs typeface="Times New Roman"/>
              </a:rPr>
              <a:t>less </a:t>
            </a:r>
            <a:r>
              <a:rPr dirty="0" sz="2150" spc="380">
                <a:solidFill>
                  <a:srgbClr val="262126"/>
                </a:solidFill>
                <a:latin typeface="Times New Roman"/>
                <a:cs typeface="Times New Roman"/>
              </a:rPr>
              <a:t>training  </a:t>
            </a:r>
            <a:r>
              <a:rPr dirty="0" sz="2150" spc="315">
                <a:solidFill>
                  <a:srgbClr val="262126"/>
                </a:solidFill>
                <a:latin typeface="Times New Roman"/>
                <a:cs typeface="Times New Roman"/>
              </a:rPr>
              <a:t>titne </a:t>
            </a:r>
            <a:r>
              <a:rPr dirty="0" sz="2150" spc="350">
                <a:solidFill>
                  <a:srgbClr val="262126"/>
                </a:solidFill>
                <a:latin typeface="Times New Roman"/>
                <a:cs typeface="Times New Roman"/>
              </a:rPr>
              <a:t>to </a:t>
            </a:r>
            <a:r>
              <a:rPr dirty="0" sz="2150" spc="335">
                <a:solidFill>
                  <a:srgbClr val="262126"/>
                </a:solidFill>
                <a:latin typeface="Times New Roman"/>
                <a:cs typeface="Times New Roman"/>
              </a:rPr>
              <a:t>converge </a:t>
            </a:r>
            <a:r>
              <a:rPr dirty="0" sz="2150" spc="390">
                <a:solidFill>
                  <a:srgbClr val="262126"/>
                </a:solidFill>
                <a:latin typeface="Times New Roman"/>
                <a:cs typeface="Times New Roman"/>
              </a:rPr>
              <a:t>compared </a:t>
            </a:r>
            <a:r>
              <a:rPr dirty="0" sz="2150" spc="400">
                <a:solidFill>
                  <a:srgbClr val="262126"/>
                </a:solidFill>
                <a:latin typeface="Times New Roman"/>
                <a:cs typeface="Times New Roman"/>
              </a:rPr>
              <a:t>with</a:t>
            </a:r>
            <a:r>
              <a:rPr dirty="0" sz="2150" spc="-225">
                <a:solidFill>
                  <a:srgbClr val="262126"/>
                </a:solidFill>
                <a:latin typeface="Times New Roman"/>
                <a:cs typeface="Times New Roman"/>
              </a:rPr>
              <a:t> </a:t>
            </a:r>
            <a:r>
              <a:rPr dirty="0" sz="2150" spc="200">
                <a:solidFill>
                  <a:srgbClr val="262126"/>
                </a:solidFill>
                <a:latin typeface="Times New Roman"/>
                <a:cs typeface="Times New Roman"/>
              </a:rPr>
              <a:t>GATNE-T.</a:t>
            </a:r>
            <a:endParaRPr sz="2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374" y="432308"/>
            <a:ext cx="83693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Microsoft Tai Le"/>
                <a:cs typeface="Microsoft Tai Le"/>
              </a:rPr>
              <a:t>Mixture </a:t>
            </a:r>
            <a:r>
              <a:rPr dirty="0" sz="2400" b="1">
                <a:solidFill>
                  <a:srgbClr val="000000"/>
                </a:solidFill>
                <a:latin typeface="Microsoft Tai Le"/>
                <a:cs typeface="Microsoft Tai Le"/>
              </a:rPr>
              <a:t>GNN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Is </a:t>
            </a:r>
            <a:r>
              <a:rPr dirty="0" sz="1200" b="1">
                <a:solidFill>
                  <a:srgbClr val="000000"/>
                </a:solidFill>
                <a:latin typeface="Microsoft Tai Le"/>
                <a:cs typeface="Microsoft Tai Le"/>
              </a:rPr>
              <a:t>a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Single Vector Enough? Exploring Node Polysemy </a:t>
            </a:r>
            <a:r>
              <a:rPr dirty="0" sz="1200" b="1">
                <a:solidFill>
                  <a:srgbClr val="000000"/>
                </a:solidFill>
                <a:latin typeface="Microsoft Tai Le"/>
                <a:cs typeface="Microsoft Tai Le"/>
              </a:rPr>
              <a:t>for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Network Embedding, KDD</a:t>
            </a:r>
            <a:r>
              <a:rPr dirty="0" sz="1200" spc="25" b="1">
                <a:solidFill>
                  <a:srgbClr val="000000"/>
                </a:solidFill>
                <a:latin typeface="Microsoft Tai Le"/>
                <a:cs typeface="Microsoft Tai Le"/>
              </a:rPr>
              <a:t>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2019</a:t>
            </a:r>
            <a:endParaRPr sz="12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91639" y="1054608"/>
            <a:ext cx="8601456" cy="3806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029455" y="5218176"/>
            <a:ext cx="4194048" cy="14630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1622" y="478027"/>
            <a:ext cx="25146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Microsoft Tai Le"/>
                <a:cs typeface="Microsoft Tai Le"/>
              </a:rPr>
              <a:t>Hierarchical</a:t>
            </a:r>
            <a:r>
              <a:rPr dirty="0" sz="2400" spc="-65" b="1">
                <a:solidFill>
                  <a:srgbClr val="000000"/>
                </a:solidFill>
                <a:latin typeface="Microsoft Tai Le"/>
                <a:cs typeface="Microsoft Tai Le"/>
              </a:rPr>
              <a:t> </a:t>
            </a:r>
            <a:r>
              <a:rPr dirty="0" sz="2400" b="1">
                <a:solidFill>
                  <a:srgbClr val="000000"/>
                </a:solidFill>
                <a:latin typeface="Microsoft Tai Le"/>
                <a:cs typeface="Microsoft Tai Le"/>
              </a:rPr>
              <a:t>GNN</a:t>
            </a:r>
            <a:endParaRPr sz="24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8013" y="1199407"/>
            <a:ext cx="10552920" cy="5323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125" y="407923"/>
            <a:ext cx="64757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Microsoft Tai Le"/>
                <a:cs typeface="Microsoft Tai Le"/>
              </a:rPr>
              <a:t>Evolving </a:t>
            </a:r>
            <a:r>
              <a:rPr dirty="0" sz="2400" b="1">
                <a:solidFill>
                  <a:srgbClr val="000000"/>
                </a:solidFill>
                <a:latin typeface="Microsoft Tai Le"/>
                <a:cs typeface="Microsoft Tai Le"/>
              </a:rPr>
              <a:t>GNN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Large Scale Evolving Graphs with Burst Detection, IJCAI</a:t>
            </a:r>
            <a:r>
              <a:rPr dirty="0" sz="1200" spc="0" b="1">
                <a:solidFill>
                  <a:srgbClr val="000000"/>
                </a:solidFill>
                <a:latin typeface="Microsoft Tai Le"/>
                <a:cs typeface="Microsoft Tai Le"/>
              </a:rPr>
              <a:t> </a:t>
            </a:r>
            <a:r>
              <a:rPr dirty="0" sz="1200" spc="-5" b="1">
                <a:solidFill>
                  <a:srgbClr val="000000"/>
                </a:solidFill>
                <a:latin typeface="Microsoft Tai Le"/>
                <a:cs typeface="Microsoft Tai Le"/>
              </a:rPr>
              <a:t>2019</a:t>
            </a:r>
            <a:endParaRPr sz="12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52855" y="1103375"/>
            <a:ext cx="10213848" cy="53126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125" y="432308"/>
            <a:ext cx="2065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00"/>
                </a:solidFill>
                <a:latin typeface="Microsoft Tai Le"/>
                <a:cs typeface="Microsoft Tai Le"/>
              </a:rPr>
              <a:t>Bayesian</a:t>
            </a:r>
            <a:r>
              <a:rPr dirty="0" sz="2400" spc="-85" b="1">
                <a:solidFill>
                  <a:srgbClr val="000000"/>
                </a:solidFill>
                <a:latin typeface="Microsoft Tai Le"/>
                <a:cs typeface="Microsoft Tai Le"/>
              </a:rPr>
              <a:t> </a:t>
            </a:r>
            <a:r>
              <a:rPr dirty="0" sz="2400" b="1">
                <a:solidFill>
                  <a:srgbClr val="000000"/>
                </a:solidFill>
                <a:latin typeface="Microsoft Tai Le"/>
                <a:cs typeface="Microsoft Tai Le"/>
              </a:rPr>
              <a:t>GNN</a:t>
            </a:r>
            <a:endParaRPr sz="24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76244" y="1112011"/>
            <a:ext cx="9759315" cy="1951989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355600" marR="720090" indent="-342900">
              <a:lnSpc>
                <a:spcPct val="101699"/>
              </a:lnSpc>
              <a:spcBef>
                <a:spcPts val="6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微软雅黑"/>
                <a:cs typeface="微软雅黑"/>
              </a:rPr>
              <a:t>BEM is </a:t>
            </a:r>
            <a:r>
              <a:rPr dirty="0" sz="1800" spc="110">
                <a:latin typeface="微软雅黑"/>
                <a:cs typeface="微软雅黑"/>
              </a:rPr>
              <a:t>propos-, </a:t>
            </a:r>
            <a:r>
              <a:rPr dirty="0" sz="1800" spc="-5">
                <a:latin typeface="微软雅黑"/>
                <a:cs typeface="微软雅黑"/>
              </a:rPr>
              <a:t>to </a:t>
            </a:r>
            <a:r>
              <a:rPr dirty="0" sz="1800" spc="150">
                <a:latin typeface="微软雅黑"/>
                <a:cs typeface="微软雅黑"/>
              </a:rPr>
              <a:t>bri,g- </a:t>
            </a:r>
            <a:r>
              <a:rPr dirty="0" sz="1800" spc="-50">
                <a:latin typeface="微软雅黑"/>
                <a:cs typeface="微软雅黑"/>
              </a:rPr>
              <a:t>KG </a:t>
            </a:r>
            <a:r>
              <a:rPr dirty="0" sz="1800" spc="365">
                <a:latin typeface="微软雅黑"/>
                <a:cs typeface="微软雅黑"/>
              </a:rPr>
              <a:t>)n,</a:t>
            </a:r>
            <a:r>
              <a:rPr dirty="0" sz="1800" spc="-37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BG </a:t>
            </a:r>
            <a:r>
              <a:rPr dirty="0" sz="1800" spc="60">
                <a:latin typeface="微软雅黑"/>
                <a:cs typeface="微软雅黑"/>
              </a:rPr>
              <a:t>s-)ml-ssly, </a:t>
            </a:r>
            <a:r>
              <a:rPr dirty="0" sz="1800" spc="-5">
                <a:latin typeface="微软雅黑"/>
                <a:cs typeface="微软雅黑"/>
              </a:rPr>
              <a:t>with </a:t>
            </a:r>
            <a:r>
              <a:rPr dirty="0" sz="1800" spc="75">
                <a:latin typeface="微软雅黑"/>
                <a:cs typeface="微软雅黑"/>
              </a:rPr>
              <a:t>th- </a:t>
            </a:r>
            <a:r>
              <a:rPr dirty="0" sz="1800" spc="100">
                <a:latin typeface="微软雅黑"/>
                <a:cs typeface="微软雅黑"/>
              </a:rPr>
              <a:t>consi,-r)tion </a:t>
            </a:r>
            <a:r>
              <a:rPr dirty="0" sz="1800" spc="75">
                <a:latin typeface="微软雅黑"/>
                <a:cs typeface="微软雅黑"/>
              </a:rPr>
              <a:t>o. </a:t>
            </a:r>
            <a:r>
              <a:rPr dirty="0" sz="1800" spc="75">
                <a:latin typeface="微软雅黑"/>
                <a:cs typeface="微软雅黑"/>
              </a:rPr>
              <a:t>th-  </a:t>
            </a:r>
            <a:r>
              <a:rPr dirty="0" sz="1800" spc="50">
                <a:latin typeface="微软雅黑"/>
                <a:cs typeface="微软雅黑"/>
              </a:rPr>
              <a:t>b-h)vior-sp-ci.ic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bi)s.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100">
                <a:latin typeface="微软雅黑"/>
                <a:cs typeface="微软雅黑"/>
              </a:rPr>
              <a:t>(his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85">
                <a:latin typeface="微软雅黑"/>
                <a:cs typeface="微软雅黑"/>
              </a:rPr>
              <a:t>.r)m-work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110">
                <a:latin typeface="微软雅黑"/>
                <a:cs typeface="微软雅黑"/>
              </a:rPr>
              <a:t>provi,-s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385">
                <a:latin typeface="微软雅黑"/>
                <a:cs typeface="微软雅黑"/>
              </a:rPr>
              <a:t>)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n-w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55">
                <a:latin typeface="微软雅黑"/>
                <a:cs typeface="微软雅黑"/>
              </a:rPr>
              <a:t>p-rsp-ctiv-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o.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55">
                <a:latin typeface="微软雅黑"/>
                <a:cs typeface="微软雅黑"/>
              </a:rPr>
              <a:t>m)king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385">
                <a:latin typeface="微软雅黑"/>
                <a:cs typeface="微软雅黑"/>
              </a:rPr>
              <a:t>)  </a:t>
            </a:r>
            <a:r>
              <a:rPr dirty="0" sz="1800" spc="60">
                <a:latin typeface="微软雅黑"/>
                <a:cs typeface="微软雅黑"/>
              </a:rPr>
              <a:t>r-)soning m-ch)nism </a:t>
            </a:r>
            <a:r>
              <a:rPr dirty="0" sz="1800" spc="15">
                <a:latin typeface="微软雅黑"/>
                <a:cs typeface="微软雅黑"/>
              </a:rPr>
              <a:t>(cognitiv- </a:t>
            </a:r>
            <a:r>
              <a:rPr dirty="0" sz="1800" spc="75">
                <a:latin typeface="微软雅黑"/>
                <a:cs typeface="微软雅黑"/>
              </a:rPr>
              <a:t>gr)ph</a:t>
            </a:r>
            <a:r>
              <a:rPr dirty="0" sz="1800" spc="-6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.</a:t>
            </a:r>
            <a:endParaRPr sz="1800">
              <a:latin typeface="微软雅黑"/>
              <a:cs typeface="微软雅黑"/>
            </a:endParaRPr>
          </a:p>
          <a:p>
            <a:pPr marL="355600" marR="489584" indent="-342900">
              <a:lnSpc>
                <a:spcPts val="2180"/>
              </a:lnSpc>
              <a:spcBef>
                <a:spcPts val="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800" spc="-5">
                <a:latin typeface="微软雅黑"/>
                <a:cs typeface="微软雅黑"/>
              </a:rPr>
              <a:t>As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385">
                <a:latin typeface="微软雅黑"/>
                <a:cs typeface="微软雅黑"/>
              </a:rPr>
              <a:t>)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130">
                <a:latin typeface="微软雅黑"/>
                <a:cs typeface="微软雅黑"/>
              </a:rPr>
              <a:t>m-tho,,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BEM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is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60">
                <a:latin typeface="微软雅黑"/>
                <a:cs typeface="微软雅黑"/>
              </a:rPr>
              <a:t>g-n-ric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365">
                <a:latin typeface="微软雅黑"/>
                <a:cs typeface="微软雅黑"/>
              </a:rPr>
              <a:t>)n,</a:t>
            </a:r>
            <a:r>
              <a:rPr dirty="0" sz="1800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.l-xibl-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in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90">
                <a:latin typeface="微软雅黑"/>
                <a:cs typeface="微软雅黑"/>
              </a:rPr>
              <a:t>th)t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it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125">
                <a:latin typeface="微软雅黑"/>
                <a:cs typeface="微软雅黑"/>
              </a:rPr>
              <a:t>c)n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us-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125">
                <a:latin typeface="微软雅黑"/>
                <a:cs typeface="微软雅黑"/>
              </a:rPr>
              <a:t>)ny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0">
                <a:latin typeface="微软雅黑"/>
                <a:cs typeface="微软雅黑"/>
              </a:rPr>
              <a:t>KG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180">
                <a:latin typeface="微软雅黑"/>
                <a:cs typeface="微软雅黑"/>
              </a:rPr>
              <a:t>-mb-,,ings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-10">
                <a:latin typeface="微软雅黑"/>
                <a:cs typeface="微软雅黑"/>
              </a:rPr>
              <a:t>to  </a:t>
            </a:r>
            <a:r>
              <a:rPr dirty="0" sz="1800" spc="25">
                <a:latin typeface="微软雅黑"/>
                <a:cs typeface="微软雅黑"/>
              </a:rPr>
              <a:t>corr-ct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125">
                <a:latin typeface="微软雅黑"/>
                <a:cs typeface="微软雅黑"/>
              </a:rPr>
              <a:t>)ny</a:t>
            </a:r>
            <a:r>
              <a:rPr dirty="0" sz="180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BG</a:t>
            </a:r>
            <a:r>
              <a:rPr dirty="0" sz="1800">
                <a:latin typeface="微软雅黑"/>
                <a:cs typeface="微软雅黑"/>
              </a:rPr>
              <a:t> </a:t>
            </a:r>
            <a:r>
              <a:rPr dirty="0" sz="1800" spc="165">
                <a:latin typeface="微软雅黑"/>
                <a:cs typeface="微软雅黑"/>
              </a:rPr>
              <a:t>-mb-,,ings.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On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th-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35">
                <a:latin typeface="微软雅黑"/>
                <a:cs typeface="微软雅黑"/>
              </a:rPr>
              <a:t>contr)ry,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it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is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50">
                <a:latin typeface="微软雅黑"/>
                <a:cs typeface="微软雅黑"/>
              </a:rPr>
              <a:t>pot-nti)lly</a:t>
            </a:r>
            <a:r>
              <a:rPr dirty="0" sz="1800">
                <a:latin typeface="微软雅黑"/>
                <a:cs typeface="微软雅黑"/>
              </a:rPr>
              <a:t> </a:t>
            </a:r>
            <a:r>
              <a:rPr dirty="0" sz="1800" spc="150">
                <a:latin typeface="微软雅黑"/>
                <a:cs typeface="微软雅黑"/>
              </a:rPr>
              <a:t>)bl-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to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50">
                <a:latin typeface="微软雅黑"/>
                <a:cs typeface="微软雅黑"/>
              </a:rPr>
              <a:t>h-lp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-50">
                <a:latin typeface="微软雅黑"/>
                <a:cs typeface="微软雅黑"/>
              </a:rPr>
              <a:t>KG</a:t>
            </a:r>
            <a:endParaRPr sz="1800">
              <a:latin typeface="微软雅黑"/>
              <a:cs typeface="微软雅黑"/>
            </a:endParaRPr>
          </a:p>
          <a:p>
            <a:pPr marL="355600">
              <a:lnSpc>
                <a:spcPts val="2035"/>
              </a:lnSpc>
            </a:pPr>
            <a:r>
              <a:rPr dirty="0" sz="1800" spc="180">
                <a:latin typeface="微软雅黑"/>
                <a:cs typeface="微软雅黑"/>
              </a:rPr>
              <a:t>-mb-,,ings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)cquir-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nov-l</a:t>
            </a:r>
            <a:r>
              <a:rPr dirty="0" sz="1800" spc="0">
                <a:latin typeface="微软雅黑"/>
                <a:cs typeface="微软雅黑"/>
              </a:rPr>
              <a:t> </a:t>
            </a:r>
            <a:r>
              <a:rPr dirty="0" sz="1800" spc="125">
                <a:latin typeface="微软雅黑"/>
                <a:cs typeface="微软雅黑"/>
              </a:rPr>
              <a:t>knowl-,g-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35">
                <a:latin typeface="微软雅黑"/>
                <a:cs typeface="微软雅黑"/>
              </a:rPr>
              <a:t>.rom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75">
                <a:latin typeface="微软雅黑"/>
                <a:cs typeface="微软雅黑"/>
              </a:rPr>
              <a:t>th-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BG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180">
                <a:latin typeface="微软雅黑"/>
                <a:cs typeface="微软雅黑"/>
              </a:rPr>
              <a:t>-mb-,,ings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90">
                <a:latin typeface="微软雅黑"/>
                <a:cs typeface="微软雅黑"/>
              </a:rPr>
              <a:t>th)t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229">
                <a:latin typeface="微软雅黑"/>
                <a:cs typeface="微软雅黑"/>
              </a:rPr>
              <a:t>,o-s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not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-xist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in</a:t>
            </a:r>
            <a:endParaRPr sz="1800">
              <a:latin typeface="微软雅黑"/>
              <a:cs typeface="微软雅黑"/>
            </a:endParaRPr>
          </a:p>
          <a:p>
            <a:pPr marL="355600">
              <a:lnSpc>
                <a:spcPct val="100000"/>
              </a:lnSpc>
              <a:spcBef>
                <a:spcPts val="45"/>
              </a:spcBef>
            </a:pPr>
            <a:r>
              <a:rPr dirty="0" sz="1800" spc="75">
                <a:latin typeface="微软雅黑"/>
                <a:cs typeface="微软雅黑"/>
              </a:rPr>
              <a:t>th- </a:t>
            </a:r>
            <a:r>
              <a:rPr dirty="0" sz="1800" spc="125">
                <a:latin typeface="微软雅黑"/>
                <a:cs typeface="微软雅黑"/>
              </a:rPr>
              <a:t>knowl-,g-</a:t>
            </a:r>
            <a:r>
              <a:rPr dirty="0" sz="1800" spc="-120">
                <a:latin typeface="微软雅黑"/>
                <a:cs typeface="微软雅黑"/>
              </a:rPr>
              <a:t> </a:t>
            </a:r>
            <a:r>
              <a:rPr dirty="0" sz="1800" spc="55">
                <a:latin typeface="微软雅黑"/>
                <a:cs typeface="微软雅黑"/>
              </a:rPr>
              <a:t>gr)ph.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444240" y="3051048"/>
            <a:ext cx="5324856" cy="3599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249" y="444500"/>
            <a:ext cx="322389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Microsoft Tai Le"/>
                <a:cs typeface="Microsoft Tai Le"/>
              </a:rPr>
              <a:t>Supported</a:t>
            </a:r>
            <a:r>
              <a:rPr dirty="0" sz="2400" spc="-40" b="1">
                <a:latin typeface="Microsoft Tai Le"/>
                <a:cs typeface="Microsoft Tai Le"/>
              </a:rPr>
              <a:t> </a:t>
            </a:r>
            <a:r>
              <a:rPr dirty="0" sz="2400" spc="-5" b="1">
                <a:latin typeface="Microsoft Tai Le"/>
                <a:cs typeface="Microsoft Tai Le"/>
              </a:rPr>
              <a:t>Algorithms</a:t>
            </a:r>
            <a:endParaRPr sz="2400">
              <a:latin typeface="Microsoft Tai Le"/>
              <a:cs typeface="Microsoft Tai L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54873" y="1564820"/>
            <a:ext cx="11388608" cy="437284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612641" y="1054100"/>
            <a:ext cx="23310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Algorithms</a:t>
            </a:r>
            <a:r>
              <a:rPr dirty="0" sz="1800" spc="-16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Proposed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233560" y="4127500"/>
            <a:ext cx="55930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Part </a:t>
            </a:r>
            <a:r>
              <a:rPr dirty="0" sz="2800" spc="1055">
                <a:latin typeface="微软雅黑"/>
                <a:cs typeface="微软雅黑"/>
              </a:rPr>
              <a:t>5: </a:t>
            </a:r>
            <a:r>
              <a:rPr dirty="0" sz="2800" spc="-10">
                <a:latin typeface="微软雅黑"/>
                <a:cs typeface="微软雅黑"/>
              </a:rPr>
              <a:t>urrent </a:t>
            </a:r>
            <a:r>
              <a:rPr dirty="0" sz="2800" spc="-5">
                <a:latin typeface="微软雅黑"/>
                <a:cs typeface="微软雅黑"/>
              </a:rPr>
              <a:t>Focus </a:t>
            </a:r>
            <a:r>
              <a:rPr dirty="0" sz="2800">
                <a:latin typeface="微软雅黑"/>
                <a:cs typeface="微软雅黑"/>
              </a:rPr>
              <a:t>in</a:t>
            </a:r>
            <a:r>
              <a:rPr dirty="0" sz="2800" spc="-80">
                <a:latin typeface="微软雅黑"/>
                <a:cs typeface="微软雅黑"/>
              </a:rPr>
              <a:t> </a:t>
            </a:r>
            <a:r>
              <a:rPr dirty="0" sz="2800" spc="-5">
                <a:latin typeface="微软雅黑"/>
                <a:cs typeface="微软雅黑"/>
              </a:rPr>
              <a:t>Practice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9233" y="456691"/>
            <a:ext cx="577723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50" b="1">
                <a:solidFill>
                  <a:srgbClr val="000000"/>
                </a:solidFill>
                <a:latin typeface="微软雅黑"/>
                <a:cs typeface="微软雅黑"/>
              </a:rPr>
              <a:t>Search-Recomme-datio-</a:t>
            </a:r>
            <a:r>
              <a:rPr dirty="0" sz="2400" spc="434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Platform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5017" y="5557888"/>
            <a:ext cx="10368915" cy="861060"/>
          </a:xfrm>
          <a:custGeom>
            <a:avLst/>
            <a:gdLst/>
            <a:ahLst/>
            <a:cxnLst/>
            <a:rect l="l" t="t" r="r" b="b"/>
            <a:pathLst>
              <a:path w="10368915" h="861060">
                <a:moveTo>
                  <a:pt x="0" y="143478"/>
                </a:moveTo>
                <a:lnTo>
                  <a:pt x="7314" y="98128"/>
                </a:lnTo>
                <a:lnTo>
                  <a:pt x="27682" y="58742"/>
                </a:lnTo>
                <a:lnTo>
                  <a:pt x="58741" y="27683"/>
                </a:lnTo>
                <a:lnTo>
                  <a:pt x="98127" y="7314"/>
                </a:lnTo>
                <a:lnTo>
                  <a:pt x="143477" y="0"/>
                </a:lnTo>
                <a:lnTo>
                  <a:pt x="10225265" y="0"/>
                </a:lnTo>
                <a:lnTo>
                  <a:pt x="10270614" y="7314"/>
                </a:lnTo>
                <a:lnTo>
                  <a:pt x="10310000" y="27683"/>
                </a:lnTo>
                <a:lnTo>
                  <a:pt x="10341059" y="58742"/>
                </a:lnTo>
                <a:lnTo>
                  <a:pt x="10361427" y="98128"/>
                </a:lnTo>
                <a:lnTo>
                  <a:pt x="10368742" y="143478"/>
                </a:lnTo>
                <a:lnTo>
                  <a:pt x="10368742" y="717348"/>
                </a:lnTo>
                <a:lnTo>
                  <a:pt x="10361427" y="762698"/>
                </a:lnTo>
                <a:lnTo>
                  <a:pt x="10341059" y="802084"/>
                </a:lnTo>
                <a:lnTo>
                  <a:pt x="10310000" y="833143"/>
                </a:lnTo>
                <a:lnTo>
                  <a:pt x="10270614" y="853512"/>
                </a:lnTo>
                <a:lnTo>
                  <a:pt x="10225265" y="860827"/>
                </a:lnTo>
                <a:lnTo>
                  <a:pt x="143477" y="860827"/>
                </a:lnTo>
                <a:lnTo>
                  <a:pt x="98127" y="853512"/>
                </a:lnTo>
                <a:lnTo>
                  <a:pt x="58741" y="833143"/>
                </a:lnTo>
                <a:lnTo>
                  <a:pt x="27682" y="802084"/>
                </a:lnTo>
                <a:lnTo>
                  <a:pt x="7314" y="762698"/>
                </a:lnTo>
                <a:lnTo>
                  <a:pt x="0" y="717348"/>
                </a:lnTo>
                <a:lnTo>
                  <a:pt x="0" y="143478"/>
                </a:lnTo>
                <a:close/>
              </a:path>
            </a:pathLst>
          </a:custGeom>
          <a:ln w="127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5779" y="5835396"/>
            <a:ext cx="6667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45" b="1">
                <a:latin typeface="微软雅黑"/>
                <a:cs typeface="微软雅黑"/>
              </a:rPr>
              <a:t>S</a:t>
            </a:r>
            <a:r>
              <a:rPr dirty="0" sz="1400" spc="-5" b="1">
                <a:latin typeface="微软雅黑"/>
                <a:cs typeface="微软雅黑"/>
              </a:rPr>
              <a:t>ys</a:t>
            </a:r>
            <a:r>
              <a:rPr dirty="0" sz="1400" spc="-15" b="1">
                <a:latin typeface="微软雅黑"/>
                <a:cs typeface="微软雅黑"/>
              </a:rPr>
              <a:t>t</a:t>
            </a:r>
            <a:r>
              <a:rPr dirty="0" sz="1400" spc="-5" b="1">
                <a:latin typeface="微软雅黑"/>
                <a:cs typeface="微软雅黑"/>
              </a:rPr>
              <a:t>e</a:t>
            </a:r>
            <a:r>
              <a:rPr dirty="0" sz="1400" b="1">
                <a:latin typeface="微软雅黑"/>
                <a:cs typeface="微软雅黑"/>
              </a:rPr>
              <a:t>m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14326" y="5724026"/>
            <a:ext cx="1351915" cy="544195"/>
          </a:xfrm>
          <a:custGeom>
            <a:avLst/>
            <a:gdLst/>
            <a:ahLst/>
            <a:cxnLst/>
            <a:rect l="l" t="t" r="r" b="b"/>
            <a:pathLst>
              <a:path w="1351914" h="544195">
                <a:moveTo>
                  <a:pt x="1260735" y="0"/>
                </a:moveTo>
                <a:lnTo>
                  <a:pt x="90603" y="0"/>
                </a:lnTo>
                <a:lnTo>
                  <a:pt x="55336" y="7120"/>
                </a:lnTo>
                <a:lnTo>
                  <a:pt x="26537" y="26537"/>
                </a:lnTo>
                <a:lnTo>
                  <a:pt x="7120" y="55336"/>
                </a:lnTo>
                <a:lnTo>
                  <a:pt x="0" y="90603"/>
                </a:lnTo>
                <a:lnTo>
                  <a:pt x="0" y="452998"/>
                </a:lnTo>
                <a:lnTo>
                  <a:pt x="7120" y="488265"/>
                </a:lnTo>
                <a:lnTo>
                  <a:pt x="26537" y="517063"/>
                </a:lnTo>
                <a:lnTo>
                  <a:pt x="55336" y="536480"/>
                </a:lnTo>
                <a:lnTo>
                  <a:pt x="90603" y="543600"/>
                </a:lnTo>
                <a:lnTo>
                  <a:pt x="1260735" y="543600"/>
                </a:lnTo>
                <a:lnTo>
                  <a:pt x="1296001" y="536480"/>
                </a:lnTo>
                <a:lnTo>
                  <a:pt x="1324800" y="517063"/>
                </a:lnTo>
                <a:lnTo>
                  <a:pt x="1344217" y="488265"/>
                </a:lnTo>
                <a:lnTo>
                  <a:pt x="1351337" y="452998"/>
                </a:lnTo>
                <a:lnTo>
                  <a:pt x="1351337" y="90603"/>
                </a:lnTo>
                <a:lnTo>
                  <a:pt x="1344217" y="55336"/>
                </a:lnTo>
                <a:lnTo>
                  <a:pt x="1324800" y="26537"/>
                </a:lnTo>
                <a:lnTo>
                  <a:pt x="1296001" y="7120"/>
                </a:lnTo>
                <a:lnTo>
                  <a:pt x="1260735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766926" y="5799835"/>
            <a:ext cx="84709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55575">
              <a:lnSpc>
                <a:spcPts val="1390"/>
              </a:lnSpc>
              <a:spcBef>
                <a:spcPts val="185"/>
              </a:spcBef>
            </a:pPr>
            <a:r>
              <a:rPr dirty="0" sz="1200" spc="-80">
                <a:latin typeface="微软雅黑"/>
                <a:cs typeface="微软雅黑"/>
              </a:rPr>
              <a:t>SAream  </a:t>
            </a:r>
            <a:r>
              <a:rPr dirty="0" sz="1200" spc="-5">
                <a:latin typeface="微软雅黑"/>
                <a:cs typeface="微软雅黑"/>
              </a:rPr>
              <a:t>Co</a:t>
            </a:r>
            <a:r>
              <a:rPr dirty="0" sz="1200">
                <a:latin typeface="微软雅黑"/>
                <a:cs typeface="微软雅黑"/>
              </a:rPr>
              <a:t>m</a:t>
            </a:r>
            <a:r>
              <a:rPr dirty="0" sz="1200" spc="-5">
                <a:latin typeface="微软雅黑"/>
                <a:cs typeface="微软雅黑"/>
              </a:rPr>
              <a:t>p</a:t>
            </a:r>
            <a:r>
              <a:rPr dirty="0" sz="1200" spc="-20">
                <a:latin typeface="微软雅黑"/>
                <a:cs typeface="微软雅黑"/>
              </a:rPr>
              <a:t>B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65017" y="2336993"/>
            <a:ext cx="10368915" cy="795655"/>
          </a:xfrm>
          <a:custGeom>
            <a:avLst/>
            <a:gdLst/>
            <a:ahLst/>
            <a:cxnLst/>
            <a:rect l="l" t="t" r="r" b="b"/>
            <a:pathLst>
              <a:path w="10368915" h="795655">
                <a:moveTo>
                  <a:pt x="0" y="132512"/>
                </a:moveTo>
                <a:lnTo>
                  <a:pt x="6755" y="90628"/>
                </a:lnTo>
                <a:lnTo>
                  <a:pt x="25567" y="54252"/>
                </a:lnTo>
                <a:lnTo>
                  <a:pt x="54252" y="25567"/>
                </a:lnTo>
                <a:lnTo>
                  <a:pt x="90628" y="6755"/>
                </a:lnTo>
                <a:lnTo>
                  <a:pt x="132512" y="0"/>
                </a:lnTo>
                <a:lnTo>
                  <a:pt x="10236230" y="0"/>
                </a:lnTo>
                <a:lnTo>
                  <a:pt x="10278114" y="6755"/>
                </a:lnTo>
                <a:lnTo>
                  <a:pt x="10314490" y="25567"/>
                </a:lnTo>
                <a:lnTo>
                  <a:pt x="10343175" y="54252"/>
                </a:lnTo>
                <a:lnTo>
                  <a:pt x="10361986" y="90628"/>
                </a:lnTo>
                <a:lnTo>
                  <a:pt x="10368742" y="132512"/>
                </a:lnTo>
                <a:lnTo>
                  <a:pt x="10368742" y="662518"/>
                </a:lnTo>
                <a:lnTo>
                  <a:pt x="10361986" y="704402"/>
                </a:lnTo>
                <a:lnTo>
                  <a:pt x="10343175" y="740778"/>
                </a:lnTo>
                <a:lnTo>
                  <a:pt x="10314490" y="769463"/>
                </a:lnTo>
                <a:lnTo>
                  <a:pt x="10278114" y="788275"/>
                </a:lnTo>
                <a:lnTo>
                  <a:pt x="10236230" y="795031"/>
                </a:lnTo>
                <a:lnTo>
                  <a:pt x="132512" y="795031"/>
                </a:lnTo>
                <a:lnTo>
                  <a:pt x="90628" y="788275"/>
                </a:lnTo>
                <a:lnTo>
                  <a:pt x="54252" y="769463"/>
                </a:lnTo>
                <a:lnTo>
                  <a:pt x="25567" y="740778"/>
                </a:lnTo>
                <a:lnTo>
                  <a:pt x="6755" y="704402"/>
                </a:lnTo>
                <a:lnTo>
                  <a:pt x="0" y="662518"/>
                </a:lnTo>
                <a:lnTo>
                  <a:pt x="0" y="132512"/>
                </a:lnTo>
                <a:close/>
              </a:path>
            </a:pathLst>
          </a:custGeom>
          <a:ln w="127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2568" y="2610611"/>
            <a:ext cx="6686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Se</a:t>
            </a:r>
            <a:r>
              <a:rPr dirty="0" sz="1400" spc="50" b="1">
                <a:latin typeface="微软雅黑"/>
                <a:cs typeface="微软雅黑"/>
              </a:rPr>
              <a:t>r</a:t>
            </a:r>
            <a:r>
              <a:rPr dirty="0" sz="1400" b="1">
                <a:latin typeface="微软雅黑"/>
                <a:cs typeface="微软雅黑"/>
              </a:rPr>
              <a:t>v</a:t>
            </a:r>
            <a:r>
              <a:rPr dirty="0" sz="1400" spc="-5" b="1">
                <a:latin typeface="微软雅黑"/>
                <a:cs typeface="微软雅黑"/>
              </a:rPr>
              <a:t>i</a:t>
            </a:r>
            <a:r>
              <a:rPr dirty="0" sz="1400" b="1">
                <a:latin typeface="微软雅黑"/>
                <a:cs typeface="微软雅黑"/>
              </a:rPr>
              <a:t>ce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48612" y="2451726"/>
            <a:ext cx="1255395" cy="589915"/>
          </a:xfrm>
          <a:custGeom>
            <a:avLst/>
            <a:gdLst/>
            <a:ahLst/>
            <a:cxnLst/>
            <a:rect l="l" t="t" r="r" b="b"/>
            <a:pathLst>
              <a:path w="1255395" h="589914">
                <a:moveTo>
                  <a:pt x="1156589" y="0"/>
                </a:moveTo>
                <a:lnTo>
                  <a:pt x="98285" y="0"/>
                </a:lnTo>
                <a:lnTo>
                  <a:pt x="60028" y="7723"/>
                </a:lnTo>
                <a:lnTo>
                  <a:pt x="28787" y="28787"/>
                </a:lnTo>
                <a:lnTo>
                  <a:pt x="7723" y="60028"/>
                </a:lnTo>
                <a:lnTo>
                  <a:pt x="0" y="98286"/>
                </a:lnTo>
                <a:lnTo>
                  <a:pt x="0" y="491423"/>
                </a:lnTo>
                <a:lnTo>
                  <a:pt x="7723" y="529681"/>
                </a:lnTo>
                <a:lnTo>
                  <a:pt x="28787" y="560922"/>
                </a:lnTo>
                <a:lnTo>
                  <a:pt x="60028" y="581986"/>
                </a:lnTo>
                <a:lnTo>
                  <a:pt x="98285" y="589710"/>
                </a:lnTo>
                <a:lnTo>
                  <a:pt x="1156589" y="589710"/>
                </a:lnTo>
                <a:lnTo>
                  <a:pt x="1194846" y="581986"/>
                </a:lnTo>
                <a:lnTo>
                  <a:pt x="1226088" y="560922"/>
                </a:lnTo>
                <a:lnTo>
                  <a:pt x="1247151" y="529681"/>
                </a:lnTo>
                <a:lnTo>
                  <a:pt x="1254875" y="491423"/>
                </a:lnTo>
                <a:lnTo>
                  <a:pt x="1254875" y="98286"/>
                </a:lnTo>
                <a:lnTo>
                  <a:pt x="1247151" y="60028"/>
                </a:lnTo>
                <a:lnTo>
                  <a:pt x="1226088" y="28787"/>
                </a:lnTo>
                <a:lnTo>
                  <a:pt x="1194846" y="7723"/>
                </a:lnTo>
                <a:lnTo>
                  <a:pt x="115658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851393" y="2642107"/>
            <a:ext cx="850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微软雅黑"/>
                <a:cs typeface="微软雅黑"/>
              </a:rPr>
              <a:t>Ind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55">
                <a:latin typeface="微软雅黑"/>
                <a:cs typeface="微软雅黑"/>
              </a:rPr>
              <a:t>E</a:t>
            </a:r>
            <a:r>
              <a:rPr dirty="0" sz="1200" spc="-5">
                <a:latin typeface="微软雅黑"/>
                <a:cs typeface="微软雅黑"/>
              </a:rPr>
              <a:t>/</a:t>
            </a:r>
            <a:r>
              <a:rPr dirty="0" sz="1200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an</a:t>
            </a:r>
            <a:r>
              <a:rPr dirty="0" sz="1200">
                <a:latin typeface="微软雅黑"/>
                <a:cs typeface="微软雅黑"/>
              </a:rPr>
              <a:t>k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226865" y="2451726"/>
            <a:ext cx="1797050" cy="589915"/>
          </a:xfrm>
          <a:custGeom>
            <a:avLst/>
            <a:gdLst/>
            <a:ahLst/>
            <a:cxnLst/>
            <a:rect l="l" t="t" r="r" b="b"/>
            <a:pathLst>
              <a:path w="1797050" h="589914">
                <a:moveTo>
                  <a:pt x="1698402" y="0"/>
                </a:moveTo>
                <a:lnTo>
                  <a:pt x="98287" y="0"/>
                </a:lnTo>
                <a:lnTo>
                  <a:pt x="60030" y="7723"/>
                </a:lnTo>
                <a:lnTo>
                  <a:pt x="28788" y="28787"/>
                </a:lnTo>
                <a:lnTo>
                  <a:pt x="7724" y="60029"/>
                </a:lnTo>
                <a:lnTo>
                  <a:pt x="0" y="98287"/>
                </a:lnTo>
                <a:lnTo>
                  <a:pt x="0" y="491422"/>
                </a:lnTo>
                <a:lnTo>
                  <a:pt x="7724" y="529680"/>
                </a:lnTo>
                <a:lnTo>
                  <a:pt x="28788" y="560921"/>
                </a:lnTo>
                <a:lnTo>
                  <a:pt x="60030" y="581985"/>
                </a:lnTo>
                <a:lnTo>
                  <a:pt x="98287" y="589709"/>
                </a:lnTo>
                <a:lnTo>
                  <a:pt x="1698402" y="589709"/>
                </a:lnTo>
                <a:lnTo>
                  <a:pt x="1736660" y="581985"/>
                </a:lnTo>
                <a:lnTo>
                  <a:pt x="1767901" y="560921"/>
                </a:lnTo>
                <a:lnTo>
                  <a:pt x="1788965" y="529680"/>
                </a:lnTo>
                <a:lnTo>
                  <a:pt x="1796689" y="491422"/>
                </a:lnTo>
                <a:lnTo>
                  <a:pt x="1796689" y="98287"/>
                </a:lnTo>
                <a:lnTo>
                  <a:pt x="1788965" y="60029"/>
                </a:lnTo>
                <a:lnTo>
                  <a:pt x="1767901" y="28787"/>
                </a:lnTo>
                <a:lnTo>
                  <a:pt x="1736660" y="7723"/>
                </a:lnTo>
                <a:lnTo>
                  <a:pt x="1698402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435917" y="2550667"/>
            <a:ext cx="137985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58775" marR="5080" indent="-346710">
              <a:lnSpc>
                <a:spcPts val="1390"/>
              </a:lnSpc>
              <a:spcBef>
                <a:spcPts val="185"/>
              </a:spcBef>
            </a:pPr>
            <a:r>
              <a:rPr dirty="0" sz="1200" spc="-40">
                <a:latin typeface="微软雅黑"/>
                <a:cs typeface="微软雅黑"/>
              </a:rPr>
              <a:t>EColBAional/Online  </a:t>
            </a:r>
            <a:r>
              <a:rPr dirty="0" sz="1200" spc="-60">
                <a:latin typeface="微软雅黑"/>
                <a:cs typeface="微软雅黑"/>
              </a:rPr>
              <a:t>BpdaAing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34247" y="2451726"/>
            <a:ext cx="1121410" cy="589915"/>
          </a:xfrm>
          <a:custGeom>
            <a:avLst/>
            <a:gdLst/>
            <a:ahLst/>
            <a:cxnLst/>
            <a:rect l="l" t="t" r="r" b="b"/>
            <a:pathLst>
              <a:path w="1121409" h="589914">
                <a:moveTo>
                  <a:pt x="1022695" y="0"/>
                </a:moveTo>
                <a:lnTo>
                  <a:pt x="98286" y="0"/>
                </a:lnTo>
                <a:lnTo>
                  <a:pt x="60028" y="7723"/>
                </a:lnTo>
                <a:lnTo>
                  <a:pt x="28787" y="28787"/>
                </a:lnTo>
                <a:lnTo>
                  <a:pt x="7723" y="60028"/>
                </a:lnTo>
                <a:lnTo>
                  <a:pt x="0" y="98286"/>
                </a:lnTo>
                <a:lnTo>
                  <a:pt x="0" y="491422"/>
                </a:lnTo>
                <a:lnTo>
                  <a:pt x="7723" y="529680"/>
                </a:lnTo>
                <a:lnTo>
                  <a:pt x="28787" y="560922"/>
                </a:lnTo>
                <a:lnTo>
                  <a:pt x="60028" y="581986"/>
                </a:lnTo>
                <a:lnTo>
                  <a:pt x="98286" y="589710"/>
                </a:lnTo>
                <a:lnTo>
                  <a:pt x="1022695" y="589710"/>
                </a:lnTo>
                <a:lnTo>
                  <a:pt x="1060953" y="581986"/>
                </a:lnTo>
                <a:lnTo>
                  <a:pt x="1092195" y="560922"/>
                </a:lnTo>
                <a:lnTo>
                  <a:pt x="1113259" y="529680"/>
                </a:lnTo>
                <a:lnTo>
                  <a:pt x="1120983" y="491422"/>
                </a:lnTo>
                <a:lnTo>
                  <a:pt x="1120983" y="98286"/>
                </a:lnTo>
                <a:lnTo>
                  <a:pt x="1113259" y="60028"/>
                </a:lnTo>
                <a:lnTo>
                  <a:pt x="1092195" y="28787"/>
                </a:lnTo>
                <a:lnTo>
                  <a:pt x="1060953" y="7723"/>
                </a:lnTo>
                <a:lnTo>
                  <a:pt x="1022695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591367" y="2642107"/>
            <a:ext cx="6076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5">
                <a:latin typeface="微软雅黑"/>
                <a:cs typeface="微软雅黑"/>
              </a:rPr>
              <a:t>ABAoML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15063" y="2451726"/>
            <a:ext cx="1700530" cy="589915"/>
          </a:xfrm>
          <a:custGeom>
            <a:avLst/>
            <a:gdLst/>
            <a:ahLst/>
            <a:cxnLst/>
            <a:rect l="l" t="t" r="r" b="b"/>
            <a:pathLst>
              <a:path w="1700529" h="589914">
                <a:moveTo>
                  <a:pt x="1601938" y="0"/>
                </a:moveTo>
                <a:lnTo>
                  <a:pt x="98287" y="0"/>
                </a:lnTo>
                <a:lnTo>
                  <a:pt x="60030" y="7723"/>
                </a:lnTo>
                <a:lnTo>
                  <a:pt x="28788" y="28787"/>
                </a:lnTo>
                <a:lnTo>
                  <a:pt x="7724" y="60029"/>
                </a:lnTo>
                <a:lnTo>
                  <a:pt x="0" y="98287"/>
                </a:lnTo>
                <a:lnTo>
                  <a:pt x="0" y="491422"/>
                </a:lnTo>
                <a:lnTo>
                  <a:pt x="7724" y="529680"/>
                </a:lnTo>
                <a:lnTo>
                  <a:pt x="28788" y="560921"/>
                </a:lnTo>
                <a:lnTo>
                  <a:pt x="60030" y="581985"/>
                </a:lnTo>
                <a:lnTo>
                  <a:pt x="98287" y="589709"/>
                </a:lnTo>
                <a:lnTo>
                  <a:pt x="1601938" y="589709"/>
                </a:lnTo>
                <a:lnTo>
                  <a:pt x="1640197" y="581985"/>
                </a:lnTo>
                <a:lnTo>
                  <a:pt x="1671438" y="560921"/>
                </a:lnTo>
                <a:lnTo>
                  <a:pt x="1692502" y="529680"/>
                </a:lnTo>
                <a:lnTo>
                  <a:pt x="1700226" y="491422"/>
                </a:lnTo>
                <a:lnTo>
                  <a:pt x="1700226" y="98287"/>
                </a:lnTo>
                <a:lnTo>
                  <a:pt x="1692502" y="60029"/>
                </a:lnTo>
                <a:lnTo>
                  <a:pt x="1671438" y="28787"/>
                </a:lnTo>
                <a:lnTo>
                  <a:pt x="1640197" y="7723"/>
                </a:lnTo>
                <a:lnTo>
                  <a:pt x="1601938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3391568" y="2642107"/>
            <a:ext cx="13481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微软雅黑"/>
                <a:cs typeface="微软雅黑"/>
              </a:rPr>
              <a:t>Training/Inference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131583" y="5724026"/>
            <a:ext cx="1407795" cy="545465"/>
          </a:xfrm>
          <a:custGeom>
            <a:avLst/>
            <a:gdLst/>
            <a:ahLst/>
            <a:cxnLst/>
            <a:rect l="l" t="t" r="r" b="b"/>
            <a:pathLst>
              <a:path w="1407795" h="545464">
                <a:moveTo>
                  <a:pt x="1316870" y="0"/>
                </a:moveTo>
                <a:lnTo>
                  <a:pt x="90877" y="0"/>
                </a:lnTo>
                <a:lnTo>
                  <a:pt x="55503" y="7141"/>
                </a:lnTo>
                <a:lnTo>
                  <a:pt x="26617" y="26617"/>
                </a:lnTo>
                <a:lnTo>
                  <a:pt x="7141" y="55504"/>
                </a:lnTo>
                <a:lnTo>
                  <a:pt x="0" y="90877"/>
                </a:lnTo>
                <a:lnTo>
                  <a:pt x="0" y="454378"/>
                </a:lnTo>
                <a:lnTo>
                  <a:pt x="7141" y="489751"/>
                </a:lnTo>
                <a:lnTo>
                  <a:pt x="26617" y="518638"/>
                </a:lnTo>
                <a:lnTo>
                  <a:pt x="55503" y="538113"/>
                </a:lnTo>
                <a:lnTo>
                  <a:pt x="90877" y="545255"/>
                </a:lnTo>
                <a:lnTo>
                  <a:pt x="1316870" y="545255"/>
                </a:lnTo>
                <a:lnTo>
                  <a:pt x="1352243" y="538113"/>
                </a:lnTo>
                <a:lnTo>
                  <a:pt x="1381129" y="518638"/>
                </a:lnTo>
                <a:lnTo>
                  <a:pt x="1400605" y="489751"/>
                </a:lnTo>
                <a:lnTo>
                  <a:pt x="1407746" y="454378"/>
                </a:lnTo>
                <a:lnTo>
                  <a:pt x="1407746" y="90877"/>
                </a:lnTo>
                <a:lnTo>
                  <a:pt x="1400605" y="55504"/>
                </a:lnTo>
                <a:lnTo>
                  <a:pt x="1381129" y="26617"/>
                </a:lnTo>
                <a:lnTo>
                  <a:pt x="1352243" y="7141"/>
                </a:lnTo>
                <a:lnTo>
                  <a:pt x="131687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412388" y="5799835"/>
            <a:ext cx="847090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87325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微软雅黑"/>
                <a:cs typeface="微软雅黑"/>
              </a:rPr>
              <a:t>Graph  Co</a:t>
            </a:r>
            <a:r>
              <a:rPr dirty="0" sz="1200">
                <a:latin typeface="微软雅黑"/>
                <a:cs typeface="微软雅黑"/>
              </a:rPr>
              <a:t>m</a:t>
            </a:r>
            <a:r>
              <a:rPr dirty="0" sz="1200" spc="-5">
                <a:latin typeface="微软雅黑"/>
                <a:cs typeface="微软雅黑"/>
              </a:rPr>
              <a:t>p</a:t>
            </a:r>
            <a:r>
              <a:rPr dirty="0" sz="1200" spc="-20">
                <a:latin typeface="微软雅黑"/>
                <a:cs typeface="微软雅黑"/>
              </a:rPr>
              <a:t>B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750983" y="5724026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5" h="544195">
                <a:moveTo>
                  <a:pt x="1384029" y="0"/>
                </a:moveTo>
                <a:lnTo>
                  <a:pt x="90601" y="0"/>
                </a:lnTo>
                <a:lnTo>
                  <a:pt x="55335" y="7120"/>
                </a:lnTo>
                <a:lnTo>
                  <a:pt x="26536" y="26537"/>
                </a:lnTo>
                <a:lnTo>
                  <a:pt x="7119" y="55336"/>
                </a:lnTo>
                <a:lnTo>
                  <a:pt x="0" y="90603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3"/>
                </a:lnTo>
                <a:lnTo>
                  <a:pt x="1474631" y="452997"/>
                </a:lnTo>
                <a:lnTo>
                  <a:pt x="1474631" y="90603"/>
                </a:lnTo>
                <a:lnTo>
                  <a:pt x="1467511" y="55336"/>
                </a:lnTo>
                <a:lnTo>
                  <a:pt x="1448094" y="26537"/>
                </a:lnTo>
                <a:lnTo>
                  <a:pt x="1419295" y="7120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65229" y="5799835"/>
            <a:ext cx="84709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381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微软雅黑"/>
                <a:cs typeface="微软雅黑"/>
              </a:rPr>
              <a:t>D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10">
                <a:latin typeface="微软雅黑"/>
                <a:cs typeface="微软雅黑"/>
              </a:rPr>
              <a:t>s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>
                <a:latin typeface="微软雅黑"/>
                <a:cs typeface="微软雅黑"/>
              </a:rPr>
              <a:t>r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b</a:t>
            </a:r>
            <a:r>
              <a:rPr dirty="0" sz="1200" spc="-200">
                <a:latin typeface="微软雅黑"/>
                <a:cs typeface="微软雅黑"/>
              </a:rPr>
              <a:t>B</a:t>
            </a:r>
            <a:r>
              <a:rPr dirty="0" sz="1200" spc="-229">
                <a:latin typeface="微软雅黑"/>
                <a:cs typeface="微软雅黑"/>
              </a:rPr>
              <a:t>A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>
                <a:latin typeface="微软雅黑"/>
                <a:cs typeface="微软雅黑"/>
              </a:rPr>
              <a:t>d  </a:t>
            </a:r>
            <a:r>
              <a:rPr dirty="0" sz="1200" spc="-5">
                <a:latin typeface="微软雅黑"/>
                <a:cs typeface="微软雅黑"/>
              </a:rPr>
              <a:t>Co</a:t>
            </a:r>
            <a:r>
              <a:rPr dirty="0" sz="1200">
                <a:latin typeface="微软雅黑"/>
                <a:cs typeface="微软雅黑"/>
              </a:rPr>
              <a:t>m</a:t>
            </a:r>
            <a:r>
              <a:rPr dirty="0" sz="1200" spc="-5">
                <a:latin typeface="微软雅黑"/>
                <a:cs typeface="微软雅黑"/>
              </a:rPr>
              <a:t>p</a:t>
            </a:r>
            <a:r>
              <a:rPr dirty="0" sz="1200" spc="-20">
                <a:latin typeface="微软雅黑"/>
                <a:cs typeface="微软雅黑"/>
              </a:rPr>
              <a:t>B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850255" y="2451726"/>
            <a:ext cx="1757045" cy="589915"/>
          </a:xfrm>
          <a:custGeom>
            <a:avLst/>
            <a:gdLst/>
            <a:ahLst/>
            <a:cxnLst/>
            <a:rect l="l" t="t" r="r" b="b"/>
            <a:pathLst>
              <a:path w="1757045" h="589914">
                <a:moveTo>
                  <a:pt x="1658496" y="0"/>
                </a:moveTo>
                <a:lnTo>
                  <a:pt x="98286" y="0"/>
                </a:lnTo>
                <a:lnTo>
                  <a:pt x="60028" y="7723"/>
                </a:lnTo>
                <a:lnTo>
                  <a:pt x="28787" y="28787"/>
                </a:lnTo>
                <a:lnTo>
                  <a:pt x="7723" y="60028"/>
                </a:lnTo>
                <a:lnTo>
                  <a:pt x="0" y="98286"/>
                </a:lnTo>
                <a:lnTo>
                  <a:pt x="0" y="491422"/>
                </a:lnTo>
                <a:lnTo>
                  <a:pt x="7723" y="529680"/>
                </a:lnTo>
                <a:lnTo>
                  <a:pt x="28787" y="560922"/>
                </a:lnTo>
                <a:lnTo>
                  <a:pt x="60028" y="581986"/>
                </a:lnTo>
                <a:lnTo>
                  <a:pt x="98286" y="589710"/>
                </a:lnTo>
                <a:lnTo>
                  <a:pt x="1658496" y="589710"/>
                </a:lnTo>
                <a:lnTo>
                  <a:pt x="1696754" y="581986"/>
                </a:lnTo>
                <a:lnTo>
                  <a:pt x="1727995" y="560922"/>
                </a:lnTo>
                <a:lnTo>
                  <a:pt x="1749059" y="529680"/>
                </a:lnTo>
                <a:lnTo>
                  <a:pt x="1756783" y="491422"/>
                </a:lnTo>
                <a:lnTo>
                  <a:pt x="1756783" y="98286"/>
                </a:lnTo>
                <a:lnTo>
                  <a:pt x="1749059" y="60028"/>
                </a:lnTo>
                <a:lnTo>
                  <a:pt x="1727995" y="28787"/>
                </a:lnTo>
                <a:lnTo>
                  <a:pt x="1696754" y="7723"/>
                </a:lnTo>
                <a:lnTo>
                  <a:pt x="1658496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9057293" y="2459227"/>
            <a:ext cx="134302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20">
                <a:latin typeface="微软雅黑"/>
                <a:cs typeface="微软雅黑"/>
              </a:rPr>
              <a:t>Transfer</a:t>
            </a:r>
            <a:r>
              <a:rPr dirty="0" sz="1200" spc="-75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Learning/  </a:t>
            </a:r>
            <a:r>
              <a:rPr dirty="0" sz="1200" spc="-40">
                <a:latin typeface="微软雅黑"/>
                <a:cs typeface="微软雅黑"/>
              </a:rPr>
              <a:t>ReinforcemenA  </a:t>
            </a:r>
            <a:r>
              <a:rPr dirty="0" sz="1200" spc="-5">
                <a:latin typeface="微软雅黑"/>
                <a:cs typeface="微软雅黑"/>
              </a:rPr>
              <a:t>Learning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32359" y="5724026"/>
            <a:ext cx="1729739" cy="545465"/>
          </a:xfrm>
          <a:custGeom>
            <a:avLst/>
            <a:gdLst/>
            <a:ahLst/>
            <a:cxnLst/>
            <a:rect l="l" t="t" r="r" b="b"/>
            <a:pathLst>
              <a:path w="1729740" h="545464">
                <a:moveTo>
                  <a:pt x="1638306" y="0"/>
                </a:moveTo>
                <a:lnTo>
                  <a:pt x="90877" y="0"/>
                </a:lnTo>
                <a:lnTo>
                  <a:pt x="55503" y="7141"/>
                </a:lnTo>
                <a:lnTo>
                  <a:pt x="26617" y="26617"/>
                </a:lnTo>
                <a:lnTo>
                  <a:pt x="7141" y="55503"/>
                </a:lnTo>
                <a:lnTo>
                  <a:pt x="0" y="90877"/>
                </a:lnTo>
                <a:lnTo>
                  <a:pt x="0" y="454379"/>
                </a:lnTo>
                <a:lnTo>
                  <a:pt x="7141" y="489752"/>
                </a:lnTo>
                <a:lnTo>
                  <a:pt x="26617" y="518639"/>
                </a:lnTo>
                <a:lnTo>
                  <a:pt x="55503" y="538115"/>
                </a:lnTo>
                <a:lnTo>
                  <a:pt x="90877" y="545256"/>
                </a:lnTo>
                <a:lnTo>
                  <a:pt x="1638306" y="545256"/>
                </a:lnTo>
                <a:lnTo>
                  <a:pt x="1673680" y="538115"/>
                </a:lnTo>
                <a:lnTo>
                  <a:pt x="1702566" y="518639"/>
                </a:lnTo>
                <a:lnTo>
                  <a:pt x="1722042" y="489752"/>
                </a:lnTo>
                <a:lnTo>
                  <a:pt x="1729183" y="454379"/>
                </a:lnTo>
                <a:lnTo>
                  <a:pt x="1729183" y="90877"/>
                </a:lnTo>
                <a:lnTo>
                  <a:pt x="1722042" y="55503"/>
                </a:lnTo>
                <a:lnTo>
                  <a:pt x="1702566" y="26617"/>
                </a:lnTo>
                <a:lnTo>
                  <a:pt x="1673680" y="7141"/>
                </a:lnTo>
                <a:lnTo>
                  <a:pt x="1638306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947017" y="5799835"/>
            <a:ext cx="1501140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412750" marR="5080" indent="-400685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微软雅黑"/>
                <a:cs typeface="微软雅黑"/>
              </a:rPr>
              <a:t>Online Learning</a:t>
            </a:r>
            <a:r>
              <a:rPr dirty="0" sz="1200" spc="-75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and  </a:t>
            </a:r>
            <a:r>
              <a:rPr dirty="0" sz="1200" spc="-10">
                <a:latin typeface="微软雅黑"/>
                <a:cs typeface="微软雅黑"/>
              </a:rPr>
              <a:t>Inference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65017" y="1105275"/>
            <a:ext cx="10368915" cy="893444"/>
          </a:xfrm>
          <a:custGeom>
            <a:avLst/>
            <a:gdLst/>
            <a:ahLst/>
            <a:cxnLst/>
            <a:rect l="l" t="t" r="r" b="b"/>
            <a:pathLst>
              <a:path w="10368915" h="893444">
                <a:moveTo>
                  <a:pt x="0" y="148830"/>
                </a:moveTo>
                <a:lnTo>
                  <a:pt x="7587" y="101788"/>
                </a:lnTo>
                <a:lnTo>
                  <a:pt x="28715" y="60933"/>
                </a:lnTo>
                <a:lnTo>
                  <a:pt x="60932" y="28715"/>
                </a:lnTo>
                <a:lnTo>
                  <a:pt x="101787" y="7587"/>
                </a:lnTo>
                <a:lnTo>
                  <a:pt x="148829" y="0"/>
                </a:lnTo>
                <a:lnTo>
                  <a:pt x="10219913" y="0"/>
                </a:lnTo>
                <a:lnTo>
                  <a:pt x="10266954" y="7587"/>
                </a:lnTo>
                <a:lnTo>
                  <a:pt x="10307809" y="28715"/>
                </a:lnTo>
                <a:lnTo>
                  <a:pt x="10340026" y="60933"/>
                </a:lnTo>
                <a:lnTo>
                  <a:pt x="10361154" y="101788"/>
                </a:lnTo>
                <a:lnTo>
                  <a:pt x="10368742" y="148830"/>
                </a:lnTo>
                <a:lnTo>
                  <a:pt x="10368742" y="744118"/>
                </a:lnTo>
                <a:lnTo>
                  <a:pt x="10361154" y="791160"/>
                </a:lnTo>
                <a:lnTo>
                  <a:pt x="10340026" y="832015"/>
                </a:lnTo>
                <a:lnTo>
                  <a:pt x="10307809" y="864233"/>
                </a:lnTo>
                <a:lnTo>
                  <a:pt x="10266954" y="885361"/>
                </a:lnTo>
                <a:lnTo>
                  <a:pt x="10219913" y="892949"/>
                </a:lnTo>
                <a:lnTo>
                  <a:pt x="148829" y="892949"/>
                </a:lnTo>
                <a:lnTo>
                  <a:pt x="101787" y="885361"/>
                </a:lnTo>
                <a:lnTo>
                  <a:pt x="60932" y="864233"/>
                </a:lnTo>
                <a:lnTo>
                  <a:pt x="28715" y="832015"/>
                </a:lnTo>
                <a:lnTo>
                  <a:pt x="7587" y="791160"/>
                </a:lnTo>
                <a:lnTo>
                  <a:pt x="0" y="744118"/>
                </a:lnTo>
                <a:lnTo>
                  <a:pt x="0" y="148830"/>
                </a:lnTo>
                <a:close/>
              </a:path>
            </a:pathLst>
          </a:custGeom>
          <a:ln w="127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87347" y="1168908"/>
            <a:ext cx="79756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75"/>
              </a:spcBef>
            </a:pPr>
            <a:r>
              <a:rPr dirty="0" sz="1400" spc="0" b="1">
                <a:latin typeface="微软雅黑"/>
                <a:cs typeface="微软雅黑"/>
              </a:rPr>
              <a:t>Bu</a:t>
            </a:r>
            <a:r>
              <a:rPr dirty="0" sz="1400" spc="-5" b="1">
                <a:latin typeface="微软雅黑"/>
                <a:cs typeface="微软雅黑"/>
              </a:rPr>
              <a:t>si</a:t>
            </a:r>
            <a:r>
              <a:rPr dirty="0" sz="1400" spc="125" b="1">
                <a:latin typeface="微软雅黑"/>
                <a:cs typeface="微软雅黑"/>
              </a:rPr>
              <a:t>-</a:t>
            </a:r>
            <a:r>
              <a:rPr dirty="0" sz="1400" spc="155" b="1">
                <a:latin typeface="微软雅黑"/>
                <a:cs typeface="微软雅黑"/>
              </a:rPr>
              <a:t>e</a:t>
            </a:r>
            <a:r>
              <a:rPr dirty="0" sz="1400" spc="-5" b="1">
                <a:latin typeface="微软雅黑"/>
                <a:cs typeface="微软雅黑"/>
              </a:rPr>
              <a:t>s</a:t>
            </a:r>
            <a:r>
              <a:rPr dirty="0" sz="1400" b="1">
                <a:latin typeface="微软雅黑"/>
                <a:cs typeface="微软雅黑"/>
              </a:rPr>
              <a:t>s  </a:t>
            </a:r>
            <a:r>
              <a:rPr dirty="0" sz="1400" spc="25" b="1">
                <a:latin typeface="微软雅黑"/>
                <a:cs typeface="微软雅黑"/>
              </a:rPr>
              <a:t>Solutio-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662258" y="1240858"/>
            <a:ext cx="2150110" cy="638810"/>
          </a:xfrm>
          <a:custGeom>
            <a:avLst/>
            <a:gdLst/>
            <a:ahLst/>
            <a:cxnLst/>
            <a:rect l="l" t="t" r="r" b="b"/>
            <a:pathLst>
              <a:path w="2150110" h="638810">
                <a:moveTo>
                  <a:pt x="2043328" y="0"/>
                </a:moveTo>
                <a:lnTo>
                  <a:pt x="106390" y="0"/>
                </a:lnTo>
                <a:lnTo>
                  <a:pt x="64978" y="8360"/>
                </a:lnTo>
                <a:lnTo>
                  <a:pt x="31161" y="31161"/>
                </a:lnTo>
                <a:lnTo>
                  <a:pt x="8360" y="64978"/>
                </a:lnTo>
                <a:lnTo>
                  <a:pt x="0" y="106390"/>
                </a:lnTo>
                <a:lnTo>
                  <a:pt x="0" y="531942"/>
                </a:lnTo>
                <a:lnTo>
                  <a:pt x="8360" y="573354"/>
                </a:lnTo>
                <a:lnTo>
                  <a:pt x="31161" y="607171"/>
                </a:lnTo>
                <a:lnTo>
                  <a:pt x="64978" y="629971"/>
                </a:lnTo>
                <a:lnTo>
                  <a:pt x="106390" y="638332"/>
                </a:lnTo>
                <a:lnTo>
                  <a:pt x="2043328" y="638332"/>
                </a:lnTo>
                <a:lnTo>
                  <a:pt x="2084740" y="629971"/>
                </a:lnTo>
                <a:lnTo>
                  <a:pt x="2118557" y="607171"/>
                </a:lnTo>
                <a:lnTo>
                  <a:pt x="2141358" y="573354"/>
                </a:lnTo>
                <a:lnTo>
                  <a:pt x="2149718" y="531942"/>
                </a:lnTo>
                <a:lnTo>
                  <a:pt x="2149718" y="106390"/>
                </a:lnTo>
                <a:lnTo>
                  <a:pt x="2141358" y="64978"/>
                </a:lnTo>
                <a:lnTo>
                  <a:pt x="2118557" y="31161"/>
                </a:lnTo>
                <a:lnTo>
                  <a:pt x="2084740" y="8360"/>
                </a:lnTo>
                <a:lnTo>
                  <a:pt x="2043328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772934" y="1364996"/>
            <a:ext cx="192849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826769" marR="5080" indent="-814705">
              <a:lnSpc>
                <a:spcPts val="1390"/>
              </a:lnSpc>
              <a:spcBef>
                <a:spcPts val="185"/>
              </a:spcBef>
            </a:pPr>
            <a:r>
              <a:rPr dirty="0" sz="1200" spc="-10">
                <a:latin typeface="微软雅黑"/>
                <a:cs typeface="微软雅黑"/>
              </a:rPr>
              <a:t>Se</a:t>
            </a:r>
            <a:r>
              <a:rPr dirty="0" sz="1200" spc="-5">
                <a:latin typeface="微软雅黑"/>
                <a:cs typeface="微软雅黑"/>
              </a:rPr>
              <a:t>a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ch/</a:t>
            </a:r>
            <a:r>
              <a:rPr dirty="0" sz="1200" spc="-35">
                <a:latin typeface="微软雅黑"/>
                <a:cs typeface="微软雅黑"/>
              </a:rPr>
              <a:t>R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5">
                <a:latin typeface="微软雅黑"/>
                <a:cs typeface="微软雅黑"/>
              </a:rPr>
              <a:t>co</a:t>
            </a:r>
            <a:r>
              <a:rPr dirty="0" sz="1200">
                <a:latin typeface="微软雅黑"/>
                <a:cs typeface="微软雅黑"/>
              </a:rPr>
              <a:t>mm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-10">
                <a:latin typeface="微软雅黑"/>
                <a:cs typeface="微软雅黑"/>
              </a:rPr>
              <a:t>d</a:t>
            </a:r>
            <a:r>
              <a:rPr dirty="0" sz="1200" spc="-5">
                <a:latin typeface="微软雅黑"/>
                <a:cs typeface="微软雅黑"/>
              </a:rPr>
              <a:t>a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on</a:t>
            </a:r>
            <a:r>
              <a:rPr dirty="0" sz="1200">
                <a:latin typeface="微软雅黑"/>
                <a:cs typeface="微软雅黑"/>
              </a:rPr>
              <a:t>/  </a:t>
            </a:r>
            <a:r>
              <a:rPr dirty="0" sz="1200" spc="-5">
                <a:latin typeface="微软雅黑"/>
                <a:cs typeface="微软雅黑"/>
              </a:rPr>
              <a:t>Ads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140628" y="1240858"/>
            <a:ext cx="1883410" cy="638810"/>
          </a:xfrm>
          <a:custGeom>
            <a:avLst/>
            <a:gdLst/>
            <a:ahLst/>
            <a:cxnLst/>
            <a:rect l="l" t="t" r="r" b="b"/>
            <a:pathLst>
              <a:path w="1883409" h="638810">
                <a:moveTo>
                  <a:pt x="1776535" y="0"/>
                </a:moveTo>
                <a:lnTo>
                  <a:pt x="106390" y="0"/>
                </a:lnTo>
                <a:lnTo>
                  <a:pt x="64978" y="8360"/>
                </a:lnTo>
                <a:lnTo>
                  <a:pt x="31161" y="31160"/>
                </a:lnTo>
                <a:lnTo>
                  <a:pt x="8360" y="64977"/>
                </a:lnTo>
                <a:lnTo>
                  <a:pt x="0" y="106389"/>
                </a:lnTo>
                <a:lnTo>
                  <a:pt x="0" y="531940"/>
                </a:lnTo>
                <a:lnTo>
                  <a:pt x="8360" y="573352"/>
                </a:lnTo>
                <a:lnTo>
                  <a:pt x="31161" y="607170"/>
                </a:lnTo>
                <a:lnTo>
                  <a:pt x="64978" y="629970"/>
                </a:lnTo>
                <a:lnTo>
                  <a:pt x="106390" y="638331"/>
                </a:lnTo>
                <a:lnTo>
                  <a:pt x="1776535" y="638331"/>
                </a:lnTo>
                <a:lnTo>
                  <a:pt x="1817947" y="629970"/>
                </a:lnTo>
                <a:lnTo>
                  <a:pt x="1851765" y="607170"/>
                </a:lnTo>
                <a:lnTo>
                  <a:pt x="1874565" y="573352"/>
                </a:lnTo>
                <a:lnTo>
                  <a:pt x="1882926" y="531940"/>
                </a:lnTo>
                <a:lnTo>
                  <a:pt x="1882926" y="106389"/>
                </a:lnTo>
                <a:lnTo>
                  <a:pt x="1874565" y="64977"/>
                </a:lnTo>
                <a:lnTo>
                  <a:pt x="1851765" y="31160"/>
                </a:lnTo>
                <a:lnTo>
                  <a:pt x="1817947" y="8360"/>
                </a:lnTo>
                <a:lnTo>
                  <a:pt x="1776535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453283" y="1364996"/>
            <a:ext cx="125793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87325" marR="5080" indent="-175260">
              <a:lnSpc>
                <a:spcPts val="1390"/>
              </a:lnSpc>
              <a:spcBef>
                <a:spcPts val="185"/>
              </a:spcBef>
            </a:pPr>
            <a:r>
              <a:rPr dirty="0" sz="1200" spc="-10">
                <a:latin typeface="微软雅黑"/>
                <a:cs typeface="微软雅黑"/>
              </a:rPr>
              <a:t>FraBd</a:t>
            </a:r>
            <a:r>
              <a:rPr dirty="0" sz="1200" spc="-75">
                <a:latin typeface="微软雅黑"/>
                <a:cs typeface="微软雅黑"/>
              </a:rPr>
              <a:t> </a:t>
            </a:r>
            <a:r>
              <a:rPr dirty="0" sz="1200" spc="-85">
                <a:latin typeface="微软雅黑"/>
                <a:cs typeface="微软雅黑"/>
              </a:rPr>
              <a:t>DeAecAion/  </a:t>
            </a:r>
            <a:r>
              <a:rPr dirty="0" sz="1200" spc="-5">
                <a:latin typeface="微软雅黑"/>
                <a:cs typeface="微软雅黑"/>
              </a:rPr>
              <a:t>Risk</a:t>
            </a:r>
            <a:r>
              <a:rPr dirty="0" sz="1200" spc="-75">
                <a:latin typeface="微软雅黑"/>
                <a:cs typeface="微软雅黑"/>
              </a:rPr>
              <a:t> </a:t>
            </a:r>
            <a:r>
              <a:rPr dirty="0" sz="1200" spc="-65">
                <a:latin typeface="微软雅黑"/>
                <a:cs typeface="微软雅黑"/>
              </a:rPr>
              <a:t>ConArol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252328" y="1240858"/>
            <a:ext cx="1348105" cy="638810"/>
          </a:xfrm>
          <a:custGeom>
            <a:avLst/>
            <a:gdLst/>
            <a:ahLst/>
            <a:cxnLst/>
            <a:rect l="l" t="t" r="r" b="b"/>
            <a:pathLst>
              <a:path w="1348104" h="638810">
                <a:moveTo>
                  <a:pt x="1241647" y="0"/>
                </a:moveTo>
                <a:lnTo>
                  <a:pt x="106391" y="0"/>
                </a:lnTo>
                <a:lnTo>
                  <a:pt x="64979" y="8360"/>
                </a:lnTo>
                <a:lnTo>
                  <a:pt x="31161" y="31161"/>
                </a:lnTo>
                <a:lnTo>
                  <a:pt x="8360" y="64978"/>
                </a:lnTo>
                <a:lnTo>
                  <a:pt x="0" y="106390"/>
                </a:lnTo>
                <a:lnTo>
                  <a:pt x="0" y="531940"/>
                </a:lnTo>
                <a:lnTo>
                  <a:pt x="8360" y="573352"/>
                </a:lnTo>
                <a:lnTo>
                  <a:pt x="31161" y="607170"/>
                </a:lnTo>
                <a:lnTo>
                  <a:pt x="64979" y="629970"/>
                </a:lnTo>
                <a:lnTo>
                  <a:pt x="106391" y="638331"/>
                </a:lnTo>
                <a:lnTo>
                  <a:pt x="1241647" y="638331"/>
                </a:lnTo>
                <a:lnTo>
                  <a:pt x="1283059" y="629970"/>
                </a:lnTo>
                <a:lnTo>
                  <a:pt x="1316877" y="607170"/>
                </a:lnTo>
                <a:lnTo>
                  <a:pt x="1339678" y="573352"/>
                </a:lnTo>
                <a:lnTo>
                  <a:pt x="1348038" y="531940"/>
                </a:lnTo>
                <a:lnTo>
                  <a:pt x="1348038" y="106390"/>
                </a:lnTo>
                <a:lnTo>
                  <a:pt x="1339678" y="64978"/>
                </a:lnTo>
                <a:lnTo>
                  <a:pt x="1316877" y="31161"/>
                </a:lnTo>
                <a:lnTo>
                  <a:pt x="1283059" y="8360"/>
                </a:lnTo>
                <a:lnTo>
                  <a:pt x="1241647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9540648" y="1364996"/>
            <a:ext cx="77216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37160">
              <a:lnSpc>
                <a:spcPts val="1390"/>
              </a:lnSpc>
              <a:spcBef>
                <a:spcPts val="185"/>
              </a:spcBef>
            </a:pPr>
            <a:r>
              <a:rPr dirty="0" sz="1200">
                <a:latin typeface="微软雅黑"/>
                <a:cs typeface="微软雅黑"/>
              </a:rPr>
              <a:t>CroDd  M</a:t>
            </a:r>
            <a:r>
              <a:rPr dirty="0" sz="1200" spc="-5">
                <a:latin typeface="微软雅黑"/>
                <a:cs typeface="微软雅黑"/>
              </a:rPr>
              <a:t>a</a:t>
            </a:r>
            <a:r>
              <a:rPr dirty="0" sz="1200">
                <a:latin typeface="微软雅黑"/>
                <a:cs typeface="微软雅黑"/>
              </a:rPr>
              <a:t>r</a:t>
            </a:r>
            <a:r>
              <a:rPr dirty="0" sz="1200" spc="-30">
                <a:latin typeface="微软雅黑"/>
                <a:cs typeface="微软雅黑"/>
              </a:rPr>
              <a:t>k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290">
                <a:latin typeface="微软雅黑"/>
                <a:cs typeface="微软雅黑"/>
              </a:rPr>
              <a:t>A</a:t>
            </a:r>
            <a:r>
              <a:rPr dirty="0" sz="1200" spc="-105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7164027" y="1240858"/>
            <a:ext cx="1818639" cy="638810"/>
          </a:xfrm>
          <a:custGeom>
            <a:avLst/>
            <a:gdLst/>
            <a:ahLst/>
            <a:cxnLst/>
            <a:rect l="l" t="t" r="r" b="b"/>
            <a:pathLst>
              <a:path w="1818640" h="638810">
                <a:moveTo>
                  <a:pt x="1711722" y="0"/>
                </a:moveTo>
                <a:lnTo>
                  <a:pt x="106390" y="0"/>
                </a:lnTo>
                <a:lnTo>
                  <a:pt x="64978" y="8360"/>
                </a:lnTo>
                <a:lnTo>
                  <a:pt x="31161" y="31161"/>
                </a:lnTo>
                <a:lnTo>
                  <a:pt x="8360" y="64978"/>
                </a:lnTo>
                <a:lnTo>
                  <a:pt x="0" y="106390"/>
                </a:lnTo>
                <a:lnTo>
                  <a:pt x="0" y="531940"/>
                </a:lnTo>
                <a:lnTo>
                  <a:pt x="8360" y="573352"/>
                </a:lnTo>
                <a:lnTo>
                  <a:pt x="31161" y="607170"/>
                </a:lnTo>
                <a:lnTo>
                  <a:pt x="64978" y="629970"/>
                </a:lnTo>
                <a:lnTo>
                  <a:pt x="106390" y="638331"/>
                </a:lnTo>
                <a:lnTo>
                  <a:pt x="1711722" y="638331"/>
                </a:lnTo>
                <a:lnTo>
                  <a:pt x="1753134" y="629970"/>
                </a:lnTo>
                <a:lnTo>
                  <a:pt x="1786951" y="607170"/>
                </a:lnTo>
                <a:lnTo>
                  <a:pt x="1809752" y="573352"/>
                </a:lnTo>
                <a:lnTo>
                  <a:pt x="1818112" y="531940"/>
                </a:lnTo>
                <a:lnTo>
                  <a:pt x="1818112" y="106390"/>
                </a:lnTo>
                <a:lnTo>
                  <a:pt x="1809752" y="64978"/>
                </a:lnTo>
                <a:lnTo>
                  <a:pt x="1786951" y="31161"/>
                </a:lnTo>
                <a:lnTo>
                  <a:pt x="1753134" y="8360"/>
                </a:lnTo>
                <a:lnTo>
                  <a:pt x="1711722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7469040" y="1364996"/>
            <a:ext cx="120904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371475" marR="5080" indent="-359410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微软雅黑"/>
                <a:cs typeface="微软雅黑"/>
              </a:rPr>
              <a:t>ID Mapping</a:t>
            </a:r>
            <a:r>
              <a:rPr dirty="0" sz="1200" spc="-85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and  </a:t>
            </a:r>
            <a:r>
              <a:rPr dirty="0" sz="1200" spc="-10">
                <a:latin typeface="微软雅黑"/>
                <a:cs typeface="微软雅黑"/>
              </a:rPr>
              <a:t>Profile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906982" y="1240858"/>
            <a:ext cx="1038860" cy="638810"/>
          </a:xfrm>
          <a:custGeom>
            <a:avLst/>
            <a:gdLst/>
            <a:ahLst/>
            <a:cxnLst/>
            <a:rect l="l" t="t" r="r" b="b"/>
            <a:pathLst>
              <a:path w="1038860" h="638810">
                <a:moveTo>
                  <a:pt x="931971" y="0"/>
                </a:moveTo>
                <a:lnTo>
                  <a:pt x="106390" y="0"/>
                </a:lnTo>
                <a:lnTo>
                  <a:pt x="64978" y="8360"/>
                </a:lnTo>
                <a:lnTo>
                  <a:pt x="31161" y="31161"/>
                </a:lnTo>
                <a:lnTo>
                  <a:pt x="8360" y="64978"/>
                </a:lnTo>
                <a:lnTo>
                  <a:pt x="0" y="106390"/>
                </a:lnTo>
                <a:lnTo>
                  <a:pt x="0" y="531940"/>
                </a:lnTo>
                <a:lnTo>
                  <a:pt x="8360" y="573353"/>
                </a:lnTo>
                <a:lnTo>
                  <a:pt x="31161" y="607171"/>
                </a:lnTo>
                <a:lnTo>
                  <a:pt x="64978" y="629971"/>
                </a:lnTo>
                <a:lnTo>
                  <a:pt x="106390" y="638332"/>
                </a:lnTo>
                <a:lnTo>
                  <a:pt x="931971" y="638332"/>
                </a:lnTo>
                <a:lnTo>
                  <a:pt x="973384" y="629971"/>
                </a:lnTo>
                <a:lnTo>
                  <a:pt x="1007202" y="607171"/>
                </a:lnTo>
                <a:lnTo>
                  <a:pt x="1030002" y="573353"/>
                </a:lnTo>
                <a:lnTo>
                  <a:pt x="1038363" y="531940"/>
                </a:lnTo>
                <a:lnTo>
                  <a:pt x="1038363" y="106390"/>
                </a:lnTo>
                <a:lnTo>
                  <a:pt x="1030002" y="64978"/>
                </a:lnTo>
                <a:lnTo>
                  <a:pt x="1007202" y="31161"/>
                </a:lnTo>
                <a:lnTo>
                  <a:pt x="973384" y="8360"/>
                </a:lnTo>
                <a:lnTo>
                  <a:pt x="931971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045004" y="1364996"/>
            <a:ext cx="76263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58419">
              <a:lnSpc>
                <a:spcPts val="1390"/>
              </a:lnSpc>
              <a:spcBef>
                <a:spcPts val="185"/>
              </a:spcBef>
            </a:pPr>
            <a:r>
              <a:rPr dirty="0" sz="1200" spc="-10">
                <a:latin typeface="微软雅黑"/>
                <a:cs typeface="微软雅黑"/>
              </a:rPr>
              <a:t>BBsiness  </a:t>
            </a:r>
            <a:r>
              <a:rPr dirty="0" sz="1200" spc="-5">
                <a:latin typeface="微软雅黑"/>
                <a:cs typeface="微软雅黑"/>
              </a:rPr>
              <a:t>In</a:t>
            </a:r>
            <a:r>
              <a:rPr dirty="0" sz="1200" spc="-409">
                <a:latin typeface="微软雅黑"/>
                <a:cs typeface="微软雅黑"/>
              </a:rPr>
              <a:t>A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0">
                <a:latin typeface="微软雅黑"/>
                <a:cs typeface="微软雅黑"/>
              </a:rPr>
              <a:t>lli</a:t>
            </a:r>
            <a:r>
              <a:rPr dirty="0" sz="1200" spc="-5">
                <a:latin typeface="微软雅黑"/>
                <a:cs typeface="微软雅黑"/>
              </a:rPr>
              <a:t>g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65019" y="4545087"/>
            <a:ext cx="10368915" cy="772795"/>
          </a:xfrm>
          <a:custGeom>
            <a:avLst/>
            <a:gdLst/>
            <a:ahLst/>
            <a:cxnLst/>
            <a:rect l="l" t="t" r="r" b="b"/>
            <a:pathLst>
              <a:path w="10368915" h="772795">
                <a:moveTo>
                  <a:pt x="0" y="128782"/>
                </a:moveTo>
                <a:lnTo>
                  <a:pt x="10120" y="78654"/>
                </a:lnTo>
                <a:lnTo>
                  <a:pt x="37719" y="37719"/>
                </a:lnTo>
                <a:lnTo>
                  <a:pt x="78653" y="10120"/>
                </a:lnTo>
                <a:lnTo>
                  <a:pt x="128781" y="0"/>
                </a:lnTo>
                <a:lnTo>
                  <a:pt x="10239961" y="0"/>
                </a:lnTo>
                <a:lnTo>
                  <a:pt x="10290088" y="10120"/>
                </a:lnTo>
                <a:lnTo>
                  <a:pt x="10331023" y="37719"/>
                </a:lnTo>
                <a:lnTo>
                  <a:pt x="10358621" y="78654"/>
                </a:lnTo>
                <a:lnTo>
                  <a:pt x="10368742" y="128782"/>
                </a:lnTo>
                <a:lnTo>
                  <a:pt x="10368742" y="643868"/>
                </a:lnTo>
                <a:lnTo>
                  <a:pt x="10358621" y="693996"/>
                </a:lnTo>
                <a:lnTo>
                  <a:pt x="10331023" y="734931"/>
                </a:lnTo>
                <a:lnTo>
                  <a:pt x="10290088" y="762530"/>
                </a:lnTo>
                <a:lnTo>
                  <a:pt x="10239961" y="772651"/>
                </a:lnTo>
                <a:lnTo>
                  <a:pt x="128781" y="772651"/>
                </a:lnTo>
                <a:lnTo>
                  <a:pt x="78653" y="762530"/>
                </a:lnTo>
                <a:lnTo>
                  <a:pt x="37719" y="734931"/>
                </a:lnTo>
                <a:lnTo>
                  <a:pt x="10120" y="693996"/>
                </a:lnTo>
                <a:lnTo>
                  <a:pt x="0" y="643868"/>
                </a:lnTo>
                <a:lnTo>
                  <a:pt x="0" y="128782"/>
                </a:lnTo>
                <a:close/>
              </a:path>
            </a:pathLst>
          </a:custGeom>
          <a:ln w="127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81476" y="4820411"/>
            <a:ext cx="4457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微软雅黑"/>
                <a:cs typeface="微软雅黑"/>
              </a:rPr>
              <a:t>Da</a:t>
            </a:r>
            <a:r>
              <a:rPr dirty="0" sz="1400" spc="-5" b="1">
                <a:latin typeface="微软雅黑"/>
                <a:cs typeface="微软雅黑"/>
              </a:rPr>
              <a:t>t</a:t>
            </a:r>
            <a:r>
              <a:rPr dirty="0" sz="1400" b="1">
                <a:latin typeface="微软雅黑"/>
                <a:cs typeface="微软雅黑"/>
              </a:rPr>
              <a:t>a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750983" y="4670229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5" h="544195">
                <a:moveTo>
                  <a:pt x="1384029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3"/>
                </a:lnTo>
                <a:lnTo>
                  <a:pt x="1474631" y="452997"/>
                </a:lnTo>
                <a:lnTo>
                  <a:pt x="1474631" y="90601"/>
                </a:lnTo>
                <a:lnTo>
                  <a:pt x="1467511" y="55335"/>
                </a:lnTo>
                <a:lnTo>
                  <a:pt x="1448094" y="26536"/>
                </a:lnTo>
                <a:lnTo>
                  <a:pt x="1419295" y="7119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2053609" y="4745228"/>
            <a:ext cx="869315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201930" marR="5080" indent="-189865">
              <a:lnSpc>
                <a:spcPts val="1420"/>
              </a:lnSpc>
              <a:spcBef>
                <a:spcPts val="160"/>
              </a:spcBef>
            </a:pPr>
            <a:r>
              <a:rPr dirty="0" sz="1200" spc="-10">
                <a:latin typeface="微软雅黑"/>
                <a:cs typeface="微软雅黑"/>
              </a:rPr>
              <a:t>Global</a:t>
            </a:r>
            <a:r>
              <a:rPr dirty="0" sz="1200" spc="-75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User  </a:t>
            </a:r>
            <a:r>
              <a:rPr dirty="0" sz="1200" spc="-10">
                <a:latin typeface="微软雅黑"/>
                <a:cs typeface="微软雅黑"/>
              </a:rPr>
              <a:t>Profile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65997" y="4670229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29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3"/>
                </a:lnTo>
                <a:lnTo>
                  <a:pt x="1474631" y="452997"/>
                </a:lnTo>
                <a:lnTo>
                  <a:pt x="1474631" y="90601"/>
                </a:lnTo>
                <a:lnTo>
                  <a:pt x="1467511" y="55335"/>
                </a:lnTo>
                <a:lnTo>
                  <a:pt x="1448094" y="26536"/>
                </a:lnTo>
                <a:lnTo>
                  <a:pt x="1419295" y="7119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910679" y="4745228"/>
            <a:ext cx="98425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259715" marR="5080" indent="-247650">
              <a:lnSpc>
                <a:spcPts val="1420"/>
              </a:lnSpc>
              <a:spcBef>
                <a:spcPts val="160"/>
              </a:spcBef>
            </a:pPr>
            <a:r>
              <a:rPr dirty="0" sz="1200" spc="-10">
                <a:latin typeface="微软雅黑"/>
                <a:cs typeface="微软雅黑"/>
              </a:rPr>
              <a:t>Global Seller  Profile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7114852" y="4670229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3"/>
                </a:lnTo>
                <a:lnTo>
                  <a:pt x="1474632" y="452997"/>
                </a:lnTo>
                <a:lnTo>
                  <a:pt x="1474632" y="90601"/>
                </a:lnTo>
                <a:lnTo>
                  <a:pt x="1467512" y="55335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7247807" y="4745228"/>
            <a:ext cx="1209675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167640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微软雅黑"/>
                <a:cs typeface="微软雅黑"/>
              </a:rPr>
              <a:t>Ecommerce  </a:t>
            </a:r>
            <a:r>
              <a:rPr dirty="0" sz="1200" spc="-70">
                <a:latin typeface="微软雅黑"/>
                <a:cs typeface="微软雅黑"/>
              </a:rPr>
              <a:t>CogniAiCe </a:t>
            </a:r>
            <a:r>
              <a:rPr dirty="0" sz="1200" spc="-5">
                <a:latin typeface="微软雅黑"/>
                <a:cs typeface="微软雅黑"/>
              </a:rPr>
              <a:t>Graph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965348" y="4670229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3"/>
                </a:lnTo>
                <a:lnTo>
                  <a:pt x="1474632" y="452997"/>
                </a:lnTo>
                <a:lnTo>
                  <a:pt x="1474632" y="90601"/>
                </a:lnTo>
                <a:lnTo>
                  <a:pt x="1467512" y="55335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9282769" y="4653788"/>
            <a:ext cx="840740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10">
                <a:latin typeface="微软雅黑"/>
                <a:cs typeface="微软雅黑"/>
              </a:rPr>
              <a:t>BBsiness  </a:t>
            </a:r>
            <a:r>
              <a:rPr dirty="0" sz="1200" spc="-50">
                <a:latin typeface="微软雅黑"/>
                <a:cs typeface="微软雅黑"/>
              </a:rPr>
              <a:t>OperaAion  </a:t>
            </a:r>
            <a:r>
              <a:rPr dirty="0" sz="1200">
                <a:latin typeface="微软雅黑"/>
                <a:cs typeface="微软雅黑"/>
              </a:rPr>
              <a:t>K</a:t>
            </a:r>
            <a:r>
              <a:rPr dirty="0" sz="1200" spc="-5">
                <a:latin typeface="微软雅黑"/>
                <a:cs typeface="微软雅黑"/>
              </a:rPr>
              <a:t>no</a:t>
            </a:r>
            <a:r>
              <a:rPr dirty="0" sz="1200" spc="25">
                <a:latin typeface="微软雅黑"/>
                <a:cs typeface="微软雅黑"/>
              </a:rPr>
              <a:t>D</a:t>
            </a:r>
            <a:r>
              <a:rPr dirty="0" sz="1200" spc="0">
                <a:latin typeface="微软雅黑"/>
                <a:cs typeface="微软雅黑"/>
              </a:rPr>
              <a:t>l</a:t>
            </a:r>
            <a:r>
              <a:rPr dirty="0" sz="1200" spc="-10">
                <a:latin typeface="微软雅黑"/>
                <a:cs typeface="微软雅黑"/>
              </a:rPr>
              <a:t>edg</a:t>
            </a:r>
            <a:r>
              <a:rPr dirty="0" sz="1200">
                <a:latin typeface="微软雅黑"/>
                <a:cs typeface="微软雅黑"/>
              </a:rPr>
              <a:t>e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665017" y="3532287"/>
            <a:ext cx="10368915" cy="794385"/>
          </a:xfrm>
          <a:custGeom>
            <a:avLst/>
            <a:gdLst/>
            <a:ahLst/>
            <a:cxnLst/>
            <a:rect l="l" t="t" r="r" b="b"/>
            <a:pathLst>
              <a:path w="10368915" h="794385">
                <a:moveTo>
                  <a:pt x="0" y="132319"/>
                </a:moveTo>
                <a:lnTo>
                  <a:pt x="6745" y="90496"/>
                </a:lnTo>
                <a:lnTo>
                  <a:pt x="25529" y="54173"/>
                </a:lnTo>
                <a:lnTo>
                  <a:pt x="54173" y="25530"/>
                </a:lnTo>
                <a:lnTo>
                  <a:pt x="90496" y="6745"/>
                </a:lnTo>
                <a:lnTo>
                  <a:pt x="132319" y="0"/>
                </a:lnTo>
                <a:lnTo>
                  <a:pt x="10236423" y="0"/>
                </a:lnTo>
                <a:lnTo>
                  <a:pt x="10278246" y="6745"/>
                </a:lnTo>
                <a:lnTo>
                  <a:pt x="10314569" y="25530"/>
                </a:lnTo>
                <a:lnTo>
                  <a:pt x="10343212" y="54173"/>
                </a:lnTo>
                <a:lnTo>
                  <a:pt x="10361996" y="90496"/>
                </a:lnTo>
                <a:lnTo>
                  <a:pt x="10368742" y="132319"/>
                </a:lnTo>
                <a:lnTo>
                  <a:pt x="10368742" y="661564"/>
                </a:lnTo>
                <a:lnTo>
                  <a:pt x="10361996" y="703387"/>
                </a:lnTo>
                <a:lnTo>
                  <a:pt x="10343212" y="739710"/>
                </a:lnTo>
                <a:lnTo>
                  <a:pt x="10314569" y="768353"/>
                </a:lnTo>
                <a:lnTo>
                  <a:pt x="10278246" y="787138"/>
                </a:lnTo>
                <a:lnTo>
                  <a:pt x="10236423" y="793884"/>
                </a:lnTo>
                <a:lnTo>
                  <a:pt x="132319" y="793884"/>
                </a:lnTo>
                <a:lnTo>
                  <a:pt x="90496" y="787138"/>
                </a:lnTo>
                <a:lnTo>
                  <a:pt x="54173" y="768353"/>
                </a:lnTo>
                <a:lnTo>
                  <a:pt x="25529" y="739710"/>
                </a:lnTo>
                <a:lnTo>
                  <a:pt x="6745" y="703387"/>
                </a:lnTo>
                <a:lnTo>
                  <a:pt x="0" y="661564"/>
                </a:lnTo>
                <a:lnTo>
                  <a:pt x="0" y="132319"/>
                </a:lnTo>
                <a:close/>
              </a:path>
            </a:pathLst>
          </a:custGeom>
          <a:ln w="127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782512" y="3592067"/>
            <a:ext cx="935990" cy="455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7475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AI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400" spc="-5" b="1">
                <a:latin typeface="微软雅黑"/>
                <a:cs typeface="微软雅黑"/>
              </a:rPr>
              <a:t>Alg</a:t>
            </a:r>
            <a:r>
              <a:rPr dirty="0" sz="1400" spc="0" b="1">
                <a:latin typeface="微软雅黑"/>
                <a:cs typeface="微软雅黑"/>
              </a:rPr>
              <a:t>o</a:t>
            </a:r>
            <a:r>
              <a:rPr dirty="0" sz="1400" spc="-5" b="1">
                <a:latin typeface="微软雅黑"/>
                <a:cs typeface="微软雅黑"/>
              </a:rPr>
              <a:t>rith</a:t>
            </a:r>
            <a:r>
              <a:rPr dirty="0" sz="1400" b="1">
                <a:latin typeface="微软雅黑"/>
                <a:cs typeface="微软雅黑"/>
              </a:rPr>
              <a:t>m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685921" y="3700208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5" h="544195">
                <a:moveTo>
                  <a:pt x="1384029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6"/>
                </a:lnTo>
                <a:lnTo>
                  <a:pt x="0" y="90603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3"/>
                </a:lnTo>
                <a:lnTo>
                  <a:pt x="1474631" y="452997"/>
                </a:lnTo>
                <a:lnTo>
                  <a:pt x="1474631" y="90603"/>
                </a:lnTo>
                <a:lnTo>
                  <a:pt x="1467511" y="55336"/>
                </a:lnTo>
                <a:lnTo>
                  <a:pt x="1448094" y="26536"/>
                </a:lnTo>
                <a:lnTo>
                  <a:pt x="1419295" y="7119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868628" y="3684523"/>
            <a:ext cx="1109980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-1905">
              <a:lnSpc>
                <a:spcPct val="97500"/>
              </a:lnSpc>
              <a:spcBef>
                <a:spcPts val="135"/>
              </a:spcBef>
            </a:pPr>
            <a:r>
              <a:rPr dirty="0" sz="1200" spc="-65">
                <a:latin typeface="微软雅黑"/>
                <a:cs typeface="微软雅黑"/>
              </a:rPr>
              <a:t>NaABral  </a:t>
            </a:r>
            <a:r>
              <a:rPr dirty="0" sz="1200" spc="-10">
                <a:latin typeface="微软雅黑"/>
                <a:cs typeface="微软雅黑"/>
              </a:rPr>
              <a:t>LangBage  </a:t>
            </a:r>
            <a:r>
              <a:rPr dirty="0" sz="1200">
                <a:latin typeface="微软雅黑"/>
                <a:cs typeface="微软雅黑"/>
              </a:rPr>
              <a:t>U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-10">
                <a:latin typeface="微软雅黑"/>
                <a:cs typeface="微软雅黑"/>
              </a:rPr>
              <a:t>de</a:t>
            </a:r>
            <a:r>
              <a:rPr dirty="0" sz="1200" spc="5">
                <a:latin typeface="微软雅黑"/>
                <a:cs typeface="微软雅黑"/>
              </a:rPr>
              <a:t>r</a:t>
            </a:r>
            <a:r>
              <a:rPr dirty="0" sz="1200" spc="-10">
                <a:latin typeface="微软雅黑"/>
                <a:cs typeface="微软雅黑"/>
              </a:rPr>
              <a:t>s</a:t>
            </a:r>
            <a:r>
              <a:rPr dirty="0" sz="1200" spc="-400">
                <a:latin typeface="微软雅黑"/>
                <a:cs typeface="微软雅黑"/>
              </a:rPr>
              <a:t>A</a:t>
            </a:r>
            <a:r>
              <a:rPr dirty="0" sz="1200" spc="-5">
                <a:latin typeface="微软雅黑"/>
                <a:cs typeface="微软雅黑"/>
              </a:rPr>
              <a:t>an</a:t>
            </a:r>
            <a:r>
              <a:rPr dirty="0" sz="1200" spc="-10">
                <a:latin typeface="微软雅黑"/>
                <a:cs typeface="微软雅黑"/>
              </a:rPr>
              <a:t>d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568581" y="3700208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6"/>
                </a:lnTo>
                <a:lnTo>
                  <a:pt x="0" y="90603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3"/>
                </a:lnTo>
                <a:lnTo>
                  <a:pt x="1474632" y="452997"/>
                </a:lnTo>
                <a:lnTo>
                  <a:pt x="1474632" y="90603"/>
                </a:lnTo>
                <a:lnTo>
                  <a:pt x="1467512" y="55336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902959" y="3775964"/>
            <a:ext cx="80708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63195">
              <a:lnSpc>
                <a:spcPts val="1390"/>
              </a:lnSpc>
              <a:spcBef>
                <a:spcPts val="185"/>
              </a:spcBef>
            </a:pPr>
            <a:r>
              <a:rPr dirty="0" sz="1200" spc="-5">
                <a:latin typeface="微软雅黑"/>
                <a:cs typeface="微软雅黑"/>
              </a:rPr>
              <a:t>Image  </a:t>
            </a:r>
            <a:r>
              <a:rPr dirty="0" sz="1200">
                <a:latin typeface="微软雅黑"/>
                <a:cs typeface="微软雅黑"/>
              </a:rPr>
              <a:t>P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oc</a:t>
            </a:r>
            <a:r>
              <a:rPr dirty="0" sz="1200" spc="-10">
                <a:latin typeface="微软雅黑"/>
                <a:cs typeface="微软雅黑"/>
              </a:rPr>
              <a:t>ess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155499" y="3700208"/>
            <a:ext cx="1522730" cy="544195"/>
          </a:xfrm>
          <a:custGeom>
            <a:avLst/>
            <a:gdLst/>
            <a:ahLst/>
            <a:cxnLst/>
            <a:rect l="l" t="t" r="r" b="b"/>
            <a:pathLst>
              <a:path w="1522729" h="544195">
                <a:moveTo>
                  <a:pt x="1431905" y="0"/>
                </a:moveTo>
                <a:lnTo>
                  <a:pt x="90600" y="0"/>
                </a:lnTo>
                <a:lnTo>
                  <a:pt x="55334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8"/>
                </a:lnTo>
                <a:lnTo>
                  <a:pt x="7119" y="488264"/>
                </a:lnTo>
                <a:lnTo>
                  <a:pt x="26536" y="517062"/>
                </a:lnTo>
                <a:lnTo>
                  <a:pt x="55334" y="536479"/>
                </a:lnTo>
                <a:lnTo>
                  <a:pt x="90600" y="543599"/>
                </a:lnTo>
                <a:lnTo>
                  <a:pt x="1431905" y="543599"/>
                </a:lnTo>
                <a:lnTo>
                  <a:pt x="1467172" y="536479"/>
                </a:lnTo>
                <a:lnTo>
                  <a:pt x="1495971" y="517062"/>
                </a:lnTo>
                <a:lnTo>
                  <a:pt x="1515387" y="488264"/>
                </a:lnTo>
                <a:lnTo>
                  <a:pt x="1522507" y="452998"/>
                </a:lnTo>
                <a:lnTo>
                  <a:pt x="1522507" y="90601"/>
                </a:lnTo>
                <a:lnTo>
                  <a:pt x="1515387" y="55335"/>
                </a:lnTo>
                <a:lnTo>
                  <a:pt x="1495971" y="26536"/>
                </a:lnTo>
                <a:lnTo>
                  <a:pt x="1467172" y="7119"/>
                </a:lnTo>
                <a:lnTo>
                  <a:pt x="1431905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373987" y="3684523"/>
            <a:ext cx="1086485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>
              <a:lnSpc>
                <a:spcPct val="97500"/>
              </a:lnSpc>
              <a:spcBef>
                <a:spcPts val="135"/>
              </a:spcBef>
            </a:pPr>
            <a:r>
              <a:rPr dirty="0" sz="1200" spc="-5">
                <a:latin typeface="微软雅黑"/>
                <a:cs typeface="微软雅黑"/>
              </a:rPr>
              <a:t>Machine  Learning/  </a:t>
            </a:r>
            <a:r>
              <a:rPr dirty="0" sz="1200" spc="-10">
                <a:latin typeface="微软雅黑"/>
                <a:cs typeface="微软雅黑"/>
              </a:rPr>
              <a:t>Deep</a:t>
            </a:r>
            <a:r>
              <a:rPr dirty="0" sz="1200" spc="-80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Learning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982140" y="3700208"/>
            <a:ext cx="1522730" cy="544195"/>
          </a:xfrm>
          <a:custGeom>
            <a:avLst/>
            <a:gdLst/>
            <a:ahLst/>
            <a:cxnLst/>
            <a:rect l="l" t="t" r="r" b="b"/>
            <a:pathLst>
              <a:path w="1522729" h="544195">
                <a:moveTo>
                  <a:pt x="1431907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8"/>
                </a:lnTo>
                <a:lnTo>
                  <a:pt x="7119" y="488264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431907" y="543599"/>
                </a:lnTo>
                <a:lnTo>
                  <a:pt x="1467172" y="536479"/>
                </a:lnTo>
                <a:lnTo>
                  <a:pt x="1495971" y="517062"/>
                </a:lnTo>
                <a:lnTo>
                  <a:pt x="1515387" y="488264"/>
                </a:lnTo>
                <a:lnTo>
                  <a:pt x="1522507" y="452998"/>
                </a:lnTo>
                <a:lnTo>
                  <a:pt x="1522507" y="90601"/>
                </a:lnTo>
                <a:lnTo>
                  <a:pt x="1515387" y="55335"/>
                </a:lnTo>
                <a:lnTo>
                  <a:pt x="1495971" y="26536"/>
                </a:lnTo>
                <a:lnTo>
                  <a:pt x="1467172" y="7119"/>
                </a:lnTo>
                <a:lnTo>
                  <a:pt x="1431907" y="0"/>
                </a:lnTo>
                <a:close/>
              </a:path>
            </a:pathLst>
          </a:custGeom>
          <a:solidFill>
            <a:srgbClr val="00B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9139032" y="3867403"/>
            <a:ext cx="1209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>
                <a:latin typeface="微软雅黑"/>
                <a:cs typeface="微软雅黑"/>
              </a:rPr>
              <a:t>CogniAiCe </a:t>
            </a:r>
            <a:r>
              <a:rPr dirty="0" sz="1200" spc="-5">
                <a:latin typeface="微软雅黑"/>
                <a:cs typeface="微软雅黑"/>
              </a:rPr>
              <a:t>Graph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5376734" y="3700208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6"/>
                </a:lnTo>
                <a:lnTo>
                  <a:pt x="0" y="90603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3"/>
                </a:lnTo>
                <a:lnTo>
                  <a:pt x="1474632" y="452997"/>
                </a:lnTo>
                <a:lnTo>
                  <a:pt x="1474632" y="90603"/>
                </a:lnTo>
                <a:lnTo>
                  <a:pt x="1467512" y="55336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5711111" y="3775964"/>
            <a:ext cx="807085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177800">
              <a:lnSpc>
                <a:spcPts val="1390"/>
              </a:lnSpc>
              <a:spcBef>
                <a:spcPts val="185"/>
              </a:spcBef>
            </a:pPr>
            <a:r>
              <a:rPr dirty="0" sz="1200" spc="50">
                <a:latin typeface="微软雅黑"/>
                <a:cs typeface="微软雅黑"/>
              </a:rPr>
              <a:t>/ideo  </a:t>
            </a:r>
            <a:r>
              <a:rPr dirty="0" sz="1200">
                <a:latin typeface="微软雅黑"/>
                <a:cs typeface="微软雅黑"/>
              </a:rPr>
              <a:t>P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oc</a:t>
            </a:r>
            <a:r>
              <a:rPr dirty="0" sz="1200" spc="-10">
                <a:latin typeface="微软雅黑"/>
                <a:cs typeface="微软雅黑"/>
              </a:rPr>
              <a:t>ess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>
                <a:latin typeface="微软雅黑"/>
                <a:cs typeface="微软雅黑"/>
              </a:rPr>
              <a:t>g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5365751" y="4670229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29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3"/>
                </a:lnTo>
                <a:lnTo>
                  <a:pt x="1474631" y="452997"/>
                </a:lnTo>
                <a:lnTo>
                  <a:pt x="1474631" y="90601"/>
                </a:lnTo>
                <a:lnTo>
                  <a:pt x="1467511" y="55335"/>
                </a:lnTo>
                <a:lnTo>
                  <a:pt x="1448094" y="26536"/>
                </a:lnTo>
                <a:lnTo>
                  <a:pt x="1419295" y="7119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5520295" y="4745228"/>
            <a:ext cx="1166495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 indent="62865">
              <a:lnSpc>
                <a:spcPts val="1420"/>
              </a:lnSpc>
              <a:spcBef>
                <a:spcPts val="160"/>
              </a:spcBef>
            </a:pPr>
            <a:r>
              <a:rPr dirty="0" sz="1200" spc="-5">
                <a:latin typeface="微软雅黑"/>
                <a:cs typeface="微软雅黑"/>
              </a:rPr>
              <a:t>Online Offline  Info</a:t>
            </a:r>
            <a:r>
              <a:rPr dirty="0" sz="1200" spc="-60">
                <a:latin typeface="微软雅黑"/>
                <a:cs typeface="微软雅黑"/>
              </a:rPr>
              <a:t> </a:t>
            </a:r>
            <a:r>
              <a:rPr dirty="0" sz="1200" spc="-80">
                <a:latin typeface="微软雅黑"/>
                <a:cs typeface="微软雅黑"/>
              </a:rPr>
              <a:t>InAegraAion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850255" y="5724026"/>
            <a:ext cx="1786889" cy="545465"/>
          </a:xfrm>
          <a:custGeom>
            <a:avLst/>
            <a:gdLst/>
            <a:ahLst/>
            <a:cxnLst/>
            <a:rect l="l" t="t" r="r" b="b"/>
            <a:pathLst>
              <a:path w="1786890" h="545464">
                <a:moveTo>
                  <a:pt x="1695401" y="0"/>
                </a:moveTo>
                <a:lnTo>
                  <a:pt x="90877" y="0"/>
                </a:lnTo>
                <a:lnTo>
                  <a:pt x="55503" y="7141"/>
                </a:lnTo>
                <a:lnTo>
                  <a:pt x="26617" y="26617"/>
                </a:lnTo>
                <a:lnTo>
                  <a:pt x="7141" y="55503"/>
                </a:lnTo>
                <a:lnTo>
                  <a:pt x="0" y="90877"/>
                </a:lnTo>
                <a:lnTo>
                  <a:pt x="0" y="454379"/>
                </a:lnTo>
                <a:lnTo>
                  <a:pt x="7141" y="489752"/>
                </a:lnTo>
                <a:lnTo>
                  <a:pt x="26617" y="518638"/>
                </a:lnTo>
                <a:lnTo>
                  <a:pt x="55503" y="538113"/>
                </a:lnTo>
                <a:lnTo>
                  <a:pt x="90877" y="545255"/>
                </a:lnTo>
                <a:lnTo>
                  <a:pt x="1695401" y="545255"/>
                </a:lnTo>
                <a:lnTo>
                  <a:pt x="1730774" y="538113"/>
                </a:lnTo>
                <a:lnTo>
                  <a:pt x="1759660" y="518638"/>
                </a:lnTo>
                <a:lnTo>
                  <a:pt x="1779136" y="489752"/>
                </a:lnTo>
                <a:lnTo>
                  <a:pt x="1786277" y="454379"/>
                </a:lnTo>
                <a:lnTo>
                  <a:pt x="1786277" y="90877"/>
                </a:lnTo>
                <a:lnTo>
                  <a:pt x="1779136" y="55503"/>
                </a:lnTo>
                <a:lnTo>
                  <a:pt x="1759660" y="26617"/>
                </a:lnTo>
                <a:lnTo>
                  <a:pt x="1730774" y="7141"/>
                </a:lnTo>
                <a:lnTo>
                  <a:pt x="1695401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9170434" y="5799835"/>
            <a:ext cx="1147445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61925" marR="5080" indent="-149860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微软雅黑"/>
                <a:cs typeface="微软雅黑"/>
              </a:rPr>
              <a:t>H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409">
                <a:latin typeface="微软雅黑"/>
                <a:cs typeface="微软雅黑"/>
              </a:rPr>
              <a:t>A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>
                <a:latin typeface="微软雅黑"/>
                <a:cs typeface="微软雅黑"/>
              </a:rPr>
              <a:t>o</a:t>
            </a:r>
            <a:r>
              <a:rPr dirty="0" sz="1200" spc="-5">
                <a:latin typeface="微软雅黑"/>
                <a:cs typeface="微软雅黑"/>
              </a:rPr>
              <a:t>g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-10">
                <a:latin typeface="微软雅黑"/>
                <a:cs typeface="微软雅黑"/>
              </a:rPr>
              <a:t>e</a:t>
            </a:r>
            <a:r>
              <a:rPr dirty="0" sz="1200">
                <a:latin typeface="微软雅黑"/>
                <a:cs typeface="微软雅黑"/>
              </a:rPr>
              <a:t>o</a:t>
            </a:r>
            <a:r>
              <a:rPr dirty="0" sz="1200" spc="-20">
                <a:latin typeface="微软雅黑"/>
                <a:cs typeface="微软雅黑"/>
              </a:rPr>
              <a:t>B</a:t>
            </a:r>
            <a:r>
              <a:rPr dirty="0" sz="1200">
                <a:latin typeface="微软雅黑"/>
                <a:cs typeface="微软雅黑"/>
              </a:rPr>
              <a:t>s  </a:t>
            </a:r>
            <a:r>
              <a:rPr dirty="0" sz="1200" spc="-50">
                <a:latin typeface="微软雅黑"/>
                <a:cs typeface="微软雅黑"/>
              </a:rPr>
              <a:t>CompBAing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905161" y="1606101"/>
            <a:ext cx="4267835" cy="3364229"/>
          </a:xfrm>
          <a:custGeom>
            <a:avLst/>
            <a:gdLst/>
            <a:ahLst/>
            <a:cxnLst/>
            <a:rect l="l" t="t" r="r" b="b"/>
            <a:pathLst>
              <a:path w="4267834" h="3364229">
                <a:moveTo>
                  <a:pt x="0" y="0"/>
                </a:moveTo>
                <a:lnTo>
                  <a:pt x="4267288" y="0"/>
                </a:lnTo>
                <a:lnTo>
                  <a:pt x="4267288" y="3364048"/>
                </a:lnTo>
                <a:lnTo>
                  <a:pt x="0" y="336404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626864" y="1764792"/>
            <a:ext cx="615696" cy="493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782925" y="2327148"/>
            <a:ext cx="3613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S</a:t>
            </a:r>
            <a:r>
              <a:rPr dirty="0" sz="1400" spc="0" b="1">
                <a:latin typeface="微软雅黑"/>
                <a:cs typeface="微软雅黑"/>
              </a:rPr>
              <a:t>P</a:t>
            </a:r>
            <a:r>
              <a:rPr dirty="0" sz="1400" b="1">
                <a:latin typeface="微软雅黑"/>
                <a:cs typeface="微软雅黑"/>
              </a:rPr>
              <a:t>R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650735" y="2849879"/>
            <a:ext cx="554735" cy="515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532970" y="3396996"/>
            <a:ext cx="101473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294005" marR="5080" indent="-294640">
              <a:lnSpc>
                <a:spcPct val="101400"/>
              </a:lnSpc>
              <a:spcBef>
                <a:spcPts val="75"/>
              </a:spcBef>
            </a:pPr>
            <a:r>
              <a:rPr dirty="0" sz="1400" b="1">
                <a:latin typeface="微软雅黑"/>
                <a:cs typeface="微软雅黑"/>
              </a:rPr>
              <a:t>Kno</a:t>
            </a:r>
            <a:r>
              <a:rPr dirty="0" sz="1400" spc="-5" b="1">
                <a:latin typeface="微软雅黑"/>
                <a:cs typeface="微软雅黑"/>
              </a:rPr>
              <a:t>wle</a:t>
            </a:r>
            <a:r>
              <a:rPr dirty="0" sz="1400" spc="-10" b="1">
                <a:latin typeface="微软雅黑"/>
                <a:cs typeface="微软雅黑"/>
              </a:rPr>
              <a:t>dg</a:t>
            </a:r>
            <a:r>
              <a:rPr dirty="0" sz="1400" b="1">
                <a:latin typeface="微软雅黑"/>
                <a:cs typeface="微软雅黑"/>
              </a:rPr>
              <a:t>e  </a:t>
            </a:r>
            <a:r>
              <a:rPr dirty="0" sz="1400" spc="-10" b="1">
                <a:latin typeface="微软雅黑"/>
                <a:cs typeface="微软雅黑"/>
              </a:rPr>
              <a:t>Card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26864" y="2855976"/>
            <a:ext cx="615696" cy="573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779109" y="3546347"/>
            <a:ext cx="3835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Ti</a:t>
            </a:r>
            <a:r>
              <a:rPr dirty="0" sz="1400" spc="0" b="1">
                <a:latin typeface="微软雅黑"/>
                <a:cs typeface="微软雅黑"/>
              </a:rPr>
              <a:t>p</a:t>
            </a:r>
            <a:r>
              <a:rPr dirty="0" sz="1400" b="1">
                <a:latin typeface="微软雅黑"/>
                <a:cs typeface="微软雅黑"/>
              </a:rPr>
              <a:t>s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84776" y="3959352"/>
            <a:ext cx="557784" cy="52120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378347" y="4539996"/>
            <a:ext cx="13360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3204" marR="5080" indent="-24384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Ad</a:t>
            </a:r>
            <a:r>
              <a:rPr dirty="0" sz="1400" spc="-90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Embedding  </a:t>
            </a:r>
            <a:r>
              <a:rPr dirty="0" sz="1400" b="1">
                <a:latin typeface="微软雅黑"/>
                <a:cs typeface="微软雅黑"/>
              </a:rPr>
              <a:t>On</a:t>
            </a:r>
            <a:r>
              <a:rPr dirty="0" sz="1400" spc="-80" b="1">
                <a:latin typeface="微软雅黑"/>
                <a:cs typeface="微软雅黑"/>
              </a:rPr>
              <a:t> </a:t>
            </a:r>
            <a:r>
              <a:rPr dirty="0" sz="1400" spc="-5" b="1">
                <a:latin typeface="微软雅黑"/>
                <a:cs typeface="微软雅黑"/>
              </a:rPr>
              <a:t>Scene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87311" y="3910584"/>
            <a:ext cx="518159" cy="4846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190778" y="4448555"/>
            <a:ext cx="154686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R="5080" indent="508000">
              <a:lnSpc>
                <a:spcPct val="101400"/>
              </a:lnSpc>
              <a:spcBef>
                <a:spcPts val="75"/>
              </a:spcBef>
            </a:pPr>
            <a:r>
              <a:rPr dirty="0" sz="1400" spc="-5" b="1">
                <a:latin typeface="微软雅黑"/>
                <a:cs typeface="微软雅黑"/>
              </a:rPr>
              <a:t>Video  </a:t>
            </a:r>
            <a:r>
              <a:rPr dirty="0" sz="1400" spc="-15" b="1">
                <a:latin typeface="微软雅黑"/>
                <a:cs typeface="微软雅黑"/>
              </a:rPr>
              <a:t>r</a:t>
            </a:r>
            <a:r>
              <a:rPr dirty="0" sz="1400" spc="-5" b="1">
                <a:latin typeface="微软雅黑"/>
                <a:cs typeface="微软雅黑"/>
              </a:rPr>
              <a:t>e</a:t>
            </a:r>
            <a:r>
              <a:rPr dirty="0" sz="1400" b="1">
                <a:latin typeface="微软雅黑"/>
                <a:cs typeface="微软雅黑"/>
              </a:rPr>
              <a:t>comm</a:t>
            </a:r>
            <a:r>
              <a:rPr dirty="0" sz="1400" spc="-5" b="1">
                <a:latin typeface="微软雅黑"/>
                <a:cs typeface="微软雅黑"/>
              </a:rPr>
              <a:t>e</a:t>
            </a:r>
            <a:r>
              <a:rPr dirty="0" sz="1400" spc="0" b="1">
                <a:latin typeface="微软雅黑"/>
                <a:cs typeface="微软雅黑"/>
              </a:rPr>
              <a:t>n</a:t>
            </a:r>
            <a:r>
              <a:rPr dirty="0" sz="1400" spc="-10" b="1">
                <a:latin typeface="微软雅黑"/>
                <a:cs typeface="微软雅黑"/>
              </a:rPr>
              <a:t>d</a:t>
            </a:r>
            <a:r>
              <a:rPr dirty="0" sz="1400" b="1">
                <a:latin typeface="微软雅黑"/>
                <a:cs typeface="微软雅黑"/>
              </a:rPr>
              <a:t>a</a:t>
            </a:r>
            <a:r>
              <a:rPr dirty="0" sz="1400" spc="-5" b="1">
                <a:latin typeface="微软雅黑"/>
                <a:cs typeface="微软雅黑"/>
              </a:rPr>
              <a:t>ti</a:t>
            </a:r>
            <a:r>
              <a:rPr dirty="0" sz="1400" b="1">
                <a:latin typeface="微软雅黑"/>
                <a:cs typeface="微软雅黑"/>
              </a:rPr>
              <a:t>on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641592" y="1789176"/>
            <a:ext cx="466344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10208" y="2327148"/>
            <a:ext cx="9455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微软雅黑"/>
                <a:cs typeface="微软雅黑"/>
              </a:rPr>
              <a:t>Reasoning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582557" y="435355"/>
            <a:ext cx="222059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C</a:t>
            </a:r>
            <a:r>
              <a:rPr dirty="0" sz="2400" spc="114" b="1">
                <a:solidFill>
                  <a:srgbClr val="000000"/>
                </a:solidFill>
                <a:latin typeface="微软雅黑"/>
                <a:cs typeface="微软雅黑"/>
              </a:rPr>
              <a:t>l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o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u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d	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Th</a:t>
            </a:r>
            <a:r>
              <a:rPr dirty="0" sz="2400" spc="114" b="1">
                <a:solidFill>
                  <a:srgbClr val="000000"/>
                </a:solidFill>
                <a:latin typeface="微软雅黑"/>
                <a:cs typeface="微软雅黑"/>
              </a:rPr>
              <a:t>em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02510" y="974852"/>
            <a:ext cx="6237605" cy="543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微软雅黑"/>
                <a:cs typeface="微软雅黑"/>
              </a:rPr>
              <a:t>from</a:t>
            </a:r>
            <a:r>
              <a:rPr dirty="0" sz="1200" spc="5">
                <a:latin typeface="微软雅黑"/>
                <a:cs typeface="微软雅黑"/>
              </a:rPr>
              <a:t> </a:t>
            </a:r>
            <a:r>
              <a:rPr dirty="0" sz="1200" spc="30">
                <a:solidFill>
                  <a:srgbClr val="C00000"/>
                </a:solidFill>
                <a:latin typeface="微软雅黑"/>
                <a:cs typeface="微软雅黑"/>
              </a:rPr>
              <a:t>Sin/le</a:t>
            </a:r>
            <a:r>
              <a:rPr dirty="0" sz="1200" spc="-5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-10">
                <a:solidFill>
                  <a:srgbClr val="C00000"/>
                </a:solidFill>
                <a:latin typeface="微软雅黑"/>
                <a:cs typeface="微软雅黑"/>
              </a:rPr>
              <a:t>Product</a:t>
            </a:r>
            <a:r>
              <a:rPr dirty="0" sz="1200" spc="5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-10">
                <a:solidFill>
                  <a:srgbClr val="C00000"/>
                </a:solidFill>
                <a:latin typeface="微软雅黑"/>
                <a:cs typeface="微软雅黑"/>
              </a:rPr>
              <a:t>Recommendation</a:t>
            </a:r>
            <a:r>
              <a:rPr dirty="0" sz="1200" spc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to</a:t>
            </a:r>
            <a:r>
              <a:rPr dirty="0" sz="1200" spc="0">
                <a:latin typeface="微软雅黑"/>
                <a:cs typeface="微软雅黑"/>
              </a:rPr>
              <a:t> </a:t>
            </a:r>
            <a:r>
              <a:rPr dirty="0" sz="1200" spc="-10">
                <a:solidFill>
                  <a:srgbClr val="C00000"/>
                </a:solidFill>
                <a:latin typeface="微软雅黑"/>
                <a:cs typeface="微软雅黑"/>
              </a:rPr>
              <a:t>Group</a:t>
            </a:r>
            <a:r>
              <a:rPr dirty="0" sz="1200" spc="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C00000"/>
                </a:solidFill>
                <a:latin typeface="微软雅黑"/>
                <a:cs typeface="微软雅黑"/>
              </a:rPr>
              <a:t>Meet</a:t>
            </a:r>
            <a:r>
              <a:rPr dirty="0" sz="1200" spc="5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-5">
                <a:solidFill>
                  <a:srgbClr val="C00000"/>
                </a:solidFill>
                <a:latin typeface="微软雅黑"/>
                <a:cs typeface="微软雅黑"/>
              </a:rPr>
              <a:t>Place</a:t>
            </a:r>
            <a:r>
              <a:rPr dirty="0" sz="1200">
                <a:solidFill>
                  <a:srgbClr val="C00000"/>
                </a:solidFill>
                <a:latin typeface="微软雅黑"/>
                <a:cs typeface="微软雅黑"/>
              </a:rPr>
              <a:t>、</a:t>
            </a:r>
            <a:r>
              <a:rPr dirty="0" sz="1200" spc="-10">
                <a:solidFill>
                  <a:srgbClr val="C00000"/>
                </a:solidFill>
                <a:latin typeface="微软雅黑"/>
                <a:cs typeface="微软雅黑"/>
              </a:rPr>
              <a:t>cultivate</a:t>
            </a:r>
            <a:r>
              <a:rPr dirty="0" sz="1200" spc="-5">
                <a:solidFill>
                  <a:srgbClr val="C00000"/>
                </a:solidFill>
                <a:latin typeface="微软雅黑"/>
                <a:cs typeface="微软雅黑"/>
              </a:rPr>
              <a:t> metal</a:t>
            </a:r>
            <a:r>
              <a:rPr dirty="0" sz="1200" spc="10">
                <a:solidFill>
                  <a:srgbClr val="C00000"/>
                </a:solidFill>
                <a:latin typeface="微软雅黑"/>
                <a:cs typeface="微软雅黑"/>
              </a:rPr>
              <a:t> </a:t>
            </a:r>
            <a:r>
              <a:rPr dirty="0" sz="1200" spc="25">
                <a:latin typeface="微软雅黑"/>
                <a:cs typeface="微软雅黑"/>
              </a:rPr>
              <a:t>up/rade</a:t>
            </a:r>
            <a:endParaRPr sz="1200">
              <a:latin typeface="微软雅黑"/>
              <a:cs typeface="微软雅黑"/>
            </a:endParaRPr>
          </a:p>
          <a:p>
            <a:pPr marL="1837055">
              <a:lnSpc>
                <a:spcPct val="100000"/>
              </a:lnSpc>
              <a:spcBef>
                <a:spcPts val="1200"/>
              </a:spcBef>
            </a:pPr>
            <a:r>
              <a:rPr dirty="0" sz="1200" spc="25">
                <a:latin typeface="微软雅黑"/>
                <a:cs typeface="微软雅黑"/>
              </a:rPr>
              <a:t>Meetin/ </a:t>
            </a:r>
            <a:r>
              <a:rPr dirty="0" sz="1200" spc="-5">
                <a:latin typeface="微软雅黑"/>
                <a:cs typeface="微软雅黑"/>
              </a:rPr>
              <a:t>Place for </a:t>
            </a:r>
            <a:r>
              <a:rPr dirty="0" sz="1200" spc="-10">
                <a:latin typeface="微软雅黑"/>
                <a:cs typeface="微软雅黑"/>
              </a:rPr>
              <a:t>Personalized</a:t>
            </a:r>
            <a:r>
              <a:rPr dirty="0" sz="1200" spc="-60">
                <a:latin typeface="微软雅黑"/>
                <a:cs typeface="微软雅黑"/>
              </a:rPr>
              <a:t> </a:t>
            </a:r>
            <a:r>
              <a:rPr dirty="0" sz="1200" spc="-10">
                <a:latin typeface="微软雅黑"/>
                <a:cs typeface="微软雅黑"/>
              </a:rPr>
              <a:t>Groups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53142" y="5475072"/>
            <a:ext cx="10574655" cy="794385"/>
          </a:xfrm>
          <a:custGeom>
            <a:avLst/>
            <a:gdLst/>
            <a:ahLst/>
            <a:cxnLst/>
            <a:rect l="l" t="t" r="r" b="b"/>
            <a:pathLst>
              <a:path w="10574655" h="794385">
                <a:moveTo>
                  <a:pt x="0" y="132319"/>
                </a:moveTo>
                <a:lnTo>
                  <a:pt x="6745" y="90496"/>
                </a:lnTo>
                <a:lnTo>
                  <a:pt x="25529" y="54173"/>
                </a:lnTo>
                <a:lnTo>
                  <a:pt x="54173" y="25530"/>
                </a:lnTo>
                <a:lnTo>
                  <a:pt x="90496" y="6745"/>
                </a:lnTo>
                <a:lnTo>
                  <a:pt x="132319" y="0"/>
                </a:lnTo>
                <a:lnTo>
                  <a:pt x="10442104" y="0"/>
                </a:lnTo>
                <a:lnTo>
                  <a:pt x="10483926" y="6745"/>
                </a:lnTo>
                <a:lnTo>
                  <a:pt x="10520249" y="25530"/>
                </a:lnTo>
                <a:lnTo>
                  <a:pt x="10548893" y="54173"/>
                </a:lnTo>
                <a:lnTo>
                  <a:pt x="10567677" y="90496"/>
                </a:lnTo>
                <a:lnTo>
                  <a:pt x="10574423" y="132319"/>
                </a:lnTo>
                <a:lnTo>
                  <a:pt x="10574423" y="661564"/>
                </a:lnTo>
                <a:lnTo>
                  <a:pt x="10567677" y="703387"/>
                </a:lnTo>
                <a:lnTo>
                  <a:pt x="10548893" y="739710"/>
                </a:lnTo>
                <a:lnTo>
                  <a:pt x="10520249" y="768353"/>
                </a:lnTo>
                <a:lnTo>
                  <a:pt x="10483926" y="787138"/>
                </a:lnTo>
                <a:lnTo>
                  <a:pt x="10442104" y="793884"/>
                </a:lnTo>
                <a:lnTo>
                  <a:pt x="132319" y="793884"/>
                </a:lnTo>
                <a:lnTo>
                  <a:pt x="90496" y="787138"/>
                </a:lnTo>
                <a:lnTo>
                  <a:pt x="54173" y="768353"/>
                </a:lnTo>
                <a:lnTo>
                  <a:pt x="25529" y="739710"/>
                </a:lnTo>
                <a:lnTo>
                  <a:pt x="6745" y="703387"/>
                </a:lnTo>
                <a:lnTo>
                  <a:pt x="0" y="661564"/>
                </a:lnTo>
                <a:lnTo>
                  <a:pt x="0" y="132319"/>
                </a:lnTo>
                <a:close/>
              </a:path>
            </a:pathLst>
          </a:custGeom>
          <a:ln w="381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70637" y="5750052"/>
            <a:ext cx="9359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微软雅黑"/>
                <a:cs typeface="微软雅黑"/>
              </a:rPr>
              <a:t>Alg</a:t>
            </a:r>
            <a:r>
              <a:rPr dirty="0" sz="1400" spc="0" b="1">
                <a:latin typeface="微软雅黑"/>
                <a:cs typeface="微软雅黑"/>
              </a:rPr>
              <a:t>o</a:t>
            </a:r>
            <a:r>
              <a:rPr dirty="0" sz="1400" spc="-5" b="1">
                <a:latin typeface="微软雅黑"/>
                <a:cs typeface="微软雅黑"/>
              </a:rPr>
              <a:t>rith</a:t>
            </a:r>
            <a:r>
              <a:rPr dirty="0" sz="1400" b="1">
                <a:latin typeface="微软雅黑"/>
                <a:cs typeface="微软雅黑"/>
              </a:rPr>
              <a:t>m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855975" y="5590761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6"/>
                </a:lnTo>
                <a:lnTo>
                  <a:pt x="7119" y="488262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2"/>
                </a:lnTo>
                <a:lnTo>
                  <a:pt x="1474632" y="452996"/>
                </a:lnTo>
                <a:lnTo>
                  <a:pt x="1474632" y="90601"/>
                </a:lnTo>
                <a:lnTo>
                  <a:pt x="1467512" y="55335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2038682" y="5574284"/>
            <a:ext cx="1109980" cy="5651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-1905">
              <a:lnSpc>
                <a:spcPct val="97500"/>
              </a:lnSpc>
              <a:spcBef>
                <a:spcPts val="135"/>
              </a:spcBef>
            </a:pPr>
            <a:r>
              <a:rPr dirty="0" sz="1200" spc="-5">
                <a:latin typeface="微软雅黑"/>
                <a:cs typeface="微软雅黑"/>
              </a:rPr>
              <a:t>Natural  </a:t>
            </a:r>
            <a:r>
              <a:rPr dirty="0" sz="1200" spc="50">
                <a:latin typeface="微软雅黑"/>
                <a:cs typeface="微软雅黑"/>
              </a:rPr>
              <a:t>Lan/ua/e  </a:t>
            </a:r>
            <a:r>
              <a:rPr dirty="0" sz="1200">
                <a:latin typeface="微软雅黑"/>
                <a:cs typeface="微软雅黑"/>
              </a:rPr>
              <a:t>U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-10">
                <a:latin typeface="微软雅黑"/>
                <a:cs typeface="微软雅黑"/>
              </a:rPr>
              <a:t>de</a:t>
            </a:r>
            <a:r>
              <a:rPr dirty="0" sz="1200" spc="5">
                <a:latin typeface="微软雅黑"/>
                <a:cs typeface="微软雅黑"/>
              </a:rPr>
              <a:t>r</a:t>
            </a:r>
            <a:r>
              <a:rPr dirty="0" sz="1200" spc="-10">
                <a:latin typeface="微软雅黑"/>
                <a:cs typeface="微软雅黑"/>
              </a:rPr>
              <a:t>s</a:t>
            </a:r>
            <a:r>
              <a:rPr dirty="0" sz="1200">
                <a:latin typeface="微软雅黑"/>
                <a:cs typeface="微软雅黑"/>
              </a:rPr>
              <a:t>t</a:t>
            </a:r>
            <a:r>
              <a:rPr dirty="0" sz="1200" spc="-5">
                <a:latin typeface="微软雅黑"/>
                <a:cs typeface="微软雅黑"/>
              </a:rPr>
              <a:t>an</a:t>
            </a:r>
            <a:r>
              <a:rPr dirty="0" sz="1200" spc="-10">
                <a:latin typeface="微软雅黑"/>
                <a:cs typeface="微软雅黑"/>
              </a:rPr>
              <a:t>d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250">
                <a:latin typeface="微软雅黑"/>
                <a:cs typeface="微软雅黑"/>
              </a:rPr>
              <a:t>/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738637" y="5590761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29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6"/>
                </a:lnTo>
                <a:lnTo>
                  <a:pt x="7119" y="488262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29" y="543599"/>
                </a:lnTo>
                <a:lnTo>
                  <a:pt x="1419295" y="536479"/>
                </a:lnTo>
                <a:lnTo>
                  <a:pt x="1448094" y="517062"/>
                </a:lnTo>
                <a:lnTo>
                  <a:pt x="1467511" y="488262"/>
                </a:lnTo>
                <a:lnTo>
                  <a:pt x="1474631" y="452996"/>
                </a:lnTo>
                <a:lnTo>
                  <a:pt x="1474631" y="90601"/>
                </a:lnTo>
                <a:lnTo>
                  <a:pt x="1467511" y="55335"/>
                </a:lnTo>
                <a:lnTo>
                  <a:pt x="1448094" y="26536"/>
                </a:lnTo>
                <a:lnTo>
                  <a:pt x="1419295" y="7119"/>
                </a:lnTo>
                <a:lnTo>
                  <a:pt x="1384029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073013" y="5665723"/>
            <a:ext cx="807085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63195">
              <a:lnSpc>
                <a:spcPts val="1420"/>
              </a:lnSpc>
              <a:spcBef>
                <a:spcPts val="165"/>
              </a:spcBef>
            </a:pPr>
            <a:r>
              <a:rPr dirty="0" sz="1200" spc="40">
                <a:latin typeface="微软雅黑"/>
                <a:cs typeface="微软雅黑"/>
              </a:rPr>
              <a:t>Ima/e  </a:t>
            </a:r>
            <a:r>
              <a:rPr dirty="0" sz="1200">
                <a:latin typeface="微软雅黑"/>
                <a:cs typeface="微软雅黑"/>
              </a:rPr>
              <a:t>P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oc</a:t>
            </a:r>
            <a:r>
              <a:rPr dirty="0" sz="1200" spc="-10">
                <a:latin typeface="微软雅黑"/>
                <a:cs typeface="微软雅黑"/>
              </a:rPr>
              <a:t>ess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250">
                <a:latin typeface="微软雅黑"/>
                <a:cs typeface="微软雅黑"/>
              </a:rPr>
              <a:t>/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325554" y="5590761"/>
            <a:ext cx="1891664" cy="544195"/>
          </a:xfrm>
          <a:custGeom>
            <a:avLst/>
            <a:gdLst/>
            <a:ahLst/>
            <a:cxnLst/>
            <a:rect l="l" t="t" r="r" b="b"/>
            <a:pathLst>
              <a:path w="1891665" h="544195">
                <a:moveTo>
                  <a:pt x="1800692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6"/>
                </a:lnTo>
                <a:lnTo>
                  <a:pt x="7119" y="488262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800692" y="543599"/>
                </a:lnTo>
                <a:lnTo>
                  <a:pt x="1835958" y="536479"/>
                </a:lnTo>
                <a:lnTo>
                  <a:pt x="1864757" y="517062"/>
                </a:lnTo>
                <a:lnTo>
                  <a:pt x="1884174" y="488262"/>
                </a:lnTo>
                <a:lnTo>
                  <a:pt x="1891294" y="452996"/>
                </a:lnTo>
                <a:lnTo>
                  <a:pt x="1891294" y="90601"/>
                </a:lnTo>
                <a:lnTo>
                  <a:pt x="1884174" y="55335"/>
                </a:lnTo>
                <a:lnTo>
                  <a:pt x="1864757" y="26536"/>
                </a:lnTo>
                <a:lnTo>
                  <a:pt x="1835958" y="7119"/>
                </a:lnTo>
                <a:lnTo>
                  <a:pt x="1800692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7576035" y="5665723"/>
            <a:ext cx="1390650" cy="388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430"/>
              </a:lnSpc>
              <a:spcBef>
                <a:spcPts val="100"/>
              </a:spcBef>
            </a:pPr>
            <a:r>
              <a:rPr dirty="0" sz="1200" spc="-5">
                <a:latin typeface="微软雅黑"/>
                <a:cs typeface="微软雅黑"/>
              </a:rPr>
              <a:t>Machine</a:t>
            </a:r>
            <a:r>
              <a:rPr dirty="0" sz="1200" spc="-55">
                <a:latin typeface="微软雅黑"/>
                <a:cs typeface="微软雅黑"/>
              </a:rPr>
              <a:t> </a:t>
            </a:r>
            <a:r>
              <a:rPr dirty="0" sz="1200" spc="15">
                <a:latin typeface="微软雅黑"/>
                <a:cs typeface="微软雅黑"/>
              </a:rPr>
              <a:t>Learnin//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ts val="1430"/>
              </a:lnSpc>
            </a:pPr>
            <a:r>
              <a:rPr dirty="0" sz="1200" spc="180">
                <a:latin typeface="微软雅黑"/>
                <a:cs typeface="微软雅黑"/>
              </a:rPr>
              <a:t> </a:t>
            </a:r>
            <a:r>
              <a:rPr dirty="0" sz="1200" spc="110">
                <a:latin typeface="微软雅黑"/>
                <a:cs typeface="微软雅黑"/>
              </a:rPr>
              <a:t>eep</a:t>
            </a:r>
            <a:r>
              <a:rPr dirty="0" sz="1200" spc="-80">
                <a:latin typeface="微软雅黑"/>
                <a:cs typeface="微软雅黑"/>
              </a:rPr>
              <a:t> </a:t>
            </a:r>
            <a:r>
              <a:rPr dirty="0" sz="1200" spc="25">
                <a:latin typeface="微软雅黑"/>
                <a:cs typeface="微软雅黑"/>
              </a:rPr>
              <a:t>Learnin/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9460953" y="5590761"/>
            <a:ext cx="1522730" cy="544195"/>
          </a:xfrm>
          <a:custGeom>
            <a:avLst/>
            <a:gdLst/>
            <a:ahLst/>
            <a:cxnLst/>
            <a:rect l="l" t="t" r="r" b="b"/>
            <a:pathLst>
              <a:path w="1522729" h="544195">
                <a:moveTo>
                  <a:pt x="1431907" y="0"/>
                </a:moveTo>
                <a:lnTo>
                  <a:pt x="90600" y="0"/>
                </a:lnTo>
                <a:lnTo>
                  <a:pt x="55334" y="7119"/>
                </a:lnTo>
                <a:lnTo>
                  <a:pt x="26536" y="26536"/>
                </a:lnTo>
                <a:lnTo>
                  <a:pt x="7119" y="55334"/>
                </a:lnTo>
                <a:lnTo>
                  <a:pt x="0" y="90600"/>
                </a:lnTo>
                <a:lnTo>
                  <a:pt x="0" y="452997"/>
                </a:lnTo>
                <a:lnTo>
                  <a:pt x="7119" y="488263"/>
                </a:lnTo>
                <a:lnTo>
                  <a:pt x="26536" y="517062"/>
                </a:lnTo>
                <a:lnTo>
                  <a:pt x="55334" y="536479"/>
                </a:lnTo>
                <a:lnTo>
                  <a:pt x="90600" y="543599"/>
                </a:lnTo>
                <a:lnTo>
                  <a:pt x="1431907" y="543599"/>
                </a:lnTo>
                <a:lnTo>
                  <a:pt x="1467172" y="536479"/>
                </a:lnTo>
                <a:lnTo>
                  <a:pt x="1495971" y="517062"/>
                </a:lnTo>
                <a:lnTo>
                  <a:pt x="1515387" y="488263"/>
                </a:lnTo>
                <a:lnTo>
                  <a:pt x="1522507" y="452997"/>
                </a:lnTo>
                <a:lnTo>
                  <a:pt x="1522507" y="90600"/>
                </a:lnTo>
                <a:lnTo>
                  <a:pt x="1515387" y="55334"/>
                </a:lnTo>
                <a:lnTo>
                  <a:pt x="1495971" y="26536"/>
                </a:lnTo>
                <a:lnTo>
                  <a:pt x="1467172" y="7119"/>
                </a:lnTo>
                <a:lnTo>
                  <a:pt x="1431907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9791996" y="5665723"/>
            <a:ext cx="861060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94310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微软雅黑"/>
                <a:cs typeface="微软雅黑"/>
              </a:rPr>
              <a:t>Graph  </a:t>
            </a:r>
            <a:r>
              <a:rPr dirty="0" sz="1200">
                <a:latin typeface="微软雅黑"/>
                <a:cs typeface="微软雅黑"/>
              </a:rPr>
              <a:t>Em</a:t>
            </a:r>
            <a:r>
              <a:rPr dirty="0" sz="1200" spc="-5">
                <a:latin typeface="微软雅黑"/>
                <a:cs typeface="微软雅黑"/>
              </a:rPr>
              <a:t>b</a:t>
            </a:r>
            <a:r>
              <a:rPr dirty="0" sz="1200" spc="-10">
                <a:latin typeface="微软雅黑"/>
                <a:cs typeface="微软雅黑"/>
              </a:rPr>
              <a:t>edd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250">
                <a:latin typeface="微软雅黑"/>
                <a:cs typeface="微软雅黑"/>
              </a:rPr>
              <a:t>/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546789" y="5590761"/>
            <a:ext cx="1475105" cy="544195"/>
          </a:xfrm>
          <a:custGeom>
            <a:avLst/>
            <a:gdLst/>
            <a:ahLst/>
            <a:cxnLst/>
            <a:rect l="l" t="t" r="r" b="b"/>
            <a:pathLst>
              <a:path w="1475104" h="544195">
                <a:moveTo>
                  <a:pt x="1384030" y="0"/>
                </a:moveTo>
                <a:lnTo>
                  <a:pt x="90601" y="0"/>
                </a:lnTo>
                <a:lnTo>
                  <a:pt x="55335" y="7119"/>
                </a:lnTo>
                <a:lnTo>
                  <a:pt x="26536" y="26536"/>
                </a:lnTo>
                <a:lnTo>
                  <a:pt x="7119" y="55335"/>
                </a:lnTo>
                <a:lnTo>
                  <a:pt x="0" y="90601"/>
                </a:lnTo>
                <a:lnTo>
                  <a:pt x="0" y="452996"/>
                </a:lnTo>
                <a:lnTo>
                  <a:pt x="7119" y="488262"/>
                </a:lnTo>
                <a:lnTo>
                  <a:pt x="26536" y="517062"/>
                </a:lnTo>
                <a:lnTo>
                  <a:pt x="55335" y="536479"/>
                </a:lnTo>
                <a:lnTo>
                  <a:pt x="90601" y="543599"/>
                </a:lnTo>
                <a:lnTo>
                  <a:pt x="1384030" y="543599"/>
                </a:lnTo>
                <a:lnTo>
                  <a:pt x="1419297" y="536479"/>
                </a:lnTo>
                <a:lnTo>
                  <a:pt x="1448095" y="517062"/>
                </a:lnTo>
                <a:lnTo>
                  <a:pt x="1467512" y="488262"/>
                </a:lnTo>
                <a:lnTo>
                  <a:pt x="1474632" y="452996"/>
                </a:lnTo>
                <a:lnTo>
                  <a:pt x="1474632" y="90601"/>
                </a:lnTo>
                <a:lnTo>
                  <a:pt x="1467512" y="55335"/>
                </a:lnTo>
                <a:lnTo>
                  <a:pt x="1448095" y="26536"/>
                </a:lnTo>
                <a:lnTo>
                  <a:pt x="1419297" y="7119"/>
                </a:lnTo>
                <a:lnTo>
                  <a:pt x="138403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881166" y="5665723"/>
            <a:ext cx="807085" cy="38862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2700" marR="5080" indent="177800">
              <a:lnSpc>
                <a:spcPts val="1420"/>
              </a:lnSpc>
              <a:spcBef>
                <a:spcPts val="165"/>
              </a:spcBef>
            </a:pPr>
            <a:r>
              <a:rPr dirty="0" sz="1200" spc="-5">
                <a:latin typeface="微软雅黑"/>
                <a:cs typeface="微软雅黑"/>
              </a:rPr>
              <a:t>Video  </a:t>
            </a:r>
            <a:r>
              <a:rPr dirty="0" sz="1200">
                <a:latin typeface="微软雅黑"/>
                <a:cs typeface="微软雅黑"/>
              </a:rPr>
              <a:t>P</a:t>
            </a:r>
            <a:r>
              <a:rPr dirty="0" sz="1200" spc="-15">
                <a:latin typeface="微软雅黑"/>
                <a:cs typeface="微软雅黑"/>
              </a:rPr>
              <a:t>r</a:t>
            </a:r>
            <a:r>
              <a:rPr dirty="0" sz="1200" spc="-5">
                <a:latin typeface="微软雅黑"/>
                <a:cs typeface="微软雅黑"/>
              </a:rPr>
              <a:t>oc</a:t>
            </a:r>
            <a:r>
              <a:rPr dirty="0" sz="1200" spc="-10">
                <a:latin typeface="微软雅黑"/>
                <a:cs typeface="微软雅黑"/>
              </a:rPr>
              <a:t>ess</a:t>
            </a:r>
            <a:r>
              <a:rPr dirty="0" sz="1200" spc="0">
                <a:latin typeface="微软雅黑"/>
                <a:cs typeface="微软雅黑"/>
              </a:rPr>
              <a:t>i</a:t>
            </a:r>
            <a:r>
              <a:rPr dirty="0" sz="1200" spc="-5">
                <a:latin typeface="微软雅黑"/>
                <a:cs typeface="微软雅黑"/>
              </a:rPr>
              <a:t>n</a:t>
            </a:r>
            <a:r>
              <a:rPr dirty="0" sz="1200" spc="250">
                <a:latin typeface="微软雅黑"/>
                <a:cs typeface="微软雅黑"/>
              </a:rPr>
              <a:t>/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01504" y="1778039"/>
            <a:ext cx="2153920" cy="3673475"/>
          </a:xfrm>
          <a:custGeom>
            <a:avLst/>
            <a:gdLst/>
            <a:ahLst/>
            <a:cxnLst/>
            <a:rect l="l" t="t" r="r" b="b"/>
            <a:pathLst>
              <a:path w="2153920" h="3673475">
                <a:moveTo>
                  <a:pt x="0" y="99539"/>
                </a:moveTo>
                <a:lnTo>
                  <a:pt x="7822" y="60794"/>
                </a:lnTo>
                <a:lnTo>
                  <a:pt x="29154" y="29154"/>
                </a:lnTo>
                <a:lnTo>
                  <a:pt x="60794" y="7822"/>
                </a:lnTo>
                <a:lnTo>
                  <a:pt x="99540" y="0"/>
                </a:lnTo>
                <a:lnTo>
                  <a:pt x="2054100" y="0"/>
                </a:lnTo>
                <a:lnTo>
                  <a:pt x="2092845" y="7822"/>
                </a:lnTo>
                <a:lnTo>
                  <a:pt x="2124485" y="29154"/>
                </a:lnTo>
                <a:lnTo>
                  <a:pt x="2145817" y="60794"/>
                </a:lnTo>
                <a:lnTo>
                  <a:pt x="2153640" y="99539"/>
                </a:lnTo>
                <a:lnTo>
                  <a:pt x="2153640" y="3573558"/>
                </a:lnTo>
                <a:lnTo>
                  <a:pt x="2145817" y="3612303"/>
                </a:lnTo>
                <a:lnTo>
                  <a:pt x="2124485" y="3643943"/>
                </a:lnTo>
                <a:lnTo>
                  <a:pt x="2092845" y="3665275"/>
                </a:lnTo>
                <a:lnTo>
                  <a:pt x="2054100" y="3673098"/>
                </a:lnTo>
                <a:lnTo>
                  <a:pt x="99540" y="3673098"/>
                </a:lnTo>
                <a:lnTo>
                  <a:pt x="60794" y="3665275"/>
                </a:lnTo>
                <a:lnTo>
                  <a:pt x="29154" y="3643943"/>
                </a:lnTo>
                <a:lnTo>
                  <a:pt x="7822" y="3612303"/>
                </a:lnTo>
                <a:lnTo>
                  <a:pt x="0" y="3573558"/>
                </a:lnTo>
                <a:lnTo>
                  <a:pt x="0" y="99539"/>
                </a:lnTo>
                <a:close/>
              </a:path>
            </a:pathLst>
          </a:custGeom>
          <a:ln w="762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62410" y="1816925"/>
            <a:ext cx="9222105" cy="3673475"/>
          </a:xfrm>
          <a:custGeom>
            <a:avLst/>
            <a:gdLst/>
            <a:ahLst/>
            <a:cxnLst/>
            <a:rect l="l" t="t" r="r" b="b"/>
            <a:pathLst>
              <a:path w="9222105" h="3673475">
                <a:moveTo>
                  <a:pt x="0" y="169766"/>
                </a:moveTo>
                <a:lnTo>
                  <a:pt x="6064" y="124635"/>
                </a:lnTo>
                <a:lnTo>
                  <a:pt x="23178" y="84082"/>
                </a:lnTo>
                <a:lnTo>
                  <a:pt x="49723" y="49723"/>
                </a:lnTo>
                <a:lnTo>
                  <a:pt x="84082" y="23178"/>
                </a:lnTo>
                <a:lnTo>
                  <a:pt x="124635" y="6064"/>
                </a:lnTo>
                <a:lnTo>
                  <a:pt x="169766" y="0"/>
                </a:lnTo>
                <a:lnTo>
                  <a:pt x="9051725" y="0"/>
                </a:lnTo>
                <a:lnTo>
                  <a:pt x="9096855" y="6064"/>
                </a:lnTo>
                <a:lnTo>
                  <a:pt x="9137409" y="23178"/>
                </a:lnTo>
                <a:lnTo>
                  <a:pt x="9171767" y="49723"/>
                </a:lnTo>
                <a:lnTo>
                  <a:pt x="9198313" y="84082"/>
                </a:lnTo>
                <a:lnTo>
                  <a:pt x="9215426" y="124635"/>
                </a:lnTo>
                <a:lnTo>
                  <a:pt x="9221491" y="169766"/>
                </a:lnTo>
                <a:lnTo>
                  <a:pt x="9221491" y="3503331"/>
                </a:lnTo>
                <a:lnTo>
                  <a:pt x="9215426" y="3548461"/>
                </a:lnTo>
                <a:lnTo>
                  <a:pt x="9198313" y="3589015"/>
                </a:lnTo>
                <a:lnTo>
                  <a:pt x="9171767" y="3623374"/>
                </a:lnTo>
                <a:lnTo>
                  <a:pt x="9137409" y="3649919"/>
                </a:lnTo>
                <a:lnTo>
                  <a:pt x="9096855" y="3667033"/>
                </a:lnTo>
                <a:lnTo>
                  <a:pt x="9051725" y="3673098"/>
                </a:lnTo>
                <a:lnTo>
                  <a:pt x="169766" y="3673098"/>
                </a:lnTo>
                <a:lnTo>
                  <a:pt x="124635" y="3667033"/>
                </a:lnTo>
                <a:lnTo>
                  <a:pt x="84082" y="3649919"/>
                </a:lnTo>
                <a:lnTo>
                  <a:pt x="49723" y="3623374"/>
                </a:lnTo>
                <a:lnTo>
                  <a:pt x="23178" y="3589015"/>
                </a:lnTo>
                <a:lnTo>
                  <a:pt x="6064" y="3548461"/>
                </a:lnTo>
                <a:lnTo>
                  <a:pt x="0" y="3503331"/>
                </a:lnTo>
                <a:lnTo>
                  <a:pt x="0" y="169766"/>
                </a:lnTo>
                <a:close/>
              </a:path>
            </a:pathLst>
          </a:custGeom>
          <a:ln w="76200">
            <a:solidFill>
              <a:srgbClr val="FF8427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8391" y="2421360"/>
            <a:ext cx="1773555" cy="1179830"/>
          </a:xfrm>
          <a:custGeom>
            <a:avLst/>
            <a:gdLst/>
            <a:ahLst/>
            <a:cxnLst/>
            <a:rect l="l" t="t" r="r" b="b"/>
            <a:pathLst>
              <a:path w="1773555" h="1179829">
                <a:moveTo>
                  <a:pt x="1576921" y="0"/>
                </a:moveTo>
                <a:lnTo>
                  <a:pt x="196610" y="0"/>
                </a:lnTo>
                <a:lnTo>
                  <a:pt x="151529" y="5192"/>
                </a:lnTo>
                <a:lnTo>
                  <a:pt x="110146" y="19983"/>
                </a:lnTo>
                <a:lnTo>
                  <a:pt x="73640" y="43193"/>
                </a:lnTo>
                <a:lnTo>
                  <a:pt x="43193" y="73640"/>
                </a:lnTo>
                <a:lnTo>
                  <a:pt x="19983" y="110146"/>
                </a:lnTo>
                <a:lnTo>
                  <a:pt x="5192" y="151529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3" y="1105999"/>
                </a:lnTo>
                <a:lnTo>
                  <a:pt x="73640" y="1136447"/>
                </a:lnTo>
                <a:lnTo>
                  <a:pt x="110146" y="1159656"/>
                </a:lnTo>
                <a:lnTo>
                  <a:pt x="151529" y="1174448"/>
                </a:lnTo>
                <a:lnTo>
                  <a:pt x="196610" y="1179640"/>
                </a:lnTo>
                <a:lnTo>
                  <a:pt x="1576921" y="1179640"/>
                </a:lnTo>
                <a:lnTo>
                  <a:pt x="1622002" y="1174448"/>
                </a:lnTo>
                <a:lnTo>
                  <a:pt x="1663385" y="1159656"/>
                </a:lnTo>
                <a:lnTo>
                  <a:pt x="1699891" y="1136447"/>
                </a:lnTo>
                <a:lnTo>
                  <a:pt x="1730338" y="1105999"/>
                </a:lnTo>
                <a:lnTo>
                  <a:pt x="1753548" y="1069494"/>
                </a:lnTo>
                <a:lnTo>
                  <a:pt x="1768339" y="1028110"/>
                </a:lnTo>
                <a:lnTo>
                  <a:pt x="1773532" y="983029"/>
                </a:lnTo>
                <a:lnTo>
                  <a:pt x="1773532" y="196611"/>
                </a:lnTo>
                <a:lnTo>
                  <a:pt x="1768339" y="151529"/>
                </a:lnTo>
                <a:lnTo>
                  <a:pt x="1753548" y="110146"/>
                </a:lnTo>
                <a:lnTo>
                  <a:pt x="1730338" y="73640"/>
                </a:lnTo>
                <a:lnTo>
                  <a:pt x="1699891" y="43193"/>
                </a:lnTo>
                <a:lnTo>
                  <a:pt x="1663385" y="19983"/>
                </a:lnTo>
                <a:lnTo>
                  <a:pt x="1622002" y="5192"/>
                </a:lnTo>
                <a:lnTo>
                  <a:pt x="1576921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38256" y="2618739"/>
            <a:ext cx="1194435" cy="76644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algn="just" marL="38100" marR="5080" indent="-25400">
              <a:lnSpc>
                <a:spcPct val="101899"/>
              </a:lnSpc>
              <a:spcBef>
                <a:spcPts val="60"/>
              </a:spcBef>
            </a:pPr>
            <a:r>
              <a:rPr dirty="0" sz="1600" spc="-5">
                <a:latin typeface="微软雅黑"/>
                <a:cs typeface="微软雅黑"/>
              </a:rPr>
              <a:t>GNN</a:t>
            </a:r>
            <a:r>
              <a:rPr dirty="0" sz="1600" spc="-75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Model  Generation  </a:t>
            </a:r>
            <a:r>
              <a:rPr dirty="0" sz="1600" spc="30">
                <a:latin typeface="微软雅黑"/>
                <a:cs typeface="微软雅黑"/>
              </a:rPr>
              <a:t>Embeddin/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40116" y="493268"/>
            <a:ext cx="38544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  <a:tab pos="3060700" algn="l"/>
              </a:tabLst>
            </a:pP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C</a:t>
            </a:r>
            <a:r>
              <a:rPr dirty="0" sz="2400" spc="114" b="1">
                <a:solidFill>
                  <a:srgbClr val="000000"/>
                </a:solidFill>
                <a:latin typeface="微软雅黑"/>
                <a:cs typeface="微软雅黑"/>
              </a:rPr>
              <a:t>l</a:t>
            </a:r>
            <a:r>
              <a:rPr dirty="0" sz="2400" spc="145" b="1">
                <a:solidFill>
                  <a:srgbClr val="000000"/>
                </a:solidFill>
                <a:latin typeface="微软雅黑"/>
                <a:cs typeface="微软雅黑"/>
              </a:rPr>
              <a:t>o</a:t>
            </a:r>
            <a:r>
              <a:rPr dirty="0" sz="2400" spc="140" b="1">
                <a:solidFill>
                  <a:srgbClr val="000000"/>
                </a:solidFill>
                <a:latin typeface="微软雅黑"/>
                <a:cs typeface="微软雅黑"/>
              </a:rPr>
              <a:t>2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d	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Th</a:t>
            </a:r>
            <a:r>
              <a:rPr dirty="0" sz="2400" spc="114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1420" b="1">
                <a:solidFill>
                  <a:srgbClr val="000000"/>
                </a:solidFill>
                <a:latin typeface="微软雅黑"/>
                <a:cs typeface="微软雅黑"/>
              </a:rPr>
              <a:t>-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23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Th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	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F</a:t>
            </a:r>
            <a:r>
              <a:rPr dirty="0" sz="2400" spc="114" b="1">
                <a:solidFill>
                  <a:srgbClr val="000000"/>
                </a:solidFill>
                <a:latin typeface="微软雅黑"/>
                <a:cs typeface="微软雅黑"/>
              </a:rPr>
              <a:t>l</a:t>
            </a:r>
            <a:r>
              <a:rPr dirty="0" sz="2400" spc="110" b="1">
                <a:solidFill>
                  <a:srgbClr val="000000"/>
                </a:solidFill>
                <a:latin typeface="微软雅黑"/>
                <a:cs typeface="微软雅黑"/>
              </a:rPr>
              <a:t>ow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21923" y="2895996"/>
            <a:ext cx="598170" cy="228600"/>
          </a:xfrm>
          <a:custGeom>
            <a:avLst/>
            <a:gdLst/>
            <a:ahLst/>
            <a:cxnLst/>
            <a:rect l="l" t="t" r="r" b="b"/>
            <a:pathLst>
              <a:path w="598169" h="228600">
                <a:moveTo>
                  <a:pt x="369108" y="0"/>
                </a:moveTo>
                <a:lnTo>
                  <a:pt x="369107" y="228600"/>
                </a:lnTo>
                <a:lnTo>
                  <a:pt x="521510" y="152400"/>
                </a:lnTo>
                <a:lnTo>
                  <a:pt x="407208" y="152400"/>
                </a:lnTo>
                <a:lnTo>
                  <a:pt x="407208" y="76200"/>
                </a:lnTo>
                <a:lnTo>
                  <a:pt x="521507" y="76200"/>
                </a:lnTo>
                <a:lnTo>
                  <a:pt x="369108" y="0"/>
                </a:lnTo>
                <a:close/>
              </a:path>
              <a:path w="598169" h="228600">
                <a:moveTo>
                  <a:pt x="369108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369108" y="152400"/>
                </a:lnTo>
                <a:lnTo>
                  <a:pt x="369108" y="76200"/>
                </a:lnTo>
                <a:close/>
              </a:path>
              <a:path w="598169" h="228600">
                <a:moveTo>
                  <a:pt x="521507" y="76200"/>
                </a:moveTo>
                <a:lnTo>
                  <a:pt x="407208" y="76200"/>
                </a:lnTo>
                <a:lnTo>
                  <a:pt x="407208" y="152400"/>
                </a:lnTo>
                <a:lnTo>
                  <a:pt x="521510" y="152400"/>
                </a:lnTo>
                <a:lnTo>
                  <a:pt x="597708" y="114301"/>
                </a:lnTo>
                <a:lnTo>
                  <a:pt x="521507" y="7620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19632" y="2421360"/>
            <a:ext cx="1773555" cy="1179830"/>
          </a:xfrm>
          <a:custGeom>
            <a:avLst/>
            <a:gdLst/>
            <a:ahLst/>
            <a:cxnLst/>
            <a:rect l="l" t="t" r="r" b="b"/>
            <a:pathLst>
              <a:path w="1773554" h="1179829">
                <a:moveTo>
                  <a:pt x="1576920" y="0"/>
                </a:moveTo>
                <a:lnTo>
                  <a:pt x="196609" y="0"/>
                </a:lnTo>
                <a:lnTo>
                  <a:pt x="151529" y="5192"/>
                </a:lnTo>
                <a:lnTo>
                  <a:pt x="110145" y="19983"/>
                </a:lnTo>
                <a:lnTo>
                  <a:pt x="73640" y="43193"/>
                </a:lnTo>
                <a:lnTo>
                  <a:pt x="43192" y="73640"/>
                </a:lnTo>
                <a:lnTo>
                  <a:pt x="19983" y="110146"/>
                </a:lnTo>
                <a:lnTo>
                  <a:pt x="5192" y="151529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2" y="1105999"/>
                </a:lnTo>
                <a:lnTo>
                  <a:pt x="73640" y="1136447"/>
                </a:lnTo>
                <a:lnTo>
                  <a:pt x="110145" y="1159656"/>
                </a:lnTo>
                <a:lnTo>
                  <a:pt x="151529" y="1174448"/>
                </a:lnTo>
                <a:lnTo>
                  <a:pt x="196609" y="1179640"/>
                </a:lnTo>
                <a:lnTo>
                  <a:pt x="1576920" y="1179640"/>
                </a:lnTo>
                <a:lnTo>
                  <a:pt x="1622001" y="1174448"/>
                </a:lnTo>
                <a:lnTo>
                  <a:pt x="1663385" y="1159656"/>
                </a:lnTo>
                <a:lnTo>
                  <a:pt x="1699890" y="1136447"/>
                </a:lnTo>
                <a:lnTo>
                  <a:pt x="1730337" y="1105999"/>
                </a:lnTo>
                <a:lnTo>
                  <a:pt x="1753547" y="1069494"/>
                </a:lnTo>
                <a:lnTo>
                  <a:pt x="1768338" y="1028110"/>
                </a:lnTo>
                <a:lnTo>
                  <a:pt x="1773530" y="983029"/>
                </a:lnTo>
                <a:lnTo>
                  <a:pt x="1773530" y="196611"/>
                </a:lnTo>
                <a:lnTo>
                  <a:pt x="1768338" y="151529"/>
                </a:lnTo>
                <a:lnTo>
                  <a:pt x="1753547" y="110146"/>
                </a:lnTo>
                <a:lnTo>
                  <a:pt x="1730337" y="73640"/>
                </a:lnTo>
                <a:lnTo>
                  <a:pt x="1699890" y="43193"/>
                </a:lnTo>
                <a:lnTo>
                  <a:pt x="1663385" y="19983"/>
                </a:lnTo>
                <a:lnTo>
                  <a:pt x="1622001" y="5192"/>
                </a:lnTo>
                <a:lnTo>
                  <a:pt x="157692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593164" y="2895996"/>
            <a:ext cx="598170" cy="228600"/>
          </a:xfrm>
          <a:custGeom>
            <a:avLst/>
            <a:gdLst/>
            <a:ahLst/>
            <a:cxnLst/>
            <a:rect l="l" t="t" r="r" b="b"/>
            <a:pathLst>
              <a:path w="598170" h="228600">
                <a:moveTo>
                  <a:pt x="369108" y="0"/>
                </a:moveTo>
                <a:lnTo>
                  <a:pt x="369107" y="228600"/>
                </a:lnTo>
                <a:lnTo>
                  <a:pt x="521510" y="152400"/>
                </a:lnTo>
                <a:lnTo>
                  <a:pt x="407208" y="152400"/>
                </a:lnTo>
                <a:lnTo>
                  <a:pt x="407208" y="76200"/>
                </a:lnTo>
                <a:lnTo>
                  <a:pt x="521507" y="76200"/>
                </a:lnTo>
                <a:lnTo>
                  <a:pt x="369108" y="0"/>
                </a:lnTo>
                <a:close/>
              </a:path>
              <a:path w="598170" h="228600">
                <a:moveTo>
                  <a:pt x="369108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369108" y="152400"/>
                </a:lnTo>
                <a:lnTo>
                  <a:pt x="369108" y="76200"/>
                </a:lnTo>
                <a:close/>
              </a:path>
              <a:path w="598170" h="228600">
                <a:moveTo>
                  <a:pt x="521507" y="76200"/>
                </a:moveTo>
                <a:lnTo>
                  <a:pt x="407208" y="76200"/>
                </a:lnTo>
                <a:lnTo>
                  <a:pt x="407208" y="152400"/>
                </a:lnTo>
                <a:lnTo>
                  <a:pt x="521510" y="152400"/>
                </a:lnTo>
                <a:lnTo>
                  <a:pt x="597708" y="114301"/>
                </a:lnTo>
                <a:lnTo>
                  <a:pt x="521507" y="7620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90872" y="2421360"/>
            <a:ext cx="1978660" cy="1179830"/>
          </a:xfrm>
          <a:custGeom>
            <a:avLst/>
            <a:gdLst/>
            <a:ahLst/>
            <a:cxnLst/>
            <a:rect l="l" t="t" r="r" b="b"/>
            <a:pathLst>
              <a:path w="1978659" h="1179829">
                <a:moveTo>
                  <a:pt x="1781938" y="0"/>
                </a:moveTo>
                <a:lnTo>
                  <a:pt x="196609" y="0"/>
                </a:lnTo>
                <a:lnTo>
                  <a:pt x="151529" y="5192"/>
                </a:lnTo>
                <a:lnTo>
                  <a:pt x="110145" y="19983"/>
                </a:lnTo>
                <a:lnTo>
                  <a:pt x="73640" y="43193"/>
                </a:lnTo>
                <a:lnTo>
                  <a:pt x="43192" y="73640"/>
                </a:lnTo>
                <a:lnTo>
                  <a:pt x="19983" y="110146"/>
                </a:lnTo>
                <a:lnTo>
                  <a:pt x="5192" y="151529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2" y="1105999"/>
                </a:lnTo>
                <a:lnTo>
                  <a:pt x="73640" y="1136447"/>
                </a:lnTo>
                <a:lnTo>
                  <a:pt x="110145" y="1159656"/>
                </a:lnTo>
                <a:lnTo>
                  <a:pt x="151529" y="1174448"/>
                </a:lnTo>
                <a:lnTo>
                  <a:pt x="196609" y="1179640"/>
                </a:lnTo>
                <a:lnTo>
                  <a:pt x="1781938" y="1179640"/>
                </a:lnTo>
                <a:lnTo>
                  <a:pt x="1827019" y="1174448"/>
                </a:lnTo>
                <a:lnTo>
                  <a:pt x="1868402" y="1159656"/>
                </a:lnTo>
                <a:lnTo>
                  <a:pt x="1904908" y="1136447"/>
                </a:lnTo>
                <a:lnTo>
                  <a:pt x="1935356" y="1105999"/>
                </a:lnTo>
                <a:lnTo>
                  <a:pt x="1958565" y="1069494"/>
                </a:lnTo>
                <a:lnTo>
                  <a:pt x="1973356" y="1028110"/>
                </a:lnTo>
                <a:lnTo>
                  <a:pt x="1978549" y="983029"/>
                </a:lnTo>
                <a:lnTo>
                  <a:pt x="1978549" y="196611"/>
                </a:lnTo>
                <a:lnTo>
                  <a:pt x="1973356" y="151529"/>
                </a:lnTo>
                <a:lnTo>
                  <a:pt x="1958565" y="110146"/>
                </a:lnTo>
                <a:lnTo>
                  <a:pt x="1935356" y="73640"/>
                </a:lnTo>
                <a:lnTo>
                  <a:pt x="1904908" y="43193"/>
                </a:lnTo>
                <a:lnTo>
                  <a:pt x="1868402" y="19983"/>
                </a:lnTo>
                <a:lnTo>
                  <a:pt x="1827019" y="5192"/>
                </a:lnTo>
                <a:lnTo>
                  <a:pt x="1781938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337120" y="2496820"/>
            <a:ext cx="1685925" cy="10071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600" spc="50">
                <a:latin typeface="微软雅黑"/>
                <a:cs typeface="微软雅黑"/>
              </a:rPr>
              <a:t>Minin/  </a:t>
            </a:r>
            <a:r>
              <a:rPr dirty="0" sz="1600" spc="15">
                <a:latin typeface="微软雅黑"/>
                <a:cs typeface="微软雅黑"/>
              </a:rPr>
              <a:t>Correspondin/  </a:t>
            </a:r>
            <a:r>
              <a:rPr dirty="0" sz="1600" spc="40">
                <a:latin typeface="微软雅黑"/>
                <a:cs typeface="微软雅黑"/>
              </a:rPr>
              <a:t>cate/ory  </a:t>
            </a:r>
            <a:r>
              <a:rPr dirty="0" sz="1600" spc="-35">
                <a:latin typeface="微软雅黑"/>
                <a:cs typeface="微软雅黑"/>
              </a:rPr>
              <a:t>k</a:t>
            </a:r>
            <a:r>
              <a:rPr dirty="0" sz="1600">
                <a:latin typeface="微软雅黑"/>
                <a:cs typeface="微软雅黑"/>
              </a:rPr>
              <a:t>ey</a:t>
            </a:r>
            <a:r>
              <a:rPr dirty="0" sz="1600" spc="-10">
                <a:latin typeface="微软雅黑"/>
                <a:cs typeface="微软雅黑"/>
              </a:rPr>
              <a:t>w</a:t>
            </a:r>
            <a:r>
              <a:rPr dirty="0" sz="1600" spc="-5">
                <a:latin typeface="微软雅黑"/>
                <a:cs typeface="微软雅黑"/>
              </a:rPr>
              <a:t>o</a:t>
            </a:r>
            <a:r>
              <a:rPr dirty="0" sz="1600" spc="-25">
                <a:latin typeface="微软雅黑"/>
                <a:cs typeface="微软雅黑"/>
              </a:rPr>
              <a:t>r</a:t>
            </a:r>
            <a:r>
              <a:rPr dirty="0" sz="1600">
                <a:latin typeface="微软雅黑"/>
                <a:cs typeface="微软雅黑"/>
              </a:rPr>
              <a:t>d</a:t>
            </a:r>
            <a:r>
              <a:rPr dirty="0" sz="1600" spc="-5">
                <a:latin typeface="微软雅黑"/>
                <a:cs typeface="微软雅黑"/>
              </a:rPr>
              <a:t>s</a:t>
            </a:r>
            <a:r>
              <a:rPr dirty="0" sz="1600">
                <a:latin typeface="微软雅黑"/>
                <a:cs typeface="微软雅黑"/>
              </a:rPr>
              <a:t>/phra</a:t>
            </a:r>
            <a:r>
              <a:rPr dirty="0" sz="1600" spc="-5">
                <a:latin typeface="微软雅黑"/>
                <a:cs typeface="微软雅黑"/>
              </a:rPr>
              <a:t>s</a:t>
            </a:r>
            <a:r>
              <a:rPr dirty="0" sz="1600">
                <a:latin typeface="微软雅黑"/>
                <a:cs typeface="微软雅黑"/>
              </a:rPr>
              <a:t>e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562113" y="2421360"/>
            <a:ext cx="1773555" cy="1179830"/>
          </a:xfrm>
          <a:custGeom>
            <a:avLst/>
            <a:gdLst/>
            <a:ahLst/>
            <a:cxnLst/>
            <a:rect l="l" t="t" r="r" b="b"/>
            <a:pathLst>
              <a:path w="1773554" h="1179829">
                <a:moveTo>
                  <a:pt x="1576920" y="0"/>
                </a:moveTo>
                <a:lnTo>
                  <a:pt x="196611" y="0"/>
                </a:lnTo>
                <a:lnTo>
                  <a:pt x="151530" y="5192"/>
                </a:lnTo>
                <a:lnTo>
                  <a:pt x="110146" y="19983"/>
                </a:lnTo>
                <a:lnTo>
                  <a:pt x="73641" y="43193"/>
                </a:lnTo>
                <a:lnTo>
                  <a:pt x="43193" y="73640"/>
                </a:lnTo>
                <a:lnTo>
                  <a:pt x="19983" y="110146"/>
                </a:lnTo>
                <a:lnTo>
                  <a:pt x="5192" y="151529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3" y="1105999"/>
                </a:lnTo>
                <a:lnTo>
                  <a:pt x="73641" y="1136447"/>
                </a:lnTo>
                <a:lnTo>
                  <a:pt x="110146" y="1159656"/>
                </a:lnTo>
                <a:lnTo>
                  <a:pt x="151530" y="1174448"/>
                </a:lnTo>
                <a:lnTo>
                  <a:pt x="196611" y="1179640"/>
                </a:lnTo>
                <a:lnTo>
                  <a:pt x="1576920" y="1179640"/>
                </a:lnTo>
                <a:lnTo>
                  <a:pt x="1622002" y="1174448"/>
                </a:lnTo>
                <a:lnTo>
                  <a:pt x="1663385" y="1159656"/>
                </a:lnTo>
                <a:lnTo>
                  <a:pt x="1699891" y="1136447"/>
                </a:lnTo>
                <a:lnTo>
                  <a:pt x="1730339" y="1105999"/>
                </a:lnTo>
                <a:lnTo>
                  <a:pt x="1753548" y="1069494"/>
                </a:lnTo>
                <a:lnTo>
                  <a:pt x="1768339" y="1028110"/>
                </a:lnTo>
                <a:lnTo>
                  <a:pt x="1773532" y="983029"/>
                </a:lnTo>
                <a:lnTo>
                  <a:pt x="1773532" y="196611"/>
                </a:lnTo>
                <a:lnTo>
                  <a:pt x="1768339" y="151529"/>
                </a:lnTo>
                <a:lnTo>
                  <a:pt x="1753548" y="110146"/>
                </a:lnTo>
                <a:lnTo>
                  <a:pt x="1730339" y="73640"/>
                </a:lnTo>
                <a:lnTo>
                  <a:pt x="1699891" y="43193"/>
                </a:lnTo>
                <a:lnTo>
                  <a:pt x="1663385" y="19983"/>
                </a:lnTo>
                <a:lnTo>
                  <a:pt x="1622002" y="5192"/>
                </a:lnTo>
                <a:lnTo>
                  <a:pt x="157692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823563" y="2496820"/>
            <a:ext cx="1250950" cy="10071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 indent="-635">
              <a:lnSpc>
                <a:spcPct val="100800"/>
              </a:lnSpc>
              <a:spcBef>
                <a:spcPts val="85"/>
              </a:spcBef>
            </a:pPr>
            <a:r>
              <a:rPr dirty="0" sz="1600" spc="-5">
                <a:latin typeface="微软雅黑"/>
                <a:cs typeface="微软雅黑"/>
              </a:rPr>
              <a:t>Generate  </a:t>
            </a:r>
            <a:r>
              <a:rPr dirty="0" sz="1600" spc="-70">
                <a:latin typeface="微软雅黑"/>
                <a:cs typeface="微软雅黑"/>
              </a:rPr>
              <a:t>P</a:t>
            </a:r>
            <a:r>
              <a:rPr dirty="0" sz="1600" spc="0">
                <a:latin typeface="微软雅黑"/>
                <a:cs typeface="微软雅黑"/>
              </a:rPr>
              <a:t>e</a:t>
            </a:r>
            <a:r>
              <a:rPr dirty="0" sz="1600" spc="5">
                <a:latin typeface="微软雅黑"/>
                <a:cs typeface="微软雅黑"/>
              </a:rPr>
              <a:t>r</a:t>
            </a:r>
            <a:r>
              <a:rPr dirty="0" sz="1600" spc="-5">
                <a:latin typeface="微软雅黑"/>
                <a:cs typeface="微软雅黑"/>
              </a:rPr>
              <a:t>s</a:t>
            </a:r>
            <a:r>
              <a:rPr dirty="0" sz="1600" spc="-10">
                <a:latin typeface="微软雅黑"/>
                <a:cs typeface="微软雅黑"/>
              </a:rPr>
              <a:t>o</a:t>
            </a:r>
            <a:r>
              <a:rPr dirty="0" sz="1600">
                <a:latin typeface="微软雅黑"/>
                <a:cs typeface="微软雅黑"/>
              </a:rPr>
              <a:t>na</a:t>
            </a:r>
            <a:r>
              <a:rPr dirty="0" sz="1600" spc="-5">
                <a:latin typeface="微软雅黑"/>
                <a:cs typeface="微软雅黑"/>
              </a:rPr>
              <a:t>li</a:t>
            </a:r>
            <a:r>
              <a:rPr dirty="0" sz="1600">
                <a:latin typeface="微软雅黑"/>
                <a:cs typeface="微软雅黑"/>
              </a:rPr>
              <a:t>zed  </a:t>
            </a:r>
            <a:r>
              <a:rPr dirty="0" sz="1600" spc="-5">
                <a:latin typeface="微软雅黑"/>
                <a:cs typeface="微软雅黑"/>
              </a:rPr>
              <a:t>themes </a:t>
            </a:r>
            <a:r>
              <a:rPr dirty="0" sz="1600">
                <a:latin typeface="微软雅黑"/>
                <a:cs typeface="微软雅黑"/>
              </a:rPr>
              <a:t>and  </a:t>
            </a:r>
            <a:r>
              <a:rPr dirty="0" sz="1600" spc="50">
                <a:latin typeface="微软雅黑"/>
                <a:cs typeface="微软雅黑"/>
              </a:rPr>
              <a:t>ima/es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169336" y="2896511"/>
            <a:ext cx="393065" cy="228600"/>
          </a:xfrm>
          <a:custGeom>
            <a:avLst/>
            <a:gdLst/>
            <a:ahLst/>
            <a:cxnLst/>
            <a:rect l="l" t="t" r="r" b="b"/>
            <a:pathLst>
              <a:path w="393065" h="228600">
                <a:moveTo>
                  <a:pt x="317007" y="76113"/>
                </a:moveTo>
                <a:lnTo>
                  <a:pt x="202191" y="76113"/>
                </a:lnTo>
                <a:lnTo>
                  <a:pt x="202363" y="152313"/>
                </a:lnTo>
                <a:lnTo>
                  <a:pt x="164263" y="152399"/>
                </a:lnTo>
                <a:lnTo>
                  <a:pt x="164434" y="228600"/>
                </a:lnTo>
                <a:lnTo>
                  <a:pt x="392776" y="113785"/>
                </a:lnTo>
                <a:lnTo>
                  <a:pt x="317007" y="76113"/>
                </a:lnTo>
                <a:close/>
              </a:path>
              <a:path w="393065" h="228600">
                <a:moveTo>
                  <a:pt x="164091" y="76199"/>
                </a:moveTo>
                <a:lnTo>
                  <a:pt x="0" y="76569"/>
                </a:lnTo>
                <a:lnTo>
                  <a:pt x="171" y="152769"/>
                </a:lnTo>
                <a:lnTo>
                  <a:pt x="164263" y="152399"/>
                </a:lnTo>
                <a:lnTo>
                  <a:pt x="164091" y="76199"/>
                </a:lnTo>
                <a:close/>
              </a:path>
              <a:path w="393065" h="228600">
                <a:moveTo>
                  <a:pt x="202191" y="76113"/>
                </a:moveTo>
                <a:lnTo>
                  <a:pt x="164091" y="76199"/>
                </a:lnTo>
                <a:lnTo>
                  <a:pt x="164263" y="152399"/>
                </a:lnTo>
                <a:lnTo>
                  <a:pt x="202363" y="152313"/>
                </a:lnTo>
                <a:lnTo>
                  <a:pt x="202191" y="76113"/>
                </a:lnTo>
                <a:close/>
              </a:path>
              <a:path w="393065" h="228600">
                <a:moveTo>
                  <a:pt x="163920" y="0"/>
                </a:moveTo>
                <a:lnTo>
                  <a:pt x="164091" y="76199"/>
                </a:lnTo>
                <a:lnTo>
                  <a:pt x="317007" y="76113"/>
                </a:lnTo>
                <a:lnTo>
                  <a:pt x="163920" y="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76961" y="1947164"/>
            <a:ext cx="2301875" cy="1675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35" b="1">
                <a:latin typeface="微软雅黑"/>
                <a:cs typeface="微软雅黑"/>
              </a:rPr>
              <a:t>Prod2c1-Side</a:t>
            </a:r>
            <a:endParaRPr sz="1800">
              <a:latin typeface="微软雅黑"/>
              <a:cs typeface="微软雅黑"/>
            </a:endParaRPr>
          </a:p>
          <a:p>
            <a:pPr algn="ctr" marL="969644" marR="5080" indent="-635">
              <a:lnSpc>
                <a:spcPct val="100299"/>
              </a:lnSpc>
              <a:spcBef>
                <a:spcPts val="1200"/>
              </a:spcBef>
            </a:pPr>
            <a:r>
              <a:rPr dirty="0" sz="1600" spc="-45">
                <a:latin typeface="微软雅黑"/>
                <a:cs typeface="微软雅黑"/>
              </a:rPr>
              <a:t>Tree </a:t>
            </a:r>
            <a:r>
              <a:rPr dirty="0" sz="1600" spc="80">
                <a:latin typeface="微软雅黑"/>
                <a:cs typeface="微软雅黑"/>
              </a:rPr>
              <a:t>ased  </a:t>
            </a:r>
            <a:r>
              <a:rPr dirty="0" sz="1600" spc="25">
                <a:latin typeface="微软雅黑"/>
                <a:cs typeface="微软雅黑"/>
              </a:rPr>
              <a:t>Clusterin/  </a:t>
            </a:r>
            <a:r>
              <a:rPr dirty="0" sz="1600" spc="85">
                <a:latin typeface="微软雅黑"/>
                <a:cs typeface="微软雅黑"/>
              </a:rPr>
              <a:t>learnin/</a:t>
            </a:r>
            <a:r>
              <a:rPr dirty="0" sz="1600" spc="-7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user  </a:t>
            </a:r>
            <a:r>
              <a:rPr dirty="0" sz="1600" spc="-10">
                <a:latin typeface="微软雅黑"/>
                <a:cs typeface="微软雅黑"/>
              </a:rPr>
              <a:t>interest  </a:t>
            </a:r>
            <a:r>
              <a:rPr dirty="0" sz="1600" spc="40">
                <a:latin typeface="微软雅黑"/>
                <a:cs typeface="微软雅黑"/>
              </a:rPr>
              <a:t>cate/ory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129331" y="3530668"/>
            <a:ext cx="782955" cy="724535"/>
          </a:xfrm>
          <a:custGeom>
            <a:avLst/>
            <a:gdLst/>
            <a:ahLst/>
            <a:cxnLst/>
            <a:rect l="l" t="t" r="r" b="b"/>
            <a:pathLst>
              <a:path w="782955" h="724535">
                <a:moveTo>
                  <a:pt x="554290" y="495467"/>
                </a:moveTo>
                <a:lnTo>
                  <a:pt x="554290" y="724067"/>
                </a:lnTo>
                <a:lnTo>
                  <a:pt x="706690" y="647867"/>
                </a:lnTo>
                <a:lnTo>
                  <a:pt x="592390" y="647867"/>
                </a:lnTo>
                <a:lnTo>
                  <a:pt x="592390" y="571667"/>
                </a:lnTo>
                <a:lnTo>
                  <a:pt x="706690" y="571667"/>
                </a:lnTo>
                <a:lnTo>
                  <a:pt x="554290" y="495467"/>
                </a:lnTo>
                <a:close/>
              </a:path>
              <a:path w="782955" h="724535">
                <a:moveTo>
                  <a:pt x="353352" y="38100"/>
                </a:moveTo>
                <a:lnTo>
                  <a:pt x="353352" y="609767"/>
                </a:lnTo>
                <a:lnTo>
                  <a:pt x="356346" y="624597"/>
                </a:lnTo>
                <a:lnTo>
                  <a:pt x="364511" y="636708"/>
                </a:lnTo>
                <a:lnTo>
                  <a:pt x="376622" y="644873"/>
                </a:lnTo>
                <a:lnTo>
                  <a:pt x="391452" y="647867"/>
                </a:lnTo>
                <a:lnTo>
                  <a:pt x="554290" y="647867"/>
                </a:lnTo>
                <a:lnTo>
                  <a:pt x="554290" y="609767"/>
                </a:lnTo>
                <a:lnTo>
                  <a:pt x="429552" y="609767"/>
                </a:lnTo>
                <a:lnTo>
                  <a:pt x="391452" y="571667"/>
                </a:lnTo>
                <a:lnTo>
                  <a:pt x="429552" y="571667"/>
                </a:lnTo>
                <a:lnTo>
                  <a:pt x="429552" y="76200"/>
                </a:lnTo>
                <a:lnTo>
                  <a:pt x="391452" y="76200"/>
                </a:lnTo>
                <a:lnTo>
                  <a:pt x="353352" y="38100"/>
                </a:lnTo>
                <a:close/>
              </a:path>
              <a:path w="782955" h="724535">
                <a:moveTo>
                  <a:pt x="706690" y="571667"/>
                </a:moveTo>
                <a:lnTo>
                  <a:pt x="592390" y="571667"/>
                </a:lnTo>
                <a:lnTo>
                  <a:pt x="592390" y="647867"/>
                </a:lnTo>
                <a:lnTo>
                  <a:pt x="706690" y="647867"/>
                </a:lnTo>
                <a:lnTo>
                  <a:pt x="782890" y="609767"/>
                </a:lnTo>
                <a:lnTo>
                  <a:pt x="706690" y="571667"/>
                </a:lnTo>
                <a:close/>
              </a:path>
              <a:path w="782955" h="724535">
                <a:moveTo>
                  <a:pt x="429552" y="571667"/>
                </a:moveTo>
                <a:lnTo>
                  <a:pt x="391452" y="571667"/>
                </a:lnTo>
                <a:lnTo>
                  <a:pt x="429552" y="609767"/>
                </a:lnTo>
                <a:lnTo>
                  <a:pt x="429552" y="571667"/>
                </a:lnTo>
                <a:close/>
              </a:path>
              <a:path w="782955" h="724535">
                <a:moveTo>
                  <a:pt x="554290" y="571667"/>
                </a:moveTo>
                <a:lnTo>
                  <a:pt x="429552" y="571667"/>
                </a:lnTo>
                <a:lnTo>
                  <a:pt x="429552" y="609767"/>
                </a:lnTo>
                <a:lnTo>
                  <a:pt x="554290" y="609767"/>
                </a:lnTo>
                <a:lnTo>
                  <a:pt x="554290" y="571667"/>
                </a:lnTo>
                <a:close/>
              </a:path>
              <a:path w="782955" h="724535">
                <a:moveTo>
                  <a:pt x="391452" y="0"/>
                </a:moveTo>
                <a:lnTo>
                  <a:pt x="0" y="0"/>
                </a:lnTo>
                <a:lnTo>
                  <a:pt x="0" y="76200"/>
                </a:lnTo>
                <a:lnTo>
                  <a:pt x="353352" y="76200"/>
                </a:lnTo>
                <a:lnTo>
                  <a:pt x="353352" y="38100"/>
                </a:lnTo>
                <a:lnTo>
                  <a:pt x="429552" y="38100"/>
                </a:lnTo>
                <a:lnTo>
                  <a:pt x="426558" y="23270"/>
                </a:lnTo>
                <a:lnTo>
                  <a:pt x="418393" y="11159"/>
                </a:lnTo>
                <a:lnTo>
                  <a:pt x="406282" y="2994"/>
                </a:lnTo>
                <a:lnTo>
                  <a:pt x="391452" y="0"/>
                </a:lnTo>
                <a:close/>
              </a:path>
              <a:path w="782955" h="724535">
                <a:moveTo>
                  <a:pt x="429552" y="38100"/>
                </a:moveTo>
                <a:lnTo>
                  <a:pt x="353352" y="38100"/>
                </a:lnTo>
                <a:lnTo>
                  <a:pt x="391452" y="76200"/>
                </a:lnTo>
                <a:lnTo>
                  <a:pt x="429552" y="76200"/>
                </a:lnTo>
                <a:lnTo>
                  <a:pt x="429552" y="3810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344382" y="3745484"/>
            <a:ext cx="11252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 b="1">
                <a:latin typeface="微软雅黑"/>
                <a:cs typeface="微软雅黑"/>
              </a:rPr>
              <a:t>User-Side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531360" y="3601001"/>
            <a:ext cx="198120" cy="488315"/>
          </a:xfrm>
          <a:custGeom>
            <a:avLst/>
            <a:gdLst/>
            <a:ahLst/>
            <a:cxnLst/>
            <a:rect l="l" t="t" r="r" b="b"/>
            <a:pathLst>
              <a:path w="198120" h="488314">
                <a:moveTo>
                  <a:pt x="198114" y="389110"/>
                </a:moveTo>
                <a:lnTo>
                  <a:pt x="0" y="389110"/>
                </a:lnTo>
                <a:lnTo>
                  <a:pt x="99057" y="488167"/>
                </a:lnTo>
                <a:lnTo>
                  <a:pt x="198114" y="389110"/>
                </a:lnTo>
                <a:close/>
              </a:path>
              <a:path w="198120" h="488314">
                <a:moveTo>
                  <a:pt x="148586" y="0"/>
                </a:moveTo>
                <a:lnTo>
                  <a:pt x="49528" y="0"/>
                </a:lnTo>
                <a:lnTo>
                  <a:pt x="49528" y="389110"/>
                </a:lnTo>
                <a:lnTo>
                  <a:pt x="148586" y="389110"/>
                </a:lnTo>
                <a:lnTo>
                  <a:pt x="148586" y="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19629" y="4089169"/>
            <a:ext cx="1773555" cy="1179830"/>
          </a:xfrm>
          <a:custGeom>
            <a:avLst/>
            <a:gdLst/>
            <a:ahLst/>
            <a:cxnLst/>
            <a:rect l="l" t="t" r="r" b="b"/>
            <a:pathLst>
              <a:path w="1773554" h="1179829">
                <a:moveTo>
                  <a:pt x="1576920" y="0"/>
                </a:moveTo>
                <a:lnTo>
                  <a:pt x="196611" y="0"/>
                </a:lnTo>
                <a:lnTo>
                  <a:pt x="151530" y="5192"/>
                </a:lnTo>
                <a:lnTo>
                  <a:pt x="110146" y="19983"/>
                </a:lnTo>
                <a:lnTo>
                  <a:pt x="73641" y="43193"/>
                </a:lnTo>
                <a:lnTo>
                  <a:pt x="43193" y="73641"/>
                </a:lnTo>
                <a:lnTo>
                  <a:pt x="19983" y="110146"/>
                </a:lnTo>
                <a:lnTo>
                  <a:pt x="5192" y="151530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3" y="1105999"/>
                </a:lnTo>
                <a:lnTo>
                  <a:pt x="73641" y="1136447"/>
                </a:lnTo>
                <a:lnTo>
                  <a:pt x="110146" y="1159656"/>
                </a:lnTo>
                <a:lnTo>
                  <a:pt x="151530" y="1174448"/>
                </a:lnTo>
                <a:lnTo>
                  <a:pt x="196611" y="1179640"/>
                </a:lnTo>
                <a:lnTo>
                  <a:pt x="1576920" y="1179640"/>
                </a:lnTo>
                <a:lnTo>
                  <a:pt x="1622001" y="1174448"/>
                </a:lnTo>
                <a:lnTo>
                  <a:pt x="1663385" y="1159656"/>
                </a:lnTo>
                <a:lnTo>
                  <a:pt x="1699891" y="1136447"/>
                </a:lnTo>
                <a:lnTo>
                  <a:pt x="1730338" y="1105999"/>
                </a:lnTo>
                <a:lnTo>
                  <a:pt x="1753548" y="1069494"/>
                </a:lnTo>
                <a:lnTo>
                  <a:pt x="1768339" y="1028110"/>
                </a:lnTo>
                <a:lnTo>
                  <a:pt x="1773532" y="983029"/>
                </a:lnTo>
                <a:lnTo>
                  <a:pt x="1773532" y="196611"/>
                </a:lnTo>
                <a:lnTo>
                  <a:pt x="1768339" y="151530"/>
                </a:lnTo>
                <a:lnTo>
                  <a:pt x="1753548" y="110146"/>
                </a:lnTo>
                <a:lnTo>
                  <a:pt x="1730338" y="73641"/>
                </a:lnTo>
                <a:lnTo>
                  <a:pt x="1699891" y="43193"/>
                </a:lnTo>
                <a:lnTo>
                  <a:pt x="1663385" y="19983"/>
                </a:lnTo>
                <a:lnTo>
                  <a:pt x="1622001" y="5192"/>
                </a:lnTo>
                <a:lnTo>
                  <a:pt x="157692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015706" y="4289044"/>
            <a:ext cx="1381760" cy="76327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algn="ctr" marL="12700" marR="5080" indent="-635">
              <a:lnSpc>
                <a:spcPct val="101299"/>
              </a:lnSpc>
              <a:spcBef>
                <a:spcPts val="75"/>
              </a:spcBef>
            </a:pPr>
            <a:r>
              <a:rPr dirty="0" sz="1600" spc="30">
                <a:latin typeface="微软雅黑"/>
                <a:cs typeface="微软雅黑"/>
              </a:rPr>
              <a:t>Embeddin/  </a:t>
            </a:r>
            <a:r>
              <a:rPr dirty="0" sz="1600" spc="-10">
                <a:latin typeface="微软雅黑"/>
                <a:cs typeface="微软雅黑"/>
              </a:rPr>
              <a:t>Recall</a:t>
            </a:r>
            <a:r>
              <a:rPr dirty="0" sz="1600" spc="-85">
                <a:latin typeface="微软雅黑"/>
                <a:cs typeface="微软雅黑"/>
              </a:rPr>
              <a:t> </a:t>
            </a:r>
            <a:r>
              <a:rPr dirty="0" sz="1600" spc="-10">
                <a:latin typeface="微软雅黑"/>
                <a:cs typeface="微软雅黑"/>
              </a:rPr>
              <a:t>Related  </a:t>
            </a:r>
            <a:r>
              <a:rPr dirty="0" sz="1600">
                <a:latin typeface="微软雅黑"/>
                <a:cs typeface="微软雅黑"/>
              </a:rPr>
              <a:t>Users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593161" y="4564689"/>
            <a:ext cx="598170" cy="228600"/>
          </a:xfrm>
          <a:custGeom>
            <a:avLst/>
            <a:gdLst/>
            <a:ahLst/>
            <a:cxnLst/>
            <a:rect l="l" t="t" r="r" b="b"/>
            <a:pathLst>
              <a:path w="598170" h="228600">
                <a:moveTo>
                  <a:pt x="369108" y="152399"/>
                </a:moveTo>
                <a:lnTo>
                  <a:pt x="369108" y="228600"/>
                </a:lnTo>
                <a:lnTo>
                  <a:pt x="521508" y="152400"/>
                </a:lnTo>
                <a:lnTo>
                  <a:pt x="369108" y="152399"/>
                </a:lnTo>
                <a:close/>
              </a:path>
              <a:path w="598170" h="228600">
                <a:moveTo>
                  <a:pt x="369108" y="76199"/>
                </a:moveTo>
                <a:lnTo>
                  <a:pt x="369108" y="152399"/>
                </a:lnTo>
                <a:lnTo>
                  <a:pt x="407208" y="152400"/>
                </a:lnTo>
                <a:lnTo>
                  <a:pt x="407208" y="76200"/>
                </a:lnTo>
                <a:lnTo>
                  <a:pt x="369108" y="76199"/>
                </a:lnTo>
                <a:close/>
              </a:path>
              <a:path w="598170" h="228600">
                <a:moveTo>
                  <a:pt x="369108" y="0"/>
                </a:moveTo>
                <a:lnTo>
                  <a:pt x="369108" y="76199"/>
                </a:lnTo>
                <a:lnTo>
                  <a:pt x="407208" y="76200"/>
                </a:lnTo>
                <a:lnTo>
                  <a:pt x="407208" y="152400"/>
                </a:lnTo>
                <a:lnTo>
                  <a:pt x="521511" y="152398"/>
                </a:lnTo>
                <a:lnTo>
                  <a:pt x="597708" y="114300"/>
                </a:lnTo>
                <a:lnTo>
                  <a:pt x="369108" y="0"/>
                </a:lnTo>
                <a:close/>
              </a:path>
              <a:path w="598170" h="228600">
                <a:moveTo>
                  <a:pt x="0" y="76198"/>
                </a:moveTo>
                <a:lnTo>
                  <a:pt x="0" y="152398"/>
                </a:lnTo>
                <a:lnTo>
                  <a:pt x="369108" y="152399"/>
                </a:lnTo>
                <a:lnTo>
                  <a:pt x="369108" y="76199"/>
                </a:lnTo>
                <a:lnTo>
                  <a:pt x="0" y="76198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190869" y="4140436"/>
            <a:ext cx="1978660" cy="1179830"/>
          </a:xfrm>
          <a:custGeom>
            <a:avLst/>
            <a:gdLst/>
            <a:ahLst/>
            <a:cxnLst/>
            <a:rect l="l" t="t" r="r" b="b"/>
            <a:pathLst>
              <a:path w="1978659" h="1179829">
                <a:moveTo>
                  <a:pt x="1781940" y="0"/>
                </a:moveTo>
                <a:lnTo>
                  <a:pt x="196611" y="0"/>
                </a:lnTo>
                <a:lnTo>
                  <a:pt x="151530" y="5192"/>
                </a:lnTo>
                <a:lnTo>
                  <a:pt x="110146" y="19983"/>
                </a:lnTo>
                <a:lnTo>
                  <a:pt x="73641" y="43193"/>
                </a:lnTo>
                <a:lnTo>
                  <a:pt x="43193" y="73640"/>
                </a:lnTo>
                <a:lnTo>
                  <a:pt x="19983" y="110146"/>
                </a:lnTo>
                <a:lnTo>
                  <a:pt x="5192" y="151529"/>
                </a:lnTo>
                <a:lnTo>
                  <a:pt x="0" y="196611"/>
                </a:lnTo>
                <a:lnTo>
                  <a:pt x="0" y="983029"/>
                </a:lnTo>
                <a:lnTo>
                  <a:pt x="5192" y="1028110"/>
                </a:lnTo>
                <a:lnTo>
                  <a:pt x="19983" y="1069494"/>
                </a:lnTo>
                <a:lnTo>
                  <a:pt x="43193" y="1105999"/>
                </a:lnTo>
                <a:lnTo>
                  <a:pt x="73641" y="1136447"/>
                </a:lnTo>
                <a:lnTo>
                  <a:pt x="110146" y="1159656"/>
                </a:lnTo>
                <a:lnTo>
                  <a:pt x="151530" y="1174448"/>
                </a:lnTo>
                <a:lnTo>
                  <a:pt x="196611" y="1179640"/>
                </a:lnTo>
                <a:lnTo>
                  <a:pt x="1781940" y="1179640"/>
                </a:lnTo>
                <a:lnTo>
                  <a:pt x="1827021" y="1174448"/>
                </a:lnTo>
                <a:lnTo>
                  <a:pt x="1868405" y="1159656"/>
                </a:lnTo>
                <a:lnTo>
                  <a:pt x="1904910" y="1136447"/>
                </a:lnTo>
                <a:lnTo>
                  <a:pt x="1935357" y="1105999"/>
                </a:lnTo>
                <a:lnTo>
                  <a:pt x="1958567" y="1069494"/>
                </a:lnTo>
                <a:lnTo>
                  <a:pt x="1973358" y="1028110"/>
                </a:lnTo>
                <a:lnTo>
                  <a:pt x="1978550" y="983029"/>
                </a:lnTo>
                <a:lnTo>
                  <a:pt x="1978550" y="196611"/>
                </a:lnTo>
                <a:lnTo>
                  <a:pt x="1973358" y="151529"/>
                </a:lnTo>
                <a:lnTo>
                  <a:pt x="1958567" y="110146"/>
                </a:lnTo>
                <a:lnTo>
                  <a:pt x="1935357" y="73640"/>
                </a:lnTo>
                <a:lnTo>
                  <a:pt x="1904910" y="43193"/>
                </a:lnTo>
                <a:lnTo>
                  <a:pt x="1868405" y="19983"/>
                </a:lnTo>
                <a:lnTo>
                  <a:pt x="1827021" y="5192"/>
                </a:lnTo>
                <a:lnTo>
                  <a:pt x="1781940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422177" y="4215891"/>
            <a:ext cx="1515745" cy="1007110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600" spc="-10">
                <a:latin typeface="微软雅黑"/>
                <a:cs typeface="微软雅黑"/>
              </a:rPr>
              <a:t>Group  </a:t>
            </a:r>
            <a:r>
              <a:rPr dirty="0" sz="1600">
                <a:latin typeface="微软雅黑"/>
                <a:cs typeface="微软雅黑"/>
              </a:rPr>
              <a:t>p</a:t>
            </a:r>
            <a:r>
              <a:rPr dirty="0" sz="1600" spc="0">
                <a:latin typeface="微软雅黑"/>
                <a:cs typeface="微软雅黑"/>
              </a:rPr>
              <a:t>e</a:t>
            </a:r>
            <a:r>
              <a:rPr dirty="0" sz="1600" spc="5">
                <a:latin typeface="微软雅黑"/>
                <a:cs typeface="微软雅黑"/>
              </a:rPr>
              <a:t>r</a:t>
            </a:r>
            <a:r>
              <a:rPr dirty="0" sz="1600" spc="-5">
                <a:latin typeface="微软雅黑"/>
                <a:cs typeface="微软雅黑"/>
              </a:rPr>
              <a:t>s</a:t>
            </a:r>
            <a:r>
              <a:rPr dirty="0" sz="1600" spc="-10">
                <a:latin typeface="微软雅黑"/>
                <a:cs typeface="微软雅黑"/>
              </a:rPr>
              <a:t>o</a:t>
            </a:r>
            <a:r>
              <a:rPr dirty="0" sz="1600">
                <a:latin typeface="微软雅黑"/>
                <a:cs typeface="微软雅黑"/>
              </a:rPr>
              <a:t>na</a:t>
            </a:r>
            <a:r>
              <a:rPr dirty="0" sz="1600" spc="-5">
                <a:latin typeface="微软雅黑"/>
                <a:cs typeface="微软雅黑"/>
              </a:rPr>
              <a:t>li</a:t>
            </a:r>
            <a:r>
              <a:rPr dirty="0" sz="1600">
                <a:latin typeface="微软雅黑"/>
                <a:cs typeface="微软雅黑"/>
              </a:rPr>
              <a:t>zat</a:t>
            </a:r>
            <a:r>
              <a:rPr dirty="0" sz="1600" spc="-5">
                <a:latin typeface="微软雅黑"/>
                <a:cs typeface="微软雅黑"/>
              </a:rPr>
              <a:t>i</a:t>
            </a:r>
            <a:r>
              <a:rPr dirty="0" sz="1600" spc="-10">
                <a:latin typeface="微软雅黑"/>
                <a:cs typeface="微软雅黑"/>
              </a:rPr>
              <a:t>o</a:t>
            </a:r>
            <a:r>
              <a:rPr dirty="0" sz="1600">
                <a:latin typeface="微软雅黑"/>
                <a:cs typeface="微软雅黑"/>
              </a:rPr>
              <a:t>n  </a:t>
            </a:r>
            <a:r>
              <a:rPr dirty="0" sz="1600" spc="-5">
                <a:latin typeface="微软雅黑"/>
                <a:cs typeface="微软雅黑"/>
              </a:rPr>
              <a:t>User </a:t>
            </a:r>
            <a:r>
              <a:rPr dirty="0" sz="1600" spc="-15">
                <a:latin typeface="微软雅黑"/>
                <a:cs typeface="微软雅黑"/>
              </a:rPr>
              <a:t>Profile  </a:t>
            </a:r>
            <a:r>
              <a:rPr dirty="0" sz="1600" spc="50">
                <a:latin typeface="微软雅黑"/>
                <a:cs typeface="微软雅黑"/>
              </a:rPr>
              <a:t>minin/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124115" y="3614590"/>
            <a:ext cx="670560" cy="640715"/>
          </a:xfrm>
          <a:custGeom>
            <a:avLst/>
            <a:gdLst/>
            <a:ahLst/>
            <a:cxnLst/>
            <a:rect l="l" t="t" r="r" b="b"/>
            <a:pathLst>
              <a:path w="670559" h="640714">
                <a:moveTo>
                  <a:pt x="478605" y="129986"/>
                </a:moveTo>
                <a:lnTo>
                  <a:pt x="0" y="585426"/>
                </a:lnTo>
                <a:lnTo>
                  <a:pt x="52529" y="640627"/>
                </a:lnTo>
                <a:lnTo>
                  <a:pt x="531133" y="185187"/>
                </a:lnTo>
                <a:lnTo>
                  <a:pt x="478605" y="129986"/>
                </a:lnTo>
                <a:close/>
              </a:path>
              <a:path w="670559" h="640714">
                <a:moveTo>
                  <a:pt x="633015" y="103722"/>
                </a:moveTo>
                <a:lnTo>
                  <a:pt x="506205" y="103722"/>
                </a:lnTo>
                <a:lnTo>
                  <a:pt x="558733" y="158922"/>
                </a:lnTo>
                <a:lnTo>
                  <a:pt x="531133" y="185187"/>
                </a:lnTo>
                <a:lnTo>
                  <a:pt x="583662" y="240388"/>
                </a:lnTo>
                <a:lnTo>
                  <a:pt x="633015" y="103722"/>
                </a:lnTo>
                <a:close/>
              </a:path>
              <a:path w="670559" h="640714">
                <a:moveTo>
                  <a:pt x="506205" y="103722"/>
                </a:moveTo>
                <a:lnTo>
                  <a:pt x="478605" y="129986"/>
                </a:lnTo>
                <a:lnTo>
                  <a:pt x="531133" y="185187"/>
                </a:lnTo>
                <a:lnTo>
                  <a:pt x="558733" y="158922"/>
                </a:lnTo>
                <a:lnTo>
                  <a:pt x="506205" y="103722"/>
                </a:lnTo>
                <a:close/>
              </a:path>
              <a:path w="670559" h="640714">
                <a:moveTo>
                  <a:pt x="670472" y="0"/>
                </a:moveTo>
                <a:lnTo>
                  <a:pt x="426076" y="74785"/>
                </a:lnTo>
                <a:lnTo>
                  <a:pt x="478605" y="129986"/>
                </a:lnTo>
                <a:lnTo>
                  <a:pt x="506205" y="103722"/>
                </a:lnTo>
                <a:lnTo>
                  <a:pt x="633015" y="103722"/>
                </a:lnTo>
                <a:lnTo>
                  <a:pt x="670472" y="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259514" y="1401572"/>
            <a:ext cx="879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latin typeface="微软雅黑"/>
                <a:cs typeface="微软雅黑"/>
              </a:rPr>
              <a:t>S1age </a:t>
            </a:r>
            <a:r>
              <a:rPr dirty="0" sz="1800" spc="480" b="1">
                <a:latin typeface="微软雅黑"/>
                <a:cs typeface="微软雅黑"/>
              </a:rPr>
              <a:t> 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483901" y="2877915"/>
            <a:ext cx="598170" cy="228600"/>
          </a:xfrm>
          <a:custGeom>
            <a:avLst/>
            <a:gdLst/>
            <a:ahLst/>
            <a:cxnLst/>
            <a:rect l="l" t="t" r="r" b="b"/>
            <a:pathLst>
              <a:path w="598170" h="228600">
                <a:moveTo>
                  <a:pt x="369108" y="0"/>
                </a:moveTo>
                <a:lnTo>
                  <a:pt x="369108" y="228600"/>
                </a:lnTo>
                <a:lnTo>
                  <a:pt x="521508" y="152400"/>
                </a:lnTo>
                <a:lnTo>
                  <a:pt x="407208" y="152400"/>
                </a:lnTo>
                <a:lnTo>
                  <a:pt x="407208" y="76200"/>
                </a:lnTo>
                <a:lnTo>
                  <a:pt x="521508" y="76200"/>
                </a:lnTo>
                <a:lnTo>
                  <a:pt x="369108" y="0"/>
                </a:lnTo>
                <a:close/>
              </a:path>
              <a:path w="598170" h="228600">
                <a:moveTo>
                  <a:pt x="369108" y="76200"/>
                </a:moveTo>
                <a:lnTo>
                  <a:pt x="0" y="76200"/>
                </a:lnTo>
                <a:lnTo>
                  <a:pt x="0" y="152400"/>
                </a:lnTo>
                <a:lnTo>
                  <a:pt x="369108" y="152400"/>
                </a:lnTo>
                <a:lnTo>
                  <a:pt x="369108" y="76200"/>
                </a:lnTo>
                <a:close/>
              </a:path>
              <a:path w="598170" h="228600">
                <a:moveTo>
                  <a:pt x="521508" y="76200"/>
                </a:moveTo>
                <a:lnTo>
                  <a:pt x="407208" y="76200"/>
                </a:lnTo>
                <a:lnTo>
                  <a:pt x="407208" y="152400"/>
                </a:lnTo>
                <a:lnTo>
                  <a:pt x="521508" y="152400"/>
                </a:lnTo>
                <a:lnTo>
                  <a:pt x="597708" y="114300"/>
                </a:lnTo>
                <a:lnTo>
                  <a:pt x="521508" y="76200"/>
                </a:lnTo>
                <a:close/>
              </a:path>
            </a:pathLst>
          </a:custGeom>
          <a:solidFill>
            <a:srgbClr val="FF842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082635" y="2078183"/>
            <a:ext cx="1773555" cy="2011045"/>
          </a:xfrm>
          <a:custGeom>
            <a:avLst/>
            <a:gdLst/>
            <a:ahLst/>
            <a:cxnLst/>
            <a:rect l="l" t="t" r="r" b="b"/>
            <a:pathLst>
              <a:path w="1773554" h="2011045">
                <a:moveTo>
                  <a:pt x="1477935" y="0"/>
                </a:moveTo>
                <a:lnTo>
                  <a:pt x="295595" y="0"/>
                </a:lnTo>
                <a:lnTo>
                  <a:pt x="247647" y="3868"/>
                </a:lnTo>
                <a:lnTo>
                  <a:pt x="202163" y="15069"/>
                </a:lnTo>
                <a:lnTo>
                  <a:pt x="159751" y="32993"/>
                </a:lnTo>
                <a:lnTo>
                  <a:pt x="121020" y="57032"/>
                </a:lnTo>
                <a:lnTo>
                  <a:pt x="86577" y="86578"/>
                </a:lnTo>
                <a:lnTo>
                  <a:pt x="57032" y="121020"/>
                </a:lnTo>
                <a:lnTo>
                  <a:pt x="32993" y="159752"/>
                </a:lnTo>
                <a:lnTo>
                  <a:pt x="15069" y="202164"/>
                </a:lnTo>
                <a:lnTo>
                  <a:pt x="3868" y="247649"/>
                </a:lnTo>
                <a:lnTo>
                  <a:pt x="0" y="295596"/>
                </a:lnTo>
                <a:lnTo>
                  <a:pt x="0" y="1715390"/>
                </a:lnTo>
                <a:lnTo>
                  <a:pt x="3868" y="1763337"/>
                </a:lnTo>
                <a:lnTo>
                  <a:pt x="15069" y="1808821"/>
                </a:lnTo>
                <a:lnTo>
                  <a:pt x="32993" y="1851233"/>
                </a:lnTo>
                <a:lnTo>
                  <a:pt x="57032" y="1889965"/>
                </a:lnTo>
                <a:lnTo>
                  <a:pt x="86577" y="1924408"/>
                </a:lnTo>
                <a:lnTo>
                  <a:pt x="121020" y="1953953"/>
                </a:lnTo>
                <a:lnTo>
                  <a:pt x="159751" y="1977992"/>
                </a:lnTo>
                <a:lnTo>
                  <a:pt x="202163" y="1995916"/>
                </a:lnTo>
                <a:lnTo>
                  <a:pt x="247647" y="2007117"/>
                </a:lnTo>
                <a:lnTo>
                  <a:pt x="295595" y="2010986"/>
                </a:lnTo>
                <a:lnTo>
                  <a:pt x="1477935" y="2010986"/>
                </a:lnTo>
                <a:lnTo>
                  <a:pt x="1525883" y="2007117"/>
                </a:lnTo>
                <a:lnTo>
                  <a:pt x="1571367" y="1995916"/>
                </a:lnTo>
                <a:lnTo>
                  <a:pt x="1613779" y="1977992"/>
                </a:lnTo>
                <a:lnTo>
                  <a:pt x="1652511" y="1953953"/>
                </a:lnTo>
                <a:lnTo>
                  <a:pt x="1686954" y="1924408"/>
                </a:lnTo>
                <a:lnTo>
                  <a:pt x="1716499" y="1889965"/>
                </a:lnTo>
                <a:lnTo>
                  <a:pt x="1740538" y="1851233"/>
                </a:lnTo>
                <a:lnTo>
                  <a:pt x="1758462" y="1808821"/>
                </a:lnTo>
                <a:lnTo>
                  <a:pt x="1769663" y="1763337"/>
                </a:lnTo>
                <a:lnTo>
                  <a:pt x="1773532" y="1715390"/>
                </a:lnTo>
                <a:lnTo>
                  <a:pt x="1773532" y="295596"/>
                </a:lnTo>
                <a:lnTo>
                  <a:pt x="1769663" y="247649"/>
                </a:lnTo>
                <a:lnTo>
                  <a:pt x="1758462" y="202164"/>
                </a:lnTo>
                <a:lnTo>
                  <a:pt x="1740538" y="159752"/>
                </a:lnTo>
                <a:lnTo>
                  <a:pt x="1716499" y="121020"/>
                </a:lnTo>
                <a:lnTo>
                  <a:pt x="1686954" y="86578"/>
                </a:lnTo>
                <a:lnTo>
                  <a:pt x="1652511" y="57032"/>
                </a:lnTo>
                <a:lnTo>
                  <a:pt x="1613779" y="32993"/>
                </a:lnTo>
                <a:lnTo>
                  <a:pt x="1571367" y="15069"/>
                </a:lnTo>
                <a:lnTo>
                  <a:pt x="1525883" y="3868"/>
                </a:lnTo>
                <a:lnTo>
                  <a:pt x="1477935" y="0"/>
                </a:lnTo>
                <a:close/>
              </a:path>
            </a:pathLst>
          </a:custGeom>
          <a:solidFill>
            <a:srgbClr val="F6B7A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0344084" y="2326132"/>
            <a:ext cx="1250950" cy="14884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00299"/>
              </a:lnSpc>
              <a:spcBef>
                <a:spcPts val="95"/>
              </a:spcBef>
            </a:pPr>
            <a:r>
              <a:rPr dirty="0" sz="1600" spc="-70">
                <a:latin typeface="微软雅黑"/>
                <a:cs typeface="微软雅黑"/>
              </a:rPr>
              <a:t>P</a:t>
            </a:r>
            <a:r>
              <a:rPr dirty="0" sz="1600" spc="0">
                <a:latin typeface="微软雅黑"/>
                <a:cs typeface="微软雅黑"/>
              </a:rPr>
              <a:t>e</a:t>
            </a:r>
            <a:r>
              <a:rPr dirty="0" sz="1600" spc="5">
                <a:latin typeface="微软雅黑"/>
                <a:cs typeface="微软雅黑"/>
              </a:rPr>
              <a:t>r</a:t>
            </a:r>
            <a:r>
              <a:rPr dirty="0" sz="1600" spc="-5">
                <a:latin typeface="微软雅黑"/>
                <a:cs typeface="微软雅黑"/>
              </a:rPr>
              <a:t>s</a:t>
            </a:r>
            <a:r>
              <a:rPr dirty="0" sz="1600" spc="-10">
                <a:latin typeface="微软雅黑"/>
                <a:cs typeface="微软雅黑"/>
              </a:rPr>
              <a:t>o</a:t>
            </a:r>
            <a:r>
              <a:rPr dirty="0" sz="1600">
                <a:latin typeface="微软雅黑"/>
                <a:cs typeface="微软雅黑"/>
              </a:rPr>
              <a:t>na</a:t>
            </a:r>
            <a:r>
              <a:rPr dirty="0" sz="1600" spc="-5">
                <a:latin typeface="微软雅黑"/>
                <a:cs typeface="微软雅黑"/>
              </a:rPr>
              <a:t>li</a:t>
            </a:r>
            <a:r>
              <a:rPr dirty="0" sz="1600">
                <a:latin typeface="微软雅黑"/>
                <a:cs typeface="微软雅黑"/>
              </a:rPr>
              <a:t>zed  </a:t>
            </a:r>
            <a:r>
              <a:rPr dirty="0" sz="1600" spc="-5">
                <a:latin typeface="微软雅黑"/>
                <a:cs typeface="微软雅黑"/>
              </a:rPr>
              <a:t>cloud</a:t>
            </a:r>
            <a:r>
              <a:rPr dirty="0" sz="1600" spc="-90">
                <a:latin typeface="微软雅黑"/>
                <a:cs typeface="微软雅黑"/>
              </a:rPr>
              <a:t> </a:t>
            </a:r>
            <a:r>
              <a:rPr dirty="0" sz="1600">
                <a:latin typeface="微软雅黑"/>
                <a:cs typeface="微软雅黑"/>
              </a:rPr>
              <a:t>theme  </a:t>
            </a:r>
            <a:r>
              <a:rPr dirty="0" sz="1600" spc="30">
                <a:latin typeface="微软雅黑"/>
                <a:cs typeface="微软雅黑"/>
              </a:rPr>
              <a:t>Knowled/e  </a:t>
            </a:r>
            <a:r>
              <a:rPr dirty="0" sz="1600" spc="-10">
                <a:latin typeface="微软雅黑"/>
                <a:cs typeface="微软雅黑"/>
              </a:rPr>
              <a:t>card </a:t>
            </a:r>
            <a:r>
              <a:rPr dirty="0" sz="1600">
                <a:latin typeface="微软雅黑"/>
                <a:cs typeface="微软雅黑"/>
              </a:rPr>
              <a:t>and  </a:t>
            </a:r>
            <a:r>
              <a:rPr dirty="0" sz="1600" spc="35">
                <a:latin typeface="微软雅黑"/>
                <a:cs typeface="微软雅黑"/>
              </a:rPr>
              <a:t>strate/y</a:t>
            </a:r>
            <a:endParaRPr sz="1600">
              <a:latin typeface="微软雅黑"/>
              <a:cs typeface="微软雅黑"/>
            </a:endParaRPr>
          </a:p>
          <a:p>
            <a:pPr algn="ctr">
              <a:lnSpc>
                <a:spcPts val="1895"/>
              </a:lnSpc>
            </a:pPr>
            <a:r>
              <a:rPr dirty="0" sz="1600" spc="25">
                <a:latin typeface="微软雅黑"/>
                <a:cs typeface="微软雅黑"/>
              </a:rPr>
              <a:t>/eneration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336899" y="1319275"/>
            <a:ext cx="8794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85" b="1">
                <a:latin typeface="微软雅黑"/>
                <a:cs typeface="微软雅黑"/>
              </a:rPr>
              <a:t>S1age</a:t>
            </a:r>
            <a:r>
              <a:rPr dirty="0" sz="1800" spc="-90" b="1">
                <a:latin typeface="微软雅黑"/>
                <a:cs typeface="微软雅黑"/>
              </a:rPr>
              <a:t> </a:t>
            </a:r>
            <a:r>
              <a:rPr dirty="0" sz="1800" b="1">
                <a:latin typeface="微软雅黑"/>
                <a:cs typeface="微软雅黑"/>
              </a:rPr>
              <a:t>2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95514" y="1790041"/>
            <a:ext cx="76835" cy="0"/>
          </a:xfrm>
          <a:custGeom>
            <a:avLst/>
            <a:gdLst/>
            <a:ahLst/>
            <a:cxnLst/>
            <a:rect l="l" t="t" r="r" b="b"/>
            <a:pathLst>
              <a:path w="76834" h="0">
                <a:moveTo>
                  <a:pt x="0" y="0"/>
                </a:moveTo>
                <a:lnTo>
                  <a:pt x="76726" y="0"/>
                </a:lnTo>
              </a:path>
            </a:pathLst>
          </a:custGeom>
          <a:ln w="268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297562" y="447332"/>
            <a:ext cx="7672630" cy="2685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52927" y="3139439"/>
            <a:ext cx="3404616" cy="3413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23230" y="4251452"/>
            <a:ext cx="1120775" cy="1406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Lipstick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9400"/>
              </a:lnSpc>
              <a:spcBef>
                <a:spcPts val="60"/>
              </a:spcBef>
            </a:pPr>
            <a:r>
              <a:rPr dirty="0" sz="1800" spc="-30">
                <a:latin typeface="Calibri"/>
                <a:cs typeface="Calibri"/>
              </a:rPr>
              <a:t>Eye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shadow  </a:t>
            </a:r>
            <a:r>
              <a:rPr dirty="0" sz="1800">
                <a:latin typeface="Calibri"/>
                <a:cs typeface="Calibri"/>
              </a:rPr>
              <a:t>Lip </a:t>
            </a:r>
            <a:r>
              <a:rPr dirty="0" sz="1800" spc="-5">
                <a:latin typeface="Calibri"/>
                <a:cs typeface="Calibri"/>
              </a:rPr>
              <a:t>gloss  </a:t>
            </a:r>
            <a:r>
              <a:rPr dirty="0" sz="1800">
                <a:latin typeface="Calibri"/>
                <a:cs typeface="Calibri"/>
              </a:rPr>
              <a:t>Hair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mask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5">
                <a:latin typeface="Calibri"/>
                <a:cs typeface="Calibri"/>
              </a:rPr>
              <a:t>......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66559" y="3130295"/>
            <a:ext cx="3922776" cy="34229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765890" y="4251452"/>
            <a:ext cx="1364615" cy="14065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90"/>
              </a:spcBef>
            </a:pPr>
            <a:r>
              <a:rPr dirty="0" sz="1800" spc="-15">
                <a:latin typeface="Calibri"/>
                <a:cs typeface="Calibri"/>
              </a:rPr>
              <a:t>Woolen </a:t>
            </a:r>
            <a:r>
              <a:rPr dirty="0" sz="1800" spc="-10">
                <a:latin typeface="Calibri"/>
                <a:cs typeface="Calibri"/>
              </a:rPr>
              <a:t>coat  </a:t>
            </a:r>
            <a:r>
              <a:rPr dirty="0" sz="1800" spc="-5">
                <a:latin typeface="Calibri"/>
                <a:cs typeface="Calibri"/>
              </a:rPr>
              <a:t>jeans  </a:t>
            </a:r>
            <a:r>
              <a:rPr dirty="0" sz="1800">
                <a:latin typeface="Calibri"/>
                <a:cs typeface="Calibri"/>
              </a:rPr>
              <a:t>Leggings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Wool  </a:t>
            </a:r>
            <a:r>
              <a:rPr dirty="0" sz="1800" spc="-15">
                <a:latin typeface="Calibri"/>
                <a:cs typeface="Calibri"/>
              </a:rPr>
              <a:t>sweater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 sz="1800" spc="-10">
                <a:latin typeface="Calibri"/>
                <a:cs typeface="Calibri"/>
              </a:rPr>
              <a:t>……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57041" y="444500"/>
            <a:ext cx="4084954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87730" algn="l"/>
              </a:tabLst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User	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nterest</a:t>
            </a:r>
            <a:r>
              <a:rPr dirty="0" sz="2400" spc="24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Categories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9671" y="1116076"/>
            <a:ext cx="3806190" cy="196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2725" indent="-200025">
              <a:lnSpc>
                <a:spcPts val="1910"/>
              </a:lnSpc>
              <a:spcBef>
                <a:spcPts val="100"/>
              </a:spcBef>
              <a:buAutoNum type="arabicPeriod"/>
              <a:tabLst>
                <a:tab pos="212725" algn="l"/>
              </a:tabLst>
            </a:pPr>
            <a:r>
              <a:rPr dirty="0" sz="1600" spc="-5">
                <a:latin typeface="Calibri"/>
                <a:cs typeface="Calibri"/>
              </a:rPr>
              <a:t>GCN Model </a:t>
            </a:r>
            <a:r>
              <a:rPr dirty="0" sz="1600" spc="-15">
                <a:latin typeface="Calibri"/>
                <a:cs typeface="Calibri"/>
              </a:rPr>
              <a:t>generate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embedding</a:t>
            </a:r>
            <a:endParaRPr sz="1600">
              <a:latin typeface="Calibri"/>
              <a:cs typeface="Calibri"/>
            </a:endParaRPr>
          </a:p>
          <a:p>
            <a:pPr marL="212725" indent="-200025">
              <a:lnSpc>
                <a:spcPts val="1895"/>
              </a:lnSpc>
              <a:buAutoNum type="arabicPeriod"/>
              <a:tabLst>
                <a:tab pos="212725" algn="l"/>
              </a:tabLst>
            </a:pPr>
            <a:r>
              <a:rPr dirty="0" sz="1600" spc="-10">
                <a:latin typeface="Calibri"/>
                <a:cs typeface="Calibri"/>
              </a:rPr>
              <a:t>Hierarchical clustering, </a:t>
            </a:r>
            <a:r>
              <a:rPr dirty="0" sz="1600" spc="-5">
                <a:latin typeface="Calibri"/>
                <a:cs typeface="Calibri"/>
              </a:rPr>
              <a:t>each </a:t>
            </a:r>
            <a:r>
              <a:rPr dirty="0" sz="1600" spc="-15">
                <a:latin typeface="Calibri"/>
                <a:cs typeface="Calibri"/>
              </a:rPr>
              <a:t>layer </a:t>
            </a:r>
            <a:r>
              <a:rPr dirty="0" sz="1600" spc="-5">
                <a:latin typeface="Calibri"/>
                <a:cs typeface="Calibri"/>
              </a:rPr>
              <a:t>is</a:t>
            </a:r>
            <a:r>
              <a:rPr dirty="0" sz="1600" spc="50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divided</a:t>
            </a:r>
            <a:endParaRPr sz="1600">
              <a:latin typeface="Calibri"/>
              <a:cs typeface="Calibri"/>
            </a:endParaRPr>
          </a:p>
          <a:p>
            <a:pPr marL="212725" indent="-200025">
              <a:lnSpc>
                <a:spcPts val="1910"/>
              </a:lnSpc>
              <a:buAutoNum type="arabicPeriod"/>
              <a:tabLst>
                <a:tab pos="212725" algn="l"/>
              </a:tabLst>
            </a:pPr>
            <a:r>
              <a:rPr dirty="0" sz="1600" spc="-5">
                <a:latin typeface="Calibri"/>
                <a:cs typeface="Calibri"/>
              </a:rPr>
              <a:t>As the number </a:t>
            </a:r>
            <a:r>
              <a:rPr dirty="0" sz="1600">
                <a:latin typeface="Calibri"/>
                <a:cs typeface="Calibri"/>
              </a:rPr>
              <a:t>of </a:t>
            </a:r>
            <a:r>
              <a:rPr dirty="0" sz="1600" spc="-15">
                <a:latin typeface="Calibri"/>
                <a:cs typeface="Calibri"/>
              </a:rPr>
              <a:t>layers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5">
                <a:latin typeface="Calibri"/>
                <a:cs typeface="Calibri"/>
              </a:rPr>
              <a:t>deepens,</a:t>
            </a:r>
            <a:endParaRPr sz="1600">
              <a:latin typeface="Calibri"/>
              <a:cs typeface="Calibri"/>
            </a:endParaRPr>
          </a:p>
          <a:p>
            <a:pPr marL="12700" marR="100330">
              <a:lnSpc>
                <a:spcPts val="1900"/>
              </a:lnSpc>
              <a:spcBef>
                <a:spcPts val="175"/>
              </a:spcBef>
            </a:pPr>
            <a:r>
              <a:rPr dirty="0" sz="1600" spc="-5">
                <a:latin typeface="Calibri"/>
                <a:cs typeface="Calibri"/>
              </a:rPr>
              <a:t>the </a:t>
            </a:r>
            <a:r>
              <a:rPr dirty="0" sz="1600" spc="-10">
                <a:latin typeface="Calibri"/>
                <a:cs typeface="Calibri"/>
              </a:rPr>
              <a:t>granularity </a:t>
            </a:r>
            <a:r>
              <a:rPr dirty="0" sz="1600">
                <a:latin typeface="Calibri"/>
                <a:cs typeface="Calibri"/>
              </a:rPr>
              <a:t>of </a:t>
            </a:r>
            <a:r>
              <a:rPr dirty="0" sz="1600" spc="-5">
                <a:latin typeface="Calibri"/>
                <a:cs typeface="Calibri"/>
              </a:rPr>
              <a:t>the division becomes </a:t>
            </a:r>
            <a:r>
              <a:rPr dirty="0" sz="1600" spc="-25">
                <a:latin typeface="Calibri"/>
                <a:cs typeface="Calibri"/>
              </a:rPr>
              <a:t>finer,  </a:t>
            </a:r>
            <a:r>
              <a:rPr dirty="0" sz="1600" spc="-5">
                <a:latin typeface="Calibri"/>
                <a:cs typeface="Calibri"/>
              </a:rPr>
              <a:t>and the semantics </a:t>
            </a:r>
            <a:r>
              <a:rPr dirty="0" sz="1600" spc="-10">
                <a:latin typeface="Calibri"/>
                <a:cs typeface="Calibri"/>
              </a:rPr>
              <a:t>gradually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emerge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  <a:spcBef>
                <a:spcPts val="1250"/>
              </a:spcBef>
            </a:pPr>
            <a:r>
              <a:rPr dirty="0" sz="1800" spc="-10" b="1">
                <a:latin typeface="Calibri"/>
                <a:cs typeface="Calibri"/>
              </a:rPr>
              <a:t>Commodity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5" b="1">
                <a:latin typeface="Calibri"/>
                <a:cs typeface="Calibri"/>
              </a:rPr>
              <a:t>Aggregation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3494" y="456691"/>
            <a:ext cx="598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75" b="1">
                <a:solidFill>
                  <a:srgbClr val="000000"/>
                </a:solidFill>
                <a:latin typeface="微软雅黑"/>
                <a:cs typeface="微软雅黑"/>
              </a:rPr>
              <a:t>Ti-le</a:t>
            </a:r>
            <a:r>
              <a:rPr dirty="0" sz="2400" spc="60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90" b="1">
                <a:solidFill>
                  <a:srgbClr val="000000"/>
                </a:solidFill>
                <a:latin typeface="微软雅黑"/>
                <a:cs typeface="微软雅黑"/>
              </a:rPr>
              <a:t>Au-o-Genera-ion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7763" y="904747"/>
            <a:ext cx="6154420" cy="139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latin typeface="微软雅黑"/>
                <a:cs typeface="微软雅黑"/>
              </a:rPr>
              <a:t>Now</a:t>
            </a:r>
            <a:r>
              <a:rPr dirty="0" sz="1800" spc="-30" b="1">
                <a:latin typeface="微软雅黑"/>
                <a:cs typeface="微软雅黑"/>
              </a:rPr>
              <a:t> </a:t>
            </a:r>
            <a:endParaRPr sz="1800">
              <a:latin typeface="微软雅黑"/>
              <a:cs typeface="微软雅黑"/>
            </a:endParaRPr>
          </a:p>
          <a:p>
            <a:pPr marL="355600" indent="-342900">
              <a:lnSpc>
                <a:spcPts val="2125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dirty="0" sz="1800" spc="-5">
                <a:latin typeface="Calibri"/>
                <a:cs typeface="Calibri"/>
              </a:rPr>
              <a:t>thousands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5">
                <a:latin typeface="Calibri"/>
                <a:cs typeface="Calibri"/>
              </a:rPr>
              <a:t>online cloud themes, </a:t>
            </a:r>
            <a:r>
              <a:rPr dirty="0" sz="1800" spc="-10">
                <a:latin typeface="Calibri"/>
                <a:cs typeface="Calibri"/>
              </a:rPr>
              <a:t>mostly </a:t>
            </a:r>
            <a:r>
              <a:rPr dirty="0" sz="1800" spc="-5">
                <a:latin typeface="Calibri"/>
                <a:cs typeface="Calibri"/>
              </a:rPr>
              <a:t>manual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verification,</a:t>
            </a:r>
            <a:endParaRPr sz="18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45"/>
              </a:spcBef>
            </a:pPr>
            <a:r>
              <a:rPr dirty="0" sz="1800" spc="-10">
                <a:latin typeface="Calibri"/>
                <a:cs typeface="Calibri"/>
              </a:rPr>
              <a:t>many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unmaintained</a:t>
            </a:r>
            <a:endParaRPr sz="1800">
              <a:latin typeface="Calibri"/>
              <a:cs typeface="Calibri"/>
            </a:endParaRPr>
          </a:p>
          <a:p>
            <a:pPr marL="355600" marR="375285" indent="-342900">
              <a:lnSpc>
                <a:spcPts val="2090"/>
              </a:lnSpc>
              <a:spcBef>
                <a:spcPts val="170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dirty="0" sz="1800" spc="-5">
                <a:latin typeface="Calibri"/>
                <a:cs typeface="Calibri"/>
              </a:rPr>
              <a:t>The main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5">
                <a:latin typeface="Calibri"/>
                <a:cs typeface="Calibri"/>
              </a:rPr>
              <a:t>subtitles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5">
                <a:latin typeface="Calibri"/>
                <a:cs typeface="Calibri"/>
              </a:rPr>
              <a:t>the cloud theme </a:t>
            </a:r>
            <a:r>
              <a:rPr dirty="0" sz="1800" spc="-10">
                <a:latin typeface="Calibri"/>
                <a:cs typeface="Calibri"/>
              </a:rPr>
              <a:t>are too </a:t>
            </a:r>
            <a:r>
              <a:rPr dirty="0" sz="1800" spc="-5">
                <a:latin typeface="Calibri"/>
                <a:cs typeface="Calibri"/>
              </a:rPr>
              <a:t>plain </a:t>
            </a:r>
            <a:r>
              <a:rPr dirty="0" sz="1800" spc="-15">
                <a:latin typeface="Calibri"/>
                <a:cs typeface="Calibri"/>
              </a:rPr>
              <a:t>to  attract </a:t>
            </a:r>
            <a:r>
              <a:rPr dirty="0" sz="1800" spc="-10">
                <a:latin typeface="Calibri"/>
                <a:cs typeface="Calibri"/>
              </a:rPr>
              <a:t>users 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click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8224" y="2301239"/>
            <a:ext cx="3203448" cy="4556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63295" y="2496311"/>
            <a:ext cx="2618232" cy="4023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203448" y="2301239"/>
            <a:ext cx="3179064" cy="45567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95471" y="2496311"/>
            <a:ext cx="2596896" cy="398678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6871426" y="904747"/>
            <a:ext cx="4488180" cy="4134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0" b="1">
                <a:latin typeface="Calibri"/>
                <a:cs typeface="Calibri"/>
              </a:rPr>
              <a:t>Future:</a:t>
            </a:r>
            <a:endParaRPr sz="1800">
              <a:latin typeface="Calibri"/>
              <a:cs typeface="Calibri"/>
            </a:endParaRPr>
          </a:p>
          <a:p>
            <a:pPr marL="355600" indent="-342900">
              <a:lnSpc>
                <a:spcPts val="2125"/>
              </a:lnSpc>
              <a:buAutoNum type="arabicPeriod"/>
              <a:tabLst>
                <a:tab pos="354965" algn="l"/>
                <a:tab pos="355600" algn="l"/>
              </a:tabLst>
            </a:pPr>
            <a:r>
              <a:rPr dirty="0" sz="1800" spc="-10">
                <a:latin typeface="Calibri"/>
                <a:cs typeface="Calibri"/>
              </a:rPr>
              <a:t>Automatically </a:t>
            </a:r>
            <a:r>
              <a:rPr dirty="0" sz="1800" spc="-15">
                <a:latin typeface="Calibri"/>
                <a:cs typeface="Calibri"/>
              </a:rPr>
              <a:t>generate </a:t>
            </a:r>
            <a:r>
              <a:rPr dirty="0" sz="1800" spc="-5">
                <a:latin typeface="Calibri"/>
                <a:cs typeface="Calibri"/>
              </a:rPr>
              <a:t>cloud topics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through</a:t>
            </a:r>
            <a:endParaRPr sz="1800">
              <a:latin typeface="Calibri"/>
              <a:cs typeface="Calibri"/>
            </a:endParaRPr>
          </a:p>
          <a:p>
            <a:pPr algn="just" marL="355600" marR="391795">
              <a:lnSpc>
                <a:spcPct val="99400"/>
              </a:lnSpc>
              <a:spcBef>
                <a:spcPts val="60"/>
              </a:spcBef>
            </a:pPr>
            <a:r>
              <a:rPr dirty="0" sz="1800" spc="-5">
                <a:latin typeface="Calibri"/>
                <a:cs typeface="Calibri"/>
              </a:rPr>
              <a:t>algorithms, produce them in </a:t>
            </a:r>
            <a:r>
              <a:rPr dirty="0" sz="1800" spc="-10">
                <a:latin typeface="Calibri"/>
                <a:cs typeface="Calibri"/>
              </a:rPr>
              <a:t>batches </a:t>
            </a:r>
            <a:r>
              <a:rPr dirty="0" sz="1800" spc="-5">
                <a:latin typeface="Calibri"/>
                <a:cs typeface="Calibri"/>
              </a:rPr>
              <a:t>by  algorithms,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automatically </a:t>
            </a:r>
            <a:r>
              <a:rPr dirty="0" sz="1800" spc="-15">
                <a:latin typeface="Calibri"/>
                <a:cs typeface="Calibri"/>
              </a:rPr>
              <a:t>iteratively  </a:t>
            </a:r>
            <a:r>
              <a:rPr dirty="0" sz="1800" spc="-10">
                <a:latin typeface="Calibri"/>
                <a:cs typeface="Calibri"/>
              </a:rPr>
              <a:t>optimize.</a:t>
            </a:r>
            <a:endParaRPr sz="1800">
              <a:latin typeface="Calibri"/>
              <a:cs typeface="Calibri"/>
            </a:endParaRPr>
          </a:p>
          <a:p>
            <a:pPr marL="355600" marR="92710" indent="-342900">
              <a:lnSpc>
                <a:spcPts val="2090"/>
              </a:lnSpc>
              <a:spcBef>
                <a:spcPts val="175"/>
              </a:spcBef>
              <a:buAutoNum type="arabicPeriod" startAt="2"/>
              <a:tabLst>
                <a:tab pos="354965" algn="l"/>
                <a:tab pos="355600" algn="l"/>
              </a:tabLst>
            </a:pPr>
            <a:r>
              <a:rPr dirty="0" sz="1800" spc="-5">
                <a:latin typeface="Calibri"/>
                <a:cs typeface="Calibri"/>
              </a:rPr>
              <a:t>Learn </a:t>
            </a:r>
            <a:r>
              <a:rPr dirty="0" sz="1800" spc="-15">
                <a:latin typeface="Calibri"/>
                <a:cs typeface="Calibri"/>
              </a:rPr>
              <a:t>to </a:t>
            </a:r>
            <a:r>
              <a:rPr dirty="0" sz="1800" spc="-5">
                <a:latin typeface="Calibri"/>
                <a:cs typeface="Calibri"/>
              </a:rPr>
              <a:t>produce scene-oriented, </a:t>
            </a:r>
            <a:r>
              <a:rPr dirty="0" sz="1800" spc="-15">
                <a:latin typeface="Calibri"/>
                <a:cs typeface="Calibri"/>
              </a:rPr>
              <a:t>attractive  </a:t>
            </a:r>
            <a:r>
              <a:rPr dirty="0" sz="1800" spc="-5">
                <a:latin typeface="Calibri"/>
                <a:cs typeface="Calibri"/>
              </a:rPr>
              <a:t>main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subtitles.</a:t>
            </a:r>
            <a:endParaRPr sz="1800">
              <a:latin typeface="Calibri"/>
              <a:cs typeface="Calibri"/>
            </a:endParaRPr>
          </a:p>
          <a:p>
            <a:pPr algn="just" marL="355600">
              <a:lnSpc>
                <a:spcPts val="2150"/>
              </a:lnSpc>
            </a:pPr>
            <a:r>
              <a:rPr dirty="0" sz="1800" spc="-10">
                <a:latin typeface="Calibri"/>
                <a:cs typeface="Calibri"/>
              </a:rPr>
              <a:t>ex: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125"/>
              </a:lnSpc>
              <a:spcBef>
                <a:spcPts val="45"/>
              </a:spcBef>
            </a:pPr>
            <a:r>
              <a:rPr dirty="0" sz="1800" spc="-5">
                <a:latin typeface="Calibri"/>
                <a:cs typeface="Calibri"/>
              </a:rPr>
              <a:t>1</a:t>
            </a:r>
            <a:r>
              <a:rPr dirty="0" baseline="23148" sz="1800" spc="-7">
                <a:latin typeface="Calibri"/>
                <a:cs typeface="Calibri"/>
              </a:rPr>
              <a:t>st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theme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125"/>
              </a:lnSpc>
            </a:pPr>
            <a:r>
              <a:rPr dirty="0" sz="1800" spc="-5">
                <a:latin typeface="Calibri"/>
                <a:cs typeface="Calibri"/>
              </a:rPr>
              <a:t>Main Title: The </a:t>
            </a:r>
            <a:r>
              <a:rPr dirty="0" sz="1800" spc="-10">
                <a:latin typeface="Calibri"/>
                <a:cs typeface="Calibri"/>
              </a:rPr>
              <a:t>coolest </a:t>
            </a:r>
            <a:r>
              <a:rPr dirty="0" sz="1800" spc="-5">
                <a:latin typeface="Calibri"/>
                <a:cs typeface="Calibri"/>
              </a:rPr>
              <a:t>"digital"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baby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0"/>
              </a:spcBef>
            </a:pPr>
            <a:r>
              <a:rPr dirty="0" sz="1800" spc="-5">
                <a:latin typeface="Calibri"/>
                <a:cs typeface="Calibri"/>
              </a:rPr>
              <a:t>Subtitle: </a:t>
            </a:r>
            <a:r>
              <a:rPr dirty="0" sz="1800" spc="-10">
                <a:latin typeface="Calibri"/>
                <a:cs typeface="Calibri"/>
              </a:rPr>
              <a:t>Immersive game </a:t>
            </a:r>
            <a:r>
              <a:rPr dirty="0" sz="1800" spc="-5">
                <a:latin typeface="Calibri"/>
                <a:cs typeface="Calibri"/>
              </a:rPr>
              <a:t>experience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8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dirty="0" sz="1800" spc="-5">
                <a:latin typeface="Calibri"/>
                <a:cs typeface="Calibri"/>
              </a:rPr>
              <a:t>2</a:t>
            </a:r>
            <a:r>
              <a:rPr dirty="0" baseline="23148" sz="1800" spc="-7">
                <a:latin typeface="Calibri"/>
                <a:cs typeface="Calibri"/>
              </a:rPr>
              <a:t>nd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theme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125"/>
              </a:lnSpc>
              <a:spcBef>
                <a:spcPts val="45"/>
              </a:spcBef>
            </a:pPr>
            <a:r>
              <a:rPr dirty="0" sz="1800" spc="-5">
                <a:latin typeface="Calibri"/>
                <a:cs typeface="Calibri"/>
              </a:rPr>
              <a:t>Main Title: Baby </a:t>
            </a:r>
            <a:r>
              <a:rPr dirty="0" sz="1800" spc="-10">
                <a:latin typeface="Calibri"/>
                <a:cs typeface="Calibri"/>
              </a:rPr>
              <a:t>winter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Heater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125"/>
              </a:lnSpc>
            </a:pPr>
            <a:r>
              <a:rPr dirty="0" sz="1800" spc="-5">
                <a:latin typeface="Calibri"/>
                <a:cs typeface="Calibri"/>
              </a:rPr>
              <a:t>Subtitle: </a:t>
            </a:r>
            <a:r>
              <a:rPr dirty="0" sz="1800" spc="-10">
                <a:latin typeface="Calibri"/>
                <a:cs typeface="Calibri"/>
              </a:rPr>
              <a:t>Provide warm </a:t>
            </a:r>
            <a:r>
              <a:rPr dirty="0" sz="1800" spc="-5">
                <a:latin typeface="Calibri"/>
                <a:cs typeface="Calibri"/>
              </a:rPr>
              <a:t>sleep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 spc="-10">
                <a:latin typeface="Calibri"/>
                <a:cs typeface="Calibri"/>
              </a:rPr>
              <a:t>your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baby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30846" y="5150611"/>
            <a:ext cx="789305" cy="5683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189230">
              <a:lnSpc>
                <a:spcPts val="2110"/>
              </a:lnSpc>
              <a:spcBef>
                <a:spcPts val="210"/>
              </a:spcBef>
            </a:pPr>
            <a:r>
              <a:rPr dirty="0" sz="1800">
                <a:latin typeface="Calibri"/>
                <a:cs typeface="Calibri"/>
              </a:rPr>
              <a:t>Led  </a:t>
            </a:r>
            <a:r>
              <a:rPr dirty="0" sz="1800" spc="-5">
                <a:latin typeface="Calibri"/>
                <a:cs typeface="Calibri"/>
              </a:rPr>
              <a:t>M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800" spc="0">
                <a:latin typeface="Calibri"/>
                <a:cs typeface="Calibri"/>
              </a:rPr>
              <a:t>n</a:t>
            </a:r>
            <a:r>
              <a:rPr dirty="0" sz="1800" spc="-5">
                <a:latin typeface="Calibri"/>
                <a:cs typeface="Calibri"/>
              </a:rPr>
              <a:t>i</a:t>
            </a:r>
            <a:r>
              <a:rPr dirty="0" sz="1800" spc="-25">
                <a:latin typeface="Calibri"/>
                <a:cs typeface="Calibri"/>
              </a:rPr>
              <a:t>t</a:t>
            </a:r>
            <a:r>
              <a:rPr dirty="0" sz="1800">
                <a:latin typeface="Calibri"/>
                <a:cs typeface="Calibri"/>
              </a:rPr>
              <a:t>or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47411" y="5257291"/>
            <a:ext cx="65595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6364" marR="5080" indent="-114300">
              <a:lnSpc>
                <a:spcPts val="2090"/>
              </a:lnSpc>
              <a:spcBef>
                <a:spcPts val="225"/>
              </a:spcBef>
            </a:pPr>
            <a:r>
              <a:rPr dirty="0" sz="1800">
                <a:latin typeface="Calibri"/>
                <a:cs typeface="Calibri"/>
              </a:rPr>
              <a:t>Co</a:t>
            </a:r>
            <a:r>
              <a:rPr dirty="0" sz="1800" spc="-30">
                <a:latin typeface="Calibri"/>
                <a:cs typeface="Calibri"/>
              </a:rPr>
              <a:t>t</a:t>
            </a:r>
            <a:r>
              <a:rPr dirty="0" sz="1800" spc="-25">
                <a:latin typeface="Calibri"/>
                <a:cs typeface="Calibri"/>
              </a:rPr>
              <a:t>t</a:t>
            </a:r>
            <a:r>
              <a:rPr dirty="0" sz="1800">
                <a:latin typeface="Calibri"/>
                <a:cs typeface="Calibri"/>
              </a:rPr>
              <a:t>on  Quilt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5198" y="438404"/>
            <a:ext cx="598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Title  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uto-Generation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4429" y="1200403"/>
            <a:ext cx="37230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5">
                <a:latin typeface="微软雅黑"/>
                <a:cs typeface="微软雅黑"/>
              </a:rPr>
              <a:t>Methodl: </a:t>
            </a:r>
            <a:r>
              <a:rPr dirty="0" sz="2400" spc="-15">
                <a:latin typeface="微软雅黑"/>
                <a:cs typeface="微软雅黑"/>
              </a:rPr>
              <a:t>retrieval</a:t>
            </a:r>
            <a:r>
              <a:rPr dirty="0" sz="2400" spc="-9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model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72281" y="1703323"/>
            <a:ext cx="1497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Retrieval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72281" y="3035299"/>
            <a:ext cx="1712595" cy="6959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800">
                <a:latin typeface="Calibri"/>
                <a:cs typeface="Calibri"/>
              </a:rPr>
              <a:t>+ </a:t>
            </a:r>
            <a:r>
              <a:rPr dirty="0" sz="1800" spc="-5">
                <a:latin typeface="Calibri"/>
                <a:cs typeface="Calibri"/>
              </a:rPr>
              <a:t>manual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rules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800">
                <a:latin typeface="Calibri"/>
                <a:cs typeface="Calibri"/>
              </a:rPr>
              <a:t>+ </a:t>
            </a:r>
            <a:r>
              <a:rPr dirty="0" sz="1800" spc="-15">
                <a:latin typeface="Calibri"/>
                <a:cs typeface="Calibri"/>
              </a:rPr>
              <a:t>cate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distribution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072281" y="4998211"/>
            <a:ext cx="11137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Rank by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IDF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12699" y="2373923"/>
            <a:ext cx="1476375" cy="668020"/>
          </a:xfrm>
          <a:custGeom>
            <a:avLst/>
            <a:gdLst/>
            <a:ahLst/>
            <a:cxnLst/>
            <a:rect l="l" t="t" r="r" b="b"/>
            <a:pathLst>
              <a:path w="1476375" h="668019">
                <a:moveTo>
                  <a:pt x="1364559" y="0"/>
                </a:moveTo>
                <a:lnTo>
                  <a:pt x="111245" y="0"/>
                </a:lnTo>
                <a:lnTo>
                  <a:pt x="67944" y="8742"/>
                </a:lnTo>
                <a:lnTo>
                  <a:pt x="32583" y="32582"/>
                </a:lnTo>
                <a:lnTo>
                  <a:pt x="8742" y="67943"/>
                </a:lnTo>
                <a:lnTo>
                  <a:pt x="0" y="111245"/>
                </a:lnTo>
                <a:lnTo>
                  <a:pt x="0" y="556216"/>
                </a:lnTo>
                <a:lnTo>
                  <a:pt x="8742" y="599518"/>
                </a:lnTo>
                <a:lnTo>
                  <a:pt x="32583" y="634879"/>
                </a:lnTo>
                <a:lnTo>
                  <a:pt x="67944" y="658720"/>
                </a:lnTo>
                <a:lnTo>
                  <a:pt x="111245" y="667462"/>
                </a:lnTo>
                <a:lnTo>
                  <a:pt x="1364559" y="667462"/>
                </a:lnTo>
                <a:lnTo>
                  <a:pt x="1407860" y="658720"/>
                </a:lnTo>
                <a:lnTo>
                  <a:pt x="1443220" y="634879"/>
                </a:lnTo>
                <a:lnTo>
                  <a:pt x="1467061" y="599518"/>
                </a:lnTo>
                <a:lnTo>
                  <a:pt x="1475803" y="556216"/>
                </a:lnTo>
                <a:lnTo>
                  <a:pt x="1475803" y="111245"/>
                </a:lnTo>
                <a:lnTo>
                  <a:pt x="1467061" y="67943"/>
                </a:lnTo>
                <a:lnTo>
                  <a:pt x="1443220" y="32582"/>
                </a:lnTo>
                <a:lnTo>
                  <a:pt x="1407860" y="8742"/>
                </a:lnTo>
                <a:lnTo>
                  <a:pt x="1364559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102025" y="2438908"/>
            <a:ext cx="109664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417195" marR="5080" indent="-405130">
              <a:lnSpc>
                <a:spcPts val="1900"/>
              </a:lnSpc>
              <a:spcBef>
                <a:spcPts val="180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M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chandis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dirty="0" sz="1600" spc="-5">
                <a:solidFill>
                  <a:srgbClr val="FFFFFF"/>
                </a:solidFill>
                <a:latin typeface="Calibri"/>
                <a:cs typeface="Calibri"/>
              </a:rPr>
              <a:t>Set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564148" y="2370746"/>
            <a:ext cx="1435735" cy="671195"/>
          </a:xfrm>
          <a:custGeom>
            <a:avLst/>
            <a:gdLst/>
            <a:ahLst/>
            <a:cxnLst/>
            <a:rect l="l" t="t" r="r" b="b"/>
            <a:pathLst>
              <a:path w="1435734" h="671194">
                <a:moveTo>
                  <a:pt x="0" y="670638"/>
                </a:moveTo>
                <a:lnTo>
                  <a:pt x="1435309" y="670638"/>
                </a:lnTo>
                <a:lnTo>
                  <a:pt x="1435309" y="0"/>
                </a:lnTo>
                <a:lnTo>
                  <a:pt x="0" y="0"/>
                </a:lnTo>
                <a:lnTo>
                  <a:pt x="0" y="670638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856352" y="2423667"/>
            <a:ext cx="850900" cy="537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1445" marR="5080" indent="-119380">
              <a:lnSpc>
                <a:spcPct val="105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1600" spc="0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da</a:t>
            </a:r>
            <a:r>
              <a:rPr dirty="0" sz="1600" spc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e 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Querys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31823" y="2320463"/>
            <a:ext cx="1397000" cy="671195"/>
          </a:xfrm>
          <a:prstGeom prst="rect">
            <a:avLst/>
          </a:prstGeom>
          <a:solidFill>
            <a:srgbClr val="396EC9"/>
          </a:solidFill>
        </p:spPr>
        <p:txBody>
          <a:bodyPr wrap="square" lIns="0" tIns="69850" rIns="0" bIns="0" rtlCol="0" vert="horz">
            <a:spAutoFit/>
          </a:bodyPr>
          <a:lstStyle/>
          <a:p>
            <a:pPr marL="107950" marR="100330" indent="202565">
              <a:lnSpc>
                <a:spcPct val="103800"/>
              </a:lnSpc>
              <a:spcBef>
                <a:spcPts val="550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Candidate  </a:t>
            </a: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TAOTips</a:t>
            </a:r>
            <a:r>
              <a:rPr dirty="0" sz="1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5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42119" y="3939509"/>
            <a:ext cx="1861820" cy="671195"/>
          </a:xfrm>
          <a:prstGeom prst="rect">
            <a:avLst/>
          </a:prstGeom>
          <a:solidFill>
            <a:srgbClr val="396EC9"/>
          </a:solidFill>
        </p:spPr>
        <p:txBody>
          <a:bodyPr wrap="square" lIns="0" tIns="69215" rIns="0" bIns="0" rtlCol="0" vert="horz">
            <a:spAutoFit/>
          </a:bodyPr>
          <a:lstStyle/>
          <a:p>
            <a:pPr marL="163195" marR="155575" indent="379730">
              <a:lnSpc>
                <a:spcPct val="103800"/>
              </a:lnSpc>
              <a:spcBef>
                <a:spcPts val="545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Candidate  Cloud Theme</a:t>
            </a:r>
            <a:r>
              <a:rPr dirty="0" sz="1600" spc="-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15">
                <a:solidFill>
                  <a:srgbClr val="FFFFFF"/>
                </a:solidFill>
                <a:latin typeface="Times New Roman"/>
                <a:cs typeface="Times New Roman"/>
              </a:rPr>
              <a:t>Title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035215" y="650415"/>
            <a:ext cx="1769110" cy="735965"/>
          </a:xfrm>
          <a:custGeom>
            <a:avLst/>
            <a:gdLst/>
            <a:ahLst/>
            <a:cxnLst/>
            <a:rect l="l" t="t" r="r" b="b"/>
            <a:pathLst>
              <a:path w="1769109" h="735965">
                <a:moveTo>
                  <a:pt x="1646039" y="0"/>
                </a:moveTo>
                <a:lnTo>
                  <a:pt x="0" y="0"/>
                </a:lnTo>
                <a:lnTo>
                  <a:pt x="0" y="735429"/>
                </a:lnTo>
                <a:lnTo>
                  <a:pt x="1768613" y="735429"/>
                </a:lnTo>
                <a:lnTo>
                  <a:pt x="1768613" y="122574"/>
                </a:lnTo>
                <a:lnTo>
                  <a:pt x="1646039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9498925" y="780796"/>
            <a:ext cx="77978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35">
                <a:solidFill>
                  <a:srgbClr val="FFFFFF"/>
                </a:solidFill>
                <a:latin typeface="Times New Roman"/>
                <a:cs typeface="Times New Roman"/>
              </a:rPr>
              <a:t>TAOTips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2754" y="1033780"/>
            <a:ext cx="149288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Article</a:t>
            </a:r>
            <a:r>
              <a:rPr dirty="0" sz="16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Collection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942119" y="5644509"/>
            <a:ext cx="1769745" cy="671195"/>
          </a:xfrm>
          <a:prstGeom prst="rect">
            <a:avLst/>
          </a:prstGeom>
          <a:solidFill>
            <a:srgbClr val="1471FF"/>
          </a:solidFill>
        </p:spPr>
        <p:txBody>
          <a:bodyPr wrap="square" lIns="0" tIns="19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</a:pP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Sorted Result</a:t>
            </a:r>
            <a:r>
              <a:rPr dirty="0" sz="1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538702" y="2555689"/>
            <a:ext cx="915669" cy="285750"/>
          </a:xfrm>
          <a:custGeom>
            <a:avLst/>
            <a:gdLst/>
            <a:ahLst/>
            <a:cxnLst/>
            <a:rect l="l" t="t" r="r" b="b"/>
            <a:pathLst>
              <a:path w="915670" h="285750">
                <a:moveTo>
                  <a:pt x="772721" y="0"/>
                </a:moveTo>
                <a:lnTo>
                  <a:pt x="772721" y="71290"/>
                </a:lnTo>
                <a:lnTo>
                  <a:pt x="0" y="71290"/>
                </a:lnTo>
                <a:lnTo>
                  <a:pt x="0" y="213866"/>
                </a:lnTo>
                <a:lnTo>
                  <a:pt x="772721" y="213866"/>
                </a:lnTo>
                <a:lnTo>
                  <a:pt x="772721" y="285156"/>
                </a:lnTo>
                <a:lnTo>
                  <a:pt x="915297" y="142579"/>
                </a:lnTo>
                <a:lnTo>
                  <a:pt x="772721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00554" y="1408056"/>
            <a:ext cx="1263015" cy="786765"/>
          </a:xfrm>
          <a:custGeom>
            <a:avLst/>
            <a:gdLst/>
            <a:ahLst/>
            <a:cxnLst/>
            <a:rect l="l" t="t" r="r" b="b"/>
            <a:pathLst>
              <a:path w="1263015" h="786764">
                <a:moveTo>
                  <a:pt x="1066812" y="0"/>
                </a:moveTo>
                <a:lnTo>
                  <a:pt x="1101186" y="63482"/>
                </a:lnTo>
                <a:lnTo>
                  <a:pt x="0" y="659752"/>
                </a:lnTo>
                <a:lnTo>
                  <a:pt x="68746" y="786712"/>
                </a:lnTo>
                <a:lnTo>
                  <a:pt x="1169932" y="190442"/>
                </a:lnTo>
                <a:lnTo>
                  <a:pt x="1223189" y="190442"/>
                </a:lnTo>
                <a:lnTo>
                  <a:pt x="1262520" y="58214"/>
                </a:lnTo>
                <a:lnTo>
                  <a:pt x="1066812" y="0"/>
                </a:lnTo>
                <a:close/>
              </a:path>
              <a:path w="1263015" h="786764">
                <a:moveTo>
                  <a:pt x="1223189" y="190442"/>
                </a:moveTo>
                <a:lnTo>
                  <a:pt x="1169932" y="190442"/>
                </a:lnTo>
                <a:lnTo>
                  <a:pt x="1204306" y="253922"/>
                </a:lnTo>
                <a:lnTo>
                  <a:pt x="1223189" y="190442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76134" y="1489570"/>
            <a:ext cx="317500" cy="800100"/>
          </a:xfrm>
          <a:custGeom>
            <a:avLst/>
            <a:gdLst/>
            <a:ahLst/>
            <a:cxnLst/>
            <a:rect l="l" t="t" r="r" b="b"/>
            <a:pathLst>
              <a:path w="317500" h="800100">
                <a:moveTo>
                  <a:pt x="317406" y="640982"/>
                </a:moveTo>
                <a:lnTo>
                  <a:pt x="0" y="640982"/>
                </a:lnTo>
                <a:lnTo>
                  <a:pt x="158703" y="799685"/>
                </a:lnTo>
                <a:lnTo>
                  <a:pt x="317406" y="640982"/>
                </a:lnTo>
                <a:close/>
              </a:path>
              <a:path w="317500" h="800100">
                <a:moveTo>
                  <a:pt x="238053" y="0"/>
                </a:moveTo>
                <a:lnTo>
                  <a:pt x="79352" y="0"/>
                </a:lnTo>
                <a:lnTo>
                  <a:pt x="79352" y="640982"/>
                </a:lnTo>
                <a:lnTo>
                  <a:pt x="238053" y="640982"/>
                </a:lnTo>
                <a:lnTo>
                  <a:pt x="238053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676134" y="3075359"/>
            <a:ext cx="317500" cy="800100"/>
          </a:xfrm>
          <a:custGeom>
            <a:avLst/>
            <a:gdLst/>
            <a:ahLst/>
            <a:cxnLst/>
            <a:rect l="l" t="t" r="r" b="b"/>
            <a:pathLst>
              <a:path w="317500" h="800100">
                <a:moveTo>
                  <a:pt x="317406" y="640984"/>
                </a:moveTo>
                <a:lnTo>
                  <a:pt x="0" y="640984"/>
                </a:lnTo>
                <a:lnTo>
                  <a:pt x="158703" y="799685"/>
                </a:lnTo>
                <a:lnTo>
                  <a:pt x="317406" y="640984"/>
                </a:lnTo>
                <a:close/>
              </a:path>
              <a:path w="317500" h="800100">
                <a:moveTo>
                  <a:pt x="238053" y="0"/>
                </a:moveTo>
                <a:lnTo>
                  <a:pt x="79352" y="0"/>
                </a:lnTo>
                <a:lnTo>
                  <a:pt x="79352" y="640984"/>
                </a:lnTo>
                <a:lnTo>
                  <a:pt x="238053" y="640984"/>
                </a:lnTo>
                <a:lnTo>
                  <a:pt x="238053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676134" y="4756798"/>
            <a:ext cx="317500" cy="800100"/>
          </a:xfrm>
          <a:custGeom>
            <a:avLst/>
            <a:gdLst/>
            <a:ahLst/>
            <a:cxnLst/>
            <a:rect l="l" t="t" r="r" b="b"/>
            <a:pathLst>
              <a:path w="317500" h="800100">
                <a:moveTo>
                  <a:pt x="317406" y="640984"/>
                </a:moveTo>
                <a:lnTo>
                  <a:pt x="0" y="640984"/>
                </a:lnTo>
                <a:lnTo>
                  <a:pt x="158703" y="799685"/>
                </a:lnTo>
                <a:lnTo>
                  <a:pt x="317406" y="640984"/>
                </a:lnTo>
                <a:close/>
              </a:path>
              <a:path w="317500" h="800100">
                <a:moveTo>
                  <a:pt x="238053" y="0"/>
                </a:moveTo>
                <a:lnTo>
                  <a:pt x="79352" y="0"/>
                </a:lnTo>
                <a:lnTo>
                  <a:pt x="79352" y="640984"/>
                </a:lnTo>
                <a:lnTo>
                  <a:pt x="238053" y="640984"/>
                </a:lnTo>
                <a:lnTo>
                  <a:pt x="238053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467243" y="2237739"/>
            <a:ext cx="9391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latin typeface="Calibri"/>
                <a:cs typeface="Calibri"/>
              </a:rPr>
              <a:t>Rank </a:t>
            </a:r>
            <a:r>
              <a:rPr dirty="0" sz="1600" spc="-10">
                <a:latin typeface="Calibri"/>
                <a:cs typeface="Calibri"/>
              </a:rPr>
              <a:t>by</a:t>
            </a:r>
            <a:r>
              <a:rPr dirty="0" sz="1600" spc="-8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PV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119916" y="2555689"/>
            <a:ext cx="915669" cy="285750"/>
          </a:xfrm>
          <a:custGeom>
            <a:avLst/>
            <a:gdLst/>
            <a:ahLst/>
            <a:cxnLst/>
            <a:rect l="l" t="t" r="r" b="b"/>
            <a:pathLst>
              <a:path w="915670" h="285750">
                <a:moveTo>
                  <a:pt x="772721" y="0"/>
                </a:moveTo>
                <a:lnTo>
                  <a:pt x="772721" y="71290"/>
                </a:lnTo>
                <a:lnTo>
                  <a:pt x="0" y="71290"/>
                </a:lnTo>
                <a:lnTo>
                  <a:pt x="0" y="213866"/>
                </a:lnTo>
                <a:lnTo>
                  <a:pt x="772721" y="213866"/>
                </a:lnTo>
                <a:lnTo>
                  <a:pt x="772721" y="285156"/>
                </a:lnTo>
                <a:lnTo>
                  <a:pt x="915299" y="142579"/>
                </a:lnTo>
                <a:lnTo>
                  <a:pt x="772721" y="0"/>
                </a:lnTo>
                <a:close/>
              </a:path>
            </a:pathLst>
          </a:custGeom>
          <a:solidFill>
            <a:srgbClr val="396EC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592179" y="1835391"/>
            <a:ext cx="2474595" cy="132524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lIns="0" tIns="37465" rIns="0" bIns="0" rtlCol="0" vert="horz">
            <a:spAutoFit/>
          </a:bodyPr>
          <a:lstStyle/>
          <a:p>
            <a:pPr marL="84455" marR="205104">
              <a:lnSpc>
                <a:spcPts val="1900"/>
              </a:lnSpc>
              <a:spcBef>
                <a:spcPts val="295"/>
              </a:spcBef>
            </a:pPr>
            <a:r>
              <a:rPr dirty="0" sz="1600" spc="-5">
                <a:latin typeface="Calibri"/>
                <a:cs typeface="Calibri"/>
              </a:rPr>
              <a:t>Civic 10</a:t>
            </a:r>
            <a:r>
              <a:rPr dirty="0" baseline="25252" sz="1650" spc="-7">
                <a:latin typeface="Calibri"/>
                <a:cs typeface="Calibri"/>
              </a:rPr>
              <a:t>th </a:t>
            </a:r>
            <a:r>
              <a:rPr dirty="0" sz="1600" spc="-10">
                <a:latin typeface="Calibri"/>
                <a:cs typeface="Calibri"/>
              </a:rPr>
              <a:t>gen modification  </a:t>
            </a:r>
            <a:r>
              <a:rPr dirty="0" sz="1600" spc="-5">
                <a:latin typeface="Calibri"/>
                <a:cs typeface="Calibri"/>
              </a:rPr>
              <a:t>Civic </a:t>
            </a:r>
            <a:r>
              <a:rPr dirty="0" sz="1600" spc="-10">
                <a:latin typeface="Calibri"/>
                <a:cs typeface="Calibri"/>
              </a:rPr>
              <a:t>Modification  </a:t>
            </a:r>
            <a:r>
              <a:rPr dirty="0" sz="1600" spc="-15">
                <a:latin typeface="Calibri"/>
                <a:cs typeface="Calibri"/>
              </a:rPr>
              <a:t>Angkerra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Modification</a:t>
            </a:r>
            <a:endParaRPr sz="160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30"/>
              </a:spcBef>
            </a:pPr>
            <a:r>
              <a:rPr dirty="0" sz="1600" spc="-5">
                <a:latin typeface="Calibri"/>
                <a:cs typeface="Calibri"/>
              </a:rPr>
              <a:t>Fit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modification</a:t>
            </a:r>
            <a:endParaRPr sz="160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70"/>
              </a:spcBef>
            </a:pPr>
            <a:r>
              <a:rPr dirty="0" sz="1600" spc="800">
                <a:latin typeface="宋体"/>
                <a:cs typeface="宋体"/>
              </a:rPr>
              <a:t>  </a:t>
            </a:r>
            <a:endParaRPr sz="16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92179" y="3299243"/>
            <a:ext cx="5356225" cy="167830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lIns="0" tIns="64135" rIns="0" bIns="0" rtlCol="0" vert="horz">
            <a:spAutoFit/>
          </a:bodyPr>
          <a:lstStyle/>
          <a:p>
            <a:pPr marL="84455" marR="144145">
              <a:lnSpc>
                <a:spcPct val="100000"/>
              </a:lnSpc>
              <a:spcBef>
                <a:spcPts val="505"/>
              </a:spcBef>
            </a:pPr>
            <a:r>
              <a:rPr dirty="0" sz="1400" spc="-5">
                <a:latin typeface="Calibri"/>
                <a:cs typeface="Calibri"/>
              </a:rPr>
              <a:t>Appearance of </a:t>
            </a:r>
            <a:r>
              <a:rPr dirty="0" sz="1400">
                <a:latin typeface="Calibri"/>
                <a:cs typeface="Calibri"/>
              </a:rPr>
              <a:t>10</a:t>
            </a:r>
            <a:r>
              <a:rPr dirty="0" baseline="24691" sz="1350">
                <a:latin typeface="Calibri"/>
                <a:cs typeface="Calibri"/>
              </a:rPr>
              <a:t>th-</a:t>
            </a:r>
            <a:r>
              <a:rPr dirty="0" sz="1400">
                <a:latin typeface="Calibri"/>
                <a:cs typeface="Calibri"/>
              </a:rPr>
              <a:t>gen Civic is </a:t>
            </a:r>
            <a:r>
              <a:rPr dirty="0" sz="1400" spc="-5">
                <a:latin typeface="Calibri"/>
                <a:cs typeface="Calibri"/>
              </a:rPr>
              <a:t>modified to </a:t>
            </a:r>
            <a:r>
              <a:rPr dirty="0" sz="1400" spc="-15">
                <a:solidFill>
                  <a:srgbClr val="FF0000"/>
                </a:solidFill>
                <a:latin typeface="Calibri"/>
                <a:cs typeface="Calibri"/>
              </a:rPr>
              <a:t>make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it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even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more exciting.  </a:t>
            </a:r>
            <a:r>
              <a:rPr dirty="0" sz="1400">
                <a:latin typeface="Calibri"/>
                <a:cs typeface="Calibri"/>
              </a:rPr>
              <a:t>The </a:t>
            </a:r>
            <a:r>
              <a:rPr dirty="0" sz="1400" spc="-5">
                <a:latin typeface="Calibri"/>
                <a:cs typeface="Calibri"/>
              </a:rPr>
              <a:t>new </a:t>
            </a:r>
            <a:r>
              <a:rPr dirty="0" sz="1400">
                <a:latin typeface="Calibri"/>
                <a:cs typeface="Calibri"/>
              </a:rPr>
              <a:t>Civic </a:t>
            </a:r>
            <a:r>
              <a:rPr dirty="0" sz="1400" spc="-5">
                <a:latin typeface="Calibri"/>
                <a:cs typeface="Calibri"/>
              </a:rPr>
              <a:t>changes,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turn your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car into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wild horse</a:t>
            </a:r>
            <a:r>
              <a:rPr dirty="0"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84455" marR="1292225">
              <a:lnSpc>
                <a:spcPct val="101400"/>
              </a:lnSpc>
            </a:pP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Nothing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is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born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perfect</a:t>
            </a:r>
            <a:r>
              <a:rPr dirty="0" sz="1400" spc="-10">
                <a:latin typeface="Calibri"/>
                <a:cs typeface="Calibri"/>
              </a:rPr>
              <a:t>, </a:t>
            </a:r>
            <a:r>
              <a:rPr dirty="0" sz="1400">
                <a:latin typeface="Calibri"/>
                <a:cs typeface="Calibri"/>
              </a:rPr>
              <a:t>a Civic </a:t>
            </a:r>
            <a:r>
              <a:rPr dirty="0" sz="1400" spc="-5">
                <a:latin typeface="Calibri"/>
                <a:cs typeface="Calibri"/>
              </a:rPr>
              <a:t>modified </a:t>
            </a:r>
            <a:r>
              <a:rPr dirty="0" sz="1400" spc="-10">
                <a:latin typeface="Calibri"/>
                <a:cs typeface="Calibri"/>
              </a:rPr>
              <a:t>car </a:t>
            </a:r>
            <a:r>
              <a:rPr dirty="0" sz="1400" spc="-5">
                <a:latin typeface="Calibri"/>
                <a:cs typeface="Calibri"/>
              </a:rPr>
              <a:t>fits you.  </a:t>
            </a:r>
            <a:r>
              <a:rPr dirty="0" sz="1400">
                <a:latin typeface="Calibri"/>
                <a:cs typeface="Calibri"/>
              </a:rPr>
              <a:t>The </a:t>
            </a:r>
            <a:r>
              <a:rPr dirty="0" sz="1400" spc="-5">
                <a:latin typeface="Calibri"/>
                <a:cs typeface="Calibri"/>
              </a:rPr>
              <a:t>new </a:t>
            </a:r>
            <a:r>
              <a:rPr dirty="0" sz="1400">
                <a:latin typeface="Calibri"/>
                <a:cs typeface="Calibri"/>
              </a:rPr>
              <a:t>Civic is </a:t>
            </a:r>
            <a:r>
              <a:rPr dirty="0" sz="1400" spc="-5">
                <a:latin typeface="Calibri"/>
                <a:cs typeface="Calibri"/>
              </a:rPr>
              <a:t>modified to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play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high-powered</a:t>
            </a:r>
            <a:r>
              <a:rPr dirty="0" sz="1400" spc="-5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style</a:t>
            </a:r>
            <a:r>
              <a:rPr dirty="0" sz="1400" spc="-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84455" marR="316230">
              <a:lnSpc>
                <a:spcPts val="1610"/>
              </a:lnSpc>
              <a:spcBef>
                <a:spcPts val="135"/>
              </a:spcBef>
            </a:pP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The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205-horsepower grocery shopping </a:t>
            </a:r>
            <a:r>
              <a:rPr dirty="0" sz="1400" spc="-35">
                <a:solidFill>
                  <a:srgbClr val="FF0000"/>
                </a:solidFill>
                <a:latin typeface="Calibri"/>
                <a:cs typeface="Calibri"/>
              </a:rPr>
              <a:t>car</a:t>
            </a:r>
            <a:r>
              <a:rPr dirty="0" sz="1400" spc="-35">
                <a:latin typeface="Calibri"/>
                <a:cs typeface="Calibri"/>
              </a:rPr>
              <a:t>, </a:t>
            </a:r>
            <a:r>
              <a:rPr dirty="0" sz="1400">
                <a:latin typeface="Calibri"/>
                <a:cs typeface="Calibri"/>
              </a:rPr>
              <a:t>the Civic is so </a:t>
            </a:r>
            <a:r>
              <a:rPr dirty="0" sz="1400" spc="-5">
                <a:latin typeface="Calibri"/>
                <a:cs typeface="Calibri"/>
              </a:rPr>
              <a:t>handsome.  Upgrade </a:t>
            </a:r>
            <a:r>
              <a:rPr dirty="0" sz="1400">
                <a:latin typeface="Calibri"/>
                <a:cs typeface="Calibri"/>
              </a:rPr>
              <a:t>the Civic </a:t>
            </a:r>
            <a:r>
              <a:rPr dirty="0" sz="1400" spc="-5">
                <a:solidFill>
                  <a:srgbClr val="FF0000"/>
                </a:solidFill>
                <a:latin typeface="Calibri"/>
                <a:cs typeface="Calibri"/>
              </a:rPr>
              <a:t>to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create </a:t>
            </a:r>
            <a:r>
              <a:rPr dirty="0" sz="140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dirty="0" sz="1400" spc="-10">
                <a:solidFill>
                  <a:srgbClr val="FF0000"/>
                </a:solidFill>
                <a:latin typeface="Calibri"/>
                <a:cs typeface="Calibri"/>
              </a:rPr>
              <a:t>savage</a:t>
            </a:r>
            <a:r>
              <a:rPr dirty="0" sz="1400" spc="-6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Calibri"/>
                <a:cs typeface="Calibri"/>
              </a:rPr>
              <a:t>calf</a:t>
            </a:r>
            <a:r>
              <a:rPr dirty="0" sz="1400" spc="-25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84455">
              <a:lnSpc>
                <a:spcPct val="100000"/>
              </a:lnSpc>
              <a:spcBef>
                <a:spcPts val="75"/>
              </a:spcBef>
            </a:pPr>
            <a:r>
              <a:rPr dirty="0" sz="1400" spc="700">
                <a:latin typeface="宋体"/>
                <a:cs typeface="宋体"/>
              </a:rPr>
              <a:t>  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9983" y="5261542"/>
            <a:ext cx="2867660" cy="134937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lIns="0" tIns="76200" rIns="0" bIns="0" rtlCol="0" vert="horz">
            <a:spAutoFit/>
          </a:bodyPr>
          <a:lstStyle/>
          <a:p>
            <a:pPr marL="84455" marR="258445">
              <a:lnSpc>
                <a:spcPct val="101200"/>
              </a:lnSpc>
              <a:spcBef>
                <a:spcPts val="600"/>
              </a:spcBef>
            </a:pPr>
            <a:r>
              <a:rPr dirty="0" sz="1600" spc="-30">
                <a:latin typeface="Calibri"/>
                <a:cs typeface="Calibri"/>
              </a:rPr>
              <a:t>Turn </a:t>
            </a:r>
            <a:r>
              <a:rPr dirty="0" sz="1600" spc="-10">
                <a:latin typeface="Calibri"/>
                <a:cs typeface="Calibri"/>
              </a:rPr>
              <a:t>your car into </a:t>
            </a:r>
            <a:r>
              <a:rPr dirty="0" sz="1600">
                <a:latin typeface="Calibri"/>
                <a:cs typeface="Calibri"/>
              </a:rPr>
              <a:t>a </a:t>
            </a:r>
            <a:r>
              <a:rPr dirty="0" sz="1600" spc="-5">
                <a:latin typeface="Calibri"/>
                <a:cs typeface="Calibri"/>
              </a:rPr>
              <a:t>wild </a:t>
            </a:r>
            <a:r>
              <a:rPr dirty="0" sz="1600" spc="-10">
                <a:latin typeface="Calibri"/>
                <a:cs typeface="Calibri"/>
              </a:rPr>
              <a:t>horse  </a:t>
            </a:r>
            <a:r>
              <a:rPr dirty="0" sz="1600" spc="-20">
                <a:latin typeface="Calibri"/>
                <a:cs typeface="Calibri"/>
              </a:rPr>
              <a:t>Make </a:t>
            </a:r>
            <a:r>
              <a:rPr dirty="0" sz="1600" spc="-5">
                <a:latin typeface="Calibri"/>
                <a:cs typeface="Calibri"/>
              </a:rPr>
              <a:t>the </a:t>
            </a:r>
            <a:r>
              <a:rPr dirty="0" sz="1600" spc="-10">
                <a:latin typeface="Calibri"/>
                <a:cs typeface="Calibri"/>
              </a:rPr>
              <a:t>car more </a:t>
            </a:r>
            <a:r>
              <a:rPr dirty="0" sz="1600" spc="-15">
                <a:latin typeface="Calibri"/>
                <a:cs typeface="Calibri"/>
              </a:rPr>
              <a:t>exciting  </a:t>
            </a:r>
            <a:r>
              <a:rPr dirty="0" sz="1600" spc="-5">
                <a:solidFill>
                  <a:srgbClr val="FF0000"/>
                </a:solidFill>
                <a:latin typeface="Calibri"/>
                <a:cs typeface="Calibri"/>
              </a:rPr>
              <a:t>Nothing is born</a:t>
            </a:r>
            <a:r>
              <a:rPr dirty="0" sz="1600" spc="-4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perfect</a:t>
            </a:r>
            <a:endParaRPr sz="1600">
              <a:latin typeface="Calibri"/>
              <a:cs typeface="Calibri"/>
            </a:endParaRPr>
          </a:p>
          <a:p>
            <a:pPr marL="84455">
              <a:lnSpc>
                <a:spcPts val="1895"/>
              </a:lnSpc>
            </a:pPr>
            <a:r>
              <a:rPr dirty="0" sz="1600" spc="-15">
                <a:solidFill>
                  <a:srgbClr val="FF0000"/>
                </a:solidFill>
                <a:latin typeface="Calibri"/>
                <a:cs typeface="Calibri"/>
              </a:rPr>
              <a:t>create </a:t>
            </a:r>
            <a:r>
              <a:rPr dirty="0" sz="1600">
                <a:solidFill>
                  <a:srgbClr val="FF0000"/>
                </a:solidFill>
                <a:latin typeface="Calibri"/>
                <a:cs typeface="Calibri"/>
              </a:rPr>
              <a:t>a </a:t>
            </a:r>
            <a:r>
              <a:rPr dirty="0" sz="1600" spc="-15">
                <a:solidFill>
                  <a:srgbClr val="FF0000"/>
                </a:solidFill>
                <a:latin typeface="Calibri"/>
                <a:cs typeface="Calibri"/>
              </a:rPr>
              <a:t>savage</a:t>
            </a:r>
            <a:r>
              <a:rPr dirty="0" sz="1600" spc="-45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0000"/>
                </a:solidFill>
                <a:latin typeface="Calibri"/>
                <a:cs typeface="Calibri"/>
              </a:rPr>
              <a:t>calf</a:t>
            </a:r>
            <a:endParaRPr sz="1600">
              <a:latin typeface="Calibri"/>
              <a:cs typeface="Calibri"/>
            </a:endParaRPr>
          </a:p>
          <a:p>
            <a:pPr marL="85090">
              <a:lnSpc>
                <a:spcPct val="100000"/>
              </a:lnSpc>
              <a:spcBef>
                <a:spcPts val="45"/>
              </a:spcBef>
            </a:pPr>
            <a:r>
              <a:rPr dirty="0" sz="1650" spc="775" i="1">
                <a:latin typeface="宋体"/>
                <a:cs typeface="宋体"/>
              </a:rPr>
              <a:t>  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824728" y="5268530"/>
            <a:ext cx="1121410" cy="1349375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lIns="0" tIns="26669" rIns="0" bIns="0" rtlCol="0" vert="horz">
            <a:spAutoFit/>
          </a:bodyPr>
          <a:lstStyle/>
          <a:p>
            <a:pPr marL="172720">
              <a:lnSpc>
                <a:spcPct val="100000"/>
              </a:lnSpc>
              <a:spcBef>
                <a:spcPts val="209"/>
              </a:spcBef>
            </a:pPr>
            <a:r>
              <a:rPr dirty="0" sz="1600">
                <a:latin typeface="Times New Roman"/>
                <a:cs typeface="Times New Roman"/>
              </a:rPr>
              <a:t>0.4532</a:t>
            </a:r>
            <a:endParaRPr sz="1600">
              <a:latin typeface="Times New Roman"/>
              <a:cs typeface="Times New Roman"/>
            </a:endParaRPr>
          </a:p>
          <a:p>
            <a:pPr marL="172720">
              <a:lnSpc>
                <a:spcPct val="100000"/>
              </a:lnSpc>
              <a:spcBef>
                <a:spcPts val="70"/>
              </a:spcBef>
            </a:pPr>
            <a:r>
              <a:rPr dirty="0" sz="1600">
                <a:latin typeface="Times New Roman"/>
                <a:cs typeface="Times New Roman"/>
              </a:rPr>
              <a:t>0.3312</a:t>
            </a:r>
            <a:endParaRPr sz="1600">
              <a:latin typeface="Times New Roman"/>
              <a:cs typeface="Times New Roman"/>
            </a:endParaRPr>
          </a:p>
          <a:p>
            <a:pPr marL="172720">
              <a:lnSpc>
                <a:spcPts val="1910"/>
              </a:lnSpc>
            </a:pPr>
            <a:r>
              <a:rPr dirty="0" sz="1600">
                <a:latin typeface="Times New Roman"/>
                <a:cs typeface="Times New Roman"/>
              </a:rPr>
              <a:t>0.2545</a:t>
            </a:r>
            <a:endParaRPr sz="1600">
              <a:latin typeface="Times New Roman"/>
              <a:cs typeface="Times New Roman"/>
            </a:endParaRPr>
          </a:p>
          <a:p>
            <a:pPr marL="172720">
              <a:lnSpc>
                <a:spcPts val="1895"/>
              </a:lnSpc>
            </a:pPr>
            <a:r>
              <a:rPr dirty="0" sz="1600" spc="-10">
                <a:latin typeface="Times New Roman"/>
                <a:cs typeface="Times New Roman"/>
              </a:rPr>
              <a:t>0.1124</a:t>
            </a:r>
            <a:endParaRPr sz="1600">
              <a:latin typeface="Times New Roman"/>
              <a:cs typeface="Times New Roman"/>
            </a:endParaRPr>
          </a:p>
          <a:p>
            <a:pPr marL="172720">
              <a:lnSpc>
                <a:spcPts val="1910"/>
              </a:lnSpc>
            </a:pPr>
            <a:r>
              <a:rPr dirty="0" sz="1600">
                <a:latin typeface="Times New Roman"/>
                <a:cs typeface="Times New Roman"/>
              </a:rPr>
              <a:t>……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62583" y="3315191"/>
            <a:ext cx="1121410" cy="1621790"/>
          </a:xfrm>
          <a:prstGeom prst="rect">
            <a:avLst/>
          </a:prstGeom>
          <a:ln w="12700">
            <a:solidFill>
              <a:srgbClr val="FF0000"/>
            </a:solidFill>
          </a:ln>
        </p:spPr>
        <p:txBody>
          <a:bodyPr wrap="square" lIns="0" tIns="88265" rIns="0" bIns="0" rtlCol="0" vert="horz">
            <a:spAutoFit/>
          </a:bodyPr>
          <a:lstStyle/>
          <a:p>
            <a:pPr marL="28575">
              <a:lnSpc>
                <a:spcPts val="1645"/>
              </a:lnSpc>
              <a:spcBef>
                <a:spcPts val="695"/>
              </a:spcBef>
            </a:pPr>
            <a:r>
              <a:rPr dirty="0" sz="1400">
                <a:latin typeface="Times New Roman"/>
                <a:cs typeface="Times New Roman"/>
              </a:rPr>
              <a:t>0.5712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ts val="1645"/>
              </a:lnSpc>
            </a:pPr>
            <a:r>
              <a:rPr dirty="0" sz="1400">
                <a:latin typeface="Times New Roman"/>
                <a:cs typeface="Times New Roman"/>
              </a:rPr>
              <a:t>0.5845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</a:pPr>
            <a:r>
              <a:rPr dirty="0" sz="1400">
                <a:latin typeface="Times New Roman"/>
                <a:cs typeface="Times New Roman"/>
              </a:rPr>
              <a:t>0.4561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Times New Roman"/>
                <a:cs typeface="Times New Roman"/>
              </a:rPr>
              <a:t>0.3381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Times New Roman"/>
                <a:cs typeface="Times New Roman"/>
              </a:rPr>
              <a:t>0.4324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5"/>
              </a:spcBef>
            </a:pPr>
            <a:r>
              <a:rPr dirty="0" sz="1400">
                <a:latin typeface="Times New Roman"/>
                <a:cs typeface="Times New Roman"/>
              </a:rPr>
              <a:t>0.5325</a:t>
            </a:r>
            <a:endParaRPr sz="14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5"/>
              </a:spcBef>
            </a:pPr>
            <a:r>
              <a:rPr dirty="0" sz="1400" spc="700">
                <a:latin typeface="宋体"/>
                <a:cs typeface="宋体"/>
              </a:rPr>
              <a:t>  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154238" y="2997708"/>
            <a:ext cx="125031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Cate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Distribution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028136" y="4994147"/>
            <a:ext cx="7708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IDF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 spc="-15">
                <a:latin typeface="Calibri"/>
                <a:cs typeface="Calibri"/>
              </a:rPr>
              <a:t>Values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8704" y="1758695"/>
            <a:ext cx="11661648" cy="16398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9288" y="3395471"/>
            <a:ext cx="11561064" cy="14142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41213" y="471931"/>
            <a:ext cx="598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Title  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uto-Generation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05248" y="1410716"/>
            <a:ext cx="9620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Main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Title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98192" y="1410716"/>
            <a:ext cx="7778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SubTitle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11878" y="1349755"/>
            <a:ext cx="854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Category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19453" y="4807618"/>
            <a:ext cx="3242945" cy="282575"/>
          </a:xfrm>
          <a:custGeom>
            <a:avLst/>
            <a:gdLst/>
            <a:ahLst/>
            <a:cxnLst/>
            <a:rect l="l" t="t" r="r" b="b"/>
            <a:pathLst>
              <a:path w="3242945" h="282575">
                <a:moveTo>
                  <a:pt x="0" y="282181"/>
                </a:moveTo>
                <a:lnTo>
                  <a:pt x="3242881" y="282181"/>
                </a:lnTo>
                <a:lnTo>
                  <a:pt x="3242881" y="0"/>
                </a:lnTo>
                <a:lnTo>
                  <a:pt x="0" y="0"/>
                </a:lnTo>
                <a:lnTo>
                  <a:pt x="0" y="28218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06753" y="4784852"/>
            <a:ext cx="3152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Provide warm </a:t>
            </a:r>
            <a:r>
              <a:rPr dirty="0" sz="1800" spc="-5">
                <a:latin typeface="Calibri"/>
                <a:cs typeface="Calibri"/>
              </a:rPr>
              <a:t>sleep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 spc="-10">
                <a:latin typeface="Calibri"/>
                <a:cs typeface="Calibri"/>
              </a:rPr>
              <a:t>your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baby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6571" y="4807618"/>
            <a:ext cx="3242945" cy="282575"/>
          </a:xfrm>
          <a:custGeom>
            <a:avLst/>
            <a:gdLst/>
            <a:ahLst/>
            <a:cxnLst/>
            <a:rect l="l" t="t" r="r" b="b"/>
            <a:pathLst>
              <a:path w="3242945" h="282575">
                <a:moveTo>
                  <a:pt x="0" y="282181"/>
                </a:moveTo>
                <a:lnTo>
                  <a:pt x="3242881" y="282181"/>
                </a:lnTo>
                <a:lnTo>
                  <a:pt x="3242881" y="0"/>
                </a:lnTo>
                <a:lnTo>
                  <a:pt x="0" y="0"/>
                </a:lnTo>
                <a:lnTo>
                  <a:pt x="0" y="282181"/>
                </a:lnTo>
                <a:close/>
              </a:path>
            </a:pathLst>
          </a:custGeom>
          <a:solidFill>
            <a:srgbClr val="92D05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063871" y="4784852"/>
            <a:ext cx="27019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libri"/>
                <a:cs typeface="Calibri"/>
              </a:rPr>
              <a:t>Baby’s </a:t>
            </a:r>
            <a:r>
              <a:rPr dirty="0" sz="1800" spc="-5">
                <a:latin typeface="Calibri"/>
                <a:cs typeface="Calibri"/>
              </a:rPr>
              <a:t>small </a:t>
            </a:r>
            <a:r>
              <a:rPr dirty="0" sz="1800" spc="-10">
                <a:latin typeface="Calibri"/>
                <a:cs typeface="Calibri"/>
              </a:rPr>
              <a:t>heater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winter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38527" y="1834895"/>
            <a:ext cx="10107168" cy="4517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9315" y="395731"/>
            <a:ext cx="598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Title  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uto-Generation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4429" y="1200403"/>
            <a:ext cx="40900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微软雅黑"/>
                <a:cs typeface="微软雅黑"/>
              </a:rPr>
              <a:t>Method2: generative</a:t>
            </a:r>
            <a:r>
              <a:rPr dirty="0" sz="2400" spc="-20">
                <a:latin typeface="微软雅黑"/>
                <a:cs typeface="微软雅黑"/>
              </a:rPr>
              <a:t> </a:t>
            </a:r>
            <a:r>
              <a:rPr dirty="0" sz="2400" spc="-5">
                <a:latin typeface="微软雅黑"/>
                <a:cs typeface="微软雅黑"/>
              </a:rPr>
              <a:t>model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698" y="5388355"/>
            <a:ext cx="1473200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35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579845811167,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latin typeface="Calibri"/>
                <a:cs typeface="Calibri"/>
              </a:rPr>
              <a:t>575858885796,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77743" y="5330444"/>
            <a:ext cx="373697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5">
                <a:latin typeface="Calibri"/>
                <a:cs typeface="Calibri"/>
              </a:rPr>
              <a:t>Simple </a:t>
            </a:r>
            <a:r>
              <a:rPr dirty="0" sz="1800" spc="-10">
                <a:latin typeface="Calibri"/>
                <a:cs typeface="Calibri"/>
              </a:rPr>
              <a:t>round </a:t>
            </a:r>
            <a:r>
              <a:rPr dirty="0" sz="1800">
                <a:latin typeface="Calibri"/>
                <a:cs typeface="Calibri"/>
              </a:rPr>
              <a:t>neck </a:t>
            </a:r>
            <a:r>
              <a:rPr dirty="0" sz="1800" spc="-5">
                <a:latin typeface="Calibri"/>
                <a:cs typeface="Calibri"/>
              </a:rPr>
              <a:t>long </a:t>
            </a:r>
            <a:r>
              <a:rPr dirty="0" sz="1800" spc="-10">
                <a:latin typeface="Calibri"/>
                <a:cs typeface="Calibri"/>
              </a:rPr>
              <a:t>sleeve </a:t>
            </a:r>
            <a:r>
              <a:rPr dirty="0" sz="1800" spc="-5">
                <a:latin typeface="Calibri"/>
                <a:cs typeface="Calibri"/>
              </a:rPr>
              <a:t>shirt </a:t>
            </a:r>
            <a:r>
              <a:rPr dirty="0" sz="1800" spc="900">
                <a:latin typeface="宋体"/>
                <a:cs typeface="宋体"/>
              </a:rPr>
              <a:t>,  </a:t>
            </a:r>
            <a:r>
              <a:rPr dirty="0" sz="1800" spc="-5">
                <a:latin typeface="Calibri"/>
                <a:cs typeface="Calibri"/>
              </a:rPr>
              <a:t>The lace design is simple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10">
                <a:latin typeface="Calibri"/>
                <a:cs typeface="Calibri"/>
              </a:rPr>
              <a:t>elegant </a:t>
            </a:r>
            <a:r>
              <a:rPr dirty="0" sz="1800" spc="900">
                <a:latin typeface="宋体"/>
                <a:cs typeface="宋体"/>
              </a:rPr>
              <a:t>,  </a:t>
            </a:r>
            <a:r>
              <a:rPr dirty="0" sz="1800" spc="-5">
                <a:latin typeface="Calibri"/>
                <a:cs typeface="Calibri"/>
              </a:rPr>
              <a:t>Slim fit is </a:t>
            </a:r>
            <a:r>
              <a:rPr dirty="0" sz="1800" spc="-10">
                <a:latin typeface="Calibri"/>
                <a:cs typeface="Calibri"/>
              </a:rPr>
              <a:t>more </a:t>
            </a:r>
            <a:r>
              <a:rPr dirty="0" sz="1800" spc="-15">
                <a:latin typeface="Calibri"/>
                <a:cs typeface="Calibri"/>
              </a:rPr>
              <a:t>attractive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450">
                <a:latin typeface="宋体"/>
                <a:cs typeface="宋体"/>
              </a:rPr>
              <a:t>,</a:t>
            </a:r>
            <a:r>
              <a:rPr dirty="0" sz="1800" spc="45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976" y="3693667"/>
            <a:ext cx="1783714" cy="13912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>
              <a:lnSpc>
                <a:spcPct val="100400"/>
              </a:lnSpc>
              <a:spcBef>
                <a:spcPts val="90"/>
              </a:spcBef>
            </a:pPr>
            <a:r>
              <a:rPr dirty="0" sz="1800">
                <a:latin typeface="宋体"/>
                <a:cs typeface="宋体"/>
              </a:rPr>
              <a:t>很多</a:t>
            </a:r>
            <a:r>
              <a:rPr dirty="0" sz="1800" spc="-5">
                <a:latin typeface="Calibri"/>
                <a:cs typeface="Calibri"/>
              </a:rPr>
              <a:t>MM</a:t>
            </a:r>
            <a:r>
              <a:rPr dirty="0" sz="1800">
                <a:latin typeface="宋体"/>
                <a:cs typeface="宋体"/>
              </a:rPr>
              <a:t>在六月</a:t>
            </a:r>
            <a:r>
              <a:rPr dirty="0" sz="1800">
                <a:latin typeface="Calibri"/>
                <a:cs typeface="Calibri"/>
              </a:rPr>
              <a:t>…  </a:t>
            </a:r>
            <a:r>
              <a:rPr dirty="0" sz="1800">
                <a:latin typeface="宋体"/>
                <a:cs typeface="宋体"/>
              </a:rPr>
              <a:t>越来越多的男生</a:t>
            </a:r>
            <a:r>
              <a:rPr dirty="0" sz="1800" spc="-5">
                <a:latin typeface="Calibri"/>
                <a:cs typeface="Calibri"/>
              </a:rPr>
              <a:t>..  </a:t>
            </a:r>
            <a:r>
              <a:rPr dirty="0" sz="1800">
                <a:latin typeface="宋体"/>
                <a:cs typeface="宋体"/>
              </a:rPr>
              <a:t>羽绒服作为冬季</a:t>
            </a:r>
            <a:r>
              <a:rPr dirty="0" sz="1800">
                <a:latin typeface="Calibri"/>
                <a:cs typeface="Calibri"/>
              </a:rPr>
              <a:t>… </a:t>
            </a:r>
            <a:r>
              <a:rPr dirty="0" sz="1800">
                <a:latin typeface="宋体"/>
                <a:cs typeface="宋体"/>
              </a:rPr>
              <a:t>冬天出门会忘记</a:t>
            </a: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  <a:p>
            <a:pPr algn="just" marL="12700">
              <a:lnSpc>
                <a:spcPts val="2090"/>
              </a:lnSpc>
            </a:pP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112" y="2017267"/>
            <a:ext cx="1783714" cy="1394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33679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宋体"/>
                <a:cs typeface="宋体"/>
              </a:rPr>
              <a:t>卸下校服,轻</a:t>
            </a:r>
            <a:r>
              <a:rPr dirty="0" sz="1800" spc="150">
                <a:latin typeface="Calibri"/>
                <a:cs typeface="Calibri"/>
              </a:rPr>
              <a:t>…  </a:t>
            </a:r>
            <a:r>
              <a:rPr dirty="0" sz="1800" spc="-5">
                <a:latin typeface="Calibri"/>
                <a:cs typeface="Calibri"/>
              </a:rPr>
              <a:t>Get</a:t>
            </a:r>
            <a:r>
              <a:rPr dirty="0" sz="1800">
                <a:latin typeface="宋体"/>
                <a:cs typeface="宋体"/>
              </a:rPr>
              <a:t>这些厨具</a:t>
            </a:r>
            <a:r>
              <a:rPr dirty="0" sz="1800">
                <a:latin typeface="Calibri"/>
                <a:cs typeface="Calibri"/>
              </a:rPr>
              <a:t>…  </a:t>
            </a:r>
            <a:r>
              <a:rPr dirty="0" sz="1800">
                <a:latin typeface="宋体"/>
                <a:cs typeface="宋体"/>
              </a:rPr>
              <a:t>含绒量超高</a:t>
            </a: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  <a:spcBef>
                <a:spcPts val="20"/>
              </a:spcBef>
            </a:pPr>
            <a:r>
              <a:rPr dirty="0" sz="1800">
                <a:latin typeface="宋体"/>
                <a:cs typeface="宋体"/>
              </a:rPr>
              <a:t>脚暖身体才能热</a:t>
            </a: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35"/>
              </a:lnSpc>
            </a:pP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76010" y="2535427"/>
            <a:ext cx="31032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Lace </a:t>
            </a:r>
            <a:r>
              <a:rPr dirty="0" sz="1800" spc="-5">
                <a:latin typeface="Calibri"/>
                <a:cs typeface="Calibri"/>
              </a:rPr>
              <a:t>design </a:t>
            </a:r>
            <a:r>
              <a:rPr dirty="0" sz="1800">
                <a:latin typeface="Calibri"/>
                <a:cs typeface="Calibri"/>
              </a:rPr>
              <a:t>is </a:t>
            </a:r>
            <a:r>
              <a:rPr dirty="0" sz="1800" spc="-5">
                <a:latin typeface="Calibri"/>
                <a:cs typeface="Calibri"/>
              </a:rPr>
              <a:t>simple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elegant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14273" y="4961635"/>
            <a:ext cx="720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libri"/>
                <a:cs typeface="Calibri"/>
              </a:rPr>
              <a:t>context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68454" y="4062476"/>
            <a:ext cx="10033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Short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titile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37216" y="4062476"/>
            <a:ext cx="16465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Cloud theme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title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109460" y="2398267"/>
            <a:ext cx="1781810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217170">
              <a:lnSpc>
                <a:spcPts val="2090"/>
              </a:lnSpc>
              <a:spcBef>
                <a:spcPts val="225"/>
              </a:spcBef>
            </a:pPr>
            <a:r>
              <a:rPr dirty="0" sz="1800">
                <a:latin typeface="Calibri"/>
                <a:cs typeface="Calibri"/>
              </a:rPr>
              <a:t>Lace </a:t>
            </a:r>
            <a:r>
              <a:rPr dirty="0" sz="1800" spc="-5">
                <a:latin typeface="Calibri"/>
                <a:cs typeface="Calibri"/>
              </a:rPr>
              <a:t>design </a:t>
            </a:r>
            <a:r>
              <a:rPr dirty="0" sz="1800">
                <a:latin typeface="Calibri"/>
                <a:cs typeface="Calibri"/>
              </a:rPr>
              <a:t>is  </a:t>
            </a:r>
            <a:r>
              <a:rPr dirty="0" sz="1800" spc="-5">
                <a:latin typeface="Calibri"/>
                <a:cs typeface="Calibri"/>
              </a:rPr>
              <a:t>simple 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elegant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86156" y="1995932"/>
            <a:ext cx="13639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Expert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Writing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3524" y="423163"/>
            <a:ext cx="598551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Title   </a:t>
            </a:r>
            <a:r>
              <a:rPr dirty="0" sz="2400" spc="1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uto-Generation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173480"/>
            <a:ext cx="11399520" cy="54467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24935" y="5955116"/>
            <a:ext cx="3016250" cy="518795"/>
          </a:xfrm>
          <a:custGeom>
            <a:avLst/>
            <a:gdLst/>
            <a:ahLst/>
            <a:cxnLst/>
            <a:rect l="l" t="t" r="r" b="b"/>
            <a:pathLst>
              <a:path w="3016250" h="518795">
                <a:moveTo>
                  <a:pt x="0" y="86433"/>
                </a:moveTo>
                <a:lnTo>
                  <a:pt x="6792" y="52789"/>
                </a:lnTo>
                <a:lnTo>
                  <a:pt x="25315" y="25315"/>
                </a:lnTo>
                <a:lnTo>
                  <a:pt x="52789" y="6792"/>
                </a:lnTo>
                <a:lnTo>
                  <a:pt x="86433" y="0"/>
                </a:lnTo>
                <a:lnTo>
                  <a:pt x="2929817" y="0"/>
                </a:lnTo>
                <a:lnTo>
                  <a:pt x="2963460" y="6792"/>
                </a:lnTo>
                <a:lnTo>
                  <a:pt x="2990934" y="25315"/>
                </a:lnTo>
                <a:lnTo>
                  <a:pt x="3009457" y="52789"/>
                </a:lnTo>
                <a:lnTo>
                  <a:pt x="3016250" y="86433"/>
                </a:lnTo>
                <a:lnTo>
                  <a:pt x="3016250" y="432150"/>
                </a:lnTo>
                <a:lnTo>
                  <a:pt x="3009457" y="465794"/>
                </a:lnTo>
                <a:lnTo>
                  <a:pt x="2990934" y="493268"/>
                </a:lnTo>
                <a:lnTo>
                  <a:pt x="2963460" y="511791"/>
                </a:lnTo>
                <a:lnTo>
                  <a:pt x="2929817" y="518584"/>
                </a:lnTo>
                <a:lnTo>
                  <a:pt x="86433" y="518584"/>
                </a:lnTo>
                <a:lnTo>
                  <a:pt x="52789" y="511791"/>
                </a:lnTo>
                <a:lnTo>
                  <a:pt x="25315" y="493268"/>
                </a:lnTo>
                <a:lnTo>
                  <a:pt x="6792" y="465794"/>
                </a:lnTo>
                <a:lnTo>
                  <a:pt x="0" y="432150"/>
                </a:lnTo>
                <a:lnTo>
                  <a:pt x="0" y="86433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750919" y="5975603"/>
            <a:ext cx="2764155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568960" marR="5080" indent="-556895">
              <a:lnSpc>
                <a:spcPct val="101400"/>
              </a:lnSpc>
              <a:spcBef>
                <a:spcPts val="75"/>
              </a:spcBef>
            </a:pPr>
            <a:r>
              <a:rPr dirty="0" sz="1400" spc="-10">
                <a:latin typeface="Calibri"/>
                <a:cs typeface="Calibri"/>
              </a:rPr>
              <a:t>Extract </a:t>
            </a:r>
            <a:r>
              <a:rPr dirty="0" sz="1400">
                <a:latin typeface="Calibri"/>
                <a:cs typeface="Calibri"/>
              </a:rPr>
              <a:t>the </a:t>
            </a:r>
            <a:r>
              <a:rPr dirty="0" sz="1400" spc="-35">
                <a:latin typeface="Calibri"/>
                <a:cs typeface="Calibri"/>
              </a:rPr>
              <a:t>TopN </a:t>
            </a:r>
            <a:r>
              <a:rPr dirty="0" sz="1400" spc="-10">
                <a:latin typeface="Calibri"/>
                <a:cs typeface="Calibri"/>
              </a:rPr>
              <a:t>product </a:t>
            </a:r>
            <a:r>
              <a:rPr dirty="0" sz="1400" spc="-5">
                <a:latin typeface="Calibri"/>
                <a:cs typeface="Calibri"/>
              </a:rPr>
              <a:t>map of each  cloud-themed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product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19642" y="4981450"/>
            <a:ext cx="3016250" cy="529590"/>
          </a:xfrm>
          <a:custGeom>
            <a:avLst/>
            <a:gdLst/>
            <a:ahLst/>
            <a:cxnLst/>
            <a:rect l="l" t="t" r="r" b="b"/>
            <a:pathLst>
              <a:path w="3016250" h="529589">
                <a:moveTo>
                  <a:pt x="0" y="88195"/>
                </a:moveTo>
                <a:lnTo>
                  <a:pt x="6930" y="53865"/>
                </a:lnTo>
                <a:lnTo>
                  <a:pt x="25831" y="25831"/>
                </a:lnTo>
                <a:lnTo>
                  <a:pt x="53865" y="6930"/>
                </a:lnTo>
                <a:lnTo>
                  <a:pt x="88194" y="0"/>
                </a:lnTo>
                <a:lnTo>
                  <a:pt x="2928055" y="0"/>
                </a:lnTo>
                <a:lnTo>
                  <a:pt x="2962384" y="6930"/>
                </a:lnTo>
                <a:lnTo>
                  <a:pt x="2990418" y="25831"/>
                </a:lnTo>
                <a:lnTo>
                  <a:pt x="3009319" y="53865"/>
                </a:lnTo>
                <a:lnTo>
                  <a:pt x="3016250" y="88195"/>
                </a:lnTo>
                <a:lnTo>
                  <a:pt x="3016250" y="440970"/>
                </a:lnTo>
                <a:lnTo>
                  <a:pt x="3009319" y="475300"/>
                </a:lnTo>
                <a:lnTo>
                  <a:pt x="2990418" y="503334"/>
                </a:lnTo>
                <a:lnTo>
                  <a:pt x="2962384" y="522235"/>
                </a:lnTo>
                <a:lnTo>
                  <a:pt x="2928055" y="529166"/>
                </a:lnTo>
                <a:lnTo>
                  <a:pt x="88194" y="529166"/>
                </a:lnTo>
                <a:lnTo>
                  <a:pt x="53865" y="522235"/>
                </a:lnTo>
                <a:lnTo>
                  <a:pt x="25831" y="503334"/>
                </a:lnTo>
                <a:lnTo>
                  <a:pt x="6930" y="475300"/>
                </a:lnTo>
                <a:lnTo>
                  <a:pt x="0" y="440970"/>
                </a:lnTo>
                <a:lnTo>
                  <a:pt x="0" y="8819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109798" y="5006340"/>
            <a:ext cx="2035810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 indent="24130">
              <a:lnSpc>
                <a:spcPct val="101400"/>
              </a:lnSpc>
              <a:spcBef>
                <a:spcPts val="75"/>
              </a:spcBef>
            </a:pPr>
            <a:r>
              <a:rPr dirty="0" sz="1400" spc="-5">
                <a:latin typeface="Calibri"/>
                <a:cs typeface="Calibri"/>
              </a:rPr>
              <a:t>Detect </a:t>
            </a:r>
            <a:r>
              <a:rPr dirty="0" sz="1400">
                <a:latin typeface="Calibri"/>
                <a:cs typeface="Calibri"/>
              </a:rPr>
              <a:t>and </a:t>
            </a:r>
            <a:r>
              <a:rPr dirty="0" sz="1400" spc="-5">
                <a:latin typeface="Calibri"/>
                <a:cs typeface="Calibri"/>
              </a:rPr>
              <a:t>filter non-white  background </a:t>
            </a:r>
            <a:r>
              <a:rPr dirty="0" sz="1400" spc="-10">
                <a:latin typeface="Calibri"/>
                <a:cs typeface="Calibri"/>
              </a:rPr>
              <a:t>product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images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70021" y="5510557"/>
            <a:ext cx="118110" cy="445134"/>
          </a:xfrm>
          <a:custGeom>
            <a:avLst/>
            <a:gdLst/>
            <a:ahLst/>
            <a:cxnLst/>
            <a:rect l="l" t="t" r="r" b="b"/>
            <a:pathLst>
              <a:path w="118110" h="445135">
                <a:moveTo>
                  <a:pt x="58346" y="50405"/>
                </a:moveTo>
                <a:lnTo>
                  <a:pt x="45907" y="72326"/>
                </a:lnTo>
                <a:lnTo>
                  <a:pt x="50341" y="444710"/>
                </a:lnTo>
                <a:lnTo>
                  <a:pt x="75738" y="444407"/>
                </a:lnTo>
                <a:lnTo>
                  <a:pt x="71304" y="72023"/>
                </a:lnTo>
                <a:lnTo>
                  <a:pt x="58346" y="50405"/>
                </a:lnTo>
                <a:close/>
              </a:path>
              <a:path w="118110" h="445135">
                <a:moveTo>
                  <a:pt x="57746" y="0"/>
                </a:moveTo>
                <a:lnTo>
                  <a:pt x="0" y="101758"/>
                </a:lnTo>
                <a:lnTo>
                  <a:pt x="2138" y="109510"/>
                </a:lnTo>
                <a:lnTo>
                  <a:pt x="14339" y="116434"/>
                </a:lnTo>
                <a:lnTo>
                  <a:pt x="22090" y="114294"/>
                </a:lnTo>
                <a:lnTo>
                  <a:pt x="45907" y="72326"/>
                </a:lnTo>
                <a:lnTo>
                  <a:pt x="45347" y="25355"/>
                </a:lnTo>
                <a:lnTo>
                  <a:pt x="70745" y="25053"/>
                </a:lnTo>
                <a:lnTo>
                  <a:pt x="72763" y="25053"/>
                </a:lnTo>
                <a:lnTo>
                  <a:pt x="57746" y="0"/>
                </a:lnTo>
                <a:close/>
              </a:path>
              <a:path w="118110" h="445135">
                <a:moveTo>
                  <a:pt x="72763" y="25053"/>
                </a:moveTo>
                <a:lnTo>
                  <a:pt x="70745" y="25053"/>
                </a:lnTo>
                <a:lnTo>
                  <a:pt x="71304" y="72023"/>
                </a:lnTo>
                <a:lnTo>
                  <a:pt x="96113" y="113413"/>
                </a:lnTo>
                <a:lnTo>
                  <a:pt x="103913" y="115368"/>
                </a:lnTo>
                <a:lnTo>
                  <a:pt x="115945" y="108155"/>
                </a:lnTo>
                <a:lnTo>
                  <a:pt x="117899" y="100355"/>
                </a:lnTo>
                <a:lnTo>
                  <a:pt x="72763" y="25053"/>
                </a:lnTo>
                <a:close/>
              </a:path>
              <a:path w="118110" h="445135">
                <a:moveTo>
                  <a:pt x="70745" y="25053"/>
                </a:moveTo>
                <a:lnTo>
                  <a:pt x="45347" y="25355"/>
                </a:lnTo>
                <a:lnTo>
                  <a:pt x="45907" y="72326"/>
                </a:lnTo>
                <a:lnTo>
                  <a:pt x="58346" y="50405"/>
                </a:lnTo>
                <a:lnTo>
                  <a:pt x="47153" y="31732"/>
                </a:lnTo>
                <a:lnTo>
                  <a:pt x="69091" y="31471"/>
                </a:lnTo>
                <a:lnTo>
                  <a:pt x="70821" y="31471"/>
                </a:lnTo>
                <a:lnTo>
                  <a:pt x="70745" y="25053"/>
                </a:lnTo>
                <a:close/>
              </a:path>
              <a:path w="118110" h="445135">
                <a:moveTo>
                  <a:pt x="70821" y="31471"/>
                </a:moveTo>
                <a:lnTo>
                  <a:pt x="69091" y="31471"/>
                </a:lnTo>
                <a:lnTo>
                  <a:pt x="58346" y="50405"/>
                </a:lnTo>
                <a:lnTo>
                  <a:pt x="71304" y="72023"/>
                </a:lnTo>
                <a:lnTo>
                  <a:pt x="70821" y="31471"/>
                </a:lnTo>
                <a:close/>
              </a:path>
              <a:path w="118110" h="445135">
                <a:moveTo>
                  <a:pt x="69091" y="31471"/>
                </a:moveTo>
                <a:lnTo>
                  <a:pt x="47153" y="31732"/>
                </a:lnTo>
                <a:lnTo>
                  <a:pt x="58346" y="50405"/>
                </a:lnTo>
                <a:lnTo>
                  <a:pt x="69091" y="31471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629172" y="3944283"/>
            <a:ext cx="3012440" cy="476250"/>
          </a:xfrm>
          <a:custGeom>
            <a:avLst/>
            <a:gdLst/>
            <a:ahLst/>
            <a:cxnLst/>
            <a:rect l="l" t="t" r="r" b="b"/>
            <a:pathLst>
              <a:path w="3012440" h="476250">
                <a:moveTo>
                  <a:pt x="0" y="79375"/>
                </a:moveTo>
                <a:lnTo>
                  <a:pt x="6237" y="48478"/>
                </a:lnTo>
                <a:lnTo>
                  <a:pt x="23248" y="23248"/>
                </a:lnTo>
                <a:lnTo>
                  <a:pt x="48478" y="6237"/>
                </a:lnTo>
                <a:lnTo>
                  <a:pt x="79375" y="0"/>
                </a:lnTo>
                <a:lnTo>
                  <a:pt x="2932640" y="0"/>
                </a:lnTo>
                <a:lnTo>
                  <a:pt x="2963536" y="6237"/>
                </a:lnTo>
                <a:lnTo>
                  <a:pt x="2988766" y="23248"/>
                </a:lnTo>
                <a:lnTo>
                  <a:pt x="3005777" y="48478"/>
                </a:lnTo>
                <a:lnTo>
                  <a:pt x="3012015" y="79375"/>
                </a:lnTo>
                <a:lnTo>
                  <a:pt x="3012015" y="396875"/>
                </a:lnTo>
                <a:lnTo>
                  <a:pt x="3005777" y="427772"/>
                </a:lnTo>
                <a:lnTo>
                  <a:pt x="2988766" y="453002"/>
                </a:lnTo>
                <a:lnTo>
                  <a:pt x="2963536" y="470013"/>
                </a:lnTo>
                <a:lnTo>
                  <a:pt x="2932640" y="476251"/>
                </a:lnTo>
                <a:lnTo>
                  <a:pt x="79375" y="476251"/>
                </a:lnTo>
                <a:lnTo>
                  <a:pt x="48478" y="470013"/>
                </a:lnTo>
                <a:lnTo>
                  <a:pt x="23248" y="453002"/>
                </a:lnTo>
                <a:lnTo>
                  <a:pt x="6237" y="427772"/>
                </a:lnTo>
                <a:lnTo>
                  <a:pt x="0" y="396875"/>
                </a:lnTo>
                <a:lnTo>
                  <a:pt x="0" y="793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434361" y="4049267"/>
            <a:ext cx="14008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Commodity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Cutout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038718" y="3489142"/>
            <a:ext cx="118110" cy="455930"/>
          </a:xfrm>
          <a:custGeom>
            <a:avLst/>
            <a:gdLst/>
            <a:ahLst/>
            <a:cxnLst/>
            <a:rect l="l" t="t" r="r" b="b"/>
            <a:pathLst>
              <a:path w="118110" h="455929">
                <a:moveTo>
                  <a:pt x="58121" y="50402"/>
                </a:moveTo>
                <a:lnTo>
                  <a:pt x="45777" y="72377"/>
                </a:lnTo>
                <a:lnTo>
                  <a:pt x="52014" y="455348"/>
                </a:lnTo>
                <a:lnTo>
                  <a:pt x="77410" y="454934"/>
                </a:lnTo>
                <a:lnTo>
                  <a:pt x="71173" y="71964"/>
                </a:lnTo>
                <a:lnTo>
                  <a:pt x="58121" y="50402"/>
                </a:lnTo>
                <a:close/>
              </a:path>
              <a:path w="118110" h="455929">
                <a:moveTo>
                  <a:pt x="57299" y="0"/>
                </a:moveTo>
                <a:lnTo>
                  <a:pt x="0" y="102010"/>
                </a:lnTo>
                <a:lnTo>
                  <a:pt x="2171" y="109752"/>
                </a:lnTo>
                <a:lnTo>
                  <a:pt x="14403" y="116622"/>
                </a:lnTo>
                <a:lnTo>
                  <a:pt x="22144" y="114449"/>
                </a:lnTo>
                <a:lnTo>
                  <a:pt x="45777" y="72377"/>
                </a:lnTo>
                <a:lnTo>
                  <a:pt x="45012" y="25407"/>
                </a:lnTo>
                <a:lnTo>
                  <a:pt x="70408" y="24994"/>
                </a:lnTo>
                <a:lnTo>
                  <a:pt x="72430" y="24994"/>
                </a:lnTo>
                <a:lnTo>
                  <a:pt x="57299" y="0"/>
                </a:lnTo>
                <a:close/>
              </a:path>
              <a:path w="118110" h="455929">
                <a:moveTo>
                  <a:pt x="72430" y="24994"/>
                </a:moveTo>
                <a:lnTo>
                  <a:pt x="70408" y="24994"/>
                </a:lnTo>
                <a:lnTo>
                  <a:pt x="71173" y="71964"/>
                </a:lnTo>
                <a:lnTo>
                  <a:pt x="96163" y="113244"/>
                </a:lnTo>
                <a:lnTo>
                  <a:pt x="103972" y="115163"/>
                </a:lnTo>
                <a:lnTo>
                  <a:pt x="115972" y="107899"/>
                </a:lnTo>
                <a:lnTo>
                  <a:pt x="117891" y="100091"/>
                </a:lnTo>
                <a:lnTo>
                  <a:pt x="72430" y="24994"/>
                </a:lnTo>
                <a:close/>
              </a:path>
              <a:path w="118110" h="455929">
                <a:moveTo>
                  <a:pt x="70408" y="24994"/>
                </a:moveTo>
                <a:lnTo>
                  <a:pt x="45012" y="25407"/>
                </a:lnTo>
                <a:lnTo>
                  <a:pt x="45777" y="72377"/>
                </a:lnTo>
                <a:lnTo>
                  <a:pt x="58121" y="50402"/>
                </a:lnTo>
                <a:lnTo>
                  <a:pt x="46846" y="31777"/>
                </a:lnTo>
                <a:lnTo>
                  <a:pt x="68783" y="31421"/>
                </a:lnTo>
                <a:lnTo>
                  <a:pt x="70513" y="31421"/>
                </a:lnTo>
                <a:lnTo>
                  <a:pt x="70408" y="24994"/>
                </a:lnTo>
                <a:close/>
              </a:path>
              <a:path w="118110" h="455929">
                <a:moveTo>
                  <a:pt x="70513" y="31421"/>
                </a:moveTo>
                <a:lnTo>
                  <a:pt x="68783" y="31421"/>
                </a:lnTo>
                <a:lnTo>
                  <a:pt x="58121" y="50402"/>
                </a:lnTo>
                <a:lnTo>
                  <a:pt x="71173" y="71964"/>
                </a:lnTo>
                <a:lnTo>
                  <a:pt x="70513" y="31421"/>
                </a:lnTo>
                <a:close/>
              </a:path>
              <a:path w="118110" h="455929">
                <a:moveTo>
                  <a:pt x="68783" y="31421"/>
                </a:moveTo>
                <a:lnTo>
                  <a:pt x="46846" y="31777"/>
                </a:lnTo>
                <a:lnTo>
                  <a:pt x="58121" y="50402"/>
                </a:lnTo>
                <a:lnTo>
                  <a:pt x="68783" y="31421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68815" y="4378142"/>
            <a:ext cx="118110" cy="603885"/>
          </a:xfrm>
          <a:custGeom>
            <a:avLst/>
            <a:gdLst/>
            <a:ahLst/>
            <a:cxnLst/>
            <a:rect l="l" t="t" r="r" b="b"/>
            <a:pathLst>
              <a:path w="118110" h="603885">
                <a:moveTo>
                  <a:pt x="58954" y="50409"/>
                </a:moveTo>
                <a:lnTo>
                  <a:pt x="46254" y="72180"/>
                </a:lnTo>
                <a:lnTo>
                  <a:pt x="46253" y="603309"/>
                </a:lnTo>
                <a:lnTo>
                  <a:pt x="71653" y="603309"/>
                </a:lnTo>
                <a:lnTo>
                  <a:pt x="71654" y="72180"/>
                </a:lnTo>
                <a:lnTo>
                  <a:pt x="58954" y="50409"/>
                </a:lnTo>
                <a:close/>
              </a:path>
              <a:path w="118110" h="603885">
                <a:moveTo>
                  <a:pt x="58954" y="0"/>
                </a:moveTo>
                <a:lnTo>
                  <a:pt x="0" y="101064"/>
                </a:lnTo>
                <a:lnTo>
                  <a:pt x="2047" y="108840"/>
                </a:lnTo>
                <a:lnTo>
                  <a:pt x="14164" y="115909"/>
                </a:lnTo>
                <a:lnTo>
                  <a:pt x="21940" y="113861"/>
                </a:lnTo>
                <a:lnTo>
                  <a:pt x="46254" y="72181"/>
                </a:lnTo>
                <a:lnTo>
                  <a:pt x="46254" y="25204"/>
                </a:lnTo>
                <a:lnTo>
                  <a:pt x="73657" y="25204"/>
                </a:lnTo>
                <a:lnTo>
                  <a:pt x="58954" y="0"/>
                </a:lnTo>
                <a:close/>
              </a:path>
              <a:path w="118110" h="603885">
                <a:moveTo>
                  <a:pt x="73657" y="25204"/>
                </a:moveTo>
                <a:lnTo>
                  <a:pt x="71654" y="25204"/>
                </a:lnTo>
                <a:lnTo>
                  <a:pt x="71654" y="72181"/>
                </a:lnTo>
                <a:lnTo>
                  <a:pt x="95968" y="113861"/>
                </a:lnTo>
                <a:lnTo>
                  <a:pt x="103745" y="115909"/>
                </a:lnTo>
                <a:lnTo>
                  <a:pt x="115862" y="108840"/>
                </a:lnTo>
                <a:lnTo>
                  <a:pt x="117908" y="101064"/>
                </a:lnTo>
                <a:lnTo>
                  <a:pt x="73657" y="25204"/>
                </a:lnTo>
                <a:close/>
              </a:path>
              <a:path w="118110" h="603885">
                <a:moveTo>
                  <a:pt x="71654" y="25204"/>
                </a:moveTo>
                <a:lnTo>
                  <a:pt x="46254" y="25204"/>
                </a:lnTo>
                <a:lnTo>
                  <a:pt x="46254" y="72181"/>
                </a:lnTo>
                <a:lnTo>
                  <a:pt x="58954" y="50409"/>
                </a:lnTo>
                <a:lnTo>
                  <a:pt x="47984" y="31603"/>
                </a:lnTo>
                <a:lnTo>
                  <a:pt x="71654" y="31603"/>
                </a:lnTo>
                <a:lnTo>
                  <a:pt x="71654" y="25204"/>
                </a:lnTo>
                <a:close/>
              </a:path>
              <a:path w="118110" h="603885">
                <a:moveTo>
                  <a:pt x="71654" y="31603"/>
                </a:moveTo>
                <a:lnTo>
                  <a:pt x="69924" y="31603"/>
                </a:lnTo>
                <a:lnTo>
                  <a:pt x="58954" y="50409"/>
                </a:lnTo>
                <a:lnTo>
                  <a:pt x="71654" y="72180"/>
                </a:lnTo>
                <a:lnTo>
                  <a:pt x="71654" y="31603"/>
                </a:lnTo>
                <a:close/>
              </a:path>
              <a:path w="118110" h="603885">
                <a:moveTo>
                  <a:pt x="69924" y="31603"/>
                </a:moveTo>
                <a:lnTo>
                  <a:pt x="47984" y="31603"/>
                </a:lnTo>
                <a:lnTo>
                  <a:pt x="58954" y="50409"/>
                </a:lnTo>
                <a:lnTo>
                  <a:pt x="69924" y="31603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629172" y="2974850"/>
            <a:ext cx="3012440" cy="476250"/>
          </a:xfrm>
          <a:custGeom>
            <a:avLst/>
            <a:gdLst/>
            <a:ahLst/>
            <a:cxnLst/>
            <a:rect l="l" t="t" r="r" b="b"/>
            <a:pathLst>
              <a:path w="3012440" h="476250">
                <a:moveTo>
                  <a:pt x="0" y="79375"/>
                </a:moveTo>
                <a:lnTo>
                  <a:pt x="6237" y="48478"/>
                </a:lnTo>
                <a:lnTo>
                  <a:pt x="23248" y="23248"/>
                </a:lnTo>
                <a:lnTo>
                  <a:pt x="48478" y="6237"/>
                </a:lnTo>
                <a:lnTo>
                  <a:pt x="79375" y="0"/>
                </a:lnTo>
                <a:lnTo>
                  <a:pt x="2932640" y="0"/>
                </a:lnTo>
                <a:lnTo>
                  <a:pt x="2963536" y="6237"/>
                </a:lnTo>
                <a:lnTo>
                  <a:pt x="2988766" y="23248"/>
                </a:lnTo>
                <a:lnTo>
                  <a:pt x="3005777" y="48478"/>
                </a:lnTo>
                <a:lnTo>
                  <a:pt x="3012015" y="79375"/>
                </a:lnTo>
                <a:lnTo>
                  <a:pt x="3012015" y="396875"/>
                </a:lnTo>
                <a:lnTo>
                  <a:pt x="3005777" y="427772"/>
                </a:lnTo>
                <a:lnTo>
                  <a:pt x="2988766" y="453002"/>
                </a:lnTo>
                <a:lnTo>
                  <a:pt x="2963536" y="470013"/>
                </a:lnTo>
                <a:lnTo>
                  <a:pt x="2932640" y="476251"/>
                </a:lnTo>
                <a:lnTo>
                  <a:pt x="79375" y="476251"/>
                </a:lnTo>
                <a:lnTo>
                  <a:pt x="48478" y="470013"/>
                </a:lnTo>
                <a:lnTo>
                  <a:pt x="23248" y="453002"/>
                </a:lnTo>
                <a:lnTo>
                  <a:pt x="6237" y="427772"/>
                </a:lnTo>
                <a:lnTo>
                  <a:pt x="0" y="396875"/>
                </a:lnTo>
                <a:lnTo>
                  <a:pt x="0" y="793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775771" y="2973323"/>
            <a:ext cx="2719705" cy="45529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980440" marR="5080" indent="-968375">
              <a:lnSpc>
                <a:spcPct val="101400"/>
              </a:lnSpc>
              <a:spcBef>
                <a:spcPts val="75"/>
              </a:spcBef>
            </a:pPr>
            <a:r>
              <a:rPr dirty="0" sz="1400" spc="-10">
                <a:latin typeface="Calibri"/>
                <a:cs typeface="Calibri"/>
              </a:rPr>
              <a:t>TOP5/TOP7 </a:t>
            </a:r>
            <a:r>
              <a:rPr dirty="0" sz="1400" spc="-5">
                <a:latin typeface="Calibri"/>
                <a:cs typeface="Calibri"/>
              </a:rPr>
              <a:t>Popularity selection </a:t>
            </a:r>
            <a:r>
              <a:rPr dirty="0" sz="1400" spc="-10">
                <a:latin typeface="Calibri"/>
                <a:cs typeface="Calibri"/>
              </a:rPr>
              <a:t>from 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90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cutout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32367" y="2519708"/>
            <a:ext cx="118110" cy="455930"/>
          </a:xfrm>
          <a:custGeom>
            <a:avLst/>
            <a:gdLst/>
            <a:ahLst/>
            <a:cxnLst/>
            <a:rect l="l" t="t" r="r" b="b"/>
            <a:pathLst>
              <a:path w="118110" h="455930">
                <a:moveTo>
                  <a:pt x="58120" y="50403"/>
                </a:moveTo>
                <a:lnTo>
                  <a:pt x="45777" y="72377"/>
                </a:lnTo>
                <a:lnTo>
                  <a:pt x="52014" y="455348"/>
                </a:lnTo>
                <a:lnTo>
                  <a:pt x="77410" y="454935"/>
                </a:lnTo>
                <a:lnTo>
                  <a:pt x="71173" y="71964"/>
                </a:lnTo>
                <a:lnTo>
                  <a:pt x="58120" y="50403"/>
                </a:lnTo>
                <a:close/>
              </a:path>
              <a:path w="118110" h="455930">
                <a:moveTo>
                  <a:pt x="57299" y="0"/>
                </a:moveTo>
                <a:lnTo>
                  <a:pt x="0" y="102011"/>
                </a:lnTo>
                <a:lnTo>
                  <a:pt x="2172" y="109753"/>
                </a:lnTo>
                <a:lnTo>
                  <a:pt x="14403" y="116622"/>
                </a:lnTo>
                <a:lnTo>
                  <a:pt x="22144" y="114449"/>
                </a:lnTo>
                <a:lnTo>
                  <a:pt x="45777" y="72377"/>
                </a:lnTo>
                <a:lnTo>
                  <a:pt x="45012" y="25408"/>
                </a:lnTo>
                <a:lnTo>
                  <a:pt x="70408" y="24994"/>
                </a:lnTo>
                <a:lnTo>
                  <a:pt x="72431" y="24994"/>
                </a:lnTo>
                <a:lnTo>
                  <a:pt x="57299" y="0"/>
                </a:lnTo>
                <a:close/>
              </a:path>
              <a:path w="118110" h="455930">
                <a:moveTo>
                  <a:pt x="72431" y="24994"/>
                </a:moveTo>
                <a:lnTo>
                  <a:pt x="70408" y="24994"/>
                </a:lnTo>
                <a:lnTo>
                  <a:pt x="71173" y="71964"/>
                </a:lnTo>
                <a:lnTo>
                  <a:pt x="96163" y="113244"/>
                </a:lnTo>
                <a:lnTo>
                  <a:pt x="103972" y="115164"/>
                </a:lnTo>
                <a:lnTo>
                  <a:pt x="115972" y="107900"/>
                </a:lnTo>
                <a:lnTo>
                  <a:pt x="117892" y="100091"/>
                </a:lnTo>
                <a:lnTo>
                  <a:pt x="72431" y="24994"/>
                </a:lnTo>
                <a:close/>
              </a:path>
              <a:path w="118110" h="455930">
                <a:moveTo>
                  <a:pt x="70408" y="24994"/>
                </a:moveTo>
                <a:lnTo>
                  <a:pt x="45012" y="25408"/>
                </a:lnTo>
                <a:lnTo>
                  <a:pt x="45777" y="72377"/>
                </a:lnTo>
                <a:lnTo>
                  <a:pt x="58120" y="50403"/>
                </a:lnTo>
                <a:lnTo>
                  <a:pt x="46846" y="31779"/>
                </a:lnTo>
                <a:lnTo>
                  <a:pt x="68783" y="31421"/>
                </a:lnTo>
                <a:lnTo>
                  <a:pt x="70513" y="31421"/>
                </a:lnTo>
                <a:lnTo>
                  <a:pt x="70408" y="24994"/>
                </a:lnTo>
                <a:close/>
              </a:path>
              <a:path w="118110" h="455930">
                <a:moveTo>
                  <a:pt x="70513" y="31421"/>
                </a:moveTo>
                <a:lnTo>
                  <a:pt x="68783" y="31421"/>
                </a:lnTo>
                <a:lnTo>
                  <a:pt x="58120" y="50403"/>
                </a:lnTo>
                <a:lnTo>
                  <a:pt x="71173" y="71964"/>
                </a:lnTo>
                <a:lnTo>
                  <a:pt x="70513" y="31421"/>
                </a:lnTo>
                <a:close/>
              </a:path>
              <a:path w="118110" h="455930">
                <a:moveTo>
                  <a:pt x="68783" y="31421"/>
                </a:moveTo>
                <a:lnTo>
                  <a:pt x="46846" y="31779"/>
                </a:lnTo>
                <a:lnTo>
                  <a:pt x="58120" y="50403"/>
                </a:lnTo>
                <a:lnTo>
                  <a:pt x="68783" y="31421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583660" y="2043516"/>
            <a:ext cx="3012440" cy="476250"/>
          </a:xfrm>
          <a:custGeom>
            <a:avLst/>
            <a:gdLst/>
            <a:ahLst/>
            <a:cxnLst/>
            <a:rect l="l" t="t" r="r" b="b"/>
            <a:pathLst>
              <a:path w="3012440" h="476250">
                <a:moveTo>
                  <a:pt x="0" y="79375"/>
                </a:moveTo>
                <a:lnTo>
                  <a:pt x="6237" y="48478"/>
                </a:lnTo>
                <a:lnTo>
                  <a:pt x="23248" y="23248"/>
                </a:lnTo>
                <a:lnTo>
                  <a:pt x="48478" y="6237"/>
                </a:lnTo>
                <a:lnTo>
                  <a:pt x="79375" y="0"/>
                </a:lnTo>
                <a:lnTo>
                  <a:pt x="2932640" y="0"/>
                </a:lnTo>
                <a:lnTo>
                  <a:pt x="2963536" y="6237"/>
                </a:lnTo>
                <a:lnTo>
                  <a:pt x="2988766" y="23248"/>
                </a:lnTo>
                <a:lnTo>
                  <a:pt x="3005777" y="48478"/>
                </a:lnTo>
                <a:lnTo>
                  <a:pt x="3012015" y="79375"/>
                </a:lnTo>
                <a:lnTo>
                  <a:pt x="3012015" y="396875"/>
                </a:lnTo>
                <a:lnTo>
                  <a:pt x="3005777" y="427772"/>
                </a:lnTo>
                <a:lnTo>
                  <a:pt x="2988766" y="453002"/>
                </a:lnTo>
                <a:lnTo>
                  <a:pt x="2963536" y="470013"/>
                </a:lnTo>
                <a:lnTo>
                  <a:pt x="2932640" y="476251"/>
                </a:lnTo>
                <a:lnTo>
                  <a:pt x="79375" y="476251"/>
                </a:lnTo>
                <a:lnTo>
                  <a:pt x="48478" y="470013"/>
                </a:lnTo>
                <a:lnTo>
                  <a:pt x="23248" y="453002"/>
                </a:lnTo>
                <a:lnTo>
                  <a:pt x="6237" y="427772"/>
                </a:lnTo>
                <a:lnTo>
                  <a:pt x="0" y="396875"/>
                </a:lnTo>
                <a:lnTo>
                  <a:pt x="0" y="793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495308" y="2150364"/>
            <a:ext cx="11887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Calibri"/>
                <a:cs typeface="Calibri"/>
              </a:rPr>
              <a:t>Template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Puzzle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22838" y="1588373"/>
            <a:ext cx="118110" cy="455930"/>
          </a:xfrm>
          <a:custGeom>
            <a:avLst/>
            <a:gdLst/>
            <a:ahLst/>
            <a:cxnLst/>
            <a:rect l="l" t="t" r="r" b="b"/>
            <a:pathLst>
              <a:path w="118110" h="455930">
                <a:moveTo>
                  <a:pt x="58122" y="50403"/>
                </a:moveTo>
                <a:lnTo>
                  <a:pt x="45778" y="72378"/>
                </a:lnTo>
                <a:lnTo>
                  <a:pt x="52015" y="455349"/>
                </a:lnTo>
                <a:lnTo>
                  <a:pt x="77411" y="454935"/>
                </a:lnTo>
                <a:lnTo>
                  <a:pt x="71174" y="71964"/>
                </a:lnTo>
                <a:lnTo>
                  <a:pt x="58122" y="50403"/>
                </a:lnTo>
                <a:close/>
              </a:path>
              <a:path w="118110" h="455930">
                <a:moveTo>
                  <a:pt x="57301" y="0"/>
                </a:moveTo>
                <a:lnTo>
                  <a:pt x="0" y="102011"/>
                </a:lnTo>
                <a:lnTo>
                  <a:pt x="2172" y="109753"/>
                </a:lnTo>
                <a:lnTo>
                  <a:pt x="14404" y="116622"/>
                </a:lnTo>
                <a:lnTo>
                  <a:pt x="22146" y="114451"/>
                </a:lnTo>
                <a:lnTo>
                  <a:pt x="45778" y="72378"/>
                </a:lnTo>
                <a:lnTo>
                  <a:pt x="45013" y="25408"/>
                </a:lnTo>
                <a:lnTo>
                  <a:pt x="70410" y="24994"/>
                </a:lnTo>
                <a:lnTo>
                  <a:pt x="72432" y="24994"/>
                </a:lnTo>
                <a:lnTo>
                  <a:pt x="57301" y="0"/>
                </a:lnTo>
                <a:close/>
              </a:path>
              <a:path w="118110" h="455930">
                <a:moveTo>
                  <a:pt x="72432" y="24994"/>
                </a:moveTo>
                <a:lnTo>
                  <a:pt x="70410" y="24994"/>
                </a:lnTo>
                <a:lnTo>
                  <a:pt x="71174" y="71964"/>
                </a:lnTo>
                <a:lnTo>
                  <a:pt x="96164" y="113244"/>
                </a:lnTo>
                <a:lnTo>
                  <a:pt x="103973" y="115164"/>
                </a:lnTo>
                <a:lnTo>
                  <a:pt x="115973" y="107900"/>
                </a:lnTo>
                <a:lnTo>
                  <a:pt x="117892" y="100091"/>
                </a:lnTo>
                <a:lnTo>
                  <a:pt x="72432" y="24994"/>
                </a:lnTo>
                <a:close/>
              </a:path>
              <a:path w="118110" h="455930">
                <a:moveTo>
                  <a:pt x="70410" y="24994"/>
                </a:moveTo>
                <a:lnTo>
                  <a:pt x="45013" y="25408"/>
                </a:lnTo>
                <a:lnTo>
                  <a:pt x="45778" y="72378"/>
                </a:lnTo>
                <a:lnTo>
                  <a:pt x="58122" y="50403"/>
                </a:lnTo>
                <a:lnTo>
                  <a:pt x="46847" y="31779"/>
                </a:lnTo>
                <a:lnTo>
                  <a:pt x="68784" y="31421"/>
                </a:lnTo>
                <a:lnTo>
                  <a:pt x="70514" y="31421"/>
                </a:lnTo>
                <a:lnTo>
                  <a:pt x="70410" y="24994"/>
                </a:lnTo>
                <a:close/>
              </a:path>
              <a:path w="118110" h="455930">
                <a:moveTo>
                  <a:pt x="70514" y="31421"/>
                </a:moveTo>
                <a:lnTo>
                  <a:pt x="68784" y="31421"/>
                </a:lnTo>
                <a:lnTo>
                  <a:pt x="58122" y="50403"/>
                </a:lnTo>
                <a:lnTo>
                  <a:pt x="71174" y="71964"/>
                </a:lnTo>
                <a:lnTo>
                  <a:pt x="70514" y="31421"/>
                </a:lnTo>
                <a:close/>
              </a:path>
              <a:path w="118110" h="455930">
                <a:moveTo>
                  <a:pt x="68784" y="31421"/>
                </a:moveTo>
                <a:lnTo>
                  <a:pt x="46847" y="31779"/>
                </a:lnTo>
                <a:lnTo>
                  <a:pt x="58122" y="50403"/>
                </a:lnTo>
                <a:lnTo>
                  <a:pt x="68784" y="31421"/>
                </a:lnTo>
                <a:close/>
              </a:path>
            </a:pathLst>
          </a:custGeom>
          <a:solidFill>
            <a:srgbClr val="E84C2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74133" y="1120646"/>
            <a:ext cx="3012440" cy="476250"/>
          </a:xfrm>
          <a:custGeom>
            <a:avLst/>
            <a:gdLst/>
            <a:ahLst/>
            <a:cxnLst/>
            <a:rect l="l" t="t" r="r" b="b"/>
            <a:pathLst>
              <a:path w="3012440" h="476250">
                <a:moveTo>
                  <a:pt x="0" y="79375"/>
                </a:moveTo>
                <a:lnTo>
                  <a:pt x="6237" y="48478"/>
                </a:lnTo>
                <a:lnTo>
                  <a:pt x="23248" y="23248"/>
                </a:lnTo>
                <a:lnTo>
                  <a:pt x="48478" y="6237"/>
                </a:lnTo>
                <a:lnTo>
                  <a:pt x="79375" y="0"/>
                </a:lnTo>
                <a:lnTo>
                  <a:pt x="2932640" y="0"/>
                </a:lnTo>
                <a:lnTo>
                  <a:pt x="2963536" y="6237"/>
                </a:lnTo>
                <a:lnTo>
                  <a:pt x="2988766" y="23248"/>
                </a:lnTo>
                <a:lnTo>
                  <a:pt x="3005777" y="48478"/>
                </a:lnTo>
                <a:lnTo>
                  <a:pt x="3012015" y="79375"/>
                </a:lnTo>
                <a:lnTo>
                  <a:pt x="3012015" y="396875"/>
                </a:lnTo>
                <a:lnTo>
                  <a:pt x="3005777" y="427772"/>
                </a:lnTo>
                <a:lnTo>
                  <a:pt x="2988766" y="453002"/>
                </a:lnTo>
                <a:lnTo>
                  <a:pt x="2963536" y="470013"/>
                </a:lnTo>
                <a:lnTo>
                  <a:pt x="2932640" y="476251"/>
                </a:lnTo>
                <a:lnTo>
                  <a:pt x="79375" y="476251"/>
                </a:lnTo>
                <a:lnTo>
                  <a:pt x="48478" y="470013"/>
                </a:lnTo>
                <a:lnTo>
                  <a:pt x="23248" y="453002"/>
                </a:lnTo>
                <a:lnTo>
                  <a:pt x="6237" y="427772"/>
                </a:lnTo>
                <a:lnTo>
                  <a:pt x="0" y="396875"/>
                </a:lnTo>
                <a:lnTo>
                  <a:pt x="0" y="79375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144626" y="1226819"/>
            <a:ext cx="18700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>
                <a:latin typeface="Calibri"/>
                <a:cs typeface="Calibri"/>
              </a:rPr>
              <a:t>Cloud theme </a:t>
            </a:r>
            <a:r>
              <a:rPr dirty="0" sz="1400" spc="-10">
                <a:latin typeface="Calibri"/>
                <a:cs typeface="Calibri"/>
              </a:rPr>
              <a:t>cover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5">
                <a:latin typeface="Calibri"/>
                <a:cs typeface="Calibri"/>
              </a:rPr>
              <a:t>image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12208" y="835152"/>
            <a:ext cx="3328416" cy="31150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04232" y="1027175"/>
            <a:ext cx="2746248" cy="25328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2208" y="3453384"/>
            <a:ext cx="3328416" cy="340461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04232" y="3645408"/>
            <a:ext cx="2746248" cy="30388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623047" y="1459991"/>
            <a:ext cx="3413759" cy="47122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815071" y="1652016"/>
            <a:ext cx="2831592" cy="41300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xfrm>
            <a:off x="606468" y="407923"/>
            <a:ext cx="72104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Cloud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75" b="1">
                <a:solidFill>
                  <a:srgbClr val="000000"/>
                </a:solidFill>
                <a:latin typeface="微软雅黑"/>
                <a:cs typeface="微软雅黑"/>
              </a:rPr>
              <a:t>Main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Image  </a:t>
            </a:r>
            <a:r>
              <a:rPr dirty="0" sz="2400" spc="37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50" b="1">
                <a:solidFill>
                  <a:srgbClr val="000000"/>
                </a:solidFill>
                <a:latin typeface="微软雅黑"/>
                <a:cs typeface="微软雅黑"/>
              </a:rPr>
              <a:t>uto-Gene-ation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91464" y="410972"/>
            <a:ext cx="8158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85" b="1">
                <a:solidFill>
                  <a:srgbClr val="000000"/>
                </a:solidFill>
                <a:latin typeface="微软雅黑"/>
                <a:cs typeface="微软雅黑"/>
              </a:rPr>
              <a:t>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Knowledge   </a:t>
            </a:r>
            <a:r>
              <a:rPr dirty="0" sz="2400" spc="155" b="1">
                <a:solidFill>
                  <a:srgbClr val="000000"/>
                </a:solidFill>
                <a:latin typeface="微软雅黑"/>
                <a:cs typeface="微软雅黑"/>
              </a:rPr>
              <a:t>ard/Guide</a:t>
            </a:r>
            <a:r>
              <a:rPr dirty="0" sz="2400" spc="2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0687" y="1657604"/>
            <a:ext cx="2557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Step1: </a:t>
            </a:r>
            <a:r>
              <a:rPr dirty="0" sz="1800" spc="-25">
                <a:latin typeface="Calibri"/>
                <a:cs typeface="Calibri"/>
              </a:rPr>
              <a:t>Training </a:t>
            </a:r>
            <a:r>
              <a:rPr dirty="0" sz="1800" spc="-15">
                <a:latin typeface="Calibri"/>
                <a:cs typeface="Calibri"/>
              </a:rPr>
              <a:t>data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mining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69391" y="2005583"/>
            <a:ext cx="11448288" cy="34320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596038" y="3044444"/>
            <a:ext cx="3654425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5">
                <a:latin typeface="Calibri"/>
                <a:cs typeface="Calibri"/>
              </a:rPr>
              <a:t>Context-based </a:t>
            </a:r>
            <a:r>
              <a:rPr dirty="0" sz="1800">
                <a:latin typeface="Calibri"/>
                <a:cs typeface="Calibri"/>
              </a:rPr>
              <a:t>query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embedding</a:t>
            </a:r>
            <a:endParaRPr sz="1800">
              <a:latin typeface="Calibri"/>
              <a:cs typeface="Calibri"/>
            </a:endParaRPr>
          </a:p>
          <a:p>
            <a:pPr algn="ctr" marL="36830">
              <a:lnSpc>
                <a:spcPts val="2125"/>
              </a:lnSpc>
            </a:pPr>
            <a:r>
              <a:rPr dirty="0" sz="1800">
                <a:latin typeface="Calibri"/>
                <a:cs typeface="Calibri"/>
              </a:rPr>
              <a:t>&amp;</a:t>
            </a:r>
            <a:endParaRPr sz="1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latin typeface="Calibri"/>
                <a:cs typeface="Calibri"/>
              </a:rPr>
              <a:t>Query </a:t>
            </a:r>
            <a:r>
              <a:rPr dirty="0" sz="1800" spc="-10">
                <a:latin typeface="Calibri"/>
                <a:cs typeface="Calibri"/>
              </a:rPr>
              <a:t>item bipartite Graph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embedding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2997" y="1843532"/>
            <a:ext cx="414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t</a:t>
            </a:r>
            <a:r>
              <a:rPr dirty="0" sz="1800">
                <a:latin typeface="Calibri"/>
                <a:cs typeface="Calibri"/>
              </a:rPr>
              <a:t>f</a:t>
            </a:r>
            <a:r>
              <a:rPr dirty="0" sz="1800" spc="-5">
                <a:latin typeface="Calibri"/>
                <a:cs typeface="Calibri"/>
              </a:rPr>
              <a:t>i</a:t>
            </a:r>
            <a:r>
              <a:rPr dirty="0" sz="1800" spc="0">
                <a:latin typeface="Calibri"/>
                <a:cs typeface="Calibri"/>
              </a:rPr>
              <a:t>d</a:t>
            </a:r>
            <a:r>
              <a:rPr dirty="0" sz="1800"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76390" y="1416811"/>
            <a:ext cx="1610995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Tfidf </a:t>
            </a:r>
            <a:r>
              <a:rPr dirty="0" sz="1800" spc="-15">
                <a:latin typeface="Calibri"/>
                <a:cs typeface="Calibri"/>
              </a:rPr>
              <a:t>textrank  word </a:t>
            </a:r>
            <a:r>
              <a:rPr dirty="0" sz="1800" spc="-5">
                <a:latin typeface="Calibri"/>
                <a:cs typeface="Calibri"/>
              </a:rPr>
              <a:t>embedding  </a:t>
            </a:r>
            <a:r>
              <a:rPr dirty="0" sz="1800" spc="-15">
                <a:latin typeface="Calibri"/>
                <a:cs typeface="Calibri"/>
              </a:rPr>
              <a:t>Part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speech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Calibri"/>
                <a:cs typeface="Calibri"/>
              </a:rPr>
              <a:t>…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0263" y="1313688"/>
            <a:ext cx="5547360" cy="2935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45336" y="1508760"/>
            <a:ext cx="4959096" cy="2350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821423" y="1261872"/>
            <a:ext cx="5367528" cy="29870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013447" y="1453896"/>
            <a:ext cx="5175504" cy="24048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350263" y="3861815"/>
            <a:ext cx="6059424" cy="29961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45336" y="4053840"/>
            <a:ext cx="5471160" cy="2685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83552" y="3861815"/>
            <a:ext cx="5105400" cy="29961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78623" y="4053840"/>
            <a:ext cx="4910328" cy="26852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11075" y="392684"/>
            <a:ext cx="81584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60" b="1">
                <a:latin typeface="微软雅黑"/>
                <a:cs typeface="微软雅黑"/>
              </a:rPr>
              <a:t> </a:t>
            </a:r>
            <a:r>
              <a:rPr dirty="0" sz="2400" spc="185" b="1">
                <a:latin typeface="微软雅黑"/>
                <a:cs typeface="微软雅黑"/>
              </a:rPr>
              <a:t>loud </a:t>
            </a:r>
            <a:r>
              <a:rPr dirty="0" sz="2400" spc="85" b="1">
                <a:latin typeface="微软雅黑"/>
                <a:cs typeface="微软雅黑"/>
              </a:rPr>
              <a:t>Theme </a:t>
            </a:r>
            <a:r>
              <a:rPr dirty="0" sz="2400" spc="100" b="1">
                <a:latin typeface="微软雅黑"/>
                <a:cs typeface="微软雅黑"/>
              </a:rPr>
              <a:t>Knowledge   </a:t>
            </a:r>
            <a:r>
              <a:rPr dirty="0" sz="2400" spc="155" b="1">
                <a:latin typeface="微软雅黑"/>
                <a:cs typeface="微软雅黑"/>
              </a:rPr>
              <a:t>ard/Guide</a:t>
            </a:r>
            <a:r>
              <a:rPr dirty="0" sz="2400" spc="210" b="1">
                <a:latin typeface="微软雅黑"/>
                <a:cs typeface="微软雅黑"/>
              </a:rPr>
              <a:t> </a:t>
            </a:r>
            <a:r>
              <a:rPr dirty="0" sz="2400" spc="105" b="1">
                <a:latin typeface="微软雅黑"/>
                <a:cs typeface="微软雅黑"/>
              </a:rPr>
              <a:t>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6795" y="962660"/>
            <a:ext cx="46323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Knitwear category: </a:t>
            </a:r>
            <a:r>
              <a:rPr dirty="0" sz="1800">
                <a:latin typeface="Calibri"/>
                <a:cs typeface="Calibri"/>
              </a:rPr>
              <a:t>Query </a:t>
            </a:r>
            <a:r>
              <a:rPr dirty="0" sz="1800" spc="-10">
                <a:latin typeface="Calibri"/>
                <a:cs typeface="Calibri"/>
              </a:rPr>
              <a:t>clustering result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display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7041" y="417068"/>
            <a:ext cx="815848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85" b="1">
                <a:solidFill>
                  <a:srgbClr val="000000"/>
                </a:solidFill>
                <a:latin typeface="微软雅黑"/>
                <a:cs typeface="微软雅黑"/>
              </a:rPr>
              <a:t>loud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Knowledge   </a:t>
            </a:r>
            <a:r>
              <a:rPr dirty="0" sz="2400" spc="155" b="1">
                <a:solidFill>
                  <a:srgbClr val="000000"/>
                </a:solidFill>
                <a:latin typeface="微软雅黑"/>
                <a:cs typeface="微软雅黑"/>
              </a:rPr>
              <a:t>ard/Guide</a:t>
            </a:r>
            <a:r>
              <a:rPr dirty="0" sz="2400" spc="2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2920" y="1102867"/>
            <a:ext cx="10521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5">
                <a:latin typeface="Calibri"/>
                <a:cs typeface="Calibri"/>
              </a:rPr>
              <a:t>NLG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5">
                <a:latin typeface="Calibri"/>
                <a:cs typeface="Calibri"/>
              </a:rPr>
              <a:t>model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03120" y="4861559"/>
            <a:ext cx="9186672" cy="19964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95144" y="5056632"/>
            <a:ext cx="8601456" cy="16398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795016" y="972311"/>
            <a:ext cx="7339583" cy="42702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90088" y="1164336"/>
            <a:ext cx="6754367" cy="36880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25874" y="2983483"/>
            <a:ext cx="4965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P</a:t>
            </a:r>
            <a:r>
              <a:rPr dirty="0" sz="1800">
                <a:latin typeface="Calibri"/>
                <a:cs typeface="Calibri"/>
              </a:rPr>
              <a:t>GN: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920" y="5949188"/>
            <a:ext cx="12852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Calibri"/>
                <a:cs typeface="Calibri"/>
              </a:rPr>
              <a:t>Soft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template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8183" y="490219"/>
            <a:ext cx="8161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dirty="0" sz="2400" spc="5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85" b="1">
                <a:solidFill>
                  <a:srgbClr val="000000"/>
                </a:solidFill>
                <a:latin typeface="微软雅黑"/>
                <a:cs typeface="微软雅黑"/>
              </a:rPr>
              <a:t>loud	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Knowledge    </a:t>
            </a:r>
            <a:r>
              <a:rPr dirty="0" sz="2400" spc="90" b="1">
                <a:solidFill>
                  <a:srgbClr val="000000"/>
                </a:solidFill>
                <a:latin typeface="微软雅黑"/>
                <a:cs typeface="微软雅黑"/>
              </a:rPr>
              <a:t>ard/Guide</a:t>
            </a:r>
            <a:r>
              <a:rPr dirty="0" sz="2400" spc="-12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Generation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270" y="1440180"/>
            <a:ext cx="53809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Calibri"/>
                <a:cs typeface="Calibri"/>
              </a:rPr>
              <a:t>Product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embedding</a:t>
            </a:r>
            <a:endParaRPr sz="20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2000" spc="-25">
                <a:latin typeface="Calibri"/>
                <a:cs typeface="Calibri"/>
              </a:rPr>
              <a:t>Currently, </a:t>
            </a:r>
            <a:r>
              <a:rPr dirty="0" sz="2000" spc="-5">
                <a:latin typeface="Calibri"/>
                <a:cs typeface="Calibri"/>
              </a:rPr>
              <a:t>items </a:t>
            </a:r>
            <a:r>
              <a:rPr dirty="0" sz="2000" spc="-10">
                <a:latin typeface="Calibri"/>
                <a:cs typeface="Calibri"/>
              </a:rPr>
              <a:t>are retrieved through </a:t>
            </a:r>
            <a:r>
              <a:rPr dirty="0" sz="2000" spc="-5">
                <a:latin typeface="Calibri"/>
                <a:cs typeface="Calibri"/>
              </a:rPr>
              <a:t>query </a:t>
            </a:r>
            <a:r>
              <a:rPr dirty="0" sz="2000" spc="-30">
                <a:latin typeface="Calibri"/>
                <a:cs typeface="Calibri"/>
              </a:rPr>
              <a:t>cluster,  </a:t>
            </a:r>
            <a:r>
              <a:rPr dirty="0" sz="2000" spc="-15">
                <a:latin typeface="Calibri"/>
                <a:cs typeface="Calibri"/>
              </a:rPr>
              <a:t>keywords, </a:t>
            </a:r>
            <a:r>
              <a:rPr dirty="0" sz="2000" spc="-5">
                <a:latin typeface="Calibri"/>
                <a:cs typeface="Calibri"/>
              </a:rPr>
              <a:t>question, and </a:t>
            </a:r>
            <a:r>
              <a:rPr dirty="0" sz="2000" spc="-10">
                <a:latin typeface="Calibri"/>
                <a:cs typeface="Calibri"/>
              </a:rPr>
              <a:t>knowledge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card;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2127" y="3392423"/>
            <a:ext cx="7458456" cy="26974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930895" y="3593591"/>
            <a:ext cx="3685032" cy="2865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886415" y="1313180"/>
            <a:ext cx="6220460" cy="19367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158115">
              <a:lnSpc>
                <a:spcPct val="99400"/>
              </a:lnSpc>
              <a:spcBef>
                <a:spcPts val="110"/>
              </a:spcBef>
            </a:pPr>
            <a:r>
              <a:rPr dirty="0" sz="1800" spc="-5" b="1">
                <a:latin typeface="Calibri"/>
                <a:cs typeface="Calibri"/>
              </a:rPr>
              <a:t>Query </a:t>
            </a:r>
            <a:r>
              <a:rPr dirty="0" sz="1800" spc="-15" b="1">
                <a:latin typeface="Calibri"/>
                <a:cs typeface="Calibri"/>
              </a:rPr>
              <a:t>cluster: </a:t>
            </a:r>
            <a:r>
              <a:rPr dirty="0" sz="1800" spc="-5">
                <a:latin typeface="Calibri"/>
                <a:cs typeface="Calibri"/>
              </a:rPr>
              <a:t>Autumn suit, </a:t>
            </a:r>
            <a:r>
              <a:rPr dirty="0" sz="1800" spc="-10">
                <a:latin typeface="Calibri"/>
                <a:cs typeface="Calibri"/>
              </a:rPr>
              <a:t>female student, fresh, college style...  </a:t>
            </a:r>
            <a:r>
              <a:rPr dirty="0" sz="1800" spc="-15" b="1">
                <a:latin typeface="Calibri"/>
                <a:cs typeface="Calibri"/>
              </a:rPr>
              <a:t>Keywords: </a:t>
            </a:r>
            <a:r>
              <a:rPr dirty="0" sz="1800" spc="-5">
                <a:latin typeface="Calibri"/>
                <a:cs typeface="Calibri"/>
              </a:rPr>
              <a:t>campus, in the Mood </a:t>
            </a:r>
            <a:r>
              <a:rPr dirty="0" sz="1800" spc="-15">
                <a:latin typeface="Calibri"/>
                <a:cs typeface="Calibri"/>
              </a:rPr>
              <a:t>for </a:t>
            </a:r>
            <a:r>
              <a:rPr dirty="0" sz="1800" spc="-10">
                <a:latin typeface="Calibri"/>
                <a:cs typeface="Calibri"/>
              </a:rPr>
              <a:t>Love, </a:t>
            </a:r>
            <a:r>
              <a:rPr dirty="0" sz="1800" spc="-5">
                <a:latin typeface="Calibri"/>
                <a:cs typeface="Calibri"/>
              </a:rPr>
              <a:t>golden </a:t>
            </a:r>
            <a:r>
              <a:rPr dirty="0" sz="1800" spc="-15">
                <a:latin typeface="Calibri"/>
                <a:cs typeface="Calibri"/>
              </a:rPr>
              <a:t>years  </a:t>
            </a:r>
            <a:r>
              <a:rPr dirty="0" sz="1800" spc="-10" b="1">
                <a:latin typeface="Calibri"/>
                <a:cs typeface="Calibri"/>
              </a:rPr>
              <a:t>Question: </a:t>
            </a:r>
            <a:r>
              <a:rPr dirty="0" sz="1800">
                <a:latin typeface="Calibri"/>
                <a:cs typeface="Calibri"/>
              </a:rPr>
              <a:t>Do </a:t>
            </a:r>
            <a:r>
              <a:rPr dirty="0" sz="1800" spc="-10">
                <a:latin typeface="Calibri"/>
                <a:cs typeface="Calibri"/>
              </a:rPr>
              <a:t>you </a:t>
            </a:r>
            <a:r>
              <a:rPr dirty="0" sz="1800" spc="-5">
                <a:latin typeface="Calibri"/>
                <a:cs typeface="Calibri"/>
              </a:rPr>
              <a:t>know the </a:t>
            </a:r>
            <a:r>
              <a:rPr dirty="0" sz="1800" spc="-10">
                <a:latin typeface="Calibri"/>
                <a:cs typeface="Calibri"/>
              </a:rPr>
              <a:t>style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female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students?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98900"/>
              </a:lnSpc>
              <a:spcBef>
                <a:spcPts val="45"/>
              </a:spcBef>
            </a:pPr>
            <a:r>
              <a:rPr dirty="0" sz="1800" spc="-10" b="1">
                <a:latin typeface="Calibri"/>
                <a:cs typeface="Calibri"/>
              </a:rPr>
              <a:t>Knowledge card: </a:t>
            </a:r>
            <a:r>
              <a:rPr dirty="0" sz="1800" spc="-35">
                <a:latin typeface="Calibri"/>
                <a:cs typeface="Calibri"/>
              </a:rPr>
              <a:t>We </a:t>
            </a:r>
            <a:r>
              <a:rPr dirty="0" sz="1800" spc="-10">
                <a:latin typeface="Calibri"/>
                <a:cs typeface="Calibri"/>
              </a:rPr>
              <a:t>are at </a:t>
            </a:r>
            <a:r>
              <a:rPr dirty="0" sz="1800" spc="-5">
                <a:latin typeface="Calibri"/>
                <a:cs typeface="Calibri"/>
              </a:rPr>
              <a:t>the border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immaturity </a:t>
            </a:r>
            <a:r>
              <a:rPr dirty="0" sz="1800">
                <a:latin typeface="Calibri"/>
                <a:cs typeface="Calibri"/>
              </a:rPr>
              <a:t>and </a:t>
            </a:r>
            <a:r>
              <a:rPr dirty="0" sz="1800" spc="-20">
                <a:latin typeface="Calibri"/>
                <a:cs typeface="Calibri"/>
              </a:rPr>
              <a:t>maturity.  </a:t>
            </a:r>
            <a:r>
              <a:rPr dirty="0" sz="1800" spc="-5">
                <a:latin typeface="Calibri"/>
                <a:cs typeface="Calibri"/>
              </a:rPr>
              <a:t>If </a:t>
            </a:r>
            <a:r>
              <a:rPr dirty="0" sz="1800" spc="-10">
                <a:latin typeface="Calibri"/>
                <a:cs typeface="Calibri"/>
              </a:rPr>
              <a:t>we want </a:t>
            </a:r>
            <a:r>
              <a:rPr dirty="0" sz="1800" spc="-1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be a </a:t>
            </a:r>
            <a:r>
              <a:rPr dirty="0" sz="1800" spc="-5">
                <a:latin typeface="Calibri"/>
                <a:cs typeface="Calibri"/>
              </a:rPr>
              <a:t>campus goddess,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course we </a:t>
            </a:r>
            <a:r>
              <a:rPr dirty="0" sz="1800" spc="-15">
                <a:latin typeface="Calibri"/>
                <a:cs typeface="Calibri"/>
              </a:rPr>
              <a:t>have to </a:t>
            </a:r>
            <a:r>
              <a:rPr dirty="0" sz="1800" spc="-5">
                <a:latin typeface="Calibri"/>
                <a:cs typeface="Calibri"/>
              </a:rPr>
              <a:t>choose  what suits us. </a:t>
            </a:r>
            <a:r>
              <a:rPr dirty="0" sz="1800" spc="-85">
                <a:latin typeface="Calibri"/>
                <a:cs typeface="Calibri"/>
              </a:rPr>
              <a:t>To </a:t>
            </a:r>
            <a:r>
              <a:rPr dirty="0" sz="1800" spc="-5">
                <a:latin typeface="Calibri"/>
                <a:cs typeface="Calibri"/>
              </a:rPr>
              <a:t>become </a:t>
            </a:r>
            <a:r>
              <a:rPr dirty="0" sz="1800">
                <a:latin typeface="Calibri"/>
                <a:cs typeface="Calibri"/>
              </a:rPr>
              <a:t>a </a:t>
            </a:r>
            <a:r>
              <a:rPr dirty="0" sz="1800" spc="-5">
                <a:latin typeface="Calibri"/>
                <a:cs typeface="Calibri"/>
              </a:rPr>
              <a:t>dazzling </a:t>
            </a:r>
            <a:r>
              <a:rPr dirty="0" sz="1800" spc="-20">
                <a:latin typeface="Calibri"/>
                <a:cs typeface="Calibri"/>
              </a:rPr>
              <a:t>scenery, </a:t>
            </a:r>
            <a:r>
              <a:rPr dirty="0" sz="1800" spc="-10">
                <a:latin typeface="Calibri"/>
                <a:cs typeface="Calibri"/>
              </a:rPr>
              <a:t>we </a:t>
            </a:r>
            <a:r>
              <a:rPr dirty="0" sz="1800" spc="-5">
                <a:latin typeface="Calibri"/>
                <a:cs typeface="Calibri"/>
              </a:rPr>
              <a:t>should </a:t>
            </a:r>
            <a:r>
              <a:rPr dirty="0" sz="1800" spc="-10">
                <a:latin typeface="Calibri"/>
                <a:cs typeface="Calibri"/>
              </a:rPr>
              <a:t>live </a:t>
            </a:r>
            <a:r>
              <a:rPr dirty="0" sz="1800" spc="-5">
                <a:latin typeface="Calibri"/>
                <a:cs typeface="Calibri"/>
              </a:rPr>
              <a:t>the  </a:t>
            </a:r>
            <a:r>
              <a:rPr dirty="0" sz="1800" spc="-10">
                <a:latin typeface="Calibri"/>
                <a:cs typeface="Calibri"/>
              </a:rPr>
              <a:t>most </a:t>
            </a:r>
            <a:r>
              <a:rPr dirty="0" sz="1800" spc="-5">
                <a:latin typeface="Calibri"/>
                <a:cs typeface="Calibri"/>
              </a:rPr>
              <a:t>beautiful look. Come </a:t>
            </a:r>
            <a:r>
              <a:rPr dirty="0" sz="1800" spc="-15">
                <a:latin typeface="Calibri"/>
                <a:cs typeface="Calibri"/>
              </a:rPr>
              <a:t>to </a:t>
            </a:r>
            <a:r>
              <a:rPr dirty="0" sz="1800" spc="-5">
                <a:latin typeface="Calibri"/>
                <a:cs typeface="Calibri"/>
              </a:rPr>
              <a:t>the small society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university...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25039" y="1135244"/>
            <a:ext cx="2646773" cy="57227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526482" y="1135244"/>
            <a:ext cx="2646773" cy="57227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35137" y="1135244"/>
            <a:ext cx="2646773" cy="57227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83" y="490219"/>
            <a:ext cx="81610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4900" algn="l"/>
              </a:tabLst>
            </a:pPr>
            <a:r>
              <a:rPr dirty="0" sz="2400" spc="5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85" b="1">
                <a:solidFill>
                  <a:srgbClr val="000000"/>
                </a:solidFill>
                <a:latin typeface="微软雅黑"/>
                <a:cs typeface="微软雅黑"/>
              </a:rPr>
              <a:t>loud	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Theme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Knowledge    </a:t>
            </a:r>
            <a:r>
              <a:rPr dirty="0" sz="2400" spc="90" b="1">
                <a:solidFill>
                  <a:srgbClr val="000000"/>
                </a:solidFill>
                <a:latin typeface="微软雅黑"/>
                <a:cs typeface="微软雅黑"/>
              </a:rPr>
              <a:t>ard/Guide</a:t>
            </a:r>
            <a:r>
              <a:rPr dirty="0" sz="2400" spc="-12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Generation</a:t>
            </a:r>
            <a:endParaRPr sz="2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6094" y="4151883"/>
            <a:ext cx="3649979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微软雅黑"/>
                <a:cs typeface="微软雅黑"/>
              </a:rPr>
              <a:t>Part </a:t>
            </a:r>
            <a:r>
              <a:rPr dirty="0" sz="2800" spc="350">
                <a:latin typeface="微软雅黑"/>
                <a:cs typeface="微软雅黑"/>
              </a:rPr>
              <a:t>6:What </a:t>
            </a:r>
            <a:r>
              <a:rPr dirty="0" sz="2800">
                <a:latin typeface="微软雅黑"/>
                <a:cs typeface="微软雅黑"/>
              </a:rPr>
              <a:t>is</a:t>
            </a:r>
            <a:r>
              <a:rPr dirty="0" sz="2800" spc="-430">
                <a:latin typeface="微软雅黑"/>
                <a:cs typeface="微软雅黑"/>
              </a:rPr>
              <a:t> </a:t>
            </a:r>
            <a:r>
              <a:rPr dirty="0" sz="2800" spc="-25">
                <a:latin typeface="微软雅黑"/>
                <a:cs typeface="微软雅黑"/>
              </a:rPr>
              <a:t>next</a:t>
            </a:r>
            <a:r>
              <a:rPr dirty="0" sz="2800" spc="515">
                <a:latin typeface="微软雅黑"/>
                <a:cs typeface="微软雅黑"/>
              </a:rPr>
              <a:t> 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6503" y="493268"/>
            <a:ext cx="49650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Current  </a:t>
            </a:r>
            <a:r>
              <a:rPr dirty="0" sz="2400" spc="200" b="1">
                <a:solidFill>
                  <a:srgbClr val="000000"/>
                </a:solidFill>
                <a:latin typeface="微软雅黑"/>
                <a:cs typeface="微软雅黑"/>
              </a:rPr>
              <a:t>ocus </a:t>
            </a:r>
            <a:r>
              <a:rPr dirty="0" sz="2400" spc="65" b="1">
                <a:solidFill>
                  <a:srgbClr val="000000"/>
                </a:solidFill>
                <a:latin typeface="微软雅黑"/>
                <a:cs typeface="微软雅黑"/>
              </a:rPr>
              <a:t>and</a:t>
            </a:r>
            <a:r>
              <a:rPr dirty="0" sz="2400" spc="50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Challenges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3634" y="930147"/>
            <a:ext cx="10194290" cy="5880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8450" marR="150495" indent="-285750">
              <a:lnSpc>
                <a:spcPct val="120000"/>
              </a:lnSpc>
              <a:spcBef>
                <a:spcPts val="100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40">
                <a:latin typeface="微软雅黑"/>
                <a:cs typeface="微软雅黑"/>
              </a:rPr>
              <a:t>RecAmmendaFiAn </a:t>
            </a:r>
            <a:r>
              <a:rPr dirty="0" sz="1600">
                <a:latin typeface="微软雅黑"/>
                <a:cs typeface="微软雅黑"/>
              </a:rPr>
              <a:t>BiBeline </a:t>
            </a:r>
            <a:r>
              <a:rPr dirty="0" sz="1600" spc="-245">
                <a:latin typeface="微软雅黑"/>
                <a:cs typeface="微软雅黑"/>
              </a:rPr>
              <a:t>fAD </a:t>
            </a:r>
            <a:r>
              <a:rPr dirty="0" sz="1600" spc="-10">
                <a:latin typeface="微软雅黑"/>
                <a:cs typeface="微软雅黑"/>
              </a:rPr>
              <a:t>Alibaba: </a:t>
            </a:r>
            <a:r>
              <a:rPr dirty="0" sz="1600" spc="-35">
                <a:latin typeface="微软雅黑"/>
                <a:cs typeface="微软雅黑"/>
              </a:rPr>
              <a:t>billiAnE </a:t>
            </a:r>
            <a:r>
              <a:rPr dirty="0" sz="1600" spc="-75">
                <a:latin typeface="微软雅黑"/>
                <a:cs typeface="微软雅黑"/>
              </a:rPr>
              <a:t>Af </a:t>
            </a:r>
            <a:r>
              <a:rPr dirty="0" sz="1600" spc="-220">
                <a:latin typeface="微软雅黑"/>
                <a:cs typeface="微软雅黑"/>
              </a:rPr>
              <a:t>GEeDE </a:t>
            </a:r>
            <a:r>
              <a:rPr dirty="0" sz="1600">
                <a:latin typeface="微软雅黑"/>
                <a:cs typeface="微软雅黑"/>
              </a:rPr>
              <a:t>and </a:t>
            </a:r>
            <a:r>
              <a:rPr dirty="0" sz="1600" spc="-170">
                <a:latin typeface="微软雅黑"/>
                <a:cs typeface="微软雅黑"/>
              </a:rPr>
              <a:t>BDAdGcFE </a:t>
            </a:r>
            <a:r>
              <a:rPr dirty="0" sz="1600" spc="125">
                <a:latin typeface="微软雅黑"/>
                <a:cs typeface="微软雅黑"/>
              </a:rPr>
              <a:t>IiFh </a:t>
            </a:r>
            <a:r>
              <a:rPr dirty="0" sz="1600" spc="-285">
                <a:latin typeface="微软雅黑"/>
                <a:cs typeface="微软雅黑"/>
              </a:rPr>
              <a:t>AHeD</a:t>
            </a:r>
            <a:r>
              <a:rPr dirty="0" sz="1600" spc="-100">
                <a:latin typeface="微软雅黑"/>
                <a:cs typeface="微软雅黑"/>
              </a:rPr>
              <a:t> </a:t>
            </a:r>
            <a:r>
              <a:rPr dirty="0" sz="1600" spc="-130">
                <a:latin typeface="微软雅黑"/>
                <a:cs typeface="微软雅黑"/>
              </a:rPr>
              <a:t>FDilliAnE </a:t>
            </a:r>
            <a:r>
              <a:rPr dirty="0" sz="1600" spc="-75">
                <a:latin typeface="微软雅黑"/>
                <a:cs typeface="微软雅黑"/>
              </a:rPr>
              <a:t>Af </a:t>
            </a:r>
            <a:r>
              <a:rPr dirty="0" sz="1600" spc="90">
                <a:latin typeface="微软雅黑"/>
                <a:cs typeface="微软雅黑"/>
              </a:rPr>
              <a:t>ed:eE </a:t>
            </a:r>
            <a:r>
              <a:rPr dirty="0" sz="1600">
                <a:latin typeface="微软雅黑"/>
                <a:cs typeface="微软雅黑"/>
              </a:rPr>
              <a:t>and  </a:t>
            </a:r>
            <a:r>
              <a:rPr dirty="0" sz="1600" spc="-120">
                <a:latin typeface="微软雅黑"/>
                <a:cs typeface="微软雅黑"/>
              </a:rPr>
              <a:t>exFDemelK </a:t>
            </a:r>
            <a:r>
              <a:rPr dirty="0" sz="1600" spc="-155">
                <a:latin typeface="微软雅黑"/>
                <a:cs typeface="微软雅黑"/>
              </a:rPr>
              <a:t>Dich</a:t>
            </a:r>
            <a:r>
              <a:rPr dirty="0" sz="1600" spc="55">
                <a:latin typeface="微软雅黑"/>
                <a:cs typeface="微软雅黑"/>
              </a:rPr>
              <a:t> </a:t>
            </a:r>
            <a:r>
              <a:rPr dirty="0" sz="1600" spc="-175">
                <a:latin typeface="微软雅黑"/>
                <a:cs typeface="微软雅黑"/>
              </a:rPr>
              <a:t>aFFDibGFeE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ct val="100000"/>
              </a:lnSpc>
              <a:spcBef>
                <a:spcPts val="384"/>
              </a:spcBef>
              <a:buFont typeface="Arial"/>
              <a:buChar char="•"/>
              <a:tabLst>
                <a:tab pos="755015" algn="l"/>
                <a:tab pos="755650" algn="l"/>
              </a:tabLst>
            </a:pPr>
            <a:r>
              <a:rPr dirty="0" sz="1600" spc="-40">
                <a:latin typeface="微软雅黑"/>
                <a:cs typeface="微软雅黑"/>
              </a:rPr>
              <a:t>Al:ADiFhm </a:t>
            </a:r>
            <a:r>
              <a:rPr dirty="0" sz="1600">
                <a:latin typeface="微软雅黑"/>
                <a:cs typeface="微软雅黑"/>
              </a:rPr>
              <a:t>+ </a:t>
            </a:r>
            <a:r>
              <a:rPr dirty="0" sz="1600" spc="-105">
                <a:latin typeface="微软雅黑"/>
                <a:cs typeface="微软雅黑"/>
              </a:rPr>
              <a:t>SKEFem</a:t>
            </a:r>
            <a:r>
              <a:rPr dirty="0" sz="1600" spc="-30">
                <a:latin typeface="微软雅黑"/>
                <a:cs typeface="微软雅黑"/>
              </a:rPr>
              <a:t> </a:t>
            </a:r>
            <a:r>
              <a:rPr dirty="0" sz="1600" spc="-60">
                <a:latin typeface="微软雅黑"/>
                <a:cs typeface="微软雅黑"/>
              </a:rPr>
              <a:t>CA-ABFimiLaFiAn</a:t>
            </a:r>
            <a:endParaRPr sz="16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5">
                <a:latin typeface="微软雅黑"/>
                <a:cs typeface="微软雅黑"/>
              </a:rPr>
              <a:t>)DaBh </a:t>
            </a:r>
            <a:r>
              <a:rPr dirty="0" sz="1600" spc="65">
                <a:latin typeface="微软雅黑"/>
                <a:cs typeface="微软雅黑"/>
              </a:rPr>
              <a:t>embeddin: </a:t>
            </a:r>
            <a:r>
              <a:rPr dirty="0" sz="1600">
                <a:latin typeface="微软雅黑"/>
                <a:cs typeface="微软雅黑"/>
              </a:rPr>
              <a:t>&amp; </a:t>
            </a:r>
            <a:r>
              <a:rPr dirty="0" sz="1600" spc="-75">
                <a:latin typeface="微软雅黑"/>
                <a:cs typeface="微软雅黑"/>
              </a:rPr>
              <a:t>infeDence </a:t>
            </a:r>
            <a:r>
              <a:rPr dirty="0" sz="1600" spc="-245">
                <a:latin typeface="微软雅黑"/>
                <a:cs typeface="微软雅黑"/>
              </a:rPr>
              <a:t>fAD  </a:t>
            </a:r>
            <a:r>
              <a:rPr dirty="0" sz="1600" spc="-160">
                <a:latin typeface="微软雅黑"/>
                <a:cs typeface="微软雅黑"/>
              </a:rPr>
              <a:t>aFFDibGFed  </a:t>
            </a:r>
            <a:r>
              <a:rPr dirty="0" sz="1600" spc="-65">
                <a:latin typeface="微软雅黑"/>
                <a:cs typeface="微软雅黑"/>
              </a:rPr>
              <a:t>heFeDA:eneAGE</a:t>
            </a:r>
            <a:r>
              <a:rPr dirty="0" sz="1600" spc="-120">
                <a:latin typeface="微软雅黑"/>
                <a:cs typeface="微软雅黑"/>
              </a:rPr>
              <a:t> </a:t>
            </a:r>
            <a:r>
              <a:rPr dirty="0" sz="1600" spc="-30">
                <a:latin typeface="微软雅黑"/>
                <a:cs typeface="微软雅黑"/>
              </a:rPr>
              <a:t>neFIADk</a:t>
            </a:r>
            <a:endParaRPr sz="1600">
              <a:latin typeface="微软雅黑"/>
              <a:cs typeface="微软雅黑"/>
            </a:endParaRPr>
          </a:p>
          <a:p>
            <a:pPr marL="755650" indent="-285750">
              <a:lnSpc>
                <a:spcPct val="100000"/>
              </a:lnSpc>
              <a:spcBef>
                <a:spcPts val="384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-65">
                <a:latin typeface="微软雅黑"/>
                <a:cs typeface="微软雅黑"/>
              </a:rPr>
              <a:t>HeFeDA:eneAGE </a:t>
            </a:r>
            <a:r>
              <a:rPr dirty="0" sz="1600" spc="-55">
                <a:latin typeface="微软雅黑"/>
                <a:cs typeface="微软雅黑"/>
              </a:rPr>
              <a:t>nAdeE </a:t>
            </a:r>
            <a:r>
              <a:rPr dirty="0" sz="1600" spc="125">
                <a:latin typeface="微软雅黑"/>
                <a:cs typeface="微软雅黑"/>
              </a:rPr>
              <a:t>IiFh</a:t>
            </a:r>
            <a:r>
              <a:rPr dirty="0" sz="1600" spc="75">
                <a:latin typeface="微软雅黑"/>
                <a:cs typeface="微软雅黑"/>
              </a:rPr>
              <a:t> </a:t>
            </a:r>
            <a:r>
              <a:rPr dirty="0" sz="1600" spc="-175">
                <a:latin typeface="微软雅黑"/>
                <a:cs typeface="微软雅黑"/>
              </a:rPr>
              <a:t>aFFDibGFeE</a:t>
            </a:r>
            <a:endParaRPr sz="1600">
              <a:latin typeface="微软雅黑"/>
              <a:cs typeface="微软雅黑"/>
            </a:endParaRPr>
          </a:p>
          <a:p>
            <a:pPr marL="755650" indent="-285750">
              <a:lnSpc>
                <a:spcPct val="100000"/>
              </a:lnSpc>
              <a:spcBef>
                <a:spcPts val="480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-120">
                <a:latin typeface="微软雅黑"/>
                <a:cs typeface="微软雅黑"/>
              </a:rPr>
              <a:t>&amp;iffeDenF  </a:t>
            </a:r>
            <a:r>
              <a:rPr dirty="0" sz="1600" spc="-110">
                <a:latin typeface="微软雅黑"/>
                <a:cs typeface="微软雅黑"/>
              </a:rPr>
              <a:t>FKBeE </a:t>
            </a:r>
            <a:r>
              <a:rPr dirty="0" sz="1600" spc="-75">
                <a:latin typeface="微软雅黑"/>
                <a:cs typeface="微软雅黑"/>
              </a:rPr>
              <a:t>Af </a:t>
            </a:r>
            <a:r>
              <a:rPr dirty="0" sz="1600" spc="75">
                <a:latin typeface="微软雅黑"/>
                <a:cs typeface="微软雅黑"/>
              </a:rPr>
              <a:t>ed:eE, </a:t>
            </a:r>
            <a:r>
              <a:rPr dirty="0" sz="1600" spc="-80">
                <a:latin typeface="微软雅黑"/>
                <a:cs typeface="微软雅黑"/>
              </a:rPr>
              <a:t>eaEK </a:t>
            </a:r>
            <a:r>
              <a:rPr dirty="0" sz="1600" spc="-190">
                <a:latin typeface="微软雅黑"/>
                <a:cs typeface="微软雅黑"/>
              </a:rPr>
              <a:t>FA  </a:t>
            </a:r>
            <a:r>
              <a:rPr dirty="0" sz="1600" spc="-60">
                <a:latin typeface="微软雅黑"/>
                <a:cs typeface="微软雅黑"/>
              </a:rPr>
              <a:t>inFe:DaFe </a:t>
            </a:r>
            <a:r>
              <a:rPr dirty="0" sz="1600" spc="140">
                <a:latin typeface="微软雅黑"/>
                <a:cs typeface="微软雅黑"/>
              </a:rPr>
              <a:t>knAIled:e  </a:t>
            </a:r>
            <a:r>
              <a:rPr dirty="0" sz="1600" spc="175">
                <a:latin typeface="微软雅黑"/>
                <a:cs typeface="微软雅黑"/>
              </a:rPr>
              <a:t>,nAIled:e </a:t>
            </a:r>
            <a:r>
              <a:rPr dirty="0" sz="1600" spc="5">
                <a:latin typeface="微软雅黑"/>
                <a:cs typeface="微软雅黑"/>
              </a:rPr>
              <a:t>)DaBh </a:t>
            </a:r>
            <a:r>
              <a:rPr dirty="0" sz="1600">
                <a:latin typeface="微软雅黑"/>
                <a:cs typeface="微软雅黑"/>
              </a:rPr>
              <a:t>and </a:t>
            </a:r>
            <a:r>
              <a:rPr dirty="0" sz="1600" spc="5">
                <a:latin typeface="微软雅黑"/>
                <a:cs typeface="微软雅黑"/>
              </a:rPr>
              <a:t>)DaBh</a:t>
            </a:r>
            <a:r>
              <a:rPr dirty="0" sz="1600" spc="-60">
                <a:latin typeface="微软雅黑"/>
                <a:cs typeface="微软雅黑"/>
              </a:rPr>
              <a:t> </a:t>
            </a:r>
            <a:r>
              <a:rPr dirty="0" sz="1600" spc="35">
                <a:latin typeface="微软雅黑"/>
                <a:cs typeface="微软雅黑"/>
              </a:rPr>
              <a:t>Embeddin:)</a:t>
            </a:r>
            <a:endParaRPr sz="1600">
              <a:latin typeface="微软雅黑"/>
              <a:cs typeface="微软雅黑"/>
            </a:endParaRPr>
          </a:p>
          <a:p>
            <a:pPr marL="755650" indent="-285750">
              <a:lnSpc>
                <a:spcPct val="100000"/>
              </a:lnSpc>
              <a:spcBef>
                <a:spcPts val="359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-140">
                <a:latin typeface="微软雅黑"/>
                <a:cs typeface="微软雅黑"/>
              </a:rPr>
              <a:t>(AD  </a:t>
            </a:r>
            <a:r>
              <a:rPr dirty="0" sz="1600" spc="-5">
                <a:latin typeface="微软雅黑"/>
                <a:cs typeface="微软雅黑"/>
              </a:rPr>
              <a:t>each </a:t>
            </a:r>
            <a:r>
              <a:rPr dirty="0" sz="1600" spc="-20">
                <a:latin typeface="微软雅黑"/>
                <a:cs typeface="微软雅黑"/>
              </a:rPr>
              <a:t>EBecific </a:t>
            </a:r>
            <a:r>
              <a:rPr dirty="0" sz="1600" spc="-70">
                <a:latin typeface="微软雅黑"/>
                <a:cs typeface="微软雅黑"/>
              </a:rPr>
              <a:t>FaEk, </a:t>
            </a:r>
            <a:r>
              <a:rPr dirty="0" sz="1600" spc="-100">
                <a:latin typeface="微软雅黑"/>
                <a:cs typeface="微软雅黑"/>
              </a:rPr>
              <a:t>beEF </a:t>
            </a:r>
            <a:r>
              <a:rPr dirty="0" sz="1600" spc="-25">
                <a:latin typeface="微软雅黑"/>
                <a:cs typeface="微软雅黑"/>
              </a:rPr>
              <a:t>chAice </a:t>
            </a:r>
            <a:r>
              <a:rPr dirty="0" sz="1600" spc="-75">
                <a:latin typeface="微软雅黑"/>
                <a:cs typeface="微软雅黑"/>
              </a:rPr>
              <a:t>Af </a:t>
            </a:r>
            <a:r>
              <a:rPr dirty="0" sz="1600" spc="150">
                <a:latin typeface="微软雅黑"/>
                <a:cs typeface="微软雅黑"/>
              </a:rPr>
              <a:t>ed:e </a:t>
            </a:r>
            <a:r>
              <a:rPr dirty="0" sz="1600" spc="-105">
                <a:latin typeface="微软雅黑"/>
                <a:cs typeface="微软雅黑"/>
              </a:rPr>
              <a:t>FKBe </a:t>
            </a:r>
            <a:r>
              <a:rPr dirty="0" sz="1600">
                <a:latin typeface="微软雅黑"/>
                <a:cs typeface="微软雅黑"/>
              </a:rPr>
              <a:t>&amp; </a:t>
            </a:r>
            <a:r>
              <a:rPr dirty="0" sz="1600" spc="-30">
                <a:latin typeface="微软雅黑"/>
                <a:cs typeface="微软雅黑"/>
              </a:rPr>
              <a:t>nAde</a:t>
            </a:r>
            <a:r>
              <a:rPr dirty="0" sz="1600" spc="100">
                <a:latin typeface="微软雅黑"/>
                <a:cs typeface="微软雅黑"/>
              </a:rPr>
              <a:t> </a:t>
            </a:r>
            <a:r>
              <a:rPr dirty="0" sz="1600" spc="-175">
                <a:latin typeface="微软雅黑"/>
                <a:cs typeface="微软雅黑"/>
              </a:rPr>
              <a:t>aFFDibGFeE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75">
                <a:latin typeface="微软雅黑"/>
                <a:cs typeface="微软雅黑"/>
              </a:rPr>
              <a:t>MGlFi-mAdaliFK </a:t>
            </a:r>
            <a:r>
              <a:rPr dirty="0" sz="1600">
                <a:latin typeface="微软雅黑"/>
                <a:cs typeface="微软雅黑"/>
              </a:rPr>
              <a:t>&amp; </a:t>
            </a:r>
            <a:r>
              <a:rPr dirty="0" sz="1600" spc="-5">
                <a:latin typeface="微软雅黑"/>
                <a:cs typeface="微软雅黑"/>
              </a:rPr>
              <a:t>Scalable </a:t>
            </a:r>
            <a:r>
              <a:rPr dirty="0" sz="1600" spc="-45">
                <a:latin typeface="微软雅黑"/>
                <a:cs typeface="微软雅黑"/>
              </a:rPr>
              <a:t>BaKeEian </a:t>
            </a:r>
            <a:r>
              <a:rPr dirty="0" sz="1600" spc="-40">
                <a:latin typeface="微软雅黑"/>
                <a:cs typeface="微软雅黑"/>
              </a:rPr>
              <a:t>&amp;eeB</a:t>
            </a:r>
            <a:r>
              <a:rPr dirty="0" sz="1600" spc="130">
                <a:latin typeface="微软雅黑"/>
                <a:cs typeface="微软雅黑"/>
              </a:rPr>
              <a:t> </a:t>
            </a:r>
            <a:r>
              <a:rPr dirty="0" sz="1600" spc="10">
                <a:latin typeface="微软雅黑"/>
                <a:cs typeface="微软雅黑"/>
              </a:rPr>
              <a:t>-eaDnin:</a:t>
            </a:r>
            <a:endParaRPr sz="16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297815" algn="l"/>
              </a:tabLst>
            </a:pPr>
            <a:r>
              <a:rPr dirty="0" sz="1600">
                <a:latin typeface="Arial"/>
                <a:cs typeface="Arial"/>
              </a:rPr>
              <a:t>•	</a:t>
            </a:r>
            <a:r>
              <a:rPr dirty="0" sz="1600" spc="-120">
                <a:latin typeface="微软雅黑"/>
                <a:cs typeface="微软雅黑"/>
              </a:rPr>
              <a:t>+nFDAdGcin:  </a:t>
            </a:r>
            <a:r>
              <a:rPr dirty="0" sz="1600" spc="150">
                <a:latin typeface="微软雅黑"/>
                <a:cs typeface="微软雅黑"/>
              </a:rPr>
              <a:t>hi:h </a:t>
            </a:r>
            <a:r>
              <a:rPr dirty="0" sz="1600" spc="-100">
                <a:latin typeface="微软雅黑"/>
                <a:cs typeface="微软雅黑"/>
              </a:rPr>
              <a:t>CGaliFK </a:t>
            </a:r>
            <a:r>
              <a:rPr dirty="0" sz="1600" spc="-65">
                <a:latin typeface="微软雅黑"/>
                <a:cs typeface="微软雅黑"/>
              </a:rPr>
              <a:t>daFa</a:t>
            </a:r>
            <a:r>
              <a:rPr dirty="0" sz="1600" spc="-320">
                <a:latin typeface="微软雅黑"/>
                <a:cs typeface="微软雅黑"/>
              </a:rPr>
              <a:t> </a:t>
            </a:r>
            <a:r>
              <a:rPr dirty="0" sz="1600" spc="-25">
                <a:latin typeface="微软雅黑"/>
                <a:cs typeface="微软雅黑"/>
              </a:rPr>
              <a:t>labelE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ct val="100000"/>
              </a:lnSpc>
              <a:spcBef>
                <a:spcPts val="384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150">
                <a:latin typeface="微软雅黑"/>
                <a:cs typeface="微软雅黑"/>
              </a:rPr>
              <a:t>Hi:h </a:t>
            </a:r>
            <a:r>
              <a:rPr dirty="0" sz="1600" spc="-100">
                <a:latin typeface="微软雅黑"/>
                <a:cs typeface="微软雅黑"/>
              </a:rPr>
              <a:t>CGaliFK </a:t>
            </a:r>
            <a:r>
              <a:rPr dirty="0" sz="1600" spc="-40">
                <a:latin typeface="微软雅黑"/>
                <a:cs typeface="微软雅黑"/>
              </a:rPr>
              <a:t>Eide </a:t>
            </a:r>
            <a:r>
              <a:rPr dirty="0" sz="1600" spc="-95">
                <a:latin typeface="微软雅黑"/>
                <a:cs typeface="微软雅黑"/>
              </a:rPr>
              <a:t>infADmaFiAn, </a:t>
            </a:r>
            <a:r>
              <a:rPr dirty="0" sz="1600" spc="-90">
                <a:latin typeface="微软雅黑"/>
                <a:cs typeface="微软雅黑"/>
              </a:rPr>
              <a:t>EGch </a:t>
            </a:r>
            <a:r>
              <a:rPr dirty="0" sz="1600" spc="-70">
                <a:latin typeface="微软雅黑"/>
                <a:cs typeface="微软雅黑"/>
              </a:rPr>
              <a:t>aE </a:t>
            </a:r>
            <a:r>
              <a:rPr dirty="0" sz="1600" spc="150">
                <a:latin typeface="微软雅黑"/>
                <a:cs typeface="微软雅黑"/>
              </a:rPr>
              <a:t>hi:h </a:t>
            </a:r>
            <a:r>
              <a:rPr dirty="0" sz="1600" spc="-85">
                <a:latin typeface="微软雅黑"/>
                <a:cs typeface="微软雅黑"/>
              </a:rPr>
              <a:t>HalGable </a:t>
            </a:r>
            <a:r>
              <a:rPr dirty="0" sz="1600" spc="-220">
                <a:latin typeface="微软雅黑"/>
                <a:cs typeface="微软雅黑"/>
              </a:rPr>
              <a:t>GEeDE  </a:t>
            </a:r>
            <a:r>
              <a:rPr dirty="0" sz="1600">
                <a:latin typeface="微软雅黑"/>
                <a:cs typeface="微软雅黑"/>
              </a:rPr>
              <a:t>and</a:t>
            </a:r>
            <a:r>
              <a:rPr dirty="0" sz="1600" spc="225">
                <a:latin typeface="微软雅黑"/>
                <a:cs typeface="微软雅黑"/>
              </a:rPr>
              <a:t> </a:t>
            </a:r>
            <a:r>
              <a:rPr dirty="0" sz="1600" spc="-75">
                <a:latin typeface="微软雅黑"/>
                <a:cs typeface="微软雅黑"/>
              </a:rPr>
              <a:t>meDchandiEe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ct val="100000"/>
              </a:lnSpc>
              <a:spcBef>
                <a:spcPts val="360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-60">
                <a:latin typeface="微软雅黑"/>
                <a:cs typeface="微软雅黑"/>
              </a:rPr>
              <a:t>TaD:eFed </a:t>
            </a:r>
            <a:r>
              <a:rPr dirty="0" sz="1600" spc="-114">
                <a:latin typeface="微软雅黑"/>
                <a:cs typeface="微软雅黑"/>
              </a:rPr>
              <a:t>BAEiFiHe  </a:t>
            </a:r>
            <a:r>
              <a:rPr dirty="0" sz="1600">
                <a:latin typeface="微软雅黑"/>
                <a:cs typeface="微软雅黑"/>
              </a:rPr>
              <a:t>and </a:t>
            </a:r>
            <a:r>
              <a:rPr dirty="0" sz="1600" spc="-5">
                <a:latin typeface="微软雅黑"/>
                <a:cs typeface="微软雅黑"/>
              </a:rPr>
              <a:t>ne:aFiHe </a:t>
            </a:r>
            <a:r>
              <a:rPr dirty="0" sz="1600" spc="-35">
                <a:latin typeface="微软雅黑"/>
                <a:cs typeface="微软雅黑"/>
              </a:rPr>
              <a:t>EamBleE, </a:t>
            </a:r>
            <a:r>
              <a:rPr dirty="0" sz="1600" spc="-30">
                <a:latin typeface="微软雅黑"/>
                <a:cs typeface="微软雅黑"/>
              </a:rPr>
              <a:t>nAde </a:t>
            </a:r>
            <a:r>
              <a:rPr dirty="0" sz="1600">
                <a:latin typeface="微软雅黑"/>
                <a:cs typeface="微软雅黑"/>
              </a:rPr>
              <a:t>&amp; </a:t>
            </a:r>
            <a:r>
              <a:rPr dirty="0" sz="1600" spc="150">
                <a:latin typeface="微软雅黑"/>
                <a:cs typeface="微软雅黑"/>
              </a:rPr>
              <a:t>ed:e </a:t>
            </a:r>
            <a:r>
              <a:rPr dirty="0" sz="1600" spc="-95">
                <a:latin typeface="微软雅黑"/>
                <a:cs typeface="微软雅黑"/>
              </a:rPr>
              <a:t>imBADFance</a:t>
            </a:r>
            <a:r>
              <a:rPr dirty="0" sz="1600" spc="-240">
                <a:latin typeface="微软雅黑"/>
                <a:cs typeface="微软雅黑"/>
              </a:rPr>
              <a:t> </a:t>
            </a:r>
            <a:r>
              <a:rPr dirty="0" sz="1600" spc="140">
                <a:latin typeface="微软雅黑"/>
                <a:cs typeface="微软雅黑"/>
              </a:rPr>
              <a:t>Iei:hFE</a:t>
            </a:r>
            <a:endParaRPr sz="16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✓"/>
            </a:pPr>
            <a:endParaRPr sz="23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-5">
                <a:latin typeface="微软雅黑"/>
                <a:cs typeface="微软雅黑"/>
              </a:rPr>
              <a:t>Online</a:t>
            </a:r>
            <a:r>
              <a:rPr dirty="0" sz="1600" spc="-45">
                <a:latin typeface="微软雅黑"/>
                <a:cs typeface="微软雅黑"/>
              </a:rPr>
              <a:t> </a:t>
            </a:r>
            <a:r>
              <a:rPr dirty="0" sz="1600" spc="-155">
                <a:latin typeface="微软雅黑"/>
                <a:cs typeface="微软雅黑"/>
              </a:rPr>
              <a:t>+nfeDence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ct val="100000"/>
              </a:lnSpc>
              <a:spcBef>
                <a:spcPts val="380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 spc="254">
                <a:latin typeface="微软雅黑"/>
                <a:cs typeface="微软雅黑"/>
              </a:rPr>
              <a:t>NeI </a:t>
            </a:r>
            <a:r>
              <a:rPr dirty="0" sz="1600" spc="-65">
                <a:latin typeface="微软雅黑"/>
                <a:cs typeface="微软雅黑"/>
              </a:rPr>
              <a:t>daFa </a:t>
            </a:r>
            <a:r>
              <a:rPr dirty="0" sz="1600" spc="75">
                <a:latin typeface="微软雅黑"/>
                <a:cs typeface="微软雅黑"/>
              </a:rPr>
              <a:t>inflAI, </a:t>
            </a:r>
            <a:r>
              <a:rPr dirty="0" sz="1600" spc="-105">
                <a:latin typeface="微软雅黑"/>
                <a:cs typeface="微软雅黑"/>
              </a:rPr>
              <a:t>Deal-Fime </a:t>
            </a:r>
            <a:r>
              <a:rPr dirty="0" sz="1600" spc="0">
                <a:latin typeface="微软雅黑"/>
                <a:cs typeface="微软雅黑"/>
              </a:rPr>
              <a:t>:DaBh</a:t>
            </a:r>
            <a:r>
              <a:rPr dirty="0" sz="1600" spc="-150">
                <a:latin typeface="微软雅黑"/>
                <a:cs typeface="微软雅黑"/>
              </a:rPr>
              <a:t> </a:t>
            </a:r>
            <a:r>
              <a:rPr dirty="0" sz="1600" spc="-80">
                <a:latin typeface="微软雅黑"/>
                <a:cs typeface="微软雅黑"/>
              </a:rPr>
              <a:t>GBdaFe</a:t>
            </a:r>
            <a:endParaRPr sz="1600">
              <a:latin typeface="微软雅黑"/>
              <a:cs typeface="微软雅黑"/>
            </a:endParaRPr>
          </a:p>
          <a:p>
            <a:pPr lvl="1" marL="755650" indent="-285750">
              <a:lnSpc>
                <a:spcPct val="100000"/>
              </a:lnSpc>
              <a:spcBef>
                <a:spcPts val="380"/>
              </a:spcBef>
              <a:buFont typeface="Arial"/>
              <a:buChar char="✓"/>
              <a:tabLst>
                <a:tab pos="755650" algn="l"/>
              </a:tabLst>
            </a:pPr>
            <a:r>
              <a:rPr dirty="0" sz="1600">
                <a:latin typeface="微软雅黑"/>
                <a:cs typeface="微软雅黑"/>
              </a:rPr>
              <a:t>Can </a:t>
            </a:r>
            <a:r>
              <a:rPr dirty="0" sz="1600" spc="-5">
                <a:latin typeface="微软雅黑"/>
                <a:cs typeface="微软雅黑"/>
              </a:rPr>
              <a:t>handle </a:t>
            </a:r>
            <a:r>
              <a:rPr dirty="0" sz="1600" spc="-70">
                <a:latin typeface="微软雅黑"/>
                <a:cs typeface="微软雅黑"/>
              </a:rPr>
              <a:t>EeCGenFial</a:t>
            </a:r>
            <a:r>
              <a:rPr dirty="0" sz="1600" spc="5">
                <a:latin typeface="微软雅黑"/>
                <a:cs typeface="微软雅黑"/>
              </a:rPr>
              <a:t> </a:t>
            </a:r>
            <a:r>
              <a:rPr dirty="0" sz="1600" spc="-105">
                <a:latin typeface="微软雅黑"/>
                <a:cs typeface="微软雅黑"/>
              </a:rPr>
              <a:t>infADmaFiAn</a:t>
            </a:r>
            <a:endParaRPr sz="1600">
              <a:latin typeface="微软雅黑"/>
              <a:cs typeface="微软雅黑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Font typeface="Arial"/>
              <a:buChar char="✓"/>
            </a:pPr>
            <a:endParaRPr sz="23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1600" spc="0">
                <a:latin typeface="微软雅黑"/>
                <a:cs typeface="微软雅黑"/>
              </a:rPr>
              <a:t>Ali)DaBh </a:t>
            </a:r>
            <a:r>
              <a:rPr dirty="0" sz="1600" spc="-30">
                <a:latin typeface="微软雅黑"/>
                <a:cs typeface="微软雅黑"/>
              </a:rPr>
              <a:t>EchA </a:t>
            </a:r>
            <a:r>
              <a:rPr dirty="0" sz="1600" spc="-105">
                <a:latin typeface="微软雅黑"/>
                <a:cs typeface="微软雅黑"/>
              </a:rPr>
              <a:t>SKEFem </a:t>
            </a:r>
            <a:r>
              <a:rPr dirty="0" sz="1600" spc="-5">
                <a:latin typeface="微软雅黑"/>
                <a:cs typeface="微软雅黑"/>
              </a:rPr>
              <a:t>On</a:t>
            </a:r>
            <a:r>
              <a:rPr dirty="0" sz="1600" spc="50">
                <a:latin typeface="微软雅黑"/>
                <a:cs typeface="微软雅黑"/>
              </a:rPr>
              <a:t> </a:t>
            </a:r>
            <a:r>
              <a:rPr dirty="0" sz="1600" spc="-65">
                <a:latin typeface="微软雅黑"/>
                <a:cs typeface="微软雅黑"/>
              </a:rPr>
              <a:t>ClAGd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28" y="386588"/>
            <a:ext cx="34671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35" b="1">
                <a:solidFill>
                  <a:srgbClr val="000000"/>
                </a:solidFill>
                <a:latin typeface="微软雅黑"/>
                <a:cs typeface="微软雅黑"/>
              </a:rPr>
              <a:t>AliGr-ph 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Open</a:t>
            </a:r>
            <a:r>
              <a:rPr dirty="0" sz="2400" spc="22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Source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2862" y="1508252"/>
            <a:ext cx="3865879" cy="31896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26769">
              <a:lnSpc>
                <a:spcPct val="100000"/>
              </a:lnSpc>
              <a:spcBef>
                <a:spcPts val="100"/>
              </a:spcBef>
            </a:pPr>
            <a:r>
              <a:rPr dirty="0" sz="1800" spc="185">
                <a:latin typeface="微软雅黑"/>
                <a:cs typeface="微软雅黑"/>
              </a:rPr>
              <a:t>,elcome </a:t>
            </a:r>
            <a:r>
              <a:rPr dirty="0" sz="1800" spc="-5">
                <a:latin typeface="微软雅黑"/>
                <a:cs typeface="微软雅黑"/>
              </a:rPr>
              <a:t>to </a:t>
            </a:r>
            <a:r>
              <a:rPr dirty="0" sz="1800" spc="-155">
                <a:latin typeface="微软雅黑"/>
                <a:cs typeface="微软雅黑"/>
              </a:rPr>
              <a:t>T9y</a:t>
            </a:r>
            <a:r>
              <a:rPr dirty="0" sz="1800" spc="-24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out</a:t>
            </a:r>
            <a:endParaRPr sz="1800">
              <a:latin typeface="微软雅黑"/>
              <a:cs typeface="微软雅黑"/>
            </a:endParaRPr>
          </a:p>
          <a:p>
            <a:pPr algn="ctr" marL="826769">
              <a:lnSpc>
                <a:spcPct val="100000"/>
              </a:lnSpc>
              <a:spcBef>
                <a:spcPts val="2125"/>
              </a:spcBef>
            </a:pPr>
            <a:r>
              <a:rPr dirty="0" sz="2000" spc="-45" b="1">
                <a:latin typeface="微软雅黑"/>
                <a:cs typeface="微软雅黑"/>
              </a:rPr>
              <a:t>SYS+EM+ALGORI+HM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60" b="1">
                <a:latin typeface="微软雅黑"/>
                <a:cs typeface="微软雅黑"/>
              </a:rPr>
              <a:t>Co/e</a:t>
            </a:r>
            <a:r>
              <a:rPr dirty="0" sz="1800" spc="60" b="1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765"/>
              </a:spcBef>
            </a:pPr>
            <a:r>
              <a:rPr dirty="0" sz="1800" spc="-5" u="sng">
                <a:solidFill>
                  <a:srgbClr val="0000FF"/>
                </a:solidFill>
                <a:latin typeface="Arial"/>
                <a:cs typeface="Arial"/>
              </a:rPr>
              <a:t>https://github.com/alibaba/graph-learn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9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dirty="0" sz="1800" spc="310" b="1">
                <a:latin typeface="微软雅黑"/>
                <a:cs typeface="微软雅黑"/>
              </a:rPr>
              <a:t>Q/A:</a:t>
            </a:r>
            <a:endParaRPr sz="1800">
              <a:latin typeface="微软雅黑"/>
              <a:cs typeface="微软雅黑"/>
            </a:endParaRPr>
          </a:p>
          <a:p>
            <a:pPr marL="23495">
              <a:lnSpc>
                <a:spcPct val="100000"/>
              </a:lnSpc>
              <a:spcBef>
                <a:spcPts val="720"/>
              </a:spcBef>
            </a:pPr>
            <a:r>
              <a:rPr dirty="0" sz="1800" spc="-5" u="sng">
                <a:solidFill>
                  <a:srgbClr val="0000FF"/>
                </a:solidFill>
                <a:latin typeface="Calibri"/>
                <a:cs typeface="Calibri"/>
                <a:hlinkClick r:id="rId2"/>
              </a:rPr>
              <a:t>graph-learn@list.alibaba-inc.com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41847" y="1139952"/>
            <a:ext cx="5928359" cy="47396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813802" y="5616955"/>
            <a:ext cx="7901940" cy="763270"/>
          </a:xfrm>
          <a:prstGeom prst="rect">
            <a:avLst/>
          </a:prstGeom>
        </p:spPr>
        <p:txBody>
          <a:bodyPr wrap="square" lIns="0" tIns="10731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845"/>
              </a:spcBef>
            </a:pPr>
            <a:r>
              <a:rPr dirty="0" sz="1800" spc="-10" b="1">
                <a:latin typeface="Calibri"/>
                <a:cs typeface="Calibri"/>
              </a:rPr>
              <a:t>Paper: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800" spc="-105">
                <a:latin typeface="微软雅黑"/>
                <a:cs typeface="微软雅黑"/>
              </a:rPr>
              <a:t>Al2G9ap1: </a:t>
            </a:r>
            <a:r>
              <a:rPr dirty="0" sz="1800">
                <a:latin typeface="微软雅黑"/>
                <a:cs typeface="微软雅黑"/>
              </a:rPr>
              <a:t>A </a:t>
            </a:r>
            <a:r>
              <a:rPr dirty="0" sz="1800" spc="-45">
                <a:latin typeface="微软雅黑"/>
                <a:cs typeface="微软雅黑"/>
              </a:rPr>
              <a:t>Comp9e1en:2ve </a:t>
            </a:r>
            <a:r>
              <a:rPr dirty="0" sz="1800" spc="-65">
                <a:latin typeface="微软雅黑"/>
                <a:cs typeface="微软雅黑"/>
              </a:rPr>
              <a:t>G9ap1 Neu9al </a:t>
            </a:r>
            <a:r>
              <a:rPr dirty="0" sz="1800" spc="-55">
                <a:latin typeface="微软雅黑"/>
                <a:cs typeface="微软雅黑"/>
              </a:rPr>
              <a:t>Netwo9k </a:t>
            </a:r>
            <a:r>
              <a:rPr dirty="0" sz="1800" spc="-95">
                <a:latin typeface="微软雅黑"/>
                <a:cs typeface="微软雅黑"/>
              </a:rPr>
              <a:t>Plat0o9m, </a:t>
            </a:r>
            <a:r>
              <a:rPr dirty="0" sz="1800" spc="-5">
                <a:latin typeface="微软雅黑"/>
                <a:cs typeface="微软雅黑"/>
              </a:rPr>
              <a:t>VLDB </a:t>
            </a:r>
            <a:r>
              <a:rPr dirty="0" sz="1800" spc="130">
                <a:latin typeface="微软雅黑"/>
                <a:cs typeface="微软雅黑"/>
              </a:rPr>
              <a:t>2</a:t>
            </a:r>
            <a:r>
              <a:rPr dirty="0" sz="1800" spc="625">
                <a:latin typeface="微软雅黑"/>
                <a:cs typeface="微软雅黑"/>
              </a:rPr>
              <a:t> </a:t>
            </a:r>
            <a:r>
              <a:rPr dirty="0" sz="1800" spc="130">
                <a:latin typeface="微软雅黑"/>
                <a:cs typeface="微软雅黑"/>
              </a:rPr>
              <a:t>19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4568" y="502919"/>
            <a:ext cx="2033016" cy="313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79081" y="2551683"/>
            <a:ext cx="4032250" cy="13665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800" spc="-5" b="1">
                <a:solidFill>
                  <a:srgbClr val="FFFFFF"/>
                </a:solidFill>
                <a:latin typeface="微软雅黑"/>
                <a:cs typeface="微软雅黑"/>
              </a:rPr>
              <a:t>T</a:t>
            </a:r>
            <a:r>
              <a:rPr dirty="0" sz="8800" spc="-15" b="1">
                <a:solidFill>
                  <a:srgbClr val="FFFFFF"/>
                </a:solidFill>
                <a:latin typeface="微软雅黑"/>
                <a:cs typeface="微软雅黑"/>
              </a:rPr>
              <a:t>h</a:t>
            </a:r>
            <a:r>
              <a:rPr dirty="0" sz="8800" b="1">
                <a:solidFill>
                  <a:srgbClr val="FFFFFF"/>
                </a:solidFill>
                <a:latin typeface="微软雅黑"/>
                <a:cs typeface="微软雅黑"/>
              </a:rPr>
              <a:t>a</a:t>
            </a:r>
            <a:r>
              <a:rPr dirty="0" sz="8800" spc="-5" b="1">
                <a:solidFill>
                  <a:srgbClr val="FFFFFF"/>
                </a:solidFill>
                <a:latin typeface="微软雅黑"/>
                <a:cs typeface="微软雅黑"/>
              </a:rPr>
              <a:t>n</a:t>
            </a:r>
            <a:r>
              <a:rPr dirty="0" sz="8800" b="1">
                <a:solidFill>
                  <a:srgbClr val="FFFFFF"/>
                </a:solidFill>
                <a:latin typeface="微软雅黑"/>
                <a:cs typeface="微软雅黑"/>
              </a:rPr>
              <a:t>k</a:t>
            </a:r>
            <a:r>
              <a:rPr dirty="0" sz="8800" spc="1825" b="1">
                <a:solidFill>
                  <a:srgbClr val="FFFFFF"/>
                </a:solidFill>
                <a:latin typeface="微软雅黑"/>
                <a:cs typeface="微软雅黑"/>
              </a:rPr>
              <a:t>.</a:t>
            </a:r>
            <a:endParaRPr sz="8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78497" y="4412996"/>
            <a:ext cx="6915784" cy="1125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125" b="1">
                <a:solidFill>
                  <a:srgbClr val="FFFFFF"/>
                </a:solidFill>
                <a:latin typeface="微软雅黑"/>
                <a:cs typeface="微软雅黑"/>
              </a:rPr>
              <a:t>Xia-y-ng </a:t>
            </a:r>
            <a:r>
              <a:rPr dirty="0" sz="2400" b="1">
                <a:solidFill>
                  <a:srgbClr val="FFFFFF"/>
                </a:solidFill>
                <a:latin typeface="微软雅黑"/>
                <a:cs typeface="微软雅黑"/>
              </a:rPr>
              <a:t>Liu : </a:t>
            </a:r>
            <a:r>
              <a:rPr dirty="0" sz="2400" spc="125" b="1" u="sng">
                <a:solidFill>
                  <a:srgbClr val="0000FF"/>
                </a:solidFill>
                <a:latin typeface="微软雅黑"/>
                <a:cs typeface="微软雅黑"/>
              </a:rPr>
              <a:t>xia-y-ng </a:t>
            </a:r>
            <a:r>
              <a:rPr dirty="0" sz="2400" spc="-10" b="1" u="sng">
                <a:solidFill>
                  <a:srgbClr val="0000FF"/>
                </a:solidFill>
                <a:latin typeface="微软雅黑"/>
                <a:cs typeface="微软雅黑"/>
              </a:rPr>
              <a:t>liu@alibaba-inc</a:t>
            </a:r>
            <a:r>
              <a:rPr dirty="0" sz="2400" spc="-320" b="1" u="sng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dirty="0" sz="2400" spc="160" b="1" u="sng">
                <a:solidFill>
                  <a:srgbClr val="0000FF"/>
                </a:solidFill>
                <a:latin typeface="微软雅黑"/>
                <a:cs typeface="微软雅黑"/>
              </a:rPr>
              <a:t>c-m</a:t>
            </a:r>
            <a:endParaRPr sz="2400">
              <a:latin typeface="微软雅黑"/>
              <a:cs typeface="微软雅黑"/>
            </a:endParaRPr>
          </a:p>
          <a:p>
            <a:pPr marL="12700" marR="721995">
              <a:lnSpc>
                <a:spcPct val="100000"/>
              </a:lnSpc>
              <a:spcBef>
                <a:spcPts val="25"/>
              </a:spcBef>
              <a:tabLst>
                <a:tab pos="2079625" algn="l"/>
              </a:tabLst>
            </a:pPr>
            <a:r>
              <a:rPr dirty="0" sz="2400" spc="190">
                <a:solidFill>
                  <a:srgbClr val="FFFFFF"/>
                </a:solidFill>
                <a:latin typeface="微软雅黑"/>
                <a:cs typeface="微软雅黑"/>
              </a:rPr>
              <a:t>H.-gxia</a:t>
            </a:r>
            <a:r>
              <a:rPr dirty="0" sz="2400" spc="-484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400" spc="35">
                <a:solidFill>
                  <a:srgbClr val="FFFFFF"/>
                </a:solidFill>
                <a:latin typeface="微软雅黑"/>
                <a:cs typeface="微软雅黑"/>
              </a:rPr>
              <a:t>Ya-g </a:t>
            </a:r>
            <a:r>
              <a:rPr dirty="0" sz="2400">
                <a:solidFill>
                  <a:srgbClr val="FFFFFF"/>
                </a:solidFill>
                <a:latin typeface="微软雅黑"/>
                <a:cs typeface="微软雅黑"/>
              </a:rPr>
              <a:t>: </a:t>
            </a:r>
            <a:r>
              <a:rPr dirty="0" sz="2400" spc="100" u="sng">
                <a:solidFill>
                  <a:srgbClr val="0000FF"/>
                </a:solidFill>
                <a:latin typeface="微软雅黑"/>
                <a:cs typeface="微软雅黑"/>
              </a:rPr>
              <a:t>ya-g </a:t>
            </a:r>
            <a:r>
              <a:rPr dirty="0" sz="2400" spc="15" u="sng">
                <a:solidFill>
                  <a:srgbClr val="0000FF"/>
                </a:solidFill>
                <a:latin typeface="微软雅黑"/>
                <a:cs typeface="微软雅黑"/>
              </a:rPr>
              <a:t>yhx@alibaba-i-c </a:t>
            </a:r>
            <a:r>
              <a:rPr dirty="0" sz="2400" spc="305" u="sng">
                <a:solidFill>
                  <a:srgbClr val="0000FF"/>
                </a:solidFill>
                <a:latin typeface="微软雅黑"/>
                <a:cs typeface="微软雅黑"/>
              </a:rPr>
              <a:t>c.m </a:t>
            </a:r>
            <a:r>
              <a:rPr dirty="0" sz="2400" spc="305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dirty="0" sz="2400" spc="-25">
                <a:solidFill>
                  <a:srgbClr val="FFFFFF"/>
                </a:solidFill>
                <a:latin typeface="微软雅黑"/>
                <a:cs typeface="微软雅黑"/>
              </a:rPr>
              <a:t>Wei</a:t>
            </a:r>
            <a:r>
              <a:rPr dirty="0" sz="2400" spc="-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2400" spc="140">
                <a:solidFill>
                  <a:srgbClr val="FFFFFF"/>
                </a:solidFill>
                <a:latin typeface="微软雅黑"/>
                <a:cs typeface="微软雅黑"/>
              </a:rPr>
              <a:t>Li-	</a:t>
            </a:r>
            <a:r>
              <a:rPr dirty="0" sz="2400">
                <a:solidFill>
                  <a:srgbClr val="FFFFFF"/>
                </a:solidFill>
                <a:latin typeface="微软雅黑"/>
                <a:cs typeface="微软雅黑"/>
              </a:rPr>
              <a:t>: </a:t>
            </a:r>
            <a:r>
              <a:rPr dirty="0" sz="2400" spc="60" u="sng">
                <a:solidFill>
                  <a:srgbClr val="0000FF"/>
                </a:solidFill>
                <a:latin typeface="微软雅黑"/>
                <a:cs typeface="微软雅黑"/>
              </a:rPr>
              <a:t>weili- </a:t>
            </a:r>
            <a:r>
              <a:rPr dirty="0" sz="2400" spc="15" u="sng">
                <a:solidFill>
                  <a:srgbClr val="0000FF"/>
                </a:solidFill>
                <a:latin typeface="微软雅黑"/>
                <a:cs typeface="微软雅黑"/>
              </a:rPr>
              <a:t>wl@alibaba-i-c</a:t>
            </a:r>
            <a:r>
              <a:rPr dirty="0" sz="2400" spc="-5" u="sng">
                <a:solidFill>
                  <a:srgbClr val="0000FF"/>
                </a:solidFill>
                <a:latin typeface="微软雅黑"/>
                <a:cs typeface="微软雅黑"/>
              </a:rPr>
              <a:t> </a:t>
            </a:r>
            <a:r>
              <a:rPr dirty="0" sz="2400" spc="185" u="sng">
                <a:solidFill>
                  <a:srgbClr val="0000FF"/>
                </a:solidFill>
                <a:latin typeface="微软雅黑"/>
                <a:cs typeface="微软雅黑"/>
              </a:rPr>
              <a:t>c.m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150352" y="944880"/>
            <a:ext cx="2261616" cy="3224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19488" y="118871"/>
            <a:ext cx="2023872" cy="29047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503577" y="140200"/>
            <a:ext cx="5118100" cy="787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34568" y="502919"/>
            <a:ext cx="2033016" cy="3139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42614" y="4139691"/>
            <a:ext cx="437959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200">
                <a:latin typeface="微软雅黑"/>
                <a:cs typeface="微软雅黑"/>
              </a:rPr>
              <a:t> </a:t>
            </a:r>
            <a:r>
              <a:rPr dirty="0" sz="2800" spc="215">
                <a:latin typeface="微软雅黑"/>
                <a:cs typeface="微软雅黑"/>
              </a:rPr>
              <a:t>art </a:t>
            </a:r>
            <a:r>
              <a:rPr dirty="0" sz="2800" spc="225">
                <a:latin typeface="微软雅黑"/>
                <a:cs typeface="微软雅黑"/>
              </a:rPr>
              <a:t>Appendix:</a:t>
            </a:r>
            <a:r>
              <a:rPr dirty="0" sz="2800" spc="-280">
                <a:latin typeface="微软雅黑"/>
                <a:cs typeface="微软雅黑"/>
              </a:rPr>
              <a:t> </a:t>
            </a:r>
            <a:r>
              <a:rPr dirty="0" sz="2800" spc="-5">
                <a:latin typeface="Arial"/>
                <a:cs typeface="Arial"/>
              </a:rPr>
              <a:t>Cognitive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39163" y="4758202"/>
            <a:ext cx="11622405" cy="0"/>
          </a:xfrm>
          <a:custGeom>
            <a:avLst/>
            <a:gdLst/>
            <a:ahLst/>
            <a:cxnLst/>
            <a:rect l="l" t="t" r="r" b="b"/>
            <a:pathLst>
              <a:path w="11622405" h="0">
                <a:moveTo>
                  <a:pt x="0" y="0"/>
                </a:moveTo>
                <a:lnTo>
                  <a:pt x="11622183" y="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073900" y="0"/>
            <a:ext cx="5118100" cy="787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0996" y="450595"/>
            <a:ext cx="245872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36345" algn="l"/>
              </a:tabLst>
            </a:pP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M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as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t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er	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Co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nt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x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t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04955" y="1374139"/>
            <a:ext cx="16287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Channels</a:t>
            </a:r>
            <a:r>
              <a:rPr dirty="0" sz="1800" spc="-45">
                <a:latin typeface="微软雅黑"/>
                <a:cs typeface="微软雅黑"/>
              </a:rPr>
              <a:t> </a:t>
            </a:r>
            <a:r>
              <a:rPr dirty="0" sz="1800" spc="-20">
                <a:latin typeface="微软雅黑"/>
                <a:cs typeface="微软雅黑"/>
              </a:rPr>
              <a:t>Page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198176" y="1374139"/>
            <a:ext cx="20688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微软雅黑"/>
                <a:cs typeface="微软雅黑"/>
              </a:rPr>
              <a:t>Taobao </a:t>
            </a:r>
            <a:r>
              <a:rPr dirty="0" sz="1800" spc="44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xperience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94118" y="1374139"/>
            <a:ext cx="15303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XiaoHongShu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8368" y="1615439"/>
            <a:ext cx="2926080" cy="4748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51984" y="1809582"/>
            <a:ext cx="2341214" cy="41621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85744" y="1615439"/>
            <a:ext cx="2926079" cy="47487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79800" y="1809578"/>
            <a:ext cx="2340728" cy="4161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35040" y="1615439"/>
            <a:ext cx="2926080" cy="4748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29069" y="1809578"/>
            <a:ext cx="2340729" cy="41612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918447" y="1615439"/>
            <a:ext cx="2929128" cy="47487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13748" y="1809577"/>
            <a:ext cx="2340729" cy="41612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4745" y="410972"/>
            <a:ext cx="335407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31695" algn="l"/>
              </a:tabLst>
            </a:pP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M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-20" b="1">
                <a:solidFill>
                  <a:srgbClr val="000000"/>
                </a:solidFill>
                <a:latin typeface="微软雅黑"/>
                <a:cs typeface="微软雅黑"/>
              </a:rPr>
              <a:t>r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c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ha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n</a:t>
            </a:r>
            <a:r>
              <a:rPr dirty="0" sz="2400" spc="0" b="1">
                <a:solidFill>
                  <a:srgbClr val="000000"/>
                </a:solidFill>
                <a:latin typeface="微软雅黑"/>
                <a:cs typeface="微软雅黑"/>
              </a:rPr>
              <a:t>d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ise	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Cont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x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t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18602" y="1383283"/>
            <a:ext cx="821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微软雅黑"/>
                <a:cs typeface="微软雅黑"/>
              </a:rPr>
              <a:t>Wei</a:t>
            </a:r>
            <a:r>
              <a:rPr dirty="0" sz="1800" spc="20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ao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40985" y="1383283"/>
            <a:ext cx="1419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微软雅黑"/>
                <a:cs typeface="微软雅黑"/>
              </a:rPr>
              <a:t>Product </a:t>
            </a:r>
            <a:r>
              <a:rPr dirty="0" sz="1800" spc="45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itle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22959" y="1383283"/>
            <a:ext cx="16675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微软雅黑"/>
                <a:cs typeface="微软雅黑"/>
              </a:rPr>
              <a:t>Product</a:t>
            </a:r>
            <a:r>
              <a:rPr dirty="0" sz="1800" spc="-3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details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65048" y="1633727"/>
            <a:ext cx="2901695" cy="4703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1057" y="1829913"/>
            <a:ext cx="2314574" cy="4114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56176" y="1633727"/>
            <a:ext cx="2901696" cy="47030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649654" y="1829913"/>
            <a:ext cx="2314575" cy="41148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44256" y="1633727"/>
            <a:ext cx="2901696" cy="47030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38250" y="1829913"/>
            <a:ext cx="2314575" cy="4114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3759" y="456691"/>
            <a:ext cx="20802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8519" algn="l"/>
              </a:tabLst>
            </a:pP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U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ser	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Co</a:t>
            </a:r>
            <a:r>
              <a:rPr dirty="0" sz="2400" spc="-10" b="1">
                <a:solidFill>
                  <a:srgbClr val="000000"/>
                </a:solidFill>
                <a:latin typeface="微软雅黑"/>
                <a:cs typeface="微软雅黑"/>
              </a:rPr>
              <a:t>nt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r>
              <a:rPr dirty="0" sz="2400" spc="-5" b="1">
                <a:solidFill>
                  <a:srgbClr val="000000"/>
                </a:solidFill>
                <a:latin typeface="微软雅黑"/>
                <a:cs typeface="微软雅黑"/>
              </a:rPr>
              <a:t>x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t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82484" y="1304036"/>
            <a:ext cx="1155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150">
                <a:latin typeface="微软雅黑"/>
                <a:cs typeface="微软雅黑"/>
              </a:rPr>
              <a:t> </a:t>
            </a:r>
            <a:r>
              <a:rPr dirty="0" sz="1800" spc="25">
                <a:latin typeface="微软雅黑"/>
                <a:cs typeface="微软雅黑"/>
              </a:rPr>
              <a:t>valuation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70521" y="1304036"/>
            <a:ext cx="184086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Asking </a:t>
            </a:r>
            <a:r>
              <a:rPr dirty="0" sz="1800" spc="100">
                <a:latin typeface="微软雅黑"/>
                <a:cs typeface="微软雅黑"/>
              </a:rPr>
              <a:t> </a:t>
            </a:r>
            <a:r>
              <a:rPr dirty="0" sz="1800" spc="40">
                <a:latin typeface="微软雅黑"/>
                <a:cs typeface="微软雅黑"/>
              </a:rPr>
              <a:t>veryone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75492" y="1304036"/>
            <a:ext cx="7016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微软雅黑"/>
                <a:cs typeface="微软雅黑"/>
              </a:rPr>
              <a:t>Q</a:t>
            </a:r>
            <a:r>
              <a:rPr dirty="0" sz="1800">
                <a:latin typeface="微软雅黑"/>
                <a:cs typeface="微软雅黑"/>
              </a:rPr>
              <a:t>ue</a:t>
            </a:r>
            <a:r>
              <a:rPr dirty="0" sz="1800" spc="75">
                <a:latin typeface="微软雅黑"/>
                <a:cs typeface="微软雅黑"/>
              </a:rPr>
              <a:t>r</a:t>
            </a:r>
            <a:r>
              <a:rPr dirty="0" sz="1800">
                <a:latin typeface="微软雅黑"/>
                <a:cs typeface="微软雅黑"/>
              </a:rPr>
              <a:t>y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6111" y="1508760"/>
            <a:ext cx="2990088" cy="48554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90867" y="1703320"/>
            <a:ext cx="2401752" cy="42697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54879" y="1508760"/>
            <a:ext cx="2987039" cy="48554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48491" y="1703320"/>
            <a:ext cx="2401752" cy="42697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10600" y="1508760"/>
            <a:ext cx="2990088" cy="485546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06116" y="1703320"/>
            <a:ext cx="2401752" cy="42697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7685" y="1011427"/>
            <a:ext cx="16141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微软雅黑"/>
                <a:cs typeface="微软雅黑"/>
              </a:rPr>
              <a:t>Result</a:t>
            </a:r>
            <a:r>
              <a:rPr dirty="0" sz="1800" spc="-10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Display</a:t>
            </a:r>
            <a:r>
              <a:rPr dirty="0" sz="1800" spc="-5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5134" y="362204"/>
            <a:ext cx="648652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5" b="1">
                <a:solidFill>
                  <a:srgbClr val="000000"/>
                </a:solidFill>
                <a:latin typeface="微软雅黑"/>
                <a:cs typeface="微软雅黑"/>
              </a:rPr>
              <a:t>Value,    </a:t>
            </a:r>
            <a:r>
              <a:rPr dirty="0" sz="2400" spc="280" b="1">
                <a:solidFill>
                  <a:srgbClr val="000000"/>
                </a:solidFill>
                <a:latin typeface="微软雅黑"/>
                <a:cs typeface="微软雅黑"/>
              </a:rPr>
              <a:t>,,lication </a:t>
            </a:r>
            <a:r>
              <a:rPr dirty="0" sz="2400" spc="65" b="1">
                <a:solidFill>
                  <a:srgbClr val="000000"/>
                </a:solidFill>
                <a:latin typeface="微软雅黑"/>
                <a:cs typeface="微软雅黑"/>
              </a:rPr>
              <a:t>and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Landing </a:t>
            </a:r>
            <a:r>
              <a:rPr dirty="0" sz="2400" spc="30" b="1">
                <a:solidFill>
                  <a:srgbClr val="000000"/>
                </a:solidFill>
                <a:latin typeface="微软雅黑"/>
                <a:cs typeface="微软雅黑"/>
              </a:rPr>
              <a:t>of</a:t>
            </a:r>
            <a:r>
              <a:rPr dirty="0" sz="2400" spc="3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50" b="1">
                <a:solidFill>
                  <a:srgbClr val="000000"/>
                </a:solidFill>
                <a:latin typeface="微软雅黑"/>
                <a:cs typeface="微软雅黑"/>
              </a:rPr>
              <a:t>NLG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90431" y="1898904"/>
            <a:ext cx="3099816" cy="4270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84577" y="1769364"/>
            <a:ext cx="3860800" cy="388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8700"/>
              </a:lnSpc>
              <a:spcBef>
                <a:spcPts val="110"/>
              </a:spcBef>
            </a:pPr>
            <a:r>
              <a:rPr dirty="0" sz="800">
                <a:latin typeface="宋体"/>
                <a:cs typeface="宋体"/>
              </a:rPr>
              <a:t>中长款女童保暖呢子外套这款毛呢大衣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表面纯色和内里色调形成气质撞色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整体看上去 尽显气质和个性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如果家中的宝宝正是一个特别有想法的孩子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个性十足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那么这款外套千 万不能错过</a:t>
            </a:r>
            <a:r>
              <a:rPr dirty="0" sz="800">
                <a:latin typeface="Calibri"/>
                <a:cs typeface="Calibri"/>
              </a:rPr>
              <a:t>!</a:t>
            </a:r>
            <a:r>
              <a:rPr dirty="0" sz="800">
                <a:latin typeface="宋体"/>
                <a:cs typeface="宋体"/>
              </a:rPr>
              <a:t>作为基础款大衣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这款的不同之处就在与颜色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搭配黑色毛衣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炫酷一姐</a:t>
            </a:r>
            <a:r>
              <a:rPr dirty="0" sz="800">
                <a:latin typeface="Calibri"/>
                <a:cs typeface="Calibri"/>
              </a:rPr>
              <a:t>!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829716" y="1758166"/>
            <a:ext cx="0" cy="436880"/>
          </a:xfrm>
          <a:custGeom>
            <a:avLst/>
            <a:gdLst/>
            <a:ahLst/>
            <a:cxnLst/>
            <a:rect l="l" t="t" r="r" b="b"/>
            <a:pathLst>
              <a:path w="0" h="436880">
                <a:moveTo>
                  <a:pt x="0" y="0"/>
                </a:moveTo>
                <a:lnTo>
                  <a:pt x="0" y="436593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963741" y="1764516"/>
            <a:ext cx="3872865" cy="0"/>
          </a:xfrm>
          <a:custGeom>
            <a:avLst/>
            <a:gdLst/>
            <a:ahLst/>
            <a:cxnLst/>
            <a:rect l="l" t="t" r="r" b="b"/>
            <a:pathLst>
              <a:path w="3872865" h="0">
                <a:moveTo>
                  <a:pt x="0" y="0"/>
                </a:moveTo>
                <a:lnTo>
                  <a:pt x="387232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963741" y="2188409"/>
            <a:ext cx="3872865" cy="0"/>
          </a:xfrm>
          <a:custGeom>
            <a:avLst/>
            <a:gdLst/>
            <a:ahLst/>
            <a:cxnLst/>
            <a:rect l="l" t="t" r="r" b="b"/>
            <a:pathLst>
              <a:path w="3872865" h="0">
                <a:moveTo>
                  <a:pt x="0" y="0"/>
                </a:moveTo>
                <a:lnTo>
                  <a:pt x="387232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966916" y="1784604"/>
            <a:ext cx="3860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800">
                <a:latin typeface="宋体"/>
                <a:cs typeface="宋体"/>
              </a:rPr>
              <a:t>小公主韩版加厚毛呢大衣这款黑色毛衣采用了经典的圆领设计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穿起来非常显气质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衣服 的袖口和衣摆都做了螺纹收口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穿着更加舒适</a:t>
            </a:r>
            <a:r>
              <a:rPr dirty="0" sz="800" spc="-5">
                <a:latin typeface="Calibri"/>
                <a:cs typeface="Calibri"/>
              </a:rPr>
              <a:t>.</a:t>
            </a:r>
            <a:r>
              <a:rPr dirty="0" sz="800">
                <a:latin typeface="宋体"/>
                <a:cs typeface="宋体"/>
              </a:rPr>
              <a:t>衣身两侧的大口袋装饰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给衣服增加了一点 童趣的味道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穿上很有气质哦</a:t>
            </a:r>
            <a:r>
              <a:rPr dirty="0" sz="80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49111" y="1361114"/>
            <a:ext cx="0" cy="5016500"/>
          </a:xfrm>
          <a:custGeom>
            <a:avLst/>
            <a:gdLst/>
            <a:ahLst/>
            <a:cxnLst/>
            <a:rect l="l" t="t" r="r" b="b"/>
            <a:pathLst>
              <a:path w="0" h="5016500">
                <a:moveTo>
                  <a:pt x="0" y="0"/>
                </a:moveTo>
                <a:lnTo>
                  <a:pt x="1" y="5015934"/>
                </a:lnTo>
              </a:path>
            </a:pathLst>
          </a:custGeom>
          <a:ln w="1905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829716" y="4198195"/>
            <a:ext cx="0" cy="387985"/>
          </a:xfrm>
          <a:custGeom>
            <a:avLst/>
            <a:gdLst/>
            <a:ahLst/>
            <a:cxnLst/>
            <a:rect l="l" t="t" r="r" b="b"/>
            <a:pathLst>
              <a:path w="0" h="387985">
                <a:moveTo>
                  <a:pt x="0" y="0"/>
                </a:moveTo>
                <a:lnTo>
                  <a:pt x="0" y="387985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963741" y="4204545"/>
            <a:ext cx="3872865" cy="0"/>
          </a:xfrm>
          <a:custGeom>
            <a:avLst/>
            <a:gdLst/>
            <a:ahLst/>
            <a:cxnLst/>
            <a:rect l="l" t="t" r="r" b="b"/>
            <a:pathLst>
              <a:path w="3872865" h="0">
                <a:moveTo>
                  <a:pt x="0" y="0"/>
                </a:moveTo>
                <a:lnTo>
                  <a:pt x="387232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963741" y="4579830"/>
            <a:ext cx="3872865" cy="0"/>
          </a:xfrm>
          <a:custGeom>
            <a:avLst/>
            <a:gdLst/>
            <a:ahLst/>
            <a:cxnLst/>
            <a:rect l="l" t="t" r="r" b="b"/>
            <a:pathLst>
              <a:path w="3872865" h="0">
                <a:moveTo>
                  <a:pt x="0" y="0"/>
                </a:moveTo>
                <a:lnTo>
                  <a:pt x="3872324" y="0"/>
                </a:lnTo>
              </a:path>
            </a:pathLst>
          </a:custGeom>
          <a:ln w="127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66916" y="4201667"/>
            <a:ext cx="3810000" cy="3886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just" marL="12700" marR="5080">
              <a:lnSpc>
                <a:spcPct val="98800"/>
              </a:lnSpc>
              <a:spcBef>
                <a:spcPts val="110"/>
              </a:spcBef>
            </a:pPr>
            <a:r>
              <a:rPr dirty="0" sz="800">
                <a:latin typeface="宋体"/>
                <a:cs typeface="宋体"/>
              </a:rPr>
              <a:t>型色续纷的春装新款</a:t>
            </a:r>
            <a:r>
              <a:rPr dirty="0" sz="800" spc="-5">
                <a:latin typeface="Calibri"/>
                <a:cs typeface="Calibri"/>
              </a:rPr>
              <a:t>.</a:t>
            </a:r>
            <a:r>
              <a:rPr dirty="0" sz="800">
                <a:latin typeface="宋体"/>
                <a:cs typeface="宋体"/>
              </a:rPr>
              <a:t>韩版气质的羊绒呢大衣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中长款不挑身材</a:t>
            </a:r>
            <a:r>
              <a:rPr dirty="0" sz="800" spc="-5">
                <a:latin typeface="Calibri"/>
                <a:cs typeface="Calibri"/>
              </a:rPr>
              <a:t>,3d</a:t>
            </a:r>
            <a:r>
              <a:rPr dirty="0" sz="800">
                <a:latin typeface="宋体"/>
                <a:cs typeface="宋体"/>
              </a:rPr>
              <a:t>立体剪裁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纽扣设计别 致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贴布精致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不可或缺的一款</a:t>
            </a:r>
            <a:r>
              <a:rPr dirty="0" sz="800" spc="-5">
                <a:latin typeface="Calibri"/>
                <a:cs typeface="Calibri"/>
              </a:rPr>
              <a:t>.</a:t>
            </a:r>
            <a:r>
              <a:rPr dirty="0" sz="800">
                <a:latin typeface="宋体"/>
                <a:cs typeface="宋体"/>
              </a:rPr>
              <a:t>搭配尖头方扣浅口单鞋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绒面粗跟简直爱不释手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颜色也是 很春天的颜色</a:t>
            </a:r>
            <a:r>
              <a:rPr dirty="0" sz="80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84577" y="4229100"/>
            <a:ext cx="3886200" cy="26035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890"/>
              </a:lnSpc>
              <a:spcBef>
                <a:spcPts val="185"/>
              </a:spcBef>
            </a:pPr>
            <a:r>
              <a:rPr dirty="0" sz="800">
                <a:latin typeface="宋体"/>
                <a:cs typeface="宋体"/>
              </a:rPr>
              <a:t>春装新款的中长款羊绒呢大衣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这款大衣采用优质的羊绒面料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柔软舒适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穿着舒适</a:t>
            </a:r>
            <a:r>
              <a:rPr dirty="0" sz="800" spc="-5">
                <a:latin typeface="Calibri"/>
                <a:cs typeface="Calibri"/>
              </a:rPr>
              <a:t>.</a:t>
            </a:r>
            <a:r>
              <a:rPr dirty="0" sz="800">
                <a:latin typeface="宋体"/>
                <a:cs typeface="宋体"/>
              </a:rPr>
              <a:t>双排扣 的设计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简约大方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时尚百搭</a:t>
            </a:r>
            <a:r>
              <a:rPr dirty="0" sz="800" spc="-5">
                <a:latin typeface="Calibri"/>
                <a:cs typeface="Calibri"/>
              </a:rPr>
              <a:t>.</a:t>
            </a:r>
            <a:r>
              <a:rPr dirty="0" sz="800">
                <a:latin typeface="宋体"/>
                <a:cs typeface="宋体"/>
              </a:rPr>
              <a:t>搭配一条简单的牛仔裤</a:t>
            </a:r>
            <a:r>
              <a:rPr dirty="0" sz="800">
                <a:latin typeface="Calibri"/>
                <a:cs typeface="Calibri"/>
              </a:rPr>
              <a:t>,</a:t>
            </a:r>
            <a:r>
              <a:rPr dirty="0" sz="800">
                <a:latin typeface="宋体"/>
                <a:cs typeface="宋体"/>
              </a:rPr>
              <a:t>就可以美美的出门了</a:t>
            </a:r>
            <a:r>
              <a:rPr dirty="0" sz="800">
                <a:latin typeface="Calibri"/>
                <a:cs typeface="Calibri"/>
              </a:rPr>
              <a:t>.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902230" y="1273678"/>
            <a:ext cx="2139315" cy="855344"/>
          </a:xfrm>
          <a:custGeom>
            <a:avLst/>
            <a:gdLst/>
            <a:ahLst/>
            <a:cxnLst/>
            <a:rect l="l" t="t" r="r" b="b"/>
            <a:pathLst>
              <a:path w="2139315" h="855344">
                <a:moveTo>
                  <a:pt x="1371148" y="774106"/>
                </a:moveTo>
                <a:lnTo>
                  <a:pt x="816189" y="774106"/>
                </a:lnTo>
                <a:lnTo>
                  <a:pt x="852185" y="798629"/>
                </a:lnTo>
                <a:lnTo>
                  <a:pt x="895023" y="819279"/>
                </a:lnTo>
                <a:lnTo>
                  <a:pt x="943680" y="835642"/>
                </a:lnTo>
                <a:lnTo>
                  <a:pt x="997134" y="847305"/>
                </a:lnTo>
                <a:lnTo>
                  <a:pt x="1050271" y="853594"/>
                </a:lnTo>
                <a:lnTo>
                  <a:pt x="1103145" y="855112"/>
                </a:lnTo>
                <a:lnTo>
                  <a:pt x="1154898" y="852110"/>
                </a:lnTo>
                <a:lnTo>
                  <a:pt x="1204673" y="844839"/>
                </a:lnTo>
                <a:lnTo>
                  <a:pt x="1251611" y="833550"/>
                </a:lnTo>
                <a:lnTo>
                  <a:pt x="1294856" y="818493"/>
                </a:lnTo>
                <a:lnTo>
                  <a:pt x="1333548" y="799919"/>
                </a:lnTo>
                <a:lnTo>
                  <a:pt x="1366831" y="778078"/>
                </a:lnTo>
                <a:lnTo>
                  <a:pt x="1371148" y="774106"/>
                </a:lnTo>
                <a:close/>
              </a:path>
              <a:path w="2139315" h="855344">
                <a:moveTo>
                  <a:pt x="535352" y="75081"/>
                </a:moveTo>
                <a:lnTo>
                  <a:pt x="479732" y="76650"/>
                </a:lnTo>
                <a:lnTo>
                  <a:pt x="420939" y="83961"/>
                </a:lnTo>
                <a:lnTo>
                  <a:pt x="367012" y="96480"/>
                </a:lnTo>
                <a:lnTo>
                  <a:pt x="318760" y="113630"/>
                </a:lnTo>
                <a:lnTo>
                  <a:pt x="276990" y="134833"/>
                </a:lnTo>
                <a:lnTo>
                  <a:pt x="242510" y="159510"/>
                </a:lnTo>
                <a:lnTo>
                  <a:pt x="216129" y="187083"/>
                </a:lnTo>
                <a:lnTo>
                  <a:pt x="190893" y="248604"/>
                </a:lnTo>
                <a:lnTo>
                  <a:pt x="193654" y="281396"/>
                </a:lnTo>
                <a:lnTo>
                  <a:pt x="191855" y="284059"/>
                </a:lnTo>
                <a:lnTo>
                  <a:pt x="142430" y="290129"/>
                </a:lnTo>
                <a:lnTo>
                  <a:pt x="97541" y="302161"/>
                </a:lnTo>
                <a:lnTo>
                  <a:pt x="58938" y="319538"/>
                </a:lnTo>
                <a:lnTo>
                  <a:pt x="3487" y="376767"/>
                </a:lnTo>
                <a:lnTo>
                  <a:pt x="0" y="413080"/>
                </a:lnTo>
                <a:lnTo>
                  <a:pt x="16642" y="447931"/>
                </a:lnTo>
                <a:lnTo>
                  <a:pt x="52149" y="478668"/>
                </a:lnTo>
                <a:lnTo>
                  <a:pt x="105253" y="502639"/>
                </a:lnTo>
                <a:lnTo>
                  <a:pt x="77032" y="523083"/>
                </a:lnTo>
                <a:lnTo>
                  <a:pt x="57819" y="546084"/>
                </a:lnTo>
                <a:lnTo>
                  <a:pt x="48132" y="570787"/>
                </a:lnTo>
                <a:lnTo>
                  <a:pt x="48489" y="596334"/>
                </a:lnTo>
                <a:lnTo>
                  <a:pt x="90438" y="653185"/>
                </a:lnTo>
                <a:lnTo>
                  <a:pt x="129034" y="674594"/>
                </a:lnTo>
                <a:lnTo>
                  <a:pt x="176334" y="690021"/>
                </a:lnTo>
                <a:lnTo>
                  <a:pt x="230056" y="698486"/>
                </a:lnTo>
                <a:lnTo>
                  <a:pt x="287919" y="699012"/>
                </a:lnTo>
                <a:lnTo>
                  <a:pt x="289241" y="700272"/>
                </a:lnTo>
                <a:lnTo>
                  <a:pt x="324591" y="728032"/>
                </a:lnTo>
                <a:lnTo>
                  <a:pt x="362663" y="749870"/>
                </a:lnTo>
                <a:lnTo>
                  <a:pt x="405361" y="768173"/>
                </a:lnTo>
                <a:lnTo>
                  <a:pt x="451874" y="782832"/>
                </a:lnTo>
                <a:lnTo>
                  <a:pt x="501393" y="793735"/>
                </a:lnTo>
                <a:lnTo>
                  <a:pt x="553105" y="800772"/>
                </a:lnTo>
                <a:lnTo>
                  <a:pt x="606200" y="803832"/>
                </a:lnTo>
                <a:lnTo>
                  <a:pt x="659866" y="802807"/>
                </a:lnTo>
                <a:lnTo>
                  <a:pt x="713294" y="797584"/>
                </a:lnTo>
                <a:lnTo>
                  <a:pt x="765672" y="788054"/>
                </a:lnTo>
                <a:lnTo>
                  <a:pt x="816189" y="774106"/>
                </a:lnTo>
                <a:lnTo>
                  <a:pt x="1371148" y="774106"/>
                </a:lnTo>
                <a:lnTo>
                  <a:pt x="1393846" y="753221"/>
                </a:lnTo>
                <a:lnTo>
                  <a:pt x="1413737" y="725599"/>
                </a:lnTo>
                <a:lnTo>
                  <a:pt x="1715628" y="725599"/>
                </a:lnTo>
                <a:lnTo>
                  <a:pt x="1766124" y="704498"/>
                </a:lnTo>
                <a:lnTo>
                  <a:pt x="1801418" y="681607"/>
                </a:lnTo>
                <a:lnTo>
                  <a:pt x="1845311" y="626121"/>
                </a:lnTo>
                <a:lnTo>
                  <a:pt x="1851590" y="594767"/>
                </a:lnTo>
                <a:lnTo>
                  <a:pt x="1893726" y="589968"/>
                </a:lnTo>
                <a:lnTo>
                  <a:pt x="1934223" y="582306"/>
                </a:lnTo>
                <a:lnTo>
                  <a:pt x="1972593" y="571894"/>
                </a:lnTo>
                <a:lnTo>
                  <a:pt x="2057783" y="533502"/>
                </a:lnTo>
                <a:lnTo>
                  <a:pt x="2095792" y="504203"/>
                </a:lnTo>
                <a:lnTo>
                  <a:pt x="2122128" y="471979"/>
                </a:lnTo>
                <a:lnTo>
                  <a:pt x="2138785" y="402864"/>
                </a:lnTo>
                <a:lnTo>
                  <a:pt x="2128610" y="368032"/>
                </a:lnTo>
                <a:lnTo>
                  <a:pt x="2105770" y="334389"/>
                </a:lnTo>
                <a:lnTo>
                  <a:pt x="2070016" y="302964"/>
                </a:lnTo>
                <a:lnTo>
                  <a:pt x="2074844" y="296821"/>
                </a:lnTo>
                <a:lnTo>
                  <a:pt x="2078883" y="290503"/>
                </a:lnTo>
                <a:lnTo>
                  <a:pt x="2082102" y="284054"/>
                </a:lnTo>
                <a:lnTo>
                  <a:pt x="2091274" y="251208"/>
                </a:lnTo>
                <a:lnTo>
                  <a:pt x="2086712" y="219129"/>
                </a:lnTo>
                <a:lnTo>
                  <a:pt x="2040831" y="161510"/>
                </a:lnTo>
                <a:lnTo>
                  <a:pt x="2001737" y="138092"/>
                </a:lnTo>
                <a:lnTo>
                  <a:pt x="1953358" y="119683"/>
                </a:lnTo>
                <a:lnTo>
                  <a:pt x="1896805" y="107344"/>
                </a:lnTo>
                <a:lnTo>
                  <a:pt x="1893111" y="99942"/>
                </a:lnTo>
                <a:lnTo>
                  <a:pt x="693699" y="99942"/>
                </a:lnTo>
                <a:lnTo>
                  <a:pt x="643466" y="86850"/>
                </a:lnTo>
                <a:lnTo>
                  <a:pt x="590307" y="78522"/>
                </a:lnTo>
                <a:lnTo>
                  <a:pt x="535352" y="75081"/>
                </a:lnTo>
                <a:close/>
              </a:path>
              <a:path w="2139315" h="855344">
                <a:moveTo>
                  <a:pt x="1715628" y="725599"/>
                </a:moveTo>
                <a:lnTo>
                  <a:pt x="1413737" y="725599"/>
                </a:lnTo>
                <a:lnTo>
                  <a:pt x="1448540" y="735675"/>
                </a:lnTo>
                <a:lnTo>
                  <a:pt x="1485382" y="743028"/>
                </a:lnTo>
                <a:lnTo>
                  <a:pt x="1523726" y="747570"/>
                </a:lnTo>
                <a:lnTo>
                  <a:pt x="1563037" y="749218"/>
                </a:lnTo>
                <a:lnTo>
                  <a:pt x="1620774" y="746306"/>
                </a:lnTo>
                <a:lnTo>
                  <a:pt x="1674642" y="737468"/>
                </a:lnTo>
                <a:lnTo>
                  <a:pt x="1715628" y="725599"/>
                </a:lnTo>
                <a:close/>
              </a:path>
              <a:path w="2139315" h="855344">
                <a:moveTo>
                  <a:pt x="950110" y="24111"/>
                </a:moveTo>
                <a:lnTo>
                  <a:pt x="899107" y="24362"/>
                </a:lnTo>
                <a:lnTo>
                  <a:pt x="849498" y="29886"/>
                </a:lnTo>
                <a:lnTo>
                  <a:pt x="802718" y="40446"/>
                </a:lnTo>
                <a:lnTo>
                  <a:pt x="760201" y="55802"/>
                </a:lnTo>
                <a:lnTo>
                  <a:pt x="723383" y="75713"/>
                </a:lnTo>
                <a:lnTo>
                  <a:pt x="693699" y="99942"/>
                </a:lnTo>
                <a:lnTo>
                  <a:pt x="1893111" y="99942"/>
                </a:lnTo>
                <a:lnTo>
                  <a:pt x="1885941" y="85577"/>
                </a:lnTo>
                <a:lnTo>
                  <a:pt x="1868490" y="65293"/>
                </a:lnTo>
                <a:lnTo>
                  <a:pt x="1868001" y="64912"/>
                </a:lnTo>
                <a:lnTo>
                  <a:pt x="1111883" y="64912"/>
                </a:lnTo>
                <a:lnTo>
                  <a:pt x="1097804" y="57886"/>
                </a:lnTo>
                <a:lnTo>
                  <a:pt x="1082849" y="51441"/>
                </a:lnTo>
                <a:lnTo>
                  <a:pt x="1067080" y="45602"/>
                </a:lnTo>
                <a:lnTo>
                  <a:pt x="1050556" y="40393"/>
                </a:lnTo>
                <a:lnTo>
                  <a:pt x="1001071" y="29375"/>
                </a:lnTo>
                <a:lnTo>
                  <a:pt x="950110" y="24111"/>
                </a:lnTo>
                <a:close/>
              </a:path>
              <a:path w="2139315" h="855344">
                <a:moveTo>
                  <a:pt x="1290867" y="9"/>
                </a:moveTo>
                <a:lnTo>
                  <a:pt x="1236672" y="5842"/>
                </a:lnTo>
                <a:lnTo>
                  <a:pt x="1186936" y="18939"/>
                </a:lnTo>
                <a:lnTo>
                  <a:pt x="1144419" y="38797"/>
                </a:lnTo>
                <a:lnTo>
                  <a:pt x="1111883" y="64912"/>
                </a:lnTo>
                <a:lnTo>
                  <a:pt x="1868001" y="64912"/>
                </a:lnTo>
                <a:lnTo>
                  <a:pt x="1844914" y="46927"/>
                </a:lnTo>
                <a:lnTo>
                  <a:pt x="1843375" y="46084"/>
                </a:lnTo>
                <a:lnTo>
                  <a:pt x="1476926" y="46084"/>
                </a:lnTo>
                <a:lnTo>
                  <a:pt x="1460862" y="35876"/>
                </a:lnTo>
                <a:lnTo>
                  <a:pt x="1442827" y="26761"/>
                </a:lnTo>
                <a:lnTo>
                  <a:pt x="1423006" y="18822"/>
                </a:lnTo>
                <a:lnTo>
                  <a:pt x="1401585" y="12143"/>
                </a:lnTo>
                <a:lnTo>
                  <a:pt x="1346758" y="1941"/>
                </a:lnTo>
                <a:lnTo>
                  <a:pt x="1290867" y="9"/>
                </a:lnTo>
                <a:close/>
              </a:path>
              <a:path w="2139315" h="855344">
                <a:moveTo>
                  <a:pt x="1666862" y="0"/>
                </a:moveTo>
                <a:lnTo>
                  <a:pt x="1614402" y="2349"/>
                </a:lnTo>
                <a:lnTo>
                  <a:pt x="1563904" y="10874"/>
                </a:lnTo>
                <a:lnTo>
                  <a:pt x="1517401" y="25482"/>
                </a:lnTo>
                <a:lnTo>
                  <a:pt x="1476926" y="46084"/>
                </a:lnTo>
                <a:lnTo>
                  <a:pt x="1843375" y="46084"/>
                </a:lnTo>
                <a:lnTo>
                  <a:pt x="1815674" y="30912"/>
                </a:lnTo>
                <a:lnTo>
                  <a:pt x="1769531" y="14190"/>
                </a:lnTo>
                <a:lnTo>
                  <a:pt x="1719249" y="3916"/>
                </a:lnTo>
                <a:lnTo>
                  <a:pt x="16668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902231" y="1273677"/>
            <a:ext cx="2139315" cy="855344"/>
          </a:xfrm>
          <a:custGeom>
            <a:avLst/>
            <a:gdLst/>
            <a:ahLst/>
            <a:cxnLst/>
            <a:rect l="l" t="t" r="r" b="b"/>
            <a:pathLst>
              <a:path w="2139315" h="855344">
                <a:moveTo>
                  <a:pt x="193654" y="281397"/>
                </a:moveTo>
                <a:lnTo>
                  <a:pt x="198654" y="216975"/>
                </a:lnTo>
                <a:lnTo>
                  <a:pt x="242510" y="159511"/>
                </a:lnTo>
                <a:lnTo>
                  <a:pt x="276990" y="134834"/>
                </a:lnTo>
                <a:lnTo>
                  <a:pt x="318760" y="113631"/>
                </a:lnTo>
                <a:lnTo>
                  <a:pt x="367012" y="96480"/>
                </a:lnTo>
                <a:lnTo>
                  <a:pt x="420938" y="83961"/>
                </a:lnTo>
                <a:lnTo>
                  <a:pt x="479732" y="76650"/>
                </a:lnTo>
                <a:lnTo>
                  <a:pt x="535352" y="75081"/>
                </a:lnTo>
                <a:lnTo>
                  <a:pt x="590306" y="78523"/>
                </a:lnTo>
                <a:lnTo>
                  <a:pt x="643465" y="86851"/>
                </a:lnTo>
                <a:lnTo>
                  <a:pt x="693699" y="99943"/>
                </a:lnTo>
                <a:lnTo>
                  <a:pt x="723383" y="75714"/>
                </a:lnTo>
                <a:lnTo>
                  <a:pt x="760201" y="55802"/>
                </a:lnTo>
                <a:lnTo>
                  <a:pt x="802718" y="40447"/>
                </a:lnTo>
                <a:lnTo>
                  <a:pt x="849498" y="29887"/>
                </a:lnTo>
                <a:lnTo>
                  <a:pt x="899107" y="24362"/>
                </a:lnTo>
                <a:lnTo>
                  <a:pt x="950110" y="24112"/>
                </a:lnTo>
                <a:lnTo>
                  <a:pt x="1001071" y="29376"/>
                </a:lnTo>
                <a:lnTo>
                  <a:pt x="1050556" y="40393"/>
                </a:lnTo>
                <a:lnTo>
                  <a:pt x="1097803" y="57886"/>
                </a:lnTo>
                <a:lnTo>
                  <a:pt x="1111883" y="64911"/>
                </a:lnTo>
                <a:lnTo>
                  <a:pt x="1144419" y="38797"/>
                </a:lnTo>
                <a:lnTo>
                  <a:pt x="1186936" y="18940"/>
                </a:lnTo>
                <a:lnTo>
                  <a:pt x="1236672" y="5843"/>
                </a:lnTo>
                <a:lnTo>
                  <a:pt x="1290867" y="9"/>
                </a:lnTo>
                <a:lnTo>
                  <a:pt x="1346758" y="1941"/>
                </a:lnTo>
                <a:lnTo>
                  <a:pt x="1401585" y="12143"/>
                </a:lnTo>
                <a:lnTo>
                  <a:pt x="1442827" y="26761"/>
                </a:lnTo>
                <a:lnTo>
                  <a:pt x="1476925" y="46085"/>
                </a:lnTo>
                <a:lnTo>
                  <a:pt x="1517400" y="25483"/>
                </a:lnTo>
                <a:lnTo>
                  <a:pt x="1563904" y="10874"/>
                </a:lnTo>
                <a:lnTo>
                  <a:pt x="1614402" y="2349"/>
                </a:lnTo>
                <a:lnTo>
                  <a:pt x="1666861" y="0"/>
                </a:lnTo>
                <a:lnTo>
                  <a:pt x="1719248" y="3916"/>
                </a:lnTo>
                <a:lnTo>
                  <a:pt x="1769530" y="14190"/>
                </a:lnTo>
                <a:lnTo>
                  <a:pt x="1815673" y="30912"/>
                </a:lnTo>
                <a:lnTo>
                  <a:pt x="1868490" y="65293"/>
                </a:lnTo>
                <a:lnTo>
                  <a:pt x="1896805" y="107344"/>
                </a:lnTo>
                <a:lnTo>
                  <a:pt x="1953358" y="119684"/>
                </a:lnTo>
                <a:lnTo>
                  <a:pt x="2001737" y="138093"/>
                </a:lnTo>
                <a:lnTo>
                  <a:pt x="2040831" y="161511"/>
                </a:lnTo>
                <a:lnTo>
                  <a:pt x="2069527" y="188877"/>
                </a:lnTo>
                <a:lnTo>
                  <a:pt x="2091274" y="251209"/>
                </a:lnTo>
                <a:lnTo>
                  <a:pt x="2082102" y="284055"/>
                </a:lnTo>
                <a:lnTo>
                  <a:pt x="2078882" y="290504"/>
                </a:lnTo>
                <a:lnTo>
                  <a:pt x="2074844" y="296822"/>
                </a:lnTo>
                <a:lnTo>
                  <a:pt x="2070015" y="302965"/>
                </a:lnTo>
                <a:lnTo>
                  <a:pt x="2105769" y="334390"/>
                </a:lnTo>
                <a:lnTo>
                  <a:pt x="2128610" y="368033"/>
                </a:lnTo>
                <a:lnTo>
                  <a:pt x="2138784" y="402865"/>
                </a:lnTo>
                <a:lnTo>
                  <a:pt x="2136541" y="437856"/>
                </a:lnTo>
                <a:lnTo>
                  <a:pt x="2095792" y="504204"/>
                </a:lnTo>
                <a:lnTo>
                  <a:pt x="2057782" y="533502"/>
                </a:lnTo>
                <a:lnTo>
                  <a:pt x="2008347" y="558844"/>
                </a:lnTo>
                <a:lnTo>
                  <a:pt x="1934223" y="582307"/>
                </a:lnTo>
                <a:lnTo>
                  <a:pt x="1893726" y="589968"/>
                </a:lnTo>
                <a:lnTo>
                  <a:pt x="1851590" y="594768"/>
                </a:lnTo>
                <a:lnTo>
                  <a:pt x="1845311" y="626121"/>
                </a:lnTo>
                <a:lnTo>
                  <a:pt x="1801418" y="681608"/>
                </a:lnTo>
                <a:lnTo>
                  <a:pt x="1766123" y="704498"/>
                </a:lnTo>
                <a:lnTo>
                  <a:pt x="1723478" y="723326"/>
                </a:lnTo>
                <a:lnTo>
                  <a:pt x="1674641" y="737469"/>
                </a:lnTo>
                <a:lnTo>
                  <a:pt x="1620774" y="746307"/>
                </a:lnTo>
                <a:lnTo>
                  <a:pt x="1563037" y="749219"/>
                </a:lnTo>
                <a:lnTo>
                  <a:pt x="1523726" y="747570"/>
                </a:lnTo>
                <a:lnTo>
                  <a:pt x="1485382" y="743028"/>
                </a:lnTo>
                <a:lnTo>
                  <a:pt x="1448540" y="735676"/>
                </a:lnTo>
                <a:lnTo>
                  <a:pt x="1413737" y="725599"/>
                </a:lnTo>
                <a:lnTo>
                  <a:pt x="1393847" y="753221"/>
                </a:lnTo>
                <a:lnTo>
                  <a:pt x="1333548" y="799919"/>
                </a:lnTo>
                <a:lnTo>
                  <a:pt x="1294856" y="818494"/>
                </a:lnTo>
                <a:lnTo>
                  <a:pt x="1251612" y="833551"/>
                </a:lnTo>
                <a:lnTo>
                  <a:pt x="1204673" y="844840"/>
                </a:lnTo>
                <a:lnTo>
                  <a:pt x="1154899" y="852110"/>
                </a:lnTo>
                <a:lnTo>
                  <a:pt x="1103145" y="855112"/>
                </a:lnTo>
                <a:lnTo>
                  <a:pt x="1050271" y="853594"/>
                </a:lnTo>
                <a:lnTo>
                  <a:pt x="997134" y="847305"/>
                </a:lnTo>
                <a:lnTo>
                  <a:pt x="943680" y="835643"/>
                </a:lnTo>
                <a:lnTo>
                  <a:pt x="895022" y="819280"/>
                </a:lnTo>
                <a:lnTo>
                  <a:pt x="852185" y="798630"/>
                </a:lnTo>
                <a:lnTo>
                  <a:pt x="816189" y="774107"/>
                </a:lnTo>
                <a:lnTo>
                  <a:pt x="765672" y="788055"/>
                </a:lnTo>
                <a:lnTo>
                  <a:pt x="713294" y="797585"/>
                </a:lnTo>
                <a:lnTo>
                  <a:pt x="659866" y="802807"/>
                </a:lnTo>
                <a:lnTo>
                  <a:pt x="606199" y="803833"/>
                </a:lnTo>
                <a:lnTo>
                  <a:pt x="553104" y="800772"/>
                </a:lnTo>
                <a:lnTo>
                  <a:pt x="501392" y="793735"/>
                </a:lnTo>
                <a:lnTo>
                  <a:pt x="451874" y="782832"/>
                </a:lnTo>
                <a:lnTo>
                  <a:pt x="405360" y="768174"/>
                </a:lnTo>
                <a:lnTo>
                  <a:pt x="362662" y="749871"/>
                </a:lnTo>
                <a:lnTo>
                  <a:pt x="324591" y="728033"/>
                </a:lnTo>
                <a:lnTo>
                  <a:pt x="291957" y="702770"/>
                </a:lnTo>
                <a:lnTo>
                  <a:pt x="287919" y="699012"/>
                </a:lnTo>
                <a:lnTo>
                  <a:pt x="230056" y="698487"/>
                </a:lnTo>
                <a:lnTo>
                  <a:pt x="176334" y="690021"/>
                </a:lnTo>
                <a:lnTo>
                  <a:pt x="129033" y="674594"/>
                </a:lnTo>
                <a:lnTo>
                  <a:pt x="90438" y="653185"/>
                </a:lnTo>
                <a:lnTo>
                  <a:pt x="62829" y="626772"/>
                </a:lnTo>
                <a:lnTo>
                  <a:pt x="48131" y="570787"/>
                </a:lnTo>
                <a:lnTo>
                  <a:pt x="57819" y="546085"/>
                </a:lnTo>
                <a:lnTo>
                  <a:pt x="77032" y="523083"/>
                </a:lnTo>
                <a:lnTo>
                  <a:pt x="105253" y="502639"/>
                </a:lnTo>
                <a:lnTo>
                  <a:pt x="52149" y="478668"/>
                </a:lnTo>
                <a:lnTo>
                  <a:pt x="16642" y="447931"/>
                </a:lnTo>
                <a:lnTo>
                  <a:pt x="0" y="413080"/>
                </a:lnTo>
                <a:lnTo>
                  <a:pt x="3487" y="376767"/>
                </a:lnTo>
                <a:lnTo>
                  <a:pt x="28371" y="341643"/>
                </a:lnTo>
                <a:lnTo>
                  <a:pt x="97540" y="302161"/>
                </a:lnTo>
                <a:lnTo>
                  <a:pt x="142429" y="290130"/>
                </a:lnTo>
                <a:lnTo>
                  <a:pt x="191854" y="284060"/>
                </a:lnTo>
                <a:lnTo>
                  <a:pt x="193654" y="281397"/>
                </a:lnTo>
                <a:close/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009777" y="1772986"/>
            <a:ext cx="125730" cy="15875"/>
          </a:xfrm>
          <a:custGeom>
            <a:avLst/>
            <a:gdLst/>
            <a:ahLst/>
            <a:cxnLst/>
            <a:rect l="l" t="t" r="r" b="b"/>
            <a:pathLst>
              <a:path w="125729" h="15875">
                <a:moveTo>
                  <a:pt x="125349" y="15774"/>
                </a:moveTo>
                <a:lnTo>
                  <a:pt x="92632" y="15802"/>
                </a:lnTo>
                <a:lnTo>
                  <a:pt x="60468" y="13136"/>
                </a:lnTo>
                <a:lnTo>
                  <a:pt x="29407" y="7846"/>
                </a:lnTo>
                <a:lnTo>
                  <a:pt x="0" y="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190881" y="1961388"/>
            <a:ext cx="55244" cy="7620"/>
          </a:xfrm>
          <a:custGeom>
            <a:avLst/>
            <a:gdLst/>
            <a:ahLst/>
            <a:cxnLst/>
            <a:rect l="l" t="t" r="r" b="b"/>
            <a:pathLst>
              <a:path w="55245" h="7619">
                <a:moveTo>
                  <a:pt x="54842" y="0"/>
                </a:moveTo>
                <a:lnTo>
                  <a:pt x="41497" y="2619"/>
                </a:lnTo>
                <a:lnTo>
                  <a:pt x="27879" y="4755"/>
                </a:lnTo>
                <a:lnTo>
                  <a:pt x="14031" y="6400"/>
                </a:lnTo>
                <a:lnTo>
                  <a:pt x="0" y="7549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685253" y="2009898"/>
            <a:ext cx="33655" cy="34925"/>
          </a:xfrm>
          <a:custGeom>
            <a:avLst/>
            <a:gdLst/>
            <a:ahLst/>
            <a:cxnLst/>
            <a:rect l="l" t="t" r="r" b="b"/>
            <a:pathLst>
              <a:path w="33654" h="34925">
                <a:moveTo>
                  <a:pt x="33044" y="34438"/>
                </a:moveTo>
                <a:lnTo>
                  <a:pt x="23528" y="26199"/>
                </a:lnTo>
                <a:lnTo>
                  <a:pt x="14836" y="17701"/>
                </a:lnTo>
                <a:lnTo>
                  <a:pt x="6987" y="8961"/>
                </a:lnTo>
                <a:lnTo>
                  <a:pt x="0" y="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1316183" y="1958459"/>
            <a:ext cx="13335" cy="38100"/>
          </a:xfrm>
          <a:custGeom>
            <a:avLst/>
            <a:gdLst/>
            <a:ahLst/>
            <a:cxnLst/>
            <a:rect l="l" t="t" r="r" b="b"/>
            <a:pathLst>
              <a:path w="13334" h="38100">
                <a:moveTo>
                  <a:pt x="13195" y="0"/>
                </a:moveTo>
                <a:lnTo>
                  <a:pt x="11272" y="9580"/>
                </a:lnTo>
                <a:lnTo>
                  <a:pt x="8427" y="19084"/>
                </a:lnTo>
                <a:lnTo>
                  <a:pt x="4667" y="28494"/>
                </a:lnTo>
                <a:lnTo>
                  <a:pt x="0" y="37788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591743" y="1724970"/>
            <a:ext cx="161290" cy="141605"/>
          </a:xfrm>
          <a:custGeom>
            <a:avLst/>
            <a:gdLst/>
            <a:ahLst/>
            <a:cxnLst/>
            <a:rect l="l" t="t" r="r" b="b"/>
            <a:pathLst>
              <a:path w="161290" h="141605">
                <a:moveTo>
                  <a:pt x="0" y="0"/>
                </a:moveTo>
                <a:lnTo>
                  <a:pt x="54905" y="19018"/>
                </a:lnTo>
                <a:lnTo>
                  <a:pt x="99737" y="43783"/>
                </a:lnTo>
                <a:lnTo>
                  <a:pt x="133207" y="73162"/>
                </a:lnTo>
                <a:lnTo>
                  <a:pt x="154022" y="106022"/>
                </a:lnTo>
                <a:lnTo>
                  <a:pt x="160894" y="141229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899595" y="1574549"/>
            <a:ext cx="71755" cy="53340"/>
          </a:xfrm>
          <a:custGeom>
            <a:avLst/>
            <a:gdLst/>
            <a:ahLst/>
            <a:cxnLst/>
            <a:rect l="l" t="t" r="r" b="b"/>
            <a:pathLst>
              <a:path w="71754" h="53339">
                <a:moveTo>
                  <a:pt x="71642" y="0"/>
                </a:moveTo>
                <a:lnTo>
                  <a:pt x="58038" y="14870"/>
                </a:lnTo>
                <a:lnTo>
                  <a:pt x="41444" y="28742"/>
                </a:lnTo>
                <a:lnTo>
                  <a:pt x="22037" y="41482"/>
                </a:lnTo>
                <a:lnTo>
                  <a:pt x="0" y="52957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1799329" y="1378052"/>
            <a:ext cx="4445" cy="25400"/>
          </a:xfrm>
          <a:custGeom>
            <a:avLst/>
            <a:gdLst/>
            <a:ahLst/>
            <a:cxnLst/>
            <a:rect l="l" t="t" r="r" b="b"/>
            <a:pathLst>
              <a:path w="4445" h="25400">
                <a:moveTo>
                  <a:pt x="0" y="0"/>
                </a:moveTo>
                <a:lnTo>
                  <a:pt x="2737" y="8251"/>
                </a:lnTo>
                <a:lnTo>
                  <a:pt x="4004" y="16627"/>
                </a:lnTo>
                <a:lnTo>
                  <a:pt x="3783" y="2501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341798" y="1316983"/>
            <a:ext cx="36830" cy="32384"/>
          </a:xfrm>
          <a:custGeom>
            <a:avLst/>
            <a:gdLst/>
            <a:ahLst/>
            <a:cxnLst/>
            <a:rect l="l" t="t" r="r" b="b"/>
            <a:pathLst>
              <a:path w="36829" h="32384">
                <a:moveTo>
                  <a:pt x="0" y="31896"/>
                </a:moveTo>
                <a:lnTo>
                  <a:pt x="7562" y="23396"/>
                </a:lnTo>
                <a:lnTo>
                  <a:pt x="16224" y="15226"/>
                </a:lnTo>
                <a:lnTo>
                  <a:pt x="25949" y="7417"/>
                </a:lnTo>
                <a:lnTo>
                  <a:pt x="36702" y="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0998526" y="1336571"/>
            <a:ext cx="17780" cy="27940"/>
          </a:xfrm>
          <a:custGeom>
            <a:avLst/>
            <a:gdLst/>
            <a:ahLst/>
            <a:cxnLst/>
            <a:rect l="l" t="t" r="r" b="b"/>
            <a:pathLst>
              <a:path w="17779" h="27940">
                <a:moveTo>
                  <a:pt x="0" y="27508"/>
                </a:moveTo>
                <a:lnTo>
                  <a:pt x="3259" y="20415"/>
                </a:lnTo>
                <a:lnTo>
                  <a:pt x="7317" y="13452"/>
                </a:lnTo>
                <a:lnTo>
                  <a:pt x="12160" y="6641"/>
                </a:lnTo>
                <a:lnTo>
                  <a:pt x="17776" y="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595675" y="1373421"/>
            <a:ext cx="64769" cy="27305"/>
          </a:xfrm>
          <a:custGeom>
            <a:avLst/>
            <a:gdLst/>
            <a:ahLst/>
            <a:cxnLst/>
            <a:rect l="l" t="t" r="r" b="b"/>
            <a:pathLst>
              <a:path w="64770" h="27305">
                <a:moveTo>
                  <a:pt x="0" y="0"/>
                </a:moveTo>
                <a:lnTo>
                  <a:pt x="17175" y="5865"/>
                </a:lnTo>
                <a:lnTo>
                  <a:pt x="33650" y="12280"/>
                </a:lnTo>
                <a:lnTo>
                  <a:pt x="49381" y="19227"/>
                </a:lnTo>
                <a:lnTo>
                  <a:pt x="64322" y="26687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0095893" y="1555081"/>
            <a:ext cx="11430" cy="28575"/>
          </a:xfrm>
          <a:custGeom>
            <a:avLst/>
            <a:gdLst/>
            <a:ahLst/>
            <a:cxnLst/>
            <a:rect l="l" t="t" r="r" b="b"/>
            <a:pathLst>
              <a:path w="11429" h="28575">
                <a:moveTo>
                  <a:pt x="11225" y="28078"/>
                </a:moveTo>
                <a:lnTo>
                  <a:pt x="7655" y="21153"/>
                </a:lnTo>
                <a:lnTo>
                  <a:pt x="4592" y="14160"/>
                </a:lnTo>
                <a:lnTo>
                  <a:pt x="2039" y="7106"/>
                </a:lnTo>
                <a:lnTo>
                  <a:pt x="0" y="0"/>
                </a:lnTo>
              </a:path>
            </a:pathLst>
          </a:custGeom>
          <a:ln w="127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0418705" y="1333500"/>
            <a:ext cx="954405" cy="6686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ctr" marL="12700" marR="5080">
              <a:lnSpc>
                <a:spcPct val="100699"/>
              </a:lnSpc>
              <a:spcBef>
                <a:spcPts val="85"/>
              </a:spcBef>
            </a:pPr>
            <a:r>
              <a:rPr dirty="0" sz="1400" spc="-5">
                <a:latin typeface="Calibri"/>
                <a:cs typeface="Calibri"/>
              </a:rPr>
              <a:t>Which one</a:t>
            </a:r>
            <a:r>
              <a:rPr dirty="0" sz="1400" spc="-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  </a:t>
            </a:r>
            <a:r>
              <a:rPr dirty="0" sz="1400" spc="-5">
                <a:latin typeface="Calibri"/>
                <a:cs typeface="Calibri"/>
              </a:rPr>
              <a:t>Machine  Generated?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02457" y="2401316"/>
            <a:ext cx="4055745" cy="1299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05"/>
              </a:spcBef>
            </a:pPr>
            <a:r>
              <a:rPr dirty="0" sz="1200" spc="-5">
                <a:latin typeface="Arial"/>
                <a:cs typeface="Arial"/>
              </a:rPr>
              <a:t>Little princess Korean thick woolen coat. This black sweater  adopts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classic round neck design, which is very elegant </a:t>
            </a:r>
            <a:r>
              <a:rPr dirty="0" sz="1200">
                <a:latin typeface="Arial"/>
                <a:cs typeface="Arial"/>
              </a:rPr>
              <a:t>to  </a:t>
            </a:r>
            <a:r>
              <a:rPr dirty="0" sz="1200" spc="-20">
                <a:latin typeface="Arial"/>
                <a:cs typeface="Arial"/>
              </a:rPr>
              <a:t>wear. </a:t>
            </a:r>
            <a:r>
              <a:rPr dirty="0" sz="1200" spc="-5">
                <a:latin typeface="Arial"/>
                <a:cs typeface="Arial"/>
              </a:rPr>
              <a:t>The cuffs and hem of the clothes have threaded  closures, making it more comfortable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20">
                <a:latin typeface="Arial"/>
                <a:cs typeface="Arial"/>
              </a:rPr>
              <a:t>wear. </a:t>
            </a:r>
            <a:r>
              <a:rPr dirty="0" sz="1200" spc="-5">
                <a:latin typeface="Arial"/>
                <a:cs typeface="Arial"/>
              </a:rPr>
              <a:t>The large  pockets on both sides of the body are decorated, </a:t>
            </a:r>
            <a:r>
              <a:rPr dirty="0" sz="1200">
                <a:latin typeface="Arial"/>
                <a:cs typeface="Arial"/>
              </a:rPr>
              <a:t>It </a:t>
            </a:r>
            <a:r>
              <a:rPr dirty="0" sz="1200" spc="-5">
                <a:latin typeface="Arial"/>
                <a:cs typeface="Arial"/>
              </a:rPr>
              <a:t>adds </a:t>
            </a:r>
            <a:r>
              <a:rPr dirty="0" sz="1200">
                <a:latin typeface="Arial"/>
                <a:cs typeface="Arial"/>
              </a:rPr>
              <a:t>a  </a:t>
            </a:r>
            <a:r>
              <a:rPr dirty="0" sz="1200" spc="-5">
                <a:latin typeface="Arial"/>
                <a:cs typeface="Arial"/>
              </a:rPr>
              <a:t>little childlike taste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5">
                <a:latin typeface="Arial"/>
                <a:cs typeface="Arial"/>
              </a:rPr>
              <a:t>the clothes, and it is very  temperamental.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66492" y="2383027"/>
            <a:ext cx="3491229" cy="14916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200"/>
              </a:lnSpc>
              <a:spcBef>
                <a:spcPts val="95"/>
              </a:spcBef>
            </a:pPr>
            <a:r>
              <a:rPr dirty="0" sz="1200" spc="-5">
                <a:latin typeface="Arial"/>
                <a:cs typeface="Arial"/>
              </a:rPr>
              <a:t>Mid-length girl's warm woolen coat, this woolen  coat, the surface solid color and the inner tone form 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temperament contrast, the overall look is full of  temperament and </a:t>
            </a:r>
            <a:r>
              <a:rPr dirty="0" sz="1200" spc="-15">
                <a:latin typeface="Arial"/>
                <a:cs typeface="Arial"/>
              </a:rPr>
              <a:t>personality, </a:t>
            </a:r>
            <a:r>
              <a:rPr dirty="0" sz="1200" spc="-5">
                <a:latin typeface="Arial"/>
                <a:cs typeface="Arial"/>
              </a:rPr>
              <a:t>if the baby in the  family is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particularly thoughtful child, full of  </a:t>
            </a:r>
            <a:r>
              <a:rPr dirty="0" sz="1200" spc="-15">
                <a:latin typeface="Arial"/>
                <a:cs typeface="Arial"/>
              </a:rPr>
              <a:t>personality, </a:t>
            </a:r>
            <a:r>
              <a:rPr dirty="0" sz="1200" spc="-5">
                <a:latin typeface="Arial"/>
                <a:cs typeface="Arial"/>
              </a:rPr>
              <a:t>then Don't miss this coat! As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basic  coat, the difference between this one lies in the  </a:t>
            </a:r>
            <a:r>
              <a:rPr dirty="0" sz="1200" spc="-15">
                <a:latin typeface="Arial"/>
                <a:cs typeface="Arial"/>
              </a:rPr>
              <a:t>color, </a:t>
            </a:r>
            <a:r>
              <a:rPr dirty="0" sz="1200" spc="-5">
                <a:latin typeface="Arial"/>
                <a:cs typeface="Arial"/>
              </a:rPr>
              <a:t>with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black </a:t>
            </a:r>
            <a:r>
              <a:rPr dirty="0" sz="1200" spc="-15">
                <a:latin typeface="Arial"/>
                <a:cs typeface="Arial"/>
              </a:rPr>
              <a:t>sweater, </a:t>
            </a:r>
            <a:r>
              <a:rPr dirty="0" sz="1200" spc="-5">
                <a:latin typeface="Arial"/>
                <a:cs typeface="Arial"/>
              </a:rPr>
              <a:t>and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cool</a:t>
            </a:r>
            <a:r>
              <a:rPr dirty="0" sz="1200" spc="2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sister!</a:t>
            </a:r>
            <a:endParaRPr sz="12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0855" y="4833620"/>
            <a:ext cx="392874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Arial"/>
                <a:cs typeface="Arial"/>
              </a:rPr>
              <a:t>The </a:t>
            </a:r>
            <a:r>
              <a:rPr dirty="0" sz="1200" spc="-10">
                <a:latin typeface="Arial"/>
                <a:cs typeface="Arial"/>
              </a:rPr>
              <a:t>new </a:t>
            </a:r>
            <a:r>
              <a:rPr dirty="0" sz="1200" spc="-5">
                <a:latin typeface="Arial"/>
                <a:cs typeface="Arial"/>
              </a:rPr>
              <a:t>mid-length cashmere coat for spring. This coat is  made of high-quality cashmere fabric, soft and  comfortable, and comfortable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20">
                <a:latin typeface="Arial"/>
                <a:cs typeface="Arial"/>
              </a:rPr>
              <a:t>wear. </a:t>
            </a:r>
            <a:r>
              <a:rPr dirty="0" sz="1200" spc="-5">
                <a:latin typeface="Arial"/>
                <a:cs typeface="Arial"/>
              </a:rPr>
              <a:t>The double-  breasted design, simple and elegant, fashionable and  versatile. With </a:t>
            </a: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simple pair of jeans, you can go out  beautifully</a:t>
            </a:r>
            <a:r>
              <a:rPr dirty="0" sz="1200" spc="-85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48830" y="4986020"/>
            <a:ext cx="7125970" cy="15436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2924175">
              <a:lnSpc>
                <a:spcPct val="99700"/>
              </a:lnSpc>
              <a:spcBef>
                <a:spcPts val="105"/>
              </a:spcBef>
            </a:pPr>
            <a:r>
              <a:rPr dirty="0" sz="1200">
                <a:latin typeface="Arial"/>
                <a:cs typeface="Arial"/>
              </a:rPr>
              <a:t>A </a:t>
            </a:r>
            <a:r>
              <a:rPr dirty="0" sz="1200" spc="-5">
                <a:latin typeface="Arial"/>
                <a:cs typeface="Arial"/>
              </a:rPr>
              <a:t>new style of colorful spring clothes. Korean style of  temperament cashmere coat, medium and long models do not  pick up the figure, 3D three-dimensional tailoring, button  design unique, delicate patch, an indispensable one. With  pointed square button shallow shoes, velvet The thick noodles  are simply too much </a:t>
            </a:r>
            <a:r>
              <a:rPr dirty="0" sz="1200">
                <a:latin typeface="Arial"/>
                <a:cs typeface="Arial"/>
              </a:rPr>
              <a:t>to </a:t>
            </a:r>
            <a:r>
              <a:rPr dirty="0" sz="1200" spc="-5">
                <a:latin typeface="Arial"/>
                <a:cs typeface="Arial"/>
              </a:rPr>
              <a:t>put it down, and the colors are also  very spring</a:t>
            </a:r>
            <a:r>
              <a:rPr dirty="0" sz="1200" spc="-5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colors.</a:t>
            </a:r>
            <a:endParaRPr sz="1200">
              <a:latin typeface="Arial"/>
              <a:cs typeface="Arial"/>
            </a:endParaRPr>
          </a:p>
          <a:p>
            <a:pPr marL="3894454">
              <a:lnSpc>
                <a:spcPct val="100000"/>
              </a:lnSpc>
              <a:spcBef>
                <a:spcPts val="455"/>
              </a:spcBef>
            </a:pPr>
            <a:r>
              <a:rPr dirty="0" sz="1200" spc="35">
                <a:latin typeface="Arial"/>
                <a:cs typeface="Arial"/>
              </a:rPr>
              <a:t>Note</a:t>
            </a:r>
            <a:r>
              <a:rPr dirty="0" sz="1200" spc="35">
                <a:latin typeface="宋体"/>
                <a:cs typeface="宋体"/>
              </a:rPr>
              <a:t>:</a:t>
            </a:r>
            <a:r>
              <a:rPr dirty="0" sz="1200" spc="35">
                <a:latin typeface="Arial"/>
                <a:cs typeface="Arial"/>
              </a:rPr>
              <a:t>Generate </a:t>
            </a:r>
            <a:r>
              <a:rPr dirty="0" sz="1200" spc="-5">
                <a:latin typeface="Arial"/>
                <a:cs typeface="Arial"/>
              </a:rPr>
              <a:t>Chinese then translate </a:t>
            </a:r>
            <a:r>
              <a:rPr dirty="0" sz="1200">
                <a:latin typeface="Arial"/>
                <a:cs typeface="Arial"/>
              </a:rPr>
              <a:t>to</a:t>
            </a:r>
            <a:r>
              <a:rPr dirty="0" sz="1200" spc="-6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Engli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906" y="468883"/>
            <a:ext cx="509905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59180" algn="l"/>
              </a:tabLst>
            </a:pP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Short	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video </a:t>
            </a:r>
            <a:r>
              <a:rPr dirty="0" sz="2400" spc="80" b="1">
                <a:solidFill>
                  <a:srgbClr val="000000"/>
                </a:solidFill>
                <a:latin typeface="微软雅黑"/>
                <a:cs typeface="微软雅黑"/>
              </a:rPr>
              <a:t>front desk </a:t>
            </a:r>
            <a:r>
              <a:rPr dirty="0" sz="2400" spc="204" b="1">
                <a:solidFill>
                  <a:srgbClr val="000000"/>
                </a:solidFill>
                <a:latin typeface="微软雅黑"/>
                <a:cs typeface="微软雅黑"/>
              </a:rPr>
              <a:t>servi</a:t>
            </a:r>
            <a:r>
              <a:rPr dirty="0" sz="2400" spc="68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b="1">
                <a:solidFill>
                  <a:srgbClr val="000000"/>
                </a:solidFill>
                <a:latin typeface="微软雅黑"/>
                <a:cs typeface="微软雅黑"/>
              </a:rPr>
              <a:t>e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8165" y="2012414"/>
            <a:ext cx="1416050" cy="277495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2384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dirty="0" sz="1200">
                <a:latin typeface="宋体"/>
                <a:cs typeface="宋体"/>
              </a:rPr>
              <a:t>猜你喜欢视频推荐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907" y="1386332"/>
            <a:ext cx="30841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latin typeface="微软雅黑"/>
                <a:cs typeface="微软雅黑"/>
              </a:rPr>
              <a:t>Guess </a:t>
            </a:r>
            <a:r>
              <a:rPr dirty="0" sz="1200" spc="-5">
                <a:latin typeface="微软雅黑"/>
                <a:cs typeface="微软雅黑"/>
              </a:rPr>
              <a:t>you </a:t>
            </a:r>
            <a:r>
              <a:rPr dirty="0" sz="1200" spc="-10">
                <a:latin typeface="微软雅黑"/>
                <a:cs typeface="微软雅黑"/>
              </a:rPr>
              <a:t>like </a:t>
            </a:r>
            <a:r>
              <a:rPr dirty="0" sz="1200" spc="-5">
                <a:latin typeface="微软雅黑"/>
                <a:cs typeface="微软雅黑"/>
              </a:rPr>
              <a:t>the video</a:t>
            </a:r>
            <a:r>
              <a:rPr dirty="0" sz="1200" spc="-55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recommendation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1839" y="1888544"/>
            <a:ext cx="4342765" cy="3988435"/>
          </a:xfrm>
          <a:custGeom>
            <a:avLst/>
            <a:gdLst/>
            <a:ahLst/>
            <a:cxnLst/>
            <a:rect l="l" t="t" r="r" b="b"/>
            <a:pathLst>
              <a:path w="4342765" h="3988435">
                <a:moveTo>
                  <a:pt x="0" y="0"/>
                </a:moveTo>
                <a:lnTo>
                  <a:pt x="4342759" y="0"/>
                </a:lnTo>
                <a:lnTo>
                  <a:pt x="4342759" y="3988048"/>
                </a:lnTo>
                <a:lnTo>
                  <a:pt x="0" y="3988048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530551" y="1988739"/>
            <a:ext cx="1969135" cy="277495"/>
          </a:xfrm>
          <a:prstGeom prst="rect">
            <a:avLst/>
          </a:prstGeom>
          <a:solidFill>
            <a:srgbClr val="FFC000"/>
          </a:solidFill>
        </p:spPr>
        <p:txBody>
          <a:bodyPr wrap="square" lIns="0" tIns="31750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0"/>
              </a:spcBef>
            </a:pPr>
            <a:r>
              <a:rPr dirty="0" sz="1200">
                <a:latin typeface="宋体"/>
                <a:cs typeface="宋体"/>
              </a:rPr>
              <a:t>猜你喜欢视频承接页推荐</a:t>
            </a:r>
            <a:endParaRPr sz="12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3568" y="2441448"/>
            <a:ext cx="2048256" cy="3386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65832" y="2346960"/>
            <a:ext cx="2051304" cy="34716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917724" y="1902056"/>
            <a:ext cx="3259220" cy="39880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429253" y="1398524"/>
            <a:ext cx="24320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微软雅黑"/>
                <a:cs typeface="微软雅黑"/>
              </a:rPr>
              <a:t> </a:t>
            </a:r>
            <a:r>
              <a:rPr dirty="0" sz="1200" spc="30">
                <a:latin typeface="微软雅黑"/>
                <a:cs typeface="微软雅黑"/>
              </a:rPr>
              <a:t>aobao </a:t>
            </a:r>
            <a:r>
              <a:rPr dirty="0" sz="1200" spc="-5">
                <a:latin typeface="微软雅黑"/>
                <a:cs typeface="微软雅黑"/>
              </a:rPr>
              <a:t>experience video</a:t>
            </a:r>
            <a:r>
              <a:rPr dirty="0" sz="1200" spc="-120">
                <a:latin typeface="微软雅黑"/>
                <a:cs typeface="微软雅黑"/>
              </a:rPr>
              <a:t> </a:t>
            </a:r>
            <a:r>
              <a:rPr dirty="0" sz="1200" spc="-10">
                <a:latin typeface="微软雅黑"/>
                <a:cs typeface="微软雅黑"/>
              </a:rPr>
              <a:t>content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935910" y="1902054"/>
            <a:ext cx="3220720" cy="3997960"/>
          </a:xfrm>
          <a:custGeom>
            <a:avLst/>
            <a:gdLst/>
            <a:ahLst/>
            <a:cxnLst/>
            <a:rect l="l" t="t" r="r" b="b"/>
            <a:pathLst>
              <a:path w="3220720" h="3997960">
                <a:moveTo>
                  <a:pt x="0" y="0"/>
                </a:moveTo>
                <a:lnTo>
                  <a:pt x="3220688" y="0"/>
                </a:lnTo>
                <a:lnTo>
                  <a:pt x="3220688" y="3997841"/>
                </a:lnTo>
                <a:lnTo>
                  <a:pt x="0" y="3997841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413646" y="1398524"/>
            <a:ext cx="839469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5">
                <a:latin typeface="微软雅黑"/>
                <a:cs typeface="微软雅黑"/>
              </a:rPr>
              <a:t>Wow</a:t>
            </a:r>
            <a:r>
              <a:rPr dirty="0" sz="1200" spc="-90">
                <a:latin typeface="微软雅黑"/>
                <a:cs typeface="微软雅黑"/>
              </a:rPr>
              <a:t> </a:t>
            </a:r>
            <a:r>
              <a:rPr dirty="0" sz="1200" spc="-5">
                <a:latin typeface="微软雅黑"/>
                <a:cs typeface="微软雅黑"/>
              </a:rPr>
              <a:t>video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574918" y="1899866"/>
            <a:ext cx="2526665" cy="3987800"/>
          </a:xfrm>
          <a:custGeom>
            <a:avLst/>
            <a:gdLst/>
            <a:ahLst/>
            <a:cxnLst/>
            <a:rect l="l" t="t" r="r" b="b"/>
            <a:pathLst>
              <a:path w="2526665" h="3987800">
                <a:moveTo>
                  <a:pt x="0" y="0"/>
                </a:moveTo>
                <a:lnTo>
                  <a:pt x="2526216" y="0"/>
                </a:lnTo>
                <a:lnTo>
                  <a:pt x="2526216" y="3987635"/>
                </a:lnTo>
                <a:lnTo>
                  <a:pt x="0" y="3987635"/>
                </a:lnTo>
                <a:lnTo>
                  <a:pt x="0" y="0"/>
                </a:lnTo>
                <a:close/>
              </a:path>
            </a:pathLst>
          </a:custGeom>
          <a:ln w="1905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656319" y="1941576"/>
            <a:ext cx="2447544" cy="39349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2665" y="420116"/>
            <a:ext cx="409956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Video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produ </a:t>
            </a:r>
            <a:r>
              <a:rPr dirty="0" sz="2400" spc="300" b="1">
                <a:solidFill>
                  <a:srgbClr val="000000"/>
                </a:solidFill>
                <a:latin typeface="微软雅黑"/>
                <a:cs typeface="微软雅黑"/>
              </a:rPr>
              <a:t>t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dete</a:t>
            </a:r>
            <a:r>
              <a:rPr dirty="0" sz="2400" spc="65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55" b="1">
                <a:solidFill>
                  <a:srgbClr val="000000"/>
                </a:solidFill>
                <a:latin typeface="微软雅黑"/>
                <a:cs typeface="微软雅黑"/>
              </a:rPr>
              <a:t>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7543" y="1024312"/>
            <a:ext cx="3206822" cy="58336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431019" y="994314"/>
            <a:ext cx="3179368" cy="58117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02608" y="2191537"/>
            <a:ext cx="1081405" cy="1986280"/>
          </a:xfrm>
          <a:custGeom>
            <a:avLst/>
            <a:gdLst/>
            <a:ahLst/>
            <a:cxnLst/>
            <a:rect l="l" t="t" r="r" b="b"/>
            <a:pathLst>
              <a:path w="1081404" h="1986279">
                <a:moveTo>
                  <a:pt x="0" y="0"/>
                </a:moveTo>
                <a:lnTo>
                  <a:pt x="1081194" y="0"/>
                </a:lnTo>
                <a:lnTo>
                  <a:pt x="1081194" y="1985966"/>
                </a:lnTo>
                <a:lnTo>
                  <a:pt x="0" y="1985966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466962" y="4245063"/>
            <a:ext cx="2959100" cy="1239520"/>
          </a:xfrm>
          <a:custGeom>
            <a:avLst/>
            <a:gdLst/>
            <a:ahLst/>
            <a:cxnLst/>
            <a:rect l="l" t="t" r="r" b="b"/>
            <a:pathLst>
              <a:path w="2959100" h="1239520">
                <a:moveTo>
                  <a:pt x="0" y="0"/>
                </a:moveTo>
                <a:lnTo>
                  <a:pt x="2958598" y="0"/>
                </a:lnTo>
                <a:lnTo>
                  <a:pt x="2958598" y="1239124"/>
                </a:lnTo>
                <a:lnTo>
                  <a:pt x="0" y="1239124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8249324" y="992549"/>
            <a:ext cx="3206822" cy="58336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94569" y="992549"/>
            <a:ext cx="1081405" cy="2088514"/>
          </a:xfrm>
          <a:custGeom>
            <a:avLst/>
            <a:gdLst/>
            <a:ahLst/>
            <a:cxnLst/>
            <a:rect l="l" t="t" r="r" b="b"/>
            <a:pathLst>
              <a:path w="1081404" h="2088514">
                <a:moveTo>
                  <a:pt x="0" y="0"/>
                </a:moveTo>
                <a:lnTo>
                  <a:pt x="1081194" y="0"/>
                </a:lnTo>
                <a:lnTo>
                  <a:pt x="1081194" y="2088064"/>
                </a:lnTo>
                <a:lnTo>
                  <a:pt x="0" y="2088064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14339" y="1405375"/>
            <a:ext cx="1518285" cy="648970"/>
          </a:xfrm>
          <a:custGeom>
            <a:avLst/>
            <a:gdLst/>
            <a:ahLst/>
            <a:cxnLst/>
            <a:rect l="l" t="t" r="r" b="b"/>
            <a:pathLst>
              <a:path w="1518284" h="648969">
                <a:moveTo>
                  <a:pt x="0" y="0"/>
                </a:moveTo>
                <a:lnTo>
                  <a:pt x="1518253" y="0"/>
                </a:lnTo>
                <a:lnTo>
                  <a:pt x="1518253" y="648479"/>
                </a:lnTo>
                <a:lnTo>
                  <a:pt x="0" y="64847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492521" y="4047404"/>
            <a:ext cx="1122045" cy="1573530"/>
          </a:xfrm>
          <a:custGeom>
            <a:avLst/>
            <a:gdLst/>
            <a:ahLst/>
            <a:cxnLst/>
            <a:rect l="l" t="t" r="r" b="b"/>
            <a:pathLst>
              <a:path w="1122045" h="1573529">
                <a:moveTo>
                  <a:pt x="0" y="0"/>
                </a:moveTo>
                <a:lnTo>
                  <a:pt x="1121415" y="0"/>
                </a:lnTo>
                <a:lnTo>
                  <a:pt x="1121415" y="1573082"/>
                </a:lnTo>
                <a:lnTo>
                  <a:pt x="0" y="1573082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247899" y="2854732"/>
            <a:ext cx="1518285" cy="648970"/>
          </a:xfrm>
          <a:custGeom>
            <a:avLst/>
            <a:gdLst/>
            <a:ahLst/>
            <a:cxnLst/>
            <a:rect l="l" t="t" r="r" b="b"/>
            <a:pathLst>
              <a:path w="1518284" h="648970">
                <a:moveTo>
                  <a:pt x="0" y="0"/>
                </a:moveTo>
                <a:lnTo>
                  <a:pt x="1518253" y="0"/>
                </a:lnTo>
                <a:lnTo>
                  <a:pt x="1518253" y="648479"/>
                </a:lnTo>
                <a:lnTo>
                  <a:pt x="0" y="648479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404359" y="5843015"/>
            <a:ext cx="3230880" cy="8900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06282" y="453644"/>
            <a:ext cx="8420100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2360" algn="l"/>
              </a:tabLst>
            </a:pPr>
            <a:r>
              <a:rPr dirty="0" sz="2400" spc="61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204" b="1">
                <a:solidFill>
                  <a:srgbClr val="000000"/>
                </a:solidFill>
                <a:latin typeface="微软雅黑"/>
                <a:cs typeface="微软雅黑"/>
              </a:rPr>
              <a:t>ideo	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product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detection---image </a:t>
            </a: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target</a:t>
            </a:r>
            <a:r>
              <a:rPr dirty="0" sz="2400" spc="6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0" b="1">
                <a:solidFill>
                  <a:srgbClr val="000000"/>
                </a:solidFill>
                <a:latin typeface="微软雅黑"/>
                <a:cs typeface="微软雅黑"/>
              </a:rPr>
              <a:t>detection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27542" y="1046251"/>
            <a:ext cx="5092700" cy="27334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195617" y="884129"/>
            <a:ext cx="5092700" cy="2895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991678" y="1283448"/>
            <a:ext cx="3063240" cy="2607310"/>
          </a:xfrm>
          <a:custGeom>
            <a:avLst/>
            <a:gdLst/>
            <a:ahLst/>
            <a:cxnLst/>
            <a:rect l="l" t="t" r="r" b="b"/>
            <a:pathLst>
              <a:path w="3063240" h="2607310">
                <a:moveTo>
                  <a:pt x="0" y="0"/>
                </a:moveTo>
                <a:lnTo>
                  <a:pt x="3063221" y="0"/>
                </a:lnTo>
                <a:lnTo>
                  <a:pt x="3063221" y="2607123"/>
                </a:lnTo>
                <a:lnTo>
                  <a:pt x="0" y="2607123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195617" y="3902331"/>
            <a:ext cx="5092700" cy="2895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545631" y="4102267"/>
            <a:ext cx="1442085" cy="518159"/>
          </a:xfrm>
          <a:custGeom>
            <a:avLst/>
            <a:gdLst/>
            <a:ahLst/>
            <a:cxnLst/>
            <a:rect l="l" t="t" r="r" b="b"/>
            <a:pathLst>
              <a:path w="1442084" h="518160">
                <a:moveTo>
                  <a:pt x="0" y="0"/>
                </a:moveTo>
                <a:lnTo>
                  <a:pt x="1441899" y="0"/>
                </a:lnTo>
                <a:lnTo>
                  <a:pt x="1441899" y="518144"/>
                </a:lnTo>
                <a:lnTo>
                  <a:pt x="0" y="518144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545630" y="4666908"/>
            <a:ext cx="1401445" cy="467359"/>
          </a:xfrm>
          <a:custGeom>
            <a:avLst/>
            <a:gdLst/>
            <a:ahLst/>
            <a:cxnLst/>
            <a:rect l="l" t="t" r="r" b="b"/>
            <a:pathLst>
              <a:path w="1401445" h="467360">
                <a:moveTo>
                  <a:pt x="0" y="0"/>
                </a:moveTo>
                <a:lnTo>
                  <a:pt x="1401366" y="0"/>
                </a:lnTo>
                <a:lnTo>
                  <a:pt x="1401366" y="466883"/>
                </a:lnTo>
                <a:lnTo>
                  <a:pt x="0" y="466883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360254" y="5889373"/>
            <a:ext cx="2559685" cy="969010"/>
          </a:xfrm>
          <a:custGeom>
            <a:avLst/>
            <a:gdLst/>
            <a:ahLst/>
            <a:cxnLst/>
            <a:rect l="l" t="t" r="r" b="b"/>
            <a:pathLst>
              <a:path w="2559684" h="969009">
                <a:moveTo>
                  <a:pt x="0" y="0"/>
                </a:moveTo>
                <a:lnTo>
                  <a:pt x="2559534" y="0"/>
                </a:lnTo>
                <a:lnTo>
                  <a:pt x="2559534" y="968626"/>
                </a:lnTo>
                <a:lnTo>
                  <a:pt x="0" y="968626"/>
                </a:lnTo>
                <a:lnTo>
                  <a:pt x="0" y="0"/>
                </a:lnTo>
                <a:close/>
              </a:path>
            </a:pathLst>
          </a:custGeom>
          <a:ln w="5715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92935" y="4094988"/>
            <a:ext cx="5292725" cy="194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marR="5080" indent="-171450">
              <a:lnSpc>
                <a:spcPct val="148600"/>
              </a:lnSpc>
              <a:spcBef>
                <a:spcPts val="100"/>
              </a:spcBef>
            </a:pPr>
            <a:r>
              <a:rPr dirty="0" sz="1400" spc="725">
                <a:latin typeface="Arial"/>
                <a:cs typeface="Arial"/>
              </a:rPr>
              <a:t>l </a:t>
            </a:r>
            <a:r>
              <a:rPr dirty="0" sz="1400" spc="-10">
                <a:latin typeface="微软雅黑"/>
                <a:cs typeface="微软雅黑"/>
              </a:rPr>
              <a:t>From </a:t>
            </a:r>
            <a:r>
              <a:rPr dirty="0" sz="1400" spc="-60">
                <a:latin typeface="微软雅黑"/>
                <a:cs typeface="微软雅黑"/>
              </a:rPr>
              <a:t>t+e </a:t>
            </a:r>
            <a:r>
              <a:rPr dirty="0" sz="1400" spc="0">
                <a:latin typeface="微软雅黑"/>
                <a:cs typeface="微软雅黑"/>
              </a:rPr>
              <a:t>expert v,deos </a:t>
            </a:r>
            <a:r>
              <a:rPr dirty="0" sz="1400" spc="-60">
                <a:latin typeface="微软雅黑"/>
                <a:cs typeface="微软雅黑"/>
              </a:rPr>
              <a:t>t+e </a:t>
            </a:r>
            <a:r>
              <a:rPr dirty="0" sz="1400" spc="0">
                <a:latin typeface="微软雅黑"/>
                <a:cs typeface="微软雅黑"/>
              </a:rPr>
              <a:t>v,deos </a:t>
            </a:r>
            <a:r>
              <a:rPr dirty="0" sz="1400" spc="-40">
                <a:latin typeface="微软雅黑"/>
                <a:cs typeface="微软雅黑"/>
              </a:rPr>
              <a:t>w,t+ </a:t>
            </a:r>
            <a:r>
              <a:rPr dirty="0" sz="1400" spc="-55">
                <a:latin typeface="微软雅黑"/>
                <a:cs typeface="微软雅黑"/>
              </a:rPr>
              <a:t>+,g+er </a:t>
            </a:r>
            <a:r>
              <a:rPr dirty="0" sz="1400" spc="-5">
                <a:latin typeface="微软雅黑"/>
                <a:cs typeface="微软雅黑"/>
              </a:rPr>
              <a:t>products</a:t>
            </a:r>
            <a:r>
              <a:rPr dirty="0" sz="1400" spc="-285">
                <a:latin typeface="微软雅黑"/>
                <a:cs typeface="微软雅黑"/>
              </a:rPr>
              <a:t> </a:t>
            </a:r>
            <a:r>
              <a:rPr dirty="0" sz="1400" spc="-10">
                <a:latin typeface="微软雅黑"/>
                <a:cs typeface="微软雅黑"/>
              </a:rPr>
              <a:t>are  </a:t>
            </a:r>
            <a:r>
              <a:rPr dirty="0" sz="1400" spc="-5">
                <a:latin typeface="微软雅黑"/>
                <a:cs typeface="微软雅黑"/>
              </a:rPr>
              <a:t>selected </a:t>
            </a:r>
            <a:r>
              <a:rPr dirty="0" sz="1400">
                <a:latin typeface="微软雅黑"/>
                <a:cs typeface="微软雅黑"/>
              </a:rPr>
              <a:t>as </a:t>
            </a:r>
            <a:r>
              <a:rPr dirty="0" sz="1400" spc="0">
                <a:latin typeface="微软雅黑"/>
                <a:cs typeface="微软雅黑"/>
              </a:rPr>
              <a:t>tra,n,ng</a:t>
            </a:r>
            <a:r>
              <a:rPr dirty="0" sz="1400" spc="-25">
                <a:latin typeface="微软雅黑"/>
                <a:cs typeface="微软雅黑"/>
              </a:rPr>
              <a:t> </a:t>
            </a:r>
            <a:r>
              <a:rPr dirty="0" sz="1400">
                <a:latin typeface="微软雅黑"/>
                <a:cs typeface="微软雅黑"/>
              </a:rPr>
              <a:t>data</a:t>
            </a:r>
            <a:endParaRPr sz="1400">
              <a:latin typeface="微软雅黑"/>
              <a:cs typeface="微软雅黑"/>
            </a:endParaRPr>
          </a:p>
          <a:p>
            <a:pPr marL="184150" marR="273685" indent="-171450">
              <a:lnSpc>
                <a:spcPts val="2620"/>
              </a:lnSpc>
              <a:spcBef>
                <a:spcPts val="120"/>
              </a:spcBef>
            </a:pPr>
            <a:r>
              <a:rPr dirty="0" sz="1400" spc="725">
                <a:latin typeface="Arial"/>
                <a:cs typeface="Arial"/>
              </a:rPr>
              <a:t>l</a:t>
            </a:r>
            <a:r>
              <a:rPr dirty="0" sz="1400" spc="-5">
                <a:latin typeface="Arial"/>
                <a:cs typeface="Arial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Generate </a:t>
            </a:r>
            <a:r>
              <a:rPr dirty="0" sz="1400">
                <a:latin typeface="微软雅黑"/>
                <a:cs typeface="微软雅黑"/>
              </a:rPr>
              <a:t>a </a:t>
            </a:r>
            <a:r>
              <a:rPr dirty="0" sz="1400" spc="-5">
                <a:latin typeface="微软雅黑"/>
                <a:cs typeface="微软雅黑"/>
              </a:rPr>
              <a:t>mult,-product </a:t>
            </a:r>
            <a:r>
              <a:rPr dirty="0" sz="1400">
                <a:latin typeface="微软雅黑"/>
                <a:cs typeface="微软雅黑"/>
              </a:rPr>
              <a:t>category data set </a:t>
            </a:r>
            <a:r>
              <a:rPr dirty="0" sz="1400" spc="-40">
                <a:latin typeface="微软雅黑"/>
                <a:cs typeface="微软雅黑"/>
              </a:rPr>
              <a:t>w,t+ </a:t>
            </a:r>
            <a:r>
              <a:rPr dirty="0" sz="1400">
                <a:latin typeface="微软雅黑"/>
                <a:cs typeface="微软雅黑"/>
              </a:rPr>
              <a:t>a </a:t>
            </a:r>
            <a:r>
              <a:rPr dirty="0" sz="1400" spc="0">
                <a:latin typeface="微软雅黑"/>
                <a:cs typeface="微软雅黑"/>
              </a:rPr>
              <a:t>s,ngle  </a:t>
            </a:r>
            <a:r>
              <a:rPr dirty="0" sz="1400" spc="-5">
                <a:latin typeface="微软雅黑"/>
                <a:cs typeface="微软雅黑"/>
              </a:rPr>
              <a:t>product </a:t>
            </a:r>
            <a:r>
              <a:rPr dirty="0" sz="1400" spc="0">
                <a:latin typeface="微软雅黑"/>
                <a:cs typeface="微软雅黑"/>
              </a:rPr>
              <a:t>,mage</a:t>
            </a:r>
            <a:r>
              <a:rPr dirty="0" sz="1400" spc="-55">
                <a:latin typeface="微软雅黑"/>
                <a:cs typeface="微软雅黑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model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400" spc="725">
                <a:latin typeface="Arial"/>
                <a:cs typeface="Arial"/>
              </a:rPr>
              <a:t>l</a:t>
            </a:r>
            <a:r>
              <a:rPr dirty="0" sz="1400" spc="-10">
                <a:latin typeface="Arial"/>
                <a:cs typeface="Arial"/>
              </a:rPr>
              <a:t> </a:t>
            </a:r>
            <a:r>
              <a:rPr dirty="0" sz="1400" spc="-10">
                <a:latin typeface="微软雅黑"/>
                <a:cs typeface="微软雅黑"/>
              </a:rPr>
              <a:t>Weak </a:t>
            </a:r>
            <a:r>
              <a:rPr dirty="0" sz="1400" spc="0">
                <a:latin typeface="微软雅黑"/>
                <a:cs typeface="微软雅黑"/>
              </a:rPr>
              <a:t>superv,sed </a:t>
            </a:r>
            <a:r>
              <a:rPr dirty="0" sz="1400" spc="-45">
                <a:latin typeface="微软雅黑"/>
                <a:cs typeface="微软雅黑"/>
              </a:rPr>
              <a:t>ob-ect </a:t>
            </a:r>
            <a:r>
              <a:rPr dirty="0" sz="1400">
                <a:latin typeface="微软雅黑"/>
                <a:cs typeface="微软雅黑"/>
              </a:rPr>
              <a:t>detect,on+ </a:t>
            </a:r>
            <a:r>
              <a:rPr dirty="0" sz="1400" spc="0">
                <a:latin typeface="微软雅黑"/>
                <a:cs typeface="微软雅黑"/>
              </a:rPr>
              <a:t>V,deo descr,pt,on ,nfor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400" spc="725">
                <a:latin typeface="Arial"/>
                <a:cs typeface="Arial"/>
              </a:rPr>
              <a:t>l</a:t>
            </a:r>
            <a:r>
              <a:rPr dirty="0" sz="1400" spc="-30">
                <a:latin typeface="Arial"/>
                <a:cs typeface="Arial"/>
              </a:rPr>
              <a:t> </a:t>
            </a:r>
            <a:r>
              <a:rPr dirty="0" sz="1400" spc="-5">
                <a:latin typeface="微软雅黑"/>
                <a:cs typeface="微软雅黑"/>
              </a:rPr>
              <a:t>Manual </a:t>
            </a:r>
            <a:r>
              <a:rPr dirty="0" sz="1400">
                <a:latin typeface="微软雅黑"/>
                <a:cs typeface="微软雅黑"/>
              </a:rPr>
              <a:t>mark,ng </a:t>
            </a:r>
            <a:r>
              <a:rPr dirty="0" sz="1400" spc="-5">
                <a:latin typeface="微软雅黑"/>
                <a:cs typeface="微软雅黑"/>
              </a:rPr>
              <a:t>+few </a:t>
            </a:r>
            <a:r>
              <a:rPr dirty="0" sz="1400" spc="-50">
                <a:latin typeface="微软雅黑"/>
                <a:cs typeface="微软雅黑"/>
              </a:rPr>
              <a:t>s+ot </a:t>
            </a:r>
            <a:r>
              <a:rPr dirty="0" sz="1400">
                <a:latin typeface="微软雅黑"/>
                <a:cs typeface="微软雅黑"/>
              </a:rPr>
              <a:t>learn,ng</a:t>
            </a:r>
            <a:endParaRPr sz="1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8782" y="435355"/>
            <a:ext cx="49295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2360" algn="l"/>
              </a:tabLst>
            </a:pP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Video	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summary</a:t>
            </a:r>
            <a:r>
              <a:rPr dirty="0" sz="2400" spc="23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generation-</a:t>
            </a:r>
            <a:r>
              <a:rPr dirty="0" sz="2400" spc="7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03135" y="1028682"/>
            <a:ext cx="4749128" cy="537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52223" y="2209291"/>
            <a:ext cx="5157470" cy="209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marR="631825" indent="-171450">
              <a:lnSpc>
                <a:spcPct val="152200"/>
              </a:lnSpc>
              <a:spcBef>
                <a:spcPts val="100"/>
              </a:spcBef>
            </a:pPr>
            <a:r>
              <a:rPr dirty="0" sz="1800" spc="935">
                <a:latin typeface="Arial"/>
                <a:cs typeface="Arial"/>
              </a:rPr>
              <a:t>l</a:t>
            </a:r>
            <a:r>
              <a:rPr dirty="0" sz="1800" spc="105">
                <a:latin typeface="Arial"/>
                <a:cs typeface="Arial"/>
              </a:rPr>
              <a:t> </a:t>
            </a:r>
            <a:r>
              <a:rPr dirty="0" sz="1800" spc="125">
                <a:latin typeface="微软雅黑"/>
                <a:cs typeface="微软雅黑"/>
              </a:rPr>
              <a:t>ideo </a:t>
            </a:r>
            <a:r>
              <a:rPr dirty="0" sz="1800" spc="-5">
                <a:latin typeface="微软雅黑"/>
                <a:cs typeface="微软雅黑"/>
              </a:rPr>
              <a:t>text description is </a:t>
            </a:r>
            <a:r>
              <a:rPr dirty="0" sz="1800">
                <a:latin typeface="微软雅黑"/>
                <a:cs typeface="微软雅黑"/>
              </a:rPr>
              <a:t>the </a:t>
            </a:r>
            <a:r>
              <a:rPr dirty="0" sz="1800" spc="-10">
                <a:latin typeface="微软雅黑"/>
                <a:cs typeface="微软雅黑"/>
              </a:rPr>
              <a:t>basic </a:t>
            </a:r>
            <a:r>
              <a:rPr dirty="0" sz="1800" spc="-5">
                <a:latin typeface="微软雅黑"/>
                <a:cs typeface="微软雅黑"/>
              </a:rPr>
              <a:t>input  information </a:t>
            </a:r>
            <a:r>
              <a:rPr dirty="0" sz="1800">
                <a:latin typeface="微软雅黑"/>
                <a:cs typeface="微软雅黑"/>
              </a:rPr>
              <a:t>for </a:t>
            </a:r>
            <a:r>
              <a:rPr dirty="0" sz="1800" spc="-5">
                <a:latin typeface="微软雅黑"/>
                <a:cs typeface="微软雅黑"/>
              </a:rPr>
              <a:t>video</a:t>
            </a:r>
            <a:r>
              <a:rPr dirty="0" sz="1800" spc="6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understanding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50">
              <a:latin typeface="Times New Roman"/>
              <a:cs typeface="Times New Roman"/>
            </a:endParaRPr>
          </a:p>
          <a:p>
            <a:pPr marL="184150" marR="5080" indent="-171450">
              <a:lnSpc>
                <a:spcPct val="148900"/>
              </a:lnSpc>
            </a:pPr>
            <a:r>
              <a:rPr dirty="0" sz="1800" spc="90">
                <a:latin typeface="Arial"/>
                <a:cs typeface="Arial"/>
              </a:rPr>
              <a:t>l</a:t>
            </a:r>
            <a:r>
              <a:rPr dirty="0" sz="1800" spc="90">
                <a:latin typeface="微软雅黑"/>
                <a:cs typeface="微软雅黑"/>
              </a:rPr>
              <a:t>Evaluate </a:t>
            </a:r>
            <a:r>
              <a:rPr dirty="0" sz="1800">
                <a:latin typeface="微软雅黑"/>
                <a:cs typeface="微软雅黑"/>
              </a:rPr>
              <a:t>a </a:t>
            </a:r>
            <a:r>
              <a:rPr dirty="0" sz="1800" spc="-10">
                <a:latin typeface="微软雅黑"/>
                <a:cs typeface="微软雅黑"/>
              </a:rPr>
              <a:t>large </a:t>
            </a:r>
            <a:r>
              <a:rPr dirty="0" sz="1800" spc="-5">
                <a:latin typeface="微软雅黑"/>
                <a:cs typeface="微软雅黑"/>
              </a:rPr>
              <a:t>number </a:t>
            </a:r>
            <a:r>
              <a:rPr dirty="0" sz="1800" spc="-15">
                <a:latin typeface="微软雅黑"/>
                <a:cs typeface="微软雅黑"/>
              </a:rPr>
              <a:t>of </a:t>
            </a:r>
            <a:r>
              <a:rPr dirty="0" sz="1800" spc="-5">
                <a:latin typeface="微软雅黑"/>
                <a:cs typeface="微软雅黑"/>
              </a:rPr>
              <a:t>undescriptive </a:t>
            </a:r>
            <a:r>
              <a:rPr dirty="0" sz="1800">
                <a:latin typeface="微软雅黑"/>
                <a:cs typeface="微软雅黑"/>
              </a:rPr>
              <a:t>and  </a:t>
            </a:r>
            <a:r>
              <a:rPr dirty="0" sz="1800" spc="-5">
                <a:latin typeface="微软雅黑"/>
                <a:cs typeface="微软雅黑"/>
              </a:rPr>
              <a:t>unclear descriptions in </a:t>
            </a:r>
            <a:r>
              <a:rPr dirty="0" sz="1800">
                <a:latin typeface="微软雅黑"/>
                <a:cs typeface="微软雅黑"/>
              </a:rPr>
              <a:t>the</a:t>
            </a:r>
            <a:r>
              <a:rPr dirty="0" sz="1800" spc="4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video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888183" y="2115978"/>
            <a:ext cx="3390916" cy="34736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1280" y="410972"/>
            <a:ext cx="49295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2360" algn="l"/>
              </a:tabLst>
            </a:pP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Video	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summary</a:t>
            </a:r>
            <a:r>
              <a:rPr dirty="0" sz="2400" spc="23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generation-</a:t>
            </a:r>
            <a:r>
              <a:rPr dirty="0" sz="2400" spc="7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pc="150">
                <a:latin typeface="Arial"/>
                <a:cs typeface="Arial"/>
              </a:rPr>
              <a:t>l</a:t>
            </a:r>
            <a:r>
              <a:rPr dirty="0" spc="150"/>
              <a:t>Video </a:t>
            </a:r>
            <a:r>
              <a:rPr dirty="0"/>
              <a:t>+ </a:t>
            </a:r>
            <a:r>
              <a:rPr dirty="0" spc="-5"/>
              <a:t>seq2seq</a:t>
            </a:r>
            <a:r>
              <a:rPr dirty="0" spc="-165"/>
              <a:t> </a:t>
            </a:r>
            <a:r>
              <a:rPr dirty="0" spc="-5"/>
              <a:t>model</a:t>
            </a: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pc="150">
                <a:latin typeface="Arial"/>
                <a:cs typeface="Arial"/>
              </a:rPr>
              <a:t>l</a:t>
            </a:r>
            <a:r>
              <a:rPr dirty="0" spc="150"/>
              <a:t>Video </a:t>
            </a:r>
            <a:r>
              <a:rPr dirty="0" spc="5"/>
              <a:t>co2te2t </a:t>
            </a:r>
            <a:r>
              <a:rPr dirty="0"/>
              <a:t>+ </a:t>
            </a:r>
            <a:r>
              <a:rPr dirty="0" spc="-10"/>
              <a:t>review </a:t>
            </a:r>
            <a:r>
              <a:rPr dirty="0" spc="-5"/>
              <a:t>text</a:t>
            </a:r>
            <a:r>
              <a:rPr dirty="0" spc="-120"/>
              <a:t> </a:t>
            </a:r>
            <a:r>
              <a:rPr dirty="0" spc="5"/>
              <a:t>co2te2t</a:t>
            </a:r>
          </a:p>
          <a:p>
            <a:pPr marL="183515" marR="77470">
              <a:lnSpc>
                <a:spcPts val="3290"/>
              </a:lnSpc>
              <a:spcBef>
                <a:spcPts val="220"/>
              </a:spcBef>
            </a:pPr>
            <a:r>
              <a:rPr dirty="0"/>
              <a:t>+ </a:t>
            </a:r>
            <a:r>
              <a:rPr dirty="0" spc="-5"/>
              <a:t>product attributes produce </a:t>
            </a:r>
            <a:r>
              <a:rPr dirty="0" spc="140"/>
              <a:t>s,ort  </a:t>
            </a:r>
            <a:r>
              <a:rPr dirty="0" spc="-5"/>
              <a:t>video</a:t>
            </a:r>
            <a:r>
              <a:rPr dirty="0" spc="-30"/>
              <a:t> </a:t>
            </a:r>
            <a:r>
              <a:rPr dirty="0" spc="-5"/>
              <a:t>abstracts</a:t>
            </a:r>
          </a:p>
          <a:p>
            <a:pPr marL="469265">
              <a:lnSpc>
                <a:spcPct val="100000"/>
              </a:lnSpc>
              <a:spcBef>
                <a:spcPts val="730"/>
              </a:spcBef>
            </a:pPr>
            <a:r>
              <a:rPr dirty="0" spc="155">
                <a:latin typeface="Arial"/>
                <a:cs typeface="Arial"/>
              </a:rPr>
              <a:t>l</a:t>
            </a:r>
            <a:r>
              <a:rPr dirty="0" spc="155"/>
              <a:t>Lo2+ </a:t>
            </a:r>
            <a:r>
              <a:rPr dirty="0" spc="0"/>
              <a:t>se2te2ces</a:t>
            </a:r>
            <a:r>
              <a:rPr dirty="0" spc="-185"/>
              <a:t> </a:t>
            </a:r>
            <a:r>
              <a:rPr dirty="0" spc="140"/>
              <a:t>s,ort</a:t>
            </a:r>
          </a:p>
          <a:p>
            <a:pPr marL="469265">
              <a:lnSpc>
                <a:spcPct val="100000"/>
              </a:lnSpc>
              <a:spcBef>
                <a:spcPts val="1055"/>
              </a:spcBef>
            </a:pPr>
            <a:r>
              <a:rPr dirty="0" spc="155">
                <a:latin typeface="Arial"/>
                <a:cs typeface="Arial"/>
              </a:rPr>
              <a:t>l</a:t>
            </a:r>
            <a:r>
              <a:rPr dirty="0" spc="155"/>
              <a:t>Lo2+ </a:t>
            </a:r>
            <a:r>
              <a:rPr dirty="0" spc="140"/>
              <a:t>s,ort</a:t>
            </a:r>
            <a:r>
              <a:rPr dirty="0" spc="-185"/>
              <a:t> </a:t>
            </a:r>
            <a:r>
              <a:rPr dirty="0" spc="0"/>
              <a:t>se2te2ces</a:t>
            </a:r>
          </a:p>
          <a:p>
            <a:pPr marL="469265">
              <a:lnSpc>
                <a:spcPct val="100000"/>
              </a:lnSpc>
              <a:spcBef>
                <a:spcPts val="1125"/>
              </a:spcBef>
            </a:pPr>
            <a:r>
              <a:rPr dirty="0" spc="225">
                <a:latin typeface="Arial"/>
                <a:cs typeface="Arial"/>
              </a:rPr>
              <a:t>l</a:t>
            </a:r>
            <a:r>
              <a:rPr dirty="0" spc="225"/>
              <a:t>Add </a:t>
            </a:r>
            <a:r>
              <a:rPr dirty="0" spc="-10"/>
              <a:t>Product</a:t>
            </a:r>
            <a:r>
              <a:rPr dirty="0" spc="-265"/>
              <a:t> </a:t>
            </a:r>
            <a:r>
              <a:rPr dirty="0" spc="-5"/>
              <a:t>Subject</a:t>
            </a:r>
          </a:p>
          <a:p>
            <a:pPr marL="183515" marR="5080" indent="-171450">
              <a:lnSpc>
                <a:spcPts val="3290"/>
              </a:lnSpc>
              <a:spcBef>
                <a:spcPts val="220"/>
              </a:spcBef>
            </a:pPr>
            <a:r>
              <a:rPr dirty="0" spc="100">
                <a:latin typeface="Arial"/>
                <a:cs typeface="Arial"/>
              </a:rPr>
              <a:t>l</a:t>
            </a:r>
            <a:r>
              <a:rPr dirty="0" spc="100"/>
              <a:t>Ma2ually </a:t>
            </a:r>
            <a:r>
              <a:rPr dirty="0" spc="-5"/>
              <a:t>filter </a:t>
            </a:r>
            <a:r>
              <a:rPr dirty="0" spc="225"/>
              <a:t>t,e </a:t>
            </a:r>
            <a:r>
              <a:rPr dirty="0" spc="-15"/>
              <a:t>trai2i2+ </a:t>
            </a:r>
            <a:r>
              <a:rPr dirty="0" spc="-5"/>
              <a:t>data </a:t>
            </a:r>
            <a:r>
              <a:rPr dirty="0"/>
              <a:t>set  </a:t>
            </a:r>
            <a:r>
              <a:rPr dirty="0" spc="-10"/>
              <a:t>from </a:t>
            </a:r>
            <a:r>
              <a:rPr dirty="0" spc="225"/>
              <a:t>t,e </a:t>
            </a:r>
            <a:r>
              <a:rPr dirty="0" spc="-5"/>
              <a:t>videos </a:t>
            </a:r>
            <a:r>
              <a:rPr dirty="0" spc="160"/>
              <a:t>wit, </a:t>
            </a:r>
            <a:r>
              <a:rPr dirty="0" spc="280"/>
              <a:t>,i+,</a:t>
            </a:r>
            <a:r>
              <a:rPr dirty="0" spc="-340"/>
              <a:t> </a:t>
            </a:r>
            <a:r>
              <a:rPr dirty="0" spc="-5"/>
              <a:t>views </a:t>
            </a:r>
            <a:r>
              <a:rPr dirty="0" spc="10"/>
              <a:t>a2d</a:t>
            </a:r>
          </a:p>
          <a:p>
            <a:pPr marL="183515">
              <a:lnSpc>
                <a:spcPct val="100000"/>
              </a:lnSpc>
              <a:spcBef>
                <a:spcPts val="730"/>
              </a:spcBef>
            </a:pPr>
            <a:r>
              <a:rPr dirty="0" spc="280"/>
              <a:t>,i+, </a:t>
            </a:r>
            <a:r>
              <a:rPr dirty="0" spc="-15"/>
              <a:t>likes of</a:t>
            </a:r>
            <a:r>
              <a:rPr dirty="0" spc="-305"/>
              <a:t> </a:t>
            </a:r>
            <a:r>
              <a:rPr dirty="0"/>
              <a:t>users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190040" y="3660140"/>
            <a:ext cx="1020444" cy="1412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5080" indent="635">
              <a:lnSpc>
                <a:spcPct val="151200"/>
              </a:lnSpc>
              <a:spcBef>
                <a:spcPts val="130"/>
              </a:spcBef>
            </a:pPr>
            <a:r>
              <a:rPr dirty="0" sz="1200" spc="-5" b="1">
                <a:latin typeface="Arial"/>
                <a:cs typeface="Arial"/>
              </a:rPr>
              <a:t>Develop </a:t>
            </a:r>
            <a:r>
              <a:rPr dirty="0" sz="1200" b="1">
                <a:latin typeface="Arial"/>
                <a:cs typeface="Arial"/>
              </a:rPr>
              <a:t>the  </a:t>
            </a:r>
            <a:r>
              <a:rPr dirty="0" sz="1200" spc="-5" b="1">
                <a:latin typeface="Arial"/>
                <a:cs typeface="Arial"/>
              </a:rPr>
              <a:t>cerebellum </a:t>
            </a:r>
            <a:r>
              <a:rPr dirty="0" sz="1200" b="1">
                <a:latin typeface="Arial"/>
                <a:cs typeface="Arial"/>
              </a:rPr>
              <a:t>to  </a:t>
            </a:r>
            <a:r>
              <a:rPr dirty="0" sz="1200" spc="-5" b="1">
                <a:latin typeface="Arial"/>
                <a:cs typeface="Arial"/>
              </a:rPr>
              <a:t>improve  c</a:t>
            </a:r>
            <a:r>
              <a:rPr dirty="0" sz="1200" b="1">
                <a:latin typeface="Arial"/>
                <a:cs typeface="Arial"/>
              </a:rPr>
              <a:t>o</a:t>
            </a:r>
            <a:r>
              <a:rPr dirty="0" sz="1200" spc="0" b="1">
                <a:latin typeface="Arial"/>
                <a:cs typeface="Arial"/>
              </a:rPr>
              <a:t>n</a:t>
            </a:r>
            <a:r>
              <a:rPr dirty="0" sz="1200" spc="-5" b="1">
                <a:latin typeface="Arial"/>
                <a:cs typeface="Arial"/>
              </a:rPr>
              <a:t>ce</a:t>
            </a:r>
            <a:r>
              <a:rPr dirty="0" sz="1200" b="1">
                <a:latin typeface="Arial"/>
                <a:cs typeface="Arial"/>
              </a:rPr>
              <a:t>nt</a:t>
            </a:r>
            <a:r>
              <a:rPr dirty="0" sz="1200" spc="-5" b="1">
                <a:latin typeface="Arial"/>
                <a:cs typeface="Arial"/>
              </a:rPr>
              <a:t>rat</a:t>
            </a:r>
            <a:r>
              <a:rPr dirty="0" sz="1200" b="1">
                <a:latin typeface="Arial"/>
                <a:cs typeface="Arial"/>
              </a:rPr>
              <a:t>i</a:t>
            </a:r>
            <a:r>
              <a:rPr dirty="0" sz="1200" spc="0" b="1">
                <a:latin typeface="Arial"/>
                <a:cs typeface="Arial"/>
              </a:rPr>
              <a:t>o</a:t>
            </a:r>
            <a:r>
              <a:rPr dirty="0" sz="1200" b="1">
                <a:latin typeface="Arial"/>
                <a:cs typeface="Arial"/>
              </a:rPr>
              <a:t>n  </a:t>
            </a:r>
            <a:r>
              <a:rPr dirty="0" sz="1200" spc="-5" b="1">
                <a:latin typeface="Arial"/>
                <a:cs typeface="Arial"/>
              </a:rPr>
              <a:t>toys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379406" y="2294630"/>
            <a:ext cx="3267635" cy="3200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61161" y="2294630"/>
            <a:ext cx="3391535" cy="963294"/>
          </a:xfrm>
          <a:custGeom>
            <a:avLst/>
            <a:gdLst/>
            <a:ahLst/>
            <a:cxnLst/>
            <a:rect l="l" t="t" r="r" b="b"/>
            <a:pathLst>
              <a:path w="3391534" h="963295">
                <a:moveTo>
                  <a:pt x="0" y="0"/>
                </a:moveTo>
                <a:lnTo>
                  <a:pt x="3390916" y="0"/>
                </a:lnTo>
                <a:lnTo>
                  <a:pt x="3390916" y="962810"/>
                </a:lnTo>
                <a:lnTo>
                  <a:pt x="0" y="96281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80369" y="1109356"/>
            <a:ext cx="7258684" cy="4632960"/>
          </a:xfrm>
          <a:custGeom>
            <a:avLst/>
            <a:gdLst/>
            <a:ahLst/>
            <a:cxnLst/>
            <a:rect l="l" t="t" r="r" b="b"/>
            <a:pathLst>
              <a:path w="7258684" h="4632960">
                <a:moveTo>
                  <a:pt x="0" y="0"/>
                </a:moveTo>
                <a:lnTo>
                  <a:pt x="7258201" y="0"/>
                </a:lnTo>
                <a:lnTo>
                  <a:pt x="7258201" y="4632645"/>
                </a:lnTo>
                <a:lnTo>
                  <a:pt x="0" y="4632645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365896" y="2281309"/>
            <a:ext cx="3267710" cy="963294"/>
          </a:xfrm>
          <a:custGeom>
            <a:avLst/>
            <a:gdLst/>
            <a:ahLst/>
            <a:cxnLst/>
            <a:rect l="l" t="t" r="r" b="b"/>
            <a:pathLst>
              <a:path w="3267709" h="963294">
                <a:moveTo>
                  <a:pt x="0" y="0"/>
                </a:moveTo>
                <a:lnTo>
                  <a:pt x="3267635" y="0"/>
                </a:lnTo>
                <a:lnTo>
                  <a:pt x="3267635" y="962810"/>
                </a:lnTo>
                <a:lnTo>
                  <a:pt x="0" y="962810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830732" y="3809491"/>
            <a:ext cx="756920" cy="113220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algn="ctr" marR="5080" indent="635">
              <a:lnSpc>
                <a:spcPct val="150600"/>
              </a:lnSpc>
              <a:spcBef>
                <a:spcPts val="140"/>
              </a:spcBef>
            </a:pPr>
            <a:r>
              <a:rPr dirty="0" sz="1200" spc="-15" b="1">
                <a:latin typeface="Arial"/>
                <a:cs typeface="Arial"/>
              </a:rPr>
              <a:t>Variety </a:t>
            </a:r>
            <a:r>
              <a:rPr dirty="0" sz="1200" b="1">
                <a:latin typeface="Arial"/>
                <a:cs typeface="Arial"/>
              </a:rPr>
              <a:t>of  </a:t>
            </a:r>
            <a:r>
              <a:rPr dirty="0" sz="1200" spc="-5" b="1">
                <a:latin typeface="Arial"/>
                <a:cs typeface="Arial"/>
              </a:rPr>
              <a:t>styles</a:t>
            </a:r>
            <a:r>
              <a:rPr dirty="0" sz="1200" spc="-90" b="1">
                <a:latin typeface="Arial"/>
                <a:cs typeface="Arial"/>
              </a:rPr>
              <a:t> </a:t>
            </a:r>
            <a:r>
              <a:rPr dirty="0" sz="1200" spc="-5" b="1">
                <a:latin typeface="Arial"/>
                <a:cs typeface="Arial"/>
              </a:rPr>
              <a:t>and  counter  quality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05328" y="1411731"/>
            <a:ext cx="259524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Verdana"/>
                <a:cs typeface="Verdana"/>
              </a:rPr>
              <a:t>Kid </a:t>
            </a:r>
            <a:r>
              <a:rPr dirty="0" sz="2800" spc="5">
                <a:latin typeface="Verdana"/>
                <a:cs typeface="Verdana"/>
              </a:rPr>
              <a:t>Toy</a:t>
            </a:r>
            <a:r>
              <a:rPr dirty="0" sz="2800" spc="-170">
                <a:latin typeface="Verdana"/>
                <a:cs typeface="Verdana"/>
              </a:rPr>
              <a:t> </a:t>
            </a:r>
            <a:r>
              <a:rPr dirty="0" sz="2800" spc="-10">
                <a:latin typeface="Verdana"/>
                <a:cs typeface="Verdana"/>
              </a:rPr>
              <a:t>Album</a:t>
            </a:r>
            <a:endParaRPr sz="2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9244" y="493268"/>
            <a:ext cx="492950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02360" algn="l"/>
              </a:tabLst>
            </a:pPr>
            <a:r>
              <a:rPr dirty="0" sz="2400" spc="85" b="1">
                <a:solidFill>
                  <a:srgbClr val="000000"/>
                </a:solidFill>
                <a:latin typeface="微软雅黑"/>
                <a:cs typeface="微软雅黑"/>
              </a:rPr>
              <a:t>Video	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summary</a:t>
            </a:r>
            <a:r>
              <a:rPr dirty="0" sz="2400" spc="235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105" b="1">
                <a:solidFill>
                  <a:srgbClr val="000000"/>
                </a:solidFill>
                <a:latin typeface="微软雅黑"/>
                <a:cs typeface="微软雅黑"/>
              </a:rPr>
              <a:t>generation-</a:t>
            </a:r>
            <a:r>
              <a:rPr dirty="0" sz="2400" spc="760" b="1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89958" y="1038860"/>
            <a:ext cx="63150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00">
                <a:latin typeface="Arial"/>
                <a:cs typeface="Arial"/>
              </a:rPr>
              <a:t>l</a:t>
            </a:r>
            <a:r>
              <a:rPr dirty="0" sz="1800" spc="300">
                <a:latin typeface="微软雅黑"/>
                <a:cs typeface="微软雅黑"/>
              </a:rPr>
              <a:t>Youku: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305">
                <a:latin typeface="微软雅黑"/>
                <a:cs typeface="微软雅黑"/>
              </a:rPr>
              <a:t>Fil,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105">
                <a:latin typeface="微软雅黑"/>
                <a:cs typeface="微软雅黑"/>
              </a:rPr>
              <a:t>a-d</a:t>
            </a:r>
            <a:r>
              <a:rPr dirty="0" sz="1800" spc="5">
                <a:latin typeface="微软雅黑"/>
                <a:cs typeface="微软雅黑"/>
              </a:rPr>
              <a:t> </a:t>
            </a:r>
            <a:r>
              <a:rPr dirty="0" sz="1800" spc="25">
                <a:latin typeface="微软雅黑"/>
                <a:cs typeface="微软雅黑"/>
              </a:rPr>
              <a:t>televisio-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110">
                <a:latin typeface="微软雅黑"/>
                <a:cs typeface="微软雅黑"/>
              </a:rPr>
              <a:t>co,prehe-sive</a:t>
            </a:r>
            <a:r>
              <a:rPr dirty="0" sz="1800" spc="1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video</a:t>
            </a:r>
            <a:r>
              <a:rPr dirty="0" sz="1800" spc="15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slices,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4108" y="1458901"/>
            <a:ext cx="3359150" cy="3022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800" spc="85">
                <a:latin typeface="微软雅黑"/>
                <a:cs typeface="微软雅黑"/>
              </a:rPr>
              <a:t>auto,atically </a:t>
            </a:r>
            <a:r>
              <a:rPr dirty="0" sz="1800" spc="30">
                <a:latin typeface="微软雅黑"/>
                <a:cs typeface="微软雅黑"/>
              </a:rPr>
              <a:t>ge-erate </a:t>
            </a:r>
            <a:r>
              <a:rPr dirty="0" sz="1600" spc="-5">
                <a:latin typeface="Arial"/>
                <a:cs typeface="Arial"/>
              </a:rPr>
              <a:t>slice</a:t>
            </a:r>
            <a:r>
              <a:rPr dirty="0" sz="1600" spc="-100">
                <a:latin typeface="Arial"/>
                <a:cs typeface="Arial"/>
              </a:rPr>
              <a:t> </a:t>
            </a:r>
            <a:r>
              <a:rPr dirty="0" sz="1600" spc="-5">
                <a:latin typeface="Arial"/>
                <a:cs typeface="Arial"/>
              </a:rPr>
              <a:t>title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32684" y="1544316"/>
            <a:ext cx="101600" cy="203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50"/>
              </a:lnSpc>
            </a:pPr>
            <a:r>
              <a:rPr dirty="0" sz="1600"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7777" y="1573024"/>
            <a:ext cx="4094802" cy="29398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67930" y="1543199"/>
            <a:ext cx="4238053" cy="29924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131304" y="1518984"/>
            <a:ext cx="4060695" cy="29220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7776" y="1569126"/>
            <a:ext cx="3608070" cy="338455"/>
          </a:xfrm>
          <a:custGeom>
            <a:avLst/>
            <a:gdLst/>
            <a:ahLst/>
            <a:cxnLst/>
            <a:rect l="l" t="t" r="r" b="b"/>
            <a:pathLst>
              <a:path w="3608070" h="338455">
                <a:moveTo>
                  <a:pt x="0" y="0"/>
                </a:moveTo>
                <a:lnTo>
                  <a:pt x="3607440" y="0"/>
                </a:lnTo>
                <a:lnTo>
                  <a:pt x="3607440" y="337937"/>
                </a:lnTo>
                <a:lnTo>
                  <a:pt x="0" y="337937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172579" y="1573024"/>
            <a:ext cx="3728085" cy="487045"/>
          </a:xfrm>
          <a:custGeom>
            <a:avLst/>
            <a:gdLst/>
            <a:ahLst/>
            <a:cxnLst/>
            <a:rect l="l" t="t" r="r" b="b"/>
            <a:pathLst>
              <a:path w="3728084" h="487044">
                <a:moveTo>
                  <a:pt x="0" y="0"/>
                </a:moveTo>
                <a:lnTo>
                  <a:pt x="3728073" y="0"/>
                </a:lnTo>
                <a:lnTo>
                  <a:pt x="3728073" y="486439"/>
                </a:lnTo>
                <a:lnTo>
                  <a:pt x="0" y="486439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131304" y="1543199"/>
            <a:ext cx="3944620" cy="607695"/>
          </a:xfrm>
          <a:custGeom>
            <a:avLst/>
            <a:gdLst/>
            <a:ahLst/>
            <a:cxnLst/>
            <a:rect l="l" t="t" r="r" b="b"/>
            <a:pathLst>
              <a:path w="3944620" h="607694">
                <a:moveTo>
                  <a:pt x="0" y="0"/>
                </a:moveTo>
                <a:lnTo>
                  <a:pt x="3944252" y="0"/>
                </a:lnTo>
                <a:lnTo>
                  <a:pt x="3944252" y="607083"/>
                </a:lnTo>
                <a:lnTo>
                  <a:pt x="0" y="607083"/>
                </a:lnTo>
                <a:lnTo>
                  <a:pt x="0" y="0"/>
                </a:lnTo>
                <a:close/>
              </a:path>
            </a:pathLst>
          </a:custGeom>
          <a:ln w="28575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09110" y="4963605"/>
            <a:ext cx="5909190" cy="8195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06050" y="4903723"/>
            <a:ext cx="4958715" cy="12725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0" marR="5080" indent="-171450">
              <a:lnSpc>
                <a:spcPct val="153300"/>
              </a:lnSpc>
              <a:spcBef>
                <a:spcPts val="100"/>
              </a:spcBef>
            </a:pPr>
            <a:r>
              <a:rPr dirty="0" sz="1800" spc="150">
                <a:latin typeface="Arial"/>
                <a:cs typeface="Arial"/>
              </a:rPr>
              <a:t>l</a:t>
            </a:r>
            <a:r>
              <a:rPr dirty="0" sz="1800" spc="150">
                <a:latin typeface="微软雅黑"/>
                <a:cs typeface="微软雅黑"/>
              </a:rPr>
              <a:t>Trai-i-g </a:t>
            </a:r>
            <a:r>
              <a:rPr dirty="0" sz="1800" spc="-5">
                <a:latin typeface="微软雅黑"/>
                <a:cs typeface="微软雅黑"/>
              </a:rPr>
              <a:t>data: high quality </a:t>
            </a:r>
            <a:r>
              <a:rPr dirty="0" sz="1800" spc="5">
                <a:latin typeface="微软雅黑"/>
                <a:cs typeface="微软雅黑"/>
              </a:rPr>
              <a:t>short </a:t>
            </a:r>
            <a:r>
              <a:rPr dirty="0" sz="1800" spc="-5">
                <a:latin typeface="微软雅黑"/>
                <a:cs typeface="微软雅黑"/>
              </a:rPr>
              <a:t>video </a:t>
            </a:r>
            <a:r>
              <a:rPr dirty="0" sz="1800">
                <a:latin typeface="微软雅黑"/>
                <a:cs typeface="微软雅黑"/>
              </a:rPr>
              <a:t>pool  </a:t>
            </a:r>
            <a:r>
              <a:rPr dirty="0" sz="1800" spc="-5">
                <a:latin typeface="微软雅黑"/>
                <a:cs typeface="微软雅黑"/>
              </a:rPr>
              <a:t>with </a:t>
            </a:r>
            <a:r>
              <a:rPr dirty="0" sz="1800" spc="150">
                <a:latin typeface="微软雅黑"/>
                <a:cs typeface="微软雅黑"/>
              </a:rPr>
              <a:t>co,plete</a:t>
            </a:r>
            <a:r>
              <a:rPr dirty="0" sz="1800" spc="-20">
                <a:latin typeface="微软雅黑"/>
                <a:cs typeface="微软雅黑"/>
              </a:rPr>
              <a:t> </a:t>
            </a:r>
            <a:r>
              <a:rPr dirty="0" sz="1800" spc="-5">
                <a:latin typeface="微软雅黑"/>
                <a:cs typeface="微软雅黑"/>
              </a:rPr>
              <a:t>titles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dirty="0" sz="1800" spc="140">
                <a:latin typeface="Arial"/>
                <a:cs typeface="Arial"/>
              </a:rPr>
              <a:t>l</a:t>
            </a:r>
            <a:r>
              <a:rPr dirty="0" sz="1800" spc="140">
                <a:latin typeface="微软雅黑"/>
                <a:cs typeface="微软雅黑"/>
              </a:rPr>
              <a:t>Tags </a:t>
            </a:r>
            <a:r>
              <a:rPr dirty="0" sz="1800" spc="0">
                <a:latin typeface="微软雅黑"/>
                <a:cs typeface="微软雅黑"/>
              </a:rPr>
              <a:t>Auxiliary </a:t>
            </a:r>
            <a:r>
              <a:rPr dirty="0" sz="1800" spc="-5">
                <a:latin typeface="微软雅黑"/>
                <a:cs typeface="微软雅黑"/>
              </a:rPr>
              <a:t>title</a:t>
            </a:r>
            <a:r>
              <a:rPr dirty="0" sz="1800" spc="-170">
                <a:latin typeface="微软雅黑"/>
                <a:cs typeface="微软雅黑"/>
              </a:rPr>
              <a:t> </a:t>
            </a:r>
            <a:r>
              <a:rPr dirty="0" sz="1800" spc="60">
                <a:latin typeface="微软雅黑"/>
                <a:cs typeface="微软雅黑"/>
              </a:rPr>
              <a:t>ge-eratio-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35311" y="524255"/>
            <a:ext cx="1834896" cy="28346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46906" y="517651"/>
            <a:ext cx="1094676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59965" algn="l"/>
                <a:tab pos="10933430" algn="l"/>
              </a:tabLst>
            </a:pPr>
            <a:r>
              <a:rPr dirty="0" sz="2400" spc="100" b="1" u="heavy">
                <a:solidFill>
                  <a:srgbClr val="000000"/>
                </a:solidFill>
                <a:latin typeface="微软雅黑"/>
                <a:cs typeface="微软雅黑"/>
              </a:rPr>
              <a:t>Person</a:t>
            </a:r>
            <a:r>
              <a:rPr dirty="0" sz="2400" spc="815" b="1" u="heavy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85" b="1" u="heavy">
                <a:solidFill>
                  <a:srgbClr val="000000"/>
                </a:solidFill>
                <a:latin typeface="微软雅黑"/>
                <a:cs typeface="微软雅黑"/>
              </a:rPr>
              <a:t>lized	content</a:t>
            </a:r>
            <a:r>
              <a:rPr dirty="0" sz="2400" spc="225" b="1" u="heavy">
                <a:solidFill>
                  <a:srgbClr val="000000"/>
                </a:solidFill>
                <a:latin typeface="微软雅黑"/>
                <a:cs typeface="微软雅黑"/>
              </a:rPr>
              <a:t> </a:t>
            </a:r>
            <a:r>
              <a:rPr dirty="0" sz="2400" spc="90" b="1" u="heavy">
                <a:solidFill>
                  <a:srgbClr val="000000"/>
                </a:solidFill>
                <a:latin typeface="微软雅黑"/>
                <a:cs typeface="微软雅黑"/>
              </a:rPr>
              <a:t>themes	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9198" y="1097788"/>
            <a:ext cx="9050655" cy="1842135"/>
          </a:xfrm>
          <a:prstGeom prst="rect">
            <a:avLst/>
          </a:prstGeom>
        </p:spPr>
        <p:txBody>
          <a:bodyPr wrap="square" lIns="0" tIns="1250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600" spc="100">
                <a:latin typeface="Arial"/>
                <a:cs typeface="Arial"/>
              </a:rPr>
              <a:t>l</a:t>
            </a:r>
            <a:r>
              <a:rPr dirty="0" sz="1600" spc="100">
                <a:latin typeface="微软雅黑"/>
                <a:cs typeface="微软雅黑"/>
              </a:rPr>
              <a:t>Generate </a:t>
            </a:r>
            <a:r>
              <a:rPr dirty="0" sz="1600">
                <a:latin typeface="微软雅黑"/>
                <a:cs typeface="微软雅黑"/>
              </a:rPr>
              <a:t>persona,ized </a:t>
            </a:r>
            <a:r>
              <a:rPr dirty="0" sz="1600" spc="-5">
                <a:latin typeface="微软雅黑"/>
                <a:cs typeface="微软雅黑"/>
              </a:rPr>
              <a:t>content </a:t>
            </a:r>
            <a:r>
              <a:rPr dirty="0" sz="1600" spc="125">
                <a:latin typeface="微软雅黑"/>
                <a:cs typeface="微软雅黑"/>
              </a:rPr>
              <a:t>the-es </a:t>
            </a:r>
            <a:r>
              <a:rPr dirty="0" sz="1600" spc="90">
                <a:latin typeface="微软雅黑"/>
                <a:cs typeface="微软雅黑"/>
              </a:rPr>
              <a:t>co-posed </a:t>
            </a:r>
            <a:r>
              <a:rPr dirty="0" sz="1600" spc="-20">
                <a:latin typeface="微软雅黑"/>
                <a:cs typeface="微软雅黑"/>
              </a:rPr>
              <a:t>of </a:t>
            </a:r>
            <a:r>
              <a:rPr dirty="0" sz="1600" spc="-15">
                <a:latin typeface="微软雅黑"/>
                <a:cs typeface="微软雅黑"/>
              </a:rPr>
              <a:t>products  </a:t>
            </a:r>
            <a:r>
              <a:rPr dirty="0" sz="1600" spc="-10">
                <a:latin typeface="微软雅黑"/>
                <a:cs typeface="微软雅黑"/>
              </a:rPr>
              <a:t>graphics  </a:t>
            </a:r>
            <a:r>
              <a:rPr dirty="0" sz="1600">
                <a:latin typeface="微软雅黑"/>
                <a:cs typeface="微软雅黑"/>
              </a:rPr>
              <a:t>and</a:t>
            </a:r>
            <a:r>
              <a:rPr dirty="0" sz="1600" spc="-24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videos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1600" spc="240">
                <a:latin typeface="Arial"/>
                <a:cs typeface="Arial"/>
              </a:rPr>
              <a:t>l</a:t>
            </a:r>
            <a:r>
              <a:rPr dirty="0" sz="1600" spc="240">
                <a:latin typeface="微软雅黑"/>
                <a:cs typeface="微软雅黑"/>
              </a:rPr>
              <a:t>The </a:t>
            </a:r>
            <a:r>
              <a:rPr dirty="0" sz="1600" spc="-5">
                <a:latin typeface="微软雅黑"/>
                <a:cs typeface="微软雅黑"/>
              </a:rPr>
              <a:t>video </a:t>
            </a:r>
            <a:r>
              <a:rPr dirty="0" sz="1600">
                <a:latin typeface="微软雅黑"/>
                <a:cs typeface="微软雅黑"/>
              </a:rPr>
              <a:t>qua,ity </a:t>
            </a:r>
            <a:r>
              <a:rPr dirty="0" sz="1600" spc="-5">
                <a:latin typeface="微软雅黑"/>
                <a:cs typeface="微软雅黑"/>
              </a:rPr>
              <a:t>eva,uation </a:t>
            </a:r>
            <a:r>
              <a:rPr dirty="0" sz="1600" spc="160">
                <a:latin typeface="微软雅黑"/>
                <a:cs typeface="微软雅黑"/>
              </a:rPr>
              <a:t>-ode, </a:t>
            </a:r>
            <a:r>
              <a:rPr dirty="0" sz="1600" spc="55">
                <a:latin typeface="微软雅黑"/>
                <a:cs typeface="微软雅黑"/>
              </a:rPr>
              <a:t>auto-atica,,y </a:t>
            </a:r>
            <a:r>
              <a:rPr dirty="0" sz="1600">
                <a:latin typeface="微软雅黑"/>
                <a:cs typeface="微软雅黑"/>
              </a:rPr>
              <a:t>se,ects </a:t>
            </a:r>
            <a:r>
              <a:rPr dirty="0" sz="1600" spc="-5">
                <a:latin typeface="微软雅黑"/>
                <a:cs typeface="微软雅黑"/>
              </a:rPr>
              <a:t>products </a:t>
            </a:r>
            <a:r>
              <a:rPr dirty="0" sz="1600" spc="185">
                <a:latin typeface="微软雅黑"/>
                <a:cs typeface="微软雅黑"/>
              </a:rPr>
              <a:t>fro-</a:t>
            </a:r>
            <a:r>
              <a:rPr dirty="0" sz="1600" spc="-200">
                <a:latin typeface="微软雅黑"/>
                <a:cs typeface="微软雅黑"/>
              </a:rPr>
              <a:t> </a:t>
            </a:r>
            <a:r>
              <a:rPr dirty="0" sz="1600" spc="-100">
                <a:latin typeface="微软雅黑"/>
                <a:cs typeface="微软雅黑"/>
              </a:rPr>
              <a:t>You+u </a:t>
            </a:r>
            <a:r>
              <a:rPr dirty="0" sz="1600" spc="0">
                <a:latin typeface="微软雅黑"/>
                <a:cs typeface="微软雅黑"/>
              </a:rPr>
              <a:t>short </a:t>
            </a:r>
            <a:r>
              <a:rPr dirty="0" sz="1600" spc="-5">
                <a:latin typeface="微软雅黑"/>
                <a:cs typeface="微软雅黑"/>
              </a:rPr>
              <a:t>videos</a:t>
            </a:r>
            <a:endParaRPr sz="1600">
              <a:latin typeface="微软雅黑"/>
              <a:cs typeface="微软雅黑"/>
            </a:endParaRPr>
          </a:p>
          <a:p>
            <a:pPr marL="184150">
              <a:lnSpc>
                <a:spcPct val="100000"/>
              </a:lnSpc>
              <a:spcBef>
                <a:spcPts val="985"/>
              </a:spcBef>
            </a:pPr>
            <a:r>
              <a:rPr dirty="0" sz="1600">
                <a:latin typeface="微软雅黑"/>
                <a:cs typeface="微软雅黑"/>
              </a:rPr>
              <a:t>+ </a:t>
            </a:r>
            <a:r>
              <a:rPr dirty="0" sz="1600" spc="80">
                <a:latin typeface="微软雅黑"/>
                <a:cs typeface="微软雅黑"/>
              </a:rPr>
              <a:t>hand--ade </a:t>
            </a:r>
            <a:r>
              <a:rPr dirty="0" sz="1600" spc="0">
                <a:latin typeface="微软雅黑"/>
                <a:cs typeface="微软雅黑"/>
              </a:rPr>
              <a:t>short</a:t>
            </a:r>
            <a:r>
              <a:rPr dirty="0" sz="1600" spc="-120">
                <a:latin typeface="微软雅黑"/>
                <a:cs typeface="微软雅黑"/>
              </a:rPr>
              <a:t> </a:t>
            </a:r>
            <a:r>
              <a:rPr dirty="0" sz="1600" spc="-5">
                <a:latin typeface="微软雅黑"/>
                <a:cs typeface="微软雅黑"/>
              </a:rPr>
              <a:t>videos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dirty="0" sz="1600" spc="240">
                <a:latin typeface="Arial"/>
                <a:cs typeface="Arial"/>
              </a:rPr>
              <a:t>l</a:t>
            </a:r>
            <a:r>
              <a:rPr dirty="0" sz="1600" spc="240">
                <a:latin typeface="微软雅黑"/>
                <a:cs typeface="微软雅黑"/>
              </a:rPr>
              <a:t>Gag </a:t>
            </a:r>
            <a:r>
              <a:rPr dirty="0" sz="1600" spc="0">
                <a:latin typeface="微软雅黑"/>
                <a:cs typeface="微软雅黑"/>
              </a:rPr>
              <a:t>reca,, </a:t>
            </a:r>
            <a:r>
              <a:rPr dirty="0" sz="1600" spc="-10">
                <a:latin typeface="微软雅黑"/>
                <a:cs typeface="微软雅黑"/>
              </a:rPr>
              <a:t>content-re,ated</a:t>
            </a:r>
            <a:r>
              <a:rPr dirty="0" sz="1600" spc="105">
                <a:latin typeface="微软雅黑"/>
                <a:cs typeface="微软雅黑"/>
              </a:rPr>
              <a:t> </a:t>
            </a:r>
            <a:r>
              <a:rPr dirty="0" sz="1600" spc="0">
                <a:latin typeface="微软雅黑"/>
                <a:cs typeface="微软雅黑"/>
              </a:rPr>
              <a:t>reca,,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155">
                <a:latin typeface="Arial"/>
                <a:cs typeface="Arial"/>
              </a:rPr>
              <a:t>l</a:t>
            </a:r>
            <a:r>
              <a:rPr dirty="0" sz="1600" spc="155">
                <a:latin typeface="微软雅黑"/>
                <a:cs typeface="微软雅黑"/>
              </a:rPr>
              <a:t>Video </a:t>
            </a:r>
            <a:r>
              <a:rPr dirty="0" sz="1600" spc="0">
                <a:latin typeface="微软雅黑"/>
                <a:cs typeface="微软雅黑"/>
              </a:rPr>
              <a:t>sorting  </a:t>
            </a:r>
            <a:r>
              <a:rPr dirty="0" sz="1600" spc="-5">
                <a:latin typeface="微软雅黑"/>
                <a:cs typeface="微软雅黑"/>
              </a:rPr>
              <a:t>video product</a:t>
            </a:r>
            <a:r>
              <a:rPr dirty="0" sz="1600" spc="-290">
                <a:latin typeface="微软雅黑"/>
                <a:cs typeface="微软雅黑"/>
              </a:rPr>
              <a:t> </a:t>
            </a:r>
            <a:r>
              <a:rPr dirty="0" sz="1600" spc="125">
                <a:latin typeface="微软雅黑"/>
                <a:cs typeface="微软雅黑"/>
              </a:rPr>
              <a:t>-ixing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744420" y="850736"/>
            <a:ext cx="2133600" cy="51815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8232" y="3196407"/>
            <a:ext cx="9206500" cy="28359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611273" y="975788"/>
            <a:ext cx="2363470" cy="3195955"/>
          </a:xfrm>
          <a:custGeom>
            <a:avLst/>
            <a:gdLst/>
            <a:ahLst/>
            <a:cxnLst/>
            <a:rect l="l" t="t" r="r" b="b"/>
            <a:pathLst>
              <a:path w="2363470" h="3195954">
                <a:moveTo>
                  <a:pt x="0" y="0"/>
                </a:moveTo>
                <a:lnTo>
                  <a:pt x="2363287" y="0"/>
                </a:lnTo>
                <a:lnTo>
                  <a:pt x="2363287" y="3195860"/>
                </a:lnTo>
                <a:lnTo>
                  <a:pt x="0" y="3195860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54030" y="3196405"/>
            <a:ext cx="2505710" cy="1816735"/>
          </a:xfrm>
          <a:custGeom>
            <a:avLst/>
            <a:gdLst/>
            <a:ahLst/>
            <a:cxnLst/>
            <a:rect l="l" t="t" r="r" b="b"/>
            <a:pathLst>
              <a:path w="2505710" h="1816735">
                <a:moveTo>
                  <a:pt x="0" y="0"/>
                </a:moveTo>
                <a:lnTo>
                  <a:pt x="2505344" y="0"/>
                </a:lnTo>
                <a:lnTo>
                  <a:pt x="2505344" y="1816651"/>
                </a:lnTo>
                <a:lnTo>
                  <a:pt x="0" y="1816651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E84C22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2026-10-21T00:08:25Z</dcterms:created>
  <dcterms:modified xsi:type="dcterms:W3CDTF">2026-10-21T00:08:25Z</dcterms:modified>
</cp:coreProperties>
</file>